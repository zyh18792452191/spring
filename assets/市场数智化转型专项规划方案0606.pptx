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9.svg" ContentType="image/svg+xml"/>
  <Override PartName="/ppt/media/image21.svg" ContentType="image/svg+xml"/>
  <Override PartName="/ppt/media/image23.svg" ContentType="image/svg+xml"/>
  <Override PartName="/ppt/media/image27.svg" ContentType="image/svg+xml"/>
  <Override PartName="/ppt/media/image2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16776114" r:id="rId3"/>
    <p:sldId id="16776995" r:id="rId5"/>
    <p:sldId id="16776996" r:id="rId6"/>
    <p:sldId id="16776997" r:id="rId7"/>
    <p:sldId id="16776998" r:id="rId8"/>
    <p:sldId id="16776122" r:id="rId9"/>
    <p:sldId id="3" r:id="rId10"/>
    <p:sldId id="16776999" r:id="rId11"/>
    <p:sldId id="16777151" r:id="rId12"/>
    <p:sldId id="16776217" r:id="rId13"/>
    <p:sldId id="2" r:id="rId14"/>
    <p:sldId id="2" r:id="rId15"/>
    <p:sldId id="23" r:id="rId16"/>
    <p:sldId id="16777195" r:id="rId17"/>
    <p:sldId id="16777194" r:id="rId18"/>
    <p:sldId id="25" r:id="rId19"/>
    <p:sldId id="16777197" r:id="rId20"/>
    <p:sldId id="16777198" r:id="rId21"/>
    <p:sldId id="16" r:id="rId22"/>
    <p:sldId id="16776588" r:id="rId23"/>
    <p:sldId id="16776219" r:id="rId24"/>
    <p:sldId id="19" r:id="rId25"/>
    <p:sldId id="1" r:id="rId26"/>
    <p:sldId id="0" r:id="rId27"/>
    <p:sldId id="13" r:id="rId28"/>
    <p:sldId id="2" r:id="rId29"/>
    <p:sldId id="6" r:id="rId30"/>
    <p:sldId id="9" r:id="rId31"/>
    <p:sldId id="3" r:id="rId32"/>
    <p:sldId id="4" r:id="rId33"/>
    <p:sldId id="15" r:id="rId34"/>
    <p:sldId id="8" r:id="rId35"/>
    <p:sldId id="7" r:id="rId36"/>
    <p:sldId id="18" r:id="rId37"/>
    <p:sldId id="16776508" r:id="rId38"/>
    <p:sldId id="8" r:id="rId39"/>
    <p:sldId id="16777212" r:id="rId40"/>
    <p:sldId id="16777213" r:id="rId41"/>
    <p:sldId id="16776197" r:id="rId42"/>
    <p:sldId id="6" r:id="rId4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an" initials="s" lastIdx="1" clrIdx="0"/>
  <p:cmAuthor id="797" name="未知用户353" initials="未" lastIdx="7" clrIdx="0"/>
  <p:cmAuthor id="1" name="Nada" initials="N" lastIdx="4" clrIdx="0"/>
  <p:cmAuthor id="798" name="未知用户354" initials="未" lastIdx="3" clrIdx="0"/>
  <p:cmAuthor id="2" name="程 瑜檬" initials="程" lastIdx="1" clrIdx="1"/>
  <p:cmAuthor id="799" name="未知用户355" initials="未" lastIdx="1" clrIdx="0"/>
  <p:cmAuthor id="3" name="liudehou" initials="l" lastIdx="2" clrIdx="2"/>
  <p:cmAuthor id="800" name="未知用户356" initials="未" lastIdx="0" clrIdx="0"/>
  <p:cmAuthor id="4" name="wangwei" initials="vv" lastIdx="1" clrIdx="3"/>
  <p:cmAuthor id="801" name="未知用户378" initials="未" lastIdx="1" clrIdx="0"/>
  <p:cmAuthor id="5" name="zhangxin" initials="z" lastIdx="3" clrIdx="4"/>
  <p:cmAuthor id="287643681" name="殷格非" initials="殷" lastIdx="2" clrIdx="0"/>
  <p:cmAuthor id="802" name="未知用户357" initials="未" lastIdx="9" clrIdx="0"/>
  <p:cmAuthor id="6" name="wei long" initials="wl" lastIdx="1" clrIdx="5"/>
  <p:cmAuthor id="287643682" name="z r" initials="zr" lastIdx="5" clrIdx="12"/>
  <p:cmAuthor id="803" name="未知用户362" initials="未" lastIdx="1" clrIdx="0"/>
  <p:cmAuthor id="7" name="Xiaosu Wang" initials="XW" lastIdx="1" clrIdx="6"/>
  <p:cmAuthor id="287643683" name="石晓利" initials="C" lastIdx="1" clrIdx="13"/>
  <p:cmAuthor id="804" name="未知用户363" initials="未" lastIdx="0" clrIdx="0"/>
  <p:cmAuthor id="8" name="xiaqianqian@hq.cmcc" initials="xiaqianqian@hq.cmcc" lastIdx="1" clrIdx="7"/>
  <p:cmAuthor id="287643684" name="ma yanru" initials="my" lastIdx="1" clrIdx="25"/>
  <p:cmAuthor id="805" name="未知用户374" initials="未" lastIdx="1" clrIdx="0"/>
  <p:cmAuthor id="9" name="smkhan" initials="s" lastIdx="6" clrIdx="5"/>
  <p:cmAuthor id="287643685" name="songlinyan" initials="s" lastIdx="2" clrIdx="44"/>
  <p:cmAuthor id="806" name="未知用户375" initials="未" lastIdx="1" clrIdx="0"/>
  <p:cmAuthor id="10" name="李超（IT）" initials="L" lastIdx="1" clrIdx="9"/>
  <p:cmAuthor id="287643686" name="YaoChunfen" initials="Y" lastIdx="1" clrIdx="39"/>
  <p:cmAuthor id="807" name="未知用户369" initials="未" lastIdx="2" clrIdx="0"/>
  <p:cmAuthor id="11" name="朱磊" initials="朱" lastIdx="2" clrIdx="10"/>
  <p:cmAuthor id="287643687" name="cheng" initials="c" lastIdx="13" clrIdx="0"/>
  <p:cmAuthor id="808" name="未知用户376" initials="未" lastIdx="22" clrIdx="0"/>
  <p:cmAuthor id="12" name="CMCC" initials="C" lastIdx="1" clrIdx="11"/>
  <p:cmAuthor id="287643688" name="方少_UbQfrimU" initials="authorId_442114952" lastIdx="0" clrIdx="0"/>
  <p:cmAuthor id="809" name="未知用户377" initials="未" lastIdx="1" clrIdx="0"/>
  <p:cmAuthor id="13" name="罗位国/应用平台研发部/软件开发中心/总行机关/ABC" initials="罗" lastIdx="1" clrIdx="1"/>
  <p:cmAuthor id="287643689" name="叶盛_Q3A3IfEf" initials="authorId_506280334" lastIdx="0" clrIdx="0"/>
  <p:cmAuthor id="810" name="未知用户372" initials="未" lastIdx="1" clrIdx="1"/>
  <p:cmAuthor id="14" name="李岩（IT）" initials="李" lastIdx="2" clrIdx="13"/>
  <p:cmAuthor id="287643690" name="Harley._bEJrUJ7r" initials="authorId_432156705" lastIdx="0" clrIdx="0"/>
  <p:cmAuthor id="15" name="13686" initials="1" lastIdx="1" clrIdx="14"/>
  <p:cmAuthor id="287643691" name="罗平_VB7vJb2E" initials="authorId_305049361" lastIdx="0" clrIdx="0"/>
  <p:cmAuthor id="16" name="周辉" initials="周" lastIdx="1" clrIdx="15"/>
  <p:cmAuthor id="287643692" name="xixi_nUjqe22E" initials="authorId_359229261" lastIdx="0" clrIdx="0"/>
  <p:cmAuthor id="813" name="未知用户451" initials="未" lastIdx="1" clrIdx="0"/>
  <p:cmAuthor id="17" name="Xinyue Li" initials="X" lastIdx="1" clrIdx="18"/>
  <p:cmAuthor id="287643693" name="安安_zm6nYnYZ" initials="authorId_347340296" lastIdx="0" clrIdx="0"/>
  <p:cmAuthor id="814" name="未知用户466" initials="未" lastIdx="3" clrIdx="0"/>
  <p:cmAuthor id="18" name="郭雨婷" initials="郭" lastIdx="1" clrIdx="17"/>
  <p:cmAuthor id="287643694" name="nature_emInFJF7" initials="authorId_313163542" lastIdx="0" clrIdx="0"/>
  <p:cmAuthor id="815" name="未知用户460" initials="未" lastIdx="1" clrIdx="0"/>
  <p:cmAuthor id="19" name="yanhexin" initials="y" lastIdx="1" clrIdx="18"/>
  <p:cmAuthor id="287643695" name="杨思思_VNjyvY7j" initials="authorId_430925712" lastIdx="0" clrIdx="0"/>
  <p:cmAuthor id="816" name="未知用户454" initials="未" lastIdx="2" clrIdx="0"/>
  <p:cmAuthor id="20" name="作者" initials="A" lastIdx="0" clrIdx="20"/>
  <p:cmAuthor id="146566726" name="高飞" initials="高" lastIdx="0" clrIdx="0"/>
  <p:cmAuthor id="287643696" name="周君_MfIffYra" initials="authorId_375419134" lastIdx="0" clrIdx="0"/>
  <p:cmAuthor id="817" name="未知用户461" initials="未" lastIdx="0" clrIdx="0"/>
  <p:cmAuthor id="21" name="Liu Jialin" initials="LJ" lastIdx="1" clrIdx="21"/>
  <p:cmAuthor id="146566727" name="xzb1" initials="x" lastIdx="1" clrIdx="1"/>
  <p:cmAuthor id="818" name="未知用户455" initials="未" lastIdx="1" clrIdx="0"/>
  <p:cmAuthor id="22" name="宋瑞芳" initials="KS" lastIdx="9" clrIdx="22"/>
  <p:cmAuthor id="819" name="未知用户462" initials="未" lastIdx="10" clrIdx="0"/>
  <p:cmAuthor id="23" name="Administrator" initials="A" lastIdx="6" clrIdx="23"/>
  <p:cmAuthor id="820" name="未知用户465" initials="未" lastIdx="1" clrIdx="5"/>
  <p:cmAuthor id="24" name="张 强" initials="张" lastIdx="1" clrIdx="24"/>
  <p:cmAuthor id="821" name="未知用户457" initials="未" lastIdx="1" clrIdx="0"/>
  <p:cmAuthor id="25" name="wyz" initials="w" lastIdx="1" clrIdx="24"/>
  <p:cmAuthor id="822" name="未知用户450" initials="未" lastIdx="0" clrIdx="0"/>
  <p:cmAuthor id="26" name="Lee" initials="L" lastIdx="2" clrIdx="25"/>
  <p:cmAuthor id="823" name="未知用户463" initials="未" lastIdx="1" clrIdx="18"/>
  <p:cmAuthor id="27" name="王丽（IT）" initials="王" lastIdx="2" clrIdx="26"/>
  <p:cmAuthor id="824" name="未知用户467" initials="未" lastIdx="0" clrIdx="0"/>
  <p:cmAuthor id="28" name="zzy" initials="zzy" lastIdx="1" clrIdx="27"/>
  <p:cmAuthor id="825" name="未知用户468" initials="未" lastIdx="1" clrIdx="0"/>
  <p:cmAuthor id="29" name="张馨玲" initials="张" lastIdx="1" clrIdx="28"/>
  <p:cmAuthor id="826" name="未知用户469" initials="未" lastIdx="1" clrIdx="0"/>
  <p:cmAuthor id="30" name="10056791" initials="ZTE" lastIdx="1" clrIdx="29"/>
  <p:cmAuthor id="827" name="未知用户458" initials="未" lastIdx="2" clrIdx="0"/>
  <p:cmAuthor id="31" name="Author" initials="A" lastIdx="0" clrIdx="30"/>
  <p:cmAuthor id="828" name="未知用户470" initials="未" lastIdx="1" clrIdx="0"/>
  <p:cmAuthor id="32" name="李楠10047711" initials="李楠10047711" lastIdx="2" clrIdx="31"/>
  <p:cmAuthor id="829" name="未知用户471" initials="未" lastIdx="1" clrIdx="0"/>
  <p:cmAuthor id="33" name="10045953" initials="1" lastIdx="1" clrIdx="32"/>
  <p:cmAuthor id="830" name="未知用户472" initials="未" lastIdx="1" clrIdx="0"/>
  <p:cmAuthor id="34" name="Y Y" initials="YY" lastIdx="2" clrIdx="33"/>
  <p:cmAuthor id="831" name="未知用户473" initials="未" lastIdx="4" clrIdx="0"/>
  <p:cmAuthor id="35" name="HP" initials="H" lastIdx="2" clrIdx="34"/>
  <p:cmAuthor id="36" name="Microsoft 帐户" initials="M帐" lastIdx="6" clrIdx="36"/>
  <p:cmAuthor id="833" name="未知用户453" initials="未" lastIdx="1" clrIdx="0"/>
  <p:cmAuthor id="37" name="X13" initials="X" lastIdx="2" clrIdx="36"/>
  <p:cmAuthor id="834" name="未知用户474" initials="未" lastIdx="0" clrIdx="0"/>
  <p:cmAuthor id="38" name="赵欣" initials="zx" lastIdx="4" clrIdx="37"/>
  <p:cmAuthor id="835" name="未知用户475" initials="未" lastIdx="0" clrIdx="0"/>
  <p:cmAuthor id="39" name="10206899" initials="1" lastIdx="1" clrIdx="38"/>
  <p:cmAuthor id="836" name="未知用户476" initials="未" lastIdx="1" clrIdx="0"/>
  <p:cmAuthor id="40" name="10133177" initials="1" lastIdx="1" clrIdx="39"/>
  <p:cmAuthor id="475196944" name="姚琳" initials="姚" lastIdx="1133934" clrIdx="0"/>
  <p:cmAuthor id="837" name="未知用户459" initials="未" lastIdx="1" clrIdx="1"/>
  <p:cmAuthor id="41" name="yaohuijuan " initials="c" lastIdx="3" clrIdx="40"/>
  <p:cmAuthor id="475196945" name="chen" initials="c" lastIdx="1" clrIdx="2"/>
  <p:cmAuthor id="838" name="未知用户489" initials="未" lastIdx="1" clrIdx="0"/>
  <p:cmAuthor id="42" name="zhifubao" initials="z" lastIdx="1" clrIdx="41"/>
  <p:cmAuthor id="839" name="未知用户488" initials="未" lastIdx="10" clrIdx="0"/>
  <p:cmAuthor id="43" name="Microsoft Office 用户" initials="MO用 [8] [6]" lastIdx="1" clrIdx="42"/>
  <p:cmAuthor id="840" name="未知用户490" initials="未" lastIdx="1" clrIdx="0"/>
  <p:cmAuthor id="44" name="User" initials="U" lastIdx="1" clrIdx="43"/>
  <p:cmAuthor id="841" name="未知用户477" initials="未" lastIdx="2" clrIdx="0"/>
  <p:cmAuthor id="45" name="未知用户35" initials="未" lastIdx="1" clrIdx="38"/>
  <p:cmAuthor id="842" name="未知用户478" initials="未" lastIdx="1" clrIdx="0"/>
  <p:cmAuthor id="46" name="茹志强" initials="U" lastIdx="0" clrIdx="45"/>
  <p:cmAuthor id="843" name="未知用户479" initials="未" lastIdx="0" clrIdx="8"/>
  <p:cmAuthor id="47" name="clj" initials="c" lastIdx="1" clrIdx="46"/>
  <p:cmAuthor id="844" name="未知用户480" initials="未" lastIdx="1" clrIdx="0"/>
  <p:cmAuthor id="48" name="尹瑶瑶" initials="尹" lastIdx="1" clrIdx="47"/>
  <p:cmAuthor id="845" name="未知用户481" initials="未" lastIdx="10" clrIdx="0"/>
  <p:cmAuthor id="49" name="user" initials="u" lastIdx="2" clrIdx="48"/>
  <p:cmAuthor id="846" name="未知用户482" initials="未" lastIdx="1" clrIdx="0"/>
  <p:cmAuthor id="50" name="张卓豫" initials="zzy" lastIdx="1" clrIdx="49"/>
  <p:cmAuthor id="847" name="未知用户483" initials="未" lastIdx="1" clrIdx="0"/>
  <p:cmAuthor id="51" name="admin7" initials="l" lastIdx="1" clrIdx="50"/>
  <p:cmAuthor id="848" name="未知用户484" initials="未" lastIdx="1" clrIdx="0"/>
  <p:cmAuthor id="52" name="cmsz" initials="c" lastIdx="1" clrIdx="51"/>
  <p:cmAuthor id="849" name="未知用户485" initials="未" lastIdx="1" clrIdx="0"/>
  <p:cmAuthor id="53" name="施旻" initials="施" lastIdx="1" clrIdx="52"/>
  <p:cmAuthor id="850" name="未知用户486" initials="未" lastIdx="0" clrIdx="0"/>
  <p:cmAuthor id="54" name="zhangyuexin@hq.cmcc" initials="zhangyuexin@hq.cmcc" lastIdx="1" clrIdx="53"/>
  <p:cmAuthor id="851" name="未知用户452" initials="未" lastIdx="2" clrIdx="0"/>
  <p:cmAuthor id="55" name="黎丹" initials="黎" lastIdx="2" clrIdx="0"/>
  <p:cmAuthor id="852" name="未知用户456" initials="未" lastIdx="1" clrIdx="0"/>
  <p:cmAuthor id="56" name="Cmit" initials="C" lastIdx="1" clrIdx="55"/>
  <p:cmAuthor id="853" name="未知用户464" initials="未" lastIdx="0" clrIdx="0"/>
  <p:cmAuthor id="57" name="未知的使用者40" initials="" lastIdx="1" clrIdx="0"/>
  <p:cmAuthor id="854" name="未知用户487" initials="未" lastIdx="0" clrIdx="0"/>
  <p:cmAuthor id="58" name="X1" initials="X" lastIdx="1" clrIdx="57"/>
  <p:cmAuthor id="59" name="LZ" initials="Y" lastIdx="1" clrIdx="58"/>
  <p:cmAuthor id="856" name="未知用户259" initials="未" lastIdx="1" clrIdx="0"/>
  <p:cmAuthor id="60" name="lunan" initials="l" lastIdx="1" clrIdx="59"/>
  <p:cmAuthor id="61" name="未知的使用者29" initials="" lastIdx="1" clrIdx="0"/>
  <p:cmAuthor id="62" name="liyuting" initials="l" lastIdx="2" clrIdx="61"/>
  <p:cmAuthor id="63" name="未知的使用者98" initials="" lastIdx="1" clrIdx="0"/>
  <p:cmAuthor id="64" name="gengxuan" initials="g" lastIdx="10" clrIdx="63"/>
  <p:cmAuthor id="861" name="seki" initials="s" lastIdx="1" clrIdx="0"/>
  <p:cmAuthor id="65" name="匿名用户" initials="匿" lastIdx="1" clrIdx="64"/>
  <p:cmAuthor id="66" name="liucunri" initials="" lastIdx="1" clrIdx="0"/>
  <p:cmAuthor id="67" name="未知用户9" initials="" lastIdx="1" clrIdx="0"/>
  <p:cmAuthor id="864" name="未知用户270" initials="未" lastIdx="1" clrIdx="0"/>
  <p:cmAuthor id="68" name="Unknown User48" initials="" lastIdx="8" clrIdx="0"/>
  <p:cmAuthor id="69" name="未知用户103" initials="" lastIdx="1" clrIdx="0"/>
  <p:cmAuthor id="866" name="USER631805" initials="U" lastIdx="1" clrIdx="865"/>
  <p:cmAuthor id="70" name="Unknown User52" initials="" lastIdx="1" clrIdx="0"/>
  <p:cmAuthor id="71" name="未知的使用者42" initials="" lastIdx="1" clrIdx="0"/>
  <p:cmAuthor id="868" name="俊呈 賴" initials="俊" lastIdx="1" clrIdx="87"/>
  <p:cmAuthor id="72" name="Unknown User50" initials="" lastIdx="1" clrIdx="0"/>
  <p:cmAuthor id="1070834129" name="赵永成" initials="赵" lastIdx="1" clrIdx="717"/>
  <p:cmAuthor id="73" name="未知的使用者120" initials="" lastIdx="1" clrIdx="0"/>
  <p:cmAuthor id="74" name="px" initials="" lastIdx="3" clrIdx="1"/>
  <p:cmAuthor id="871" name="Nero" initials="N" lastIdx="2" clrIdx="0"/>
  <p:cmAuthor id="75" name="Sky123.Org" initials="" lastIdx="1" clrIdx="0"/>
  <p:cmAuthor id="872" name="yifan song" initials="y" lastIdx="1" clrIdx="85"/>
  <p:cmAuthor id="76" name="陈驹洲" initials="A" lastIdx="1" clrIdx="25"/>
  <p:cmAuthor id="77" name="elfinhsu" initials="" lastIdx="1" clrIdx="0"/>
  <p:cmAuthor id="78" name="何 静" initials="何" lastIdx="1" clrIdx="4"/>
  <p:cmAuthor id="79" name="微软用户" initials="" lastIdx="1" clrIdx="0"/>
  <p:cmAuthor id="876" name="莊安君" initials="莊" lastIdx="1" clrIdx="65"/>
  <p:cmAuthor id="80" name="未知的使用者73" initials="" lastIdx="1" clrIdx="0"/>
  <p:cmAuthor id="81" name="未知的使用者24" initials="" lastIdx="8" clrIdx="0"/>
  <p:cmAuthor id="82" name="未知用户16" initials="" lastIdx="1" clrIdx="0"/>
  <p:cmAuthor id="879" name="陳建璋" initials="陳" lastIdx="2" clrIdx="85"/>
  <p:cmAuthor id="83" name="Mary Feil-Jacobs" initials="" lastIdx="43" clrIdx="1"/>
  <p:cmAuthor id="880" name="建璋" initials="建" lastIdx="1" clrIdx="86"/>
  <p:cmAuthor id="84" name="LiuHui" initials="" lastIdx="1" clrIdx="0"/>
  <p:cmAuthor id="85" name="未知的使用者45" initials="" lastIdx="1" clrIdx="0"/>
  <p:cmAuthor id="882" name="77482" initials="7" lastIdx="2" clrIdx="548"/>
  <p:cmAuthor id="86" name="王鹏凯" initials="" lastIdx="1" clrIdx="0"/>
  <p:cmAuthor id="883" name="未知用户265" initials="未" lastIdx="2" clrIdx="0"/>
  <p:cmAuthor id="87" name="未知用户104" initials="" lastIdx="1" clrIdx="0"/>
  <p:cmAuthor id="884" name="未知用户267" initials="未" lastIdx="1" clrIdx="0"/>
  <p:cmAuthor id="88" name="未知用户5" initials="" lastIdx="1" clrIdx="0"/>
  <p:cmAuthor id="885" name="liuxie" initials="l" lastIdx="1" clrIdx="588"/>
  <p:cmAuthor id="89" name="未知的使用者10" initials="" lastIdx="3" clrIdx="1"/>
  <p:cmAuthor id="886" name="张因然10112423" initials="1" lastIdx="1" clrIdx="885"/>
  <p:cmAuthor id="90" name="未知的使用者93" initials="" lastIdx="1" clrIdx="1"/>
  <p:cmAuthor id="91" name="范作霖" initials="范" lastIdx="1" clrIdx="22"/>
  <p:cmAuthor id="888" name="未知用户242" initials="未" lastIdx="3" clrIdx="0"/>
  <p:cmAuthor id="92" name="LeeElva" initials="" lastIdx="1" clrIdx="0"/>
  <p:cmAuthor id="29922660" name="杨强" initials="杨" lastIdx="0" clrIdx="0"/>
  <p:cmAuthor id="93" name="未知用户99" initials="" lastIdx="1" clrIdx="2"/>
  <p:cmAuthor id="29922661" name="檀晟 陈" initials="檀晟" lastIdx="1" clrIdx="10"/>
  <p:cmAuthor id="890" name="未知用户227" initials="未" lastIdx="1" clrIdx="0"/>
  <p:cmAuthor id="94" name="未知的使用者34" initials="" lastIdx="1" clrIdx="0"/>
  <p:cmAuthor id="95" name="未知的使用者115" initials="" lastIdx="1" clrIdx="1"/>
  <p:cmAuthor id="892" name="未知用户299" initials="未" lastIdx="1" clrIdx="0"/>
  <p:cmAuthor id="96" name="未知用户57" initials="" lastIdx="1" clrIdx="0"/>
  <p:cmAuthor id="97" name="lianghb" initials="" lastIdx="19" clrIdx="0"/>
  <p:cmAuthor id="98" name="未知用户17" initials="" lastIdx="0" clrIdx="1"/>
  <p:cmAuthor id="99" name="Deanna Schuler (Bookey Consulting)" initials="" lastIdx="2" clrIdx="0"/>
  <p:cmAuthor id="100" name="未知的使用者57" initials="" lastIdx="1" clrIdx="0"/>
  <p:cmAuthor id="101" name="未知的使用者16" initials="" lastIdx="6" clrIdx="0"/>
  <p:cmAuthor id="898" name="許詩婕" initials="許" lastIdx="1" clrIdx="1"/>
  <p:cmAuthor id="102" name="未知的使用者35" initials="" lastIdx="1" clrIdx="0"/>
  <p:cmAuthor id="103" name="未知用户102" initials="" lastIdx="1" clrIdx="1"/>
  <p:cmAuthor id="900" name="minil" initials="m" lastIdx="4" clrIdx="589"/>
  <p:cmAuthor id="104" name="maxine" initials="" lastIdx="0" clrIdx="0"/>
  <p:cmAuthor id="901" name="15106" initials="1" lastIdx="4" clrIdx="0"/>
  <p:cmAuthor id="105" name="未知的使用者121" initials="" lastIdx="1" clrIdx="1"/>
  <p:cmAuthor id="106" name="未知的使用者12" initials="" lastIdx="1" clrIdx="0"/>
  <p:cmAuthor id="903" name="赵 璐" initials="赵" lastIdx="4" clrIdx="0"/>
  <p:cmAuthor id="107" name="周元元" initials="" lastIdx="5" clrIdx="0"/>
  <p:cmAuthor id="904" name="Zhu, Hawk" initials="Z" lastIdx="1" clrIdx="0"/>
  <p:cmAuthor id="108" name="未知的使用者27" initials="" lastIdx="8" clrIdx="0"/>
  <p:cmAuthor id="905" name="tanjp" initials="t" lastIdx="0" clrIdx="491"/>
  <p:cmAuthor id="109" name="刘豹" initials="刘" lastIdx="0" clrIdx="0"/>
  <p:cmAuthor id="906" name="YS" initials="Y" lastIdx="1" clrIdx="86"/>
  <p:cmAuthor id="110" name="未知的使用者30" initials="" lastIdx="8" clrIdx="0"/>
  <p:cmAuthor id="111" name="未知的使用者53" initials="" lastIdx="1" clrIdx="0"/>
  <p:cmAuthor id="112" name="未知用户58" initials="" lastIdx="5" clrIdx="1"/>
  <p:cmAuthor id="113" name="未知的使用者25" initials="" lastIdx="1" clrIdx="0"/>
  <p:cmAuthor id="910" name="Jdi" initials="J" lastIdx="0" clrIdx="0"/>
  <p:cmAuthor id="114" name="liupeng" initials="" lastIdx="1" clrIdx="1"/>
  <p:cmAuthor id="911" name="未知用户337" initials="未" lastIdx="1" clrIdx="0"/>
  <p:cmAuthor id="115" name="未知用户24" initials="" lastIdx="1" clrIdx="0"/>
  <p:cmAuthor id="912" name="未知用户239" initials="未" lastIdx="3" clrIdx="0"/>
  <p:cmAuthor id="116" name="AbuSina" initials="" lastIdx="2" clrIdx="0"/>
  <p:cmAuthor id="913" name="chenmh" initials="c" lastIdx="1" clrIdx="85"/>
  <p:cmAuthor id="117" name="hl sun" initials="" lastIdx="1" clrIdx="0"/>
  <p:cmAuthor id="914" name="CVTEr" initials="C" lastIdx="1" clrIdx="0"/>
  <p:cmAuthor id="118" name="未知的使用者94" initials="" lastIdx="1" clrIdx="2"/>
  <p:cmAuthor id="915" name="June C" initials="J" lastIdx="1" clrIdx="4"/>
  <p:cmAuthor id="119" name="未知用户66" initials="" lastIdx="1" clrIdx="0"/>
  <p:cmAuthor id="916" name="00270" initials="0" lastIdx="1" clrIdx="0"/>
  <p:cmAuthor id="120" name="郑汝鸿" initials="郑" lastIdx="2" clrIdx="0"/>
  <p:cmAuthor id="917" name="IBM_USER" initials="I" lastIdx="4" clrIdx="1"/>
  <p:cmAuthor id="121" name="未知用户19" initials="" lastIdx="1" clrIdx="0"/>
  <p:cmAuthor id="918" name="aa" initials="a" lastIdx="10" clrIdx="9"/>
  <p:cmAuthor id="122" name="周宏達JerryChou" initials="" lastIdx="6" clrIdx="2"/>
  <p:cmAuthor id="919" name="shinevin liu" initials="s" lastIdx="1" clrIdx="3"/>
  <p:cmAuthor id="123" name="邢辰凤" initials="邢" lastIdx="45" clrIdx="7"/>
  <p:cmAuthor id="920" name="Davidpeng" initials="D" lastIdx="1" clrIdx="10"/>
  <p:cmAuthor id="124" name="未知用户7" initials="" lastIdx="1" clrIdx="0"/>
  <p:cmAuthor id="921" name="dbc" initials="d" lastIdx="2" clrIdx="0"/>
  <p:cmAuthor id="125" name="未知的使用者56" initials="" lastIdx="1" clrIdx="0"/>
  <p:cmAuthor id="922" name="吴军影" initials="吴" lastIdx="10" clrIdx="0"/>
  <p:cmAuthor id="126" name="未知用户46" initials="未" lastIdx="1" clrIdx="1"/>
  <p:cmAuthor id="923" name="冯学沛" initials="冯" lastIdx="1" clrIdx="1"/>
  <p:cmAuthor id="127" name="未知的使用者119" initials="" lastIdx="1" clrIdx="2"/>
  <p:cmAuthor id="924" name="杨 超" initials="杨" lastIdx="1" clrIdx="3"/>
  <p:cmAuthor id="128" name="未知用户59" initials="" lastIdx="0" clrIdx="1"/>
  <p:cmAuthor id="129" name="未知的使用者22" initials="" lastIdx="8" clrIdx="0"/>
  <p:cmAuthor id="926" name="Rex" initials="R" lastIdx="0" clrIdx="0"/>
  <p:cmAuthor id="130" name="未知的使用者103" initials="" lastIdx="8" clrIdx="0"/>
  <p:cmAuthor id="131" name="Wenwen" initials="" lastIdx="1" clrIdx="1"/>
  <p:cmAuthor id="132" name="未知的使用者117" initials="" lastIdx="1" clrIdx="0"/>
  <p:cmAuthor id="133" name="未知的使用者33" initials="" lastIdx="1" clrIdx="0"/>
  <p:cmAuthor id="134" name="未知的使用者28" initials="" lastIdx="1" clrIdx="0"/>
  <p:cmAuthor id="135" name="未知用户67" initials="" lastIdx="1" clrIdx="0"/>
  <p:cmAuthor id="136" name="未知用户114" initials="" lastIdx="1" clrIdx="0"/>
  <p:cmAuthor id="137" name="未知用户18" initials="" lastIdx="10" clrIdx="0"/>
  <p:cmAuthor id="138" name="未知的使用者67" initials="" lastIdx="1" clrIdx="0"/>
  <p:cmAuthor id="139" name="未知的使用者46" initials="" lastIdx="1" clrIdx="1"/>
  <p:cmAuthor id="140" name="未知的使用者26" initials="" lastIdx="1" clrIdx="0"/>
  <p:cmAuthor id="141" name="未知的使用者43" initials="" lastIdx="1" clrIdx="0"/>
  <p:cmAuthor id="441412215" name="tonghailan" initials="t" lastIdx="1126972" clrIdx="1"/>
  <p:cmAuthor id="142" name="未知的使用者9" initials="" lastIdx="1" clrIdx="0"/>
  <p:cmAuthor id="143" name="未知用户62" initials="" lastIdx="1" clrIdx="1"/>
  <p:cmAuthor id="144" name="yuanzh" initials="" lastIdx="1" clrIdx="1"/>
  <p:cmAuthor id="145" name="不明使用者57" initials="" lastIdx="1" clrIdx="0"/>
  <p:cmAuthor id="146" name="未知用户108" initials="" lastIdx="1" clrIdx="0"/>
  <p:cmAuthor id="147" name="未知的使用者110" initials="" lastIdx="1" clrIdx="0"/>
  <p:cmAuthor id="148" name="linyd" initials="" lastIdx="3" clrIdx="1"/>
  <p:cmAuthor id="149" name="未知用户8" initials="" lastIdx="1" clrIdx="0"/>
  <p:cmAuthor id="150" name="未知的使用者31" initials="" lastIdx="1" clrIdx="0"/>
  <p:cmAuthor id="151" name="未知用户81" initials="" lastIdx="1" clrIdx="0"/>
  <p:cmAuthor id="152" name="未知用户115" initials="" lastIdx="1" clrIdx="0"/>
  <p:cmAuthor id="153" name="未知用户21" initials="" lastIdx="1" clrIdx="0"/>
  <p:cmAuthor id="154" name="未知的使用者68" initials="" lastIdx="1" clrIdx="0"/>
  <p:cmAuthor id="155" name="mm" initials="" lastIdx="1" clrIdx="0"/>
  <p:cmAuthor id="156" name="未知用户15" initials="" lastIdx="1" clrIdx="0"/>
  <p:cmAuthor id="157" name="朱晓瑜" initials="" lastIdx="54" clrIdx="0"/>
  <p:cmAuthor id="158" name="不明使用者20" initials="" lastIdx="1" clrIdx="0"/>
  <p:cmAuthor id="159" name="未知用户82" initials="" lastIdx="1" clrIdx="0"/>
  <p:cmAuthor id="160" name="未知的使用者7" initials="" lastIdx="2" clrIdx="0"/>
  <p:cmAuthor id="161" name="未知用户6" initials="" lastIdx="8" clrIdx="0"/>
  <p:cmAuthor id="162" name="未知的使用者55" initials="" lastIdx="1" clrIdx="0"/>
  <p:cmAuthor id="163" name="未知的使用者111" initials="" lastIdx="1" clrIdx="0"/>
  <p:cmAuthor id="164" name="未知的使用者50" initials="" lastIdx="1" clrIdx="0"/>
  <p:cmAuthor id="165" name="未知的使用者11" initials="" lastIdx="1" clrIdx="0"/>
  <p:cmAuthor id="166" name="未知用户47" initials="" lastIdx="6" clrIdx="0"/>
  <p:cmAuthor id="167" name="未知用户106" initials="未" lastIdx="1" clrIdx="0"/>
  <p:cmAuthor id="168" name="未知用户116" initials="" lastIdx="1" clrIdx="1"/>
  <p:cmAuthor id="169" name="未知的使用者150" initials="未" lastIdx="1" clrIdx="0"/>
  <p:cmAuthor id="170" name="未知的使用者69" initials="" lastIdx="1" clrIdx="1"/>
  <p:cmAuthor id="171" name="未知的使用者112" initials="" lastIdx="1" clrIdx="1"/>
  <p:cmAuthor id="172" name="未知用户183" initials="未知用户183" lastIdx="1" clrIdx="49"/>
  <p:cmAuthor id="173" name="Kevin Hu" initials="" lastIdx="1" clrIdx="0"/>
  <p:cmAuthor id="174" name="未知的使用者38" initials="" lastIdx="1" clrIdx="0"/>
  <p:cmAuthor id="175" name="唐可欣" initials="" lastIdx="1" clrIdx="0"/>
  <p:cmAuthor id="176" name="未知的使用者8" initials="" lastIdx="1" clrIdx="0"/>
  <p:cmAuthor id="177" name="不明使用者56" initials="" lastIdx="1" clrIdx="0"/>
  <p:cmAuthor id="178" name="P00035_jeremy" initials="" lastIdx="1" clrIdx="0"/>
  <p:cmAuthor id="179" name="Unknown User7" initials="" lastIdx="1" clrIdx="0"/>
  <p:cmAuthor id="180" name="muzi wei" initials="" lastIdx="1" clrIdx="0"/>
  <p:cmAuthor id="181" name="未知的使用者41" initials="" lastIdx="1" clrIdx="0"/>
  <p:cmAuthor id="353158055" name="韩雨" initials="韩" lastIdx="0" clrIdx="0"/>
  <p:cmAuthor id="182" name="未知的使用者13" initials="" lastIdx="1" clrIdx="0"/>
  <p:cmAuthor id="183" name="djj" initials="" lastIdx="2" clrIdx="0"/>
  <p:cmAuthor id="184" name="未知用户117" initials="" lastIdx="1" clrIdx="2"/>
  <p:cmAuthor id="185" name="shinin" initials="s" lastIdx="2" clrIdx="0"/>
  <p:cmAuthor id="186" name="未知用户13" initials="" lastIdx="1" clrIdx="0"/>
  <p:cmAuthor id="187" name="不明使用者21" initials="" lastIdx="1" clrIdx="0"/>
  <p:cmAuthor id="188" name="YUMINGNJ" initials="" lastIdx="3" clrIdx="0"/>
  <p:cmAuthor id="189" name="未知的使用者52" initials="" lastIdx="1" clrIdx="1"/>
  <p:cmAuthor id="190" name="未知用户109" initials="" lastIdx="1" clrIdx="1"/>
  <p:cmAuthor id="191" name="Unknown User117" initials="U" lastIdx="10" clrIdx="0"/>
  <p:cmAuthor id="192" name="thomas" initials="" lastIdx="1" clrIdx="49"/>
  <p:cmAuthor id="193" name="未知的使用者3" initials="" lastIdx="7" clrIdx="1"/>
  <p:cmAuthor id="194" name="未知用户14" initials="" lastIdx="1" clrIdx="0"/>
  <p:cmAuthor id="195" name="Unknown User65" initials="U" lastIdx="1" clrIdx="0"/>
  <p:cmAuthor id="196" name="未知用户98" initials="" lastIdx="1" clrIdx="2"/>
  <p:cmAuthor id="197" name="Unknown User67" initials="U" lastIdx="1" clrIdx="0"/>
  <p:cmAuthor id="198" name="未知用户83" initials="" lastIdx="1" clrIdx="1"/>
  <p:cmAuthor id="199" name="未知用户61" initials="" lastIdx="8" clrIdx="0"/>
  <p:cmAuthor id="200" name="張秀娟" initials="" lastIdx="1" clrIdx="2"/>
  <p:cmAuthor id="201" name="Jason Wang" initials="" lastIdx="1" clrIdx="0"/>
  <p:cmAuthor id="202" name="不明使用者18" initials="" lastIdx="0" clrIdx="1"/>
  <p:cmAuthor id="203" name="未知用户28" initials="未" lastIdx="5" clrIdx="1"/>
  <p:cmAuthor id="204" name="未知的使用者72" initials="" lastIdx="1" clrIdx="0"/>
  <p:cmAuthor id="205" name="未知的使用者48" initials="" lastIdx="1" clrIdx="0"/>
  <p:cmAuthor id="206" name="未知的使用者104" initials="" lastIdx="1" clrIdx="0"/>
  <p:cmAuthor id="207" name="未知用户60" initials="" lastIdx="1" clrIdx="0"/>
  <p:cmAuthor id="208" name="未知的使用者39" initials="未" lastIdx="10" clrIdx="0"/>
  <p:cmAuthor id="209" name="Shawna Strickland" initials="" lastIdx="2" clrIdx="0"/>
  <p:cmAuthor id="210" name="未知的使用者36" initials="" lastIdx="3" clrIdx="1"/>
  <p:cmAuthor id="211" name="焱恺 彭" initials="焱" lastIdx="1" clrIdx="95"/>
  <p:cmAuthor id="212" name="Daniel Wuu" initials="" lastIdx="1" clrIdx="0"/>
  <p:cmAuthor id="213" name="未知用户56" initials="" lastIdx="1" clrIdx="0"/>
  <p:cmAuthor id="214" name="未知的使用者14" initials="" lastIdx="2" clrIdx="0"/>
  <p:cmAuthor id="215" name="未知的使用者140" initials="未" lastIdx="1" clrIdx="1"/>
  <p:cmAuthor id="216" name="未知的使用者197" initials="未" lastIdx="8" clrIdx="0"/>
  <p:cmAuthor id="217" name="Ashley Eberenz" initials="" lastIdx="7" clrIdx="1"/>
  <p:cmAuthor id="218" name="不明使用者19" initials="" lastIdx="1" clrIdx="0"/>
  <p:cmAuthor id="219" name="qiantong" initials="" lastIdx="3" clrIdx="1"/>
  <p:cmAuthor id="220" name="未知的使用者74" initials="" lastIdx="1" clrIdx="0"/>
  <p:cmAuthor id="221" name="未知的使用者23" initials="" lastIdx="1" clrIdx="0"/>
  <p:cmAuthor id="222" name="未知的使用者1" initials="" lastIdx="8" clrIdx="0"/>
  <p:cmAuthor id="223" name="116304" initials="" lastIdx="1" clrIdx="1"/>
  <p:cmAuthor id="224" name="未知用户31" initials="未" lastIdx="1" clrIdx="1"/>
  <p:cmAuthor id="225" name="R affer" initials="" lastIdx="1" clrIdx="0"/>
  <p:cmAuthor id="226" name="qihua-DCMS" initials="" lastIdx="0" clrIdx="0"/>
  <p:cmAuthor id="227" name="未知用户55" initials="" lastIdx="1" clrIdx="0"/>
  <p:cmAuthor id="191251535" name="沈霄雷" initials="沈" lastIdx="833089" clrIdx="0"/>
  <p:cmAuthor id="228" name="未知的使用者95" initials="" lastIdx="1" clrIdx="0"/>
  <p:cmAuthor id="191251536" name="SF" initials="S" lastIdx="6" clrIdx="11"/>
  <p:cmAuthor id="229" name="guanhh" initials="g" lastIdx="3" clrIdx="0"/>
  <p:cmAuthor id="191251537" name="sammi" initials="s" lastIdx="0" clrIdx="12"/>
  <p:cmAuthor id="230" name="未知的使用者32" initials="" lastIdx="1" clrIdx="0"/>
  <p:cmAuthor id="191251538" name="渠沛" initials="渠" lastIdx="1" clrIdx="35"/>
  <p:cmAuthor id="231" name="未知的使用者49" initials="" lastIdx="1" clrIdx="0"/>
  <p:cmAuthor id="191251539" name="席琛" initials="" lastIdx="0" clrIdx="58"/>
  <p:cmAuthor id="232" name="Unknown User26" initials="U" lastIdx="1" clrIdx="1"/>
  <p:cmAuthor id="191251540" name="韩剑侠" initials="P" lastIdx="1" clrIdx="41"/>
  <p:cmAuthor id="233" name="yuexuejun" initials="" lastIdx="3" clrIdx="0"/>
  <p:cmAuthor id="191251541" name="sjzx" initials="s" lastIdx="1" clrIdx="25"/>
  <p:cmAuthor id="234" name="未知的使用者71" initials="" lastIdx="1" clrIdx="1"/>
  <p:cmAuthor id="191251542" name="yang.yuan" initials="y" lastIdx="0" clrIdx="17"/>
  <p:cmAuthor id="235" name="未知的使用者105" initials="" lastIdx="1" clrIdx="0"/>
  <p:cmAuthor id="191251543" name="王娟" initials="1" lastIdx="1" clrIdx="31"/>
  <p:cmAuthor id="236" name="Unknown User70" initials="" lastIdx="1" clrIdx="0"/>
  <p:cmAuthor id="237" name="clinchen" initials="" lastIdx="0" clrIdx="1"/>
  <p:cmAuthor id="238" name="未知用户23" initials="" lastIdx="1" clrIdx="0"/>
  <p:cmAuthor id="239" name="hanjuncompany" initials="" lastIdx="1" clrIdx="0"/>
  <p:cmAuthor id="240" name="kathy chen" initials="" lastIdx="3" clrIdx="0"/>
  <p:cmAuthor id="241" name="未知的使用者63" initials="" lastIdx="1" clrIdx="0"/>
  <p:cmAuthor id="242" name="未知的使用者64" initials="" lastIdx="3" clrIdx="1"/>
  <p:cmAuthor id="243" name="未知的使用者47" initials="" lastIdx="1" clrIdx="0"/>
  <p:cmAuthor id="244" name="未知的使用者60" initials="" lastIdx="8" clrIdx="0"/>
  <p:cmAuthor id="245" name="未知的使用者59" initials="" lastIdx="1" clrIdx="0"/>
  <p:cmAuthor id="246" name="未知的使用者54" initials="" lastIdx="1" clrIdx="0"/>
  <p:cmAuthor id="247" name="未知的使用者66" initials="" lastIdx="8" clrIdx="0"/>
  <p:cmAuthor id="394525608" name="仇怿俊" initials="仇" lastIdx="0" clrIdx="0"/>
  <p:cmAuthor id="248" name="未知的使用者65" initials="" lastIdx="1" clrIdx="0"/>
  <p:cmAuthor id="394525609" name="王 钰" initials="王" lastIdx="10" clrIdx="25"/>
  <p:cmAuthor id="249" name="未知的使用者106" initials="" lastIdx="3" clrIdx="1"/>
  <p:cmAuthor id="394525610" name="罗 罗" initials="罗" lastIdx="1" clrIdx="37"/>
  <p:cmAuthor id="250" name="未知的使用者107" initials="" lastIdx="1" clrIdx="1"/>
  <p:cmAuthor id="394525611" name="ShanQiu LH" initials="SL" lastIdx="1" clrIdx="51"/>
  <p:cmAuthor id="251" name="未知的使用者108" initials="" lastIdx="1" clrIdx="0"/>
  <p:cmAuthor id="394525612" name="goulei" initials="g" lastIdx="2" clrIdx="41"/>
  <p:cmAuthor id="252" name="未知的使用者86" initials="" lastIdx="1" clrIdx="0"/>
  <p:cmAuthor id="253" name="未知的使用者116" initials="" lastIdx="1" clrIdx="1"/>
  <p:cmAuthor id="254" name="未知的使用者44" initials="" lastIdx="1" clrIdx="0"/>
  <p:cmAuthor id="255" name="未知的使用者37" initials="" lastIdx="1" clrIdx="0"/>
  <p:cmAuthor id="256" name="未知的使用者126" initials="" lastIdx="1" clrIdx="0"/>
  <p:cmAuthor id="257" name="未知的使用者127" initials="" lastIdx="3" clrIdx="1"/>
  <p:cmAuthor id="258" name="未知的使用者128" initials="" lastIdx="1" clrIdx="1"/>
  <p:cmAuthor id="259" name="未知的使用者124" initials="" lastIdx="1" clrIdx="0"/>
  <p:cmAuthor id="260" name="未知的使用者125" initials="" lastIdx="1" clrIdx="0"/>
  <p:cmAuthor id="261" name="Sara Chen" initials="" lastIdx="1" clrIdx="0"/>
  <p:cmAuthor id="262" name="huang gerrard" initials="" lastIdx="1" clrIdx="0"/>
  <p:cmAuthor id="263" name="未知用户170" initials="" lastIdx="1" clrIdx="0"/>
  <p:cmAuthor id="264" name="未知用户171" initials="" lastIdx="5" clrIdx="1"/>
  <p:cmAuthor id="265" name="未知用户172" initials="" lastIdx="1" clrIdx="1"/>
  <p:cmAuthor id="266" name="未知用户173" initials="" lastIdx="1" clrIdx="0"/>
  <p:cmAuthor id="267" name="未知用户149" initials="" lastIdx="1" clrIdx="0"/>
  <p:cmAuthor id="268" name="未知用户150" initials="" lastIdx="1" clrIdx="0"/>
  <p:cmAuthor id="269" name="未知用户151" initials="" lastIdx="2" clrIdx="0"/>
  <p:cmAuthor id="270" name="未知用户152" initials="" lastIdx="8" clrIdx="0"/>
  <p:cmAuthor id="271" name="未知用户153" initials="" lastIdx="8" clrIdx="0"/>
  <p:cmAuthor id="272" name="未知用户154" initials="" lastIdx="1" clrIdx="0"/>
  <p:cmAuthor id="273" name="未知用户155" initials=""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64" initials="" lastIdx="1" clrIdx="0"/>
  <p:cmAuthor id="279" name="未知用户65" initials="" lastIdx="1" clrIdx="0"/>
  <p:cmAuthor id="280" name="未知用户68" initials="" lastIdx="1" clrIdx="0"/>
  <p:cmAuthor id="281" name="未知用户69" initials="" lastIdx="2" clrIdx="0"/>
  <p:cmAuthor id="282" name="未知用户70" initials="" lastIdx="1" clrIdx="1"/>
  <p:cmAuthor id="210492765" name="施普希（菜菜）" initials="施" lastIdx="0" clrIdx="0"/>
  <p:cmAuthor id="283" name="未知用户71" initials="" lastIdx="1" clrIdx="0"/>
  <p:cmAuthor id="210492766" name="曹 朝辉" initials="曹" lastIdx="1" clrIdx="14"/>
  <p:cmAuthor id="284" name="未知用户72" initials="" lastIdx="1" clrIdx="0"/>
  <p:cmAuthor id="210492767" name="李 嘉" initials="李" lastIdx="1" clrIdx="26"/>
  <p:cmAuthor id="285" name="未知用户73" initials="" lastIdx="2" clrIdx="0"/>
  <p:cmAuthor id="210492768" name="gus9@chinaunicom.cn" initials="g" lastIdx="4" clrIdx="27"/>
  <p:cmAuthor id="286" name="未知用户49" initials="" lastIdx="1" clrIdx="0"/>
  <p:cmAuthor id="287" name="未知用户50" initials="" lastIdx="1" clrIdx="0"/>
  <p:cmAuthor id="288" name="未知用户52" initials="" lastIdx="1" clrIdx="0"/>
  <p:cmAuthor id="289" name="MA15" initials="" lastIdx="1" clrIdx="0"/>
  <p:cmAuthor id="290" name="未知用户53" initials="" lastIdx="10" clrIdx="0"/>
  <p:cmAuthor id="291" name="未知用户96" initials="" lastIdx="1" clrIdx="0"/>
  <p:cmAuthor id="292" name="未知用户48" initials="" lastIdx="1" clrIdx="0"/>
  <p:cmAuthor id="293" name="未知用户97" initials="" lastIdx="2" clrIdx="0"/>
  <p:cmAuthor id="294" name="未知用户40" initials="" lastIdx="5" clrIdx="1"/>
  <p:cmAuthor id="295" name="未知用户43" initials="" lastIdx="1" clrIdx="0"/>
  <p:cmAuthor id="296" name="未知用户100" initials="" lastIdx="1" clrIdx="0"/>
  <p:cmAuthor id="297" name="未知用户101" initials="" lastIdx="1" clrIdx="0"/>
  <p:cmAuthor id="298" name="未知用户26" initials="" lastIdx="1" clrIdx="0"/>
  <p:cmAuthor id="299" name="未知用户29" initials="" lastIdx="1" clrIdx="0"/>
  <p:cmAuthor id="300" name="未知用户32" initials="" lastIdx="1" clrIdx="0"/>
  <p:cmAuthor id="301" name="未知用户33" initials="" lastIdx="1" clrIdx="0"/>
  <p:cmAuthor id="302" name="未知用户34" initials="" lastIdx="2" clrIdx="0"/>
  <p:cmAuthor id="303" name="未知用户42" initials="" lastIdx="1" clrIdx="0"/>
  <p:cmAuthor id="304" name="未知的使用者109" initials="" lastIdx="5" clrIdx="1"/>
  <p:cmAuthor id="305" name="未知的使用者122" initials="" lastIdx="1" clrIdx="0"/>
  <p:cmAuthor id="306" name="未知的使用者123" initials="" lastIdx="8" clrIdx="0"/>
  <p:cmAuthor id="307" name="未知用户93" initials="" lastIdx="1" clrIdx="0"/>
  <p:cmAuthor id="308" name="未知用户90" initials="" lastIdx="5" clrIdx="1"/>
  <p:cmAuthor id="309" name="未知用户91" initials="" lastIdx="0" clrIdx="1"/>
  <p:cmAuthor id="310" name="未知用户92" initials="" lastIdx="1" clrIdx="0"/>
  <p:cmAuthor id="311" name="未知用户74" initials="" lastIdx="5" clrIdx="1"/>
  <p:cmAuthor id="312" name="未知用户75" initials="" lastIdx="8" clrIdx="0"/>
  <p:cmAuthor id="313" name="未知用户76" initials="" lastIdx="1" clrIdx="0"/>
  <p:cmAuthor id="314" name="未知用户77" initials="" lastIdx="8" clrIdx="0"/>
  <p:cmAuthor id="315" name="未知用户78" initials="" lastIdx="8" clrIdx="0"/>
  <p:cmAuthor id="316" name="未知用户79" initials="" lastIdx="1" clrIdx="0"/>
  <p:cmAuthor id="317" name="未知用户80" initials="" lastIdx="1" clrIdx="0"/>
  <p:cmAuthor id="318" name="Harry xu" initials="" lastIdx="1" clrIdx="0"/>
  <p:cmAuthor id="319" name="未知用户27" initials="未" lastIdx="1" clrIdx="0"/>
  <p:cmAuthor id="320" name="刘晓杨" initials="刘" lastIdx="2" clrIdx="319"/>
  <p:cmAuthor id="321" name="未知用户111" initials="未" lastIdx="1" clrIdx="1"/>
  <p:cmAuthor id="322" name="le" initials="l" lastIdx="2" clrIdx="321"/>
  <p:cmAuthor id="323" name="10177653" initials="1" lastIdx="1" clrIdx="322"/>
  <p:cmAuthor id="324" name="一个不愿意透露姓名" initials="lasdf" lastIdx="8" clrIdx="323"/>
  <p:cmAuthor id="325" name="86188" initials="8" lastIdx="1" clrIdx="324"/>
  <p:cmAuthor id="326" name="朱雪萍" initials="朱" lastIdx="1" clrIdx="325"/>
  <p:cmAuthor id="327" name="10205805" initials="1" lastIdx="1" clrIdx="326"/>
  <p:cmAuthor id="328" name="xueyan" initials="x" lastIdx="1" clrIdx="327"/>
  <p:cmAuthor id="329" name="ZF" initials="ZF" lastIdx="1" clrIdx="328"/>
  <p:cmAuthor id="330" name="KZY" initials="K" lastIdx="1" clrIdx="329"/>
  <p:cmAuthor id="331" name="WHF" initials="W" lastIdx="0" clrIdx="50"/>
  <p:cmAuthor id="332" name="wangxinran" initials="w" lastIdx="1" clrIdx="331"/>
  <p:cmAuthor id="333" name="huxiaolu" initials="h" lastIdx="1" clrIdx="332"/>
  <p:cmAuthor id="334" name="zhoux" initials="z" lastIdx="1" clrIdx="333"/>
  <p:cmAuthor id="335" name="flower" initials="f" lastIdx="1" clrIdx="334"/>
  <p:cmAuthor id="336" name="mzj" initials="m" lastIdx="1" clrIdx="335"/>
  <p:cmAuthor id="337" name="hwjjjjjjjj" initials="h" lastIdx="2" clrIdx="336"/>
  <p:cmAuthor id="338" name="thinkin" initials="t" lastIdx="2" clrIdx="337"/>
  <p:cmAuthor id="339" name="黄薇（IT）" initials="l" lastIdx="1" clrIdx="338"/>
  <p:cmAuthor id="1167942470" name="咘嘚咘嘚" initials="咘" lastIdx="1" clrIdx="376"/>
  <p:cmAuthor id="340" name="zhoupeng" initials="z" lastIdx="5" clrIdx="339"/>
  <p:cmAuthor id="1411827" name="黄晓平" initials="黄" lastIdx="0" clrIdx="0"/>
  <p:cmAuthor id="341" name="Randolph" initials="R" lastIdx="1" clrIdx="340"/>
  <p:cmAuthor id="1411828" name="王 刚" initials="王" lastIdx="1" clrIdx="38"/>
  <p:cmAuthor id="342" name="yangjianhe1" initials="y" lastIdx="1" clrIdx="341"/>
  <p:cmAuthor id="1411829" name="张静_Anua7Nne" initials="authorId_935319063" lastIdx="0" clrIdx="0"/>
  <p:cmAuthor id="343" name="wangchangkun@cmhi.cmcc" initials="wangchangkun@cmhi.cmcc" lastIdx="1" clrIdx="342"/>
  <p:cmAuthor id="1411830" name="唐 赛" initials="唐" lastIdx="1" clrIdx="45"/>
  <p:cmAuthor id="344" name="tong" initials="t" lastIdx="2" clrIdx="0"/>
  <p:cmAuthor id="345" name="cpic" initials="c" lastIdx="0" clrIdx="0"/>
  <p:cmAuthor id="346" name="PC" initials="P" lastIdx="4" clrIdx="0"/>
  <p:cmAuthor id="347" name="zhangxinyao" initials="z" lastIdx="1" clrIdx="346"/>
  <p:cmAuthor id="348" name="未知的使用者169" initials="未" lastIdx="1" clrIdx="0"/>
  <p:cmAuthor id="349" name="Dizzy" initials="D" lastIdx="3" clrIdx="0"/>
  <p:cmAuthor id="350" name="huawei" initials="h" lastIdx="1" clrIdx="349"/>
  <p:cmAuthor id="351" name="yezengwei" initials="y" lastIdx="2" clrIdx="350"/>
  <p:cmAuthor id="352" name="孙璐璐" initials="孙" lastIdx="1" clrIdx="0"/>
  <p:cmAuthor id="353" name="1003776019@qq.com" initials="1" lastIdx="1" clrIdx="33"/>
  <p:cmAuthor id="354" name="cici" initials="c" lastIdx="1" clrIdx="353"/>
  <p:cmAuthor id="355" name="未知的使用者152" initials="未" lastIdx="1" clrIdx="0"/>
  <p:cmAuthor id="356" name="86134" initials="8" lastIdx="1" clrIdx="355"/>
  <p:cmAuthor id="357" name="方绍波|fangshaobo" initials="方" lastIdx="1" clrIdx="37"/>
  <p:cmAuthor id="359" name="王 金谦" initials="王" lastIdx="2" clrIdx="21"/>
  <p:cmAuthor id="360" name="Mary Beattie" initials="M" lastIdx="11" clrIdx="11"/>
  <p:cmAuthor id="361" name="15090" initials="1" lastIdx="5" clrIdx="360"/>
  <p:cmAuthor id="362" name="Andrea Michels" initials="A" lastIdx="13" clrIdx="13"/>
  <p:cmAuthor id="363" name="admin" initials="a" lastIdx="1" clrIdx="362"/>
  <p:cmAuthor id="364" name="anni" initials="a" lastIdx="1" clrIdx="0"/>
  <p:cmAuthor id="365" name="liuyanxue" initials="l" lastIdx="1" clrIdx="364"/>
  <p:cmAuthor id="366" name="Mark McGregor (HI)" initials="M" lastIdx="33" clrIdx="3"/>
  <p:cmAuthor id="367" name="59314" initials="5" lastIdx="1" clrIdx="366"/>
  <p:cmAuthor id="368" name="zhouyangcheng" initials="z" lastIdx="1" clrIdx="367"/>
  <p:cmAuthor id="369" name="wangdaiyuan" initials="w" lastIdx="1" clrIdx="368"/>
  <p:cmAuthor id="370" name="YUN Jiayue" initials="Y" lastIdx="9" clrIdx="0"/>
  <p:cmAuthor id="371" name="Louise Adamson (HI)" initials="L" lastIdx="173" clrIdx="9"/>
  <p:cmAuthor id="373" name="Yoda KK" initials="Y" lastIdx="1" clrIdx="10"/>
  <p:cmAuthor id="374" name="ZYM" initials="Z" lastIdx="0" clrIdx="18"/>
  <p:cmAuthor id="376" name="zhouyangfan" initials="z" lastIdx="0" clrIdx="0"/>
  <p:cmAuthor id="378" name="fengyuan03" initials="f" lastIdx="11" clrIdx="1"/>
  <p:cmAuthor id="379" name="刘国强" initials="刘" lastIdx="1" clrIdx="0"/>
  <p:cmAuthor id="380" name="Melanie Smitt" initials="M" lastIdx="33" clrIdx="12"/>
  <p:cmAuthor id="381" name="miaott" initials="m" lastIdx="0" clrIdx="195"/>
  <p:cmAuthor id="382" name="未知用户132" initials="未" lastIdx="1" clrIdx="0"/>
  <p:cmAuthor id="383" name="未知的使用者194" initials="未" lastIdx="1" clrIdx="0"/>
  <p:cmAuthor id="384" name="xusha" initials="x" lastIdx="1" clrIdx="2"/>
  <p:cmAuthor id="386" name="未知用户137" initials="未" lastIdx="10" clrIdx="0"/>
  <p:cmAuthor id="387" name="王源" initials="王" lastIdx="2" clrIdx="1"/>
  <p:cmAuthor id="388" name="未知用户220" initials="未" lastIdx="1" clrIdx="0"/>
  <p:cmAuthor id="389" name="李 东科" initials="李" lastIdx="1" clrIdx="35"/>
  <p:cmAuthor id="390" name="未知用户199" initials="未" lastIdx="0" clrIdx="1"/>
  <p:cmAuthor id="391" name="未知用户200" initials="未" lastIdx="2" clrIdx="0"/>
  <p:cmAuthor id="392" name="未知用户201" initials="未" lastIdx="11" clrIdx="1"/>
  <p:cmAuthor id="393" name="未知用户214" initials="未" lastIdx="1" clrIdx="0"/>
  <p:cmAuthor id="395" name="未知的使用者196" initials="未" lastIdx="1" clrIdx="0"/>
  <p:cmAuthor id="396" name="未知的使用者222" initials="" lastIdx="5" clrIdx="1"/>
  <p:cmAuthor id="397" name="未知用户204" initials="未" lastIdx="1" clrIdx="0"/>
  <p:cmAuthor id="399" name="未知用户206" initials="未" lastIdx="1" clrIdx="0"/>
  <p:cmAuthor id="400" name="未知用户207" initials="未" lastIdx="1" clrIdx="0"/>
  <p:cmAuthor id="401" name="未知用户84" initials="未" lastIdx="1" clrIdx="0"/>
  <p:cmAuthor id="402" name="未知的使用者217" initials="" lastIdx="1" clrIdx="1"/>
  <p:cmAuthor id="403" name="未知用户210" initials="未" lastIdx="0" clrIdx="0"/>
  <p:cmAuthor id="404" name="未知的使用者219" initials="" lastIdx="8" clrIdx="0"/>
  <p:cmAuthor id="2000" name="shye_EbMrZnMJ" initials="authorId_858303361" lastIdx="0" clrIdx="0"/>
  <p:cmAuthor id="406" name="?定义" initials="?" lastIdx="2" clrIdx="0"/>
  <p:cmAuthor id="2001" name="王伟栋_ymIjy2uI" initials="authorId_1008746-10055544" lastIdx="0" clrIdx="0"/>
  <p:cmAuthor id="407" name="sxp" initials="s" lastIdx="1" clrIdx="2"/>
  <p:cmAuthor id="2002" name="金宇峰_BfyebuM3" initials="authorId_1008746-10054633" lastIdx="0" clrIdx="0"/>
  <p:cmAuthor id="408" name="allan" initials="a" lastIdx="1" clrIdx="0"/>
  <p:cmAuthor id="2003" name="xuting@sn.cmcc" initials="A" lastIdx="1" clrIdx="40"/>
  <p:cmAuthor id="409" name="未知的使用者231" initials="" lastIdx="1" clrIdx="0"/>
  <p:cmAuthor id="2004" name="范 斌" initials="范" lastIdx="1" clrIdx="36"/>
  <p:cmAuthor id="410" name="未知的使用者232" initials="" lastIdx="8" clrIdx="0"/>
  <p:cmAuthor id="2005" name="毕邺" initials="党委办公室" lastIdx="2" clrIdx="37"/>
  <p:cmAuthor id="411" name="alpha" initials="a" lastIdx="1" clrIdx="0"/>
  <p:cmAuthor id="2006" name="jiaru tiger" initials="jt" lastIdx="2" clrIdx="38"/>
  <p:cmAuthor id="412" name="未知的使用者161" initials="未" lastIdx="1" clrIdx="0"/>
  <p:cmAuthor id="413" name="未知的使用者130" initials="" lastIdx="3" clrIdx="0"/>
  <p:cmAuthor id="414" name="Unknown User22" initials="U" lastIdx="1" clrIdx="0"/>
  <p:cmAuthor id="415" name="未知的使用者132" initials="" lastIdx="1" clrIdx="0"/>
  <p:cmAuthor id="417" name="Unknown User23" initials="U" lastIdx="1" clrIdx="0"/>
  <p:cmAuthor id="418" name="未知的使用者75" initials="未" lastIdx="1" clrIdx="0"/>
  <p:cmAuthor id="419" name="未知的使用者77" initials="未" lastIdx="1" clrIdx="0"/>
  <p:cmAuthor id="420" name="未知的使用者78" initials="未" lastIdx="5" clrIdx="1"/>
  <p:cmAuthor id="421" name="未知的使用者239" initials="" lastIdx="43" clrIdx="1"/>
  <p:cmAuthor id="708433798" name="jialuo" initials="j" lastIdx="0" clrIdx="0"/>
  <p:cmAuthor id="424" name="未知的使用者206" initials="" lastIdx="1" clrIdx="0"/>
  <p:cmAuthor id="708433799" name="盖珂" initials="GK" lastIdx="1" clrIdx="708433798"/>
  <p:cmAuthor id="425" name="未知用户63" initials="未" lastIdx="1" clrIdx="0"/>
  <p:cmAuthor id="708433800" name="曼 王" initials="曼王" lastIdx="1" clrIdx="191251538"/>
  <p:cmAuthor id="426" name="未知的使用者102" initials="未" lastIdx="5" clrIdx="1"/>
  <p:cmAuthor id="427" name="未知的使用者61" initials="未" lastIdx="1" clrIdx="0"/>
  <p:cmAuthor id="428" name="仝德志" initials="仝" lastIdx="1" clrIdx="0"/>
  <p:cmAuthor id="429" name="未知用户112" initials="未" lastIdx="4" clrIdx="0"/>
  <p:cmAuthor id="430" name="未知的使用者183" initials="未" lastIdx="5" clrIdx="1"/>
  <p:cmAuthor id="431" name="未知用户162" initials="未" lastIdx="1" clrIdx="1"/>
  <p:cmAuthor id="432" name="未知用户163" initials="未" lastIdx="1" clrIdx="0"/>
  <p:cmAuthor id="433" name="針對所選的門市進行小範圍實驗，捕捉驅動績效的關鍵影響因子" initials="針" lastIdx="1" clrIdx="0"/>
  <p:cmAuthor id="434" name="James" initials="J" lastIdx="1" clrIdx="0"/>
  <p:cmAuthor id="435" name="未知的使用者114" initials="未" lastIdx="1" clrIdx="0"/>
  <p:cmAuthor id="436" name="未知用户164" initials="未" lastIdx="1" clrIdx="0"/>
  <p:cmAuthor id="437" name="未知的使用者184" initials="未" lastIdx="8" clrIdx="0"/>
  <p:cmAuthor id="438" name="未知的使用者185" initials="未" lastIdx="10" clrIdx="0"/>
  <p:cmAuthor id="439" name="未知的使用者186" initials="未" lastIdx="1" clrIdx="0"/>
  <p:cmAuthor id="440" name="未知的使用者175" initials="未" lastIdx="8" clrIdx="0"/>
  <p:cmAuthor id="441" name="未知的使用者176" initials="未" lastIdx="1" clrIdx="0"/>
  <p:cmAuthor id="442" name="未知的使用者187" initials="未" lastIdx="1" clrIdx="0"/>
  <p:cmAuthor id="443" name="未知的使用者178" initials="未" lastIdx="1" clrIdx="0"/>
  <p:cmAuthor id="444" name="未知的使用者179" initials="未" lastIdx="1" clrIdx="0"/>
  <p:cmAuthor id="445" name="未知的使用者180" initials="未" lastIdx="2" clrIdx="0"/>
  <p:cmAuthor id="446" name="未知的使用者181" initials="未" lastIdx="7" clrIdx="1"/>
  <p:cmAuthor id="447" name="未知的使用者170" initials="未" lastIdx="43" clrIdx="1"/>
  <p:cmAuthor id="448" name="未知的使用者190" initials="未" lastIdx="1" clrIdx="1"/>
  <p:cmAuthor id="449" name="未知的使用者191" initials="未" lastIdx="1" clrIdx="0"/>
  <p:cmAuthor id="450" name="未知的使用者141" initials="未" lastIdx="8" clrIdx="0"/>
  <p:cmAuthor id="451" name="未知的使用者142" initials="未" lastIdx="1" clrIdx="0"/>
  <p:cmAuthor id="452" name="不明使用者6" initials="不" lastIdx="1" clrIdx="0"/>
  <p:cmAuthor id="453" name="未知的使用者143" initials="未" lastIdx="1" clrIdx="0"/>
  <p:cmAuthor id="454" name="王薇（政企）" initials="王" lastIdx="1" clrIdx="57"/>
  <p:cmAuthor id="455" name="未知的使用者144" initials="未" lastIdx="1" clrIdx="0"/>
  <p:cmAuthor id="456" name="未知的使用者145" initials="未" lastIdx="1" clrIdx="0"/>
  <p:cmAuthor id="47245819" name="群智集" initials="群" lastIdx="0" clrIdx="0"/>
  <p:cmAuthor id="457" name="未知用户165" initials="未" lastIdx="1" clrIdx="0"/>
  <p:cmAuthor id="47245820" name="郏 鹏" initials="郏" lastIdx="1" clrIdx="16"/>
  <p:cmAuthor id="458" name="未知的使用者147" initials="未" lastIdx="1" clrIdx="0"/>
  <p:cmAuthor id="47245821" name="郏鹏" initials="M" lastIdx="1" clrIdx="17"/>
  <p:cmAuthor id="459" name="未知用户166" initials="未" lastIdx="8" clrIdx="0"/>
  <p:cmAuthor id="47245822" name="晓琳 李" initials="晓琳" lastIdx="1" clrIdx="40"/>
  <p:cmAuthor id="460" name="未知的使用者149" initials="未" lastIdx="8" clrIdx="0"/>
  <p:cmAuthor id="47245823" name="刘海娜|liuhaina" initials="W用" lastIdx="1" clrIdx="36"/>
  <p:cmAuthor id="461" name="未知用户167" initials="未" lastIdx="1" clrIdx="0"/>
  <p:cmAuthor id="47245824" name="goforever814" initials="g" lastIdx="1" clrIdx="34"/>
  <p:cmAuthor id="462" name="未知用户168" initials="未" lastIdx="1" clrIdx="0"/>
  <p:cmAuthor id="463" name="未知用户169" initials="未" lastIdx="1" clrIdx="1"/>
  <p:cmAuthor id="464" name="未知用户202" initials="未" lastIdx="8" clrIdx="0"/>
  <p:cmAuthor id="465" name="未知的使用者220" initials="未" lastIdx="7" clrIdx="1"/>
  <p:cmAuthor id="466" name="未知用户134" initials="未" lastIdx="10" clrIdx="0"/>
  <p:cmAuthor id="467" name="未知用户135" initials="未" lastIdx="1" clrIdx="0"/>
  <p:cmAuthor id="468" name="未知用户205" initials="未" lastIdx="1" clrIdx="0"/>
  <p:cmAuthor id="469" name="未知的使用者157" initials="未" lastIdx="1" clrIdx="0"/>
  <p:cmAuthor id="470" name="未知的使用者204" initials="未" lastIdx="1" clrIdx="0"/>
  <p:cmAuthor id="471" name="Yoyo Wu" initials="Y" lastIdx="2" clrIdx="0"/>
  <p:cmAuthor id="472" name="zhangbin" initials="z" lastIdx="6" clrIdx="0"/>
  <p:cmAuthor id="473" name="Arno.Du(杜明星)" initials="A" lastIdx="0" clrIdx="0"/>
  <p:cmAuthor id="474" name="未知用户174" initials="未" lastIdx="1" clrIdx="0"/>
  <p:cmAuthor id="475" name="未知用户175" initials="未" lastIdx="1" clrIdx="1"/>
  <p:cmAuthor id="476" name="Unknown User27" initials="U" lastIdx="1" clrIdx="0"/>
  <p:cmAuthor id="477" name="Unknown User11" initials="U" lastIdx="0" clrIdx="1"/>
  <p:cmAuthor id="478" name="Unknown User112" initials="U" lastIdx="1" clrIdx="0"/>
  <p:cmAuthor id="479" name="Unknown User59" initials="U" lastIdx="1" clrIdx="0"/>
  <p:cmAuthor id="480" name="未知用户176" initials="未" lastIdx="1" clrIdx="0"/>
  <p:cmAuthor id="481" name="未知的使用者249" initials="未" lastIdx="43" clrIdx="1"/>
  <p:cmAuthor id="482" name="未知的使用者250" initials="未" lastIdx="1" clrIdx="0"/>
  <p:cmAuthor id="483" name="未知的使用者251" initials="未" lastIdx="1" clrIdx="0"/>
  <p:cmAuthor id="484" name="未知的使用者246" initials="未" lastIdx="1" clrIdx="1"/>
  <p:cmAuthor id="485" name="未知的使用者224" initials="未" lastIdx="1" clrIdx="0"/>
  <p:cmAuthor id="486" name="未知的使用者252" initials="未" lastIdx="1" clrIdx="0"/>
  <p:cmAuthor id="487" name="未知的使用者253" initials="未" lastIdx="1" clrIdx="0"/>
  <p:cmAuthor id="488" name="曾蓓/贝贝" initials="曾" lastIdx="0" clrIdx="0"/>
  <p:cmAuthor id="489" name="未知的使用者254" initials="未" lastIdx="1" clrIdx="0"/>
  <p:cmAuthor id="490" name="未知的使用者255" initials="未" lastIdx="1" clrIdx="0"/>
  <p:cmAuthor id="491" name="未知的使用者226" initials="未" lastIdx="8" clrIdx="0"/>
  <p:cmAuthor id="492" name="未知用户195" initials="未" lastIdx="1" clrIdx="0"/>
  <p:cmAuthor id="493" name="raymond luan" initials="r" lastIdx="0" clrIdx="0"/>
  <p:cmAuthor id="494" name="未知用户208" initials="未" lastIdx="1" clrIdx="0"/>
  <p:cmAuthor id="495" name="未知用户198" initials="未" lastIdx="1" clrIdx="0"/>
  <p:cmAuthor id="496" name="未知用户209" initials="未" lastIdx="1" clrIdx="0"/>
  <p:cmAuthor id="497" name="未知用户36" initials="未" lastIdx="1" clrIdx="0"/>
  <p:cmAuthor id="498" name="Evonlin" initials="E" lastIdx="2" clrIdx="2"/>
  <p:cmAuthor id="499" name="WANGZF" initials="W" lastIdx="4" clrIdx="2"/>
  <p:cmAuthor id="500" name="未知用户94" initials="未" lastIdx="0" clrIdx="1"/>
  <p:cmAuthor id="501" name="未知的使用者188" initials="未" lastIdx="1" clrIdx="0"/>
  <p:cmAuthor id="502" name="未知用户118" initials="未" lastIdx="1" clrIdx="0"/>
  <p:cmAuthor id="503" name="未知用户119" initials="未" lastIdx="5" clrIdx="1"/>
  <p:cmAuthor id="504" name="未知用户120" initials="未" lastIdx="8" clrIdx="0"/>
  <p:cmAuthor id="505" name="未知用户121" initials="未" lastIdx="1" clrIdx="0"/>
  <p:cmAuthor id="506" name="未知用户122" initials="未" lastIdx="1" clrIdx="0"/>
  <p:cmAuthor id="507" name="梅芬 吳" initials="梅" lastIdx="1" clrIdx="85"/>
  <p:cmAuthor id="508" name="未知的使用者134" initials="未" lastIdx="1" clrIdx="0"/>
  <p:cmAuthor id="509" name="未知的使用者136" initials="未" lastIdx="1" clrIdx="0"/>
  <p:cmAuthor id="510" name="未知的使用者139" initials="未" lastIdx="1" clrIdx="0"/>
  <p:cmAuthor id="511" name="未知的使用者247" initials="未" lastIdx="6" clrIdx="0"/>
  <p:cmAuthor id="512" name="Ohayolanda" initials="O" lastIdx="9" clrIdx="511"/>
  <p:cmAuthor id="513" name="未知用户191" initials="未" lastIdx="1" clrIdx="0"/>
  <p:cmAuthor id="514" name="41586" initials="4" lastIdx="1" clrIdx="513"/>
  <p:cmAuthor id="515" name="未知的使用者163" initials="未" lastIdx="1" clrIdx="0"/>
  <p:cmAuthor id="516" name="未知用户197" initials="未" lastIdx="0" clrIdx="1"/>
  <p:cmAuthor id="517" name="alexw" initials="a" lastIdx="1" clrIdx="516"/>
  <p:cmAuthor id="518" name="未知的使用者158" initials="未" lastIdx="1" clrIdx="0"/>
  <p:cmAuthor id="519" name="未知的使用者148" initials="" lastIdx="8" clrIdx="0"/>
  <p:cmAuthor id="520" name="Well Li" initials="W" lastIdx="1" clrIdx="0"/>
  <p:cmAuthor id="521" name="任俊宣" initials="任" lastIdx="1" clrIdx="6"/>
  <p:cmAuthor id="522" name="未知用户269" initials="未" lastIdx="2" clrIdx="0"/>
  <p:cmAuthor id="523" name="未知用户189" initials="未" lastIdx="1" clrIdx="0"/>
  <p:cmAuthor id="524" name="未知用户250" initials="未" lastIdx="0" clrIdx="0"/>
  <p:cmAuthor id="525" name="未知用户272" initials="未" lastIdx="10" clrIdx="0"/>
  <p:cmAuthor id="526" name="张婷婷" initials="c" lastIdx="1" clrIdx="525"/>
  <p:cmAuthor id="528" name="cs" initials="x" lastIdx="3" clrIdx="527"/>
  <p:cmAuthor id="529" name="孟令坤" initials="MLK" lastIdx="9" clrIdx="528"/>
  <p:cmAuthor id="530" name="未知用户139" initials="未" lastIdx="2" clrIdx="0"/>
  <p:cmAuthor id="532" name="未知的使用者200" initials="未" lastIdx="1" clrIdx="0"/>
  <p:cmAuthor id="533" name="未知的使用者257" initials="未" lastIdx="1" clrIdx="0"/>
  <p:cmAuthor id="534" name="未知的使用者171" initials="未" lastIdx="3" clrIdx="1"/>
  <p:cmAuthor id="536" name="未知用户140" initials="未" lastIdx="0" clrIdx="1"/>
  <p:cmAuthor id="537" name="未知的使用者240" initials="未" lastIdx="1" clrIdx="0"/>
  <p:cmAuthor id="538" name="未知的使用者241" initials="未" lastIdx="1" clrIdx="0"/>
  <p:cmAuthor id="539" name="未知的使用者242" initials="未" lastIdx="2" clrIdx="0"/>
  <p:cmAuthor id="540" name="未知的使用者243" initials="未" lastIdx="1" clrIdx="0"/>
  <p:cmAuthor id="541" name="未知的使用者258" initials="未" lastIdx="8" clrIdx="0"/>
  <p:cmAuthor id="542" name="未知的使用者259" initials="未" lastIdx="1" clrIdx="0"/>
  <p:cmAuthor id="543" name="未知的使用者260" initials="未" lastIdx="1" clrIdx="0"/>
  <p:cmAuthor id="544" name="未知的使用者261" initials="未" lastIdx="11" clrIdx="0"/>
  <p:cmAuthor id="545" name="未知的使用者262" initials="未" lastIdx="7" clrIdx="1"/>
  <p:cmAuthor id="546" name="未知的使用者263" initials="未" lastIdx="1" clrIdx="2"/>
  <p:cmAuthor id="547" name="未知的使用者264" initials="未" lastIdx="1" clrIdx="0"/>
  <p:cmAuthor id="1138208202" name="黄常宇" initials="黄" lastIdx="1" clrIdx="791"/>
  <p:cmAuthor id="548" name="未知的使用者265" initials="未" lastIdx="1" clrIdx="0"/>
  <p:cmAuthor id="549" name="未知的使用者266" initials="未" lastIdx="1" clrIdx="1"/>
  <p:cmAuthor id="550" name="未知的使用者267" initials="未" lastIdx="1" clrIdx="0"/>
  <p:cmAuthor id="551" name="未知的使用者268" initials="未" lastIdx="2" clrIdx="0"/>
  <p:cmAuthor id="552" name="未知的使用者269" initials="未" lastIdx="7" clrIdx="1"/>
  <p:cmAuthor id="553" name="刘晖" initials="刘" lastIdx="1" clrIdx="0"/>
  <p:cmAuthor id="554" name="piccotina" initials="p" lastIdx="1" clrIdx="553"/>
  <p:cmAuthor id="555" name="lillian" initials="l" lastIdx="1" clrIdx="0"/>
  <p:cmAuthor id="556" name="未知用户146" initials="未" lastIdx="5" clrIdx="1"/>
  <p:cmAuthor id="557" name="未知用户157" initials="未" lastIdx="8" clrIdx="0"/>
  <p:cmAuthor id="558" name="未知用户158" initials="未" lastIdx="2" clrIdx="0"/>
  <p:cmAuthor id="559" name="未知用户159" initials="未" lastIdx="1" clrIdx="0"/>
  <p:cmAuthor id="560" name="未知用户160" initials="未" lastIdx="2" clrIdx="0"/>
  <p:cmAuthor id="561" name="未知的使用者211" initials="未" lastIdx="1" clrIdx="0"/>
  <p:cmAuthor id="562" name="順天" initials="順" lastIdx="1" clrIdx="0"/>
  <p:cmAuthor id="563" name=" " initials="" lastIdx="6" clrIdx="85"/>
  <p:cmAuthor id="564" name="未知用户319" initials="未" lastIdx="1" clrIdx="0"/>
  <p:cmAuthor id="565" name="未知用户222" initials="未" lastIdx="1" clrIdx="0"/>
  <p:cmAuthor id="566" name="未知用户87" initials="未" lastIdx="1" clrIdx="0"/>
  <p:cmAuthor id="567" name="未知用户88" initials="未" lastIdx="1" clrIdx="0"/>
  <p:cmAuthor id="568" name="未知用户325" initials="未" lastIdx="2" clrIdx="0"/>
  <p:cmAuthor id="569" name="未知用户211" initials="未" lastIdx="8" clrIdx="0"/>
  <p:cmAuthor id="570" name="未知用户110" initials="未" lastIdx="1" clrIdx="0"/>
  <p:cmAuthor id="571" name="未知用户293" initials="未" lastIdx="1" clrIdx="0"/>
  <p:cmAuthor id="572" name="未知用户234" initials="未" lastIdx="7" clrIdx="1"/>
  <p:cmAuthor id="573" name="未知用户294" initials="未" lastIdx="1" clrIdx="1"/>
  <p:cmAuthor id="574" name="未知用户278" initials="未" lastIdx="1" clrIdx="0"/>
  <p:cmAuthor id="575" name="未知用户279" initials="未" lastIdx="1" clrIdx="0"/>
  <p:cmAuthor id="576" name="未知用户280" initials="未" lastIdx="4" clrIdx="2"/>
  <p:cmAuthor id="577" name="未知用户281" initials="未" lastIdx="1" clrIdx="0"/>
  <p:cmAuthor id="578" name="未知用户282" initials="未" lastIdx="3" clrIdx="1"/>
  <p:cmAuthor id="579" name="未知用户283" initials="未" lastIdx="1" clrIdx="1"/>
  <p:cmAuthor id="580" name="未知用户284" initials="未" lastIdx="1" clrIdx="0"/>
  <p:cmAuthor id="581" name="未知用户302" initials="未" lastIdx="1" clrIdx="1"/>
  <p:cmAuthor id="582" name="未知用户303" initials="未" lastIdx="1" clrIdx="0"/>
  <p:cmAuthor id="583" name="78234500@qq.com" initials="7" lastIdx="1" clrIdx="0"/>
  <p:cmAuthor id="584" name="未知用户203" initials="未" lastIdx="1" clrIdx="1"/>
  <p:cmAuthor id="585" name="未知用户290" initials="未" lastIdx="2" clrIdx="0"/>
  <p:cmAuthor id="586" name="未知用户291" initials="未" lastIdx="8" clrIdx="0"/>
  <p:cmAuthor id="587" name="未知用户292" initials="未" lastIdx="1" clrIdx="0"/>
  <p:cmAuthor id="588" name="未知用户184" initials="未" lastIdx="1" clrIdx="1"/>
  <p:cmAuthor id="589" name="未知用户295" initials="未" lastIdx="1" clrIdx="0"/>
  <p:cmAuthor id="590" name="未知用户297" initials="未" lastIdx="1" clrIdx="0"/>
  <p:cmAuthor id="591" name="panjm" initials="p" lastIdx="1" clrIdx="0"/>
  <p:cmAuthor id="592" name="ye gusong" initials="y" lastIdx="1" clrIdx="0"/>
  <p:cmAuthor id="593" name="wei muzi" initials="w" lastIdx="1" clrIdx="4"/>
  <p:cmAuthor id="594" name="孙" initials="孙" lastIdx="1" clrIdx="50"/>
  <p:cmAuthor id="595" name="liuchunhua199110" initials="l" lastIdx="3" clrIdx="3"/>
  <p:cmAuthor id="596" name="Microsoft Office User" initials="M" lastIdx="2" clrIdx="86"/>
  <p:cmAuthor id="597" name="未知用户256" initials="未" lastIdx="1" clrIdx="0"/>
  <p:cmAuthor id="598" name="未知用户257" initials="未" lastIdx="1" clrIdx="0"/>
  <p:cmAuthor id="599" name="未知用户258" initials="未" lastIdx="8" clrIdx="0"/>
  <p:cmAuthor id="600" name="未知用户287" initials="未" lastIdx="0" clrIdx="1"/>
  <p:cmAuthor id="601" name="未知用户288" initials="未" lastIdx="1" clrIdx="0"/>
  <p:cmAuthor id="602" name="未知用户229" initials="未" lastIdx="0" clrIdx="0"/>
  <p:cmAuthor id="603" name="未知用户262" initials="未" lastIdx="1" clrIdx="0"/>
  <p:cmAuthor id="604" name="未知用户274" initials="未" lastIdx="1" clrIdx="0"/>
  <p:cmAuthor id="605" name="yudi lin" initials="y" lastIdx="0" clrIdx="0"/>
  <p:cmAuthor id="606" name="未知用户249" initials="未" lastIdx="1" clrIdx="0"/>
  <p:cmAuthor id="607" name="liuzga" initials="l" lastIdx="1" clrIdx="3"/>
  <p:cmAuthor id="608" name="49554261@qq.com" initials="4" lastIdx="2" clrIdx="2"/>
  <p:cmAuthor id="609" name="未知用户230" initials="未" lastIdx="1" clrIdx="0"/>
  <p:cmAuthor id="610" name="未知用户241" initials="未" lastIdx="1" clrIdx="0"/>
  <p:cmAuthor id="611" name="未知用户313" initials="未" lastIdx="2" clrIdx="0"/>
  <p:cmAuthor id="612" name="胡岱雯" initials="胡" lastIdx="1" clrIdx="0"/>
  <p:cmAuthor id="613" name="张 成亚" initials="张" lastIdx="1" clrIdx="52"/>
  <p:cmAuthor id="614" name="未知用户268" initials="未" lastIdx="1" clrIdx="0"/>
  <p:cmAuthor id="615" name="未知用户246" initials="未" lastIdx="1" clrIdx="1"/>
  <p:cmAuthor id="616" name="未知用户213" initials="未" lastIdx="1" clrIdx="0"/>
  <p:cmAuthor id="617" name="未知用户218" initials="未" lastIdx="1" clrIdx="0"/>
  <p:cmAuthor id="618" name="未知用户219" initials="未" lastIdx="10" clrIdx="0"/>
  <p:cmAuthor id="619" name="未知用户344" initials="未" lastIdx="1" clrIdx="0"/>
  <p:cmAuthor id="620" name="未知用户345" initials="未" lastIdx="1" clrIdx="0"/>
  <p:cmAuthor id="621" name="未知用户347" initials="未" lastIdx="6" clrIdx="0"/>
  <p:cmAuthor id="622" name="未知用户348" initials="未" lastIdx="10" clrIdx="0"/>
  <p:cmAuthor id="623" name="jian Ray" initials="j" lastIdx="1" clrIdx="50"/>
  <p:cmAuthor id="624" name="未知用户255" initials="未" lastIdx="1" clrIdx="0"/>
  <p:cmAuthor id="625" name="未知用户235" initials="未" lastIdx="1" clrIdx="2"/>
  <p:cmAuthor id="626" name="未知用户236" initials="未" lastIdx="1" clrIdx="0"/>
  <p:cmAuthor id="627" name="未知用户237" initials="未" lastIdx="1" clrIdx="0"/>
  <p:cmAuthor id="628" name="�Ÿ�" initials="�" lastIdx="1" clrIdx="0"/>
  <p:cmAuthor id="629" name="未知用户221" initials="未" lastIdx="43" clrIdx="1"/>
  <p:cmAuthor id="630" name="jesschin" initials="j" lastIdx="1" clrIdx="510"/>
  <p:cmAuthor id="631" name="未知用户276" initials="未" lastIdx="2" clrIdx="0"/>
  <p:cmAuthor id="632" name="未知用户263" initials="未" lastIdx="2" clrIdx="0"/>
  <p:cmAuthor id="633" name="Carol Kelly" initials="C" lastIdx="1" clrIdx="0"/>
  <p:cmAuthor id="634" name="未知的使用者155" initials="未" lastIdx="1" clrIdx="0"/>
  <p:cmAuthor id="635" name="未知用户266" initials="未" lastIdx="1" clrIdx="1"/>
  <p:cmAuthor id="636" name="Unknown User58" initials="U" lastIdx="1" clrIdx="0"/>
  <p:cmAuthor id="637" name="Unknown User55" initials="U" lastIdx="1" clrIdx="1"/>
  <p:cmAuthor id="638" name="未知用户343" initials="未" lastIdx="1" clrIdx="0"/>
  <p:cmAuthor id="639" name="Huipeng Cao" initials="H" lastIdx="1" clrIdx="0"/>
  <p:cmAuthor id="640" name="李 雷雨" initials="李" lastIdx="1" clrIdx="0"/>
  <p:cmAuthor id="641" name="91257" initials="9" lastIdx="0" clrIdx="1"/>
  <p:cmAuthor id="642" name="vicky" initials="v" lastIdx="2" clrIdx="1"/>
  <p:cmAuthor id="643" name="未知用户358" initials="未" lastIdx="1" clrIdx="0"/>
  <p:cmAuthor id="644" name="未知用户359" initials="未" lastIdx="1" clrIdx="0"/>
  <p:cmAuthor id="645" name="未知用户360" initials="未" lastIdx="10" clrIdx="0"/>
  <p:cmAuthor id="646" name="未知用户361" initials="未" lastIdx="1" clrIdx="0"/>
  <p:cmAuthor id="647" name="未知用户364" initials="未" lastIdx="2" clrIdx="0"/>
  <p:cmAuthor id="648" name="Heyhx" initials="H" lastIdx="1" clrIdx="647"/>
  <p:cmAuthor id="649" name="不明使用者4" initials="不" lastIdx="1" clrIdx="0"/>
  <p:cmAuthor id="650" name="未知用户298" initials="未" lastIdx="1" clrIdx="1"/>
  <p:cmAuthor id="651" name="未知用户307" initials="未" lastIdx="7" clrIdx="0"/>
  <p:cmAuthor id="652" name="未知用户296" initials="未" lastIdx="1" clrIdx="0"/>
  <p:cmAuthor id="653" name="未知用户315" initials="未" lastIdx="1" clrIdx="0"/>
  <p:cmAuthor id="654" name="未知用户317" initials="未" lastIdx="0" clrIdx="0"/>
  <p:cmAuthor id="655" name="未知用户329" initials="未" lastIdx="9" clrIdx="0"/>
  <p:cmAuthor id="656" name="未知用户333" initials="未" lastIdx="1" clrIdx="0"/>
  <p:cmAuthor id="657" name="Carol Wu" initials="C" lastIdx="1" clrIdx="0"/>
  <p:cmAuthor id="49837067" name="刘浩" initials="刘" lastIdx="180431" clrIdx="0"/>
  <p:cmAuthor id="658" name="Think" initials="T" lastIdx="6" clrIdx="3"/>
  <p:cmAuthor id="49837068" name="Vivian Liu" initials="VL" lastIdx="1" clrIdx="1"/>
  <p:cmAuthor id="659" name="未知用户341" initials="未" lastIdx="1" clrIdx="0"/>
  <p:cmAuthor id="49837069" name="李 富岩" initials="李" lastIdx="3" clrIdx="10"/>
  <p:cmAuthor id="660" name="未知用户304" initials="未" lastIdx="1" clrIdx="0"/>
  <p:cmAuthor id="49837070" name="伟哥" initials="伟哥" lastIdx="1" clrIdx="138"/>
  <p:cmAuthor id="381437688" name="谢学斌" initials="谢" lastIdx="0" clrIdx="0"/>
  <p:cmAuthor id="49837071" name="YY" initials="Y" lastIdx="1" clrIdx="176"/>
  <p:cmAuthor id="661" name="未知用户305" initials="未" lastIdx="1" clrIdx="0"/>
  <p:cmAuthor id="662" name="敢 王" initials="敢" lastIdx="1" clrIdx="0"/>
  <p:cmAuthor id="49837072" name="朗 月" initials="朗" lastIdx="3" clrIdx="208"/>
  <p:cmAuthor id="659281454" name="西赆南琛" initials="西" lastIdx="1" clrIdx="520"/>
  <p:cmAuthor id="663" name="邓 勇" initials="邓" lastIdx="1" clrIdx="0"/>
  <p:cmAuthor id="664" name="陈城" initials="陈" lastIdx="0" clrIdx="2"/>
  <p:cmAuthor id="665" name="未知用户309" initials="未" lastIdx="8" clrIdx="0"/>
  <p:cmAuthor id="666" name="yangxy" initials="y" lastIdx="1" clrIdx="88"/>
  <p:cmAuthor id="667" name="未知用户311" initials="未" lastIdx="2" clrIdx="0"/>
  <p:cmAuthor id="668" name="未知用户312" initials="未" lastIdx="1" clrIdx="0"/>
  <p:cmAuthor id="669" name="未知用户402" initials="未" lastIdx="1" clrIdx="0"/>
  <p:cmAuthor id="670" name="未知用户314" initials="未" lastIdx="1" clrIdx="1"/>
  <p:cmAuthor id="671" name="晓  曲" initials="晓" lastIdx="1" clrIdx="0"/>
  <p:cmAuthor id="672" name="未知用户405" initials="未" lastIdx="2" clrIdx="0"/>
  <p:cmAuthor id="673" name="未知用户216" initials="未" lastIdx="1" clrIdx="0"/>
  <p:cmAuthor id="674" name="孟连磊" initials="孟" lastIdx="1" clrIdx="0"/>
  <p:cmAuthor id="675" name="未知用户384" initials="未" lastIdx="1" clrIdx="1"/>
  <p:cmAuthor id="676" name="未知的使用者177" initials="未" lastIdx="8" clrIdx="0"/>
  <p:cmAuthor id="677" name="未知用户386" initials="未" lastIdx="3" clrIdx="0"/>
  <p:cmAuthor id="678" name="未知用户387" initials="未" lastIdx="1" clrIdx="0"/>
  <p:cmAuthor id="679" name="未知用户388" initials="未" lastIdx="0" clrIdx="0"/>
  <p:cmAuthor id="680" name="未知用户411" initials="未" lastIdx="1" clrIdx="0"/>
  <p:cmAuthor id="681" name="未知用户389" initials="未" lastIdx="9" clrIdx="0"/>
  <p:cmAuthor id="682" name="未知用户390" initials="未" lastIdx="1" clrIdx="0"/>
  <p:cmAuthor id="683" name="未知用户391" initials="未" lastIdx="1" clrIdx="0"/>
  <p:cmAuthor id="684" name="未知用户392" initials="未" lastIdx="2" clrIdx="0"/>
  <p:cmAuthor id="685" name="未知用户393" initials="未" lastIdx="1" clrIdx="0"/>
  <p:cmAuthor id="686" name="未知用户394" initials="未" lastIdx="1" clrIdx="0"/>
  <p:cmAuthor id="687" name="未知用户395" initials="未" lastIdx="0" clrIdx="0"/>
  <p:cmAuthor id="688" name="未知用户396" initials="未" lastIdx="1" clrIdx="0"/>
  <p:cmAuthor id="689" name="未知用户406" initials="未" lastIdx="1" clrIdx="0"/>
  <p:cmAuthor id="690" name="未知用户397" initials="未" lastIdx="1" clrIdx="1"/>
  <p:cmAuthor id="691" name="未知用户407" initials="未" lastIdx="1" clrIdx="0"/>
  <p:cmAuthor id="692" name="未知用户398" initials="未" lastIdx="1" clrIdx="0"/>
  <p:cmAuthor id="693" name="未知用户399" initials="未" lastIdx="1" clrIdx="0"/>
  <p:cmAuthor id="694" name="未知用户400" initials="未" lastIdx="2" clrIdx="0"/>
  <p:cmAuthor id="695" name="未知用户401" initials="未" lastIdx="2" clrIdx="0"/>
  <p:cmAuthor id="696" name="未知用户420" initials="未" lastIdx="1" clrIdx="0"/>
  <p:cmAuthor id="697" name="未知用户421" initials="未" lastIdx="1" clrIdx="0"/>
  <p:cmAuthor id="698" name="未知用户422" initials="未" lastIdx="10" clrIdx="0"/>
  <p:cmAuthor id="699" name="未知用户423" initials="未" lastIdx="1" clrIdx="0"/>
  <p:cmAuthor id="700" name="未知用户424" initials="未" lastIdx="2" clrIdx="0"/>
  <p:cmAuthor id="701" name="未知用户419" initials="未" lastIdx="2" clrIdx="0"/>
  <p:cmAuthor id="702" name="未知用户425" initials="未" lastIdx="1" clrIdx="0"/>
  <p:cmAuthor id="703" name="未知用户426" initials="未" lastIdx="1" clrIdx="0"/>
  <p:cmAuthor id="663058477" name="Jason" initials="J" lastIdx="1" clrIdx="357"/>
  <p:cmAuthor id="704" name="未知用户427" initials="未" lastIdx="1" clrIdx="1"/>
  <p:cmAuthor id="705" name="未知用户428" initials="未" lastIdx="7" clrIdx="0"/>
  <p:cmAuthor id="706" name="未知用户429" initials="未" lastIdx="3" clrIdx="0"/>
  <p:cmAuthor id="707" name="未知用户430" initials="未" lastIdx="1" clrIdx="0"/>
  <p:cmAuthor id="708" name="未知用户431" initials="未" lastIdx="1" clrIdx="0"/>
  <p:cmAuthor id="709" name="未知用户432" initials="未" lastIdx="0" clrIdx="0"/>
  <p:cmAuthor id="710" name="未知用户433" initials="未" lastIdx="1" clrIdx="0"/>
  <p:cmAuthor id="711" name="未知用户434" initials="未" lastIdx="9" clrIdx="0"/>
  <p:cmAuthor id="712" name="未知用户435" initials="未" lastIdx="1" clrIdx="0"/>
  <p:cmAuthor id="713" name="未知用户436" initials="未" lastIdx="1" clrIdx="0"/>
  <p:cmAuthor id="714" name="未知用户437" initials="未" lastIdx="2" clrIdx="0"/>
  <p:cmAuthor id="715" name="未知用户438" initials="未" lastIdx="1" clrIdx="0"/>
  <p:cmAuthor id="716" name="未知用户417" initials="未" lastIdx="10" clrIdx="0"/>
  <p:cmAuthor id="717" name="未知用户439" initials="未" lastIdx="1" clrIdx="0"/>
  <p:cmAuthor id="718" name="未知用户440" initials="未" lastIdx="0" clrIdx="0"/>
  <p:cmAuthor id="719" name="未知用户441" initials="未" lastIdx="1" clrIdx="0"/>
  <p:cmAuthor id="720" name="未知用户442" initials="未" lastIdx="1" clrIdx="0"/>
  <p:cmAuthor id="721" name="未知用户443" initials="未" lastIdx="1" clrIdx="1"/>
  <p:cmAuthor id="722" name="未知用户444" initials="未" lastIdx="1" clrIdx="0"/>
  <p:cmAuthor id="723" name="未知用户445" initials="未" lastIdx="1" clrIdx="0"/>
  <p:cmAuthor id="724" name="未知用户446" initials="未" lastIdx="1" clrIdx="0"/>
  <p:cmAuthor id="725" name="未知用户447" initials="未" lastIdx="2" clrIdx="0"/>
  <p:cmAuthor id="726" name="未知用户448" initials="未" lastIdx="2" clrIdx="0"/>
  <p:cmAuthor id="727" name="未知用户326" initials="未" lastIdx="1" clrIdx="0"/>
  <p:cmAuthor id="728" name="未知用户365" initials="未" lastIdx="1" clrIdx="0"/>
  <p:cmAuthor id="730" name="未知用户366" initials="未" lastIdx="3" clrIdx="1"/>
  <p:cmAuthor id="732" name="未知用户367" initials="未" lastIdx="10" clrIdx="0"/>
  <p:cmAuthor id="735" name="未知用户368" initials="未" lastIdx="1" clrIdx="0"/>
  <p:cmAuthor id="737" name="HZS00" initials="H" lastIdx="2" clrIdx="454"/>
  <p:cmAuthor id="738822927" name="洋仔" initials="洋" lastIdx="1" clrIdx="869"/>
  <p:cmAuthor id="747" name="wenle369@sina.com" initials="w" lastIdx="1" clrIdx="0"/>
  <p:cmAuthor id="1124247354" name="Tea" initials="T" lastIdx="1" clrIdx="611"/>
  <p:cmAuthor id="1124247355" name="储贤民" initials="储" lastIdx="1" clrIdx="1124247354"/>
  <p:cmAuthor id="752" name="554154816@qq.com" initials="5" lastIdx="0" clrIdx="0"/>
  <p:cmAuthor id="753" name="未知用户192" initials="未" lastIdx="1" clrIdx="0"/>
  <p:cmAuthor id="754" name="未知用户379" initials="未" lastIdx="1" clrIdx="0"/>
  <p:cmAuthor id="755" name="未知用户418" initials="未" lastIdx="1" clrIdx="0"/>
  <p:cmAuthor id="756" name="未知用户271" initials="未" lastIdx="1" clrIdx="0"/>
  <p:cmAuthor id="757" name="未知用户381" initials="未" lastIdx="1" clrIdx="0"/>
  <p:cmAuthor id="758" name="未知用户382" initials="未" lastIdx="1" clrIdx="0"/>
  <p:cmAuthor id="759" name="未知用户383" initials="未" lastIdx="1" clrIdx="0"/>
  <p:cmAuthor id="762" name="未知用户385" initials="未" lastIdx="2" clrIdx="0"/>
  <p:cmAuthor id="766" name="未知用户231" initials="未" lastIdx="1" clrIdx="0"/>
  <p:cmAuthor id="767" name="未知用户232" initials="未" lastIdx="1" clrIdx="0"/>
  <p:cmAuthor id="769" name="未知用户226" initials="未" lastIdx="1" clrIdx="0"/>
  <p:cmAuthor id="771" name="lp" initials="l" lastIdx="1" clrIdx="0"/>
  <p:cmAuthor id="772" name="张正明" initials="张" lastIdx="1" clrIdx="0"/>
  <p:cmAuthor id="773" name="FANG SUN" initials="F" lastIdx="2" clrIdx="4"/>
  <p:cmAuthor id="776" name="未知用户416" initials="未" lastIdx="1" clrIdx="0"/>
  <p:cmAuthor id="777" name="未知用户404" initials="未" lastIdx="15" clrIdx="0"/>
  <p:cmAuthor id="778" name="未知用户408" initials="未" lastIdx="1" clrIdx="1"/>
  <p:cmAuthor id="779" name="未知用户409" initials="未" lastIdx="7" clrIdx="0"/>
  <p:cmAuthor id="780" name="未知用户412" initials="未" lastIdx="0" clrIdx="1"/>
  <p:cmAuthor id="781" name="未知用户413" initials="未" lastIdx="1" clrIdx="0"/>
  <p:cmAuthor id="782" name="未知用户414" initials="未" lastIdx="1" clrIdx="0"/>
  <p:cmAuthor id="783" name="未知用户415" initials="未" lastIdx="1" clrIdx="0"/>
  <p:cmAuthor id="691587970" name="小延魔法师" initials="小" lastIdx="1126286" clrIdx="0"/>
  <p:cmAuthor id="784" name="未知用户215" initials="未" lastIdx="0" clrIdx="0"/>
  <p:cmAuthor id="691587971" name="震" initials="震" lastIdx="1" clrIdx="51"/>
  <p:cmAuthor id="785" name="未知用户217" initials="未" lastIdx="0" clrIdx="0"/>
  <p:cmAuthor id="691587972" name="NTKO" initials="H" lastIdx="2" clrIdx="45"/>
  <p:cmAuthor id="786" name="未知用户261" initials="未" lastIdx="0" clrIdx="0"/>
  <p:cmAuthor id="691587973" name="Tianchi Yao" initials="TY" lastIdx="31" clrIdx="72"/>
  <p:cmAuthor id="787" name="未知用户371" initials="未" lastIdx="1" clrIdx="0"/>
  <p:cmAuthor id="691587974" name="秀雪 贾" initials="秀贾" lastIdx="1" clrIdx="330"/>
  <p:cmAuthor id="788" name="未知用户370" initials="未" lastIdx="1" clrIdx="0"/>
  <p:cmAuthor id="691587975" name="xiaoming chang" initials="xc" lastIdx="1" clrIdx="331"/>
  <p:cmAuthor id="691587976" name="梁光灯_iI7bJ7vm" initials="authorId_510858482" lastIdx="0" clrIdx="0"/>
  <p:cmAuthor id="691587977" name="AI" initials="A" lastIdx="0" clrIdx="518"/>
  <p:cmAuthor id="791" name="未知用户286" initials="未" lastIdx="1" clrIdx="0"/>
  <p:cmAuthor id="691587978" name="罗平_QfY3MnyU" initials="authorId_1512265542" lastIdx="0" clrIdx="0"/>
  <p:cmAuthor id="792" name="未知用户373" initials="未" lastIdx="2" clrIdx="0"/>
  <p:cmAuthor id="793" name="未知用户350" initials="未" lastIdx="1" clrIdx="0"/>
  <p:cmAuthor id="691587979" name="虞新颖_36fmV3QV" initials="authorId_321496044" lastIdx="0" clrIdx="0"/>
  <p:cmAuthor id="691587980" name="鲁琪_ayIzYrYZ" initials="authorId_602698507" lastIdx="0" clrIdx="0"/>
  <p:cmAuthor id="795" name="未知用户351" initials="未" lastIdx="1" clrIdx="0"/>
  <p:cmAuthor id="691587981" name="黄百成_m6Jjq6bQ" initials="authorId_901868002" lastIdx="0" clrIdx="0"/>
  <p:cmAuthor id="796" name="未知用户352" initials="未" lastIdx="1" clrIdx="1"/>
  <p:cmAuthor id="1167942471" name="WIN10" initials="W" lastIdx="1" clrIdx="1167942470"/>
  <p:cmAuthor id="579339640" name="半暖时光" initials="半" lastIdx="1" clrIdx="142"/>
  <p:cmAuthor id="1603436587" name="Frank" initials="F" lastIdx="1" clrIdx="899"/>
  <p:cmAuthor id="1603436588" name="张松蕾" initials="C" lastIdx="1" clrIdx="1603436587"/>
  <p:cmAuthor id="811" name="Xzjd" initials="X" lastIdx="2" clrIdx="0"/>
  <p:cmAuthor id="193636283" name="吴开云" initials="吴" lastIdx="23" clrIdx="60"/>
  <p:cmAuthor id="375845188" name="WPS" initials="W" lastIdx="1" clrIdx="17"/>
  <p:cmAuthor id="748" name="殷 积波" initials="殷" lastIdx="1" clrIdx="22"/>
  <p:cmAuthor id="749" name="启浩" initials="启" lastIdx="2" clrIdx="0"/>
  <p:cmAuthor id="750" name="袨?嗴?傤?" initials="袨" lastIdx="0" clrIdx="0"/>
  <p:cmAuthor id="751" name="林玲 郑" initials="林" lastIdx="12" clrIdx="0"/>
  <p:cmAuthor id="761" name="雨林木风" initials="雨" lastIdx="14" clrIdx="1"/>
  <p:cmAuthor id="763" name="池依曼" initials="池" lastIdx="2" clrIdx="72"/>
  <p:cmAuthor id="770" name="亚运 曹" initials="亚" lastIdx="3" clrIdx="2"/>
  <p:cmAuthor id="774" name="富德生命人寿" initials="富" lastIdx="1" clrIdx="0"/>
  <p:cmAuthor id="775" name="袁缘" initials="袁" lastIdx="0" clrIdx="0"/>
  <p:cmAuthor id="376687852" name="初七之月亮" initials="初" lastIdx="1" clrIdx="597"/>
  <p:cmAuthor id="1425050821" name="ccc" initials="c" lastIdx="1" clrIdx="596"/>
  <p:cmAuthor id="1479258870" name="夏先生" initials="夏" lastIdx="1" clrIdx="650"/>
  <p:cmAuthor id="163458894" name="13488749431手机用户" initials="1" lastIdx="1" clrIdx="683"/>
  <p:cmAuthor id="453232749" name="番茄^_^" initials="番" lastIdx="1" clrIdx="660"/>
  <p:cmAuthor id="1479258871" name="niuniu" initials="n" lastIdx="2" clrIdx="1479258870"/>
  <p:cmAuthor id="1442009752" name="WPS_1669175722" initials="W" lastIdx="1" clrIdx="299"/>
  <p:cmAuthor id="907" name="q1521" initials="q" lastIdx="2" clrIdx="906"/>
  <p:cmAuthor id="708433801" name="刘晓富" initials="User" lastIdx="1" clrIdx="708433800"/>
  <p:cmAuthor id="314841400" name="小迷糊" initials="小" lastIdx="16" clrIdx="931"/>
  <p:cmAuthor id="667971135" name="J0" initials="J" lastIdx="1" clrIdx="50"/>
  <p:cmAuthor id="233746470" name="大攀" initials="大" lastIdx="1" clrIdx="661"/>
  <p:cmAuthor id="832" name="zhaojunjie" initials="z" lastIdx="1" clrIdx="831"/>
  <p:cmAuthor id="860" name="huangweijing" initials="h" lastIdx="1" clrIdx="859"/>
  <p:cmAuthor id="869" name="姜香利" initials="姜" lastIdx="1" clrIdx="868"/>
  <p:cmAuthor id="893" name="10181267" initials="1" lastIdx="2" clrIdx="892"/>
  <p:cmAuthor id="896" name="10161768" initials="1" lastIdx="1" clrIdx="895"/>
  <p:cmAuthor id="897" name="10023731" initials="1" lastIdx="1" clrIdx="896"/>
  <p:cmAuthor id="908" name="10285279" initials="1" lastIdx="1" clrIdx="907"/>
  <p:cmAuthor id="276434777" name="PENG" initials="P" lastIdx="1" clrIdx="0"/>
  <p:cmAuthor id="666509453" name="许愿池的~" initials="许" lastIdx="1" clrIdx="851"/>
  <p:cmAuthor id="1047661357" name="微笑" initials="微" lastIdx="1" clrIdx="885"/>
  <p:cmAuthor id="772993842" name="时光" initials="时" lastIdx="1" clrIdx="718"/>
  <p:cmAuthor id="857" name="XIAN" initials="X" lastIdx="1" clrIdx="856"/>
  <p:cmAuthor id="383159678" name="FAN" initials="F" lastIdx="555744" clrIdx="0"/>
  <p:cmAuthor id="383159679" name="sunaoran" initials="s" lastIdx="2" clrIdx="3"/>
  <p:cmAuthor id="977340790" name="Mmm" initials="M" lastIdx="3" clrIdx="853"/>
  <p:cmAuthor id="1158809000" name="王旭" initials="王" lastIdx="5" clrIdx="661"/>
  <p:cmAuthor id="862" name="guoshasha@hq.cmcc" initials="guoshasha" lastIdx="1" clrIdx="861"/>
  <p:cmAuthor id="899" name="jinpengcheng" initials="j" lastIdx="1" clrIdx="898"/>
  <p:cmAuthor id="595510092" name="乐燕" initials="乐" lastIdx="1" clrIdx="647"/>
  <p:cmAuthor id="925" name="董艺萱00344473" initials="董艺萱003444" lastIdx="11" clrIdx="924"/>
  <p:cmAuthor id="531" name="myl" initials="m" lastIdx="4" clrIdx="530"/>
  <p:cmAuthor id="258699233" name="永月墨夜" initials="永" lastIdx="1" clrIdx="790"/>
  <p:cmAuthor id="867" name="zhangbai" initials="z" lastIdx="1" clrIdx="866"/>
  <p:cmAuthor id="932" name="10225041" initials="1" lastIdx="1" clrIdx="931"/>
  <p:cmAuthor id="889" name="10024885" initials="1" lastIdx="2" clrIdx="888"/>
  <p:cmAuthor id="873" name="00332340" initials="0" lastIdx="1" clrIdx="872"/>
  <p:cmAuthor id="874" name="00260515" initials="HRP" lastIdx="1" clrIdx="873"/>
  <p:cmAuthor id="942" name="10096786" initials="1" lastIdx="1" clrIdx="941"/>
  <p:cmAuthor id="934" name="00242950" initials="0" lastIdx="2" clrIdx="933"/>
  <p:cmAuthor id="909" name="10036782" initials="1" lastIdx="3" clrIdx="908"/>
  <p:cmAuthor id="928" name="10270505" initials="1" lastIdx="1" clrIdx="927"/>
  <p:cmAuthor id="929" name="10145512" initials="1" lastIdx="1" clrIdx="928"/>
  <p:cmAuthor id="953" name="10078316" initials="1" lastIdx="1" clrIdx="952"/>
  <p:cmAuthor id="938" name="10129659" initials="1" lastIdx="1" clrIdx="937"/>
  <p:cmAuthor id="895" name="10009993" initials="1" lastIdx="1" clrIdx="894"/>
  <p:cmAuthor id="931" name="00025099" initials="0" lastIdx="1" clrIdx="930"/>
  <p:cmAuthor id="940" name="10033218" initials="1" lastIdx="1" clrIdx="939"/>
  <p:cmAuthor id="372" name="不明使用者2" initials="不" lastIdx="2" clrIdx="0"/>
  <p:cmAuthor id="377" name="HNN" initials="H" lastIdx="1" clrIdx="53"/>
  <p:cmAuthor id="394" name="夜尽迟渊_UrQfrmQZ" initials="夜" lastIdx="0" clrIdx="0"/>
  <p:cmAuthor id="416" name="胡益铭" initials="胡" lastIdx="1" clrIdx="339"/>
  <p:cmAuthor id="422" name="未知用户186" initials="未" lastIdx="1" clrIdx="0"/>
  <p:cmAuthor id="527" name="不明使用者7" initials="不" lastIdx="7" clrIdx="1"/>
  <p:cmAuthor id="634197509" name="yangsong" initials="y" lastIdx="1" clrIdx="876"/>
  <p:cmAuthor id="242809661" name="康斯坦尼斯拉夫斯基" initials="康" lastIdx="2" clrIdx="700"/>
  <p:cmAuthor id="342238991" name="刘付平" initials="刘" lastIdx="5015" clrIdx="0"/>
  <p:cmAuthor id="729" name="zcy" initials="z" lastIdx="1" clrIdx="728"/>
  <p:cmAuthor id="731" name="崔艳鹏" initials="崔" lastIdx="1" clrIdx="730"/>
  <p:cmAuthor id="733" name="DELL" initials="D" lastIdx="1" clrIdx="732"/>
  <p:cmAuthor id="738" name="8613250766486" initials="8" lastIdx="2" clrIdx="729"/>
  <p:cmAuthor id="739" name="丁喆彤" initials="丁" lastIdx="1" clrIdx="0"/>
  <p:cmAuthor id="741" name="yeqq06" initials="y" lastIdx="1" clrIdx="740"/>
  <p:cmAuthor id="742" name="张辉" initials="张" lastIdx="2" clrIdx="741"/>
  <p:cmAuthor id="743" name="hainan zheng" initials="h" lastIdx="1" clrIdx="0"/>
  <p:cmAuthor id="744" name="gayxb" initials="g" lastIdx="1" clrIdx="743"/>
  <p:cmAuthor id="745" name="lish54" initials="l" lastIdx="2" clrIdx="744"/>
  <p:cmAuthor id="746" name="百里 长青" initials="百" lastIdx="1" clrIdx="0"/>
  <p:cmAuthor id="760" name="sizx" initials="s" lastIdx="2" clrIdx="759"/>
  <p:cmAuthor id="49837073" name="sk" initials="s" lastIdx="1" clrIdx="735"/>
  <p:cmAuthor id="855" name="部室管理员/软件开发中心/总行机关/ABC" initials="部" lastIdx="1" clrIdx="5"/>
  <p:cmAuthor id="858" name="weilizz" initials="weilizz" lastIdx="1" clrIdx="857"/>
  <p:cmAuthor id="859" name="shanshuyao@sd.cmcc" initials="shanshuyao@sd.cmcc" lastIdx="1" clrIdx="858"/>
  <p:cmAuthor id="887" name="陈依依" initials="陈" lastIdx="7" clrIdx="0"/>
  <p:cmAuthor id="927" name="张晓燕(内蒙古巴彦淖尔)" initials="张" lastIdx="1" clrIdx="0"/>
  <p:cmAuthor id="937" name="Evander Wan" initials="E" lastIdx="7" clrIdx="1"/>
  <p:cmAuthor id="943" name="bing" initials="b" lastIdx="2" clrIdx="0"/>
  <p:cmAuthor id="944" name="hh" initials="h" lastIdx="1" clrIdx="0"/>
  <p:cmAuthor id="948" name="Hope0187" initials="H" lastIdx="1" clrIdx="6"/>
  <p:cmAuthor id="949" name="daiyi06" initials="d" lastIdx="0" clrIdx="2"/>
  <p:cmAuthor id="951" name="James Conard" initials="J" lastIdx="3" clrIdx="0"/>
  <p:cmAuthor id="957" name="Cpic" initials="C" lastIdx="0" clrIdx="0"/>
  <p:cmAuthor id="960" name="刘 念" initials="刘" lastIdx="2" clrIdx="35"/>
  <p:cmAuthor id="961" name="Wangzhi gang" initials="W" lastIdx="1" clrIdx="0"/>
  <p:cmAuthor id="966" name="李柯然" initials="李" lastIdx="1" clrIdx="0"/>
  <p:cmAuthor id="967" name="LENOVO" initials="L" lastIdx="1" clrIdx="0"/>
  <p:cmAuthor id="969" name="王玉" initials="王" lastIdx="1" clrIdx="0"/>
  <p:cmAuthor id="970" name="Ming Zuo" initials="M" lastIdx="1" clrIdx="0"/>
  <p:cmAuthor id="974" name="dreamsummit" initials="d" lastIdx="1" clrIdx="0"/>
  <p:cmAuthor id="975" name="张 博" initials="张" lastIdx="1" clrIdx="0"/>
  <p:cmAuthor id="976" name="LS" initials="L" lastIdx="1" clrIdx="0"/>
  <p:cmAuthor id="977" name="McGlasson, Louise" initials="M" lastIdx="6" clrIdx="0"/>
  <p:cmAuthor id="978" name="Morgan, Aaron" initials="M" lastIdx="3" clrIdx="1"/>
  <p:cmAuthor id="979" name="weige" initials="w" lastIdx="2" clrIdx="0"/>
  <p:cmAuthor id="981" name="李 俊琦" initials="李" lastIdx="1" clrIdx="0"/>
  <p:cmAuthor id="982" name="沈 鹤" initials="沈" lastIdx="1" clrIdx="5"/>
  <p:cmAuthor id="983" name="jilin" initials="j" lastIdx="20" clrIdx="0"/>
  <p:cmAuthor id="984" name="王保青-pah" initials="王" lastIdx="0" clrIdx="0"/>
  <p:cmAuthor id="986" name="Jason Li" initials="J" lastIdx="1" clrIdx="2"/>
  <p:cmAuthor id="987" name="duxingge" initials="d" lastIdx="2" clrIdx="4"/>
  <p:cmAuthor id="989" name="yingchao xi" initials="y" lastIdx="7" clrIdx="0"/>
  <p:cmAuthor id="990" name="depeng diao" initials="d" lastIdx="0" clrIdx="0"/>
  <p:cmAuthor id="991" name="amyzhang" initials="a" lastIdx="1" clrIdx="0"/>
  <p:cmAuthor id="992" name="JerryW" initials="J" lastIdx="1" clrIdx="0"/>
  <p:cmAuthor id="993" name="shenyy" initials="s" lastIdx="1" clrIdx="7"/>
  <p:cmAuthor id="994" name="Jason Cheung" initials="J" lastIdx="0" clrIdx="0"/>
  <p:cmAuthor id="995" name="刘笑" initials="刘" lastIdx="1" clrIdx="0"/>
  <p:cmAuthor id="997" name="Maggie" initials="M" lastIdx="1" clrIdx="0"/>
  <p:cmAuthor id="1483810881" name="WPS_1679281038" initials="W" lastIdx="1" clrIdx="2"/>
  <p:cmAuthor id="664583236" name="sunqi" initials="s" lastIdx="3" clrIdx="643"/>
  <p:cmAuthor id="1499042558" name="WPS_1686010660" initials="W" lastIdx="16" clrIdx="412"/>
  <p:cmAuthor id="1070834130" name="16640" initials="1" lastIdx="1" clrIdx="1070834129"/>
  <p:cmAuthor id="245516636" name="李进进" initials="李" lastIdx="2" clrIdx="653"/>
  <p:cmAuthor id="606826857" name="李宁" initials="李" lastIdx="1" clrIdx="651"/>
  <p:cmAuthor id="332912694" name=" LION" initials=" " lastIdx="1" clrIdx="790"/>
  <p:cmAuthor id="757822586" name="杜立旺" initials="杜" lastIdx="1" clrIdx="0"/>
  <p:cmAuthor id="246358619" name="小州Gg" initials="小" lastIdx="1" clrIdx="666"/>
  <p:cmAuthor id="329128248" name="LBB" initials="L" lastIdx="1" clrIdx="665"/>
  <p:cmAuthor id="1602690108" name="WPS_1716908770" initials="W" lastIdx="1" clrIdx="696"/>
  <p:cmAuthor id="316842742" name="月亮是我啃弯的" initials="月" lastIdx="1" clrIdx="868"/>
  <p:cmAuthor id="1006" name="UOS" initials="U" lastIdx="1" clrIdx="1005"/>
  <p:cmAuthor id="582921801" name="于浣" initials="于" lastIdx="1" clrIdx="673"/>
  <p:cmAuthor id="217358292" name="依依" initials="依" lastIdx="1" clrIdx="325"/>
  <p:cmAuthor id="669470575" name="黄炜" initials="黄" lastIdx="1" clrIdx="629"/>
  <p:cmAuthor id="445693934" name="袖盈嘉茉" initials="袖" lastIdx="2" clrIdx="677"/>
  <p:cmAuthor id="248769537" name="刁航宇" initials="刁" lastIdx="1" clrIdx="845"/>
  <p:cmAuthor id="980107324" name="曹劲然" initials="曹" lastIdx="1" clrIdx="19"/>
  <p:cmAuthor id="900121273" name="wink" initials="w" lastIdx="1" clrIdx="702"/>
  <p:cmAuthor id="635724682" name="马宇媛" initials="马" lastIdx="2" clrIdx="478"/>
  <p:cmAuthor id="564877690" name="哎呀呀何牙牙" initials="哎" lastIdx="1" clrIdx="951"/>
  <p:cmAuthor id="966000245" name="Oscar" initials="O" lastIdx="6" clrIdx="372"/>
  <p:cmAuthor id="475196946" name="王 成岩" initials="王" lastIdx="1" clrIdx="23"/>
  <p:cmAuthor id="660620438" name="奇点" initials="奇" lastIdx="1" clrIdx="53"/>
  <p:cmAuthor id="445084625" name="晚·峰" initials="晚" lastIdx="1" clrIdx="54"/>
  <p:cmAuthor id="1017522315" name="WPS_1592556096" initials="W" lastIdx="1" clrIdx="667"/>
  <p:cmAuthor id="1167942472" name="Q" initials="Q" lastIdx="1" clrIdx="1167942471"/>
  <p:cmAuthor id="863" name="刘佳颖" initials="刘" lastIdx="1" clrIdx="862"/>
  <p:cmAuthor id="930" name="liyanit02" initials="l" lastIdx="1" clrIdx="929"/>
  <p:cmAuthor id="946" name="jinfanbo" initials="j" lastIdx="1" clrIdx="945"/>
  <p:cmAuthor id="242149732" name="武戎" initials="武" lastIdx="1" clrIdx="840"/>
  <p:cmAuthor id="383674718" name="lihui" initials="l" lastIdx="8" clrIdx="869"/>
  <p:cmAuthor id="739108036" name="张磊" initials="张" lastIdx="5" clrIdx="361"/>
  <p:cmAuthor id="479997760" name="Daigy" initials="D" lastIdx="1" clrIdx="622"/>
  <p:cmAuthor id="235078975" name="车旭" initials="车" lastIdx="1" clrIdx="944"/>
  <p:cmAuthor id="581828695" name="于洁" initials="于" lastIdx="1" clrIdx="893"/>
  <p:cmAuthor id="913287329" name="cyq" initials="c" lastIdx="2" clrIdx="31"/>
  <p:cmAuthor id="458462399" name="Tomorrow" initials="T" lastIdx="1" clrIdx="35"/>
  <p:cmAuthor id="458462400" name="zw zhou" initials="zz" lastIdx="1" clrIdx="51"/>
  <p:cmAuthor id="590625486" name="Wang lei" initials="W" lastIdx="1" clrIdx="890"/>
  <p:cmAuthor id="409564025" name="begin" initials="b" lastIdx="2" clrIdx="348"/>
  <p:cmAuthor id="386174056" name="CabayJenne" initials="C" lastIdx="1" clrIdx="353"/>
  <p:cmAuthor id="1012164368" name="木漏れ日" initials="木" lastIdx="1" clrIdx="319"/>
  <p:cmAuthor id="312104574" name="zzzz" initials="z" lastIdx="1" clrIdx="682"/>
  <p:cmAuthor id="261616612" name="邢开" initials="邢" lastIdx="1" clrIdx="364"/>
  <p:cmAuthor id="217975524" name="小阳光" initials="小" lastIdx="1" clrIdx="494"/>
  <p:cmAuthor id="387477576" name="DldUlcks" initials="D" lastIdx="1" clrIdx="495"/>
  <p:cmAuthor id="227822270" name="chris" initials="c" lastIdx="1" clrIdx="844"/>
  <p:cmAuthor id="1603436589" name="M" initials="IT" lastIdx="1" clrIdx="1603436588"/>
  <p:cmAuthor id="226024628" name="JeanMayLee" initials="J" lastIdx="2" clrIdx="538"/>
  <p:cmAuthor id="210726287" name="罗志军" initials="罗" lastIdx="1" clrIdx="1016"/>
  <p:cmAuthor id="475196947" name="陶夏溦" initials="陶夏溦" lastIdx="1" clrIdx="46"/>
  <p:cmAuthor id="280030417" name="桃豆豆" initials="桃" lastIdx="2" clrIdx="867"/>
  <p:cmAuthor id="422153560" name="天天" initials="天" lastIdx="1" clrIdx="848"/>
  <p:cmAuthor id="1104652860" name="小粟勺" initials="小" lastIdx="1" clrIdx="651"/>
  <p:cmAuthor id="200109804" name="糕酥...●—●" initials="糕" lastIdx="2" clrIdx="367"/>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FFFFFF"/>
    <a:srgbClr val="D9D9D9"/>
    <a:srgbClr val="40B0FF"/>
    <a:srgbClr val="BFE5FF"/>
    <a:srgbClr val="1C54D4"/>
    <a:srgbClr val="0E18E8"/>
    <a:srgbClr val="04B3FC"/>
    <a:srgbClr val="0070BF"/>
    <a:srgbClr val="E5F0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60"/>
  </p:normalViewPr>
  <p:slideViewPr>
    <p:cSldViewPr snapToGrid="0">
      <p:cViewPr varScale="1">
        <p:scale>
          <a:sx n="101" d="100"/>
          <a:sy n="101" d="100"/>
        </p:scale>
        <p:origin x="150"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commentAuthors" Target="commentAuthors.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defTabSz="457200">
              <a:defRPr/>
            </a:pPr>
            <a:fld id="{C3ED9B55-FA85-4F48-95B5-29DAAE83F6DA}" type="slidenum">
              <a:rPr lang="zh-CN" altLang="en-US">
                <a:solidFill>
                  <a:prstClr val="black"/>
                </a:solidFill>
              </a:rPr>
            </a:fld>
            <a:endParaRPr lang="zh-CN" altLang="en-US" dirty="0">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dirty="0"/>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5112" cy="3722687"/>
          </a:xfrm>
        </p:spPr>
      </p:sp>
      <p:sp>
        <p:nvSpPr>
          <p:cNvPr id="3" name="备注占位符 2"/>
          <p:cNvSpPr>
            <a:spLocks noGrp="1"/>
          </p:cNvSpPr>
          <p:nvPr>
            <p:ph type="body" idx="1"/>
          </p:nvPr>
        </p:nvSpPr>
        <p:spPr/>
        <p:txBody>
          <a:bodyPr/>
          <a:lstStyle/>
          <a:p>
            <a:pPr defTabSz="457200">
              <a:lnSpc>
                <a:spcPct val="130000"/>
              </a:lnSpc>
              <a:defRPr/>
            </a:pPr>
            <a:r>
              <a:rPr lang="zh-CN" altLang="en-US" dirty="0"/>
              <a:t>中台应该是一大部分框。</a:t>
            </a:r>
            <a:endParaRPr lang="en-US" altLang="zh-CN" dirty="0"/>
          </a:p>
          <a:p>
            <a:pPr defTabSz="457200">
              <a:lnSpc>
                <a:spcPct val="130000"/>
              </a:lnSpc>
              <a:defRPr/>
            </a:pPr>
            <a:r>
              <a:rPr lang="zh-CN" altLang="en-US" dirty="0"/>
              <a:t>体现</a:t>
            </a:r>
            <a:r>
              <a:rPr lang="en-US" altLang="zh-CN" dirty="0"/>
              <a:t>AI</a:t>
            </a:r>
            <a:r>
              <a:rPr lang="zh-CN" altLang="en-US" dirty="0"/>
              <a:t>、智能体。</a:t>
            </a:r>
            <a:endParaRPr lang="en-US" altLang="zh-CN" dirty="0"/>
          </a:p>
          <a:p>
            <a:pPr defTabSz="457200">
              <a:lnSpc>
                <a:spcPct val="130000"/>
              </a:lnSpc>
              <a:defRPr/>
            </a:pPr>
            <a:r>
              <a:rPr lang="zh-CN" altLang="en-US" dirty="0"/>
              <a:t>智能体助手统一。根据个人特性，在服务、推送信息上个性化，能加挂各类智能体，工作权限个性化、匹配。 </a:t>
            </a:r>
            <a:r>
              <a:rPr lang="en-US" altLang="zh-CN" dirty="0"/>
              <a:t>APP</a:t>
            </a:r>
            <a:r>
              <a:rPr lang="zh-CN" altLang="en-US" dirty="0"/>
              <a:t>里的智能助理要统一。要给集团明确概念。主</a:t>
            </a:r>
            <a:r>
              <a:rPr lang="en-US" altLang="zh-CN" dirty="0"/>
              <a:t>-</a:t>
            </a:r>
            <a:r>
              <a:rPr lang="zh-CN" altLang="en-US" dirty="0"/>
              <a:t>从智能体，多智能体合集。助理要统一，助理逐渐演变成入口。近几年把助手统一，</a:t>
            </a:r>
            <a:r>
              <a:rPr lang="en-US" altLang="zh-CN" dirty="0"/>
              <a:t>APP</a:t>
            </a:r>
            <a:r>
              <a:rPr lang="zh-CN" altLang="en-US" dirty="0"/>
              <a:t>和</a:t>
            </a:r>
            <a:r>
              <a:rPr lang="en-US" altLang="zh-CN" dirty="0"/>
              <a:t>PC</a:t>
            </a:r>
            <a:r>
              <a:rPr lang="zh-CN" altLang="en-US" dirty="0"/>
              <a:t>。</a:t>
            </a:r>
            <a:endParaRPr lang="en-US" altLang="zh-CN" dirty="0"/>
          </a:p>
          <a:p>
            <a:pPr defTabSz="457200">
              <a:lnSpc>
                <a:spcPct val="130000"/>
              </a:lnSpc>
              <a:defRPr/>
            </a:pPr>
            <a:r>
              <a:rPr lang="zh-CN" altLang="en-US" dirty="0"/>
              <a:t>小屏不仅仅是</a:t>
            </a:r>
            <a:r>
              <a:rPr lang="en-US" altLang="zh-CN" dirty="0"/>
              <a:t>APP</a:t>
            </a:r>
            <a:r>
              <a:rPr lang="zh-CN" altLang="en-US" dirty="0"/>
              <a:t>的概念，还包括</a:t>
            </a:r>
            <a:r>
              <a:rPr lang="en-US" altLang="zh-CN" dirty="0"/>
              <a:t>PC</a:t>
            </a:r>
            <a:r>
              <a:rPr lang="zh-CN" altLang="en-US" dirty="0"/>
              <a:t>客户端。</a:t>
            </a:r>
            <a:endParaRPr lang="en-US" altLang="zh-CN" dirty="0"/>
          </a:p>
          <a:p>
            <a:pPr defTabSz="457200">
              <a:lnSpc>
                <a:spcPct val="130000"/>
              </a:lnSpc>
              <a:defRPr/>
            </a:pPr>
            <a:r>
              <a:rPr lang="en-US" altLang="zh-CN" dirty="0"/>
              <a:t>APP</a:t>
            </a:r>
            <a:r>
              <a:rPr lang="zh-CN" altLang="en-US" dirty="0"/>
              <a:t>跟总部各部门沟通。</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副标题修改</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3ED9B55-FA85-4F48-95B5-29DAAE83F6DA}"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b="1"/>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P2</a:t>
            </a:r>
            <a:r>
              <a:rPr lang="zh-CN" altLang="en-US"/>
              <a:t>、</a:t>
            </a:r>
            <a:r>
              <a:rPr lang="en-US" altLang="zh-CN"/>
              <a:t>P3</a:t>
            </a:r>
            <a:r>
              <a:rPr lang="zh-CN" altLang="en-US"/>
              <a:t>割裂比较严重</a:t>
            </a:r>
            <a:endParaRPr lang="zh-CN" altLang="en-US"/>
          </a:p>
          <a:p>
            <a:r>
              <a:rPr lang="zh-CN" altLang="en-US"/>
              <a:t>客户</a:t>
            </a:r>
            <a:r>
              <a:rPr lang="en-US" altLang="zh-CN"/>
              <a:t>——</a:t>
            </a:r>
            <a:r>
              <a:rPr lang="zh-CN" altLang="en-US"/>
              <a:t>引出四度三维、数据直采等内容类似的，一级如何做来处理这些问题</a:t>
            </a:r>
            <a:endParaRPr lang="zh-CN" altLang="en-US"/>
          </a:p>
          <a:p>
            <a:r>
              <a:rPr lang="zh-CN" altLang="en-US"/>
              <a:t>产品</a:t>
            </a:r>
            <a:r>
              <a:rPr lang="en-US" altLang="zh-CN"/>
              <a:t>——</a:t>
            </a:r>
            <a:r>
              <a:rPr lang="zh-CN" altLang="en-US"/>
              <a:t>加强产品原子化、封装能力</a:t>
            </a:r>
            <a:endParaRPr lang="zh-CN" altLang="en-US"/>
          </a:p>
          <a:p>
            <a:r>
              <a:rPr lang="zh-CN" altLang="en-US"/>
              <a:t>渠道</a:t>
            </a:r>
            <a:r>
              <a:rPr lang="en-US" altLang="zh-CN"/>
              <a:t>——</a:t>
            </a:r>
            <a:r>
              <a:rPr lang="zh-CN" altLang="en-US"/>
              <a:t>触客数据中心、触点统一调度</a:t>
            </a:r>
            <a:endParaRPr lang="zh-CN" altLang="en-US"/>
          </a:p>
          <a:p>
            <a:r>
              <a:rPr lang="zh-CN" altLang="en-US"/>
              <a:t>指挥调度</a:t>
            </a:r>
            <a:r>
              <a:rPr lang="en-US" altLang="zh-CN"/>
              <a:t>——</a:t>
            </a:r>
            <a:r>
              <a:rPr lang="zh-CN" altLang="en-US"/>
              <a:t>倒三角</a:t>
            </a:r>
            <a:endParaRPr lang="zh-CN" altLang="en-US"/>
          </a:p>
          <a:p>
            <a:endParaRPr lang="zh-CN" altLang="en-US"/>
          </a:p>
          <a:p>
            <a:r>
              <a:rPr lang="zh-CN" altLang="en-US"/>
              <a:t>愿景：以客户为中心，客户的功能价值（产品）、体验价值（流程可视、售前、售中、售后），情绪价值（触点对客户的服务，</a:t>
            </a:r>
            <a:r>
              <a:rPr lang="en-US" altLang="zh-CN"/>
              <a:t>agent</a:t>
            </a:r>
            <a:r>
              <a:rPr lang="zh-CN" altLang="en-US"/>
              <a:t>，一客一策营销，全球通升档）</a:t>
            </a:r>
            <a:endParaRPr lang="zh-CN" altLang="en-US"/>
          </a:p>
          <a:p>
            <a:r>
              <a:rPr lang="zh-CN" altLang="en-US"/>
              <a:t>明确</a:t>
            </a:r>
            <a:r>
              <a:rPr lang="en-US" altLang="zh-CN"/>
              <a:t>48</a:t>
            </a:r>
            <a:r>
              <a:rPr lang="zh-CN" altLang="en-US"/>
              <a:t>个平台的梳理原则</a:t>
            </a:r>
            <a:endParaRPr lang="zh-CN" altLang="en-US"/>
          </a:p>
          <a:p>
            <a:endParaRPr lang="zh-CN" altLang="en-US"/>
          </a:p>
          <a:p>
            <a:r>
              <a:rPr lang="zh-CN" altLang="en-US"/>
              <a:t>痛点写小了</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3ED9B55-FA85-4F48-95B5-29DAAE83F6DA}"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54" name=""/>
        <p:cNvGrpSpPr/>
        <p:nvPr/>
      </p:nvGrpSpPr>
      <p:grpSpPr/>
      <p:sp>
        <p:nvSpPr>
          <p:cNvPr id="1049078" name="幻灯片图像占位符 1"/>
          <p:cNvSpPr/>
          <p:nvPr>
            <p:ph type="sldImg" idx="2"/>
          </p:nvPr>
        </p:nvSpPr>
        <p:spPr/>
      </p:sp>
      <p:sp>
        <p:nvSpPr>
          <p:cNvPr id="1049079" name="文本占位符 2"/>
          <p:cNvSpPr/>
          <p:nvPr>
            <p:ph type="body" idx="3"/>
          </p:nvPr>
        </p:nvSpPr>
        <p:spPr/>
        <p:txBody>
          <a:bodyPr/>
          <a:p>
            <a:r>
              <a:rPr lang="en-US" altLang="zh-CN"/>
              <a:t>N</a:t>
            </a:r>
            <a:r>
              <a:rPr lang="zh-CN" altLang="en-US"/>
              <a:t>个场景这块：碎片化，缺少体系化的内容</a:t>
            </a:r>
            <a:endParaRPr lang="zh-CN" altLang="en-US"/>
          </a:p>
          <a:p>
            <a:r>
              <a:rPr lang="zh-CN" altLang="en-US"/>
              <a:t>加上中台底座</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底层加上中台。中台细化下，四大能力换个说辞（统一前台），中台</a:t>
            </a:r>
            <a:r>
              <a:rPr lang="en-US" altLang="zh-CN"/>
              <a:t>-</a:t>
            </a:r>
            <a:r>
              <a:rPr lang="zh-CN" altLang="en-US"/>
              <a:t>前台</a:t>
            </a:r>
            <a:r>
              <a:rPr lang="en-US" altLang="zh-CN"/>
              <a:t>-</a:t>
            </a:r>
            <a:r>
              <a:rPr lang="zh-CN" altLang="en-US"/>
              <a:t>场景，智慧驾驶舱、市场运营工作台（存增一体的运营中心）</a:t>
            </a:r>
            <a:endParaRPr lang="zh-CN" altLang="en-US"/>
          </a:p>
          <a:p>
            <a:r>
              <a:rPr lang="zh-CN" altLang="en-US"/>
              <a:t>不突出数字，强化入口收敛、场景赋能的</a:t>
            </a:r>
            <a:r>
              <a:rPr lang="en-US" altLang="zh-CN"/>
              <a:t>xx</a:t>
            </a:r>
            <a:r>
              <a:rPr lang="zh-CN" altLang="en-US"/>
              <a:t>体系</a:t>
            </a:r>
            <a:endParaRPr lang="en-US" altLang="zh-CN"/>
          </a:p>
          <a:p>
            <a:endParaRPr lang="en-US" altLang="zh-CN"/>
          </a:p>
          <a:p>
            <a:r>
              <a:rPr lang="en-US" altLang="zh-CN"/>
              <a:t>N</a:t>
            </a:r>
            <a:r>
              <a:rPr lang="zh-CN" altLang="en-US"/>
              <a:t>个场景这块：碎片化，缺少体系化的内容</a:t>
            </a:r>
            <a:endParaRPr lang="zh-CN" altLang="en-US"/>
          </a:p>
          <a:p>
            <a:r>
              <a:rPr lang="zh-CN" altLang="en-US"/>
              <a:t>加上中台底座</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sz="1200" b="1" dirty="0">
                <a:solidFill>
                  <a:schemeClr val="tx1"/>
                </a:solidFill>
              </a:rPr>
              <a:t>根据最新的进展更新内容。</a:t>
            </a:r>
            <a:endParaRPr lang="zh-CN" altLang="en-US" sz="1200" b="1" dirty="0">
              <a:solidFill>
                <a:schemeClr val="tx1"/>
              </a:solidFill>
            </a:endParaRPr>
          </a:p>
          <a:p>
            <a:pPr algn="l"/>
            <a:r>
              <a:rPr lang="zh-CN" altLang="en-US" sz="1200" b="1" dirty="0">
                <a:solidFill>
                  <a:schemeClr val="tx1"/>
                </a:solidFill>
              </a:rPr>
              <a:t>另，请突出集省关系，哪些集团统建，哪些省个性化建设</a:t>
            </a:r>
            <a:endParaRPr lang="zh-CN" altLang="en-US" sz="1200" b="1" dirty="0">
              <a:solidFill>
                <a:schemeClr val="tx1"/>
              </a:solidFill>
            </a:endParaRPr>
          </a:p>
          <a:p>
            <a:pPr algn="l"/>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gn="l"/>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gn="l"/>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加上四共</a:t>
            </a:r>
            <a:endParaRPr lang="zh-CN" altLang="en-US" dirty="0"/>
          </a:p>
          <a:p>
            <a:r>
              <a:rPr lang="zh-CN" altLang="en-US" dirty="0"/>
              <a:t>呼应</a:t>
            </a:r>
            <a:r>
              <a:rPr lang="en-US" altLang="zh-CN" dirty="0"/>
              <a:t>2+4+6</a:t>
            </a:r>
            <a:endParaRPr lang="en-US" altLang="zh-CN" dirty="0"/>
          </a:p>
          <a:p>
            <a:r>
              <a:rPr lang="zh-CN" altLang="en-US" dirty="0"/>
              <a:t>加一下产品货架（产品封装）</a:t>
            </a: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参考陕西、河南的团队</a:t>
            </a:r>
            <a:endParaRPr lang="zh-CN" altLang="en-US" dirty="0"/>
          </a:p>
          <a:p>
            <a:r>
              <a:rPr lang="zh-CN" altLang="en-US" dirty="0"/>
              <a:t>分层分级，网格具体做的给网格</a:t>
            </a:r>
            <a:endParaRPr lang="zh-CN" altLang="en-US" dirty="0"/>
          </a:p>
          <a:p>
            <a:r>
              <a:rPr lang="zh-CN" altLang="en-US" dirty="0"/>
              <a:t>中高端运营</a:t>
            </a:r>
            <a:r>
              <a:rPr lang="en-US" altLang="zh-CN" dirty="0"/>
              <a:t>-</a:t>
            </a:r>
            <a:r>
              <a:rPr lang="zh-CN" altLang="en-US" dirty="0"/>
              <a:t>省里要有人，集中化运营的避免流失，有架构式的运营团队，集团组建初期市服的需要参与进来，</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3ED9B55-FA85-4F48-95B5-29DAAE83F6DA}"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幻灯片图像占位符 1"/>
          <p:cNvSpPr>
            <a:spLocks noGrp="1" noRot="1" noTextEdit="1"/>
          </p:cNvSpPr>
          <p:nvPr>
            <p:ph type="sldImg"/>
          </p:nvPr>
        </p:nvSpPr>
        <p:spPr>
          <a:ln>
            <a:miter/>
          </a:ln>
        </p:spPr>
      </p:sp>
      <p:sp>
        <p:nvSpPr>
          <p:cNvPr id="6146" name="文本占位符 2"/>
          <p:cNvSpPr/>
          <p:nvPr>
            <p:ph type="body"/>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88" name=""/>
        <p:cNvGrpSpPr/>
        <p:nvPr/>
      </p:nvGrpSpPr>
      <p:grpSpPr/>
      <p:sp>
        <p:nvSpPr>
          <p:cNvPr id="1048844" name="幻灯片图像占位符 1"/>
          <p:cNvSpPr>
            <a:spLocks noGrp="1"/>
          </p:cNvSpPr>
          <p:nvPr>
            <p:ph type="sldImg" idx="2"/>
          </p:nvPr>
        </p:nvSpPr>
        <p:spPr/>
      </p:sp>
      <p:sp>
        <p:nvSpPr>
          <p:cNvPr id="1048845" name="文本占位符 2"/>
          <p:cNvSpPr>
            <a:spLocks noGrp="1"/>
          </p:cNvSpPr>
          <p:nvPr>
            <p:ph type="body" idx="3"/>
          </p:nvPr>
        </p:nvSpPr>
        <p:spPr/>
        <p:txBody>
          <a:bodyPr/>
          <a:p>
            <a:r>
              <a:rPr lang="zh-CN" altLang="en-US"/>
              <a:t>增加权益相关内容</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44" name=""/>
        <p:cNvGrpSpPr/>
        <p:nvPr/>
      </p:nvGrpSpPr>
      <p:grpSpPr/>
      <p:sp>
        <p:nvSpPr>
          <p:cNvPr id="1048634" name="幻灯片图像占位符 1"/>
          <p:cNvSpPr/>
          <p:nvPr>
            <p:ph type="sldImg" idx="2"/>
          </p:nvPr>
        </p:nvSpPr>
        <p:spPr/>
      </p:sp>
      <p:sp>
        <p:nvSpPr>
          <p:cNvPr id="1048635" name="文本占位符 2"/>
          <p:cNvSpPr/>
          <p:nvPr>
            <p:ph type="body" idx="3"/>
          </p:nvPr>
        </p:nvSpPr>
        <p:spPr/>
        <p:txBody>
          <a:bodyPr/>
          <a:p>
            <a:pPr algn="l"/>
            <a:r>
              <a:rPr kumimoji="1" lang="zh-CN" altLang="en-US" dirty="0">
                <a:latin typeface="微软雅黑" panose="020B0503020204020204" pitchFamily="34" charset="-122"/>
                <a:ea typeface="微软雅黑" panose="020B0503020204020204" pitchFamily="34" charset="-122"/>
                <a:sym typeface="+mn-ea"/>
              </a:rPr>
              <a:t>①汇聚全网产品数据，打造</a:t>
            </a:r>
            <a:r>
              <a:rPr kumimoji="1" lang="zh-CN" altLang="en-US" b="1" dirty="0">
                <a:solidFill>
                  <a:srgbClr val="0070C0"/>
                </a:solidFill>
                <a:latin typeface="微软雅黑" panose="020B0503020204020204" pitchFamily="34" charset="-122"/>
                <a:ea typeface="微软雅黑" panose="020B0503020204020204" pitchFamily="34" charset="-122"/>
                <a:sym typeface="+mn-ea"/>
              </a:rPr>
              <a:t>产品运营信息库</a:t>
            </a:r>
            <a:r>
              <a:rPr kumimoji="1" lang="zh-CN" altLang="en-US" dirty="0">
                <a:latin typeface="微软雅黑" panose="020B0503020204020204" pitchFamily="34" charset="-122"/>
                <a:ea typeface="微软雅黑" panose="020B0503020204020204" pitchFamily="34" charset="-122"/>
                <a:sym typeface="+mn-ea"/>
              </a:rPr>
              <a:t>；</a:t>
            </a:r>
            <a:endParaRPr kumimoji="1" lang="zh-CN" altLang="en-US" dirty="0">
              <a:latin typeface="微软雅黑" panose="020B0503020204020204" pitchFamily="34" charset="-122"/>
              <a:ea typeface="微软雅黑" panose="020B0503020204020204" pitchFamily="34" charset="-122"/>
              <a:sym typeface="+mn-ea"/>
            </a:endParaRPr>
          </a:p>
          <a:p>
            <a:pPr algn="l"/>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3ED9B55-FA85-4F48-95B5-29DAAE83F6DA}"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92" name=""/>
        <p:cNvGrpSpPr/>
        <p:nvPr/>
      </p:nvGrpSpPr>
      <p:grpSpPr/>
      <p:sp>
        <p:nvSpPr>
          <p:cNvPr id="1048849" name="幻灯片图像占位符 1"/>
          <p:cNvSpPr/>
          <p:nvPr>
            <p:ph type="sldImg" idx="2"/>
          </p:nvPr>
        </p:nvSpPr>
        <p:spPr/>
      </p:sp>
      <p:sp>
        <p:nvSpPr>
          <p:cNvPr id="1048850"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92" name=""/>
        <p:cNvGrpSpPr/>
        <p:nvPr/>
      </p:nvGrpSpPr>
      <p:grpSpPr/>
      <p:sp>
        <p:nvSpPr>
          <p:cNvPr id="1048849" name="幻灯片图像占位符 1"/>
          <p:cNvSpPr/>
          <p:nvPr>
            <p:ph type="sldImg" idx="2"/>
          </p:nvPr>
        </p:nvSpPr>
        <p:spPr/>
      </p:sp>
      <p:sp>
        <p:nvSpPr>
          <p:cNvPr id="1048850"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92" name=""/>
        <p:cNvGrpSpPr/>
        <p:nvPr/>
      </p:nvGrpSpPr>
      <p:grpSpPr/>
      <p:sp>
        <p:nvSpPr>
          <p:cNvPr id="1048849" name="幻灯片图像占位符 1"/>
          <p:cNvSpPr/>
          <p:nvPr>
            <p:ph type="sldImg" idx="2"/>
          </p:nvPr>
        </p:nvSpPr>
        <p:spPr/>
      </p:sp>
      <p:sp>
        <p:nvSpPr>
          <p:cNvPr id="1048850"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ChangeArrowheads="1" noTextEdit="1"/>
          </p:cNvSpPr>
          <p:nvPr>
            <p:ph type="sldImg" idx="4294967295"/>
          </p:nvPr>
        </p:nvSpPr>
        <p:spPr bwMode="auto">
          <a:ln>
            <a:solidFill>
              <a:srgbClr val="000000"/>
            </a:solidFill>
            <a:miter lim="800000"/>
          </a:ln>
        </p:spPr>
      </p:sp>
      <p:sp>
        <p:nvSpPr>
          <p:cNvPr id="24579"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Lst>
        </p:spPr>
        <p:txBody>
          <a:bodyPr wrap="square" numCol="1" anchor="t" anchorCtr="0" compatLnSpc="1"/>
          <a:lstStyle/>
          <a:p>
            <a:endParaRPr lang="zh-CN" altLang="en-US" dirty="0"/>
          </a:p>
        </p:txBody>
      </p:sp>
      <p:sp>
        <p:nvSpPr>
          <p:cNvPr id="2458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fld id="{8D5B2152-D688-4FE4-8496-0BF154BDABA6}"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1.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7" Type="http://schemas.openxmlformats.org/officeDocument/2006/relationships/image" Target="../media/image9.png"/><Relationship Id="rId6" Type="http://schemas.openxmlformats.org/officeDocument/2006/relationships/tags" Target="../tags/tag9.xml"/><Relationship Id="rId5" Type="http://schemas.openxmlformats.org/officeDocument/2006/relationships/image" Target="../media/image8.png"/><Relationship Id="rId4" Type="http://schemas.openxmlformats.org/officeDocument/2006/relationships/tags" Target="../tags/tag8.xml"/><Relationship Id="rId3" Type="http://schemas.microsoft.com/office/2007/relationships/hdphoto" Target="../media/image7.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1.png"/><Relationship Id="rId3" Type="http://schemas.microsoft.com/office/2007/relationships/hdphoto" Target="../media/image10.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image" Target="../media/image11.png"/><Relationship Id="rId5" Type="http://schemas.openxmlformats.org/officeDocument/2006/relationships/image" Target="../media/image1.png"/><Relationship Id="rId4" Type="http://schemas.openxmlformats.org/officeDocument/2006/relationships/image" Target="../media/image3.png"/><Relationship Id="rId3" Type="http://schemas.microsoft.com/office/2007/relationships/hdphoto" Target="../media/image10.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jpeg"/><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6" Type="http://schemas.openxmlformats.org/officeDocument/2006/relationships/image" Target="../media/image11.png"/><Relationship Id="rId5" Type="http://schemas.openxmlformats.org/officeDocument/2006/relationships/image" Target="../media/image1.png"/><Relationship Id="rId4" Type="http://schemas.openxmlformats.org/officeDocument/2006/relationships/image" Target="../media/image3.png"/><Relationship Id="rId3" Type="http://schemas.microsoft.com/office/2007/relationships/hdphoto" Target="../media/image10.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6" Type="http://schemas.openxmlformats.org/officeDocument/2006/relationships/image" Target="../media/image16.png"/><Relationship Id="rId5" Type="http://schemas.openxmlformats.org/officeDocument/2006/relationships/image" Target="../media/image1.png"/><Relationship Id="rId4" Type="http://schemas.openxmlformats.org/officeDocument/2006/relationships/image" Target="../media/image15.png"/><Relationship Id="rId3" Type="http://schemas.microsoft.com/office/2007/relationships/hdphoto" Target="../media/image10.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正文L">
    <p:spTree>
      <p:nvGrpSpPr>
        <p:cNvPr id="1" name=""/>
        <p:cNvGrpSpPr/>
        <p:nvPr/>
      </p:nvGrpSpPr>
      <p:grpSpPr>
        <a:xfrm>
          <a:off x="0" y="0"/>
          <a:ext cx="0" cy="0"/>
          <a:chOff x="0" y="0"/>
          <a:chExt cx="0" cy="0"/>
        </a:xfrm>
      </p:grpSpPr>
      <p:sp>
        <p:nvSpPr>
          <p:cNvPr id="3" name="矩形 2"/>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文档中的全部内容属</a:t>
            </a:r>
            <a:r>
              <a:rPr lang="zh-CN" altLang="en-US"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中国移动</a:t>
            </a:r>
            <a:r>
              <a:rPr lang="zh-CN" altLang="zh-CN"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所有，未经允许，不可全部或部分发表、复制、使用于任何目的</a:t>
            </a:r>
            <a:endParaRPr lang="zh-CN" altLang="en-US"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5" name="图片 4"/>
          <p:cNvPicPr>
            <a:picLocks noChangeAspect="1"/>
          </p:cNvPicPr>
          <p:nvPr userDrawn="1"/>
        </p:nvPicPr>
        <p:blipFill rotWithShape="1">
          <a:blip r:embed="rId2" cstate="screen"/>
          <a:srcRect t="28597" b="32462"/>
          <a:stretch>
            <a:fillRect/>
          </a:stretch>
        </p:blipFill>
        <p:spPr>
          <a:xfrm>
            <a:off x="10348713" y="141668"/>
            <a:ext cx="1852076" cy="540912"/>
          </a:xfrm>
          <a:prstGeom prst="rect">
            <a:avLst/>
          </a:prstGeom>
        </p:spPr>
      </p:pic>
      <p:sp>
        <p:nvSpPr>
          <p:cNvPr id="6" name="标题占位符 10"/>
          <p:cNvSpPr>
            <a:spLocks noGrp="1"/>
          </p:cNvSpPr>
          <p:nvPr>
            <p:ph type="title"/>
          </p:nvPr>
        </p:nvSpPr>
        <p:spPr>
          <a:xfrm>
            <a:off x="187817" y="92410"/>
            <a:ext cx="105156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1_空白">
    <p:spTree>
      <p:nvGrpSpPr>
        <p:cNvPr id="1" name=""/>
        <p:cNvGrpSpPr/>
        <p:nvPr/>
      </p:nvGrpSpPr>
      <p:grpSpPr>
        <a:xfrm>
          <a:off x="0" y="0"/>
          <a:ext cx="0" cy="0"/>
          <a:chOff x="0" y="0"/>
          <a:chExt cx="0" cy="0"/>
        </a:xfrm>
      </p:grpSpPr>
      <p:sp>
        <p:nvSpPr>
          <p:cNvPr id="5" name="TextBox 3"/>
          <p:cNvSpPr txBox="1"/>
          <p:nvPr userDrawn="1"/>
        </p:nvSpPr>
        <p:spPr>
          <a:xfrm>
            <a:off x="11744326" y="6481877"/>
            <a:ext cx="447676" cy="376120"/>
          </a:xfrm>
          <a:prstGeom prst="rect">
            <a:avLst/>
          </a:prstGeom>
          <a:noFill/>
        </p:spPr>
        <p:txBody>
          <a:bodyPr wrap="none" rtlCol="0" anchor="ctr" anchorCtr="0">
            <a:noAutofit/>
          </a:bodyPr>
          <a:lstStyle/>
          <a:p>
            <a:pPr algn="ctr" defTabSz="457200" fontAlgn="auto">
              <a:spcBef>
                <a:spcPts val="0"/>
              </a:spcBef>
              <a:spcAft>
                <a:spcPts val="0"/>
              </a:spcAft>
            </a:pPr>
            <a:fld id="{FDA8CB47-5F18-3A4B-AD3A-422A03DFB5D1}" type="slidenum">
              <a:rPr kumimoji="1" lang="zh-CN" altLang="en-US" sz="1100" smtClean="0">
                <a:solidFill>
                  <a:srgbClr val="8FC31F"/>
                </a:solidFill>
                <a:latin typeface="微软雅黑" panose="020B0503020204020204" pitchFamily="34" charset="-122"/>
                <a:ea typeface="微软雅黑" panose="020B0503020204020204" pitchFamily="34" charset="-122"/>
                <a:sym typeface="+mn-ea"/>
              </a:rPr>
            </a:fld>
            <a:endParaRPr kumimoji="1" lang="zh-CN" altLang="en-US" sz="1100" dirty="0">
              <a:solidFill>
                <a:srgbClr val="8FC31F"/>
              </a:solidFill>
              <a:latin typeface="微软雅黑" panose="020B0503020204020204" pitchFamily="34" charset="-122"/>
              <a:ea typeface="微软雅黑" panose="020B0503020204020204" pitchFamily="34" charset="-122"/>
              <a:sym typeface="+mn-ea"/>
            </a:endParaRPr>
          </a:p>
        </p:txBody>
      </p:sp>
      <p:sp>
        <p:nvSpPr>
          <p:cNvPr id="7" name="矩形 6"/>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文档中的全部内容属</a:t>
            </a:r>
            <a:r>
              <a:rPr lang="zh-CN" altLang="en-US"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中国移动</a:t>
            </a:r>
            <a:r>
              <a:rPr lang="zh-CN" altLang="zh-CN"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所有，未经允许，不可全部或部分发表、复制、使用于任何目的</a:t>
            </a:r>
            <a:endParaRPr lang="zh-CN" altLang="en-US"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8" name="图片 7"/>
          <p:cNvPicPr>
            <a:picLocks noChangeAspect="1"/>
          </p:cNvPicPr>
          <p:nvPr userDrawn="1"/>
        </p:nvPicPr>
        <p:blipFill rotWithShape="1">
          <a:blip r:embed="rId2" cstate="screen"/>
          <a:srcRect t="28597" b="32462"/>
          <a:stretch>
            <a:fillRect/>
          </a:stretch>
        </p:blipFill>
        <p:spPr>
          <a:xfrm>
            <a:off x="10348713" y="141668"/>
            <a:ext cx="1852076" cy="540912"/>
          </a:xfrm>
          <a:prstGeom prst="rect">
            <a:avLst/>
          </a:prstGeom>
        </p:spPr>
      </p:pic>
      <p:sp>
        <p:nvSpPr>
          <p:cNvPr id="9" name="标题占位符 10"/>
          <p:cNvSpPr>
            <a:spLocks noGrp="1"/>
          </p:cNvSpPr>
          <p:nvPr>
            <p:ph type="title"/>
          </p:nvPr>
        </p:nvSpPr>
        <p:spPr>
          <a:xfrm>
            <a:off x="187817" y="92410"/>
            <a:ext cx="105156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2_空白">
    <p:spTree>
      <p:nvGrpSpPr>
        <p:cNvPr id="1" name=""/>
        <p:cNvGrpSpPr/>
        <p:nvPr/>
      </p:nvGrpSpPr>
      <p:grpSpPr>
        <a:xfrm>
          <a:off x="0" y="0"/>
          <a:ext cx="0" cy="0"/>
          <a:chOff x="0" y="0"/>
          <a:chExt cx="0" cy="0"/>
        </a:xfrm>
      </p:grpSpPr>
      <p:sp>
        <p:nvSpPr>
          <p:cNvPr id="5" name="矩形 4"/>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文档中的全部内容属</a:t>
            </a:r>
            <a:r>
              <a:rPr lang="zh-CN" altLang="en-US"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中国移动</a:t>
            </a:r>
            <a:r>
              <a:rPr lang="zh-CN" altLang="zh-CN"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所有，未经允许，不可全部或部分发表、复制、使用于任何目的</a:t>
            </a:r>
            <a:endParaRPr lang="zh-CN" altLang="en-US"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6" name="图片 5"/>
          <p:cNvPicPr>
            <a:picLocks noChangeAspect="1"/>
          </p:cNvPicPr>
          <p:nvPr userDrawn="1"/>
        </p:nvPicPr>
        <p:blipFill rotWithShape="1">
          <a:blip r:embed="rId2" cstate="screen"/>
          <a:srcRect t="28597" b="32462"/>
          <a:stretch>
            <a:fillRect/>
          </a:stretch>
        </p:blipFill>
        <p:spPr>
          <a:xfrm>
            <a:off x="10348713" y="141668"/>
            <a:ext cx="1852076" cy="540912"/>
          </a:xfrm>
          <a:prstGeom prst="rect">
            <a:avLst/>
          </a:prstGeom>
        </p:spPr>
      </p:pic>
      <p:sp>
        <p:nvSpPr>
          <p:cNvPr id="7" name="标题占位符 10"/>
          <p:cNvSpPr>
            <a:spLocks noGrp="1"/>
          </p:cNvSpPr>
          <p:nvPr>
            <p:ph type="title"/>
          </p:nvPr>
        </p:nvSpPr>
        <p:spPr>
          <a:xfrm>
            <a:off x="187817" y="92410"/>
            <a:ext cx="10515600" cy="639427"/>
          </a:xfrm>
          <a:prstGeom prst="rect">
            <a:avLst/>
          </a:prstGeom>
        </p:spPr>
        <p:txBody>
          <a:bodyPr vert="horz" lIns="91440" tIns="45720" rIns="91440" bIns="45720" rtlCol="0" anchor="ctr">
            <a:normAutofit/>
          </a:bodyPr>
          <a:lstStyle>
            <a:lvl1pPr>
              <a:defRPr sz="2200"/>
            </a:lvl1pPr>
          </a:lstStyle>
          <a:p>
            <a:r>
              <a:rPr lang="zh-CN" altLang="en-US" dirty="0"/>
              <a:t>单击此处编辑母版标题样式</a:t>
            </a:r>
            <a:endParaRPr lang="zh-CN" altLang="en-US" dirty="0"/>
          </a:p>
        </p:txBody>
      </p:sp>
      <p:sp>
        <p:nvSpPr>
          <p:cNvPr id="8" name="TextBox 3"/>
          <p:cNvSpPr txBox="1"/>
          <p:nvPr userDrawn="1"/>
        </p:nvSpPr>
        <p:spPr>
          <a:xfrm>
            <a:off x="11740516" y="6576616"/>
            <a:ext cx="447675" cy="246221"/>
          </a:xfrm>
          <a:prstGeom prst="rect">
            <a:avLst/>
          </a:prstGeom>
          <a:noFill/>
        </p:spPr>
        <p:txBody>
          <a:bodyPr wrap="none" rtlCol="0" anchor="ctr" anchorCtr="0">
            <a:noAutofit/>
          </a:bodyPr>
          <a:lstStyle/>
          <a:p>
            <a:pPr algn="ctr">
              <a:lnSpc>
                <a:spcPct val="100000"/>
              </a:lnSpc>
              <a:buClrTx/>
              <a:buSzTx/>
              <a:buFontTx/>
            </a:pPr>
            <a:fld id="{FDA8CB47-5F18-3A4B-AD3A-422A03DFB5D1}" type="slidenum">
              <a:rPr kumimoji="1" lang="zh-CN" altLang="en-US" sz="1000" b="0" smtClean="0">
                <a:solidFill>
                  <a:schemeClr val="accent2"/>
                </a:solidFill>
                <a:latin typeface="微软雅黑" panose="020B0503020204020204" pitchFamily="34" charset="-122"/>
                <a:ea typeface="微软雅黑" panose="020B0503020204020204" pitchFamily="34" charset="-122"/>
                <a:sym typeface="+mn-ea"/>
              </a:rPr>
            </a:fld>
            <a:endParaRPr kumimoji="1" lang="zh-CN" altLang="en-US" sz="1000" b="0" dirty="0">
              <a:solidFill>
                <a:schemeClr val="accent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stretch>
            <a:fillRect/>
          </a:stretch>
        </p:blipFill>
        <p:spPr>
          <a:xfrm>
            <a:off x="0" y="0"/>
            <a:ext cx="12192000" cy="6858000"/>
          </a:xfrm>
          <a:prstGeom prst="rect">
            <a:avLst/>
          </a:prstGeom>
        </p:spPr>
      </p:pic>
      <p:pic>
        <p:nvPicPr>
          <p:cNvPr id="17" name="图片 16"/>
          <p:cNvPicPr>
            <a:picLocks noChangeAspect="1"/>
          </p:cNvPicPr>
          <p:nvPr userDrawn="1"/>
        </p:nvPicPr>
        <p:blipFill>
          <a:blip r:embed="rId3" cstate="print"/>
          <a:stretch>
            <a:fillRect/>
          </a:stretch>
        </p:blipFill>
        <p:spPr>
          <a:xfrm>
            <a:off x="568960" y="5873115"/>
            <a:ext cx="1287780" cy="808990"/>
          </a:xfrm>
          <a:prstGeom prst="rect">
            <a:avLst/>
          </a:prstGeom>
        </p:spPr>
      </p:pic>
      <p:sp>
        <p:nvSpPr>
          <p:cNvPr id="4" name="TextBox 3"/>
          <p:cNvSpPr txBox="1"/>
          <p:nvPr userDrawn="1"/>
        </p:nvSpPr>
        <p:spPr>
          <a:xfrm>
            <a:off x="11744324" y="6481877"/>
            <a:ext cx="447675" cy="376120"/>
          </a:xfrm>
          <a:prstGeom prst="rect">
            <a:avLst/>
          </a:prstGeom>
          <a:noFill/>
        </p:spPr>
        <p:txBody>
          <a:bodyPr wrap="none" rtlCol="0" anchor="ctr" anchorCtr="0">
            <a:noAutofit/>
          </a:bodyPr>
          <a:lstStyle/>
          <a:p>
            <a:pPr algn="ctr">
              <a:lnSpc>
                <a:spcPct val="100000"/>
              </a:lnSpc>
              <a:buClrTx/>
              <a:buSzTx/>
              <a:buFontTx/>
            </a:pPr>
            <a:fld id="{FDA8CB47-5F18-3A4B-AD3A-422A03DFB5D1}" type="slidenum">
              <a:rPr kumimoji="1" lang="zh-CN" altLang="en-US" sz="1100" b="0" smtClean="0">
                <a:solidFill>
                  <a:srgbClr val="8FC31F"/>
                </a:solidFill>
                <a:latin typeface="微软雅黑" panose="020B0503020204020204" pitchFamily="34" charset="-122"/>
                <a:ea typeface="微软雅黑" panose="020B0503020204020204" pitchFamily="34" charset="-122"/>
                <a:sym typeface="+mn-ea"/>
              </a:rPr>
            </a:fld>
            <a:endParaRPr kumimoji="1" lang="zh-CN" altLang="en-US" sz="1100" b="0" dirty="0">
              <a:solidFill>
                <a:srgbClr val="8FC31F"/>
              </a:solidFill>
              <a:latin typeface="微软雅黑" panose="020B0503020204020204" pitchFamily="34" charset="-122"/>
              <a:ea typeface="微软雅黑" panose="020B0503020204020204" pitchFamily="34" charset="-122"/>
              <a:sym typeface="+mn-ea"/>
            </a:endParaRPr>
          </a:p>
        </p:txBody>
      </p:sp>
      <p:sp>
        <p:nvSpPr>
          <p:cNvPr id="8" name="矩形 7"/>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文档中的全部内容属</a:t>
            </a:r>
            <a:r>
              <a:rPr lang="zh-CN" altLang="en-US"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中国移动</a:t>
            </a:r>
            <a:r>
              <a:rPr lang="zh-CN" altLang="zh-CN"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所有，未经允许，不可全部或部分发表、复制、使用于任何目的</a:t>
            </a:r>
            <a:endParaRPr lang="zh-CN" altLang="en-US"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9" name="图片 8"/>
          <p:cNvPicPr>
            <a:picLocks noChangeAspect="1"/>
          </p:cNvPicPr>
          <p:nvPr userDrawn="1"/>
        </p:nvPicPr>
        <p:blipFill rotWithShape="1">
          <a:blip r:embed="rId4" cstate="screen"/>
          <a:srcRect t="28597" b="32462"/>
          <a:stretch>
            <a:fillRect/>
          </a:stretch>
        </p:blipFill>
        <p:spPr>
          <a:xfrm>
            <a:off x="10348713" y="141668"/>
            <a:ext cx="1852076" cy="540912"/>
          </a:xfrm>
          <a:prstGeom prst="rect">
            <a:avLst/>
          </a:prstGeom>
        </p:spPr>
      </p:pic>
      <p:sp>
        <p:nvSpPr>
          <p:cNvPr id="11" name="标题占位符 10"/>
          <p:cNvSpPr>
            <a:spLocks noGrp="1"/>
          </p:cNvSpPr>
          <p:nvPr>
            <p:ph type="title"/>
          </p:nvPr>
        </p:nvSpPr>
        <p:spPr>
          <a:xfrm>
            <a:off x="187817" y="92410"/>
            <a:ext cx="105156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303515" y="7450733"/>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807515" y="7450733"/>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569115" y="7450733"/>
            <a:ext cx="2700000" cy="316800"/>
          </a:xfrm>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stretch>
            <a:fillRect/>
          </a:stretch>
        </p:blipFill>
        <p:spPr>
          <a:xfrm>
            <a:off x="0" y="214"/>
            <a:ext cx="12192000" cy="6858000"/>
          </a:xfrm>
          <a:prstGeom prst="rect">
            <a:avLst/>
          </a:prstGeom>
        </p:spPr>
      </p:pic>
      <p:sp>
        <p:nvSpPr>
          <p:cNvPr id="24" name="Title Placeholder 1"/>
          <p:cNvSpPr>
            <a:spLocks noGrp="1"/>
          </p:cNvSpPr>
          <p:nvPr>
            <p:ph type="title" hasCustomPrompt="1"/>
          </p:nvPr>
        </p:nvSpPr>
        <p:spPr>
          <a:xfrm>
            <a:off x="838200" y="1997544"/>
            <a:ext cx="10515600" cy="839786"/>
          </a:xfrm>
          <a:prstGeom prst="rect">
            <a:avLst/>
          </a:prstGeom>
        </p:spPr>
        <p:txBody>
          <a:bodyPr vert="horz" lIns="91440" tIns="45720" rIns="91440" bIns="45720" rtlCol="0" anchor="ctr">
            <a:normAutofit/>
          </a:bodyPr>
          <a:lstStyle>
            <a:lvl1pPr algn="ctr">
              <a:defRPr sz="4400" b="1">
                <a:solidFill>
                  <a:srgbClr val="0B85CF"/>
                </a:solidFill>
                <a:latin typeface="微软雅黑" panose="020B0503020204020204" pitchFamily="34" charset="-122"/>
                <a:ea typeface="微软雅黑" panose="020B0503020204020204" pitchFamily="34" charset="-122"/>
              </a:defRPr>
            </a:lvl1pPr>
          </a:lstStyle>
          <a:p>
            <a:r>
              <a:rPr lang="en-US" dirty="0" err="1"/>
              <a:t>单击此处输入正标题</a:t>
            </a:r>
            <a:endParaRPr lang="en-US" dirty="0"/>
          </a:p>
        </p:txBody>
      </p:sp>
      <p:grpSp>
        <p:nvGrpSpPr>
          <p:cNvPr id="2" name="组合 1"/>
          <p:cNvGrpSpPr/>
          <p:nvPr userDrawn="1"/>
        </p:nvGrpSpPr>
        <p:grpSpPr>
          <a:xfrm>
            <a:off x="8929156" y="40648"/>
            <a:ext cx="3227035" cy="1067978"/>
            <a:chOff x="322377" y="128913"/>
            <a:chExt cx="3227035" cy="1067978"/>
          </a:xfrm>
        </p:grpSpPr>
        <p:pic>
          <p:nvPicPr>
            <p:cNvPr id="3" name="图片 2"/>
            <p:cNvPicPr>
              <a:picLocks noChangeAspect="1"/>
            </p:cNvPicPr>
            <p:nvPr userDrawn="1"/>
          </p:nvPicPr>
          <p:blipFill rotWithShape="1">
            <a:blip r:embed="rId3" cstate="print"/>
            <a:srcRect t="22265" b="22265"/>
            <a:stretch>
              <a:fillRect/>
            </a:stretch>
          </p:blipFill>
          <p:spPr>
            <a:xfrm>
              <a:off x="322377" y="278431"/>
              <a:ext cx="2207678" cy="918460"/>
            </a:xfrm>
            <a:prstGeom prst="rect">
              <a:avLst/>
            </a:prstGeom>
          </p:spPr>
        </p:pic>
        <p:pic>
          <p:nvPicPr>
            <p:cNvPr id="4" name="图片 3"/>
            <p:cNvPicPr>
              <a:picLocks noChangeAspect="1"/>
            </p:cNvPicPr>
            <p:nvPr userDrawn="1"/>
          </p:nvPicPr>
          <p:blipFill>
            <a:blip r:embed="rId4" cstate="print"/>
            <a:stretch>
              <a:fillRect/>
            </a:stretch>
          </p:blipFill>
          <p:spPr>
            <a:xfrm>
              <a:off x="2264108" y="128913"/>
              <a:ext cx="1285304" cy="963978"/>
            </a:xfrm>
            <a:prstGeom prst="rect">
              <a:avLst/>
            </a:prstGeom>
          </p:spPr>
        </p:pic>
      </p:grpSp>
      <p:sp>
        <p:nvSpPr>
          <p:cNvPr id="18" name="文本占位符 17"/>
          <p:cNvSpPr>
            <a:spLocks noGrp="1"/>
          </p:cNvSpPr>
          <p:nvPr>
            <p:ph type="body" sz="quarter" idx="10" hasCustomPrompt="1"/>
          </p:nvPr>
        </p:nvSpPr>
        <p:spPr>
          <a:xfrm>
            <a:off x="838200" y="2952362"/>
            <a:ext cx="10515600" cy="877888"/>
          </a:xfrm>
          <a:prstGeom prst="rect">
            <a:avLst/>
          </a:prstGeom>
        </p:spPr>
        <p:txBody>
          <a:bodyPr anchor="ctr">
            <a:noAutofit/>
          </a:bodyPr>
          <a:lstStyle>
            <a:lvl1pPr marL="0" indent="0" algn="ctr">
              <a:buNone/>
              <a:defRPr sz="3600">
                <a:solidFill>
                  <a:schemeClr val="accent2"/>
                </a:solidFill>
                <a:latin typeface="微软雅黑" panose="020B0503020204020204" pitchFamily="34" charset="-122"/>
                <a:ea typeface="微软雅黑" panose="020B0503020204020204" pitchFamily="34" charset="-122"/>
              </a:defRPr>
            </a:lvl1pPr>
            <a:lvl2pPr marL="457200" indent="0">
              <a:buNone/>
              <a:defRPr sz="3400">
                <a:latin typeface="微软雅黑" panose="020B0503020204020204" pitchFamily="34" charset="-122"/>
                <a:ea typeface="微软雅黑" panose="020B0503020204020204" pitchFamily="34" charset="-122"/>
              </a:defRPr>
            </a:lvl2pPr>
            <a:lvl3pPr marL="914400" indent="0">
              <a:buNone/>
              <a:defRPr sz="3400">
                <a:latin typeface="微软雅黑" panose="020B0503020204020204" pitchFamily="34" charset="-122"/>
                <a:ea typeface="微软雅黑" panose="020B0503020204020204" pitchFamily="34" charset="-122"/>
              </a:defRPr>
            </a:lvl3pPr>
            <a:lvl4pPr marL="1371600" indent="0">
              <a:buNone/>
              <a:defRPr sz="3400">
                <a:latin typeface="微软雅黑" panose="020B0503020204020204" pitchFamily="34" charset="-122"/>
                <a:ea typeface="微软雅黑" panose="020B0503020204020204" pitchFamily="34" charset="-122"/>
              </a:defRPr>
            </a:lvl4pPr>
            <a:lvl5pPr marL="1828800" indent="0">
              <a:buNone/>
              <a:defRPr sz="3400">
                <a:latin typeface="微软雅黑" panose="020B0503020204020204" pitchFamily="34" charset="-122"/>
                <a:ea typeface="微软雅黑" panose="020B0503020204020204" pitchFamily="34" charset="-122"/>
              </a:defRPr>
            </a:lvl5pPr>
          </a:lstStyle>
          <a:p>
            <a:pPr lvl="0"/>
            <a:r>
              <a:rPr kumimoji="1" lang="zh-CN" altLang="en-US" dirty="0"/>
              <a:t>单击此处输入副标题</a:t>
            </a:r>
            <a:endParaRPr kumimoji="1" lang="zh-CN" altLang="en-US" dirty="0"/>
          </a:p>
        </p:txBody>
      </p:sp>
      <p:sp>
        <p:nvSpPr>
          <p:cNvPr id="21" name="文本占位符 17"/>
          <p:cNvSpPr>
            <a:spLocks noGrp="1"/>
          </p:cNvSpPr>
          <p:nvPr>
            <p:ph type="body" sz="quarter" idx="11" hasCustomPrompt="1"/>
          </p:nvPr>
        </p:nvSpPr>
        <p:spPr>
          <a:xfrm>
            <a:off x="838200" y="4267200"/>
            <a:ext cx="10515600" cy="558130"/>
          </a:xfrm>
          <a:prstGeom prst="rect">
            <a:avLst/>
          </a:prstGeom>
        </p:spPr>
        <p:txBody>
          <a:bodyPr anchor="ctr">
            <a:noAutofit/>
          </a:bodyPr>
          <a:lstStyle>
            <a:lvl1pPr marL="0" indent="0" algn="ctr">
              <a:buNone/>
              <a:defRPr sz="2000">
                <a:solidFill>
                  <a:schemeClr val="tx1"/>
                </a:solidFill>
                <a:latin typeface="微软雅黑" panose="020B0503020204020204" pitchFamily="34" charset="-122"/>
                <a:ea typeface="微软雅黑" panose="020B0503020204020204" pitchFamily="34" charset="-122"/>
              </a:defRPr>
            </a:lvl1pPr>
            <a:lvl2pPr marL="457200" indent="0">
              <a:buNone/>
              <a:defRPr sz="3400">
                <a:latin typeface="微软雅黑" panose="020B0503020204020204" pitchFamily="34" charset="-122"/>
                <a:ea typeface="微软雅黑" panose="020B0503020204020204" pitchFamily="34" charset="-122"/>
              </a:defRPr>
            </a:lvl2pPr>
            <a:lvl3pPr marL="914400" indent="0">
              <a:buNone/>
              <a:defRPr sz="3400">
                <a:latin typeface="微软雅黑" panose="020B0503020204020204" pitchFamily="34" charset="-122"/>
                <a:ea typeface="微软雅黑" panose="020B0503020204020204" pitchFamily="34" charset="-122"/>
              </a:defRPr>
            </a:lvl3pPr>
            <a:lvl4pPr marL="1371600" indent="0">
              <a:buNone/>
              <a:defRPr sz="3400">
                <a:latin typeface="微软雅黑" panose="020B0503020204020204" pitchFamily="34" charset="-122"/>
                <a:ea typeface="微软雅黑" panose="020B0503020204020204" pitchFamily="34" charset="-122"/>
              </a:defRPr>
            </a:lvl4pPr>
            <a:lvl5pPr marL="1828800" indent="0">
              <a:buNone/>
              <a:defRPr sz="3400">
                <a:latin typeface="微软雅黑" panose="020B0503020204020204" pitchFamily="34" charset="-122"/>
                <a:ea typeface="微软雅黑" panose="020B0503020204020204" pitchFamily="34" charset="-122"/>
              </a:defRPr>
            </a:lvl5pPr>
          </a:lstStyle>
          <a:p>
            <a:pPr lvl="0"/>
            <a:r>
              <a:rPr kumimoji="1" lang="zh-CN" altLang="en-US" dirty="0"/>
              <a:t>单击此处输入汇报部门 汇报人</a:t>
            </a:r>
            <a:endParaRPr kumimoji="1" lang="zh-CN" altLang="en-US" dirty="0"/>
          </a:p>
        </p:txBody>
      </p:sp>
      <p:sp>
        <p:nvSpPr>
          <p:cNvPr id="22" name="文本占位符 17"/>
          <p:cNvSpPr>
            <a:spLocks noGrp="1"/>
          </p:cNvSpPr>
          <p:nvPr>
            <p:ph type="body" sz="quarter" idx="12" hasCustomPrompt="1"/>
          </p:nvPr>
        </p:nvSpPr>
        <p:spPr>
          <a:xfrm>
            <a:off x="838200" y="4930589"/>
            <a:ext cx="10515600" cy="394447"/>
          </a:xfrm>
          <a:prstGeom prst="rect">
            <a:avLst/>
          </a:prstGeom>
        </p:spPr>
        <p:txBody>
          <a:bodyPr anchor="ctr">
            <a:noAutofit/>
          </a:bodyPr>
          <a:lstStyle>
            <a:lvl1pPr marL="0" indent="0" algn="ctr">
              <a:buNone/>
              <a:defRPr sz="1600">
                <a:solidFill>
                  <a:schemeClr val="accent3"/>
                </a:solidFill>
                <a:latin typeface="微软雅黑" panose="020B0503020204020204" pitchFamily="34" charset="-122"/>
                <a:ea typeface="微软雅黑" panose="020B0503020204020204" pitchFamily="34" charset="-122"/>
              </a:defRPr>
            </a:lvl1pPr>
            <a:lvl2pPr marL="457200" indent="0">
              <a:buNone/>
              <a:defRPr sz="3400">
                <a:latin typeface="微软雅黑" panose="020B0503020204020204" pitchFamily="34" charset="-122"/>
                <a:ea typeface="微软雅黑" panose="020B0503020204020204" pitchFamily="34" charset="-122"/>
              </a:defRPr>
            </a:lvl2pPr>
            <a:lvl3pPr marL="914400" indent="0">
              <a:buNone/>
              <a:defRPr sz="3400">
                <a:latin typeface="微软雅黑" panose="020B0503020204020204" pitchFamily="34" charset="-122"/>
                <a:ea typeface="微软雅黑" panose="020B0503020204020204" pitchFamily="34" charset="-122"/>
              </a:defRPr>
            </a:lvl3pPr>
            <a:lvl4pPr marL="1371600" indent="0">
              <a:buNone/>
              <a:defRPr sz="3400">
                <a:latin typeface="微软雅黑" panose="020B0503020204020204" pitchFamily="34" charset="-122"/>
                <a:ea typeface="微软雅黑" panose="020B0503020204020204" pitchFamily="34" charset="-122"/>
              </a:defRPr>
            </a:lvl4pPr>
            <a:lvl5pPr marL="1828800" indent="0">
              <a:buNone/>
              <a:defRPr sz="3400">
                <a:latin typeface="微软雅黑" panose="020B0503020204020204" pitchFamily="34" charset="-122"/>
                <a:ea typeface="微软雅黑" panose="020B0503020204020204" pitchFamily="34" charset="-122"/>
              </a:defRPr>
            </a:lvl5pPr>
          </a:lstStyle>
          <a:p>
            <a:pPr lvl="0"/>
            <a:r>
              <a:rPr kumimoji="1" lang="zh-CN" altLang="en-US" dirty="0"/>
              <a:t>单击此处输入汇报日期：</a:t>
            </a:r>
            <a:r>
              <a:rPr kumimoji="1" lang="en-US" altLang="zh-CN" dirty="0"/>
              <a:t>YYYY-MM-DD</a:t>
            </a:r>
            <a:endParaRPr kumimoji="1" lang="zh-CN" altLang="en-US" dirty="0"/>
          </a:p>
        </p:txBody>
      </p:sp>
      <p:sp>
        <p:nvSpPr>
          <p:cNvPr id="23" name="文本框 2"/>
          <p:cNvSpPr txBox="1">
            <a:spLocks noChangeArrowheads="1"/>
          </p:cNvSpPr>
          <p:nvPr userDrawn="1"/>
        </p:nvSpPr>
        <p:spPr bwMode="auto">
          <a:xfrm>
            <a:off x="319295" y="255735"/>
            <a:ext cx="1857396" cy="523220"/>
          </a:xfrm>
          <a:prstGeom prst="rect">
            <a:avLst/>
          </a:prstGeom>
          <a:noFill/>
          <a:ln w="9525">
            <a:solidFill>
              <a:schemeClr val="accent5"/>
            </a:solidFill>
            <a:miter lim="800000"/>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spAutoFit/>
          </a:bodyPr>
          <a:lstStyle/>
          <a:p>
            <a:pPr algn="ctr">
              <a:spcAft>
                <a:spcPts val="0"/>
              </a:spcAft>
            </a:pPr>
            <a:r>
              <a:rPr lang="zh-CN" altLang="en-US" sz="2800" b="0" i="0" kern="1200" dirty="0">
                <a:ln>
                  <a:noFill/>
                </a:ln>
                <a:solidFill>
                  <a:schemeClr val="accent5"/>
                </a:solidFill>
                <a:effectLst/>
                <a:latin typeface="微软雅黑 Light" panose="020B0502040204020203" pitchFamily="34" charset="-122"/>
                <a:ea typeface="微软雅黑 Light" panose="020B0502040204020203" pitchFamily="34" charset="-122"/>
                <a:cs typeface="+mn-ea"/>
                <a:sym typeface="+mn-lt"/>
              </a:rPr>
              <a:t>核心商密</a:t>
            </a:r>
            <a:endParaRPr lang="zh-CN" altLang="en-US" sz="1800" b="0" i="0" dirty="0">
              <a:ln>
                <a:noFill/>
              </a:ln>
              <a:solidFill>
                <a:schemeClr val="accent5"/>
              </a:solidFill>
              <a:effectLst/>
              <a:latin typeface="微软雅黑 Light" panose="020B0502040204020203" pitchFamily="34" charset="-122"/>
              <a:ea typeface="微软雅黑 Light" panose="020B0502040204020203" pitchFamily="34" charset="-122"/>
              <a:cs typeface="+mn-ea"/>
              <a:sym typeface="+mn-lt"/>
            </a:endParaRPr>
          </a:p>
        </p:txBody>
      </p:sp>
      <p:sp>
        <p:nvSpPr>
          <p:cNvPr id="11" name="矩形 10"/>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文档中的全部内容属</a:t>
            </a:r>
            <a:r>
              <a:rPr lang="zh-CN" altLang="en-US"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中国移动</a:t>
            </a:r>
            <a:r>
              <a:rPr lang="zh-CN" altLang="zh-CN"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所有，未经允许，不可全部或部分发表、复制、使用于任何目的</a:t>
            </a:r>
            <a:endParaRPr lang="zh-CN" altLang="en-US"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2_标题_内容">
    <p:spTree>
      <p:nvGrpSpPr>
        <p:cNvPr id="1" name=""/>
        <p:cNvGrpSpPr/>
        <p:nvPr/>
      </p:nvGrpSpPr>
      <p:grpSpPr>
        <a:xfrm>
          <a:off x="0" y="0"/>
          <a:ext cx="0" cy="0"/>
          <a:chOff x="0" y="0"/>
          <a:chExt cx="0" cy="0"/>
        </a:xfrm>
      </p:grpSpPr>
      <p:sp>
        <p:nvSpPr>
          <p:cNvPr id="4" name="TextBox 3"/>
          <p:cNvSpPr txBox="1"/>
          <p:nvPr userDrawn="1"/>
        </p:nvSpPr>
        <p:spPr>
          <a:xfrm>
            <a:off x="11806239" y="6611780"/>
            <a:ext cx="447675" cy="246221"/>
          </a:xfrm>
          <a:prstGeom prst="rect">
            <a:avLst/>
          </a:prstGeom>
          <a:noFill/>
        </p:spPr>
        <p:txBody>
          <a:bodyPr wrap="none" rtlCol="0" anchor="ctr" anchorCtr="0">
            <a:noAutofit/>
          </a:bodyPr>
          <a:lstStyle/>
          <a:p>
            <a:pPr marL="0" marR="0" lvl="0" indent="0" algn="r" defTabSz="457200" rtl="0" eaLnBrk="1" fontAlgn="auto" latinLnBrk="0" hangingPunct="1">
              <a:lnSpc>
                <a:spcPct val="100000"/>
              </a:lnSpc>
              <a:spcBef>
                <a:spcPts val="0"/>
              </a:spcBef>
              <a:spcAft>
                <a:spcPts val="0"/>
              </a:spcAft>
              <a:buClrTx/>
              <a:buSzTx/>
              <a:buFontTx/>
              <a:buNone/>
              <a:defRPr/>
            </a:pPr>
            <a:fld id="{FDA8CB47-5F18-3A4B-AD3A-422A03DFB5D1}" type="slidenum">
              <a:rPr kumimoji="1" lang="zh-CN" altLang="en-US" sz="1000" b="0" i="0" u="none" strike="noStrike" kern="1200" cap="none" spc="0" normalizeH="0" baseline="0" noProof="0" smtClean="0">
                <a:ln>
                  <a:noFill/>
                </a:ln>
                <a:solidFill>
                  <a:srgbClr val="8CC121"/>
                </a:solidFill>
                <a:effectLst/>
                <a:uLnTx/>
                <a:uFillTx/>
                <a:latin typeface="微软雅黑" panose="020B0503020204020204" pitchFamily="34" charset="-122"/>
                <a:ea typeface="微软雅黑" panose="020B0503020204020204" pitchFamily="34" charset="-122"/>
                <a:cs typeface="+mn-cs"/>
                <a:sym typeface="+mn-ea"/>
              </a:rPr>
            </a:fld>
            <a:endParaRPr kumimoji="1" lang="zh-CN" altLang="en-US" sz="1000" b="0" i="0" u="none" strike="noStrike" kern="1200" cap="none" spc="0" normalizeH="0" baseline="0" noProof="0" dirty="0">
              <a:ln>
                <a:noFill/>
              </a:ln>
              <a:solidFill>
                <a:srgbClr val="8CC12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9" name="矩形 8"/>
          <p:cNvSpPr/>
          <p:nvPr userDrawn="1"/>
        </p:nvSpPr>
        <p:spPr>
          <a:xfrm>
            <a:off x="515939" y="6576618"/>
            <a:ext cx="10708640" cy="246221"/>
          </a:xfrm>
          <a:prstGeom prst="rect">
            <a:avLst/>
          </a:prstGeom>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文档中的全部内容属</a:t>
            </a:r>
            <a:r>
              <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中国移动</a:t>
            </a: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所有，未经允许，不可全部或部分发表、复制、使用于任何目的</a:t>
            </a:r>
            <a:endPar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endParaRPr>
          </a:p>
        </p:txBody>
      </p:sp>
      <p:pic>
        <p:nvPicPr>
          <p:cNvPr id="11" name="图片 10"/>
          <p:cNvPicPr>
            <a:picLocks noChangeAspect="1"/>
          </p:cNvPicPr>
          <p:nvPr userDrawn="1"/>
        </p:nvPicPr>
        <p:blipFill rotWithShape="1">
          <a:blip r:embed="rId2" cstate="screen"/>
          <a:srcRect t="28597" b="32462"/>
          <a:stretch>
            <a:fillRect/>
          </a:stretch>
        </p:blipFill>
        <p:spPr>
          <a:xfrm>
            <a:off x="10326768" y="229448"/>
            <a:ext cx="1852076" cy="540912"/>
          </a:xfrm>
          <a:prstGeom prst="rect">
            <a:avLst/>
          </a:prstGeom>
        </p:spPr>
      </p:pic>
      <p:sp>
        <p:nvSpPr>
          <p:cNvPr id="12" name="标题占位符 10"/>
          <p:cNvSpPr>
            <a:spLocks noGrp="1"/>
          </p:cNvSpPr>
          <p:nvPr>
            <p:ph type="title"/>
          </p:nvPr>
        </p:nvSpPr>
        <p:spPr>
          <a:xfrm>
            <a:off x="150829" y="274371"/>
            <a:ext cx="9577633" cy="486572"/>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2" name="矩形 1"/>
          <p:cNvSpPr/>
          <p:nvPr userDrawn="1"/>
        </p:nvSpPr>
        <p:spPr>
          <a:xfrm>
            <a:off x="-1" y="802083"/>
            <a:ext cx="11052000" cy="72000"/>
          </a:xfrm>
          <a:prstGeom prst="rect">
            <a:avLst/>
          </a:prstGeom>
          <a:gradFill>
            <a:gsLst>
              <a:gs pos="100000">
                <a:schemeClr val="bg1"/>
              </a:gs>
              <a:gs pos="30000">
                <a:schemeClr val="accent1">
                  <a:lumMod val="45000"/>
                  <a:lumOff val="55000"/>
                </a:schemeClr>
              </a:gs>
              <a:gs pos="0">
                <a:srgbClr val="1184CF"/>
              </a:gs>
              <a:gs pos="100000">
                <a:schemeClr val="accent1">
                  <a:lumMod val="30000"/>
                  <a:lumOff val="7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占位符 4"/>
          <p:cNvSpPr>
            <a:spLocks noGrp="1"/>
          </p:cNvSpPr>
          <p:nvPr>
            <p:ph type="body" sz="quarter" idx="10"/>
          </p:nvPr>
        </p:nvSpPr>
        <p:spPr>
          <a:xfrm>
            <a:off x="0" y="931285"/>
            <a:ext cx="12178844" cy="539750"/>
          </a:xfrm>
          <a:prstGeom prst="rect">
            <a:avLst/>
          </a:prstGeom>
        </p:spPr>
        <p:txBody>
          <a:bodyPr lIns="540000" rIns="540000"/>
          <a:lstStyle>
            <a:lvl1pPr marL="0" indent="-285750">
              <a:buClr>
                <a:srgbClr val="009CE2"/>
              </a:buClr>
              <a:buFont typeface="Wingdings" panose="05000000000000000000" pitchFamily="2" charset="2"/>
              <a:buChar char="n"/>
              <a:defRPr kumimoji="0" lang="zh-CN" altLang="en-US" sz="1400" b="1" i="0" u="none" strike="noStrike" kern="0" cap="none" spc="0" normalizeH="0" baseline="0" dirty="0" smtClean="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defRPr>
            </a:lvl1pPr>
            <a:lvl2pPr marL="457200" indent="0">
              <a:buNone/>
              <a:defRPr kumimoji="0" lang="zh-CN" altLang="en-US" sz="1400" b="1" i="0" u="none" strike="noStrike" kern="0" cap="none" spc="0" normalizeH="0" baseline="0" dirty="0" smtClean="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defRPr>
            </a:lvl2pPr>
          </a:lstStyle>
          <a:p>
            <a:pPr marL="0" marR="0" lvl="0" indent="-285750" algn="l" defTabSz="914400" rtl="0" eaLnBrk="1" fontAlgn="auto" latinLnBrk="0" hangingPunct="1">
              <a:lnSpc>
                <a:spcPct val="90000"/>
              </a:lnSpc>
              <a:spcBef>
                <a:spcPts val="1000"/>
              </a:spcBef>
              <a:spcAft>
                <a:spcPts val="0"/>
              </a:spcAft>
              <a:buClr>
                <a:srgbClr val="009CE2"/>
              </a:buClr>
              <a:buSzTx/>
              <a:buFont typeface="Wingdings" panose="05000000000000000000" pitchFamily="2" charset="2"/>
              <a:buChar char="n"/>
              <a:defRPr/>
            </a:pPr>
            <a:r>
              <a:rPr lang="zh-CN" altLang="en-US" dirty="0"/>
              <a:t>单击此处编辑母版文本样式</a:t>
            </a:r>
            <a:endParaRPr lang="zh-CN" altLang="en-US" dirty="0"/>
          </a:p>
          <a:p>
            <a:pPr marL="0" marR="0" lvl="0" indent="-285750" algn="l" defTabSz="914400" rtl="0" eaLnBrk="1" fontAlgn="auto" latinLnBrk="0" hangingPunct="1">
              <a:lnSpc>
                <a:spcPct val="90000"/>
              </a:lnSpc>
              <a:spcBef>
                <a:spcPts val="1000"/>
              </a:spcBef>
              <a:spcAft>
                <a:spcPts val="0"/>
              </a:spcAft>
              <a:buClr>
                <a:srgbClr val="009CE2"/>
              </a:buClr>
              <a:buSzTx/>
              <a:buFont typeface="Wingdings" panose="05000000000000000000" pitchFamily="2" charset="2"/>
              <a:buChar char="n"/>
              <a:defRPr/>
            </a:pPr>
            <a:endParaRPr lang="zh-CN" altLang="en-US" dirty="0"/>
          </a:p>
          <a:p>
            <a:pPr lvl="0"/>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标题_内容">
    <p:spTree>
      <p:nvGrpSpPr>
        <p:cNvPr id="1" name=""/>
        <p:cNvGrpSpPr/>
        <p:nvPr/>
      </p:nvGrpSpPr>
      <p:grpSpPr>
        <a:xfrm>
          <a:off x="0" y="0"/>
          <a:ext cx="0" cy="0"/>
          <a:chOff x="0" y="0"/>
          <a:chExt cx="0" cy="0"/>
        </a:xfrm>
      </p:grpSpPr>
      <p:sp>
        <p:nvSpPr>
          <p:cNvPr id="4" name="TextBox 3"/>
          <p:cNvSpPr txBox="1"/>
          <p:nvPr userDrawn="1"/>
        </p:nvSpPr>
        <p:spPr>
          <a:xfrm>
            <a:off x="11806239" y="6611780"/>
            <a:ext cx="447675" cy="246221"/>
          </a:xfrm>
          <a:prstGeom prst="rect">
            <a:avLst/>
          </a:prstGeom>
          <a:noFill/>
        </p:spPr>
        <p:txBody>
          <a:bodyPr wrap="none" rtlCol="0" anchor="ctr" anchorCtr="0">
            <a:noAutofit/>
          </a:bodyPr>
          <a:lstStyle/>
          <a:p>
            <a:pPr marL="0" marR="0" lvl="0" indent="0" algn="r" defTabSz="457200" rtl="0" eaLnBrk="1" fontAlgn="auto" latinLnBrk="0" hangingPunct="1">
              <a:lnSpc>
                <a:spcPct val="100000"/>
              </a:lnSpc>
              <a:spcBef>
                <a:spcPts val="0"/>
              </a:spcBef>
              <a:spcAft>
                <a:spcPts val="0"/>
              </a:spcAft>
              <a:buClrTx/>
              <a:buSzTx/>
              <a:buFontTx/>
              <a:buNone/>
              <a:defRPr/>
            </a:pPr>
            <a:fld id="{FDA8CB47-5F18-3A4B-AD3A-422A03DFB5D1}" type="slidenum">
              <a:rPr kumimoji="1" lang="zh-CN" altLang="en-US" sz="1000" b="0" i="0" u="none" strike="noStrike" kern="1200" cap="none" spc="0" normalizeH="0" baseline="0" noProof="0" smtClean="0">
                <a:ln>
                  <a:noFill/>
                </a:ln>
                <a:solidFill>
                  <a:srgbClr val="8CC121"/>
                </a:solidFill>
                <a:effectLst/>
                <a:uLnTx/>
                <a:uFillTx/>
                <a:latin typeface="微软雅黑" panose="020B0503020204020204" pitchFamily="34" charset="-122"/>
                <a:ea typeface="微软雅黑" panose="020B0503020204020204" pitchFamily="34" charset="-122"/>
                <a:cs typeface="+mn-cs"/>
                <a:sym typeface="+mn-ea"/>
              </a:rPr>
            </a:fld>
            <a:endParaRPr kumimoji="1" lang="zh-CN" altLang="en-US" sz="1000" b="0" i="0" u="none" strike="noStrike" kern="1200" cap="none" spc="0" normalizeH="0" baseline="0" noProof="0" dirty="0">
              <a:ln>
                <a:noFill/>
              </a:ln>
              <a:solidFill>
                <a:srgbClr val="8CC12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9" name="矩形 8"/>
          <p:cNvSpPr/>
          <p:nvPr userDrawn="1"/>
        </p:nvSpPr>
        <p:spPr>
          <a:xfrm>
            <a:off x="515939" y="6576618"/>
            <a:ext cx="10708640" cy="246221"/>
          </a:xfrm>
          <a:prstGeom prst="rect">
            <a:avLst/>
          </a:prstGeom>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文档中的全部内容属</a:t>
            </a:r>
            <a:r>
              <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中国移动</a:t>
            </a: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所有，未经允许，不可全部或部分发表、复制、使用于任何目的</a:t>
            </a:r>
            <a:endPar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endParaRPr>
          </a:p>
        </p:txBody>
      </p:sp>
      <p:pic>
        <p:nvPicPr>
          <p:cNvPr id="11" name="图片 10"/>
          <p:cNvPicPr>
            <a:picLocks noChangeAspect="1"/>
          </p:cNvPicPr>
          <p:nvPr userDrawn="1"/>
        </p:nvPicPr>
        <p:blipFill rotWithShape="1">
          <a:blip r:embed="rId2" cstate="screen"/>
          <a:srcRect t="28597" b="32462"/>
          <a:stretch>
            <a:fillRect/>
          </a:stretch>
        </p:blipFill>
        <p:spPr>
          <a:xfrm>
            <a:off x="10326768" y="229448"/>
            <a:ext cx="1852076" cy="540912"/>
          </a:xfrm>
          <a:prstGeom prst="rect">
            <a:avLst/>
          </a:prstGeom>
        </p:spPr>
      </p:pic>
      <p:sp>
        <p:nvSpPr>
          <p:cNvPr id="12" name="标题占位符 10"/>
          <p:cNvSpPr>
            <a:spLocks noGrp="1"/>
          </p:cNvSpPr>
          <p:nvPr>
            <p:ph type="title"/>
          </p:nvPr>
        </p:nvSpPr>
        <p:spPr>
          <a:xfrm>
            <a:off x="195132" y="187505"/>
            <a:ext cx="7149329"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2" name="矩形 1"/>
          <p:cNvSpPr/>
          <p:nvPr userDrawn="1"/>
        </p:nvSpPr>
        <p:spPr>
          <a:xfrm>
            <a:off x="-1" y="802083"/>
            <a:ext cx="11052000" cy="72000"/>
          </a:xfrm>
          <a:prstGeom prst="rect">
            <a:avLst/>
          </a:prstGeom>
          <a:gradFill>
            <a:gsLst>
              <a:gs pos="100000">
                <a:schemeClr val="bg1"/>
              </a:gs>
              <a:gs pos="30000">
                <a:schemeClr val="accent1">
                  <a:lumMod val="45000"/>
                  <a:lumOff val="55000"/>
                </a:schemeClr>
              </a:gs>
              <a:gs pos="0">
                <a:srgbClr val="1184CF"/>
              </a:gs>
              <a:gs pos="100000">
                <a:schemeClr val="accent1">
                  <a:lumMod val="30000"/>
                  <a:lumOff val="7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节标题">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400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40648"/>
            <a:ext cx="12192000" cy="6858000"/>
          </a:xfrm>
          <a:prstGeom prst="rect">
            <a:avLst/>
          </a:prstGeom>
        </p:spPr>
      </p:pic>
      <p:pic>
        <p:nvPicPr>
          <p:cNvPr id="2" name="object 5"/>
          <p:cNvPicPr/>
          <p:nvPr userDrawn="1">
            <p:custDataLst>
              <p:tags r:id="rId4"/>
            </p:custDataLst>
          </p:nvPr>
        </p:nvPicPr>
        <p:blipFill>
          <a:blip r:embed="rId5" cstate="print"/>
          <a:stretch>
            <a:fillRect/>
          </a:stretch>
        </p:blipFill>
        <p:spPr>
          <a:xfrm>
            <a:off x="8965694" y="241285"/>
            <a:ext cx="2208276" cy="918971"/>
          </a:xfrm>
          <a:prstGeom prst="rect">
            <a:avLst/>
          </a:prstGeom>
        </p:spPr>
      </p:pic>
      <p:pic>
        <p:nvPicPr>
          <p:cNvPr id="3" name="object 6"/>
          <p:cNvPicPr/>
          <p:nvPr userDrawn="1">
            <p:custDataLst>
              <p:tags r:id="rId6"/>
            </p:custDataLst>
          </p:nvPr>
        </p:nvPicPr>
        <p:blipFill>
          <a:blip r:embed="rId7" cstate="print"/>
          <a:stretch>
            <a:fillRect/>
          </a:stretch>
        </p:blipFill>
        <p:spPr>
          <a:xfrm>
            <a:off x="10907269" y="218425"/>
            <a:ext cx="1284731" cy="96469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contrast="20000"/>
                    </a14:imgEffect>
                    <a14:imgEffect>
                      <a14:saturation sat="200000"/>
                    </a14:imgEffect>
                  </a14:imgLayer>
                </a14:imgProps>
              </a:ext>
              <a:ext uri="{28A0092B-C50C-407E-A947-70E740481C1C}">
                <a14:useLocalDpi xmlns:a14="http://schemas.microsoft.com/office/drawing/2010/main" val="0"/>
              </a:ext>
            </a:extLst>
          </a:blip>
          <a:srcRect t="70939" r="52406"/>
          <a:stretch>
            <a:fillRect/>
          </a:stretch>
        </p:blipFill>
        <p:spPr>
          <a:xfrm>
            <a:off x="0" y="4865008"/>
            <a:ext cx="5307645" cy="1992992"/>
          </a:xfrm>
          <a:prstGeom prst="rect">
            <a:avLst/>
          </a:prstGeom>
        </p:spPr>
      </p:pic>
      <p:pic>
        <p:nvPicPr>
          <p:cNvPr id="15" name="图片 14"/>
          <p:cNvPicPr>
            <a:picLocks noChangeAspect="1"/>
          </p:cNvPicPr>
          <p:nvPr userDrawn="1"/>
        </p:nvPicPr>
        <p:blipFill rotWithShape="1">
          <a:blip r:embed="rId4" cstate="print">
            <a:extLst>
              <a:ext uri="{28A0092B-C50C-407E-A947-70E740481C1C}">
                <a14:useLocalDpi xmlns:a14="http://schemas.microsoft.com/office/drawing/2010/main" val="0"/>
              </a:ext>
            </a:extLst>
          </a:blip>
          <a:srcRect t="25516" b="34462"/>
          <a:stretch>
            <a:fillRect/>
          </a:stretch>
        </p:blipFill>
        <p:spPr>
          <a:xfrm>
            <a:off x="10439857" y="155759"/>
            <a:ext cx="1645463" cy="492172"/>
          </a:xfrm>
          <a:prstGeom prst="rect">
            <a:avLst/>
          </a:prstGeom>
        </p:spPr>
      </p:pic>
      <p:sp>
        <p:nvSpPr>
          <p:cNvPr id="8" name="矩形 7"/>
          <p:cNvSpPr/>
          <p:nvPr userDrawn="1"/>
        </p:nvSpPr>
        <p:spPr>
          <a:xfrm flipV="1">
            <a:off x="0" y="735746"/>
            <a:ext cx="12192000" cy="18000"/>
          </a:xfrm>
          <a:prstGeom prst="rect">
            <a:avLst/>
          </a:prstGeom>
          <a:gradFill>
            <a:gsLst>
              <a:gs pos="0">
                <a:srgbClr val="0056A7"/>
              </a:gs>
              <a:gs pos="14000">
                <a:schemeClr val="accent1">
                  <a:shade val="67500"/>
                  <a:satMod val="115000"/>
                </a:schemeClr>
              </a:gs>
              <a:gs pos="100000">
                <a:srgbClr val="DDF9E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00"/>
          </a:p>
        </p:txBody>
      </p:sp>
      <p:grpSp>
        <p:nvGrpSpPr>
          <p:cNvPr id="33" name="组合 1"/>
          <p:cNvGrpSpPr/>
          <p:nvPr userDrawn="1"/>
        </p:nvGrpSpPr>
        <p:grpSpPr>
          <a:xfrm>
            <a:off x="12432704" y="5229200"/>
            <a:ext cx="612085" cy="1098875"/>
            <a:chOff x="12432704" y="5229200"/>
            <a:chExt cx="612085" cy="1098874"/>
          </a:xfrm>
        </p:grpSpPr>
        <p:sp>
          <p:nvSpPr>
            <p:cNvPr id="1048584" name="矩形 5"/>
            <p:cNvSpPr/>
            <p:nvPr/>
          </p:nvSpPr>
          <p:spPr>
            <a:xfrm>
              <a:off x="12432704" y="5229200"/>
              <a:ext cx="612085" cy="184860"/>
            </a:xfrm>
            <a:prstGeom prst="rect">
              <a:avLst/>
            </a:prstGeom>
            <a:solidFill>
              <a:srgbClr val="00B0F0"/>
            </a:solidFill>
            <a:ln w="6350" cap="flat" cmpd="sng" algn="ctr">
              <a:noFill/>
              <a:prstDash val="solid"/>
              <a:miter lim="800000"/>
            </a:ln>
            <a:effectLst>
              <a:outerShdw blurRad="63500" sx="102000" sy="102000" algn="ctr" rotWithShape="0">
                <a:sysClr val="window" lastClr="FFFFFF">
                  <a:alpha val="40000"/>
                </a:sysClr>
              </a:outerShdw>
            </a:effectLst>
          </p:spPr>
          <p:txBody>
            <a:bodyPr rtlCol="0" anchor="ctr"/>
            <a:lstStyle/>
            <a:p>
              <a:pPr algn="ctr"/>
              <a:endParaRPr lang="en-US" altLang="zh-CN" sz="1600" b="1" kern="0" dirty="0">
                <a:solidFill>
                  <a:prstClr val="white"/>
                </a:solidFill>
                <a:latin typeface="微软雅黑" panose="020B0503020204020204" pitchFamily="34" charset="-122"/>
                <a:ea typeface="微软雅黑" panose="020B0503020204020204" pitchFamily="34" charset="-122"/>
              </a:endParaRPr>
            </a:p>
          </p:txBody>
        </p:sp>
        <p:sp>
          <p:nvSpPr>
            <p:cNvPr id="1048585" name="对话气泡: 矩形 8"/>
            <p:cNvSpPr/>
            <p:nvPr/>
          </p:nvSpPr>
          <p:spPr>
            <a:xfrm>
              <a:off x="12432704" y="5426062"/>
              <a:ext cx="612000" cy="183600"/>
            </a:xfrm>
            <a:prstGeom prst="wedgeRectCallout">
              <a:avLst>
                <a:gd name="adj1" fmla="val 32505"/>
                <a:gd name="adj2" fmla="val 62500"/>
              </a:avLst>
            </a:prstGeom>
            <a:solidFill>
              <a:srgbClr val="ABE1FF"/>
            </a:solidFill>
            <a:ln w="12700" cap="flat" cmpd="sng" algn="ctr">
              <a:noFill/>
              <a:prstDash val="solid"/>
              <a:miter lim="800000"/>
            </a:ln>
            <a:effectLst/>
          </p:spPr>
          <p:txBody>
            <a:bodyPr rtlCol="0" anchor="ctr"/>
            <a:lstStyle/>
            <a:p>
              <a:pPr algn="ctr"/>
              <a:endParaRPr lang="zh-CN" altLang="en-US" sz="135" kern="0" dirty="0">
                <a:solidFill>
                  <a:prstClr val="white"/>
                </a:solidFill>
              </a:endParaRPr>
            </a:p>
          </p:txBody>
        </p:sp>
        <p:sp>
          <p:nvSpPr>
            <p:cNvPr id="1048586" name="矩形 9"/>
            <p:cNvSpPr/>
            <p:nvPr userDrawn="1"/>
          </p:nvSpPr>
          <p:spPr>
            <a:xfrm>
              <a:off x="12432704" y="5949280"/>
              <a:ext cx="612085" cy="184860"/>
            </a:xfrm>
            <a:prstGeom prst="rect">
              <a:avLst/>
            </a:prstGeom>
            <a:solidFill>
              <a:srgbClr val="0070C0"/>
            </a:solidFill>
            <a:ln w="6350" cap="flat" cmpd="sng" algn="ctr">
              <a:noFill/>
              <a:prstDash val="solid"/>
              <a:miter lim="800000"/>
            </a:ln>
            <a:effectLst>
              <a:outerShdw blurRad="63500" sx="102000" sy="102000" algn="ctr" rotWithShape="0">
                <a:sysClr val="window" lastClr="FFFFFF">
                  <a:alpha val="40000"/>
                </a:sysClr>
              </a:outerShdw>
            </a:effectLst>
          </p:spPr>
          <p:txBody>
            <a:bodyPr rtlCol="0" anchor="ctr"/>
            <a:lstStyle/>
            <a:p>
              <a:pPr algn="ctr"/>
              <a:endParaRPr lang="en-US" altLang="zh-CN" sz="1600" b="1" kern="0" dirty="0">
                <a:solidFill>
                  <a:prstClr val="white"/>
                </a:solidFill>
                <a:latin typeface="微软雅黑" panose="020B0503020204020204" pitchFamily="34" charset="-122"/>
                <a:ea typeface="微软雅黑" panose="020B0503020204020204" pitchFamily="34" charset="-122"/>
              </a:endParaRPr>
            </a:p>
          </p:txBody>
        </p:sp>
        <p:sp>
          <p:nvSpPr>
            <p:cNvPr id="1048587" name="矩形 11"/>
            <p:cNvSpPr/>
            <p:nvPr userDrawn="1"/>
          </p:nvSpPr>
          <p:spPr>
            <a:xfrm>
              <a:off x="12432704" y="6144474"/>
              <a:ext cx="612000" cy="183600"/>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35">
                <a:solidFill>
                  <a:prstClr val="white"/>
                </a:solidFill>
              </a:endParaRPr>
            </a:p>
          </p:txBody>
        </p:sp>
        <p:sp>
          <p:nvSpPr>
            <p:cNvPr id="1048588" name="对话气泡: 矩形 15"/>
            <p:cNvSpPr/>
            <p:nvPr userDrawn="1"/>
          </p:nvSpPr>
          <p:spPr>
            <a:xfrm>
              <a:off x="12432704" y="5621664"/>
              <a:ext cx="612000" cy="183600"/>
            </a:xfrm>
            <a:prstGeom prst="wedgeRectCallout">
              <a:avLst>
                <a:gd name="adj1" fmla="val 32505"/>
                <a:gd name="adj2" fmla="val 62500"/>
              </a:avLst>
            </a:prstGeom>
            <a:solidFill>
              <a:srgbClr val="E7F0F9"/>
            </a:solidFill>
            <a:ln w="12700" cap="flat" cmpd="sng" algn="ctr">
              <a:noFill/>
              <a:prstDash val="solid"/>
              <a:miter lim="800000"/>
            </a:ln>
            <a:effectLst/>
          </p:spPr>
          <p:txBody>
            <a:bodyPr rtlCol="0" anchor="ctr"/>
            <a:lstStyle/>
            <a:p>
              <a:pPr algn="ctr"/>
              <a:endParaRPr lang="zh-CN" altLang="en-US" sz="135" kern="0" dirty="0">
                <a:solidFill>
                  <a:prstClr val="white"/>
                </a:solidFill>
              </a:endParaRPr>
            </a:p>
          </p:txBody>
        </p:sp>
      </p:grpSp>
      <p:sp>
        <p:nvSpPr>
          <p:cNvPr id="6" name="TextBox 3"/>
          <p:cNvSpPr txBox="1"/>
          <p:nvPr userDrawn="1"/>
        </p:nvSpPr>
        <p:spPr>
          <a:xfrm>
            <a:off x="11744324" y="6481877"/>
            <a:ext cx="447675" cy="376120"/>
          </a:xfrm>
          <a:prstGeom prst="rect">
            <a:avLst/>
          </a:prstGeom>
          <a:noFill/>
        </p:spPr>
        <p:txBody>
          <a:bodyPr wrap="none" rtlCol="0" anchor="ctr" anchorCtr="0">
            <a:noAutofit/>
          </a:bodyPr>
          <a:lstStyle/>
          <a:p>
            <a:pPr algn="ctr">
              <a:lnSpc>
                <a:spcPct val="100000"/>
              </a:lnSpc>
              <a:buClrTx/>
              <a:buSzTx/>
              <a:buFontTx/>
            </a:pPr>
            <a:fld id="{FDA8CB47-5F18-3A4B-AD3A-422A03DFB5D1}" type="slidenum">
              <a:rPr kumimoji="1" lang="zh-CN" altLang="en-US" sz="1100" b="0" smtClean="0">
                <a:solidFill>
                  <a:srgbClr val="1589CD"/>
                </a:solidFill>
                <a:latin typeface="微软雅黑" panose="020B0503020204020204" pitchFamily="34" charset="-122"/>
                <a:ea typeface="微软雅黑" panose="020B0503020204020204" pitchFamily="34" charset="-122"/>
                <a:sym typeface="+mn-ea"/>
              </a:rPr>
            </a:fld>
            <a:endParaRPr kumimoji="1" lang="zh-CN" altLang="en-US" sz="1100" b="0" dirty="0">
              <a:solidFill>
                <a:srgbClr val="1589CD"/>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_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20000"/>
                    </a14:imgEffect>
                    <a14:imgEffect>
                      <a14:saturation sat="200000"/>
                    </a14:imgEffect>
                  </a14:imgLayer>
                </a14:imgProps>
              </a:ext>
            </a:extLst>
          </a:blip>
          <a:stretch>
            <a:fillRect/>
          </a:stretch>
        </p:blipFill>
        <p:spPr>
          <a:xfrm>
            <a:off x="0" y="0"/>
            <a:ext cx="12192000" cy="6858000"/>
          </a:xfrm>
          <a:prstGeom prst="rect">
            <a:avLst/>
          </a:prstGeom>
        </p:spPr>
      </p:pic>
      <p:sp>
        <p:nvSpPr>
          <p:cNvPr id="10" name="Title Placeholder 1"/>
          <p:cNvSpPr>
            <a:spLocks noGrp="1"/>
          </p:cNvSpPr>
          <p:nvPr>
            <p:ph type="title" hasCustomPrompt="1"/>
          </p:nvPr>
        </p:nvSpPr>
        <p:spPr>
          <a:xfrm>
            <a:off x="242251" y="296516"/>
            <a:ext cx="9703754" cy="611184"/>
          </a:xfrm>
          <a:prstGeom prst="rect">
            <a:avLst/>
          </a:prstGeom>
        </p:spPr>
        <p:txBody>
          <a:bodyPr vert="horz" lIns="91440" tIns="45720" rIns="91440" bIns="45720" rtlCol="0" anchor="ctr">
            <a:normAutofit/>
          </a:bodyPr>
          <a:lstStyle>
            <a:lvl1pPr algn="l">
              <a:defRPr sz="2800" b="1">
                <a:solidFill>
                  <a:srgbClr val="0070C0"/>
                </a:solidFill>
                <a:latin typeface="微软雅黑" panose="020B0503020204020204" pitchFamily="34" charset="-122"/>
                <a:ea typeface="微软雅黑" panose="020B0503020204020204" pitchFamily="34" charset="-122"/>
              </a:defRPr>
            </a:lvl1pPr>
          </a:lstStyle>
          <a:p>
            <a:r>
              <a:rPr lang="zh-CN" altLang="en-US" dirty="0"/>
              <a:t>单击此处编辑标题</a:t>
            </a:r>
            <a:endParaRPr lang="en-US" dirty="0"/>
          </a:p>
        </p:txBody>
      </p:sp>
      <p:pic>
        <p:nvPicPr>
          <p:cNvPr id="17" name="图片 16"/>
          <p:cNvPicPr>
            <a:picLocks noChangeAspect="1"/>
          </p:cNvPicPr>
          <p:nvPr userDrawn="1"/>
        </p:nvPicPr>
        <p:blipFill>
          <a:blip r:embed="rId4" cstate="print"/>
          <a:stretch>
            <a:fillRect/>
          </a:stretch>
        </p:blipFill>
        <p:spPr>
          <a:xfrm>
            <a:off x="568960" y="5873115"/>
            <a:ext cx="1287780" cy="808990"/>
          </a:xfrm>
          <a:prstGeom prst="rect">
            <a:avLst/>
          </a:prstGeom>
        </p:spPr>
      </p:pic>
      <p:sp>
        <p:nvSpPr>
          <p:cNvPr id="18" name="Text Placeholder 2"/>
          <p:cNvSpPr>
            <a:spLocks noGrp="1"/>
          </p:cNvSpPr>
          <p:nvPr>
            <p:ph type="body" idx="10" hasCustomPrompt="1"/>
          </p:nvPr>
        </p:nvSpPr>
        <p:spPr>
          <a:xfrm>
            <a:off x="914400" y="1334739"/>
            <a:ext cx="10363200" cy="4570994"/>
          </a:xfrm>
          <a:prstGeom prst="rect">
            <a:avLst/>
          </a:prstGeom>
        </p:spPr>
        <p:txBody>
          <a:bodyPr anchor="t">
            <a:normAutofit/>
          </a:bodyPr>
          <a:lstStyle>
            <a:lvl1pPr marL="0" indent="0" algn="l">
              <a:buNone/>
              <a:defRPr sz="1800" b="0">
                <a:latin typeface="方正黑体简体" panose="02000000000000000000" pitchFamily="2" charset="-122"/>
                <a:ea typeface="方正黑体简体" panose="02000000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pic>
        <p:nvPicPr>
          <p:cNvPr id="2" name="图片 1"/>
          <p:cNvPicPr>
            <a:picLocks noChangeAspect="1"/>
          </p:cNvPicPr>
          <p:nvPr userDrawn="1"/>
        </p:nvPicPr>
        <p:blipFill>
          <a:blip r:embed="rId5" cstate="print"/>
          <a:stretch>
            <a:fillRect/>
          </a:stretch>
        </p:blipFill>
        <p:spPr>
          <a:xfrm>
            <a:off x="10073221" y="-79719"/>
            <a:ext cx="1852076" cy="1389056"/>
          </a:xfrm>
          <a:prstGeom prst="rect">
            <a:avLst/>
          </a:prstGeom>
        </p:spPr>
      </p:pic>
      <p:sp>
        <p:nvSpPr>
          <p:cNvPr id="4" name="TextBox 3"/>
          <p:cNvSpPr txBox="1"/>
          <p:nvPr userDrawn="1"/>
        </p:nvSpPr>
        <p:spPr>
          <a:xfrm>
            <a:off x="11228388" y="6576616"/>
            <a:ext cx="447675" cy="246221"/>
          </a:xfrm>
          <a:prstGeom prst="rect">
            <a:avLst/>
          </a:prstGeom>
          <a:noFill/>
        </p:spPr>
        <p:txBody>
          <a:bodyPr wrap="none" rtlCol="0" anchor="ctr" anchorCtr="0">
            <a:noAutofit/>
          </a:bodyPr>
          <a:lstStyle/>
          <a:p>
            <a:pPr algn="r">
              <a:lnSpc>
                <a:spcPct val="100000"/>
              </a:lnSpc>
              <a:buClrTx/>
              <a:buSzTx/>
              <a:buFontTx/>
            </a:pPr>
            <a:fld id="{FDA8CB47-5F18-3A4B-AD3A-422A03DFB5D1}" type="slidenum">
              <a:rPr kumimoji="1" lang="zh-CN" altLang="en-US" sz="1000" b="0" smtClean="0">
                <a:solidFill>
                  <a:schemeClr val="accent6"/>
                </a:solidFill>
                <a:latin typeface="微软雅黑" panose="020B0503020204020204" pitchFamily="34" charset="-122"/>
                <a:ea typeface="微软雅黑" panose="020B0503020204020204" pitchFamily="34" charset="-122"/>
                <a:sym typeface="+mn-ea"/>
              </a:rPr>
            </a:fld>
            <a:endParaRPr kumimoji="1" lang="zh-CN" altLang="en-US" sz="1000" b="0" dirty="0" smtClean="0">
              <a:solidFill>
                <a:schemeClr val="accent6"/>
              </a:solidFill>
              <a:latin typeface="微软雅黑" panose="020B0503020204020204" pitchFamily="34" charset="-122"/>
              <a:ea typeface="微软雅黑" panose="020B0503020204020204" pitchFamily="34" charset="-122"/>
              <a:sym typeface="+mn-ea"/>
            </a:endParaRPr>
          </a:p>
        </p:txBody>
      </p:sp>
      <p:cxnSp>
        <p:nvCxnSpPr>
          <p:cNvPr id="6" name="Straight Connector 5"/>
          <p:cNvCxnSpPr/>
          <p:nvPr userDrawn="1"/>
        </p:nvCxnSpPr>
        <p:spPr>
          <a:xfrm>
            <a:off x="0" y="920401"/>
            <a:ext cx="12191999"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5" name="矩形 4"/>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accent3"/>
                </a:solidFill>
                <a:latin typeface="微软雅黑 Light" panose="020B0502040204020203" pitchFamily="34" charset="-122"/>
                <a:ea typeface="微软雅黑 Light" panose="020B0502040204020203" pitchFamily="34" charset="-122"/>
                <a:sym typeface="Arial" panose="020B0604020202020204" pitchFamily="34" charset="0"/>
              </a:rPr>
              <a:t>文档中的全部内容属</a:t>
            </a:r>
            <a:r>
              <a:rPr lang="zh-CN" altLang="en-US" sz="1000" b="0" i="0" dirty="0">
                <a:solidFill>
                  <a:schemeClr val="accent3"/>
                </a:solidFill>
                <a:latin typeface="微软雅黑 Light" panose="020B0502040204020203" pitchFamily="34" charset="-122"/>
                <a:ea typeface="微软雅黑 Light" panose="020B0502040204020203" pitchFamily="34" charset="-122"/>
                <a:sym typeface="Arial" panose="020B0604020202020204" pitchFamily="34" charset="0"/>
              </a:rPr>
              <a:t>中国移动</a:t>
            </a:r>
            <a:r>
              <a:rPr lang="zh-CN" altLang="zh-CN" sz="1000" b="0" i="0" dirty="0">
                <a:solidFill>
                  <a:schemeClr val="accent3"/>
                </a:solidFill>
                <a:latin typeface="微软雅黑 Light" panose="020B0502040204020203" pitchFamily="34" charset="-122"/>
                <a:ea typeface="微软雅黑 Light" panose="020B0502040204020203" pitchFamily="34" charset="-122"/>
                <a:sym typeface="Arial" panose="020B0604020202020204" pitchFamily="34" charset="0"/>
              </a:rPr>
              <a:t>所有，未经允许，不可全部或部分发表、复制、使用于任何目的</a:t>
            </a:r>
            <a:endParaRPr lang="zh-CN" altLang="en-US" sz="1000" b="0" i="0" dirty="0">
              <a:solidFill>
                <a:schemeClr val="accent3"/>
              </a:solidFill>
              <a:latin typeface="微软雅黑 Light" panose="020B0502040204020203" pitchFamily="34" charset="-122"/>
              <a:ea typeface="微软雅黑 Light" panose="020B0502040204020203" pitchFamily="34" charset="-122"/>
            </a:endParaRPr>
          </a:p>
        </p:txBody>
      </p:sp>
      <p:grpSp>
        <p:nvGrpSpPr>
          <p:cNvPr id="8" name="组合 7"/>
          <p:cNvGrpSpPr/>
          <p:nvPr userDrawn="1"/>
        </p:nvGrpSpPr>
        <p:grpSpPr>
          <a:xfrm>
            <a:off x="-2592609" y="2310389"/>
            <a:ext cx="2419889" cy="2619693"/>
            <a:chOff x="406506" y="5448543"/>
            <a:chExt cx="3161569" cy="3917925"/>
          </a:xfrm>
        </p:grpSpPr>
        <p:pic>
          <p:nvPicPr>
            <p:cNvPr id="9" name="图片 8"/>
            <p:cNvPicPr>
              <a:picLocks noChangeAspect="1"/>
            </p:cNvPicPr>
            <p:nvPr/>
          </p:nvPicPr>
          <p:blipFill>
            <a:blip r:embed="rId6"/>
            <a:stretch>
              <a:fillRect/>
            </a:stretch>
          </p:blipFill>
          <p:spPr>
            <a:xfrm>
              <a:off x="406506" y="5448543"/>
              <a:ext cx="3161569" cy="3917925"/>
            </a:xfrm>
            <a:prstGeom prst="rect">
              <a:avLst/>
            </a:prstGeom>
          </p:spPr>
        </p:pic>
        <p:sp>
          <p:nvSpPr>
            <p:cNvPr id="11" name="TextBox 4"/>
            <p:cNvSpPr txBox="1"/>
            <p:nvPr/>
          </p:nvSpPr>
          <p:spPr>
            <a:xfrm>
              <a:off x="424496"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主色</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12" name="TextBox 7"/>
            <p:cNvSpPr txBox="1"/>
            <p:nvPr/>
          </p:nvSpPr>
          <p:spPr>
            <a:xfrm>
              <a:off x="936034"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辅色</a:t>
              </a:r>
              <a:r>
                <a:rPr kumimoji="1" lang="en-US" altLang="zh-CN" sz="1000" dirty="0">
                  <a:latin typeface="微软雅黑" panose="020B0503020204020204" pitchFamily="34" charset="-122"/>
                  <a:ea typeface="微软雅黑" panose="020B0503020204020204" pitchFamily="34" charset="-122"/>
                  <a:sym typeface="+mn-ea"/>
                </a:rPr>
                <a:t>1</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13" name="TextBox 10"/>
            <p:cNvSpPr txBox="1"/>
            <p:nvPr/>
          </p:nvSpPr>
          <p:spPr>
            <a:xfrm>
              <a:off x="2470648"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强调色</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14" name="TextBox 13"/>
            <p:cNvSpPr txBox="1"/>
            <p:nvPr/>
          </p:nvSpPr>
          <p:spPr>
            <a:xfrm>
              <a:off x="2982186"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对比</a:t>
              </a:r>
              <a:endParaRPr kumimoji="1" lang="en-US" altLang="zh-CN" sz="1000" dirty="0">
                <a:latin typeface="微软雅黑" panose="020B0503020204020204" pitchFamily="34" charset="-122"/>
                <a:ea typeface="微软雅黑" panose="020B0503020204020204" pitchFamily="34" charset="-122"/>
                <a:sym typeface="+mn-ea"/>
              </a:endParaRPr>
            </a:p>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强调色</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15" name="TextBox 17"/>
            <p:cNvSpPr txBox="1"/>
            <p:nvPr/>
          </p:nvSpPr>
          <p:spPr>
            <a:xfrm>
              <a:off x="1447572"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辅色</a:t>
              </a:r>
              <a:r>
                <a:rPr kumimoji="1" lang="en-US" altLang="zh-CN" sz="1000" dirty="0">
                  <a:latin typeface="微软雅黑" panose="020B0503020204020204" pitchFamily="34" charset="-122"/>
                  <a:ea typeface="微软雅黑" panose="020B0503020204020204" pitchFamily="34" charset="-122"/>
                  <a:sym typeface="+mn-ea"/>
                </a:rPr>
                <a:t>2</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16" name="TextBox 20"/>
            <p:cNvSpPr txBox="1"/>
            <p:nvPr/>
          </p:nvSpPr>
          <p:spPr>
            <a:xfrm>
              <a:off x="1959110"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辅色</a:t>
              </a:r>
              <a:r>
                <a:rPr kumimoji="1" lang="en-US" altLang="zh-CN" sz="1000" dirty="0">
                  <a:latin typeface="微软雅黑" panose="020B0503020204020204" pitchFamily="34" charset="-122"/>
                  <a:ea typeface="微软雅黑" panose="020B0503020204020204" pitchFamily="34" charset="-122"/>
                  <a:sym typeface="+mn-ea"/>
                </a:rPr>
                <a:t>3</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1104518" y="5634688"/>
              <a:ext cx="1569660" cy="276999"/>
            </a:xfrm>
            <a:prstGeom prst="rect">
              <a:avLst/>
            </a:prstGeom>
            <a:noFill/>
          </p:spPr>
          <p:txBody>
            <a:bodyPr wrap="none" rtlCol="0">
              <a:spAutoFit/>
            </a:bodyPr>
            <a:lstStyle/>
            <a:p>
              <a:pPr algn="l"/>
              <a:r>
                <a:rPr kumimoji="1" lang="zh-CN" altLang="en-US" sz="1200" dirty="0">
                  <a:latin typeface="微软雅黑" panose="020B0503020204020204" pitchFamily="34" charset="-122"/>
                  <a:ea typeface="微软雅黑" panose="020B0503020204020204" pitchFamily="34" charset="-122"/>
                </a:rPr>
                <a:t>主题色同色系渐变色</a:t>
              </a:r>
              <a:endParaRPr kumimoji="1" lang="zh-CN" altLang="en-US" sz="1200"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0_标题和内容">
    <p:spTree>
      <p:nvGrpSpPr>
        <p:cNvPr id="1" name=""/>
        <p:cNvGrpSpPr/>
        <p:nvPr/>
      </p:nvGrpSpPr>
      <p:grpSpPr>
        <a:xfrm>
          <a:off x="0" y="0"/>
          <a:ext cx="0" cy="0"/>
          <a:chOff x="0" y="0"/>
          <a:chExt cx="0" cy="0"/>
        </a:xfrm>
      </p:grpSpPr>
      <p:sp>
        <p:nvSpPr>
          <p:cNvPr id="5" name="TextBox 2"/>
          <p:cNvSpPr txBox="1">
            <a:spLocks noChangeArrowheads="1"/>
          </p:cNvSpPr>
          <p:nvPr userDrawn="1"/>
        </p:nvSpPr>
        <p:spPr bwMode="auto">
          <a:xfrm>
            <a:off x="11664949" y="6525345"/>
            <a:ext cx="527051" cy="369237"/>
          </a:xfrm>
          <a:prstGeom prst="rect">
            <a:avLst/>
          </a:prstGeom>
          <a:noFill/>
          <a:ln>
            <a:noFill/>
          </a:ln>
        </p:spPr>
        <p:txBody>
          <a:bodyPr lIns="121827" tIns="60913" rIns="121827" bIns="60913">
            <a:spAutoFit/>
          </a:bodyPr>
          <a:lstStyle>
            <a:lvl1pPr defTabSz="1217930">
              <a:defRPr>
                <a:solidFill>
                  <a:schemeClr val="tx1"/>
                </a:solidFill>
                <a:latin typeface="Calibri" panose="020F0502020204030204" charset="0"/>
                <a:ea typeface="宋体" panose="02010600030101010101" pitchFamily="2" charset="-122"/>
              </a:defRPr>
            </a:lvl1pPr>
            <a:lvl2pPr marL="742950" indent="-285750" defTabSz="1217930">
              <a:defRPr>
                <a:solidFill>
                  <a:schemeClr val="tx1"/>
                </a:solidFill>
                <a:latin typeface="Calibri" panose="020F0502020204030204" charset="0"/>
                <a:ea typeface="宋体" panose="02010600030101010101" pitchFamily="2" charset="-122"/>
              </a:defRPr>
            </a:lvl2pPr>
            <a:lvl3pPr marL="1143000" indent="-228600" defTabSz="1217930">
              <a:defRPr>
                <a:solidFill>
                  <a:schemeClr val="tx1"/>
                </a:solidFill>
                <a:latin typeface="Calibri" panose="020F0502020204030204" charset="0"/>
                <a:ea typeface="宋体" panose="02010600030101010101" pitchFamily="2" charset="-122"/>
              </a:defRPr>
            </a:lvl3pPr>
            <a:lvl4pPr marL="1600200" indent="-228600" defTabSz="1217930">
              <a:defRPr>
                <a:solidFill>
                  <a:schemeClr val="tx1"/>
                </a:solidFill>
                <a:latin typeface="Calibri" panose="020F0502020204030204" charset="0"/>
                <a:ea typeface="宋体" panose="02010600030101010101" pitchFamily="2" charset="-122"/>
              </a:defRPr>
            </a:lvl4pPr>
            <a:lvl5pPr marL="2057400" indent="-228600" defTabSz="1217930">
              <a:defRPr>
                <a:solidFill>
                  <a:schemeClr val="tx1"/>
                </a:solidFill>
                <a:latin typeface="Calibri" panose="020F0502020204030204" charset="0"/>
                <a:ea typeface="宋体" panose="02010600030101010101" pitchFamily="2" charset="-122"/>
              </a:defRPr>
            </a:lvl5pPr>
            <a:lvl6pPr marL="2514600" indent="-228600" defTabSz="121793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defTabSz="121793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defTabSz="121793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defTabSz="121793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0" marR="0" lvl="0" indent="0" algn="r" defTabSz="1217930" rtl="0" eaLnBrk="0" fontAlgn="base" latinLnBrk="0" hangingPunct="0">
              <a:lnSpc>
                <a:spcPct val="100000"/>
              </a:lnSpc>
              <a:spcBef>
                <a:spcPct val="0"/>
              </a:spcBef>
              <a:spcAft>
                <a:spcPct val="0"/>
              </a:spcAft>
              <a:buClrTx/>
              <a:buSzTx/>
              <a:buFontTx/>
              <a:buNone/>
              <a:defRPr/>
            </a:pPr>
            <a:fld id="{5719738A-C88A-44CB-B421-ADED0483D86E}" type="slidenum">
              <a:rPr kumimoji="0" lang="zh-CN" altLang="en-US" sz="1600" b="1" i="0" u="none" strike="noStrike" kern="1200" cap="none" spc="0" normalizeH="0" baseline="0" noProof="0" smtClean="0">
                <a:ln>
                  <a:noFill/>
                </a:ln>
                <a:solidFill>
                  <a:srgbClr val="B2D2DE"/>
                </a:solidFill>
                <a:effectLst/>
                <a:uLnTx/>
                <a:uFillTx/>
                <a:latin typeface="微软雅黑" panose="020B0503020204020204" pitchFamily="34" charset="-122"/>
                <a:ea typeface="微软雅黑" panose="020B0503020204020204" pitchFamily="34" charset="-122"/>
                <a:cs typeface="+mn-cs"/>
              </a:rPr>
            </a:fld>
            <a:endParaRPr kumimoji="0" lang="zh-CN" altLang="en-US" sz="1600" b="1" i="0" u="none" strike="noStrike" kern="1200" cap="none" spc="0" normalizeH="0" baseline="0" noProof="0">
              <a:ln>
                <a:noFill/>
              </a:ln>
              <a:solidFill>
                <a:srgbClr val="B2D2DE"/>
              </a:solidFill>
              <a:effectLst/>
              <a:uLnTx/>
              <a:uFillTx/>
              <a:latin typeface="微软雅黑" panose="020B0503020204020204" pitchFamily="34" charset="-122"/>
              <a:ea typeface="微软雅黑" panose="020B0503020204020204" pitchFamily="34" charset="-122"/>
              <a:cs typeface="+mn-cs"/>
            </a:endParaRPr>
          </a:p>
        </p:txBody>
      </p:sp>
      <p:pic>
        <p:nvPicPr>
          <p:cNvPr id="4" name="图片 9" descr="ppt模板-02.jpg"/>
          <p:cNvPicPr preferRelativeResize="0"/>
          <p:nvPr userDrawn="1">
            <p:custDataLst>
              <p:tags r:id="rId2"/>
            </p:custDataLst>
          </p:nvPr>
        </p:nvPicPr>
        <p:blipFill rotWithShape="1">
          <a:blip r:embed="rId3" cstate="print">
            <a:extLst>
              <a:ext uri="{28A0092B-C50C-407E-A947-70E740481C1C}">
                <a14:useLocalDpi xmlns:a14="http://schemas.microsoft.com/office/drawing/2010/main" val="0"/>
              </a:ext>
            </a:extLst>
          </a:blip>
          <a:srcRect t="8000" b="90950"/>
          <a:stretch>
            <a:fillRect/>
          </a:stretch>
        </p:blipFill>
        <p:spPr bwMode="auto">
          <a:xfrm>
            <a:off x="228475" y="873115"/>
            <a:ext cx="11700000" cy="3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5"/>
          <p:cNvGrpSpPr/>
          <p:nvPr userDrawn="1"/>
        </p:nvGrpSpPr>
        <p:grpSpPr>
          <a:xfrm>
            <a:off x="10299035" y="250297"/>
            <a:ext cx="1624679" cy="334379"/>
            <a:chOff x="10186547" y="290938"/>
            <a:chExt cx="1862292" cy="383282"/>
          </a:xfrm>
        </p:grpSpPr>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547" y="315051"/>
              <a:ext cx="1153926" cy="359169"/>
            </a:xfrm>
            <a:prstGeom prst="rect">
              <a:avLst/>
            </a:prstGeom>
          </p:spPr>
        </p:pic>
        <p:pic>
          <p:nvPicPr>
            <p:cNvPr id="8" name="图片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469307" y="290938"/>
              <a:ext cx="579532" cy="366756"/>
            </a:xfrm>
            <a:prstGeom prst="rect">
              <a:avLst/>
            </a:prstGeom>
          </p:spPr>
        </p:pic>
      </p:grpSp>
      <p:sp>
        <p:nvSpPr>
          <p:cNvPr id="9" name="标题 1"/>
          <p:cNvSpPr>
            <a:spLocks noGrp="1"/>
          </p:cNvSpPr>
          <p:nvPr>
            <p:ph type="title"/>
          </p:nvPr>
        </p:nvSpPr>
        <p:spPr>
          <a:xfrm>
            <a:off x="228475" y="1"/>
            <a:ext cx="10515600" cy="909115"/>
          </a:xfrm>
          <a:prstGeom prst="rect">
            <a:avLst/>
          </a:prstGeom>
        </p:spPr>
        <p:txBody>
          <a:bodyPr>
            <a:normAutofit/>
          </a:bodyPr>
          <a:lstStyle>
            <a:lvl1pPr>
              <a:defRPr sz="2800" b="1">
                <a:solidFill>
                  <a:srgbClr val="0070C0"/>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录_双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20000"/>
                    </a14:imgEffect>
                    <a14:imgEffect>
                      <a14:saturation sat="200000"/>
                    </a14:imgEffect>
                  </a14:imgLayer>
                </a14:imgProps>
              </a:ext>
            </a:extLst>
          </a:blip>
          <a:stretch>
            <a:fillRect/>
          </a:stretch>
        </p:blipFill>
        <p:spPr>
          <a:xfrm>
            <a:off x="0" y="0"/>
            <a:ext cx="12192000" cy="6858000"/>
          </a:xfrm>
          <a:prstGeom prst="rect">
            <a:avLst/>
          </a:prstGeom>
        </p:spPr>
      </p:pic>
      <p:pic>
        <p:nvPicPr>
          <p:cNvPr id="17" name="图片 16"/>
          <p:cNvPicPr>
            <a:picLocks noChangeAspect="1"/>
          </p:cNvPicPr>
          <p:nvPr userDrawn="1"/>
        </p:nvPicPr>
        <p:blipFill>
          <a:blip r:embed="rId4" cstate="print"/>
          <a:stretch>
            <a:fillRect/>
          </a:stretch>
        </p:blipFill>
        <p:spPr>
          <a:xfrm>
            <a:off x="568960" y="5873115"/>
            <a:ext cx="1287780" cy="808990"/>
          </a:xfrm>
          <a:prstGeom prst="rect">
            <a:avLst/>
          </a:prstGeom>
        </p:spPr>
      </p:pic>
      <p:pic>
        <p:nvPicPr>
          <p:cNvPr id="2" name="图片 1"/>
          <p:cNvPicPr>
            <a:picLocks noChangeAspect="1"/>
          </p:cNvPicPr>
          <p:nvPr userDrawn="1"/>
        </p:nvPicPr>
        <p:blipFill>
          <a:blip r:embed="rId5" cstate="print"/>
          <a:stretch>
            <a:fillRect/>
          </a:stretch>
        </p:blipFill>
        <p:spPr>
          <a:xfrm>
            <a:off x="10073221" y="-79719"/>
            <a:ext cx="1852076" cy="1389056"/>
          </a:xfrm>
          <a:prstGeom prst="rect">
            <a:avLst/>
          </a:prstGeom>
        </p:spPr>
      </p:pic>
      <p:sp>
        <p:nvSpPr>
          <p:cNvPr id="39" name="Title Placeholder 1"/>
          <p:cNvSpPr>
            <a:spLocks noGrp="1"/>
          </p:cNvSpPr>
          <p:nvPr>
            <p:ph type="title" hasCustomPrompt="1"/>
          </p:nvPr>
        </p:nvSpPr>
        <p:spPr>
          <a:xfrm>
            <a:off x="526096" y="296516"/>
            <a:ext cx="9703754" cy="611184"/>
          </a:xfrm>
          <a:prstGeom prst="rect">
            <a:avLst/>
          </a:prstGeom>
        </p:spPr>
        <p:txBody>
          <a:bodyPr vert="horz" lIns="91440" tIns="45720" rIns="91440" bIns="45720" rtlCol="0" anchor="ctr">
            <a:normAutofit/>
          </a:bodyPr>
          <a:lstStyle>
            <a:lvl1pPr algn="l">
              <a:defRPr sz="2800" b="1">
                <a:solidFill>
                  <a:schemeClr val="accent1"/>
                </a:solidFill>
                <a:latin typeface="方正黑体简体" panose="02000000000000000000" pitchFamily="2" charset="-122"/>
                <a:ea typeface="方正黑体简体" panose="02000000000000000000" pitchFamily="2" charset="-122"/>
              </a:defRPr>
            </a:lvl1pPr>
          </a:lstStyle>
          <a:p>
            <a:r>
              <a:rPr lang="zh-CN" altLang="en-US" dirty="0"/>
              <a:t>单击此处编辑标题</a:t>
            </a:r>
            <a:endParaRPr lang="en-US" dirty="0"/>
          </a:p>
        </p:txBody>
      </p:sp>
      <p:cxnSp>
        <p:nvCxnSpPr>
          <p:cNvPr id="40" name="Straight Connector 5"/>
          <p:cNvCxnSpPr/>
          <p:nvPr userDrawn="1"/>
        </p:nvCxnSpPr>
        <p:spPr>
          <a:xfrm>
            <a:off x="0" y="920401"/>
            <a:ext cx="1219199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2" name="组合 41"/>
          <p:cNvGrpSpPr/>
          <p:nvPr userDrawn="1"/>
        </p:nvGrpSpPr>
        <p:grpSpPr>
          <a:xfrm>
            <a:off x="-2592609" y="2310389"/>
            <a:ext cx="2419889" cy="2619693"/>
            <a:chOff x="406506" y="5448543"/>
            <a:chExt cx="3161569" cy="3917925"/>
          </a:xfrm>
        </p:grpSpPr>
        <p:pic>
          <p:nvPicPr>
            <p:cNvPr id="43" name="图片 42"/>
            <p:cNvPicPr>
              <a:picLocks noChangeAspect="1"/>
            </p:cNvPicPr>
            <p:nvPr/>
          </p:nvPicPr>
          <p:blipFill>
            <a:blip r:embed="rId6"/>
            <a:stretch>
              <a:fillRect/>
            </a:stretch>
          </p:blipFill>
          <p:spPr>
            <a:xfrm>
              <a:off x="406506" y="5448543"/>
              <a:ext cx="3161569" cy="3917925"/>
            </a:xfrm>
            <a:prstGeom prst="rect">
              <a:avLst/>
            </a:prstGeom>
          </p:spPr>
        </p:pic>
        <p:sp>
          <p:nvSpPr>
            <p:cNvPr id="44" name="TextBox 4"/>
            <p:cNvSpPr txBox="1"/>
            <p:nvPr/>
          </p:nvSpPr>
          <p:spPr>
            <a:xfrm>
              <a:off x="424496"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主色</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45" name="TextBox 7"/>
            <p:cNvSpPr txBox="1"/>
            <p:nvPr/>
          </p:nvSpPr>
          <p:spPr>
            <a:xfrm>
              <a:off x="936034"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辅色</a:t>
              </a:r>
              <a:r>
                <a:rPr kumimoji="1" lang="en-US" altLang="zh-CN" sz="1000" dirty="0">
                  <a:latin typeface="微软雅黑" panose="020B0503020204020204" pitchFamily="34" charset="-122"/>
                  <a:ea typeface="微软雅黑" panose="020B0503020204020204" pitchFamily="34" charset="-122"/>
                  <a:sym typeface="+mn-ea"/>
                </a:rPr>
                <a:t>1</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46" name="TextBox 10"/>
            <p:cNvSpPr txBox="1"/>
            <p:nvPr/>
          </p:nvSpPr>
          <p:spPr>
            <a:xfrm>
              <a:off x="2470648"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强调色</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47" name="TextBox 13"/>
            <p:cNvSpPr txBox="1"/>
            <p:nvPr/>
          </p:nvSpPr>
          <p:spPr>
            <a:xfrm>
              <a:off x="2982186"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对比</a:t>
              </a:r>
              <a:endParaRPr kumimoji="1" lang="en-US" altLang="zh-CN" sz="1000" dirty="0">
                <a:latin typeface="微软雅黑" panose="020B0503020204020204" pitchFamily="34" charset="-122"/>
                <a:ea typeface="微软雅黑" panose="020B0503020204020204" pitchFamily="34" charset="-122"/>
                <a:sym typeface="+mn-ea"/>
              </a:endParaRPr>
            </a:p>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强调色</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48" name="TextBox 17"/>
            <p:cNvSpPr txBox="1"/>
            <p:nvPr/>
          </p:nvSpPr>
          <p:spPr>
            <a:xfrm>
              <a:off x="1447572"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辅色</a:t>
              </a:r>
              <a:r>
                <a:rPr kumimoji="1" lang="en-US" altLang="zh-CN" sz="1000" dirty="0">
                  <a:latin typeface="微软雅黑" panose="020B0503020204020204" pitchFamily="34" charset="-122"/>
                  <a:ea typeface="微软雅黑" panose="020B0503020204020204" pitchFamily="34" charset="-122"/>
                  <a:sym typeface="+mn-ea"/>
                </a:rPr>
                <a:t>2</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49" name="TextBox 20"/>
            <p:cNvSpPr txBox="1"/>
            <p:nvPr/>
          </p:nvSpPr>
          <p:spPr>
            <a:xfrm>
              <a:off x="1959110"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辅色</a:t>
              </a:r>
              <a:r>
                <a:rPr kumimoji="1" lang="en-US" altLang="zh-CN" sz="1000" dirty="0">
                  <a:latin typeface="微软雅黑" panose="020B0503020204020204" pitchFamily="34" charset="-122"/>
                  <a:ea typeface="微软雅黑" panose="020B0503020204020204" pitchFamily="34" charset="-122"/>
                  <a:sym typeface="+mn-ea"/>
                </a:rPr>
                <a:t>3</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50" name="文本框 49"/>
            <p:cNvSpPr txBox="1"/>
            <p:nvPr/>
          </p:nvSpPr>
          <p:spPr>
            <a:xfrm>
              <a:off x="1104518" y="5634688"/>
              <a:ext cx="1569660" cy="276999"/>
            </a:xfrm>
            <a:prstGeom prst="rect">
              <a:avLst/>
            </a:prstGeom>
            <a:noFill/>
          </p:spPr>
          <p:txBody>
            <a:bodyPr wrap="none" rtlCol="0">
              <a:spAutoFit/>
            </a:bodyPr>
            <a:lstStyle/>
            <a:p>
              <a:pPr algn="l"/>
              <a:r>
                <a:rPr kumimoji="1" lang="zh-CN" altLang="en-US" sz="1200" dirty="0">
                  <a:latin typeface="微软雅黑" panose="020B0503020204020204" pitchFamily="34" charset="-122"/>
                  <a:ea typeface="微软雅黑" panose="020B0503020204020204" pitchFamily="34" charset="-122"/>
                </a:rPr>
                <a:t>主题色同色系渐变色</a:t>
              </a:r>
              <a:endParaRPr kumimoji="1" lang="zh-CN" altLang="en-US" sz="1200" dirty="0">
                <a:latin typeface="微软雅黑" panose="020B0503020204020204" pitchFamily="34" charset="-122"/>
                <a:ea typeface="微软雅黑" panose="020B0503020204020204" pitchFamily="34" charset="-122"/>
              </a:endParaRPr>
            </a:p>
          </p:txBody>
        </p:sp>
      </p:grpSp>
      <p:sp>
        <p:nvSpPr>
          <p:cNvPr id="4" name="TextBox 3"/>
          <p:cNvSpPr txBox="1"/>
          <p:nvPr userDrawn="1"/>
        </p:nvSpPr>
        <p:spPr>
          <a:xfrm>
            <a:off x="11228388" y="6576616"/>
            <a:ext cx="447675" cy="246221"/>
          </a:xfrm>
          <a:prstGeom prst="rect">
            <a:avLst/>
          </a:prstGeom>
          <a:noFill/>
        </p:spPr>
        <p:txBody>
          <a:bodyPr wrap="none" rtlCol="0" anchor="ctr" anchorCtr="0">
            <a:noAutofit/>
          </a:bodyPr>
          <a:lstStyle/>
          <a:p>
            <a:pPr algn="r">
              <a:lnSpc>
                <a:spcPct val="100000"/>
              </a:lnSpc>
              <a:buClrTx/>
              <a:buSzTx/>
              <a:buFontTx/>
            </a:pPr>
            <a:fld id="{FDA8CB47-5F18-3A4B-AD3A-422A03DFB5D1}" type="slidenum">
              <a:rPr kumimoji="1" lang="zh-CN" altLang="en-US" sz="1000" b="0" smtClean="0">
                <a:solidFill>
                  <a:schemeClr val="tx1"/>
                </a:solidFill>
                <a:latin typeface="微软雅黑" panose="020B0503020204020204" pitchFamily="34" charset="-122"/>
                <a:ea typeface="微软雅黑" panose="020B0503020204020204" pitchFamily="34" charset="-122"/>
                <a:sym typeface="+mn-ea"/>
              </a:rPr>
            </a:fld>
            <a:endParaRPr kumimoji="1" lang="zh-CN" altLang="en-US" sz="1000" b="0" dirty="0">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9244955" y="6356654"/>
            <a:ext cx="2743200" cy="365142"/>
          </a:xfrm>
          <a:prstGeom prst="rect">
            <a:avLst/>
          </a:prstGeom>
        </p:spPr>
        <p:txBody>
          <a:bodyPr/>
          <a:lstStyle>
            <a:lvl1pPr algn="r">
              <a:defRPr sz="1400">
                <a:solidFill>
                  <a:srgbClr val="0070BF"/>
                </a:solidFill>
              </a:defRPr>
            </a:lvl1pPr>
          </a:lstStyle>
          <a:p>
            <a:fld id="{48F63A3B-78C7-47BE-AE5E-E10140E04643}"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标题_内容 规划">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20000"/>
                    </a14:imgEffect>
                    <a14:imgEffect>
                      <a14:saturation sat="200000"/>
                    </a14:imgEffect>
                  </a14:imgLayer>
                </a14:imgProps>
              </a:ext>
            </a:extLst>
          </a:blip>
          <a:stretch>
            <a:fillRect/>
          </a:stretch>
        </p:blipFill>
        <p:spPr>
          <a:xfrm>
            <a:off x="0" y="0"/>
            <a:ext cx="12192635" cy="6858000"/>
          </a:xfrm>
          <a:prstGeom prst="rect">
            <a:avLst/>
          </a:prstGeom>
        </p:spPr>
      </p:pic>
      <p:sp>
        <p:nvSpPr>
          <p:cNvPr id="10" name="Title Placeholder 1"/>
          <p:cNvSpPr>
            <a:spLocks noGrp="1"/>
          </p:cNvSpPr>
          <p:nvPr>
            <p:ph type="title" hasCustomPrompt="1"/>
          </p:nvPr>
        </p:nvSpPr>
        <p:spPr>
          <a:xfrm>
            <a:off x="526123" y="296516"/>
            <a:ext cx="9704259" cy="611184"/>
          </a:xfrm>
          <a:prstGeom prst="rect">
            <a:avLst/>
          </a:prstGeom>
        </p:spPr>
        <p:txBody>
          <a:bodyPr vert="horz" lIns="91440" tIns="45720" rIns="91440" bIns="45720" rtlCol="0" anchor="ctr">
            <a:normAutofit/>
          </a:bodyPr>
          <a:lstStyle>
            <a:lvl1pPr algn="l">
              <a:defRPr sz="2800" b="1">
                <a:solidFill>
                  <a:schemeClr val="accent1"/>
                </a:solidFill>
                <a:latin typeface="微软雅黑" panose="020B0503020204020204" pitchFamily="34" charset="-122"/>
                <a:ea typeface="微软雅黑" panose="020B0503020204020204" pitchFamily="34" charset="-122"/>
              </a:defRPr>
            </a:lvl1pPr>
          </a:lstStyle>
          <a:p>
            <a:r>
              <a:rPr lang="zh-CN" altLang="en-US" dirty="0"/>
              <a:t>单击此处编辑标题</a:t>
            </a:r>
            <a:endParaRPr lang="en-US" dirty="0"/>
          </a:p>
        </p:txBody>
      </p:sp>
      <p:pic>
        <p:nvPicPr>
          <p:cNvPr id="17" name="图片 16"/>
          <p:cNvPicPr>
            <a:picLocks noChangeAspect="1"/>
          </p:cNvPicPr>
          <p:nvPr userDrawn="1"/>
        </p:nvPicPr>
        <p:blipFill>
          <a:blip r:embed="rId4"/>
          <a:stretch>
            <a:fillRect/>
          </a:stretch>
        </p:blipFill>
        <p:spPr>
          <a:xfrm>
            <a:off x="568990" y="5873115"/>
            <a:ext cx="1287847" cy="808990"/>
          </a:xfrm>
          <a:prstGeom prst="rect">
            <a:avLst/>
          </a:prstGeom>
        </p:spPr>
      </p:pic>
      <p:sp>
        <p:nvSpPr>
          <p:cNvPr id="18" name="Text Placeholder 2"/>
          <p:cNvSpPr>
            <a:spLocks noGrp="1"/>
          </p:cNvSpPr>
          <p:nvPr>
            <p:ph type="body" idx="10" hasCustomPrompt="1"/>
          </p:nvPr>
        </p:nvSpPr>
        <p:spPr>
          <a:xfrm>
            <a:off x="914448" y="1334739"/>
            <a:ext cx="10363740" cy="4570994"/>
          </a:xfrm>
          <a:prstGeom prst="rect">
            <a:avLst/>
          </a:prstGeom>
        </p:spPr>
        <p:txBody>
          <a:bodyPr anchor="t">
            <a:normAutofit/>
          </a:bodyPr>
          <a:lstStyle>
            <a:lvl1pPr marL="0" indent="0" algn="l">
              <a:buNone/>
              <a:defRPr sz="1800" b="0">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pic>
        <p:nvPicPr>
          <p:cNvPr id="2" name="图片 1"/>
          <p:cNvPicPr>
            <a:picLocks noChangeAspect="1"/>
          </p:cNvPicPr>
          <p:nvPr userDrawn="1"/>
        </p:nvPicPr>
        <p:blipFill>
          <a:blip r:embed="rId5" cstate="print"/>
          <a:stretch>
            <a:fillRect/>
          </a:stretch>
        </p:blipFill>
        <p:spPr>
          <a:xfrm>
            <a:off x="10073746" y="-79719"/>
            <a:ext cx="1852172" cy="1389056"/>
          </a:xfrm>
          <a:prstGeom prst="rect">
            <a:avLst/>
          </a:prstGeom>
        </p:spPr>
      </p:pic>
      <p:sp>
        <p:nvSpPr>
          <p:cNvPr id="4" name="TextBox 3"/>
          <p:cNvSpPr txBox="1"/>
          <p:nvPr userDrawn="1"/>
        </p:nvSpPr>
        <p:spPr>
          <a:xfrm>
            <a:off x="11228973" y="6576616"/>
            <a:ext cx="447698" cy="246221"/>
          </a:xfrm>
          <a:prstGeom prst="rect">
            <a:avLst/>
          </a:prstGeom>
          <a:noFill/>
        </p:spPr>
        <p:txBody>
          <a:bodyPr wrap="none" rtlCol="0" anchor="ctr" anchorCtr="0">
            <a:noAutofit/>
          </a:bodyPr>
          <a:lstStyle/>
          <a:p>
            <a:pPr algn="r">
              <a:lnSpc>
                <a:spcPct val="100000"/>
              </a:lnSpc>
              <a:buClrTx/>
              <a:buSzTx/>
              <a:buFontTx/>
            </a:pPr>
            <a:fld id="{FDA8CB47-5F18-3A4B-AD3A-422A03DFB5D1}" type="slidenum">
              <a:rPr kumimoji="1" lang="zh-CN" altLang="en-US" sz="1000" b="0" smtClean="0">
                <a:solidFill>
                  <a:schemeClr val="accent2"/>
                </a:solidFill>
                <a:latin typeface="微软雅黑" panose="020B0503020204020204" pitchFamily="34" charset="-122"/>
                <a:ea typeface="微软雅黑" panose="020B0503020204020204" pitchFamily="34" charset="-122"/>
                <a:sym typeface="+mn-ea"/>
              </a:rPr>
            </a:fld>
            <a:endParaRPr kumimoji="1" lang="zh-CN" altLang="en-US" sz="1000" b="0" dirty="0">
              <a:solidFill>
                <a:schemeClr val="accent2"/>
              </a:solidFill>
              <a:latin typeface="微软雅黑" panose="020B0503020204020204" pitchFamily="34" charset="-122"/>
              <a:ea typeface="微软雅黑" panose="020B0503020204020204" pitchFamily="34" charset="-122"/>
              <a:sym typeface="+mn-ea"/>
            </a:endParaRPr>
          </a:p>
        </p:txBody>
      </p:sp>
      <p:cxnSp>
        <p:nvCxnSpPr>
          <p:cNvPr id="6" name="Straight Connector 5"/>
          <p:cNvCxnSpPr/>
          <p:nvPr userDrawn="1"/>
        </p:nvCxnSpPr>
        <p:spPr>
          <a:xfrm>
            <a:off x="0" y="920401"/>
            <a:ext cx="12192634"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矩形 4"/>
          <p:cNvSpPr/>
          <p:nvPr userDrawn="1"/>
        </p:nvSpPr>
        <p:spPr>
          <a:xfrm>
            <a:off x="515965" y="6577172"/>
            <a:ext cx="10709198" cy="245110"/>
          </a:xfrm>
          <a:prstGeom prst="rect">
            <a:avLst/>
          </a:prstGeom>
        </p:spPr>
        <p:txBody>
          <a:bodyPr wrap="square" anchor="ctr">
            <a:spAutoFit/>
          </a:bodyPr>
          <a:lstStyle/>
          <a:p>
            <a:pPr algn="l"/>
            <a:r>
              <a:rPr lang="zh-CN" altLang="zh-CN" sz="1000" b="0" i="0" dirty="0">
                <a:solidFill>
                  <a:schemeClr val="accent3"/>
                </a:solidFill>
                <a:latin typeface="微软雅黑" panose="020B0503020204020204" pitchFamily="34" charset="-122"/>
                <a:ea typeface="微软雅黑" panose="020B0503020204020204" pitchFamily="34" charset="-122"/>
                <a:sym typeface="Arial" panose="020B0604020202020204" pitchFamily="34" charset="0"/>
              </a:rPr>
              <a:t>文档中的全部内容属</a:t>
            </a:r>
            <a:r>
              <a:rPr lang="zh-CN" altLang="en-US" sz="1000" b="0" i="0" dirty="0">
                <a:solidFill>
                  <a:schemeClr val="accent3"/>
                </a:solidFill>
                <a:latin typeface="微软雅黑" panose="020B0503020204020204" pitchFamily="34" charset="-122"/>
                <a:ea typeface="微软雅黑" panose="020B0503020204020204" pitchFamily="34" charset="-122"/>
                <a:sym typeface="Arial" panose="020B0604020202020204" pitchFamily="34" charset="0"/>
              </a:rPr>
              <a:t>中国移动</a:t>
            </a:r>
            <a:r>
              <a:rPr lang="zh-CN" altLang="zh-CN" sz="1000" b="0" i="0" dirty="0">
                <a:solidFill>
                  <a:schemeClr val="accent3"/>
                </a:solidFill>
                <a:latin typeface="微软雅黑" panose="020B0503020204020204" pitchFamily="34" charset="-122"/>
                <a:ea typeface="微软雅黑" panose="020B0503020204020204" pitchFamily="34" charset="-122"/>
                <a:sym typeface="Arial" panose="020B0604020202020204" pitchFamily="34" charset="0"/>
              </a:rPr>
              <a:t>所有，未经允许，不可全部或部分发表、复制、使用于任何目的</a:t>
            </a:r>
            <a:endParaRPr lang="zh-CN" altLang="en-US" sz="1000" b="0" i="0" dirty="0">
              <a:solidFill>
                <a:schemeClr val="accent3"/>
              </a:solidFill>
              <a:latin typeface="微软雅黑" panose="020B0503020204020204" pitchFamily="34" charset="-122"/>
              <a:ea typeface="微软雅黑" panose="020B0503020204020204" pitchFamily="34" charset="-122"/>
            </a:endParaRPr>
          </a:p>
        </p:txBody>
      </p:sp>
      <p:grpSp>
        <p:nvGrpSpPr>
          <p:cNvPr id="8" name="组合 7"/>
          <p:cNvGrpSpPr/>
          <p:nvPr userDrawn="1"/>
        </p:nvGrpSpPr>
        <p:grpSpPr>
          <a:xfrm>
            <a:off x="-2592744" y="2310389"/>
            <a:ext cx="2420015" cy="2619693"/>
            <a:chOff x="406506" y="5448543"/>
            <a:chExt cx="3161569" cy="3917925"/>
          </a:xfrm>
        </p:grpSpPr>
        <p:pic>
          <p:nvPicPr>
            <p:cNvPr id="9" name="图片 8"/>
            <p:cNvPicPr>
              <a:picLocks noChangeAspect="1"/>
            </p:cNvPicPr>
            <p:nvPr/>
          </p:nvPicPr>
          <p:blipFill>
            <a:blip r:embed="rId6"/>
            <a:stretch>
              <a:fillRect/>
            </a:stretch>
          </p:blipFill>
          <p:spPr>
            <a:xfrm>
              <a:off x="406506" y="5448543"/>
              <a:ext cx="3161569" cy="3917925"/>
            </a:xfrm>
            <a:prstGeom prst="rect">
              <a:avLst/>
            </a:prstGeom>
          </p:spPr>
        </p:pic>
        <p:sp>
          <p:nvSpPr>
            <p:cNvPr id="11" name="TextBox 4"/>
            <p:cNvSpPr txBox="1"/>
            <p:nvPr/>
          </p:nvSpPr>
          <p:spPr>
            <a:xfrm>
              <a:off x="424496"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主色</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12" name="TextBox 7"/>
            <p:cNvSpPr txBox="1"/>
            <p:nvPr/>
          </p:nvSpPr>
          <p:spPr>
            <a:xfrm>
              <a:off x="936034"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辅色</a:t>
              </a:r>
              <a:r>
                <a:rPr kumimoji="1"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1</a:t>
              </a:r>
              <a:endParaRPr kumimoji="1"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TextBox 10"/>
            <p:cNvSpPr txBox="1"/>
            <p:nvPr/>
          </p:nvSpPr>
          <p:spPr>
            <a:xfrm>
              <a:off x="2470648"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强调色</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14" name="TextBox 13"/>
            <p:cNvSpPr txBox="1"/>
            <p:nvPr/>
          </p:nvSpPr>
          <p:spPr>
            <a:xfrm>
              <a:off x="2982186"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对比</a:t>
              </a:r>
              <a:endParaRPr kumimoji="1" lang="en-US" altLang="zh-CN" sz="1000" dirty="0">
                <a:latin typeface="微软雅黑" panose="020B0503020204020204" pitchFamily="34" charset="-122"/>
                <a:ea typeface="微软雅黑" panose="020B0503020204020204" pitchFamily="34" charset="-122"/>
                <a:sym typeface="+mn-ea"/>
              </a:endParaRPr>
            </a:p>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sym typeface="+mn-ea"/>
                </a:rPr>
                <a:t>强调色</a:t>
              </a:r>
              <a:endParaRPr kumimoji="1" lang="zh-CN" altLang="en-US" sz="1000" dirty="0">
                <a:latin typeface="微软雅黑" panose="020B0503020204020204" pitchFamily="34" charset="-122"/>
                <a:ea typeface="微软雅黑" panose="020B0503020204020204" pitchFamily="34" charset="-122"/>
                <a:sym typeface="+mn-ea"/>
              </a:endParaRPr>
            </a:p>
          </p:txBody>
        </p:sp>
        <p:sp>
          <p:nvSpPr>
            <p:cNvPr id="15" name="TextBox 17"/>
            <p:cNvSpPr txBox="1"/>
            <p:nvPr/>
          </p:nvSpPr>
          <p:spPr>
            <a:xfrm>
              <a:off x="1447572"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辅色</a:t>
              </a:r>
              <a:r>
                <a:rPr kumimoji="1"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a:t>
              </a:r>
              <a:endParaRPr kumimoji="1"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6" name="TextBox 20"/>
            <p:cNvSpPr txBox="1"/>
            <p:nvPr/>
          </p:nvSpPr>
          <p:spPr>
            <a:xfrm>
              <a:off x="1959110" y="5954989"/>
              <a:ext cx="529858" cy="259665"/>
            </a:xfrm>
            <a:prstGeom prst="rect">
              <a:avLst/>
            </a:prstGeom>
            <a:noFill/>
          </p:spPr>
          <p:txBody>
            <a:bodyPr wrap="none" rtlCol="0" anchor="ctr" anchorCtr="0">
              <a:noAutofit/>
            </a:bodyPr>
            <a:lstStyle/>
            <a:p>
              <a:pPr algn="ctr">
                <a:lnSpc>
                  <a:spcPct val="100000"/>
                </a:lnSpc>
                <a:buClrTx/>
                <a:buSzTx/>
                <a:buFontTx/>
              </a:pPr>
              <a:r>
                <a:rPr kumimoji="1"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辅色</a:t>
              </a:r>
              <a:r>
                <a:rPr kumimoji="1"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3</a:t>
              </a:r>
              <a:endParaRPr kumimoji="1"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9" name="文本框 18"/>
            <p:cNvSpPr txBox="1"/>
            <p:nvPr/>
          </p:nvSpPr>
          <p:spPr>
            <a:xfrm>
              <a:off x="1104518" y="5634688"/>
              <a:ext cx="2030812" cy="412163"/>
            </a:xfrm>
            <a:prstGeom prst="rect">
              <a:avLst/>
            </a:prstGeom>
            <a:noFill/>
          </p:spPr>
          <p:txBody>
            <a:bodyPr wrap="none" rtlCol="0">
              <a:spAutoFit/>
            </a:bodyPr>
            <a:lstStyle/>
            <a:p>
              <a:pPr algn="l"/>
              <a:r>
                <a:rPr kumimoji="1" lang="zh-CN" altLang="en-US" sz="1200" dirty="0">
                  <a:latin typeface="微软雅黑" panose="020B0503020204020204" pitchFamily="34" charset="-122"/>
                  <a:ea typeface="微软雅黑" panose="020B0503020204020204" pitchFamily="34" charset="-122"/>
                </a:rPr>
                <a:t>主题色同色系渐变色</a:t>
              </a:r>
              <a:endParaRPr kumimoji="1" lang="zh-CN" altLang="en-US" sz="1200"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10" name="Title Placeholder 1"/>
          <p:cNvSpPr>
            <a:spLocks noGrp="1"/>
          </p:cNvSpPr>
          <p:nvPr>
            <p:ph type="title" hasCustomPrompt="1"/>
          </p:nvPr>
        </p:nvSpPr>
        <p:spPr>
          <a:xfrm>
            <a:off x="165205" y="76880"/>
            <a:ext cx="8153400" cy="611184"/>
          </a:xfrm>
          <a:prstGeom prst="rect">
            <a:avLst/>
          </a:prstGeom>
        </p:spPr>
        <p:txBody>
          <a:bodyPr vert="horz" lIns="91440" tIns="45720" rIns="91440" bIns="45720" rtlCol="0" anchor="ctr">
            <a:normAutofit/>
          </a:bodyPr>
          <a:lstStyle>
            <a:lvl1pPr algn="l">
              <a:defRPr sz="2800" b="1">
                <a:solidFill>
                  <a:srgbClr val="0B85CF"/>
                </a:solidFill>
                <a:latin typeface="方正黑体简体" panose="02000000000000000000" pitchFamily="2" charset="-122"/>
                <a:ea typeface="方正黑体简体" panose="02000000000000000000" pitchFamily="2" charset="-122"/>
              </a:defRPr>
            </a:lvl1pPr>
          </a:lstStyle>
          <a:p>
            <a:r>
              <a:rPr lang="zh-CN" altLang="en-US" dirty="0"/>
              <a:t>单击此处编辑标题</a:t>
            </a:r>
            <a:endParaRPr lang="en-US" dirty="0"/>
          </a:p>
        </p:txBody>
      </p:sp>
      <p:sp>
        <p:nvSpPr>
          <p:cNvPr id="18" name="Text Placeholder 2"/>
          <p:cNvSpPr>
            <a:spLocks noGrp="1"/>
          </p:cNvSpPr>
          <p:nvPr>
            <p:ph type="body" idx="10" hasCustomPrompt="1"/>
          </p:nvPr>
        </p:nvSpPr>
        <p:spPr>
          <a:xfrm>
            <a:off x="914400" y="1334739"/>
            <a:ext cx="10363200" cy="4570994"/>
          </a:xfrm>
          <a:prstGeom prst="rect">
            <a:avLst/>
          </a:prstGeom>
        </p:spPr>
        <p:txBody>
          <a:bodyPr anchor="t">
            <a:normAutofit/>
          </a:bodyPr>
          <a:lstStyle>
            <a:lvl1pPr marL="0" indent="0" algn="l">
              <a:buNone/>
              <a:defRPr sz="1800" b="0">
                <a:latin typeface="方正黑体简体" panose="02000000000000000000" pitchFamily="2" charset="-122"/>
                <a:ea typeface="方正黑体简体" panose="02000000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sp>
        <p:nvSpPr>
          <p:cNvPr id="2" name="TextBox 2"/>
          <p:cNvSpPr txBox="1"/>
          <p:nvPr userDrawn="1"/>
        </p:nvSpPr>
        <p:spPr>
          <a:xfrm>
            <a:off x="11412857" y="6517005"/>
            <a:ext cx="704851" cy="229870"/>
          </a:xfrm>
          <a:prstGeom prst="rect">
            <a:avLst/>
          </a:prstGeom>
          <a:noFill/>
        </p:spPr>
        <p:txBody>
          <a:bodyPr wrap="square">
            <a:spAutoFit/>
          </a:bodyPr>
          <a:lstStyle/>
          <a:p>
            <a:pPr algn="r"/>
            <a:fld id="{5ABFF955-C966-4E25-96E4-B00EF2B78A64}" type="slidenum">
              <a:rPr lang="zh-CN" altLang="en-US" sz="900" b="1">
                <a:solidFill>
                  <a:srgbClr val="9BBB59"/>
                </a:solidFill>
                <a:latin typeface="微软雅黑" panose="020B0503020204020204" pitchFamily="34" charset="-122"/>
                <a:ea typeface="微软雅黑" panose="020B0503020204020204" pitchFamily="34" charset="-122"/>
              </a:rPr>
            </a:fld>
            <a:endParaRPr lang="zh-CN" altLang="en-US" sz="900" b="1" dirty="0">
              <a:solidFill>
                <a:srgbClr val="9BBB59"/>
              </a:solidFill>
              <a:latin typeface="微软雅黑" panose="020B0503020204020204" pitchFamily="34" charset="-122"/>
              <a:ea typeface="微软雅黑" panose="020B0503020204020204" pitchFamily="34" charset="-122"/>
            </a:endParaRPr>
          </a:p>
        </p:txBody>
      </p:sp>
      <p:cxnSp>
        <p:nvCxnSpPr>
          <p:cNvPr id="3145730" name="直接连接符 2"/>
          <p:cNvCxnSpPr/>
          <p:nvPr userDrawn="1"/>
        </p:nvCxnSpPr>
        <p:spPr>
          <a:xfrm>
            <a:off x="0" y="655320"/>
            <a:ext cx="8428008" cy="0"/>
          </a:xfrm>
          <a:prstGeom prst="line">
            <a:avLst/>
          </a:prstGeom>
          <a:ln w="38100">
            <a:gradFill flip="none" rotWithShape="1">
              <a:gsLst>
                <a:gs pos="1000">
                  <a:schemeClr val="accent1">
                    <a:lumMod val="0"/>
                    <a:lumOff val="100000"/>
                  </a:schemeClr>
                </a:gs>
                <a:gs pos="20000">
                  <a:srgbClr val="91C8E9"/>
                </a:gs>
                <a:gs pos="100000">
                  <a:srgbClr val="0B85CF"/>
                </a:gs>
              </a:gsLst>
              <a:lin ang="1080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1.pn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rotWithShape="1">
          <a:blip r:embed="rId19" cstate="screen"/>
          <a:srcRect t="28597" b="32462"/>
          <a:stretch>
            <a:fillRect/>
          </a:stretch>
        </p:blipFill>
        <p:spPr>
          <a:xfrm>
            <a:off x="10348713" y="141668"/>
            <a:ext cx="1852076" cy="540912"/>
          </a:xfrm>
          <a:prstGeom prst="rect">
            <a:avLst/>
          </a:prstGeom>
        </p:spPr>
      </p:pic>
      <p:sp>
        <p:nvSpPr>
          <p:cNvPr id="11" name="标题占位符 10"/>
          <p:cNvSpPr>
            <a:spLocks noGrp="1"/>
          </p:cNvSpPr>
          <p:nvPr>
            <p:ph type="title"/>
          </p:nvPr>
        </p:nvSpPr>
        <p:spPr>
          <a:xfrm>
            <a:off x="187817" y="92410"/>
            <a:ext cx="105156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13" name="矩形 12"/>
          <p:cNvSpPr/>
          <p:nvPr userDrawn="1"/>
        </p:nvSpPr>
        <p:spPr>
          <a:xfrm>
            <a:off x="10917618" y="6551300"/>
            <a:ext cx="1222869" cy="261610"/>
          </a:xfrm>
          <a:prstGeom prst="rect">
            <a:avLst/>
          </a:prstGeom>
          <a:noFill/>
        </p:spPr>
        <p:txBody>
          <a:bodyPr wrap="none" rtlCol="0" anchor="ctr" anchorCtr="0">
            <a:noAutofit/>
          </a:bodyPr>
          <a:lstStyle/>
          <a:p>
            <a:pPr algn="r" defTabSz="914400"/>
            <a:fld id="{A3BAE1C6-4380-4491-8C76-C5075ED62E8D}" type="slidenum">
              <a:rPr kumimoji="1" lang="zh-CN" altLang="en-US" sz="1100" smtClean="0">
                <a:solidFill>
                  <a:srgbClr val="8FC31F"/>
                </a:solidFill>
              </a:rPr>
            </a:fld>
            <a:endParaRPr kumimoji="1" lang="zh-CN" altLang="en-US" sz="1100" dirty="0">
              <a:solidFill>
                <a:srgbClr val="8FC31F"/>
              </a:solidFill>
            </a:endParaRPr>
          </a:p>
        </p:txBody>
      </p:sp>
      <p:sp>
        <p:nvSpPr>
          <p:cNvPr id="5" name="矩形 4"/>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文档中的全部内容属</a:t>
            </a:r>
            <a:r>
              <a:rPr lang="zh-CN" altLang="en-US"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中国移动</a:t>
            </a:r>
            <a:r>
              <a:rPr lang="zh-CN" altLang="zh-CN"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所有，未经允许，不可全部或部分发表、复制、使用于任何目的</a:t>
            </a:r>
            <a:endParaRPr lang="zh-CN" altLang="en-US" sz="1000" b="0" i="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mc:AlternateContent xmlns:mc="http://schemas.openxmlformats.org/markup-compatibility/2006">
    <mc:Choice xmlns:p14="http://schemas.microsoft.com/office/powerpoint/2010/main" Requires="p14">
      <p:transition p14:dur="10"/>
    </mc:Choice>
    <mc:Fallback>
      <p:transition/>
    </mc:Fallback>
  </mc:AlternateContent>
  <p:hf sldNum="0" hdr="0" ftr="0" dt="0"/>
  <p:txStyles>
    <p:titleStyle>
      <a:lvl1pPr algn="l" defTabSz="914400" rtl="0" eaLnBrk="1" latinLnBrk="0" hangingPunct="1">
        <a:lnSpc>
          <a:spcPct val="90000"/>
        </a:lnSpc>
        <a:spcBef>
          <a:spcPct val="0"/>
        </a:spcBef>
        <a:buNone/>
        <a:defRPr lang="en-US" altLang="zh-CN" sz="2400" b="1" kern="1200" dirty="0">
          <a:solidFill>
            <a:srgbClr val="0070C0"/>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9.xml"/><Relationship Id="rId2" Type="http://schemas.openxmlformats.org/officeDocument/2006/relationships/tags" Target="../tags/tag17.xml"/><Relationship Id="rId1" Type="http://schemas.openxmlformats.org/officeDocument/2006/relationships/tags" Target="../tags/tag16.xml"/></Relationships>
</file>

<file path=ppt/slides/_rels/slide3.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4" Type="http://schemas.openxmlformats.org/officeDocument/2006/relationships/notesSlide" Target="../notesSlides/notesSlide3.xml"/><Relationship Id="rId13" Type="http://schemas.openxmlformats.org/officeDocument/2006/relationships/slideLayout" Target="../slideLayouts/slideLayout9.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image" Target="../media/image17.png"/></Relationships>
</file>

<file path=ppt/slides/_rels/slide4.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6" Type="http://schemas.openxmlformats.org/officeDocument/2006/relationships/notesSlide" Target="../notesSlides/notesSlide4.xml"/><Relationship Id="rId15" Type="http://schemas.openxmlformats.org/officeDocument/2006/relationships/slideLayout" Target="../slideLayouts/slideLayout9.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tags" Target="../tags/tag29.xml"/></Relationships>
</file>

<file path=ppt/slides/_rels/slide5.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0" Type="http://schemas.openxmlformats.org/officeDocument/2006/relationships/notesSlide" Target="../notesSlides/notesSlide5.xml"/><Relationship Id="rId3" Type="http://schemas.openxmlformats.org/officeDocument/2006/relationships/tags" Target="../tags/tag45.xml"/><Relationship Id="rId29" Type="http://schemas.openxmlformats.org/officeDocument/2006/relationships/slideLayout" Target="../slideLayouts/slideLayout9.xml"/><Relationship Id="rId28" Type="http://schemas.openxmlformats.org/officeDocument/2006/relationships/tags" Target="../tags/tag64.xml"/><Relationship Id="rId27" Type="http://schemas.openxmlformats.org/officeDocument/2006/relationships/tags" Target="../tags/tag63.xml"/><Relationship Id="rId26" Type="http://schemas.openxmlformats.org/officeDocument/2006/relationships/tags" Target="../tags/tag62.xml"/><Relationship Id="rId25" Type="http://schemas.openxmlformats.org/officeDocument/2006/relationships/tags" Target="../tags/tag61.xml"/><Relationship Id="rId24" Type="http://schemas.openxmlformats.org/officeDocument/2006/relationships/tags" Target="../tags/tag60.xml"/><Relationship Id="rId23" Type="http://schemas.openxmlformats.org/officeDocument/2006/relationships/tags" Target="../tags/tag59.xml"/><Relationship Id="rId22" Type="http://schemas.openxmlformats.org/officeDocument/2006/relationships/tags" Target="../tags/tag58.xml"/><Relationship Id="rId21" Type="http://schemas.openxmlformats.org/officeDocument/2006/relationships/tags" Target="../tags/tag57.xml"/><Relationship Id="rId20" Type="http://schemas.openxmlformats.org/officeDocument/2006/relationships/tags" Target="../tags/tag56.xml"/><Relationship Id="rId2" Type="http://schemas.openxmlformats.org/officeDocument/2006/relationships/tags" Target="../tags/tag44.xml"/><Relationship Id="rId19" Type="http://schemas.openxmlformats.org/officeDocument/2006/relationships/tags" Target="../tags/tag55.xml"/><Relationship Id="rId18" Type="http://schemas.openxmlformats.org/officeDocument/2006/relationships/tags" Target="../tags/tag54.xml"/><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image" Target="../media/image23.svg"/><Relationship Id="rId13" Type="http://schemas.openxmlformats.org/officeDocument/2006/relationships/image" Target="../media/image22.png"/><Relationship Id="rId12" Type="http://schemas.openxmlformats.org/officeDocument/2006/relationships/image" Target="../media/image21.svg"/><Relationship Id="rId11" Type="http://schemas.openxmlformats.org/officeDocument/2006/relationships/image" Target="../media/image20.png"/><Relationship Id="rId10" Type="http://schemas.openxmlformats.org/officeDocument/2006/relationships/image" Target="../media/image19.svg"/><Relationship Id="rId1" Type="http://schemas.openxmlformats.org/officeDocument/2006/relationships/tags" Target="../tags/tag43.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3.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68.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8.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3.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9" Type="http://schemas.openxmlformats.org/officeDocument/2006/relationships/tags" Target="../tags/tag84.xml"/><Relationship Id="rId86" Type="http://schemas.openxmlformats.org/officeDocument/2006/relationships/notesSlide" Target="../notesSlides/notesSlide11.xml"/><Relationship Id="rId85" Type="http://schemas.openxmlformats.org/officeDocument/2006/relationships/slideLayout" Target="../slideLayouts/slideLayout8.xml"/><Relationship Id="rId84" Type="http://schemas.openxmlformats.org/officeDocument/2006/relationships/tags" Target="../tags/tag159.xml"/><Relationship Id="rId83" Type="http://schemas.openxmlformats.org/officeDocument/2006/relationships/tags" Target="../tags/tag158.xml"/><Relationship Id="rId82" Type="http://schemas.openxmlformats.org/officeDocument/2006/relationships/tags" Target="../tags/tag157.xml"/><Relationship Id="rId81" Type="http://schemas.openxmlformats.org/officeDocument/2006/relationships/tags" Target="../tags/tag156.xml"/><Relationship Id="rId80" Type="http://schemas.openxmlformats.org/officeDocument/2006/relationships/tags" Target="../tags/tag155.xml"/><Relationship Id="rId8" Type="http://schemas.openxmlformats.org/officeDocument/2006/relationships/tags" Target="../tags/tag83.xml"/><Relationship Id="rId79" Type="http://schemas.openxmlformats.org/officeDocument/2006/relationships/tags" Target="../tags/tag154.xml"/><Relationship Id="rId78" Type="http://schemas.openxmlformats.org/officeDocument/2006/relationships/tags" Target="../tags/tag153.xml"/><Relationship Id="rId77" Type="http://schemas.openxmlformats.org/officeDocument/2006/relationships/tags" Target="../tags/tag152.xml"/><Relationship Id="rId76" Type="http://schemas.openxmlformats.org/officeDocument/2006/relationships/tags" Target="../tags/tag151.xml"/><Relationship Id="rId75" Type="http://schemas.openxmlformats.org/officeDocument/2006/relationships/tags" Target="../tags/tag150.xml"/><Relationship Id="rId74" Type="http://schemas.openxmlformats.org/officeDocument/2006/relationships/tags" Target="../tags/tag149.xml"/><Relationship Id="rId73" Type="http://schemas.openxmlformats.org/officeDocument/2006/relationships/tags" Target="../tags/tag148.xml"/><Relationship Id="rId72" Type="http://schemas.openxmlformats.org/officeDocument/2006/relationships/tags" Target="../tags/tag147.xml"/><Relationship Id="rId71" Type="http://schemas.openxmlformats.org/officeDocument/2006/relationships/tags" Target="../tags/tag146.xml"/><Relationship Id="rId70" Type="http://schemas.openxmlformats.org/officeDocument/2006/relationships/tags" Target="../tags/tag145.xml"/><Relationship Id="rId7" Type="http://schemas.openxmlformats.org/officeDocument/2006/relationships/tags" Target="../tags/tag82.xml"/><Relationship Id="rId69" Type="http://schemas.openxmlformats.org/officeDocument/2006/relationships/tags" Target="../tags/tag144.xml"/><Relationship Id="rId68" Type="http://schemas.openxmlformats.org/officeDocument/2006/relationships/tags" Target="../tags/tag143.xml"/><Relationship Id="rId67" Type="http://schemas.openxmlformats.org/officeDocument/2006/relationships/tags" Target="../tags/tag142.xml"/><Relationship Id="rId66" Type="http://schemas.openxmlformats.org/officeDocument/2006/relationships/tags" Target="../tags/tag141.xml"/><Relationship Id="rId65" Type="http://schemas.openxmlformats.org/officeDocument/2006/relationships/tags" Target="../tags/tag140.xml"/><Relationship Id="rId64" Type="http://schemas.openxmlformats.org/officeDocument/2006/relationships/tags" Target="../tags/tag139.xml"/><Relationship Id="rId63" Type="http://schemas.openxmlformats.org/officeDocument/2006/relationships/tags" Target="../tags/tag138.xml"/><Relationship Id="rId62" Type="http://schemas.openxmlformats.org/officeDocument/2006/relationships/tags" Target="../tags/tag137.xml"/><Relationship Id="rId61" Type="http://schemas.openxmlformats.org/officeDocument/2006/relationships/tags" Target="../tags/tag136.xml"/><Relationship Id="rId60" Type="http://schemas.openxmlformats.org/officeDocument/2006/relationships/tags" Target="../tags/tag135.xml"/><Relationship Id="rId6" Type="http://schemas.openxmlformats.org/officeDocument/2006/relationships/tags" Target="../tags/tag81.xml"/><Relationship Id="rId59" Type="http://schemas.openxmlformats.org/officeDocument/2006/relationships/tags" Target="../tags/tag134.xml"/><Relationship Id="rId58" Type="http://schemas.openxmlformats.org/officeDocument/2006/relationships/tags" Target="../tags/tag133.xml"/><Relationship Id="rId57" Type="http://schemas.openxmlformats.org/officeDocument/2006/relationships/tags" Target="../tags/tag132.xml"/><Relationship Id="rId56" Type="http://schemas.openxmlformats.org/officeDocument/2006/relationships/tags" Target="../tags/tag131.xml"/><Relationship Id="rId55" Type="http://schemas.openxmlformats.org/officeDocument/2006/relationships/tags" Target="../tags/tag130.xml"/><Relationship Id="rId54" Type="http://schemas.openxmlformats.org/officeDocument/2006/relationships/tags" Target="../tags/tag129.xml"/><Relationship Id="rId53" Type="http://schemas.openxmlformats.org/officeDocument/2006/relationships/tags" Target="../tags/tag128.xml"/><Relationship Id="rId52" Type="http://schemas.openxmlformats.org/officeDocument/2006/relationships/tags" Target="../tags/tag127.xml"/><Relationship Id="rId51" Type="http://schemas.openxmlformats.org/officeDocument/2006/relationships/tags" Target="../tags/tag126.xml"/><Relationship Id="rId50" Type="http://schemas.openxmlformats.org/officeDocument/2006/relationships/tags" Target="../tags/tag125.xml"/><Relationship Id="rId5" Type="http://schemas.openxmlformats.org/officeDocument/2006/relationships/tags" Target="../tags/tag80.xml"/><Relationship Id="rId49" Type="http://schemas.openxmlformats.org/officeDocument/2006/relationships/tags" Target="../tags/tag124.xml"/><Relationship Id="rId48" Type="http://schemas.openxmlformats.org/officeDocument/2006/relationships/tags" Target="../tags/tag123.xml"/><Relationship Id="rId47" Type="http://schemas.openxmlformats.org/officeDocument/2006/relationships/tags" Target="../tags/tag122.xml"/><Relationship Id="rId46" Type="http://schemas.openxmlformats.org/officeDocument/2006/relationships/tags" Target="../tags/tag121.xml"/><Relationship Id="rId45" Type="http://schemas.openxmlformats.org/officeDocument/2006/relationships/tags" Target="../tags/tag120.xml"/><Relationship Id="rId44" Type="http://schemas.openxmlformats.org/officeDocument/2006/relationships/tags" Target="../tags/tag119.xml"/><Relationship Id="rId43" Type="http://schemas.openxmlformats.org/officeDocument/2006/relationships/tags" Target="../tags/tag118.xml"/><Relationship Id="rId42" Type="http://schemas.openxmlformats.org/officeDocument/2006/relationships/tags" Target="../tags/tag117.xml"/><Relationship Id="rId41" Type="http://schemas.openxmlformats.org/officeDocument/2006/relationships/tags" Target="../tags/tag116.xml"/><Relationship Id="rId40" Type="http://schemas.openxmlformats.org/officeDocument/2006/relationships/tags" Target="../tags/tag115.xml"/><Relationship Id="rId4" Type="http://schemas.openxmlformats.org/officeDocument/2006/relationships/tags" Target="../tags/tag79.xml"/><Relationship Id="rId39" Type="http://schemas.openxmlformats.org/officeDocument/2006/relationships/tags" Target="../tags/tag114.xml"/><Relationship Id="rId38" Type="http://schemas.openxmlformats.org/officeDocument/2006/relationships/tags" Target="../tags/tag113.xml"/><Relationship Id="rId37" Type="http://schemas.openxmlformats.org/officeDocument/2006/relationships/tags" Target="../tags/tag112.xml"/><Relationship Id="rId36" Type="http://schemas.openxmlformats.org/officeDocument/2006/relationships/tags" Target="../tags/tag111.xml"/><Relationship Id="rId35" Type="http://schemas.openxmlformats.org/officeDocument/2006/relationships/tags" Target="../tags/tag110.xml"/><Relationship Id="rId34" Type="http://schemas.openxmlformats.org/officeDocument/2006/relationships/tags" Target="../tags/tag109.xml"/><Relationship Id="rId33" Type="http://schemas.openxmlformats.org/officeDocument/2006/relationships/tags" Target="../tags/tag108.xml"/><Relationship Id="rId32" Type="http://schemas.openxmlformats.org/officeDocument/2006/relationships/tags" Target="../tags/tag107.xml"/><Relationship Id="rId31" Type="http://schemas.openxmlformats.org/officeDocument/2006/relationships/tags" Target="../tags/tag106.xml"/><Relationship Id="rId30" Type="http://schemas.openxmlformats.org/officeDocument/2006/relationships/tags" Target="../tags/tag105.xml"/><Relationship Id="rId3" Type="http://schemas.openxmlformats.org/officeDocument/2006/relationships/tags" Target="../tags/tag78.xml"/><Relationship Id="rId29" Type="http://schemas.openxmlformats.org/officeDocument/2006/relationships/tags" Target="../tags/tag104.xml"/><Relationship Id="rId28" Type="http://schemas.openxmlformats.org/officeDocument/2006/relationships/tags" Target="../tags/tag103.xml"/><Relationship Id="rId27" Type="http://schemas.openxmlformats.org/officeDocument/2006/relationships/tags" Target="../tags/tag102.xml"/><Relationship Id="rId26" Type="http://schemas.openxmlformats.org/officeDocument/2006/relationships/tags" Target="../tags/tag101.xml"/><Relationship Id="rId25" Type="http://schemas.openxmlformats.org/officeDocument/2006/relationships/tags" Target="../tags/tag100.xml"/><Relationship Id="rId24" Type="http://schemas.openxmlformats.org/officeDocument/2006/relationships/tags" Target="../tags/tag99.xml"/><Relationship Id="rId23" Type="http://schemas.openxmlformats.org/officeDocument/2006/relationships/tags" Target="../tags/tag98.xml"/><Relationship Id="rId22" Type="http://schemas.openxmlformats.org/officeDocument/2006/relationships/tags" Target="../tags/tag97.xml"/><Relationship Id="rId21" Type="http://schemas.openxmlformats.org/officeDocument/2006/relationships/tags" Target="../tags/tag96.xml"/><Relationship Id="rId20" Type="http://schemas.openxmlformats.org/officeDocument/2006/relationships/tags" Target="../tags/tag95.xml"/><Relationship Id="rId2" Type="http://schemas.openxmlformats.org/officeDocument/2006/relationships/tags" Target="../tags/tag77.xml"/><Relationship Id="rId19" Type="http://schemas.openxmlformats.org/officeDocument/2006/relationships/tags" Target="../tags/tag94.xml"/><Relationship Id="rId18" Type="http://schemas.openxmlformats.org/officeDocument/2006/relationships/tags" Target="../tags/tag93.xml"/><Relationship Id="rId17" Type="http://schemas.openxmlformats.org/officeDocument/2006/relationships/tags" Target="../tags/tag92.xml"/><Relationship Id="rId16" Type="http://schemas.openxmlformats.org/officeDocument/2006/relationships/tags" Target="../tags/tag91.xml"/><Relationship Id="rId15" Type="http://schemas.openxmlformats.org/officeDocument/2006/relationships/tags" Target="../tags/tag90.xml"/><Relationship Id="rId14" Type="http://schemas.openxmlformats.org/officeDocument/2006/relationships/tags" Target="../tags/tag89.xml"/><Relationship Id="rId13" Type="http://schemas.openxmlformats.org/officeDocument/2006/relationships/tags" Target="../tags/tag88.xml"/><Relationship Id="rId12" Type="http://schemas.openxmlformats.org/officeDocument/2006/relationships/tags" Target="../tags/tag87.xml"/><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tags" Target="../tags/tag76.xml"/></Relationships>
</file>

<file path=ppt/slides/_rels/slide12.xml.rels><?xml version="1.0" encoding="UTF-8" standalone="yes"?>
<Relationships xmlns="http://schemas.openxmlformats.org/package/2006/relationships"><Relationship Id="rId9" Type="http://schemas.openxmlformats.org/officeDocument/2006/relationships/tags" Target="../tags/tag168.xml"/><Relationship Id="rId8" Type="http://schemas.openxmlformats.org/officeDocument/2006/relationships/tags" Target="../tags/tag167.xml"/><Relationship Id="rId7" Type="http://schemas.openxmlformats.org/officeDocument/2006/relationships/tags" Target="../tags/tag166.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8" Type="http://schemas.openxmlformats.org/officeDocument/2006/relationships/notesSlide" Target="../notesSlides/notesSlide12.xml"/><Relationship Id="rId17" Type="http://schemas.openxmlformats.org/officeDocument/2006/relationships/slideLayout" Target="../slideLayouts/slideLayout8.xml"/><Relationship Id="rId16" Type="http://schemas.openxmlformats.org/officeDocument/2006/relationships/tags" Target="../tags/tag175.xml"/><Relationship Id="rId15" Type="http://schemas.openxmlformats.org/officeDocument/2006/relationships/tags" Target="../tags/tag174.xml"/><Relationship Id="rId14" Type="http://schemas.openxmlformats.org/officeDocument/2006/relationships/tags" Target="../tags/tag173.xml"/><Relationship Id="rId13" Type="http://schemas.openxmlformats.org/officeDocument/2006/relationships/tags" Target="../tags/tag172.xml"/><Relationship Id="rId12" Type="http://schemas.openxmlformats.org/officeDocument/2006/relationships/tags" Target="../tags/tag171.xml"/><Relationship Id="rId11" Type="http://schemas.openxmlformats.org/officeDocument/2006/relationships/tags" Target="../tags/tag170.xml"/><Relationship Id="rId10" Type="http://schemas.openxmlformats.org/officeDocument/2006/relationships/tags" Target="../tags/tag169.xml"/><Relationship Id="rId1" Type="http://schemas.openxmlformats.org/officeDocument/2006/relationships/tags" Target="../tags/tag160.xml"/></Relationships>
</file>

<file path=ppt/slides/_rels/slide13.xml.rels><?xml version="1.0" encoding="UTF-8" standalone="yes"?>
<Relationships xmlns="http://schemas.openxmlformats.org/package/2006/relationships"><Relationship Id="rId9" Type="http://schemas.openxmlformats.org/officeDocument/2006/relationships/tags" Target="../tags/tag183.xml"/><Relationship Id="rId8" Type="http://schemas.openxmlformats.org/officeDocument/2006/relationships/tags" Target="../tags/tag182.xml"/><Relationship Id="rId7" Type="http://schemas.openxmlformats.org/officeDocument/2006/relationships/tags" Target="../tags/tag181.xml"/><Relationship Id="rId6" Type="http://schemas.openxmlformats.org/officeDocument/2006/relationships/tags" Target="../tags/tag180.xml"/><Relationship Id="rId5" Type="http://schemas.openxmlformats.org/officeDocument/2006/relationships/image" Target="../media/image24.png"/><Relationship Id="rId4" Type="http://schemas.openxmlformats.org/officeDocument/2006/relationships/tags" Target="../tags/tag179.xml"/><Relationship Id="rId3" Type="http://schemas.openxmlformats.org/officeDocument/2006/relationships/tags" Target="../tags/tag178.xml"/><Relationship Id="rId21" Type="http://schemas.openxmlformats.org/officeDocument/2006/relationships/notesSlide" Target="../notesSlides/notesSlide13.xml"/><Relationship Id="rId20" Type="http://schemas.openxmlformats.org/officeDocument/2006/relationships/slideLayout" Target="../slideLayouts/slideLayout8.xml"/><Relationship Id="rId2" Type="http://schemas.openxmlformats.org/officeDocument/2006/relationships/tags" Target="../tags/tag177.xml"/><Relationship Id="rId19" Type="http://schemas.openxmlformats.org/officeDocument/2006/relationships/tags" Target="../tags/tag193.xml"/><Relationship Id="rId18" Type="http://schemas.openxmlformats.org/officeDocument/2006/relationships/tags" Target="../tags/tag192.xml"/><Relationship Id="rId17" Type="http://schemas.openxmlformats.org/officeDocument/2006/relationships/tags" Target="../tags/tag191.xml"/><Relationship Id="rId16" Type="http://schemas.openxmlformats.org/officeDocument/2006/relationships/tags" Target="../tags/tag190.xml"/><Relationship Id="rId15" Type="http://schemas.openxmlformats.org/officeDocument/2006/relationships/tags" Target="../tags/tag189.xml"/><Relationship Id="rId14" Type="http://schemas.openxmlformats.org/officeDocument/2006/relationships/tags" Target="../tags/tag188.xml"/><Relationship Id="rId13" Type="http://schemas.openxmlformats.org/officeDocument/2006/relationships/tags" Target="../tags/tag187.xml"/><Relationship Id="rId12" Type="http://schemas.openxmlformats.org/officeDocument/2006/relationships/tags" Target="../tags/tag186.xml"/><Relationship Id="rId11" Type="http://schemas.openxmlformats.org/officeDocument/2006/relationships/tags" Target="../tags/tag185.xml"/><Relationship Id="rId10" Type="http://schemas.openxmlformats.org/officeDocument/2006/relationships/tags" Target="../tags/tag184.xml"/><Relationship Id="rId1" Type="http://schemas.openxmlformats.org/officeDocument/2006/relationships/tags" Target="../tags/tag17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tags" Target="../tags/tag19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tags" Target="../tags/tag195.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8.xml"/><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tags" Target="../tags/tag196.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8.xml"/><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s>
</file>

<file path=ppt/slides/_rels/slide18.xml.rels><?xml version="1.0" encoding="UTF-8" standalone="yes"?>
<Relationships xmlns="http://schemas.openxmlformats.org/package/2006/relationships"><Relationship Id="rId9" Type="http://schemas.openxmlformats.org/officeDocument/2006/relationships/tags" Target="../tags/tag210.xml"/><Relationship Id="rId8" Type="http://schemas.openxmlformats.org/officeDocument/2006/relationships/tags" Target="../tags/tag209.xml"/><Relationship Id="rId7" Type="http://schemas.openxmlformats.org/officeDocument/2006/relationships/tags" Target="../tags/tag208.xml"/><Relationship Id="rId6" Type="http://schemas.openxmlformats.org/officeDocument/2006/relationships/tags" Target="../tags/tag207.xml"/><Relationship Id="rId59" Type="http://schemas.openxmlformats.org/officeDocument/2006/relationships/notesSlide" Target="../notesSlides/notesSlide18.xml"/><Relationship Id="rId58" Type="http://schemas.openxmlformats.org/officeDocument/2006/relationships/slideLayout" Target="../slideLayouts/slideLayout8.xml"/><Relationship Id="rId57" Type="http://schemas.openxmlformats.org/officeDocument/2006/relationships/tags" Target="../tags/tag253.xml"/><Relationship Id="rId56" Type="http://schemas.openxmlformats.org/officeDocument/2006/relationships/tags" Target="../tags/tag252.xml"/><Relationship Id="rId55" Type="http://schemas.openxmlformats.org/officeDocument/2006/relationships/image" Target="../media/image29.svg"/><Relationship Id="rId54" Type="http://schemas.openxmlformats.org/officeDocument/2006/relationships/image" Target="../media/image28.png"/><Relationship Id="rId53" Type="http://schemas.openxmlformats.org/officeDocument/2006/relationships/tags" Target="../tags/tag251.xml"/><Relationship Id="rId52" Type="http://schemas.openxmlformats.org/officeDocument/2006/relationships/image" Target="../media/image27.svg"/><Relationship Id="rId51" Type="http://schemas.openxmlformats.org/officeDocument/2006/relationships/image" Target="../media/image26.png"/><Relationship Id="rId50" Type="http://schemas.openxmlformats.org/officeDocument/2006/relationships/tags" Target="../tags/tag250.xml"/><Relationship Id="rId5" Type="http://schemas.openxmlformats.org/officeDocument/2006/relationships/tags" Target="../tags/tag206.xml"/><Relationship Id="rId49" Type="http://schemas.openxmlformats.org/officeDocument/2006/relationships/tags" Target="../tags/tag249.xml"/><Relationship Id="rId48" Type="http://schemas.openxmlformats.org/officeDocument/2006/relationships/tags" Target="../tags/tag248.xml"/><Relationship Id="rId47" Type="http://schemas.openxmlformats.org/officeDocument/2006/relationships/tags" Target="../tags/tag247.xml"/><Relationship Id="rId46" Type="http://schemas.openxmlformats.org/officeDocument/2006/relationships/tags" Target="../tags/tag246.xml"/><Relationship Id="rId45" Type="http://schemas.openxmlformats.org/officeDocument/2006/relationships/tags" Target="../tags/tag245.xml"/><Relationship Id="rId44" Type="http://schemas.openxmlformats.org/officeDocument/2006/relationships/tags" Target="../tags/tag244.xml"/><Relationship Id="rId43" Type="http://schemas.openxmlformats.org/officeDocument/2006/relationships/tags" Target="../tags/tag243.xml"/><Relationship Id="rId42" Type="http://schemas.openxmlformats.org/officeDocument/2006/relationships/image" Target="../media/image25.png"/><Relationship Id="rId41" Type="http://schemas.openxmlformats.org/officeDocument/2006/relationships/tags" Target="../tags/tag242.xml"/><Relationship Id="rId40" Type="http://schemas.openxmlformats.org/officeDocument/2006/relationships/tags" Target="../tags/tag241.xml"/><Relationship Id="rId4" Type="http://schemas.openxmlformats.org/officeDocument/2006/relationships/tags" Target="../tags/tag205.xml"/><Relationship Id="rId39" Type="http://schemas.openxmlformats.org/officeDocument/2006/relationships/tags" Target="../tags/tag240.xml"/><Relationship Id="rId38" Type="http://schemas.openxmlformats.org/officeDocument/2006/relationships/tags" Target="../tags/tag239.xml"/><Relationship Id="rId37" Type="http://schemas.openxmlformats.org/officeDocument/2006/relationships/tags" Target="../tags/tag238.xml"/><Relationship Id="rId36" Type="http://schemas.openxmlformats.org/officeDocument/2006/relationships/tags" Target="../tags/tag237.xml"/><Relationship Id="rId35" Type="http://schemas.openxmlformats.org/officeDocument/2006/relationships/tags" Target="../tags/tag236.xml"/><Relationship Id="rId34" Type="http://schemas.openxmlformats.org/officeDocument/2006/relationships/tags" Target="../tags/tag235.xml"/><Relationship Id="rId33" Type="http://schemas.openxmlformats.org/officeDocument/2006/relationships/tags" Target="../tags/tag234.xml"/><Relationship Id="rId32" Type="http://schemas.openxmlformats.org/officeDocument/2006/relationships/tags" Target="../tags/tag233.xml"/><Relationship Id="rId31" Type="http://schemas.openxmlformats.org/officeDocument/2006/relationships/tags" Target="../tags/tag232.xml"/><Relationship Id="rId30" Type="http://schemas.openxmlformats.org/officeDocument/2006/relationships/tags" Target="../tags/tag231.xml"/><Relationship Id="rId3" Type="http://schemas.openxmlformats.org/officeDocument/2006/relationships/tags" Target="../tags/tag204.xml"/><Relationship Id="rId29" Type="http://schemas.openxmlformats.org/officeDocument/2006/relationships/tags" Target="../tags/tag230.xml"/><Relationship Id="rId28" Type="http://schemas.openxmlformats.org/officeDocument/2006/relationships/tags" Target="../tags/tag229.xml"/><Relationship Id="rId27" Type="http://schemas.openxmlformats.org/officeDocument/2006/relationships/tags" Target="../tags/tag228.xml"/><Relationship Id="rId26" Type="http://schemas.openxmlformats.org/officeDocument/2006/relationships/tags" Target="../tags/tag227.xml"/><Relationship Id="rId25" Type="http://schemas.openxmlformats.org/officeDocument/2006/relationships/tags" Target="../tags/tag226.xml"/><Relationship Id="rId24" Type="http://schemas.openxmlformats.org/officeDocument/2006/relationships/tags" Target="../tags/tag225.xml"/><Relationship Id="rId23" Type="http://schemas.openxmlformats.org/officeDocument/2006/relationships/tags" Target="../tags/tag224.xml"/><Relationship Id="rId22" Type="http://schemas.openxmlformats.org/officeDocument/2006/relationships/tags" Target="../tags/tag223.xml"/><Relationship Id="rId21" Type="http://schemas.openxmlformats.org/officeDocument/2006/relationships/tags" Target="../tags/tag222.xml"/><Relationship Id="rId20" Type="http://schemas.openxmlformats.org/officeDocument/2006/relationships/tags" Target="../tags/tag221.xml"/><Relationship Id="rId2" Type="http://schemas.openxmlformats.org/officeDocument/2006/relationships/tags" Target="../tags/tag203.xml"/><Relationship Id="rId19" Type="http://schemas.openxmlformats.org/officeDocument/2006/relationships/tags" Target="../tags/tag220.xml"/><Relationship Id="rId18" Type="http://schemas.openxmlformats.org/officeDocument/2006/relationships/tags" Target="../tags/tag219.xml"/><Relationship Id="rId17" Type="http://schemas.openxmlformats.org/officeDocument/2006/relationships/tags" Target="../tags/tag218.xml"/><Relationship Id="rId16" Type="http://schemas.openxmlformats.org/officeDocument/2006/relationships/tags" Target="../tags/tag217.xml"/><Relationship Id="rId15" Type="http://schemas.openxmlformats.org/officeDocument/2006/relationships/tags" Target="../tags/tag216.xml"/><Relationship Id="rId14" Type="http://schemas.openxmlformats.org/officeDocument/2006/relationships/tags" Target="../tags/tag215.xml"/><Relationship Id="rId13" Type="http://schemas.openxmlformats.org/officeDocument/2006/relationships/tags" Target="../tags/tag214.xml"/><Relationship Id="rId12" Type="http://schemas.openxmlformats.org/officeDocument/2006/relationships/tags" Target="../tags/tag213.xml"/><Relationship Id="rId11" Type="http://schemas.openxmlformats.org/officeDocument/2006/relationships/tags" Target="../tags/tag212.xml"/><Relationship Id="rId10" Type="http://schemas.openxmlformats.org/officeDocument/2006/relationships/tags" Target="../tags/tag211.xml"/><Relationship Id="rId1" Type="http://schemas.openxmlformats.org/officeDocument/2006/relationships/tags" Target="../tags/tag202.xml"/></Relationships>
</file>

<file path=ppt/slides/_rels/slide19.xml.rels><?xml version="1.0" encoding="UTF-8" standalone="yes"?>
<Relationships xmlns="http://schemas.openxmlformats.org/package/2006/relationships"><Relationship Id="rId9" Type="http://schemas.openxmlformats.org/officeDocument/2006/relationships/tags" Target="../tags/tag262.xml"/><Relationship Id="rId8" Type="http://schemas.openxmlformats.org/officeDocument/2006/relationships/tags" Target="../tags/tag261.xml"/><Relationship Id="rId7" Type="http://schemas.openxmlformats.org/officeDocument/2006/relationships/tags" Target="../tags/tag260.xml"/><Relationship Id="rId6" Type="http://schemas.openxmlformats.org/officeDocument/2006/relationships/tags" Target="../tags/tag259.xml"/><Relationship Id="rId5" Type="http://schemas.openxmlformats.org/officeDocument/2006/relationships/tags" Target="../tags/tag258.xml"/><Relationship Id="rId4" Type="http://schemas.openxmlformats.org/officeDocument/2006/relationships/tags" Target="../tags/tag257.xml"/><Relationship Id="rId31" Type="http://schemas.openxmlformats.org/officeDocument/2006/relationships/notesSlide" Target="../notesSlides/notesSlide19.xml"/><Relationship Id="rId30" Type="http://schemas.openxmlformats.org/officeDocument/2006/relationships/slideLayout" Target="../slideLayouts/slideLayout8.xml"/><Relationship Id="rId3" Type="http://schemas.openxmlformats.org/officeDocument/2006/relationships/tags" Target="../tags/tag256.xml"/><Relationship Id="rId29" Type="http://schemas.openxmlformats.org/officeDocument/2006/relationships/tags" Target="../tags/tag282.xml"/><Relationship Id="rId28" Type="http://schemas.openxmlformats.org/officeDocument/2006/relationships/tags" Target="../tags/tag281.xml"/><Relationship Id="rId27" Type="http://schemas.openxmlformats.org/officeDocument/2006/relationships/tags" Target="../tags/tag280.xml"/><Relationship Id="rId26" Type="http://schemas.openxmlformats.org/officeDocument/2006/relationships/tags" Target="../tags/tag279.xml"/><Relationship Id="rId25" Type="http://schemas.openxmlformats.org/officeDocument/2006/relationships/tags" Target="../tags/tag278.xml"/><Relationship Id="rId24" Type="http://schemas.openxmlformats.org/officeDocument/2006/relationships/tags" Target="../tags/tag277.xml"/><Relationship Id="rId23" Type="http://schemas.openxmlformats.org/officeDocument/2006/relationships/tags" Target="../tags/tag276.xml"/><Relationship Id="rId22" Type="http://schemas.openxmlformats.org/officeDocument/2006/relationships/tags" Target="../tags/tag275.xml"/><Relationship Id="rId21" Type="http://schemas.openxmlformats.org/officeDocument/2006/relationships/tags" Target="../tags/tag274.xml"/><Relationship Id="rId20" Type="http://schemas.openxmlformats.org/officeDocument/2006/relationships/tags" Target="../tags/tag273.xml"/><Relationship Id="rId2" Type="http://schemas.openxmlformats.org/officeDocument/2006/relationships/tags" Target="../tags/tag255.xml"/><Relationship Id="rId19" Type="http://schemas.openxmlformats.org/officeDocument/2006/relationships/tags" Target="../tags/tag272.xml"/><Relationship Id="rId18" Type="http://schemas.openxmlformats.org/officeDocument/2006/relationships/tags" Target="../tags/tag271.xml"/><Relationship Id="rId17" Type="http://schemas.openxmlformats.org/officeDocument/2006/relationships/tags" Target="../tags/tag270.xml"/><Relationship Id="rId16" Type="http://schemas.openxmlformats.org/officeDocument/2006/relationships/tags" Target="../tags/tag269.xml"/><Relationship Id="rId15" Type="http://schemas.openxmlformats.org/officeDocument/2006/relationships/tags" Target="../tags/tag268.xml"/><Relationship Id="rId14" Type="http://schemas.openxmlformats.org/officeDocument/2006/relationships/tags" Target="../tags/tag267.xml"/><Relationship Id="rId13" Type="http://schemas.openxmlformats.org/officeDocument/2006/relationships/tags" Target="../tags/tag266.xml"/><Relationship Id="rId12" Type="http://schemas.openxmlformats.org/officeDocument/2006/relationships/tags" Target="../tags/tag265.xml"/><Relationship Id="rId11" Type="http://schemas.openxmlformats.org/officeDocument/2006/relationships/tags" Target="../tags/tag264.xml"/><Relationship Id="rId10" Type="http://schemas.openxmlformats.org/officeDocument/2006/relationships/tags" Target="../tags/tag263.xml"/><Relationship Id="rId1" Type="http://schemas.openxmlformats.org/officeDocument/2006/relationships/tags" Target="../tags/tag25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3.xml"/><Relationship Id="rId3" Type="http://schemas.openxmlformats.org/officeDocument/2006/relationships/tags" Target="../tags/tag285.xml"/><Relationship Id="rId2" Type="http://schemas.openxmlformats.org/officeDocument/2006/relationships/tags" Target="../tags/tag284.xml"/><Relationship Id="rId1" Type="http://schemas.openxmlformats.org/officeDocument/2006/relationships/tags" Target="../tags/tag28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8.xml"/><Relationship Id="rId3" Type="http://schemas.openxmlformats.org/officeDocument/2006/relationships/tags" Target="../tags/tag288.xml"/><Relationship Id="rId2" Type="http://schemas.openxmlformats.org/officeDocument/2006/relationships/tags" Target="../tags/tag287.xml"/><Relationship Id="rId1" Type="http://schemas.openxmlformats.org/officeDocument/2006/relationships/tags" Target="../tags/tag28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8.xml"/><Relationship Id="rId3" Type="http://schemas.openxmlformats.org/officeDocument/2006/relationships/tags" Target="../tags/tag291.xml"/><Relationship Id="rId2" Type="http://schemas.openxmlformats.org/officeDocument/2006/relationships/tags" Target="../tags/tag290.xml"/><Relationship Id="rId1" Type="http://schemas.openxmlformats.org/officeDocument/2006/relationships/tags" Target="../tags/tag28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8.xml"/><Relationship Id="rId4" Type="http://schemas.openxmlformats.org/officeDocument/2006/relationships/tags" Target="../tags/tag295.xml"/><Relationship Id="rId3" Type="http://schemas.openxmlformats.org/officeDocument/2006/relationships/tags" Target="../tags/tag294.xml"/><Relationship Id="rId2" Type="http://schemas.openxmlformats.org/officeDocument/2006/relationships/tags" Target="../tags/tag293.xml"/><Relationship Id="rId1" Type="http://schemas.openxmlformats.org/officeDocument/2006/relationships/tags" Target="../tags/tag292.xml"/></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3.xml"/><Relationship Id="rId3" Type="http://schemas.openxmlformats.org/officeDocument/2006/relationships/tags" Target="../tags/tag298.xml"/><Relationship Id="rId2" Type="http://schemas.openxmlformats.org/officeDocument/2006/relationships/tags" Target="../tags/tag297.xml"/><Relationship Id="rId1" Type="http://schemas.openxmlformats.org/officeDocument/2006/relationships/tags" Target="../tags/tag29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8.xml"/><Relationship Id="rId1" Type="http://schemas.openxmlformats.org/officeDocument/2006/relationships/tags" Target="../tags/tag299.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8.xml"/><Relationship Id="rId1" Type="http://schemas.openxmlformats.org/officeDocument/2006/relationships/tags" Target="../tags/tag300.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8.xml"/><Relationship Id="rId1" Type="http://schemas.openxmlformats.org/officeDocument/2006/relationships/tags" Target="../tags/tag30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838200" y="1997544"/>
            <a:ext cx="10515600" cy="1618492"/>
          </a:xfrm>
        </p:spPr>
        <p:txBody>
          <a:bodyPr>
            <a:normAutofit/>
          </a:bodyPr>
          <a:lstStyle/>
          <a:p>
            <a:r>
              <a:rPr kumimoji="1" lang="zh-CN" altLang="en-US">
                <a:sym typeface="+mn-ea"/>
              </a:rPr>
              <a:t>市场领域</a:t>
            </a:r>
            <a:r>
              <a:rPr kumimoji="1" lang="zh-CN" altLang="en-US" dirty="0"/>
              <a:t>数智化转型</a:t>
            </a:r>
            <a:br>
              <a:rPr kumimoji="1" lang="zh-CN" altLang="en-US">
                <a:sym typeface="+mn-ea"/>
              </a:rPr>
            </a:br>
            <a:r>
              <a:rPr kumimoji="1" lang="zh-CN" altLang="en-US">
                <a:sym typeface="+mn-ea"/>
              </a:rPr>
              <a:t>专项</a:t>
            </a:r>
            <a:r>
              <a:rPr kumimoji="1" lang="zh-CN" altLang="en-US" dirty="0"/>
              <a:t>规划方案汇报</a:t>
            </a:r>
            <a:endParaRPr kumimoji="1" lang="zh-CN" altLang="en-US" dirty="0"/>
          </a:p>
        </p:txBody>
      </p:sp>
      <p:sp>
        <p:nvSpPr>
          <p:cNvPr id="10" name="文本占位符 3"/>
          <p:cNvSpPr>
            <a:spLocks noGrp="1"/>
          </p:cNvSpPr>
          <p:nvPr/>
        </p:nvSpPr>
        <p:spPr>
          <a:xfrm>
            <a:off x="838200" y="4513161"/>
            <a:ext cx="10515600" cy="558130"/>
          </a:xfrm>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pitchFamily="34" charset="-122"/>
                <a:ea typeface="微软雅黑" panose="020B0503020204020204" pitchFamily="34" charset="-122"/>
                <a:cs typeface="+mn-cs"/>
              </a:defRPr>
            </a:lvl2pPr>
            <a:lvl3pPr marL="9144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pitchFamily="34" charset="-122"/>
                <a:ea typeface="微软雅黑" panose="020B0503020204020204" pitchFamily="34" charset="-122"/>
                <a:cs typeface="+mn-cs"/>
              </a:defRPr>
            </a:lvl3pPr>
            <a:lvl4pPr marL="13716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pitchFamily="34" charset="-122"/>
                <a:ea typeface="微软雅黑" panose="020B0503020204020204" pitchFamily="34" charset="-122"/>
                <a:cs typeface="+mn-cs"/>
              </a:defRPr>
            </a:lvl4pPr>
            <a:lvl5pPr marL="18288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0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信息技术中心（大数据中心）</a:t>
            </a:r>
            <a:endParaRPr kumimoji="1" lang="zh-CN" altLang="en-US" sz="20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1" name="文本占位符 4"/>
          <p:cNvSpPr>
            <a:spLocks noGrp="1"/>
          </p:cNvSpPr>
          <p:nvPr/>
        </p:nvSpPr>
        <p:spPr>
          <a:xfrm>
            <a:off x="838200" y="5105429"/>
            <a:ext cx="10515600" cy="394447"/>
          </a:xfrm>
        </p:spPr>
        <p:txBody>
          <a:bodyPr vert="horz"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600" kern="1200">
                <a:solidFill>
                  <a:schemeClr val="accent3"/>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pitchFamily="34" charset="-122"/>
                <a:ea typeface="微软雅黑" panose="020B0503020204020204" pitchFamily="34" charset="-122"/>
                <a:cs typeface="+mn-cs"/>
              </a:defRPr>
            </a:lvl2pPr>
            <a:lvl3pPr marL="9144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pitchFamily="34" charset="-122"/>
                <a:ea typeface="微软雅黑" panose="020B0503020204020204" pitchFamily="34" charset="-122"/>
                <a:cs typeface="+mn-cs"/>
              </a:defRPr>
            </a:lvl3pPr>
            <a:lvl4pPr marL="13716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pitchFamily="34" charset="-122"/>
                <a:ea typeface="微软雅黑" panose="020B0503020204020204" pitchFamily="34" charset="-122"/>
                <a:cs typeface="+mn-cs"/>
              </a:defRPr>
            </a:lvl4pPr>
            <a:lvl5pPr marL="18288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0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202</a:t>
            </a:r>
            <a:r>
              <a:rPr kumimoji="0" lang="en-US" altLang="zh-CN" sz="20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20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20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20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月</a:t>
            </a:r>
            <a:endParaRPr kumimoji="0" lang="zh-CN" altLang="en-US" sz="20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sz="2400" b="1" dirty="0">
                <a:solidFill>
                  <a:srgbClr val="0070BF"/>
                </a:solidFill>
                <a:latin typeface="微软雅黑" panose="020B0503020204020204" pitchFamily="34" charset="-122"/>
                <a:ea typeface="微软雅黑" panose="020B0503020204020204" pitchFamily="34" charset="-122"/>
                <a:sym typeface="+mn-ea"/>
              </a:rPr>
              <a:t>国家战略部署</a:t>
            </a:r>
            <a:endParaRPr lang="zh-CN" altLang="en-US" dirty="0"/>
          </a:p>
        </p:txBody>
      </p:sp>
      <p:sp>
        <p:nvSpPr>
          <p:cNvPr id="23" name="文本框 22"/>
          <p:cNvSpPr txBox="1"/>
          <p:nvPr>
            <p:custDataLst>
              <p:tags r:id="rId1"/>
            </p:custDataLst>
          </p:nvPr>
        </p:nvSpPr>
        <p:spPr>
          <a:xfrm>
            <a:off x="-1" y="909041"/>
            <a:ext cx="12192001" cy="788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540000" tIns="45720" rIns="540000" bIns="45720" numCol="1" spcCol="0" rtlCol="0" fromWordArt="0" anchor="ctr" anchorCtr="0" forceAA="0" compatLnSpc="1">
            <a:noAutofit/>
          </a:bodyPr>
          <a:lstStyle>
            <a:defPPr>
              <a:defRPr lang="en-US"/>
            </a:defPPr>
            <a:lvl1pPr marR="0" lvl="0" algn="ctr" defTabSz="914400" fontAlgn="auto">
              <a:lnSpc>
                <a:spcPct val="120000"/>
              </a:lnSpc>
              <a:spcBef>
                <a:spcPts val="0"/>
              </a:spcBef>
              <a:spcAft>
                <a:spcPts val="0"/>
              </a:spcAft>
              <a:buClrTx/>
              <a:buSzTx/>
              <a:buFontTx/>
              <a:buNone/>
              <a:defRPr sz="1600" b="1" kern="0">
                <a:ln>
                  <a:noFill/>
                </a:ln>
                <a:solidFill>
                  <a:srgbClr val="0070BF"/>
                </a:solidFill>
                <a:effectLst/>
                <a:uLnTx/>
                <a:uFillTx/>
                <a:latin typeface="Arial" panose="020B0604020202020204" pitchFamily="34" charset="0"/>
                <a:ea typeface="微软雅黑" panose="020B0503020204020204" pitchFamily="3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0" fontAlgn="auto" latinLnBrk="0" hangingPunct="1">
              <a:lnSpc>
                <a:spcPct val="122000"/>
              </a:lnSpc>
              <a:spcBef>
                <a:spcPts val="0"/>
              </a:spcBef>
              <a:spcAft>
                <a:spcPts val="0"/>
              </a:spcAft>
              <a:buClrTx/>
              <a:buSzTx/>
              <a:buFontTx/>
              <a:buNone/>
              <a:defRPr/>
            </a:pPr>
            <a:endParaRPr kumimoji="0" lang="zh-CN" altLang="en-US" sz="100" b="0" i="0" u="none" strike="noStrike" kern="1200" cap="none" spc="0" normalizeH="0" baseline="0" noProof="0" dirty="0">
              <a:ln>
                <a:noFill/>
              </a:ln>
              <a:solidFill>
                <a:srgbClr val="000000"/>
              </a:solidFill>
              <a:effectLst/>
              <a:uLnTx/>
              <a:uFillTx/>
              <a:latin typeface="Arial" panose="020B0604020202020204"/>
              <a:ea typeface="Arial" panose="020B0604020202020204"/>
              <a:cs typeface="Arial" panose="020B0604020202020204"/>
            </a:endParaRPr>
          </a:p>
          <a:p>
            <a:pPr marL="288290" marR="0" lvl="0" indent="-288290" algn="l" defTabSz="914400" rtl="0" eaLnBrk="0"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dirty="0">
                <a:ln>
                  <a:noFill/>
                </a:ln>
                <a:solidFill>
                  <a:srgbClr val="009CE2">
                    <a:alpha val="100000"/>
                  </a:srgbClr>
                </a:solidFill>
                <a:effectLst/>
                <a:uLnTx/>
                <a:uFillTx/>
                <a:latin typeface="Wingdings" panose="05000000000000000000"/>
                <a:ea typeface="Wingdings" panose="05000000000000000000"/>
                <a:cs typeface="Wingdings" panose="05000000000000000000"/>
              </a:rPr>
              <a:t>n</a:t>
            </a:r>
            <a:r>
              <a:rPr kumimoji="0" lang="zh-CN" altLang="en-US" sz="1400" b="0" i="0" u="none" strike="noStrike" kern="0" cap="none" spc="-330" normalizeH="0" baseline="0" noProof="0" dirty="0">
                <a:ln>
                  <a:noFill/>
                </a:ln>
                <a:solidFill>
                  <a:srgbClr val="009CE2">
                    <a:alpha val="100000"/>
                  </a:srgbClr>
                </a:solidFill>
                <a:effectLst/>
                <a:uLnTx/>
                <a:uFillTx/>
                <a:latin typeface="Wingdings" panose="05000000000000000000"/>
                <a:ea typeface="Wingdings" panose="05000000000000000000"/>
                <a:cs typeface="Wingdings" panose="05000000000000000000"/>
              </a:rPr>
              <a:t> </a:t>
            </a:r>
            <a:r>
              <a:rPr kumimoji="0" lang="zh-CN" altLang="en-US"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习近平总书记高度重视数字化发展，党的二十大和二十届二中、三中全会围绕数字化转型做出一系列部署，</a:t>
            </a:r>
            <a:r>
              <a:rPr lang="zh-CN" altLang="en-US" sz="1400" noProof="0" dirty="0">
                <a:solidFill>
                  <a:srgbClr val="000000">
                    <a:alpha val="100000"/>
                  </a:srgbClr>
                </a:solidFill>
                <a:latin typeface="微软雅黑" panose="020B0503020204020204" pitchFamily="34" charset="-122"/>
                <a:cs typeface="微软雅黑" panose="020B0503020204020204" pitchFamily="34" charset="-122"/>
                <a:sym typeface="+mn-ea"/>
              </a:rPr>
              <a:t>将数字化转型和全面科技创新作为提升新质生产力的关键途径之一。</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4" name="组合 23"/>
          <p:cNvGrpSpPr/>
          <p:nvPr/>
        </p:nvGrpSpPr>
        <p:grpSpPr>
          <a:xfrm>
            <a:off x="554736" y="2003699"/>
            <a:ext cx="11082528" cy="1134647"/>
            <a:chOff x="502920" y="1819656"/>
            <a:chExt cx="11082528" cy="905256"/>
          </a:xfrm>
        </p:grpSpPr>
        <p:sp>
          <p:nvSpPr>
            <p:cNvPr id="25" name="矩形 24"/>
            <p:cNvSpPr/>
            <p:nvPr/>
          </p:nvSpPr>
          <p:spPr>
            <a:xfrm>
              <a:off x="502920" y="1819656"/>
              <a:ext cx="11082528" cy="905256"/>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6" name="矩形 25"/>
            <p:cNvSpPr/>
            <p:nvPr/>
          </p:nvSpPr>
          <p:spPr>
            <a:xfrm>
              <a:off x="502920" y="2688435"/>
              <a:ext cx="11082528" cy="36476"/>
            </a:xfrm>
            <a:prstGeom prst="rect">
              <a:avLst/>
            </a:prstGeom>
            <a:solidFill>
              <a:srgbClr val="0070B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28" name="Rectangle 17"/>
          <p:cNvSpPr/>
          <p:nvPr/>
        </p:nvSpPr>
        <p:spPr>
          <a:xfrm>
            <a:off x="544312" y="3615355"/>
            <a:ext cx="5340849" cy="2875917"/>
          </a:xfrm>
          <a:prstGeom prst="rect">
            <a:avLst/>
          </a:prstGeom>
          <a:noFill/>
          <a:ln w="9525">
            <a:solidFill>
              <a:schemeClr val="bg1">
                <a:lumMod val="75000"/>
              </a:schemeClr>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100" b="0" i="0" u="none" strike="sng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9" name="文本框 28"/>
          <p:cNvSpPr txBox="1"/>
          <p:nvPr/>
        </p:nvSpPr>
        <p:spPr>
          <a:xfrm>
            <a:off x="719218" y="3820149"/>
            <a:ext cx="4919915" cy="1830070"/>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600"/>
              </a:spcAft>
              <a:buClrTx/>
              <a:buSzTx/>
              <a:buFont typeface="Arial" panose="020B0604020202020204" pitchFamily="34" charset="0"/>
              <a:buChar char="•"/>
              <a:defRPr/>
            </a:pP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决定</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r>
              <a:rPr kumimoji="0" lang="zh-CN"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明确指出：</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加快构建促进数字经济发展体制机制，完善促进</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数字产业化和产业数字化</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政策体系。加快新一代信息技术全方位全链条普及应用，发展工业互联网，打造具有国际竞争力的数字产业集群</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a:p>
            <a:pPr marL="285750" marR="0" lvl="0" indent="-285750" algn="l" defTabSz="914400" rtl="0" eaLnBrk="1" fontAlgn="auto" latinLnBrk="0" hangingPunct="1">
              <a:lnSpc>
                <a:spcPct val="150000"/>
              </a:lnSpc>
              <a:spcBef>
                <a:spcPts val="0"/>
              </a:spcBef>
              <a:spcAft>
                <a:spcPts val="600"/>
              </a:spcAft>
              <a:buClrTx/>
              <a:buSzTx/>
              <a:buFont typeface="Arial" panose="020B0604020202020204" pitchFamily="34" charset="0"/>
              <a:buChar char="•"/>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围绕</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数据要素、平台经济、基础设施、科技体制、安全发展</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等方面做出一系列部署。</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p:txBody>
      </p:sp>
      <p:sp>
        <p:nvSpPr>
          <p:cNvPr id="30" name="Rectangle 17"/>
          <p:cNvSpPr/>
          <p:nvPr/>
        </p:nvSpPr>
        <p:spPr>
          <a:xfrm>
            <a:off x="6306841" y="3615355"/>
            <a:ext cx="5354807" cy="2875915"/>
          </a:xfrm>
          <a:prstGeom prst="rect">
            <a:avLst/>
          </a:prstGeom>
          <a:noFill/>
          <a:ln w="9525">
            <a:solidFill>
              <a:schemeClr val="bg1">
                <a:lumMod val="75000"/>
              </a:schemeClr>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100" b="0" i="0" u="none" strike="sng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1" name="文本框 30"/>
          <p:cNvSpPr txBox="1"/>
          <p:nvPr/>
        </p:nvSpPr>
        <p:spPr>
          <a:xfrm>
            <a:off x="6306185" y="3783965"/>
            <a:ext cx="5331460" cy="2384425"/>
          </a:xfrm>
          <a:prstGeom prst="rect">
            <a:avLst/>
          </a:prstGeom>
          <a:noFill/>
        </p:spPr>
        <p:txBody>
          <a:bodyPr wrap="square">
            <a:spAutoFit/>
          </a:bodyPr>
          <a:lstStyle/>
          <a:p>
            <a:pPr marL="285750" marR="0" lvl="0" indent="-285750" algn="l" defTabSz="914400" rtl="0" fontAlgn="auto">
              <a:lnSpc>
                <a:spcPct val="150000"/>
              </a:lnSpc>
              <a:spcBef>
                <a:spcPts val="0"/>
              </a:spcBef>
              <a:spcAft>
                <a:spcPts val="300"/>
              </a:spcAft>
              <a:buClrTx/>
              <a:buSzTx/>
              <a:buFont typeface="Arial" panose="020B0604020202020204" pitchFamily="34" charset="0"/>
              <a:buChar char="•"/>
              <a:defRPr/>
            </a:pPr>
            <a:r>
              <a:rPr kumimoji="0" lang="en-US" altLang="zh-CN" sz="1200"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2020</a:t>
            </a:r>
            <a:r>
              <a:rPr kumimoji="0" lang="zh-CN" altLang="en-US" sz="1200"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年发布</a:t>
            </a:r>
            <a:r>
              <a:rPr kumimoji="0" lang="en-US" altLang="zh-CN" sz="12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2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关于加快推进国有企业数字化转型工作的通知</a:t>
            </a:r>
            <a:r>
              <a:rPr kumimoji="0" lang="en-US" altLang="zh-CN" sz="12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200" b="0"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指出：促进国有企业数字化、网络化、智能化发展，增强竞争力、创新力、控制力、影响力、抗风险能力，提升产业基础能力和产业链现代化水平。</a:t>
            </a:r>
            <a:endParaRPr kumimoji="0" lang="en-US" altLang="zh-CN" sz="1200" b="0"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285750" marR="0" lvl="0" indent="-285750" algn="l" defTabSz="914400" rtl="0" fontAlgn="auto">
              <a:lnSpc>
                <a:spcPct val="150000"/>
              </a:lnSpc>
              <a:spcBef>
                <a:spcPts val="0"/>
              </a:spcBef>
              <a:spcAft>
                <a:spcPts val="300"/>
              </a:spcAft>
              <a:buClrTx/>
              <a:buSzTx/>
              <a:buFont typeface="Arial" panose="020B0604020202020204" pitchFamily="34" charset="0"/>
              <a:buChar char="•"/>
              <a:defRPr/>
            </a:pPr>
            <a:r>
              <a:rPr kumimoji="1" lang="en-US" altLang="zh-CN" sz="12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2022</a:t>
            </a:r>
            <a:r>
              <a:rPr kumimoji="1" lang="zh-CN" altLang="en-US" sz="12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年发布</a:t>
            </a:r>
            <a:r>
              <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a:t>
            </a: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国有企业数字化转型行动计划</a:t>
            </a:r>
            <a:r>
              <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，提出</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“五转五化”</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要求：转意识、</a:t>
            </a:r>
            <a:r>
              <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转组织、</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转方法、转模式、转文化和研发数字化、生产智能化、经营一体化、服务敏捷化、产业生态化。</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a:p>
            <a:pPr marL="285750" marR="0" lvl="0" indent="-285750" algn="l" defTabSz="914400" rtl="0" fontAlgn="auto">
              <a:lnSpc>
                <a:spcPct val="150000"/>
              </a:lnSpc>
              <a:spcBef>
                <a:spcPts val="0"/>
              </a:spcBef>
              <a:spcAft>
                <a:spcPts val="300"/>
              </a:spcAft>
              <a:buClrTx/>
              <a:buSzTx/>
              <a:buFont typeface="Arial" panose="020B0604020202020204" pitchFamily="34" charset="0"/>
              <a:buChar char="•"/>
              <a:defRPr/>
            </a:pP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2024</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年《</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关于印发国有企业数字化转型试点企业名单的通知</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》，要求全面落实试点任务，形成可复制可推广的路径模式、样板标杆。</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p:txBody>
      </p:sp>
      <p:sp>
        <p:nvSpPr>
          <p:cNvPr id="32" name="文本框 31"/>
          <p:cNvSpPr txBox="1"/>
          <p:nvPr/>
        </p:nvSpPr>
        <p:spPr>
          <a:xfrm>
            <a:off x="776605" y="2308225"/>
            <a:ext cx="10664190" cy="645160"/>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600"/>
              </a:spcAft>
              <a:buClrTx/>
              <a:buSzTx/>
              <a:buFont typeface="Arial" panose="020B0604020202020204" pitchFamily="34" charset="0"/>
              <a:buChar char="•"/>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指出“</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数字技术、数字经济</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是世界科技革命和产业变革的先机，是新一轮国际竞争重点领域”，强调“促进数字技术和实体经济</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深度融合</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，赋能传统产业</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转型升级</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”、“扎实推动科技创新和产业创新深度融合，助力发展</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新质生产力</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”，明确“建设现代化产业体系。加快建设</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网络强国、数字中国</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p:txBody>
      </p:sp>
      <p:grpSp>
        <p:nvGrpSpPr>
          <p:cNvPr id="33" name="组合 32"/>
          <p:cNvGrpSpPr/>
          <p:nvPr/>
        </p:nvGrpSpPr>
        <p:grpSpPr>
          <a:xfrm>
            <a:off x="2033464" y="3442579"/>
            <a:ext cx="2303299" cy="290998"/>
            <a:chOff x="4945370" y="1888554"/>
            <a:chExt cx="6139194" cy="290998"/>
          </a:xfrm>
        </p:grpSpPr>
        <p:sp>
          <p:nvSpPr>
            <p:cNvPr id="34" name="Bullet4"/>
            <p:cNvSpPr/>
            <p:nvPr/>
          </p:nvSpPr>
          <p:spPr bwMode="auto">
            <a:xfrm>
              <a:off x="4945370" y="1912848"/>
              <a:ext cx="6139194" cy="266704"/>
            </a:xfrm>
            <a:prstGeom prst="roundRect">
              <a:avLst>
                <a:gd name="adj" fmla="val 41605"/>
              </a:avLst>
            </a:prstGeom>
            <a:gradFill flip="none" rotWithShape="1">
              <a:gsLst>
                <a:gs pos="0">
                  <a:schemeClr val="accent1">
                    <a:lumMod val="60000"/>
                    <a:lumOff val="40000"/>
                  </a:schemeClr>
                </a:gs>
                <a:gs pos="50000">
                  <a:schemeClr val="accent1"/>
                </a:gs>
              </a:gsLst>
              <a:lin ang="2700000" scaled="1"/>
              <a:tileRect/>
            </a:gradFill>
            <a:ln w="254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altLang="zh-CN" sz="3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ea"/>
              </a:endParaRPr>
            </a:p>
          </p:txBody>
        </p:sp>
        <p:sp>
          <p:nvSpPr>
            <p:cNvPr id="35" name="文本框 34"/>
            <p:cNvSpPr txBox="1"/>
            <p:nvPr/>
          </p:nvSpPr>
          <p:spPr>
            <a:xfrm>
              <a:off x="5191583" y="1888554"/>
              <a:ext cx="5728793" cy="227165"/>
            </a:xfrm>
            <a:prstGeom prst="rect">
              <a:avLst/>
            </a:prstGeom>
            <a:noFill/>
          </p:spPr>
          <p:txBody>
            <a:bodyPr wrap="square"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党的二十届三中全会</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grpSp>
        <p:nvGrpSpPr>
          <p:cNvPr id="37" name="组合 36"/>
          <p:cNvGrpSpPr/>
          <p:nvPr/>
        </p:nvGrpSpPr>
        <p:grpSpPr>
          <a:xfrm>
            <a:off x="7805307" y="3442579"/>
            <a:ext cx="2458212" cy="290998"/>
            <a:chOff x="4945370" y="1888554"/>
            <a:chExt cx="6139194" cy="290998"/>
          </a:xfrm>
        </p:grpSpPr>
        <p:sp>
          <p:nvSpPr>
            <p:cNvPr id="39" name="Bullet4"/>
            <p:cNvSpPr/>
            <p:nvPr/>
          </p:nvSpPr>
          <p:spPr bwMode="auto">
            <a:xfrm>
              <a:off x="4945370" y="1912848"/>
              <a:ext cx="6139194" cy="266704"/>
            </a:xfrm>
            <a:prstGeom prst="roundRect">
              <a:avLst>
                <a:gd name="adj" fmla="val 41605"/>
              </a:avLst>
            </a:prstGeom>
            <a:gradFill flip="none" rotWithShape="1">
              <a:gsLst>
                <a:gs pos="0">
                  <a:schemeClr val="accent1">
                    <a:lumMod val="60000"/>
                    <a:lumOff val="40000"/>
                  </a:schemeClr>
                </a:gs>
                <a:gs pos="50000">
                  <a:schemeClr val="accent1"/>
                </a:gs>
              </a:gsLst>
              <a:lin ang="2700000" scaled="1"/>
              <a:tileRect/>
            </a:gradFill>
            <a:ln w="254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altLang="zh-CN" sz="3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ea"/>
              </a:endParaRPr>
            </a:p>
          </p:txBody>
        </p:sp>
        <p:sp>
          <p:nvSpPr>
            <p:cNvPr id="40" name="文本框 39"/>
            <p:cNvSpPr txBox="1"/>
            <p:nvPr/>
          </p:nvSpPr>
          <p:spPr>
            <a:xfrm>
              <a:off x="5168442" y="1888554"/>
              <a:ext cx="5728793" cy="227165"/>
            </a:xfrm>
            <a:prstGeom prst="rect">
              <a:avLst/>
            </a:prstGeom>
            <a:noFill/>
          </p:spPr>
          <p:txBody>
            <a:bodyPr wrap="square"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国资委</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grpSp>
        <p:nvGrpSpPr>
          <p:cNvPr id="41" name="组合 40"/>
          <p:cNvGrpSpPr/>
          <p:nvPr/>
        </p:nvGrpSpPr>
        <p:grpSpPr>
          <a:xfrm>
            <a:off x="4513598" y="1829357"/>
            <a:ext cx="3142427" cy="290998"/>
            <a:chOff x="4945370" y="1888554"/>
            <a:chExt cx="6139194" cy="290998"/>
          </a:xfrm>
        </p:grpSpPr>
        <p:sp>
          <p:nvSpPr>
            <p:cNvPr id="42" name="Bullet4"/>
            <p:cNvSpPr/>
            <p:nvPr/>
          </p:nvSpPr>
          <p:spPr bwMode="auto">
            <a:xfrm>
              <a:off x="4945370" y="1912848"/>
              <a:ext cx="6139194" cy="266704"/>
            </a:xfrm>
            <a:prstGeom prst="roundRect">
              <a:avLst>
                <a:gd name="adj" fmla="val 41605"/>
              </a:avLst>
            </a:prstGeom>
            <a:gradFill flip="none" rotWithShape="1">
              <a:gsLst>
                <a:gs pos="0">
                  <a:schemeClr val="accent1">
                    <a:lumMod val="60000"/>
                    <a:lumOff val="40000"/>
                  </a:schemeClr>
                </a:gs>
                <a:gs pos="50000">
                  <a:schemeClr val="accent1"/>
                </a:gs>
              </a:gsLst>
              <a:lin ang="2700000" scaled="1"/>
              <a:tileRect/>
            </a:gradFill>
            <a:ln w="254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altLang="zh-CN" sz="3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ea"/>
              </a:endParaRPr>
            </a:p>
          </p:txBody>
        </p:sp>
        <p:sp>
          <p:nvSpPr>
            <p:cNvPr id="44" name="文本框 43"/>
            <p:cNvSpPr txBox="1"/>
            <p:nvPr/>
          </p:nvSpPr>
          <p:spPr>
            <a:xfrm>
              <a:off x="5200352" y="1888554"/>
              <a:ext cx="5728793" cy="227165"/>
            </a:xfrm>
            <a:prstGeom prst="rect">
              <a:avLst/>
            </a:prstGeom>
            <a:noFill/>
          </p:spPr>
          <p:txBody>
            <a:bodyPr wrap="square"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习近平总书记高度重视数字化发展</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46" name="矩形 45"/>
          <p:cNvSpPr/>
          <p:nvPr/>
        </p:nvSpPr>
        <p:spPr>
          <a:xfrm>
            <a:off x="544312" y="6169882"/>
            <a:ext cx="5340849" cy="321389"/>
          </a:xfrm>
          <a:prstGeom prst="rect">
            <a:avLst/>
          </a:prstGeom>
          <a:solidFill>
            <a:srgbClr val="0070B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mn-lt"/>
              </a:rPr>
              <a:t>为全面推动企业数字化转型及产业升级指明方向与方法</a:t>
            </a:r>
            <a:endPar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7" name="矩形 46"/>
          <p:cNvSpPr/>
          <p:nvPr/>
        </p:nvSpPr>
        <p:spPr>
          <a:xfrm>
            <a:off x="6306841" y="6180124"/>
            <a:ext cx="5354807" cy="321389"/>
          </a:xfrm>
          <a:prstGeom prst="rect">
            <a:avLst/>
          </a:prstGeom>
          <a:solidFill>
            <a:srgbClr val="0070B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mn-lt"/>
              </a:rPr>
              <a:t>提出央国企数字化转型是体系化、系统性工作</a:t>
            </a:r>
            <a:endParaRPr kumimoji="0" lang="zh-CN" altLang="en-US" sz="12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mn-lt"/>
            </a:endParaRPr>
          </a:p>
        </p:txBody>
      </p:sp>
    </p:spTree>
    <p:custDataLst>
      <p:tags r:id="rId2"/>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202565" y="1827530"/>
            <a:ext cx="4926965" cy="3325495"/>
          </a:xfrm>
          <a:prstGeom prst="rect">
            <a:avLst/>
          </a:prstGeom>
        </p:spPr>
      </p:pic>
      <p:sp>
        <p:nvSpPr>
          <p:cNvPr id="5" name="标题 5"/>
          <p:cNvSpPr txBox="1"/>
          <p:nvPr/>
        </p:nvSpPr>
        <p:spPr>
          <a:xfrm>
            <a:off x="229191" y="179706"/>
            <a:ext cx="9703435" cy="6115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j-cs"/>
              <a:sym typeface="+mn-ea"/>
            </a:endParaRPr>
          </a:p>
        </p:txBody>
      </p:sp>
      <p:grpSp>
        <p:nvGrpSpPr>
          <p:cNvPr id="12" name="组合 11"/>
          <p:cNvGrpSpPr/>
          <p:nvPr/>
        </p:nvGrpSpPr>
        <p:grpSpPr>
          <a:xfrm>
            <a:off x="171450" y="5163820"/>
            <a:ext cx="5123180" cy="1381125"/>
            <a:chOff x="270" y="8092"/>
            <a:chExt cx="8068" cy="2175"/>
          </a:xfrm>
        </p:grpSpPr>
        <p:sp>
          <p:nvSpPr>
            <p:cNvPr id="83" name="文本框 82"/>
            <p:cNvSpPr txBox="1"/>
            <p:nvPr>
              <p:custDataLst>
                <p:tags r:id="rId2"/>
              </p:custDataLst>
            </p:nvPr>
          </p:nvSpPr>
          <p:spPr>
            <a:xfrm>
              <a:off x="270" y="8092"/>
              <a:ext cx="8068" cy="2129"/>
            </a:xfrm>
            <a:prstGeom prst="rect">
              <a:avLst/>
            </a:prstGeom>
            <a:solidFill>
              <a:srgbClr val="F0F7FB"/>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540000" tIns="45720" rIns="540000" bIns="45720" numCol="1" spcCol="0" rtlCol="0" fromWordArt="0" anchor="ctr" anchorCtr="0" forceAA="0" compatLnSpc="1">
              <a:noAutofit/>
            </a:bodyPr>
            <a:lstStyle>
              <a:defPPr>
                <a:defRPr lang="en-US"/>
              </a:defPPr>
              <a:lvl1pPr marR="0" lvl="0" algn="ctr" defTabSz="914400" fontAlgn="auto">
                <a:lnSpc>
                  <a:spcPct val="120000"/>
                </a:lnSpc>
                <a:spcBef>
                  <a:spcPts val="0"/>
                </a:spcBef>
                <a:spcAft>
                  <a:spcPts val="0"/>
                </a:spcAft>
                <a:buClrTx/>
                <a:buSzTx/>
                <a:buFontTx/>
                <a:buNone/>
                <a:defRPr sz="1600" b="1" kern="0">
                  <a:ln>
                    <a:noFill/>
                  </a:ln>
                  <a:solidFill>
                    <a:srgbClr val="0070BF"/>
                  </a:solidFill>
                  <a:effectLst/>
                  <a:uLnTx/>
                  <a:uFillTx/>
                  <a:latin typeface="Arial" panose="020B0604020202020204" pitchFamily="34" charset="0"/>
                  <a:ea typeface="微软雅黑" panose="020B0503020204020204" pitchFamily="3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20000"/>
                </a:lnSpc>
                <a:spcBef>
                  <a:spcPts val="0"/>
                </a:spcBef>
                <a:spcAft>
                  <a:spcPts val="0"/>
                </a:spcAft>
                <a:buClrTx/>
                <a:buSzTx/>
                <a:buFontTx/>
                <a:buNone/>
                <a:defRPr/>
              </a:pPr>
              <a:r>
                <a:rPr kumimoji="1" lang="zh-CN" altLang="en-US" sz="16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sym typeface="+mn-ea"/>
                </a:rPr>
                <a:t>       </a:t>
              </a:r>
              <a:endParaRPr kumimoji="1" lang="en-US" altLang="zh-CN" sz="16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sym typeface="+mn-ea"/>
              </a:endParaRPr>
            </a:p>
          </p:txBody>
        </p:sp>
        <p:sp>
          <p:nvSpPr>
            <p:cNvPr id="81" name="文本框 80"/>
            <p:cNvSpPr txBox="1"/>
            <p:nvPr>
              <p:custDataLst>
                <p:tags r:id="rId3"/>
              </p:custDataLst>
            </p:nvPr>
          </p:nvSpPr>
          <p:spPr>
            <a:xfrm>
              <a:off x="396" y="8151"/>
              <a:ext cx="7859" cy="2117"/>
            </a:xfrm>
            <a:prstGeom prst="rect">
              <a:avLst/>
            </a:prstGeom>
            <a:noFill/>
          </p:spPr>
          <p:txBody>
            <a:bodyPr wrap="square">
              <a:noAutofit/>
            </a:bodyPr>
            <a:lstStyle/>
            <a:p>
              <a:pPr marL="0" marR="0" lvl="0" indent="0" algn="ctr" defTabSz="914400" rtl="0" eaLnBrk="0" fontAlgn="base" latinLnBrk="0" hangingPunct="0">
                <a:lnSpc>
                  <a:spcPct val="140000"/>
                </a:lnSpc>
                <a:spcBef>
                  <a:spcPct val="0"/>
                </a:spcBef>
                <a:spcAft>
                  <a:spcPts val="0"/>
                </a:spcAft>
                <a:buClrTx/>
                <a:buSzTx/>
                <a:buFontTx/>
                <a:buNone/>
                <a:defRPr/>
              </a:pPr>
              <a:r>
                <a:rPr kumimoji="0" lang="zh-CN" altLang="en-US" sz="1100" b="0"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中国移动锚定“创世界一流信息服务科技创新公司，做科技强国、网络强国、数字中国主力军”总体目标，</a:t>
              </a:r>
              <a:r>
                <a:rPr kumimoji="0" lang="zh-CN" altLang="en-US"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加快“推进数智化转型，实现高质量发展”为主线的提档升级</a:t>
              </a:r>
              <a:r>
                <a:rPr kumimoji="0" lang="zh-CN" altLang="en-US" sz="1100" b="0"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全力推动“两个转变”，一体发力“两个新型”，主动激发“五个红利”，加快“三转”，聚力“三新”，深化“三融”，提升“三力”，加快建设成为产品卓越、品牌卓著、创新领先、治理现代的世界一流企业。</a:t>
              </a:r>
              <a:endParaRPr kumimoji="0" lang="zh-CN" altLang="en-US" sz="1100" b="0"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2" name="文本框 1"/>
          <p:cNvSpPr txBox="1"/>
          <p:nvPr>
            <p:custDataLst>
              <p:tags r:id="rId4"/>
            </p:custDataLst>
          </p:nvPr>
        </p:nvSpPr>
        <p:spPr>
          <a:xfrm>
            <a:off x="46447" y="899191"/>
            <a:ext cx="11974567" cy="6115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540000" tIns="45720" rIns="540000" bIns="45720" numCol="1" spcCol="0" rtlCol="0" fromWordArt="0" anchor="ctr" anchorCtr="0" forceAA="0" compatLnSpc="1">
            <a:noAutofit/>
          </a:bodyPr>
          <a:lstStyle>
            <a:defPPr>
              <a:defRPr lang="en-US"/>
            </a:defPPr>
            <a:lvl1pPr marR="0" lvl="0" algn="ctr" defTabSz="914400" fontAlgn="auto">
              <a:lnSpc>
                <a:spcPct val="120000"/>
              </a:lnSpc>
              <a:spcBef>
                <a:spcPts val="0"/>
              </a:spcBef>
              <a:spcAft>
                <a:spcPts val="0"/>
              </a:spcAft>
              <a:buClrTx/>
              <a:buSzTx/>
              <a:buFontTx/>
              <a:buNone/>
              <a:defRPr sz="1600" b="1" kern="0">
                <a:ln>
                  <a:noFill/>
                </a:ln>
                <a:solidFill>
                  <a:srgbClr val="0070BF"/>
                </a:solidFill>
                <a:effectLst/>
                <a:uLnTx/>
                <a:uFillTx/>
                <a:latin typeface="Arial" panose="020B0604020202020204" pitchFamily="34" charset="0"/>
                <a:ea typeface="微软雅黑" panose="020B0503020204020204" pitchFamily="3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0" fontAlgn="auto" latinLnBrk="0" hangingPunct="1">
              <a:lnSpc>
                <a:spcPct val="130000"/>
              </a:lnSpc>
              <a:spcBef>
                <a:spcPts val="0"/>
              </a:spcBef>
              <a:spcAft>
                <a:spcPts val="0"/>
              </a:spcAft>
              <a:buClrTx/>
              <a:buSzTx/>
              <a:buFontTx/>
              <a:buNone/>
              <a:defRPr/>
            </a:pPr>
            <a:endParaRPr kumimoji="0" lang="zh-CN" altLang="en-US" sz="100" b="0" i="0" u="none" strike="noStrike" kern="1200" cap="none" spc="0" normalizeH="0" baseline="0" noProof="0" dirty="0">
              <a:ln>
                <a:noFill/>
              </a:ln>
              <a:solidFill>
                <a:srgbClr val="000000"/>
              </a:solidFill>
              <a:effectLst/>
              <a:uLnTx/>
              <a:uFillTx/>
              <a:latin typeface="Arial" panose="020B0604020202020204"/>
              <a:ea typeface="Arial" panose="020B0604020202020204"/>
              <a:cs typeface="Arial" panose="020B0604020202020204"/>
            </a:endParaRPr>
          </a:p>
          <a:p>
            <a:pPr marL="288290" marR="0" lvl="0" indent="-288290" algn="l" defTabSz="914400" rtl="0" eaLnBrk="0"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dirty="0">
                <a:ln>
                  <a:noFill/>
                </a:ln>
                <a:solidFill>
                  <a:srgbClr val="009CE2">
                    <a:alpha val="100000"/>
                  </a:srgbClr>
                </a:solidFill>
                <a:effectLst/>
                <a:uLnTx/>
                <a:uFillTx/>
                <a:latin typeface="Wingdings" panose="05000000000000000000"/>
                <a:ea typeface="Wingdings" panose="05000000000000000000"/>
                <a:cs typeface="Wingdings" panose="05000000000000000000"/>
              </a:rPr>
              <a:t>n </a:t>
            </a:r>
            <a:r>
              <a:rPr kumimoji="0" lang="zh-CN" altLang="en-US"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中国移动创世界一流“力量大厦”将</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“推进数智化转型，实现高质量发展”作为公司发展主线</a:t>
            </a:r>
            <a:r>
              <a:rPr kumimoji="0" lang="zh-CN" altLang="en-US"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，集团领导多次提出数智化转型工作要求。</a:t>
            </a:r>
            <a:endParaRPr kumimoji="0" lang="zh-CN" altLang="en-US"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标题 1"/>
          <p:cNvSpPr txBox="1"/>
          <p:nvPr/>
        </p:nvSpPr>
        <p:spPr>
          <a:xfrm>
            <a:off x="195133" y="187505"/>
            <a:ext cx="6636848" cy="6394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altLang="zh-CN" sz="2400" b="1" kern="1200" dirty="0">
                <a:solidFill>
                  <a:srgbClr val="0070C0"/>
                </a:solidFill>
                <a:latin typeface="+mn-ea"/>
                <a:ea typeface="+mn-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j-cs"/>
                <a:sym typeface="+mn-ea"/>
              </a:rPr>
              <a:t>集团工作要求</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j-cs"/>
            </a:endParaRPr>
          </a:p>
        </p:txBody>
      </p:sp>
      <p:sp>
        <p:nvSpPr>
          <p:cNvPr id="6" name="textbox 436"/>
          <p:cNvSpPr/>
          <p:nvPr/>
        </p:nvSpPr>
        <p:spPr>
          <a:xfrm>
            <a:off x="1295483" y="1591823"/>
            <a:ext cx="2776220" cy="233679"/>
          </a:xfrm>
          <a:prstGeom prst="rect">
            <a:avLst/>
          </a:prstGeom>
        </p:spPr>
        <p:txBody>
          <a:bodyPr vert="horz" wrap="square" lIns="0" tIns="0" rIns="0" bIns="0"/>
          <a:lstStyle/>
          <a:p>
            <a:pPr marL="0" marR="0" lvl="0" indent="0" algn="l" defTabSz="457200" rtl="0" eaLnBrk="0" fontAlgn="auto" latinLnBrk="0" hangingPunct="1">
              <a:lnSpc>
                <a:spcPct val="77000"/>
              </a:lnSpc>
              <a:spcBef>
                <a:spcPts val="0"/>
              </a:spcBef>
              <a:spcAft>
                <a:spcPts val="0"/>
              </a:spcAft>
              <a:buClrTx/>
              <a:buSzTx/>
              <a:buFontTx/>
              <a:buNone/>
              <a:defRPr/>
            </a:pPr>
            <a:endParaRPr kumimoji="0" lang="en-US" altLang="en-US" sz="100" b="0"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12700" marR="0" lvl="0" indent="0" algn="l" defTabSz="457200" rtl="0" eaLnBrk="0" fontAlgn="auto" latinLnBrk="0" hangingPunct="1">
              <a:lnSpc>
                <a:spcPct val="98000"/>
              </a:lnSpc>
              <a:spcBef>
                <a:spcPts val="0"/>
              </a:spcBef>
              <a:spcAft>
                <a:spcPts val="0"/>
              </a:spcAft>
              <a:buClrTx/>
              <a:buSzTx/>
              <a:buFontTx/>
              <a:buNone/>
              <a:defRPr/>
            </a:pPr>
            <a:r>
              <a:rPr kumimoji="0" sz="1400" b="1" i="0" u="none" strike="noStrike" kern="0" cap="none" spc="-3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中国移动创世界一流 “力量大厦”</a:t>
            </a:r>
            <a:endParaRPr kumimoji="0" lang="en-US" altLang="en-US" sz="1400" b="0"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7" name="textbox 436"/>
          <p:cNvSpPr/>
          <p:nvPr/>
        </p:nvSpPr>
        <p:spPr>
          <a:xfrm>
            <a:off x="6540245" y="1662943"/>
            <a:ext cx="3273083" cy="233679"/>
          </a:xfrm>
          <a:prstGeom prst="rect">
            <a:avLst/>
          </a:prstGeom>
          <a:solidFill>
            <a:schemeClr val="bg1"/>
          </a:solidFill>
        </p:spPr>
        <p:txBody>
          <a:bodyPr vert="horz" wrap="square" lIns="0" tIns="0" rIns="0" bIns="0"/>
          <a:lstStyle/>
          <a:p>
            <a:pPr marL="0" marR="0" lvl="0" indent="0" algn="ctr" defTabSz="457200" rtl="0" eaLnBrk="0" fontAlgn="auto" latinLnBrk="0" hangingPunct="1">
              <a:lnSpc>
                <a:spcPct val="77000"/>
              </a:lnSpc>
              <a:spcBef>
                <a:spcPts val="0"/>
              </a:spcBef>
              <a:spcAft>
                <a:spcPts val="0"/>
              </a:spcAft>
              <a:buClrTx/>
              <a:buSzTx/>
              <a:buFontTx/>
              <a:buNone/>
              <a:defRPr/>
            </a:pPr>
            <a:endParaRPr kumimoji="0" lang="en-US" altLang="en-US" sz="100" b="0"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12700" marR="0" lvl="0" indent="0" algn="ctr" defTabSz="457200" rtl="0" eaLnBrk="0" fontAlgn="auto" latinLnBrk="0" hangingPunct="1">
              <a:lnSpc>
                <a:spcPct val="98000"/>
              </a:lnSpc>
              <a:spcBef>
                <a:spcPts val="0"/>
              </a:spcBef>
              <a:spcAft>
                <a:spcPts val="0"/>
              </a:spcAft>
              <a:buClrTx/>
              <a:buSzTx/>
              <a:buFontTx/>
              <a:buNone/>
              <a:defRPr/>
            </a:pPr>
            <a:r>
              <a:rPr kumimoji="0" lang="zh-CN" altLang="en-US" sz="1400" b="1" i="0" u="none" strike="noStrike" kern="0" cap="none" spc="-3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集团领导关于数智化转型的工作部署</a:t>
            </a:r>
            <a:endParaRPr kumimoji="0" lang="en-US" altLang="en-US" sz="1400" b="0"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grpSp>
        <p:nvGrpSpPr>
          <p:cNvPr id="24" name="组合 23"/>
          <p:cNvGrpSpPr/>
          <p:nvPr/>
        </p:nvGrpSpPr>
        <p:grpSpPr>
          <a:xfrm>
            <a:off x="5481320" y="2108835"/>
            <a:ext cx="7265377" cy="4366260"/>
            <a:chOff x="8029" y="3321"/>
            <a:chExt cx="11998" cy="6876"/>
          </a:xfrm>
        </p:grpSpPr>
        <p:sp>
          <p:nvSpPr>
            <p:cNvPr id="22" name="矩形 21"/>
            <p:cNvSpPr/>
            <p:nvPr>
              <p:custDataLst>
                <p:tags r:id="rId5"/>
              </p:custDataLst>
            </p:nvPr>
          </p:nvSpPr>
          <p:spPr>
            <a:xfrm>
              <a:off x="8029" y="7099"/>
              <a:ext cx="10551" cy="3098"/>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3" name="矩形 22"/>
            <p:cNvSpPr/>
            <p:nvPr>
              <p:custDataLst>
                <p:tags r:id="rId6"/>
              </p:custDataLst>
            </p:nvPr>
          </p:nvSpPr>
          <p:spPr>
            <a:xfrm>
              <a:off x="8029" y="10075"/>
              <a:ext cx="10551" cy="122"/>
            </a:xfrm>
            <a:prstGeom prst="rect">
              <a:avLst/>
            </a:prstGeom>
            <a:solidFill>
              <a:srgbClr val="0070B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p:custDataLst>
                <p:tags r:id="rId7"/>
              </p:custDataLst>
            </p:nvPr>
          </p:nvSpPr>
          <p:spPr>
            <a:xfrm>
              <a:off x="8029" y="3321"/>
              <a:ext cx="10551" cy="329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7" name="矩形 16"/>
            <p:cNvSpPr/>
            <p:nvPr>
              <p:custDataLst>
                <p:tags r:id="rId8"/>
              </p:custDataLst>
            </p:nvPr>
          </p:nvSpPr>
          <p:spPr>
            <a:xfrm>
              <a:off x="8043" y="6596"/>
              <a:ext cx="10551" cy="122"/>
            </a:xfrm>
            <a:prstGeom prst="rect">
              <a:avLst/>
            </a:prstGeom>
            <a:solidFill>
              <a:srgbClr val="0070B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8" name="文本框 77"/>
            <p:cNvSpPr txBox="1"/>
            <p:nvPr>
              <p:custDataLst>
                <p:tags r:id="rId9"/>
              </p:custDataLst>
            </p:nvPr>
          </p:nvSpPr>
          <p:spPr>
            <a:xfrm>
              <a:off x="8123" y="7243"/>
              <a:ext cx="10273" cy="2062"/>
            </a:xfrm>
            <a:prstGeom prst="rect">
              <a:avLst/>
            </a:prstGeom>
            <a:noFill/>
            <a:ln w="9525">
              <a:noFill/>
              <a:prstDash val="dash"/>
            </a:ln>
          </p:spPr>
          <p:txBody>
            <a:bodyPr wrap="square">
              <a:spAutoFit/>
            </a:bodyPr>
            <a:lstStyle>
              <a:defPPr>
                <a:defRPr lang="en-US"/>
              </a:defPPr>
              <a:lvl1pPr marR="0" lvl="0" indent="316865" fontAlgn="auto">
                <a:lnSpc>
                  <a:spcPct val="120000"/>
                </a:lnSpc>
                <a:spcBef>
                  <a:spcPts val="0"/>
                </a:spcBef>
                <a:spcAft>
                  <a:spcPts val="0"/>
                </a:spcAft>
                <a:buClrTx/>
                <a:buSzTx/>
                <a:buFontTx/>
                <a:buNone/>
                <a:defRPr kumimoji="0" sz="1200" i="0" u="none" strike="noStrike" cap="none" spc="0" normalizeH="0" baseline="0">
                  <a:ln>
                    <a:noFill/>
                  </a:ln>
                  <a:effectLst/>
                  <a:uLnTx/>
                  <a:uFillTx/>
                  <a:latin typeface="+mn-ea"/>
                  <a:cs typeface="微软雅黑" panose="020B0503020204020204" pitchFamily="34" charset="-122"/>
                </a:defRPr>
              </a:lvl1pPr>
            </a:lstStyle>
            <a:p>
              <a:pPr marR="0" lvl="0" indent="316865" algn="l" defTabSz="457200" rtl="0">
                <a:lnSpc>
                  <a:spcPct val="18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加快公司数智化转型，</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一是加强顶层设计</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，制定全集团数智化转型规划。</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二是深化全领域</a:t>
              </a:r>
              <a:r>
                <a:rPr kumimoji="0"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共能</a:t>
              </a:r>
              <a:r>
                <a:rPr kumimoji="0"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a:t>
              </a:r>
              <a:r>
                <a:rPr kumimoji="0" lang="zh-CN" altLang="en-US" sz="11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实现全域系统</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共能</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提效。</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三是加强全过程</a:t>
              </a:r>
              <a:r>
                <a:rPr kumimoji="0"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强数</a:t>
              </a:r>
              <a:r>
                <a:rPr kumimoji="0"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，深化数据治理体系。</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四是推进全场景</a:t>
              </a:r>
              <a:r>
                <a:rPr kumimoji="0"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融智</a:t>
              </a:r>
              <a:r>
                <a:rPr kumimoji="0"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，推进</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“AI+”</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赋能生产运营管理全场景。</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五是强化全流程治理，</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构建以客户为中心的简捷高效端到端流程体系。</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9" name="文本框 78"/>
            <p:cNvSpPr txBox="1"/>
            <p:nvPr>
              <p:custDataLst>
                <p:tags r:id="rId10"/>
              </p:custDataLst>
            </p:nvPr>
          </p:nvSpPr>
          <p:spPr>
            <a:xfrm>
              <a:off x="11814" y="9363"/>
              <a:ext cx="6531" cy="463"/>
            </a:xfrm>
            <a:prstGeom prst="rect">
              <a:avLst/>
            </a:prstGeom>
            <a:noFill/>
          </p:spPr>
          <p:txBody>
            <a:bodyPr wrap="square" rtlCol="0" anchor="t">
              <a:spAutoFit/>
            </a:bodyPr>
            <a:lstStyle/>
            <a:p>
              <a:pPr marL="0" marR="0" lvl="0" indent="0" algn="l" defTabSz="457200" rtl="0" eaLnBrk="1" fontAlgn="auto" latinLnBrk="0" hangingPunct="1">
                <a:lnSpc>
                  <a:spcPct val="110000"/>
                </a:lnSpc>
                <a:spcBef>
                  <a:spcPts val="0"/>
                </a:spcBef>
                <a:spcAft>
                  <a:spcPts val="0"/>
                </a:spcAft>
                <a:buClrTx/>
                <a:buSzTx/>
                <a:buFontTx/>
                <a:buNone/>
                <a:defRPr/>
              </a:pPr>
              <a:r>
                <a:rPr kumimoji="1" lang="en-US" altLang="zh-CN" sz="12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mn-cs"/>
                </a:rPr>
                <a:t>—— </a:t>
              </a:r>
              <a:r>
                <a:rPr kumimoji="1" lang="zh-CN" altLang="en-US" sz="12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mn-cs"/>
                </a:rPr>
                <a:t>何飚总经理在中国移动</a:t>
              </a:r>
              <a:r>
                <a:rPr kumimoji="1" lang="en-US" altLang="zh-CN" sz="12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mn-cs"/>
                </a:rPr>
                <a:t> 2025 </a:t>
              </a:r>
              <a:r>
                <a:rPr kumimoji="1" lang="zh-CN" altLang="en-US" sz="12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mn-cs"/>
                </a:rPr>
                <a:t>年工作会议上的讲话</a:t>
              </a:r>
              <a:endParaRPr kumimoji="1" lang="zh-CN" altLang="en-US" sz="12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p:cNvSpPr txBox="1"/>
            <p:nvPr>
              <p:custDataLst>
                <p:tags r:id="rId11"/>
              </p:custDataLst>
            </p:nvPr>
          </p:nvSpPr>
          <p:spPr>
            <a:xfrm>
              <a:off x="11814" y="5882"/>
              <a:ext cx="8213" cy="463"/>
            </a:xfrm>
            <a:prstGeom prst="rect">
              <a:avLst/>
            </a:prstGeom>
            <a:noFill/>
          </p:spPr>
          <p:txBody>
            <a:bodyPr wrap="square" rtlCol="0" anchor="t">
              <a:spAutoFit/>
            </a:bodyPr>
            <a:lstStyle/>
            <a:p>
              <a:pPr marL="0" marR="0" lvl="0" indent="0" algn="l" defTabSz="457200" rtl="0" eaLnBrk="1" fontAlgn="auto" latinLnBrk="0" hangingPunct="1">
                <a:lnSpc>
                  <a:spcPct val="110000"/>
                </a:lnSpc>
                <a:spcBef>
                  <a:spcPts val="0"/>
                </a:spcBef>
                <a:spcAft>
                  <a:spcPts val="0"/>
                </a:spcAft>
                <a:buClrTx/>
                <a:buSzTx/>
                <a:buFontTx/>
                <a:buNone/>
                <a:defRPr/>
              </a:pPr>
              <a:r>
                <a:rPr kumimoji="1" lang="en-US" altLang="zh-CN" sz="12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mn-cs"/>
                </a:rPr>
                <a:t>—— </a:t>
              </a:r>
              <a:r>
                <a:rPr kumimoji="1" lang="zh-CN" altLang="en-US" sz="12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mn-cs"/>
                </a:rPr>
                <a:t>杨杰</a:t>
              </a:r>
              <a:r>
                <a:rPr kumimoji="1" lang="zh-CN" altLang="en-US" sz="12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mn-cs"/>
                  <a:sym typeface="+mn-ea"/>
                </a:rPr>
                <a:t>董事长</a:t>
              </a:r>
              <a:r>
                <a:rPr kumimoji="1" lang="zh-CN" altLang="en-US" sz="12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mn-cs"/>
                </a:rPr>
                <a:t>在在中国移动</a:t>
              </a:r>
              <a:r>
                <a:rPr kumimoji="1" lang="en-US" altLang="zh-CN" sz="12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mn-cs"/>
                </a:rPr>
                <a:t>2025</a:t>
              </a:r>
              <a:r>
                <a:rPr kumimoji="1" lang="zh-CN" altLang="en-US" sz="12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mn-cs"/>
                </a:rPr>
                <a:t>年工作会议上的讲话</a:t>
              </a:r>
              <a:endParaRPr kumimoji="1" lang="zh-CN" altLang="en-US" sz="12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custDataLst>
                <p:tags r:id="rId12"/>
              </p:custDataLst>
            </p:nvPr>
          </p:nvSpPr>
          <p:spPr>
            <a:xfrm>
              <a:off x="8151" y="3563"/>
              <a:ext cx="10179" cy="1992"/>
            </a:xfrm>
            <a:prstGeom prst="rect">
              <a:avLst/>
            </a:prstGeom>
            <a:noFill/>
          </p:spPr>
          <p:txBody>
            <a:bodyPr wrap="square" rtlCol="0" anchor="t">
              <a:noAutofit/>
            </a:bodyPr>
            <a:lstStyle/>
            <a:p>
              <a:pPr marR="0" lvl="0" indent="0" algn="l" defTabSz="457200" rtl="0" fontAlgn="auto">
                <a:lnSpc>
                  <a:spcPct val="18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要充分彰显数智时代的移动力量</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。把握数智潮流、立足能力禀赋，</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担当好科技强国、网络强国、数字中国</a:t>
              </a:r>
              <a:r>
                <a:rPr kumimoji="0"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三个主力军</a:t>
              </a:r>
              <a:r>
                <a:rPr kumimoji="0"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实施好</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两个新型</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升级、</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“BASIC6”</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科创、</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“AI+”</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行动</a:t>
              </a:r>
              <a:r>
                <a:rPr kumimoji="0"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三大计划</a:t>
              </a:r>
              <a:r>
                <a:rPr kumimoji="0"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落实好服务支撑数智化生活、生产、治理</a:t>
              </a:r>
              <a:r>
                <a:rPr kumimoji="0"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三大任务</a:t>
              </a:r>
              <a:r>
                <a:rPr kumimoji="0"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满足人民美好生活需要，</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培育发展新质生产力，赋能国家治理体系和治理能力现代化</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，在服务构建新发展格局中</a:t>
              </a:r>
              <a:r>
                <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加快数智化转型、实现高质量发展。</a:t>
              </a:r>
              <a:endParaRPr kumimoji="0"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custDataLst>
              <p:tags r:id="rId1"/>
            </p:custDataLst>
          </p:nvPr>
        </p:nvSpPr>
        <p:spPr>
          <a:xfrm>
            <a:off x="654050" y="1623060"/>
            <a:ext cx="11332845" cy="591185"/>
          </a:xfrm>
          <a:prstGeom prst="rect">
            <a:avLst/>
          </a:prstGeom>
          <a:solidFill>
            <a:schemeClr val="accent1">
              <a:lumMod val="40000"/>
              <a:lumOff val="60000"/>
              <a:alpha val="35000"/>
            </a:schemeClr>
          </a:solidFill>
          <a:ln w="12700" cap="flat" cmpd="sng" algn="ctr">
            <a:solidFill>
              <a:schemeClr val="bg1"/>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pitchFamily="34" charset="-122"/>
              <a:cs typeface="+mn-cs"/>
            </a:endParaRPr>
          </a:p>
        </p:txBody>
      </p:sp>
      <p:sp>
        <p:nvSpPr>
          <p:cNvPr id="5" name="标题 5"/>
          <p:cNvSpPr txBox="1"/>
          <p:nvPr/>
        </p:nvSpPr>
        <p:spPr>
          <a:xfrm>
            <a:off x="229191" y="179706"/>
            <a:ext cx="9703435" cy="6115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j-cs"/>
              <a:sym typeface="+mn-ea"/>
            </a:endParaRPr>
          </a:p>
        </p:txBody>
      </p:sp>
      <p:sp>
        <p:nvSpPr>
          <p:cNvPr id="3" name="标题 2"/>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sz="2400" dirty="0"/>
              <a:t>数智化转型总体规划蓝图</a:t>
            </a:r>
            <a:endParaRPr lang="zh-CN" altLang="en-US" dirty="0">
              <a:sym typeface="+mn-ea"/>
            </a:endParaRPr>
          </a:p>
        </p:txBody>
      </p:sp>
      <p:sp>
        <p:nvSpPr>
          <p:cNvPr id="132" name="等腰三角形 131"/>
          <p:cNvSpPr/>
          <p:nvPr/>
        </p:nvSpPr>
        <p:spPr>
          <a:xfrm>
            <a:off x="630818" y="1033999"/>
            <a:ext cx="11332844" cy="540000"/>
          </a:xfrm>
          <a:prstGeom prst="triangle">
            <a:avLst>
              <a:gd name="adj" fmla="val 49889"/>
            </a:avLst>
          </a:prstGeom>
          <a:solidFill>
            <a:srgbClr val="0070C0"/>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33" name="文本框 132"/>
          <p:cNvSpPr txBox="1"/>
          <p:nvPr/>
        </p:nvSpPr>
        <p:spPr>
          <a:xfrm>
            <a:off x="1058418" y="1622918"/>
            <a:ext cx="10311161" cy="27559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提升“</a:t>
            </a:r>
            <a:r>
              <a:rPr lang="zh-CN" altLang="en-US" sz="1200" b="1" kern="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改革发展的增量、新质生产力的能量、可持续发展的力量、</a:t>
            </a:r>
            <a:r>
              <a:rPr lang="zh-CN" altLang="en-US" sz="1200" b="1" kern="0" noProof="0" dirty="0">
                <a:ln>
                  <a:noFill/>
                </a:ln>
                <a:solidFill>
                  <a:srgbClr val="0070BF"/>
                </a:solidFill>
                <a:effectLst/>
                <a:uLnTx/>
                <a:uFillTx/>
                <a:latin typeface="微软雅黑" panose="020B0503020204020204" pitchFamily="34" charset="-122"/>
                <a:ea typeface="微软雅黑" panose="020B0503020204020204" pitchFamily="34" charset="-122"/>
                <a:sym typeface="+mn-ea"/>
              </a:rPr>
              <a:t>为人民服务的质量</a:t>
            </a: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”，成为央企</a:t>
            </a: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数字化转型标杆</a:t>
            </a:r>
            <a:endPar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32775" y="1422046"/>
            <a:ext cx="724294" cy="52197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总体</a:t>
            </a:r>
            <a:endParaRPr kumimoji="1" lang="en-US" altLang="zh-CN"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目标</a:t>
            </a:r>
            <a:endParaRPr kumimoji="1" lang="en-US" altLang="zh-CN"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2" name="文本框 31"/>
          <p:cNvSpPr txBox="1"/>
          <p:nvPr/>
        </p:nvSpPr>
        <p:spPr>
          <a:xfrm>
            <a:off x="-32775" y="2290775"/>
            <a:ext cx="724294" cy="30670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路径</a:t>
            </a:r>
            <a:endParaRPr kumimoji="1" lang="en-US" altLang="zh-CN"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文本框 8"/>
          <p:cNvSpPr txBox="1"/>
          <p:nvPr/>
        </p:nvSpPr>
        <p:spPr>
          <a:xfrm>
            <a:off x="2913936" y="1087162"/>
            <a:ext cx="6888923" cy="52197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创世界一流信息服务科技创新公司</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落实“一二二五”战略实施思路，推进数智化转型，实现高质量可持续发展</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p:nvSpPr>
        <p:spPr>
          <a:xfrm>
            <a:off x="654050" y="2214880"/>
            <a:ext cx="11325225" cy="452120"/>
          </a:xfrm>
          <a:prstGeom prst="rect">
            <a:avLst/>
          </a:prstGeom>
          <a:solidFill>
            <a:srgbClr val="F2F2F2"/>
          </a:solidFill>
          <a:ln>
            <a:solidFill>
              <a:schemeClr val="bg1"/>
            </a:solid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27" name="组合 26"/>
          <p:cNvGrpSpPr/>
          <p:nvPr/>
        </p:nvGrpSpPr>
        <p:grpSpPr>
          <a:xfrm>
            <a:off x="892175" y="2304686"/>
            <a:ext cx="10875010" cy="276015"/>
            <a:chOff x="1405" y="3636"/>
            <a:chExt cx="17126" cy="547"/>
          </a:xfrm>
        </p:grpSpPr>
        <p:sp>
          <p:nvSpPr>
            <p:cNvPr id="17" name="圆角矩形 16"/>
            <p:cNvSpPr/>
            <p:nvPr/>
          </p:nvSpPr>
          <p:spPr>
            <a:xfrm>
              <a:off x="1405" y="3636"/>
              <a:ext cx="2405" cy="487"/>
            </a:xfrm>
            <a:prstGeom prst="roundRect">
              <a:avLst>
                <a:gd name="adj" fmla="val 778"/>
              </a:avLst>
            </a:prstGeom>
            <a:solidFill>
              <a:schemeClr val="bg1"/>
            </a:solidFill>
            <a:ln>
              <a:no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 name="圆角矩形 1"/>
            <p:cNvSpPr/>
            <p:nvPr/>
          </p:nvSpPr>
          <p:spPr>
            <a:xfrm>
              <a:off x="4352" y="3645"/>
              <a:ext cx="2330" cy="487"/>
            </a:xfrm>
            <a:prstGeom prst="roundRect">
              <a:avLst>
                <a:gd name="adj" fmla="val 778"/>
              </a:avLst>
            </a:prstGeom>
            <a:solidFill>
              <a:schemeClr val="bg1"/>
            </a:solidFill>
            <a:ln>
              <a:no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9" name="圆角矩形 18"/>
            <p:cNvSpPr/>
            <p:nvPr/>
          </p:nvSpPr>
          <p:spPr>
            <a:xfrm>
              <a:off x="7341" y="3645"/>
              <a:ext cx="2423" cy="487"/>
            </a:xfrm>
            <a:prstGeom prst="roundRect">
              <a:avLst>
                <a:gd name="adj" fmla="val 778"/>
              </a:avLst>
            </a:prstGeom>
            <a:solidFill>
              <a:schemeClr val="bg1"/>
            </a:solidFill>
            <a:ln>
              <a:no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文本框 20"/>
            <p:cNvSpPr txBox="1"/>
            <p:nvPr/>
          </p:nvSpPr>
          <p:spPr>
            <a:xfrm>
              <a:off x="1432" y="3655"/>
              <a:ext cx="2379" cy="486"/>
            </a:xfrm>
            <a:prstGeom prst="rect">
              <a:avLst/>
            </a:prstGeom>
            <a:noFill/>
          </p:spPr>
          <p:txBody>
            <a:bodyPr wrap="square" rtlCol="0">
              <a:noAutofit/>
            </a:bodyPr>
            <a:lstStyle/>
            <a:p>
              <a:pPr marL="0" marR="0" lvl="0" indent="0" algn="ctr" defTabSz="457200" rtl="0" eaLnBrk="1" fontAlgn="auto" latinLnBrk="0" hangingPunct="1">
                <a:lnSpc>
                  <a:spcPct val="9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集约化建设</a:t>
              </a:r>
              <a:endParaRPr kumimoji="1"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p:nvSpPr>
          <p:spPr>
            <a:xfrm>
              <a:off x="4384" y="3655"/>
              <a:ext cx="2299" cy="528"/>
            </a:xfrm>
            <a:prstGeom prst="rect">
              <a:avLst/>
            </a:prstGeom>
            <a:noFill/>
          </p:spPr>
          <p:txBody>
            <a:bodyPr wrap="square" rtlCol="0">
              <a:noAutofit/>
            </a:bodyPr>
            <a:lstStyle/>
            <a:p>
              <a:pPr marL="0" marR="0" lvl="0" indent="0" algn="ctr" defTabSz="457200" rtl="0" eaLnBrk="1" fontAlgn="auto" latinLnBrk="0" hangingPunct="1">
                <a:lnSpc>
                  <a:spcPct val="9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数字化升级</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p:cNvSpPr txBox="1"/>
            <p:nvPr/>
          </p:nvSpPr>
          <p:spPr>
            <a:xfrm>
              <a:off x="7342" y="3655"/>
              <a:ext cx="2422" cy="513"/>
            </a:xfrm>
            <a:prstGeom prst="rect">
              <a:avLst/>
            </a:prstGeom>
            <a:noFill/>
          </p:spPr>
          <p:txBody>
            <a:bodyPr wrap="square" rtlCol="0">
              <a:noAutofit/>
            </a:bodyPr>
            <a:lstStyle/>
            <a:p>
              <a:pPr marL="0" marR="0" lvl="0" indent="0" algn="ctr" defTabSz="457200" rtl="0" eaLnBrk="1" fontAlgn="auto" latinLnBrk="0" hangingPunct="1">
                <a:lnSpc>
                  <a:spcPct val="9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智能化引领</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0" name="圆角矩形 19"/>
            <p:cNvSpPr/>
            <p:nvPr/>
          </p:nvSpPr>
          <p:spPr>
            <a:xfrm>
              <a:off x="10421" y="3636"/>
              <a:ext cx="8110" cy="487"/>
            </a:xfrm>
            <a:prstGeom prst="roundRect">
              <a:avLst>
                <a:gd name="adj" fmla="val 778"/>
              </a:avLst>
            </a:prstGeom>
            <a:solidFill>
              <a:schemeClr val="bg1"/>
            </a:solidFill>
            <a:ln>
              <a:no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4" name="文本框 23"/>
            <p:cNvSpPr txBox="1"/>
            <p:nvPr/>
          </p:nvSpPr>
          <p:spPr>
            <a:xfrm>
              <a:off x="10457" y="3653"/>
              <a:ext cx="2817" cy="528"/>
            </a:xfrm>
            <a:prstGeom prst="rect">
              <a:avLst/>
            </a:prstGeom>
            <a:noFill/>
          </p:spPr>
          <p:txBody>
            <a:bodyPr wrap="square" rtlCol="0">
              <a:noAutofit/>
            </a:bodyPr>
            <a:lstStyle/>
            <a:p>
              <a:pPr marL="0" marR="0" lvl="0" indent="0" algn="ctr" defTabSz="457200" rtl="0" eaLnBrk="1" fontAlgn="auto" latinLnBrk="0" hangingPunct="1">
                <a:lnSpc>
                  <a:spcPct val="9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全面场景数智化</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6" name="文本框 25"/>
            <p:cNvSpPr txBox="1"/>
            <p:nvPr/>
          </p:nvSpPr>
          <p:spPr>
            <a:xfrm>
              <a:off x="12852" y="3667"/>
              <a:ext cx="5678" cy="472"/>
            </a:xfrm>
            <a:prstGeom prst="rect">
              <a:avLst/>
            </a:prstGeom>
            <a:noFill/>
          </p:spPr>
          <p:txBody>
            <a:bodyPr wrap="square" rtlCol="0">
              <a:noAutofit/>
            </a:bodyPr>
            <a:lstStyle/>
            <a:p>
              <a:pPr marL="0" marR="0" lvl="0" indent="0" algn="ctr" defTabSz="457200" rtl="0" eaLnBrk="1" fontAlgn="auto" latinLnBrk="0" hangingPunct="1">
                <a:lnSpc>
                  <a:spcPct val="9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生产运营  客户服务  经营管理  研发设计  产业协同</a:t>
              </a:r>
              <a:endParaRPr kumimoji="1" lang="zh-CN" altLang="en-US" sz="1000" b="0"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grpSp>
      <p:sp>
        <p:nvSpPr>
          <p:cNvPr id="6" name="Freeform 22"/>
          <p:cNvSpPr/>
          <p:nvPr/>
        </p:nvSpPr>
        <p:spPr bwMode="auto">
          <a:xfrm rot="16200000" flipV="1">
            <a:off x="2374900" y="2318385"/>
            <a:ext cx="452120" cy="24447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chemeClr val="accent1">
                  <a:lumMod val="5000"/>
                  <a:lumOff val="95000"/>
                  <a:alpha val="0"/>
                </a:schemeClr>
              </a:gs>
              <a:gs pos="50000">
                <a:schemeClr val="accent1">
                  <a:lumMod val="45000"/>
                  <a:lumOff val="55000"/>
                  <a:alpha val="61000"/>
                </a:schemeClr>
              </a:gs>
              <a:gs pos="100000">
                <a:srgbClr val="0070C0"/>
              </a:gs>
            </a:gsLst>
            <a:lin ang="162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3" name="Freeform 22"/>
          <p:cNvSpPr/>
          <p:nvPr/>
        </p:nvSpPr>
        <p:spPr bwMode="auto">
          <a:xfrm rot="16200000" flipV="1">
            <a:off x="4214495" y="2318385"/>
            <a:ext cx="451485" cy="24447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chemeClr val="accent1">
                  <a:lumMod val="5000"/>
                  <a:lumOff val="95000"/>
                  <a:alpha val="0"/>
                </a:schemeClr>
              </a:gs>
              <a:gs pos="50000">
                <a:schemeClr val="accent1">
                  <a:lumMod val="45000"/>
                  <a:lumOff val="55000"/>
                  <a:alpha val="61000"/>
                </a:schemeClr>
              </a:gs>
              <a:gs pos="100000">
                <a:srgbClr val="0070C0"/>
              </a:gs>
            </a:gsLst>
            <a:lin ang="162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4" name="Freeform 22"/>
          <p:cNvSpPr/>
          <p:nvPr/>
        </p:nvSpPr>
        <p:spPr bwMode="auto">
          <a:xfrm rot="16200000" flipV="1">
            <a:off x="6156325" y="2318385"/>
            <a:ext cx="452755" cy="24447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chemeClr val="accent1">
                  <a:lumMod val="5000"/>
                  <a:lumOff val="95000"/>
                  <a:alpha val="0"/>
                </a:schemeClr>
              </a:gs>
              <a:gs pos="50000">
                <a:schemeClr val="accent1">
                  <a:lumMod val="45000"/>
                  <a:lumOff val="55000"/>
                  <a:alpha val="61000"/>
                </a:schemeClr>
              </a:gs>
              <a:gs pos="100000">
                <a:srgbClr val="0070C0"/>
              </a:gs>
            </a:gsLst>
            <a:lin ang="162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64" name="矩形 163"/>
          <p:cNvSpPr/>
          <p:nvPr/>
        </p:nvSpPr>
        <p:spPr>
          <a:xfrm>
            <a:off x="7975422" y="6469128"/>
            <a:ext cx="4014014" cy="303805"/>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3" name="矩形 32"/>
          <p:cNvSpPr/>
          <p:nvPr/>
        </p:nvSpPr>
        <p:spPr>
          <a:xfrm>
            <a:off x="653992" y="6469128"/>
            <a:ext cx="7207835" cy="303805"/>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4" name="文本框 33"/>
          <p:cNvSpPr txBox="1"/>
          <p:nvPr/>
        </p:nvSpPr>
        <p:spPr>
          <a:xfrm>
            <a:off x="-332510" y="6336664"/>
            <a:ext cx="1323765" cy="462915"/>
          </a:xfrm>
          <a:prstGeom prst="rect">
            <a:avLst/>
          </a:prstGeom>
          <a:noFill/>
          <a:extLst>
            <a:ext uri="{909E8E84-426E-40DD-AFC4-6F175D3DCCD1}">
              <a14:hiddenFill xmlns:a14="http://schemas.microsoft.com/office/drawing/2010/main">
                <a:solidFill>
                  <a:schemeClr val="accent1"/>
                </a:solidFill>
              </a14:hiddenFill>
            </a:ext>
          </a:extLst>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保障</a:t>
            </a:r>
            <a:endParaRPr kumimoji="1" lang="en-US" altLang="zh-CN"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体系</a:t>
            </a:r>
            <a:endPar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4" name="文本框 43"/>
          <p:cNvSpPr txBox="1"/>
          <p:nvPr>
            <p:custDataLst>
              <p:tags r:id="rId3"/>
            </p:custDataLst>
          </p:nvPr>
        </p:nvSpPr>
        <p:spPr>
          <a:xfrm>
            <a:off x="10778640" y="6533533"/>
            <a:ext cx="987757" cy="197818"/>
          </a:xfrm>
          <a:prstGeom prst="rect">
            <a:avLst/>
          </a:prstGeom>
          <a:solidFill>
            <a:schemeClr val="tx1">
              <a:lumMod val="50000"/>
              <a:lumOff val="50000"/>
            </a:schemeClr>
          </a:solidFill>
          <a:ln w="12700" cap="flat" cmpd="sng" algn="ctr">
            <a:noFill/>
            <a:prstDash val="solid"/>
            <a:miter lim="800000"/>
          </a:ln>
          <a:effectLst/>
        </p:spPr>
        <p:txBody>
          <a:bodyPr rtlCol="0" anchor="ctr"/>
          <a:lstStyle>
            <a:defPPr>
              <a:defRPr lang="zh-CN"/>
            </a:defPPr>
            <a:lvl1pPr marR="0" lvl="0" indent="0" algn="ctr" defTabSz="457200" fontAlgn="auto">
              <a:lnSpc>
                <a:spcPct val="100000"/>
              </a:lnSpc>
              <a:spcBef>
                <a:spcPts val="0"/>
              </a:spcBef>
              <a:spcAft>
                <a:spcPts val="0"/>
              </a:spcAft>
              <a:buClrTx/>
              <a:buSzTx/>
              <a:buFontTx/>
              <a:buNone/>
              <a:defRPr kumimoji="0" sz="1200" b="1" i="0" u="none" strike="noStrike" cap="none" spc="0" normalizeH="0" baseline="0">
                <a:ln>
                  <a:noFill/>
                </a:ln>
                <a:solidFill>
                  <a:srgbClr val="FFFFFF"/>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数智人才体系</a:t>
            </a:r>
            <a:endParaRPr kumimoji="0" lang="zh-CN" altLang="en-US" sz="1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6" name="文本框 35"/>
          <p:cNvSpPr txBox="1"/>
          <p:nvPr>
            <p:custDataLst>
              <p:tags r:id="rId4"/>
            </p:custDataLst>
          </p:nvPr>
        </p:nvSpPr>
        <p:spPr>
          <a:xfrm>
            <a:off x="6386081" y="6524498"/>
            <a:ext cx="1016912" cy="182466"/>
          </a:xfrm>
          <a:prstGeom prst="rect">
            <a:avLst/>
          </a:prstGeom>
          <a:solidFill>
            <a:schemeClr val="tx1">
              <a:lumMod val="50000"/>
              <a:lumOff val="50000"/>
            </a:schemeClr>
          </a:solidFill>
          <a:ln w="12700" cap="flat" cmpd="sng" algn="ctr">
            <a:noFill/>
            <a:prstDash val="solid"/>
            <a:miter lim="800000"/>
          </a:ln>
          <a:effectLst/>
        </p:spPr>
        <p:txBody>
          <a:bodyPr rtlCol="0" anchor="ctr"/>
          <a:lstStyle>
            <a:defPPr>
              <a:defRPr lang="zh-CN"/>
            </a:defPPr>
            <a:lvl1pPr marR="0" lvl="0" indent="0" algn="ctr" defTabSz="457200" fontAlgn="auto">
              <a:lnSpc>
                <a:spcPct val="100000"/>
              </a:lnSpc>
              <a:spcBef>
                <a:spcPts val="0"/>
              </a:spcBef>
              <a:spcAft>
                <a:spcPts val="0"/>
              </a:spcAft>
              <a:buClrTx/>
              <a:buSzTx/>
              <a:buFontTx/>
              <a:buNone/>
              <a:defRPr kumimoji="0" sz="1200" b="1" i="0" u="none" strike="noStrike" cap="none" spc="0" normalizeH="0" baseline="0">
                <a:ln>
                  <a:noFill/>
                </a:ln>
                <a:solidFill>
                  <a:srgbClr val="FFFFFF"/>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成效评价机制</a:t>
            </a:r>
            <a:endPar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0" name="文本框 39"/>
          <p:cNvSpPr txBox="1"/>
          <p:nvPr>
            <p:custDataLst>
              <p:tags r:id="rId5"/>
            </p:custDataLst>
          </p:nvPr>
        </p:nvSpPr>
        <p:spPr>
          <a:xfrm>
            <a:off x="3463213" y="6524498"/>
            <a:ext cx="1016912" cy="182466"/>
          </a:xfrm>
          <a:prstGeom prst="rect">
            <a:avLst/>
          </a:prstGeom>
          <a:solidFill>
            <a:schemeClr val="tx1">
              <a:lumMod val="50000"/>
              <a:lumOff val="50000"/>
            </a:schemeClr>
          </a:solidFill>
          <a:ln w="12700" cap="flat" cmpd="sng" algn="ctr">
            <a:noFill/>
            <a:prstDash val="solid"/>
            <a:miter lim="800000"/>
          </a:ln>
          <a:effectLst/>
        </p:spPr>
        <p:txBody>
          <a:bodyPr rtlCol="0" anchor="ctr"/>
          <a:lstStyle>
            <a:defPPr>
              <a:defRPr lang="zh-CN"/>
            </a:defPPr>
            <a:lvl1pPr marR="0" lvl="0" indent="0" algn="ctr" defTabSz="457200" fontAlgn="auto">
              <a:lnSpc>
                <a:spcPct val="100000"/>
              </a:lnSpc>
              <a:spcBef>
                <a:spcPts val="0"/>
              </a:spcBef>
              <a:spcAft>
                <a:spcPts val="0"/>
              </a:spcAft>
              <a:buClrTx/>
              <a:buSzTx/>
              <a:buFontTx/>
              <a:buNone/>
              <a:defRPr kumimoji="0" sz="1200" b="1" i="0" u="none" strike="noStrike" cap="none" spc="0" normalizeH="0" baseline="0">
                <a:ln>
                  <a:noFill/>
                </a:ln>
                <a:solidFill>
                  <a:srgbClr val="FFFFFF"/>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协同执行机制</a:t>
            </a:r>
            <a:endPar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1" name="文本框 40"/>
          <p:cNvSpPr txBox="1"/>
          <p:nvPr>
            <p:custDataLst>
              <p:tags r:id="rId6"/>
            </p:custDataLst>
          </p:nvPr>
        </p:nvSpPr>
        <p:spPr>
          <a:xfrm>
            <a:off x="4917076" y="6524498"/>
            <a:ext cx="1016912" cy="182466"/>
          </a:xfrm>
          <a:prstGeom prst="rect">
            <a:avLst/>
          </a:prstGeom>
          <a:solidFill>
            <a:schemeClr val="tx1">
              <a:lumMod val="50000"/>
              <a:lumOff val="50000"/>
            </a:schemeClr>
          </a:solidFill>
          <a:ln w="12700" cap="flat" cmpd="sng" algn="ctr">
            <a:noFill/>
            <a:prstDash val="solid"/>
            <a:miter lim="800000"/>
          </a:ln>
          <a:effectLst/>
        </p:spPr>
        <p:txBody>
          <a:bodyPr rtlCol="0" anchor="ctr"/>
          <a:lstStyle>
            <a:defPPr>
              <a:defRPr lang="zh-CN"/>
            </a:defPPr>
            <a:lvl1pPr marR="0" lvl="0" indent="0" algn="ctr" defTabSz="457200" fontAlgn="auto">
              <a:lnSpc>
                <a:spcPct val="100000"/>
              </a:lnSpc>
              <a:spcBef>
                <a:spcPts val="0"/>
              </a:spcBef>
              <a:spcAft>
                <a:spcPts val="0"/>
              </a:spcAft>
              <a:buClrTx/>
              <a:buSzTx/>
              <a:buFontTx/>
              <a:buNone/>
              <a:defRPr kumimoji="0" sz="1200" b="1" i="0" u="none" strike="noStrike" cap="none" spc="0" normalizeH="0" baseline="0">
                <a:ln>
                  <a:noFill/>
                </a:ln>
                <a:solidFill>
                  <a:srgbClr val="FFFFFF"/>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工作推进机制</a:t>
            </a:r>
            <a:endPar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5" name="文本框 44"/>
          <p:cNvSpPr txBox="1"/>
          <p:nvPr>
            <p:custDataLst>
              <p:tags r:id="rId7"/>
            </p:custDataLst>
          </p:nvPr>
        </p:nvSpPr>
        <p:spPr>
          <a:xfrm>
            <a:off x="2046977" y="6524498"/>
            <a:ext cx="1016912" cy="182466"/>
          </a:xfrm>
          <a:prstGeom prst="rect">
            <a:avLst/>
          </a:prstGeom>
          <a:solidFill>
            <a:schemeClr val="tx1">
              <a:lumMod val="50000"/>
              <a:lumOff val="50000"/>
            </a:schemeClr>
          </a:solidFill>
          <a:ln w="12700" cap="flat" cmpd="sng" algn="ctr">
            <a:noFill/>
            <a:prstDash val="solid"/>
            <a:miter lim="800000"/>
          </a:ln>
          <a:effectLst/>
        </p:spPr>
        <p:txBody>
          <a:bodyPr rtlCol="0" anchor="ctr"/>
          <a:lstStyle>
            <a:defPPr>
              <a:defRPr lang="zh-CN"/>
            </a:defPPr>
            <a:lvl1pPr marR="0" lvl="0" indent="0" algn="ctr" defTabSz="457200" fontAlgn="auto">
              <a:lnSpc>
                <a:spcPct val="100000"/>
              </a:lnSpc>
              <a:spcBef>
                <a:spcPts val="0"/>
              </a:spcBef>
              <a:spcAft>
                <a:spcPts val="0"/>
              </a:spcAft>
              <a:buClrTx/>
              <a:buSzTx/>
              <a:buFontTx/>
              <a:buNone/>
              <a:defRPr kumimoji="0" sz="1200" b="1" i="0" u="none" strike="noStrike" cap="none" spc="0" normalizeH="0" baseline="0">
                <a:ln>
                  <a:noFill/>
                </a:ln>
                <a:solidFill>
                  <a:srgbClr val="FFFFFF"/>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组织机构建立</a:t>
            </a:r>
            <a:endPar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61" name="文本框 160"/>
          <p:cNvSpPr txBox="1"/>
          <p:nvPr/>
        </p:nvSpPr>
        <p:spPr>
          <a:xfrm>
            <a:off x="715273" y="6493821"/>
            <a:ext cx="1044016" cy="260350"/>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defRPr kumimoji="1" sz="1200" b="1" i="0" u="none" strike="noStrike" cap="none" spc="0" normalizeH="0" baseline="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健全机制体系</a:t>
            </a:r>
            <a:endParaRPr kumimoji="1" lang="zh-CN" altLang="en-US" sz="11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62" name="文本框 161"/>
          <p:cNvSpPr txBox="1"/>
          <p:nvPr/>
        </p:nvSpPr>
        <p:spPr>
          <a:xfrm>
            <a:off x="8059840" y="6490021"/>
            <a:ext cx="1044016" cy="260350"/>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defRPr kumimoji="1" sz="1200" b="1" i="0" u="none" strike="noStrike" cap="none" spc="0" normalizeH="0" baseline="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加强资源保障</a:t>
            </a:r>
            <a:endParaRPr kumimoji="1" lang="zh-CN" altLang="en-US" sz="11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65" name="文本框 164"/>
          <p:cNvSpPr txBox="1"/>
          <p:nvPr>
            <p:custDataLst>
              <p:tags r:id="rId8"/>
            </p:custDataLst>
          </p:nvPr>
        </p:nvSpPr>
        <p:spPr>
          <a:xfrm>
            <a:off x="9442618" y="6540664"/>
            <a:ext cx="987757" cy="197818"/>
          </a:xfrm>
          <a:prstGeom prst="rect">
            <a:avLst/>
          </a:prstGeom>
          <a:solidFill>
            <a:schemeClr val="tx1">
              <a:lumMod val="50000"/>
              <a:lumOff val="50000"/>
            </a:schemeClr>
          </a:solidFill>
          <a:ln w="12700" cap="flat" cmpd="sng" algn="ctr">
            <a:noFill/>
            <a:prstDash val="solid"/>
            <a:miter lim="800000"/>
          </a:ln>
          <a:effectLst/>
        </p:spPr>
        <p:txBody>
          <a:bodyPr rtlCol="0" anchor="ctr"/>
          <a:lstStyle>
            <a:defPPr>
              <a:defRPr lang="zh-CN"/>
            </a:defPPr>
            <a:lvl1pPr marR="0" lvl="0" indent="0" algn="ctr" defTabSz="457200" fontAlgn="auto">
              <a:lnSpc>
                <a:spcPct val="100000"/>
              </a:lnSpc>
              <a:spcBef>
                <a:spcPts val="0"/>
              </a:spcBef>
              <a:spcAft>
                <a:spcPts val="0"/>
              </a:spcAft>
              <a:buClrTx/>
              <a:buSzTx/>
              <a:buFontTx/>
              <a:buNone/>
              <a:defRPr kumimoji="0" sz="1200" b="1" i="0" u="none" strike="noStrike" cap="none" spc="0" normalizeH="0" baseline="0">
                <a:ln>
                  <a:noFill/>
                </a:ln>
                <a:solidFill>
                  <a:srgbClr val="FFFFFF"/>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资源配置管理</a:t>
            </a:r>
            <a:endParaRPr kumimoji="0" lang="zh-CN" altLang="en-US" sz="1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76" name="文本框 175"/>
          <p:cNvSpPr txBox="1"/>
          <p:nvPr/>
        </p:nvSpPr>
        <p:spPr>
          <a:xfrm>
            <a:off x="44032" y="3655060"/>
            <a:ext cx="570680" cy="52197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场景焕新</a:t>
            </a:r>
            <a:endPar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5" name="文本框 54"/>
          <p:cNvSpPr txBox="1"/>
          <p:nvPr/>
        </p:nvSpPr>
        <p:spPr>
          <a:xfrm>
            <a:off x="16814" y="5273928"/>
            <a:ext cx="625116" cy="52197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数智中枢</a:t>
            </a:r>
            <a:endPar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6" name="文本框 185"/>
          <p:cNvSpPr txBox="1"/>
          <p:nvPr/>
        </p:nvSpPr>
        <p:spPr>
          <a:xfrm>
            <a:off x="-52580" y="2784186"/>
            <a:ext cx="763905" cy="52197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社会</a:t>
            </a:r>
            <a:endParaRPr kumimoji="1" lang="en-US" altLang="zh-CN"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赋能</a:t>
            </a:r>
            <a:endPar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0" name="文本框 49"/>
          <p:cNvSpPr txBox="1"/>
          <p:nvPr/>
        </p:nvSpPr>
        <p:spPr>
          <a:xfrm>
            <a:off x="3350260" y="7149465"/>
            <a:ext cx="4064000" cy="306705"/>
          </a:xfrm>
          <a:prstGeom prst="rect">
            <a:avLst/>
          </a:prstGeom>
          <a:noFill/>
        </p:spPr>
        <p:txBody>
          <a:bodyPr wrap="square" rtlCol="0">
            <a:spAutoFit/>
          </a:bodyPr>
          <a:lstStyle/>
          <a:p>
            <a:pPr algn="l"/>
            <a:endParaRPr kumimoji="1" lang="zh-CN" altLang="en-US" sz="1400" dirty="0">
              <a:latin typeface="微软雅黑" panose="020B0503020204020204" pitchFamily="34" charset="-122"/>
              <a:ea typeface="微软雅黑" panose="020B0503020204020204" pitchFamily="34" charset="-122"/>
            </a:endParaRPr>
          </a:p>
        </p:txBody>
      </p:sp>
      <p:sp>
        <p:nvSpPr>
          <p:cNvPr id="152" name="文本框 151"/>
          <p:cNvSpPr txBox="1"/>
          <p:nvPr/>
        </p:nvSpPr>
        <p:spPr>
          <a:xfrm>
            <a:off x="1115695" y="1865630"/>
            <a:ext cx="1003935" cy="315595"/>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推进“四全”</a:t>
            </a:r>
            <a:endPar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77" name="圆角矩形 1"/>
          <p:cNvSpPr/>
          <p:nvPr/>
        </p:nvSpPr>
        <p:spPr>
          <a:xfrm>
            <a:off x="654050" y="3375660"/>
            <a:ext cx="9942195" cy="1299845"/>
          </a:xfrm>
          <a:prstGeom prst="roundRect">
            <a:avLst>
              <a:gd name="adj" fmla="val 0"/>
            </a:avLst>
          </a:prstGeom>
          <a:solidFill>
            <a:schemeClr val="accent2">
              <a:lumMod val="20000"/>
              <a:lumOff val="8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54" name="文本框 153"/>
          <p:cNvSpPr txBox="1"/>
          <p:nvPr/>
        </p:nvSpPr>
        <p:spPr>
          <a:xfrm>
            <a:off x="691833" y="3622675"/>
            <a:ext cx="1041400" cy="59880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对内焕新</a:t>
            </a:r>
            <a:endParaRPr kumimoji="1" lang="en-US" altLang="zh-CN"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全领域场景</a:t>
            </a:r>
            <a:endParaRPr kumimoji="1" lang="en-US" altLang="zh-CN"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grpSp>
        <p:nvGrpSpPr>
          <p:cNvPr id="64" name="组合 63"/>
          <p:cNvGrpSpPr/>
          <p:nvPr/>
        </p:nvGrpSpPr>
        <p:grpSpPr>
          <a:xfrm>
            <a:off x="9208135" y="3410585"/>
            <a:ext cx="1239520" cy="1160145"/>
            <a:chOff x="2113233" y="2950133"/>
            <a:chExt cx="1228657" cy="1160447"/>
          </a:xfrm>
        </p:grpSpPr>
        <p:grpSp>
          <p:nvGrpSpPr>
            <p:cNvPr id="126" name="组合 125"/>
            <p:cNvGrpSpPr/>
            <p:nvPr/>
          </p:nvGrpSpPr>
          <p:grpSpPr>
            <a:xfrm>
              <a:off x="2197518" y="3177958"/>
              <a:ext cx="1033497" cy="932622"/>
              <a:chOff x="3982" y="4898"/>
              <a:chExt cx="1594" cy="1416"/>
            </a:xfrm>
          </p:grpSpPr>
          <p:sp>
            <p:nvSpPr>
              <p:cNvPr id="140" name="文本框 139"/>
              <p:cNvSpPr txBox="1"/>
              <p:nvPr/>
            </p:nvSpPr>
            <p:spPr>
              <a:xfrm>
                <a:off x="4388" y="5389"/>
                <a:ext cx="870" cy="525"/>
              </a:xfrm>
              <a:prstGeom prst="rect">
                <a:avLst/>
              </a:prstGeom>
              <a:noFill/>
              <a:extLst>
                <a:ext uri="{909E8E84-426E-40DD-AFC4-6F175D3DCCD1}">
                  <a14:hiddenFill xmlns:a14="http://schemas.microsoft.com/office/drawing/2010/main">
                    <a:grpFill/>
                  </a14:hiddenFill>
                </a:ext>
              </a:extLst>
            </p:spPr>
            <p:txBody>
              <a:bodyPr wrap="square" lIns="0" tIns="0" rIns="0" bIns="0" rtlCol="0" anchor="ctr" anchorCtr="0">
                <a:noAutofit/>
              </a:bodyPr>
              <a:lstStyle>
                <a:defPPr>
                  <a:defRPr lang="zh-CN"/>
                </a:defPPr>
                <a:lvl1pPr algn="ctr">
                  <a:defRPr kumimoji="1" sz="1000" b="1">
                    <a:solidFill>
                      <a:schemeClr val="accent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科技</a:t>
                </a:r>
                <a:endParaRPr kumimoji="1" lang="en-US" altLang="zh-CN"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创新</a:t>
                </a:r>
                <a:endPar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03" name="文本框 102"/>
              <p:cNvSpPr txBox="1"/>
              <p:nvPr/>
            </p:nvSpPr>
            <p:spPr>
              <a:xfrm>
                <a:off x="4576" y="4898"/>
                <a:ext cx="435" cy="388"/>
              </a:xfrm>
              <a:prstGeom prst="rect">
                <a:avLst/>
              </a:prstGeom>
              <a:solidFill>
                <a:schemeClr val="bg1">
                  <a:alpha val="80000"/>
                </a:schemeClr>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统一度量</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2" name="组合 1"/>
              <p:cNvGrpSpPr/>
              <p:nvPr/>
            </p:nvGrpSpPr>
            <p:grpSpPr>
              <a:xfrm>
                <a:off x="4103" y="5172"/>
                <a:ext cx="1375" cy="1006"/>
                <a:chOff x="3608" y="5040"/>
                <a:chExt cx="1433" cy="1177"/>
              </a:xfrm>
            </p:grpSpPr>
            <p:sp>
              <p:nvSpPr>
                <p:cNvPr id="4" name="箭头: 上弧形 3"/>
                <p:cNvSpPr/>
                <p:nvPr/>
              </p:nvSpPr>
              <p:spPr>
                <a:xfrm>
                  <a:off x="3657" y="5040"/>
                  <a:ext cx="1384" cy="522"/>
                </a:xfrm>
                <a:prstGeom prst="curved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7" name="箭头: 上弧形 136"/>
                <p:cNvSpPr/>
                <p:nvPr/>
              </p:nvSpPr>
              <p:spPr>
                <a:xfrm flipH="1" flipV="1">
                  <a:off x="3608" y="5695"/>
                  <a:ext cx="1384" cy="522"/>
                </a:xfrm>
                <a:prstGeom prst="curved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
            <p:nvSpPr>
              <p:cNvPr id="105" name="文本框 104"/>
              <p:cNvSpPr txBox="1"/>
              <p:nvPr/>
            </p:nvSpPr>
            <p:spPr>
              <a:xfrm>
                <a:off x="4844" y="5926"/>
                <a:ext cx="435" cy="388"/>
              </a:xfrm>
              <a:prstGeom prst="rect">
                <a:avLst/>
              </a:prstGeom>
              <a:solidFill>
                <a:schemeClr val="bg1">
                  <a:alpha val="80000"/>
                </a:schemeClr>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过程标准</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6" name="文本框 105"/>
              <p:cNvSpPr txBox="1"/>
              <p:nvPr/>
            </p:nvSpPr>
            <p:spPr>
              <a:xfrm>
                <a:off x="4327" y="5926"/>
                <a:ext cx="435" cy="388"/>
              </a:xfrm>
              <a:prstGeom prst="rect">
                <a:avLst/>
              </a:prstGeom>
              <a:solidFill>
                <a:schemeClr val="bg1">
                  <a:alpha val="80000"/>
                </a:schemeClr>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生产协同</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1" name="文本框 140"/>
              <p:cNvSpPr txBox="1"/>
              <p:nvPr/>
            </p:nvSpPr>
            <p:spPr>
              <a:xfrm>
                <a:off x="5141" y="5154"/>
                <a:ext cx="435" cy="388"/>
              </a:xfrm>
              <a:prstGeom prst="rect">
                <a:avLst/>
              </a:prstGeom>
              <a:solidFill>
                <a:schemeClr val="bg1">
                  <a:alpha val="80000"/>
                </a:schemeClr>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管理集中</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9" name="文本框 138"/>
              <p:cNvSpPr txBox="1"/>
              <p:nvPr/>
            </p:nvSpPr>
            <p:spPr>
              <a:xfrm>
                <a:off x="3982" y="5150"/>
                <a:ext cx="435" cy="388"/>
              </a:xfrm>
              <a:prstGeom prst="rect">
                <a:avLst/>
              </a:prstGeom>
              <a:solidFill>
                <a:schemeClr val="bg1">
                  <a:alpha val="80000"/>
                </a:schemeClr>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资源集约</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
          <p:nvSpPr>
            <p:cNvPr id="166" name="文本框 165"/>
            <p:cNvSpPr txBox="1"/>
            <p:nvPr/>
          </p:nvSpPr>
          <p:spPr>
            <a:xfrm>
              <a:off x="2113233" y="2950133"/>
              <a:ext cx="1228657" cy="22987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高效研发，过程标准</a:t>
              </a:r>
              <a:endParaRPr kumimoji="0" lang="zh-CN" altLang="en-US" sz="9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70" name="组合 69"/>
          <p:cNvGrpSpPr/>
          <p:nvPr/>
        </p:nvGrpSpPr>
        <p:grpSpPr>
          <a:xfrm>
            <a:off x="3181985" y="3410585"/>
            <a:ext cx="1353185" cy="1199515"/>
            <a:chOff x="3675806" y="2946182"/>
            <a:chExt cx="1341475" cy="1199310"/>
          </a:xfrm>
        </p:grpSpPr>
        <p:grpSp>
          <p:nvGrpSpPr>
            <p:cNvPr id="127" name="组合 126"/>
            <p:cNvGrpSpPr/>
            <p:nvPr/>
          </p:nvGrpSpPr>
          <p:grpSpPr>
            <a:xfrm>
              <a:off x="3675806" y="3191134"/>
              <a:ext cx="1341475" cy="954358"/>
              <a:chOff x="6267" y="4918"/>
              <a:chExt cx="2069" cy="1449"/>
            </a:xfrm>
          </p:grpSpPr>
          <p:sp>
            <p:nvSpPr>
              <p:cNvPr id="125" name="文本框 124"/>
              <p:cNvSpPr txBox="1"/>
              <p:nvPr/>
            </p:nvSpPr>
            <p:spPr>
              <a:xfrm>
                <a:off x="6888" y="5389"/>
                <a:ext cx="870" cy="525"/>
              </a:xfrm>
              <a:prstGeom prst="rect">
                <a:avLst/>
              </a:prstGeom>
              <a:noFill/>
              <a:extLst>
                <a:ext uri="{909E8E84-426E-40DD-AFC4-6F175D3DCCD1}">
                  <a14:hiddenFill xmlns:a14="http://schemas.microsoft.com/office/drawing/2010/main">
                    <a:grpFill/>
                  </a14:hiddenFill>
                </a:ext>
              </a:extLst>
            </p:spPr>
            <p:txBody>
              <a:bodyPr wrap="square" lIns="0" tIns="0" rIns="0" bIns="0" rtlCol="0" anchor="ctr" anchorCtr="0">
                <a:noAutofit/>
              </a:bodyPr>
              <a:lstStyle>
                <a:defPPr>
                  <a:defRPr lang="zh-CN"/>
                </a:defPPr>
                <a:lvl1pPr algn="ctr">
                  <a:defRPr kumimoji="1" sz="1000" b="1">
                    <a:solidFill>
                      <a:schemeClr val="accent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政企</a:t>
                </a:r>
                <a:endParaRPr kumimoji="1" lang="en-US" altLang="zh-CN"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运营</a:t>
                </a:r>
                <a:endPar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grpSp>
            <p:nvGrpSpPr>
              <p:cNvPr id="14" name="组合 13"/>
              <p:cNvGrpSpPr/>
              <p:nvPr/>
            </p:nvGrpSpPr>
            <p:grpSpPr>
              <a:xfrm>
                <a:off x="6629" y="5172"/>
                <a:ext cx="1375" cy="1006"/>
                <a:chOff x="3608" y="5040"/>
                <a:chExt cx="1433" cy="1177"/>
              </a:xfrm>
            </p:grpSpPr>
            <p:sp>
              <p:nvSpPr>
                <p:cNvPr id="15" name="箭头: 上弧形 3"/>
                <p:cNvSpPr/>
                <p:nvPr/>
              </p:nvSpPr>
              <p:spPr>
                <a:xfrm>
                  <a:off x="3657" y="5040"/>
                  <a:ext cx="1384" cy="522"/>
                </a:xfrm>
                <a:prstGeom prst="curved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9" name="箭头: 上弧形 136"/>
                <p:cNvSpPr/>
                <p:nvPr/>
              </p:nvSpPr>
              <p:spPr>
                <a:xfrm flipH="1" flipV="1">
                  <a:off x="3608" y="5695"/>
                  <a:ext cx="1384" cy="522"/>
                </a:xfrm>
                <a:prstGeom prst="curved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
            <p:nvSpPr>
              <p:cNvPr id="121" name="文本框 120"/>
              <p:cNvSpPr txBox="1"/>
              <p:nvPr/>
            </p:nvSpPr>
            <p:spPr>
              <a:xfrm>
                <a:off x="7037" y="4918"/>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客户</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透视</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22" name="文本框 121"/>
              <p:cNvSpPr txBox="1"/>
              <p:nvPr/>
            </p:nvSpPr>
            <p:spPr>
              <a:xfrm>
                <a:off x="7781" y="5475"/>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产品</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创新</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23" name="文本框 122"/>
              <p:cNvSpPr txBox="1"/>
              <p:nvPr/>
            </p:nvSpPr>
            <p:spPr>
              <a:xfrm>
                <a:off x="7059" y="5984"/>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敏捷</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交付</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24" name="文本框 123"/>
              <p:cNvSpPr txBox="1"/>
              <p:nvPr/>
            </p:nvSpPr>
            <p:spPr>
              <a:xfrm>
                <a:off x="6267" y="5460"/>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品质</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服务</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grpSp>
        <p:sp>
          <p:nvSpPr>
            <p:cNvPr id="167" name="文本框 166"/>
            <p:cNvSpPr txBox="1"/>
            <p:nvPr/>
          </p:nvSpPr>
          <p:spPr>
            <a:xfrm>
              <a:off x="3729610" y="2946182"/>
              <a:ext cx="1228657" cy="22987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规模延展，卓越服务</a:t>
              </a:r>
              <a:endParaRPr kumimoji="0" lang="zh-CN" altLang="en-US" sz="9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128" name="组合 127"/>
          <p:cNvGrpSpPr/>
          <p:nvPr/>
        </p:nvGrpSpPr>
        <p:grpSpPr>
          <a:xfrm>
            <a:off x="4742815" y="3637915"/>
            <a:ext cx="1368425" cy="971550"/>
            <a:chOff x="8753" y="4896"/>
            <a:chExt cx="2093" cy="1475"/>
          </a:xfrm>
        </p:grpSpPr>
        <p:sp>
          <p:nvSpPr>
            <p:cNvPr id="116" name="文本框 115"/>
            <p:cNvSpPr txBox="1"/>
            <p:nvPr/>
          </p:nvSpPr>
          <p:spPr>
            <a:xfrm>
              <a:off x="9366" y="5389"/>
              <a:ext cx="870" cy="525"/>
            </a:xfrm>
            <a:prstGeom prst="rect">
              <a:avLst/>
            </a:prstGeom>
            <a:noFill/>
            <a:extLst>
              <a:ext uri="{909E8E84-426E-40DD-AFC4-6F175D3DCCD1}">
                <a14:hiddenFill xmlns:a14="http://schemas.microsoft.com/office/drawing/2010/main">
                  <a:grpFill/>
                </a14:hiddenFill>
              </a:ext>
            </a:extLst>
          </p:spPr>
          <p:txBody>
            <a:bodyPr wrap="square" lIns="0" tIns="0" rIns="0" bIns="0" rtlCol="0" anchor="ctr" anchorCtr="0">
              <a:noAutofit/>
            </a:bodyPr>
            <a:lstStyle>
              <a:defPPr>
                <a:defRPr lang="zh-CN"/>
              </a:defPPr>
              <a:lvl1pPr algn="ctr">
                <a:defRPr kumimoji="1" sz="1000" b="1">
                  <a:solidFill>
                    <a:schemeClr val="accent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服务</a:t>
              </a:r>
              <a:endParaRPr kumimoji="1" lang="en-US" altLang="zh-CN"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运营</a:t>
              </a:r>
              <a:endPar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grpSp>
          <p:nvGrpSpPr>
            <p:cNvPr id="30" name="组合 29"/>
            <p:cNvGrpSpPr/>
            <p:nvPr/>
          </p:nvGrpSpPr>
          <p:grpSpPr>
            <a:xfrm>
              <a:off x="9126" y="5172"/>
              <a:ext cx="1375" cy="1006"/>
              <a:chOff x="3608" y="5040"/>
              <a:chExt cx="1433" cy="1177"/>
            </a:xfrm>
          </p:grpSpPr>
          <p:sp>
            <p:nvSpPr>
              <p:cNvPr id="31" name="箭头: 上弧形 3"/>
              <p:cNvSpPr/>
              <p:nvPr/>
            </p:nvSpPr>
            <p:spPr>
              <a:xfrm>
                <a:off x="3657" y="5040"/>
                <a:ext cx="1384" cy="522"/>
              </a:xfrm>
              <a:prstGeom prst="curved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7" name="箭头: 上弧形 136"/>
              <p:cNvSpPr/>
              <p:nvPr/>
            </p:nvSpPr>
            <p:spPr>
              <a:xfrm flipH="1" flipV="1">
                <a:off x="3608" y="5695"/>
                <a:ext cx="1384" cy="522"/>
              </a:xfrm>
              <a:prstGeom prst="curved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
          <p:nvSpPr>
            <p:cNvPr id="104" name="文本框 103"/>
            <p:cNvSpPr txBox="1"/>
            <p:nvPr/>
          </p:nvSpPr>
          <p:spPr>
            <a:xfrm>
              <a:off x="9506" y="4896"/>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数智</a:t>
              </a:r>
              <a:endParaRPr kumimoji="1" lang="en-US" alt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交互</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12" name="文本框 111"/>
            <p:cNvSpPr txBox="1"/>
            <p:nvPr/>
          </p:nvSpPr>
          <p:spPr>
            <a:xfrm>
              <a:off x="9514" y="5988"/>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服务</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运营</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15" name="文本框 114"/>
            <p:cNvSpPr txBox="1"/>
            <p:nvPr/>
          </p:nvSpPr>
          <p:spPr>
            <a:xfrm>
              <a:off x="8753" y="5461"/>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跟踪</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评估</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8" name="文本框 107"/>
            <p:cNvSpPr txBox="1"/>
            <p:nvPr/>
          </p:nvSpPr>
          <p:spPr>
            <a:xfrm>
              <a:off x="10291" y="5460"/>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感知</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预测</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grpSp>
      <p:sp>
        <p:nvSpPr>
          <p:cNvPr id="170" name="文本框 169"/>
          <p:cNvSpPr txBox="1"/>
          <p:nvPr/>
        </p:nvSpPr>
        <p:spPr>
          <a:xfrm>
            <a:off x="4798060" y="3410585"/>
            <a:ext cx="1239520" cy="22987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全链感知，质量提升</a:t>
            </a:r>
            <a:endParaRPr kumimoji="0" lang="zh-CN" altLang="en-US" sz="9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90" name="组合 89"/>
          <p:cNvGrpSpPr/>
          <p:nvPr/>
        </p:nvGrpSpPr>
        <p:grpSpPr>
          <a:xfrm>
            <a:off x="6200140" y="3410585"/>
            <a:ext cx="1565910" cy="1202055"/>
            <a:chOff x="7145863" y="2946182"/>
            <a:chExt cx="1552841" cy="1201944"/>
          </a:xfrm>
        </p:grpSpPr>
        <p:grpSp>
          <p:nvGrpSpPr>
            <p:cNvPr id="130" name="组合 129"/>
            <p:cNvGrpSpPr/>
            <p:nvPr/>
          </p:nvGrpSpPr>
          <p:grpSpPr>
            <a:xfrm>
              <a:off x="7222384" y="3181254"/>
              <a:ext cx="1375190" cy="966872"/>
              <a:chOff x="11256" y="4903"/>
              <a:chExt cx="2121" cy="1468"/>
            </a:xfrm>
          </p:grpSpPr>
          <p:sp>
            <p:nvSpPr>
              <p:cNvPr id="87" name="文本框 86"/>
              <p:cNvSpPr txBox="1"/>
              <p:nvPr/>
            </p:nvSpPr>
            <p:spPr>
              <a:xfrm>
                <a:off x="11855" y="5389"/>
                <a:ext cx="870" cy="525"/>
              </a:xfrm>
              <a:prstGeom prst="rect">
                <a:avLst/>
              </a:prstGeom>
              <a:noFill/>
              <a:extLst>
                <a:ext uri="{909E8E84-426E-40DD-AFC4-6F175D3DCCD1}">
                  <a14:hiddenFill xmlns:a14="http://schemas.microsoft.com/office/drawing/2010/main">
                    <a:grpFill/>
                  </a14:hiddenFill>
                </a:ext>
              </a:extLst>
            </p:spPr>
            <p:txBody>
              <a:bodyPr wrap="square" lIns="0" tIns="0" rIns="0" bIns="0" rtlCol="0" anchor="ctr" anchorCtr="0">
                <a:noAutofit/>
              </a:bodyPr>
              <a:lstStyle>
                <a:defPPr>
                  <a:defRPr lang="zh-CN"/>
                </a:defPPr>
                <a:lvl1pPr algn="ctr">
                  <a:defRPr kumimoji="1" sz="1000" b="1">
                    <a:solidFill>
                      <a:schemeClr val="accent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网络</a:t>
                </a:r>
                <a:endParaRPr kumimoji="1" lang="en-US" altLang="zh-CN"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a:ln>
                      <a:noFill/>
                    </a:ln>
                    <a:solidFill>
                      <a:srgbClr val="0070BF"/>
                    </a:solidFill>
                    <a:effectLst/>
                    <a:uLnTx/>
                    <a:uFillTx/>
                    <a:latin typeface="微软雅黑" panose="020B0503020204020204" pitchFamily="34" charset="-122"/>
                    <a:ea typeface="微软雅黑" panose="020B0503020204020204" pitchFamily="34" charset="-122"/>
                    <a:cs typeface="+mn-cs"/>
                  </a:rPr>
                  <a:t>支撑</a:t>
                </a:r>
                <a:endPar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grpSp>
            <p:nvGrpSpPr>
              <p:cNvPr id="43" name="组合 42"/>
              <p:cNvGrpSpPr/>
              <p:nvPr/>
            </p:nvGrpSpPr>
            <p:grpSpPr>
              <a:xfrm>
                <a:off x="11626" y="5172"/>
                <a:ext cx="1375" cy="1006"/>
                <a:chOff x="3608" y="5040"/>
                <a:chExt cx="1433" cy="1177"/>
              </a:xfrm>
            </p:grpSpPr>
            <p:sp>
              <p:nvSpPr>
                <p:cNvPr id="48" name="箭头: 上弧形 3"/>
                <p:cNvSpPr/>
                <p:nvPr/>
              </p:nvSpPr>
              <p:spPr>
                <a:xfrm>
                  <a:off x="3657" y="5040"/>
                  <a:ext cx="1384" cy="522"/>
                </a:xfrm>
                <a:prstGeom prst="curved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9" name="箭头: 上弧形 136"/>
                <p:cNvSpPr/>
                <p:nvPr/>
              </p:nvSpPr>
              <p:spPr>
                <a:xfrm flipH="1" flipV="1">
                  <a:off x="3608" y="5695"/>
                  <a:ext cx="1384" cy="522"/>
                </a:xfrm>
                <a:prstGeom prst="curved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
            <p:nvSpPr>
              <p:cNvPr id="83" name="文本框 82"/>
              <p:cNvSpPr txBox="1"/>
              <p:nvPr/>
            </p:nvSpPr>
            <p:spPr>
              <a:xfrm>
                <a:off x="12023" y="4903"/>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资源</a:t>
                </a:r>
                <a:endParaRPr kumimoji="1" lang="en-US" alt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精准</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84" name="文本框 83"/>
              <p:cNvSpPr txBox="1"/>
              <p:nvPr/>
            </p:nvSpPr>
            <p:spPr>
              <a:xfrm>
                <a:off x="12822" y="5460"/>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敏捷</a:t>
                </a:r>
                <a:endParaRPr kumimoji="1" lang="en-US" alt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交付</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85" name="文本框 84"/>
              <p:cNvSpPr txBox="1"/>
              <p:nvPr/>
            </p:nvSpPr>
            <p:spPr>
              <a:xfrm>
                <a:off x="12028" y="5988"/>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赋能</a:t>
                </a:r>
                <a:endParaRPr kumimoji="1" lang="en-US" alt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前端</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86" name="文本框 85"/>
              <p:cNvSpPr txBox="1"/>
              <p:nvPr/>
            </p:nvSpPr>
            <p:spPr>
              <a:xfrm>
                <a:off x="11256" y="5461"/>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智能</a:t>
                </a:r>
                <a:endParaRPr kumimoji="1" lang="en-US" alt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运维</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grpSp>
        <p:sp>
          <p:nvSpPr>
            <p:cNvPr id="171" name="文本框 170"/>
            <p:cNvSpPr txBox="1"/>
            <p:nvPr/>
          </p:nvSpPr>
          <p:spPr>
            <a:xfrm>
              <a:off x="7145863" y="2946182"/>
              <a:ext cx="1552841" cy="22987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自智网络，高效响应</a:t>
              </a:r>
              <a:endParaRPr kumimoji="0" lang="zh-CN" altLang="en-US" sz="9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201" name="组合 200"/>
          <p:cNvGrpSpPr/>
          <p:nvPr/>
        </p:nvGrpSpPr>
        <p:grpSpPr>
          <a:xfrm>
            <a:off x="1720215" y="3410585"/>
            <a:ext cx="1239520" cy="1160145"/>
            <a:chOff x="2113233" y="2950133"/>
            <a:chExt cx="1228657" cy="1160447"/>
          </a:xfrm>
        </p:grpSpPr>
        <p:grpSp>
          <p:nvGrpSpPr>
            <p:cNvPr id="202" name="组合 201"/>
            <p:cNvGrpSpPr/>
            <p:nvPr/>
          </p:nvGrpSpPr>
          <p:grpSpPr>
            <a:xfrm>
              <a:off x="2197518" y="3177958"/>
              <a:ext cx="1033497" cy="932622"/>
              <a:chOff x="3982" y="4898"/>
              <a:chExt cx="1594" cy="1416"/>
            </a:xfrm>
          </p:grpSpPr>
          <p:sp>
            <p:nvSpPr>
              <p:cNvPr id="204" name="文本框 203"/>
              <p:cNvSpPr txBox="1"/>
              <p:nvPr/>
            </p:nvSpPr>
            <p:spPr>
              <a:xfrm>
                <a:off x="4350" y="5366"/>
                <a:ext cx="870" cy="525"/>
              </a:xfrm>
              <a:prstGeom prst="rect">
                <a:avLst/>
              </a:prstGeom>
              <a:noFill/>
              <a:extLst>
                <a:ext uri="{909E8E84-426E-40DD-AFC4-6F175D3DCCD1}">
                  <a14:hiddenFill xmlns:a14="http://schemas.microsoft.com/office/drawing/2010/main">
                    <a:grpFill/>
                  </a14:hiddenFill>
                </a:ext>
              </a:extLst>
            </p:spPr>
            <p:txBody>
              <a:bodyPr wrap="square" lIns="0" tIns="0" rIns="0" bIns="0" rtlCol="0" anchor="ctr" anchorCtr="0">
                <a:noAutofit/>
              </a:bodyPr>
              <a:lstStyle>
                <a:defPPr>
                  <a:defRPr lang="zh-CN"/>
                </a:defPPr>
                <a:lvl1pPr algn="ctr">
                  <a:defRPr kumimoji="1" sz="1000" b="1">
                    <a:solidFill>
                      <a:schemeClr val="accent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市场</a:t>
                </a:r>
                <a:endParaRPr kumimoji="1" lang="en-US" altLang="zh-CN"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运营</a:t>
                </a:r>
                <a:endPar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205" name="文本框 204"/>
              <p:cNvSpPr txBox="1"/>
              <p:nvPr/>
            </p:nvSpPr>
            <p:spPr>
              <a:xfrm>
                <a:off x="4576" y="4898"/>
                <a:ext cx="435" cy="388"/>
              </a:xfrm>
              <a:prstGeom prst="rect">
                <a:avLst/>
              </a:prstGeom>
              <a:solidFill>
                <a:schemeClr val="bg1">
                  <a:alpha val="80000"/>
                </a:schemeClr>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客户洞察</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206" name="组合 205"/>
              <p:cNvGrpSpPr/>
              <p:nvPr/>
            </p:nvGrpSpPr>
            <p:grpSpPr>
              <a:xfrm>
                <a:off x="4103" y="5172"/>
                <a:ext cx="1375" cy="1006"/>
                <a:chOff x="3608" y="5040"/>
                <a:chExt cx="1433" cy="1177"/>
              </a:xfrm>
            </p:grpSpPr>
            <p:sp>
              <p:nvSpPr>
                <p:cNvPr id="211" name="箭头: 上弧形 210"/>
                <p:cNvSpPr/>
                <p:nvPr/>
              </p:nvSpPr>
              <p:spPr>
                <a:xfrm>
                  <a:off x="3657" y="5040"/>
                  <a:ext cx="1384" cy="522"/>
                </a:xfrm>
                <a:prstGeom prst="curved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2" name="箭头: 上弧形 211"/>
                <p:cNvSpPr/>
                <p:nvPr/>
              </p:nvSpPr>
              <p:spPr>
                <a:xfrm flipH="1" flipV="1">
                  <a:off x="3608" y="5695"/>
                  <a:ext cx="1384" cy="522"/>
                </a:xfrm>
                <a:prstGeom prst="curved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
            <p:nvSpPr>
              <p:cNvPr id="207" name="文本框 206"/>
              <p:cNvSpPr txBox="1"/>
              <p:nvPr/>
            </p:nvSpPr>
            <p:spPr>
              <a:xfrm>
                <a:off x="4844" y="5926"/>
                <a:ext cx="435" cy="388"/>
              </a:xfrm>
              <a:prstGeom prst="rect">
                <a:avLst/>
              </a:prstGeom>
              <a:solidFill>
                <a:schemeClr val="bg1">
                  <a:alpha val="80000"/>
                </a:schemeClr>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策略匹配</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08" name="文本框 207"/>
              <p:cNvSpPr txBox="1"/>
              <p:nvPr/>
            </p:nvSpPr>
            <p:spPr>
              <a:xfrm>
                <a:off x="4327" y="5926"/>
                <a:ext cx="435" cy="388"/>
              </a:xfrm>
              <a:prstGeom prst="rect">
                <a:avLst/>
              </a:prstGeom>
              <a:solidFill>
                <a:schemeClr val="bg1">
                  <a:alpha val="80000"/>
                </a:schemeClr>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智能调度</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09" name="文本框 208"/>
              <p:cNvSpPr txBox="1"/>
              <p:nvPr/>
            </p:nvSpPr>
            <p:spPr>
              <a:xfrm>
                <a:off x="5141" y="5154"/>
                <a:ext cx="435" cy="388"/>
              </a:xfrm>
              <a:prstGeom prst="rect">
                <a:avLst/>
              </a:prstGeom>
              <a:solidFill>
                <a:schemeClr val="bg1">
                  <a:alpha val="80000"/>
                </a:schemeClr>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产品供给</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0" name="文本框 209"/>
              <p:cNvSpPr txBox="1"/>
              <p:nvPr/>
            </p:nvSpPr>
            <p:spPr>
              <a:xfrm>
                <a:off x="3982" y="5150"/>
                <a:ext cx="435" cy="388"/>
              </a:xfrm>
              <a:prstGeom prst="rect">
                <a:avLst/>
              </a:prstGeom>
              <a:solidFill>
                <a:schemeClr val="bg1">
                  <a:alpha val="80000"/>
                </a:schemeClr>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价值</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运营</a:t>
                </a:r>
                <a:endParaRPr kumimoji="1" lang="zh-CN" altLang="en-US"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
          <p:nvSpPr>
            <p:cNvPr id="203" name="文本框 202"/>
            <p:cNvSpPr txBox="1"/>
            <p:nvPr/>
          </p:nvSpPr>
          <p:spPr>
            <a:xfrm>
              <a:off x="2113233" y="2950133"/>
              <a:ext cx="1228657" cy="22987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深度洞察，精准运营</a:t>
              </a:r>
              <a:endParaRPr kumimoji="0" lang="zh-CN" altLang="en-US" sz="9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63" name="圆角矩形 1"/>
          <p:cNvSpPr/>
          <p:nvPr/>
        </p:nvSpPr>
        <p:spPr>
          <a:xfrm>
            <a:off x="654050" y="4675505"/>
            <a:ext cx="9943465" cy="1730375"/>
          </a:xfrm>
          <a:prstGeom prst="roundRect">
            <a:avLst>
              <a:gd name="adj" fmla="val 0"/>
            </a:avLst>
          </a:prstGeom>
          <a:solidFill>
            <a:srgbClr val="D2EDFF"/>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79" name="圆角矩形 1"/>
          <p:cNvSpPr/>
          <p:nvPr/>
        </p:nvSpPr>
        <p:spPr>
          <a:xfrm>
            <a:off x="3340735" y="6172835"/>
            <a:ext cx="6245225" cy="163195"/>
          </a:xfrm>
          <a:prstGeom prst="roundRect">
            <a:avLst>
              <a:gd name="adj" fmla="val 4671"/>
            </a:avLst>
          </a:prstGeom>
          <a:solidFill>
            <a:schemeClr val="bg1"/>
          </a:solid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统一技术栈的云、数、智技术底座</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00" name="组合 99"/>
          <p:cNvGrpSpPr/>
          <p:nvPr/>
        </p:nvGrpSpPr>
        <p:grpSpPr>
          <a:xfrm>
            <a:off x="3331845" y="5876925"/>
            <a:ext cx="6255385" cy="163195"/>
            <a:chOff x="3302938" y="5587887"/>
            <a:chExt cx="6202259" cy="180000"/>
          </a:xfrm>
        </p:grpSpPr>
        <p:sp>
          <p:nvSpPr>
            <p:cNvPr id="145" name="矩形: 圆角 70"/>
            <p:cNvSpPr/>
            <p:nvPr>
              <p:custDataLst>
                <p:tags r:id="rId9"/>
              </p:custDataLst>
            </p:nvPr>
          </p:nvSpPr>
          <p:spPr>
            <a:xfrm>
              <a:off x="3302938" y="5587887"/>
              <a:ext cx="1368000" cy="180000"/>
            </a:xfrm>
            <a:prstGeom prst="roundRect">
              <a:avLst>
                <a:gd name="adj" fmla="val 20261"/>
              </a:avLst>
            </a:prstGeom>
            <a:solidFill>
              <a:schemeClr val="bg1"/>
            </a:solid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业务支撑系统能力</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46" name="矩形: 圆角 70"/>
            <p:cNvSpPr/>
            <p:nvPr>
              <p:custDataLst>
                <p:tags r:id="rId10"/>
              </p:custDataLst>
            </p:nvPr>
          </p:nvSpPr>
          <p:spPr>
            <a:xfrm>
              <a:off x="4914358" y="5587887"/>
              <a:ext cx="1368000" cy="180000"/>
            </a:xfrm>
            <a:prstGeom prst="roundRect">
              <a:avLst>
                <a:gd name="adj" fmla="val 18910"/>
              </a:avLst>
            </a:prstGeom>
            <a:solidFill>
              <a:schemeClr val="bg1"/>
            </a:solid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管理支撑系统能力</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47" name="矩形: 圆角 70"/>
            <p:cNvSpPr/>
            <p:nvPr>
              <p:custDataLst>
                <p:tags r:id="rId11"/>
              </p:custDataLst>
            </p:nvPr>
          </p:nvSpPr>
          <p:spPr>
            <a:xfrm>
              <a:off x="6525778" y="5587887"/>
              <a:ext cx="1368000" cy="180000"/>
            </a:xfrm>
            <a:prstGeom prst="roundRect">
              <a:avLst>
                <a:gd name="adj" fmla="val 16209"/>
              </a:avLst>
            </a:prstGeom>
            <a:solidFill>
              <a:schemeClr val="bg1"/>
            </a:solid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网络运营系统能力</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48" name="矩形: 圆角 70"/>
            <p:cNvSpPr/>
            <p:nvPr>
              <p:custDataLst>
                <p:tags r:id="rId12"/>
              </p:custDataLst>
            </p:nvPr>
          </p:nvSpPr>
          <p:spPr>
            <a:xfrm>
              <a:off x="8137197" y="5587887"/>
              <a:ext cx="1368000" cy="180000"/>
            </a:xfrm>
            <a:prstGeom prst="roundRect">
              <a:avLst>
                <a:gd name="adj" fmla="val 16209"/>
              </a:avLst>
            </a:prstGeom>
            <a:solidFill>
              <a:schemeClr val="bg1"/>
            </a:solid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业务平台能力</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grpSp>
      <p:sp>
        <p:nvSpPr>
          <p:cNvPr id="53" name="圆角矩形 1"/>
          <p:cNvSpPr/>
          <p:nvPr/>
        </p:nvSpPr>
        <p:spPr>
          <a:xfrm>
            <a:off x="9829800" y="4743450"/>
            <a:ext cx="290830" cy="1600200"/>
          </a:xfrm>
          <a:prstGeom prst="roundRect">
            <a:avLst>
              <a:gd name="adj" fmla="val 4671"/>
            </a:avLst>
          </a:prstGeom>
          <a:noFill/>
          <a:ln w="9525">
            <a:solidFill>
              <a:schemeClr val="bg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rPr>
              <a:t>“</a:t>
            </a: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rPr>
              <a:t>四共</a:t>
            </a:r>
            <a:endPar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rPr>
              <a:t>”</a:t>
            </a:r>
            <a:endParaRPr kumimoji="1" lang="en-US" altLang="zh-CN"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rPr>
              <a:t>科创能力</a:t>
            </a:r>
            <a:endPar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endParaRPr>
          </a:p>
        </p:txBody>
      </p:sp>
      <p:sp>
        <p:nvSpPr>
          <p:cNvPr id="69" name="矩形: 圆角 70"/>
          <p:cNvSpPr/>
          <p:nvPr>
            <p:custDataLst>
              <p:tags r:id="rId13"/>
            </p:custDataLst>
          </p:nvPr>
        </p:nvSpPr>
        <p:spPr>
          <a:xfrm>
            <a:off x="3333750" y="4792345"/>
            <a:ext cx="6238875" cy="163195"/>
          </a:xfrm>
          <a:prstGeom prst="roundRect">
            <a:avLst>
              <a:gd name="adj" fmla="val 20287"/>
            </a:avLst>
          </a:prstGeom>
          <a:solidFill>
            <a:schemeClr val="bg1"/>
          </a:solid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元宇宙数字驾驶舱（物理屏</a:t>
            </a:r>
            <a:r>
              <a:rPr kumimoji="1" lang="en-US" altLang="zh-CN"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a:t>
            </a: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数字孪生屏）</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71" name="矩形: 圆角 212"/>
          <p:cNvSpPr/>
          <p:nvPr/>
        </p:nvSpPr>
        <p:spPr>
          <a:xfrm>
            <a:off x="3333750" y="5217160"/>
            <a:ext cx="1597660" cy="245110"/>
          </a:xfrm>
          <a:prstGeom prst="roundRect">
            <a:avLst/>
          </a:prstGeom>
          <a:solidFill>
            <a:schemeClr val="bg1"/>
          </a:solid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07" name="矩形: 圆角 213"/>
          <p:cNvSpPr/>
          <p:nvPr/>
        </p:nvSpPr>
        <p:spPr>
          <a:xfrm>
            <a:off x="5135245" y="5217160"/>
            <a:ext cx="1343660" cy="245110"/>
          </a:xfrm>
          <a:prstGeom prst="roundRect">
            <a:avLst/>
          </a:prstGeom>
          <a:solidFill>
            <a:schemeClr val="bg1"/>
          </a:solid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面向营销服务的</a:t>
            </a:r>
            <a:r>
              <a:rPr kumimoji="1" lang="en-US" altLang="zh-CN"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APP</a:t>
            </a:r>
            <a:endParaRPr kumimoji="1" lang="en-US" altLang="zh-CN"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（网格通</a:t>
            </a:r>
            <a:r>
              <a:rPr kumimoji="1" lang="en-US" altLang="zh-CN"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APP</a:t>
            </a: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a:t>
            </a:r>
            <a:endParaRPr kumimoji="1" lang="en-US" altLang="zh-CN"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09" name="矩形: 圆角 214"/>
          <p:cNvSpPr/>
          <p:nvPr/>
        </p:nvSpPr>
        <p:spPr>
          <a:xfrm>
            <a:off x="6682105" y="5217160"/>
            <a:ext cx="1343660" cy="245110"/>
          </a:xfrm>
          <a:prstGeom prst="roundRect">
            <a:avLst/>
          </a:prstGeom>
          <a:solidFill>
            <a:schemeClr val="bg1"/>
          </a:solid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面向运营维护的</a:t>
            </a:r>
            <a:r>
              <a:rPr kumimoji="1" lang="en-US" altLang="zh-CN"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APP</a:t>
            </a:r>
            <a:endParaRPr kumimoji="1" lang="en-US" altLang="zh-CN"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（网管</a:t>
            </a:r>
            <a:r>
              <a:rPr kumimoji="1" lang="en-US" altLang="zh-CN"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APP</a:t>
            </a: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10" name="矩形: 圆角 215"/>
          <p:cNvSpPr/>
          <p:nvPr/>
        </p:nvSpPr>
        <p:spPr>
          <a:xfrm>
            <a:off x="8229600" y="5217160"/>
            <a:ext cx="1343660" cy="245110"/>
          </a:xfrm>
          <a:prstGeom prst="roundRect">
            <a:avLst/>
          </a:prstGeom>
          <a:solidFill>
            <a:schemeClr val="bg1"/>
          </a:solid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面向经营管理的</a:t>
            </a:r>
            <a:r>
              <a:rPr kumimoji="1" lang="en-US" altLang="zh-CN"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APP</a:t>
            </a: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a:t>
            </a:r>
            <a:r>
              <a:rPr kumimoji="1" lang="en-US" altLang="zh-CN"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MOA</a:t>
            </a: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51" name="文本框 150"/>
          <p:cNvSpPr txBox="1"/>
          <p:nvPr/>
        </p:nvSpPr>
        <p:spPr>
          <a:xfrm>
            <a:off x="2286000" y="4795520"/>
            <a:ext cx="952500" cy="151765"/>
          </a:xfrm>
          <a:prstGeom prst="rect">
            <a:avLst/>
          </a:prstGeom>
          <a:noFill/>
          <a:extLst>
            <a:ext uri="{909E8E84-426E-40DD-AFC4-6F175D3DCCD1}">
              <a14:hiddenFill xmlns:a14="http://schemas.microsoft.com/office/drawing/2010/main">
                <a:grpFill/>
              </a14:hiddenFill>
            </a:ext>
          </a:extLst>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大屏</a:t>
            </a:r>
            <a:r>
              <a:rPr kumimoji="1" lang="en-US" altLang="zh-CN" sz="9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  </a:t>
            </a:r>
            <a:r>
              <a:rPr kumimoji="1" lang="zh-CN" altLang="en-US" sz="9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一屏通看</a:t>
            </a:r>
            <a:endParaRPr kumimoji="1" lang="en-US" altLang="zh-CN" sz="9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0" name="圆角矩形 1"/>
          <p:cNvSpPr/>
          <p:nvPr/>
        </p:nvSpPr>
        <p:spPr>
          <a:xfrm>
            <a:off x="10189210" y="4743450"/>
            <a:ext cx="290830" cy="1600200"/>
          </a:xfrm>
          <a:prstGeom prst="roundRect">
            <a:avLst>
              <a:gd name="adj" fmla="val 4671"/>
            </a:avLst>
          </a:prstGeom>
          <a:noFill/>
          <a:ln w="9525">
            <a:solidFill>
              <a:schemeClr val="bg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rPr>
              <a:t>安全保障能力</a:t>
            </a:r>
            <a:endPar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endParaRPr>
          </a:p>
        </p:txBody>
      </p:sp>
      <p:sp>
        <p:nvSpPr>
          <p:cNvPr id="56" name="矩形: 圆角 212"/>
          <p:cNvSpPr/>
          <p:nvPr/>
        </p:nvSpPr>
        <p:spPr>
          <a:xfrm>
            <a:off x="3333750" y="4986020"/>
            <a:ext cx="965835" cy="163195"/>
          </a:xfrm>
          <a:prstGeom prst="roundRect">
            <a:avLst/>
          </a:prstGeom>
          <a:solidFill>
            <a:schemeClr val="bg1"/>
          </a:solidFill>
          <a:ln>
            <a:noFill/>
          </a:ln>
        </p:spPr>
        <p:txBody>
          <a:bodyPr wrap="square" lIns="36195" rIns="36195"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市场运营工作台</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57" name="矩形: 圆角 212"/>
          <p:cNvSpPr/>
          <p:nvPr/>
        </p:nvSpPr>
        <p:spPr>
          <a:xfrm>
            <a:off x="4388485" y="4986020"/>
            <a:ext cx="965835" cy="163195"/>
          </a:xfrm>
          <a:prstGeom prst="roundRect">
            <a:avLst/>
          </a:prstGeom>
          <a:solidFill>
            <a:schemeClr val="bg1"/>
          </a:solidFill>
          <a:ln>
            <a:noFill/>
          </a:ln>
        </p:spPr>
        <p:txBody>
          <a:bodyPr wrap="square" lIns="36195" rIns="36195"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政企运营工作台</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58" name="矩形: 圆角 212"/>
          <p:cNvSpPr/>
          <p:nvPr/>
        </p:nvSpPr>
        <p:spPr>
          <a:xfrm>
            <a:off x="5443220" y="4986020"/>
            <a:ext cx="965835" cy="163195"/>
          </a:xfrm>
          <a:prstGeom prst="roundRect">
            <a:avLst/>
          </a:prstGeom>
          <a:solidFill>
            <a:schemeClr val="bg1"/>
          </a:solidFill>
          <a:ln>
            <a:noFill/>
          </a:ln>
        </p:spPr>
        <p:txBody>
          <a:bodyPr wrap="square" lIns="36195" rIns="36195"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客户服务工作台</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61" name="矩形: 圆角 212"/>
          <p:cNvSpPr/>
          <p:nvPr/>
        </p:nvSpPr>
        <p:spPr>
          <a:xfrm>
            <a:off x="6497955" y="4986020"/>
            <a:ext cx="965835" cy="163195"/>
          </a:xfrm>
          <a:prstGeom prst="roundRect">
            <a:avLst/>
          </a:prstGeom>
          <a:solidFill>
            <a:schemeClr val="bg1"/>
          </a:solidFill>
          <a:ln>
            <a:noFill/>
          </a:ln>
        </p:spPr>
        <p:txBody>
          <a:bodyPr wrap="square" lIns="36195" rIns="36195"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网络支撑工作台</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62" name="矩形: 圆角 212"/>
          <p:cNvSpPr/>
          <p:nvPr/>
        </p:nvSpPr>
        <p:spPr>
          <a:xfrm>
            <a:off x="7552690" y="4986020"/>
            <a:ext cx="965835" cy="163195"/>
          </a:xfrm>
          <a:prstGeom prst="roundRect">
            <a:avLst/>
          </a:prstGeom>
          <a:solidFill>
            <a:schemeClr val="bg1"/>
          </a:solidFill>
          <a:ln>
            <a:noFill/>
          </a:ln>
        </p:spPr>
        <p:txBody>
          <a:bodyPr wrap="square" lIns="36195" rIns="36195"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统一管理工作台</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81" name="文本框 180"/>
          <p:cNvSpPr txBox="1"/>
          <p:nvPr/>
        </p:nvSpPr>
        <p:spPr>
          <a:xfrm>
            <a:off x="1824355" y="4951730"/>
            <a:ext cx="543560" cy="598805"/>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defRPr kumimoji="1" sz="1200" b="1" i="0" u="none" strike="noStrike" cap="none" spc="0" normalizeH="0" baseline="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三屏</a:t>
            </a:r>
            <a:endParaRPr kumimoji="1" lang="en-US" altLang="zh-CN"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运营</a:t>
            </a:r>
            <a:endParaRPr kumimoji="1" lang="en-US" altLang="zh-CN"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协同</a:t>
            </a:r>
            <a:endPar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56" name="文本框 155"/>
          <p:cNvSpPr txBox="1"/>
          <p:nvPr/>
        </p:nvSpPr>
        <p:spPr>
          <a:xfrm>
            <a:off x="1746250" y="5844540"/>
            <a:ext cx="1302385" cy="260350"/>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defRPr kumimoji="1" sz="1200" b="1" i="0" u="none" strike="noStrike" cap="none" spc="0" normalizeH="0" baseline="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集约数智能力</a:t>
            </a:r>
            <a:endPar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42" name="文本框 41"/>
          <p:cNvSpPr txBox="1"/>
          <p:nvPr/>
        </p:nvSpPr>
        <p:spPr>
          <a:xfrm>
            <a:off x="1792605" y="6122670"/>
            <a:ext cx="1208405" cy="260350"/>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defRPr kumimoji="1" sz="1200" b="1" i="0" u="none" strike="noStrike" cap="none" spc="0" normalizeH="0" baseline="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统一数智底座</a:t>
            </a:r>
            <a:endPar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89" name="文本框 88"/>
          <p:cNvSpPr txBox="1"/>
          <p:nvPr/>
        </p:nvSpPr>
        <p:spPr>
          <a:xfrm>
            <a:off x="676910" y="5165725"/>
            <a:ext cx="1071245" cy="59880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一体化聚合</a:t>
            </a:r>
            <a:endParaRPr kumimoji="1"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数智能力</a:t>
            </a:r>
            <a:endParaRPr kumimoji="1" lang="en-US" altLang="zh-CN"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216" name="文本框 215"/>
          <p:cNvSpPr txBox="1"/>
          <p:nvPr/>
        </p:nvSpPr>
        <p:spPr>
          <a:xfrm>
            <a:off x="2190750" y="4966335"/>
            <a:ext cx="1132840" cy="209550"/>
          </a:xfrm>
          <a:prstGeom prst="rect">
            <a:avLst/>
          </a:prstGeom>
          <a:noFill/>
          <a:extLst>
            <a:ext uri="{909E8E84-426E-40DD-AFC4-6F175D3DCCD1}">
              <a14:hiddenFill xmlns:a14="http://schemas.microsoft.com/office/drawing/2010/main">
                <a:grpFill/>
              </a14:hiddenFill>
            </a:ext>
          </a:extLst>
        </p:spPr>
        <p:txBody>
          <a:bodyPr wrap="square" lIns="0" tIns="0" rIns="0" bIns="0" rtlCol="0" anchor="ctr" anchorCtr="0">
            <a:noAutofit/>
          </a:bodyPr>
          <a:lstStyle>
            <a:defPPr>
              <a:defRPr lang="en-US"/>
            </a:defPPr>
            <a:lvl1pPr marR="0" lvl="0" indent="0" algn="ctr" defTabSz="914400" fontAlgn="auto">
              <a:lnSpc>
                <a:spcPct val="100000"/>
              </a:lnSpc>
              <a:spcBef>
                <a:spcPts val="0"/>
              </a:spcBef>
              <a:spcAft>
                <a:spcPts val="0"/>
              </a:spcAft>
              <a:buClrTx/>
              <a:buSzTx/>
              <a:buFontTx/>
              <a:buNone/>
              <a:defRPr kumimoji="1" sz="900" b="1" i="0" u="none" strike="noStrike" kern="0" cap="none" spc="0" normalizeH="0" baseline="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中屏</a:t>
            </a:r>
            <a:r>
              <a:rPr kumimoji="1" lang="en-US" altLang="zh-CN" sz="9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  </a:t>
            </a:r>
            <a:r>
              <a:rPr kumimoji="1" lang="zh-CN" altLang="en-US" sz="9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一屏通管</a:t>
            </a:r>
            <a:endParaRPr kumimoji="1" lang="zh-CN" altLang="en-US" sz="9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17" name="文本框 216"/>
          <p:cNvSpPr txBox="1"/>
          <p:nvPr/>
        </p:nvSpPr>
        <p:spPr>
          <a:xfrm>
            <a:off x="2219960" y="5323205"/>
            <a:ext cx="543560" cy="2298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小屏</a:t>
            </a:r>
            <a:endParaRPr kumimoji="1" lang="zh-CN" altLang="en-US" sz="9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80" name="圆角矩形 1"/>
          <p:cNvSpPr/>
          <p:nvPr/>
        </p:nvSpPr>
        <p:spPr>
          <a:xfrm>
            <a:off x="1847215" y="5835650"/>
            <a:ext cx="7905115" cy="245110"/>
          </a:xfrm>
          <a:prstGeom prst="roundRect">
            <a:avLst>
              <a:gd name="adj" fmla="val 4671"/>
            </a:avLst>
          </a:prstGeom>
          <a:noFill/>
          <a:ln w="9525">
            <a:solidFill>
              <a:schemeClr val="bg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224" name="圆角矩形 1"/>
          <p:cNvSpPr/>
          <p:nvPr/>
        </p:nvSpPr>
        <p:spPr>
          <a:xfrm>
            <a:off x="1847215" y="4745990"/>
            <a:ext cx="7905115" cy="1045210"/>
          </a:xfrm>
          <a:prstGeom prst="roundRect">
            <a:avLst>
              <a:gd name="adj" fmla="val 4671"/>
            </a:avLst>
          </a:prstGeom>
          <a:noFill/>
          <a:ln w="9525">
            <a:solidFill>
              <a:schemeClr val="bg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225" name="圆角矩形 1"/>
          <p:cNvSpPr/>
          <p:nvPr/>
        </p:nvSpPr>
        <p:spPr>
          <a:xfrm>
            <a:off x="1847215" y="6125210"/>
            <a:ext cx="7905115" cy="245110"/>
          </a:xfrm>
          <a:prstGeom prst="roundRect">
            <a:avLst>
              <a:gd name="adj" fmla="val 4671"/>
            </a:avLst>
          </a:prstGeom>
          <a:noFill/>
          <a:ln w="9525">
            <a:solidFill>
              <a:schemeClr val="bg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50" name="Freeform 22"/>
          <p:cNvSpPr/>
          <p:nvPr/>
        </p:nvSpPr>
        <p:spPr bwMode="auto">
          <a:xfrm>
            <a:off x="3506470" y="4581525"/>
            <a:ext cx="5429885" cy="29273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chemeClr val="accent1">
                  <a:lumMod val="5000"/>
                  <a:lumOff val="95000"/>
                  <a:alpha val="0"/>
                </a:schemeClr>
              </a:gs>
              <a:gs pos="53000">
                <a:schemeClr val="accent1">
                  <a:lumMod val="45000"/>
                  <a:lumOff val="55000"/>
                  <a:alpha val="44000"/>
                </a:schemeClr>
              </a:gs>
              <a:gs pos="80000">
                <a:schemeClr val="accent1">
                  <a:lumMod val="45000"/>
                  <a:lumOff val="55000"/>
                  <a:alpha val="61000"/>
                </a:schemeClr>
              </a:gs>
              <a:gs pos="100000">
                <a:schemeClr val="accent1">
                  <a:lumMod val="60000"/>
                  <a:lumOff val="40000"/>
                  <a:alpha val="48000"/>
                </a:schemeClr>
              </a:gs>
            </a:gsLst>
            <a:lin ang="162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1" name="上箭头 156"/>
          <p:cNvSpPr/>
          <p:nvPr/>
        </p:nvSpPr>
        <p:spPr>
          <a:xfrm>
            <a:off x="3938905" y="5438140"/>
            <a:ext cx="292100" cy="128905"/>
          </a:xfrm>
          <a:prstGeom prst="upArrow">
            <a:avLst/>
          </a:prstGeom>
          <a:gradFill flip="none" rotWithShape="1">
            <a:gsLst>
              <a:gs pos="100000">
                <a:srgbClr val="5B9BD5"/>
              </a:gs>
              <a:gs pos="50000">
                <a:schemeClr val="accent1">
                  <a:tint val="44500"/>
                  <a:satMod val="160000"/>
                </a:schemeClr>
              </a:gs>
              <a:gs pos="0">
                <a:schemeClr val="accent1">
                  <a:tint val="23500"/>
                  <a:satMod val="160000"/>
                  <a:alpha val="0"/>
                </a:schemeClr>
              </a:gs>
            </a:gsLst>
            <a:lin ang="16200000" scaled="1"/>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3" name="上箭头 156"/>
          <p:cNvSpPr/>
          <p:nvPr/>
        </p:nvSpPr>
        <p:spPr>
          <a:xfrm>
            <a:off x="5627370" y="5438140"/>
            <a:ext cx="292100" cy="128905"/>
          </a:xfrm>
          <a:prstGeom prst="upArrow">
            <a:avLst/>
          </a:prstGeom>
          <a:gradFill flip="none" rotWithShape="1">
            <a:gsLst>
              <a:gs pos="100000">
                <a:srgbClr val="5B9BD5"/>
              </a:gs>
              <a:gs pos="50000">
                <a:schemeClr val="accent1">
                  <a:tint val="44500"/>
                  <a:satMod val="160000"/>
                </a:schemeClr>
              </a:gs>
              <a:gs pos="0">
                <a:schemeClr val="accent1">
                  <a:tint val="23500"/>
                  <a:satMod val="160000"/>
                  <a:alpha val="0"/>
                </a:schemeClr>
              </a:gs>
            </a:gsLst>
            <a:lin ang="16200000" scaled="1"/>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49" name="上箭头 156"/>
          <p:cNvSpPr/>
          <p:nvPr/>
        </p:nvSpPr>
        <p:spPr>
          <a:xfrm>
            <a:off x="7200900" y="5438140"/>
            <a:ext cx="292100" cy="128905"/>
          </a:xfrm>
          <a:prstGeom prst="upArrow">
            <a:avLst/>
          </a:prstGeom>
          <a:gradFill flip="none" rotWithShape="1">
            <a:gsLst>
              <a:gs pos="100000">
                <a:srgbClr val="5B9BD5"/>
              </a:gs>
              <a:gs pos="50000">
                <a:schemeClr val="accent1">
                  <a:tint val="44500"/>
                  <a:satMod val="160000"/>
                </a:schemeClr>
              </a:gs>
              <a:gs pos="0">
                <a:schemeClr val="accent1">
                  <a:tint val="23500"/>
                  <a:satMod val="160000"/>
                  <a:alpha val="0"/>
                </a:schemeClr>
              </a:gs>
            </a:gsLst>
            <a:lin ang="16200000" scaled="1"/>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60" name="上箭头 156"/>
          <p:cNvSpPr/>
          <p:nvPr/>
        </p:nvSpPr>
        <p:spPr>
          <a:xfrm>
            <a:off x="8746490" y="5438140"/>
            <a:ext cx="292100" cy="128905"/>
          </a:xfrm>
          <a:prstGeom prst="upArrow">
            <a:avLst/>
          </a:prstGeom>
          <a:gradFill flip="none" rotWithShape="1">
            <a:gsLst>
              <a:gs pos="100000">
                <a:srgbClr val="5B9BD5"/>
              </a:gs>
              <a:gs pos="50000">
                <a:schemeClr val="accent1">
                  <a:tint val="44500"/>
                  <a:satMod val="160000"/>
                </a:schemeClr>
              </a:gs>
              <a:gs pos="0">
                <a:schemeClr val="accent1">
                  <a:tint val="23500"/>
                  <a:satMod val="160000"/>
                  <a:alpha val="0"/>
                </a:schemeClr>
              </a:gs>
            </a:gsLst>
            <a:lin ang="16200000" scaled="1"/>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65" name="圆角矩形 1"/>
          <p:cNvSpPr/>
          <p:nvPr/>
        </p:nvSpPr>
        <p:spPr>
          <a:xfrm>
            <a:off x="2313305" y="5179695"/>
            <a:ext cx="7353300" cy="587375"/>
          </a:xfrm>
          <a:prstGeom prst="roundRect">
            <a:avLst>
              <a:gd name="adj" fmla="val 4671"/>
            </a:avLst>
          </a:prstGeom>
          <a:noFill/>
          <a:ln w="9525">
            <a:solidFill>
              <a:schemeClr val="bg1">
                <a:lumMod val="65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67" name="文本框 66"/>
          <p:cNvSpPr txBox="1"/>
          <p:nvPr/>
        </p:nvSpPr>
        <p:spPr>
          <a:xfrm>
            <a:off x="2590800" y="5198745"/>
            <a:ext cx="730885" cy="22987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一屏通办</a:t>
            </a:r>
            <a:endPar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2419350" y="5476240"/>
            <a:ext cx="996950" cy="35242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智能助理</a:t>
            </a:r>
            <a:endParaRPr kumimoji="1" lang="en-US" altLang="zh-CN" sz="9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8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（入口型智能体）</a:t>
            </a:r>
            <a:endPar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5" name="矩形 184"/>
          <p:cNvSpPr/>
          <p:nvPr>
            <p:custDataLst>
              <p:tags r:id="rId14"/>
            </p:custDataLst>
          </p:nvPr>
        </p:nvSpPr>
        <p:spPr>
          <a:xfrm>
            <a:off x="654050" y="2667635"/>
            <a:ext cx="9937115" cy="708025"/>
          </a:xfrm>
          <a:prstGeom prst="rect">
            <a:avLst/>
          </a:prstGeom>
          <a:solidFill>
            <a:srgbClr val="E1F3FF"/>
          </a:solidFill>
          <a:ln w="12700" cap="flat" cmpd="sng" algn="ctr">
            <a:solidFill>
              <a:schemeClr val="bg1"/>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ysClr val="window" lastClr="FFFFFF"/>
              </a:solidFill>
              <a:effectLst/>
              <a:uLnTx/>
              <a:uFillTx/>
              <a:latin typeface="Arial" panose="020B0604020202020204" pitchFamily="34" charset="0"/>
              <a:ea typeface="微软雅黑" panose="020B0503020204020204" pitchFamily="34" charset="-122"/>
              <a:cs typeface="+mn-cs"/>
            </a:endParaRPr>
          </a:p>
        </p:txBody>
      </p:sp>
      <p:sp>
        <p:nvSpPr>
          <p:cNvPr id="77" name="文本框 76"/>
          <p:cNvSpPr txBox="1"/>
          <p:nvPr/>
        </p:nvSpPr>
        <p:spPr>
          <a:xfrm>
            <a:off x="691833" y="2832735"/>
            <a:ext cx="1041400" cy="461645"/>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对外赋能</a:t>
            </a:r>
            <a:endParaRPr kumimoji="1" lang="en-US" altLang="zh-CN"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经济社会转型</a:t>
            </a:r>
            <a:endParaRPr kumimoji="1" lang="en-US" altLang="zh-CN" sz="11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endParaRPr kumimoji="1"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93" name="圆角矩形 16"/>
          <p:cNvSpPr/>
          <p:nvPr/>
        </p:nvSpPr>
        <p:spPr>
          <a:xfrm>
            <a:off x="2847975" y="2832735"/>
            <a:ext cx="1157605" cy="224155"/>
          </a:xfrm>
          <a:prstGeom prst="roundRect">
            <a:avLst>
              <a:gd name="adj" fmla="val 778"/>
            </a:avLst>
          </a:prstGeom>
          <a:solidFill>
            <a:schemeClr val="bg1">
              <a:alpha val="70000"/>
            </a:schemeClr>
          </a:solidFill>
          <a:ln>
            <a:no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数智能力</a:t>
            </a:r>
            <a:r>
              <a:rPr kumimoji="1"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产品</a:t>
            </a:r>
            <a:endPar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5" name="圆角矩形 16"/>
          <p:cNvSpPr/>
          <p:nvPr/>
        </p:nvSpPr>
        <p:spPr>
          <a:xfrm>
            <a:off x="4126230" y="2832735"/>
            <a:ext cx="1501140" cy="224155"/>
          </a:xfrm>
          <a:prstGeom prst="roundRect">
            <a:avLst>
              <a:gd name="adj" fmla="val 778"/>
            </a:avLst>
          </a:prstGeom>
          <a:solidFill>
            <a:schemeClr val="bg1">
              <a:alpha val="70000"/>
            </a:schemeClr>
          </a:solidFill>
          <a:ln>
            <a:no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数智解决方案</a:t>
            </a:r>
            <a:r>
              <a:rPr kumimoji="1"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服务</a:t>
            </a:r>
            <a:endPar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6" name="文本框 95"/>
          <p:cNvSpPr txBox="1"/>
          <p:nvPr/>
        </p:nvSpPr>
        <p:spPr>
          <a:xfrm>
            <a:off x="5633720" y="2755900"/>
            <a:ext cx="433070" cy="30670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1" name="圆角矩形 16"/>
          <p:cNvSpPr/>
          <p:nvPr/>
        </p:nvSpPr>
        <p:spPr>
          <a:xfrm>
            <a:off x="7418705" y="2832735"/>
            <a:ext cx="829945" cy="224155"/>
          </a:xfrm>
          <a:prstGeom prst="roundRect">
            <a:avLst>
              <a:gd name="adj" fmla="val 778"/>
            </a:avLst>
          </a:prstGeom>
          <a:solidFill>
            <a:schemeClr val="bg1">
              <a:alpha val="70000"/>
            </a:schemeClr>
          </a:solidFill>
          <a:ln>
            <a:no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3" name="圆角矩形 16"/>
          <p:cNvSpPr/>
          <p:nvPr/>
        </p:nvSpPr>
        <p:spPr>
          <a:xfrm>
            <a:off x="8335010" y="2832735"/>
            <a:ext cx="790575" cy="224155"/>
          </a:xfrm>
          <a:prstGeom prst="roundRect">
            <a:avLst>
              <a:gd name="adj" fmla="val 778"/>
            </a:avLst>
          </a:prstGeom>
          <a:solidFill>
            <a:schemeClr val="bg1">
              <a:alpha val="70000"/>
            </a:schemeClr>
          </a:solidFill>
          <a:ln>
            <a:no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4" name="圆角矩形 16"/>
          <p:cNvSpPr/>
          <p:nvPr/>
        </p:nvSpPr>
        <p:spPr>
          <a:xfrm>
            <a:off x="9208770" y="2832735"/>
            <a:ext cx="843280" cy="224155"/>
          </a:xfrm>
          <a:prstGeom prst="roundRect">
            <a:avLst>
              <a:gd name="adj" fmla="val 778"/>
            </a:avLst>
          </a:prstGeom>
          <a:solidFill>
            <a:schemeClr val="bg1">
              <a:alpha val="70000"/>
            </a:schemeClr>
          </a:solidFill>
          <a:ln>
            <a:no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智慧工业</a:t>
            </a:r>
            <a:endPar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7" name="文本框 116"/>
          <p:cNvSpPr txBox="1"/>
          <p:nvPr/>
        </p:nvSpPr>
        <p:spPr>
          <a:xfrm>
            <a:off x="10074275" y="2784475"/>
            <a:ext cx="405765" cy="273050"/>
          </a:xfrm>
          <a:prstGeom prst="rect">
            <a:avLst/>
          </a:prstGeom>
          <a:noFill/>
        </p:spPr>
        <p:txBody>
          <a:bodyPr wrap="none"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8" name="Freeform 22"/>
          <p:cNvSpPr/>
          <p:nvPr/>
        </p:nvSpPr>
        <p:spPr bwMode="auto">
          <a:xfrm>
            <a:off x="1746250" y="3143885"/>
            <a:ext cx="3888105" cy="360680"/>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chemeClr val="accent1">
                  <a:lumMod val="5000"/>
                  <a:lumOff val="95000"/>
                  <a:alpha val="0"/>
                </a:schemeClr>
              </a:gs>
              <a:gs pos="53000">
                <a:schemeClr val="accent1">
                  <a:lumMod val="45000"/>
                  <a:lumOff val="55000"/>
                  <a:alpha val="44000"/>
                </a:schemeClr>
              </a:gs>
              <a:gs pos="80000">
                <a:schemeClr val="accent1">
                  <a:lumMod val="45000"/>
                  <a:lumOff val="55000"/>
                  <a:alpha val="61000"/>
                </a:schemeClr>
              </a:gs>
              <a:gs pos="100000">
                <a:schemeClr val="accent1">
                  <a:lumMod val="60000"/>
                  <a:lumOff val="40000"/>
                  <a:alpha val="48000"/>
                </a:schemeClr>
              </a:gs>
            </a:gsLst>
            <a:lin ang="162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19" name="Freeform 22"/>
          <p:cNvSpPr/>
          <p:nvPr/>
        </p:nvSpPr>
        <p:spPr bwMode="auto">
          <a:xfrm rot="10800000">
            <a:off x="6777990" y="3117850"/>
            <a:ext cx="3557905" cy="29273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chemeClr val="accent1">
                  <a:lumMod val="5000"/>
                  <a:lumOff val="95000"/>
                  <a:alpha val="0"/>
                </a:schemeClr>
              </a:gs>
              <a:gs pos="53000">
                <a:schemeClr val="accent1">
                  <a:lumMod val="45000"/>
                  <a:lumOff val="55000"/>
                  <a:alpha val="44000"/>
                </a:schemeClr>
              </a:gs>
              <a:gs pos="80000">
                <a:schemeClr val="accent1">
                  <a:lumMod val="45000"/>
                  <a:lumOff val="55000"/>
                  <a:alpha val="61000"/>
                </a:schemeClr>
              </a:gs>
              <a:gs pos="100000">
                <a:schemeClr val="accent1">
                  <a:lumMod val="60000"/>
                  <a:lumOff val="40000"/>
                  <a:alpha val="48000"/>
                </a:schemeClr>
              </a:gs>
            </a:gsLst>
            <a:lin ang="162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6" name="文本框 135"/>
          <p:cNvSpPr txBox="1"/>
          <p:nvPr/>
        </p:nvSpPr>
        <p:spPr>
          <a:xfrm>
            <a:off x="2989580" y="3145790"/>
            <a:ext cx="1403985" cy="240665"/>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sz="10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内磨外售，能力输出</a:t>
            </a:r>
            <a:endParaRPr kumimoji="1" lang="zh-CN" sz="10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38" name="矩形: 圆角 212"/>
          <p:cNvSpPr/>
          <p:nvPr/>
        </p:nvSpPr>
        <p:spPr>
          <a:xfrm>
            <a:off x="3350260" y="5551170"/>
            <a:ext cx="6205855" cy="163195"/>
          </a:xfrm>
          <a:prstGeom prst="roundRect">
            <a:avLst/>
          </a:prstGeom>
          <a:solidFill>
            <a:schemeClr val="accent2">
              <a:lumMod val="20000"/>
              <a:lumOff val="80000"/>
            </a:schemeClr>
          </a:solid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1" lang="zh-CN" altLang="en-US" sz="1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灵犀</a:t>
            </a:r>
            <a:endParaRPr kumimoji="1" lang="zh-CN" altLang="en-US" sz="1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20" name="矩形: 圆角 212"/>
          <p:cNvSpPr/>
          <p:nvPr/>
        </p:nvSpPr>
        <p:spPr>
          <a:xfrm>
            <a:off x="4318000" y="5551170"/>
            <a:ext cx="1151890" cy="163195"/>
          </a:xfrm>
          <a:prstGeom prst="roundRect">
            <a:avLst/>
          </a:prstGeom>
          <a:noFill/>
          <a:ln>
            <a:noFill/>
          </a:ln>
          <a:extLst>
            <a:ext uri="{909E8E84-426E-40DD-AFC4-6F175D3DCCD1}">
              <a14:hiddenFill xmlns:a14="http://schemas.microsoft.com/office/drawing/2010/main">
                <a:solidFill>
                  <a:schemeClr val="accent2">
                    <a:lumMod val="20000"/>
                    <a:lumOff val="80000"/>
                  </a:schemeClr>
                </a:solidFill>
              </a14:hiddenFill>
            </a:ext>
          </a:ex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中国移动智能助理</a:t>
            </a:r>
            <a:endParaRPr kumimoji="1"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221" name="矩形: 圆角 213"/>
          <p:cNvSpPr/>
          <p:nvPr/>
        </p:nvSpPr>
        <p:spPr>
          <a:xfrm>
            <a:off x="5394960" y="5557520"/>
            <a:ext cx="1306830" cy="163195"/>
          </a:xfrm>
          <a:prstGeom prst="roundRect">
            <a:avLst/>
          </a:prstGeom>
          <a:noFill/>
          <a:ln>
            <a:noFill/>
          </a:ln>
          <a:extLst>
            <a:ext uri="{909E8E84-426E-40DD-AFC4-6F175D3DCCD1}">
              <a14:hiddenFill xmlns:a14="http://schemas.microsoft.com/office/drawing/2010/main">
                <a:solidFill>
                  <a:schemeClr val="accent2">
                    <a:lumMod val="20000"/>
                    <a:lumOff val="80000"/>
                  </a:schemeClr>
                </a:solidFill>
              </a14:hiddenFill>
            </a:ext>
          </a:ex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 网格通智能助理</a:t>
            </a:r>
            <a:endParaRPr kumimoji="1"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222" name="矩形: 圆角 214"/>
          <p:cNvSpPr/>
          <p:nvPr/>
        </p:nvSpPr>
        <p:spPr>
          <a:xfrm>
            <a:off x="6821805" y="5557520"/>
            <a:ext cx="1306830" cy="163195"/>
          </a:xfrm>
          <a:prstGeom prst="roundRect">
            <a:avLst/>
          </a:prstGeom>
          <a:noFill/>
          <a:ln>
            <a:noFill/>
          </a:ln>
          <a:extLst>
            <a:ext uri="{909E8E84-426E-40DD-AFC4-6F175D3DCCD1}">
              <a14:hiddenFill xmlns:a14="http://schemas.microsoft.com/office/drawing/2010/main">
                <a:solidFill>
                  <a:schemeClr val="accent2">
                    <a:lumMod val="20000"/>
                    <a:lumOff val="80000"/>
                  </a:schemeClr>
                </a:solidFill>
              </a14:hiddenFill>
            </a:ext>
          </a:ex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网络运营智能助理</a:t>
            </a:r>
            <a:endParaRPr kumimoji="1"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223" name="矩形: 圆角 215"/>
          <p:cNvSpPr/>
          <p:nvPr/>
        </p:nvSpPr>
        <p:spPr>
          <a:xfrm>
            <a:off x="8248650" y="5557520"/>
            <a:ext cx="1306830" cy="163195"/>
          </a:xfrm>
          <a:prstGeom prst="roundRect">
            <a:avLst/>
          </a:prstGeom>
          <a:noFill/>
          <a:ln>
            <a:noFill/>
          </a:ln>
          <a:extLst>
            <a:ext uri="{909E8E84-426E-40DD-AFC4-6F175D3DCCD1}">
              <a14:hiddenFill xmlns:a14="http://schemas.microsoft.com/office/drawing/2010/main">
                <a:solidFill>
                  <a:schemeClr val="accent2">
                    <a:lumMod val="20000"/>
                    <a:lumOff val="80000"/>
                  </a:schemeClr>
                </a:solidFill>
              </a14:hiddenFill>
            </a:ext>
          </a:ex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 办公智能助理</a:t>
            </a:r>
            <a:endParaRPr kumimoji="1"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grpSp>
        <p:nvGrpSpPr>
          <p:cNvPr id="73" name="组合 72"/>
          <p:cNvGrpSpPr/>
          <p:nvPr/>
        </p:nvGrpSpPr>
        <p:grpSpPr>
          <a:xfrm>
            <a:off x="7664450" y="3410585"/>
            <a:ext cx="1565910" cy="1198880"/>
            <a:chOff x="7145863" y="2946182"/>
            <a:chExt cx="1552841" cy="1201944"/>
          </a:xfrm>
        </p:grpSpPr>
        <p:grpSp>
          <p:nvGrpSpPr>
            <p:cNvPr id="74" name="组合 73"/>
            <p:cNvGrpSpPr/>
            <p:nvPr/>
          </p:nvGrpSpPr>
          <p:grpSpPr>
            <a:xfrm>
              <a:off x="7222384" y="3181254"/>
              <a:ext cx="1375190" cy="966872"/>
              <a:chOff x="11256" y="4903"/>
              <a:chExt cx="2121" cy="1468"/>
            </a:xfrm>
          </p:grpSpPr>
          <p:sp>
            <p:nvSpPr>
              <p:cNvPr id="75" name="文本框 74"/>
              <p:cNvSpPr txBox="1"/>
              <p:nvPr/>
            </p:nvSpPr>
            <p:spPr>
              <a:xfrm>
                <a:off x="11855" y="5389"/>
                <a:ext cx="870" cy="525"/>
              </a:xfrm>
              <a:prstGeom prst="rect">
                <a:avLst/>
              </a:prstGeom>
              <a:noFill/>
              <a:extLst>
                <a:ext uri="{909E8E84-426E-40DD-AFC4-6F175D3DCCD1}">
                  <a14:hiddenFill xmlns:a14="http://schemas.microsoft.com/office/drawing/2010/main">
                    <a:grpFill/>
                  </a14:hiddenFill>
                </a:ext>
              </a:extLst>
            </p:spPr>
            <p:txBody>
              <a:bodyPr wrap="square" lIns="0" tIns="0" rIns="0" bIns="0" rtlCol="0" anchor="ctr" anchorCtr="0">
                <a:noAutofit/>
              </a:bodyPr>
              <a:lstStyle>
                <a:defPPr>
                  <a:defRPr lang="zh-CN"/>
                </a:defPPr>
                <a:lvl1pPr algn="ctr">
                  <a:defRPr kumimoji="1" sz="1000" b="1">
                    <a:solidFill>
                      <a:schemeClr val="accent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企业</a:t>
                </a:r>
                <a:endPar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管理</a:t>
                </a:r>
                <a:endParaRPr kumimoji="1" lang="zh-CN" altLang="en-US" sz="12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grpSp>
            <p:nvGrpSpPr>
              <p:cNvPr id="76" name="组合 75"/>
              <p:cNvGrpSpPr/>
              <p:nvPr/>
            </p:nvGrpSpPr>
            <p:grpSpPr>
              <a:xfrm>
                <a:off x="11626" y="5172"/>
                <a:ext cx="1375" cy="1006"/>
                <a:chOff x="3608" y="5040"/>
                <a:chExt cx="1433" cy="1177"/>
              </a:xfrm>
            </p:grpSpPr>
            <p:sp>
              <p:nvSpPr>
                <p:cNvPr id="79" name="箭头: 上弧形 3"/>
                <p:cNvSpPr/>
                <p:nvPr/>
              </p:nvSpPr>
              <p:spPr>
                <a:xfrm>
                  <a:off x="3657" y="5040"/>
                  <a:ext cx="1384" cy="522"/>
                </a:xfrm>
                <a:prstGeom prst="curved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0" name="箭头: 上弧形 136"/>
                <p:cNvSpPr/>
                <p:nvPr/>
              </p:nvSpPr>
              <p:spPr>
                <a:xfrm flipH="1" flipV="1">
                  <a:off x="3608" y="5695"/>
                  <a:ext cx="1384" cy="522"/>
                </a:xfrm>
                <a:prstGeom prst="curvedDown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
            <p:nvSpPr>
              <p:cNvPr id="81" name="文本框 80"/>
              <p:cNvSpPr txBox="1"/>
              <p:nvPr/>
            </p:nvSpPr>
            <p:spPr>
              <a:xfrm>
                <a:off x="12023" y="4903"/>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业务</a:t>
                </a:r>
                <a:endPar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在线</a:t>
                </a:r>
                <a:endPar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82" name="文本框 81"/>
              <p:cNvSpPr txBox="1"/>
              <p:nvPr/>
            </p:nvSpPr>
            <p:spPr>
              <a:xfrm>
                <a:off x="12822" y="5460"/>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信息</a:t>
                </a:r>
                <a:endPar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互通</a:t>
                </a:r>
                <a:endPar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88" name="文本框 87"/>
              <p:cNvSpPr txBox="1"/>
              <p:nvPr/>
            </p:nvSpPr>
            <p:spPr>
              <a:xfrm>
                <a:off x="12028" y="5988"/>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层级</a:t>
                </a:r>
                <a:endPar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穿透</a:t>
                </a:r>
                <a:endPar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97" name="文本框 96"/>
              <p:cNvSpPr txBox="1"/>
              <p:nvPr/>
            </p:nvSpPr>
            <p:spPr>
              <a:xfrm>
                <a:off x="11256" y="5461"/>
                <a:ext cx="555" cy="383"/>
              </a:xfrm>
              <a:prstGeom prst="rect">
                <a:avLst/>
              </a:prstGeom>
              <a:solidFill>
                <a:schemeClr val="bg1">
                  <a:alpha val="80000"/>
                </a:schemeClr>
              </a:solidFill>
            </p:spPr>
            <p:txBody>
              <a:bodyPr wrap="square" lIns="0" tIns="0" rIns="0" bIns="0"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流程</a:t>
                </a:r>
                <a:endPar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闭环</a:t>
                </a:r>
                <a:endParaRPr kumimoji="1" 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grpSp>
        <p:sp>
          <p:nvSpPr>
            <p:cNvPr id="120" name="文本框 119"/>
            <p:cNvSpPr txBox="1"/>
            <p:nvPr/>
          </p:nvSpPr>
          <p:spPr>
            <a:xfrm>
              <a:off x="7145863" y="2946182"/>
              <a:ext cx="1552841" cy="23045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900" b="1" noProof="0" dirty="0">
                  <a:ln>
                    <a:noFill/>
                  </a:ln>
                  <a:solidFill>
                    <a:srgbClr val="0070B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要素协同，统筹管控</a:t>
              </a:r>
              <a:endParaRPr kumimoji="0" lang="zh-CN" altLang="en-US" sz="9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66" name="圆角矩形 16"/>
          <p:cNvSpPr/>
          <p:nvPr/>
        </p:nvSpPr>
        <p:spPr>
          <a:xfrm>
            <a:off x="2419985" y="1910080"/>
            <a:ext cx="2097405" cy="224155"/>
          </a:xfrm>
          <a:prstGeom prst="roundRect">
            <a:avLst>
              <a:gd name="adj" fmla="val 778"/>
            </a:avLst>
          </a:prstGeom>
          <a:solidFill>
            <a:schemeClr val="bg1">
              <a:alpha val="70000"/>
            </a:schemeClr>
          </a:solidFill>
          <a:ln>
            <a:no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 name="圆角矩形 16"/>
          <p:cNvSpPr/>
          <p:nvPr/>
        </p:nvSpPr>
        <p:spPr>
          <a:xfrm>
            <a:off x="4763770" y="1901825"/>
            <a:ext cx="2097405" cy="224155"/>
          </a:xfrm>
          <a:prstGeom prst="roundRect">
            <a:avLst>
              <a:gd name="adj" fmla="val 778"/>
            </a:avLst>
          </a:prstGeom>
          <a:solidFill>
            <a:schemeClr val="bg1">
              <a:alpha val="70000"/>
            </a:schemeClr>
          </a:solidFill>
          <a:ln>
            <a:no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1" name="圆角矩形 16"/>
          <p:cNvSpPr/>
          <p:nvPr/>
        </p:nvSpPr>
        <p:spPr>
          <a:xfrm>
            <a:off x="7108190" y="1901825"/>
            <a:ext cx="2097405" cy="224155"/>
          </a:xfrm>
          <a:prstGeom prst="roundRect">
            <a:avLst>
              <a:gd name="adj" fmla="val 778"/>
            </a:avLst>
          </a:prstGeom>
          <a:solidFill>
            <a:schemeClr val="bg1">
              <a:alpha val="70000"/>
            </a:schemeClr>
          </a:solidFill>
          <a:ln>
            <a:no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2" name="圆角矩形 16"/>
          <p:cNvSpPr/>
          <p:nvPr/>
        </p:nvSpPr>
        <p:spPr>
          <a:xfrm>
            <a:off x="9451975" y="1901825"/>
            <a:ext cx="2097405" cy="224155"/>
          </a:xfrm>
          <a:prstGeom prst="roundRect">
            <a:avLst>
              <a:gd name="adj" fmla="val 778"/>
            </a:avLst>
          </a:prstGeom>
          <a:solidFill>
            <a:schemeClr val="bg1">
              <a:alpha val="70000"/>
            </a:schemeClr>
          </a:solidFill>
          <a:ln>
            <a:noFill/>
          </a:ln>
        </p:spPr>
        <p:txBody>
          <a:bodyPr wrap="square" lIns="162592" tIns="81296" rIns="162592" bIns="81296"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8" name="文本框 157"/>
          <p:cNvSpPr txBox="1"/>
          <p:nvPr/>
        </p:nvSpPr>
        <p:spPr>
          <a:xfrm>
            <a:off x="2828290" y="1893570"/>
            <a:ext cx="1220470" cy="215900"/>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全领域共能</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59" name="文本框 158"/>
          <p:cNvSpPr txBox="1"/>
          <p:nvPr/>
        </p:nvSpPr>
        <p:spPr>
          <a:xfrm>
            <a:off x="5234940" y="1893570"/>
            <a:ext cx="1220470" cy="215900"/>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全过程强数</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4" name="文本框 53"/>
          <p:cNvSpPr txBox="1"/>
          <p:nvPr/>
        </p:nvSpPr>
        <p:spPr>
          <a:xfrm>
            <a:off x="7538720" y="1893570"/>
            <a:ext cx="1220470" cy="224155"/>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全流程治理</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53" name="文本框 152"/>
          <p:cNvSpPr txBox="1"/>
          <p:nvPr/>
        </p:nvSpPr>
        <p:spPr>
          <a:xfrm>
            <a:off x="9932670" y="1893570"/>
            <a:ext cx="1220470" cy="224155"/>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全场景融智</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5" name="圆角矩形 79"/>
          <p:cNvSpPr/>
          <p:nvPr/>
        </p:nvSpPr>
        <p:spPr>
          <a:xfrm>
            <a:off x="10710545" y="2667635"/>
            <a:ext cx="1271905" cy="3738880"/>
          </a:xfrm>
          <a:prstGeom prst="roundRect">
            <a:avLst>
              <a:gd name="adj" fmla="val 0"/>
            </a:avLst>
          </a:prstGeom>
          <a:solidFill>
            <a:schemeClr val="accent1">
              <a:lumMod val="20000"/>
              <a:lumOff val="80000"/>
            </a:schemeClr>
          </a:solidFill>
          <a:ln w="12700" cap="flat" cmpd="sng" algn="ctr">
            <a:solidFill>
              <a:schemeClr val="bg1"/>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sysClr val="window" lastClr="FFFFFF"/>
              </a:solidFill>
              <a:effectLst/>
              <a:uLnTx/>
              <a:uFillTx/>
              <a:latin typeface="Arial" panose="020B0604020202020204" pitchFamily="34" charset="0"/>
              <a:ea typeface="微软雅黑" panose="020B0503020204020204" pitchFamily="34" charset="-122"/>
              <a:cs typeface="+mn-cs"/>
            </a:endParaRPr>
          </a:p>
        </p:txBody>
      </p:sp>
      <p:sp>
        <p:nvSpPr>
          <p:cNvPr id="39" name="文本框 38"/>
          <p:cNvSpPr txBox="1"/>
          <p:nvPr/>
        </p:nvSpPr>
        <p:spPr>
          <a:xfrm>
            <a:off x="10838180" y="2857500"/>
            <a:ext cx="1090295" cy="312420"/>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治理体系</a:t>
            </a:r>
            <a:endPar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1" name="圆角矩形 1"/>
          <p:cNvSpPr/>
          <p:nvPr/>
        </p:nvSpPr>
        <p:spPr>
          <a:xfrm>
            <a:off x="11217910" y="3307080"/>
            <a:ext cx="280670" cy="2903220"/>
          </a:xfrm>
          <a:prstGeom prst="roundRect">
            <a:avLst>
              <a:gd name="adj" fmla="val 4671"/>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rPr>
              <a:t>数</a:t>
            </a:r>
            <a:endPar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rPr>
              <a:t>据</a:t>
            </a:r>
            <a:endPar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rPr>
              <a:t>治</a:t>
            </a:r>
            <a:endPar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rPr>
              <a:t>理</a:t>
            </a:r>
            <a:endPar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endParaRPr>
          </a:p>
        </p:txBody>
      </p:sp>
      <p:sp>
        <p:nvSpPr>
          <p:cNvPr id="52" name="圆角矩形 1"/>
          <p:cNvSpPr/>
          <p:nvPr/>
        </p:nvSpPr>
        <p:spPr>
          <a:xfrm>
            <a:off x="11540490" y="3307080"/>
            <a:ext cx="280670" cy="2893060"/>
          </a:xfrm>
          <a:prstGeom prst="roundRect">
            <a:avLst>
              <a:gd name="adj" fmla="val 4671"/>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rPr>
              <a:t>流</a:t>
            </a:r>
            <a:endPar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rPr>
              <a:t>程</a:t>
            </a:r>
            <a:endPar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rPr>
              <a:t>治</a:t>
            </a:r>
            <a:endPar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rPr>
              <a:t>理</a:t>
            </a:r>
            <a:endPar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endParaRPr>
          </a:p>
        </p:txBody>
      </p:sp>
      <p:sp>
        <p:nvSpPr>
          <p:cNvPr id="72" name="圆角矩形 1"/>
          <p:cNvSpPr/>
          <p:nvPr/>
        </p:nvSpPr>
        <p:spPr>
          <a:xfrm>
            <a:off x="10895965" y="3307080"/>
            <a:ext cx="280670" cy="2903220"/>
          </a:xfrm>
          <a:prstGeom prst="roundRect">
            <a:avLst>
              <a:gd name="adj" fmla="val 4671"/>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rPr>
              <a:t>中台运营</a:t>
            </a:r>
            <a:endParaRPr kumimoji="1" lang="zh-CN" altLang="en-US" sz="1200" b="1"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endParaRPr>
          </a:p>
        </p:txBody>
      </p:sp>
      <p:sp>
        <p:nvSpPr>
          <p:cNvPr id="46" name="矩形 45"/>
          <p:cNvSpPr/>
          <p:nvPr/>
        </p:nvSpPr>
        <p:spPr>
          <a:xfrm>
            <a:off x="1915160" y="2750185"/>
            <a:ext cx="4151630" cy="393700"/>
          </a:xfrm>
          <a:prstGeom prst="rect">
            <a:avLst/>
          </a:prstGeom>
          <a:noFill/>
          <a:ln>
            <a:solidFill>
              <a:schemeClr val="accent1">
                <a:lumMod val="40000"/>
                <a:lumOff val="60000"/>
              </a:schemeClr>
            </a:solidFill>
          </a:ln>
          <a:extLst>
            <a:ext uri="{909E8E84-426E-40DD-AFC4-6F175D3DCCD1}">
              <a14:hiddenFill xmlns:a14="http://schemas.microsoft.com/office/drawing/2010/main">
                <a:solidFill>
                  <a:schemeClr val="bg1">
                    <a:lumMod val="9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1" name="文本框 90"/>
          <p:cNvSpPr txBox="1"/>
          <p:nvPr/>
        </p:nvSpPr>
        <p:spPr>
          <a:xfrm>
            <a:off x="1885315" y="2832735"/>
            <a:ext cx="962660" cy="245110"/>
          </a:xfrm>
          <a:prstGeom prst="rect">
            <a:avLst/>
          </a:prstGeom>
          <a:noFill/>
        </p:spPr>
        <p:txBody>
          <a:bodyPr wrap="square" rtlCol="0" anchor="t">
            <a:spAutoFit/>
          </a:bodyPr>
          <a:lstStyle/>
          <a:p>
            <a:pPr algn="l"/>
            <a:r>
              <a:rPr kumimoji="1" lang="zh-CN" altLang="en-US" sz="1000" b="1" dirty="0">
                <a:latin typeface="微软雅黑" panose="020B0503020204020204" pitchFamily="34" charset="-122"/>
                <a:ea typeface="微软雅黑" panose="020B0503020204020204" pitchFamily="34" charset="-122"/>
              </a:rPr>
              <a:t>数智赋能产品</a:t>
            </a:r>
            <a:endParaRPr kumimoji="1" lang="zh-CN" altLang="en-US" sz="1000" b="1" dirty="0">
              <a:latin typeface="微软雅黑" panose="020B0503020204020204" pitchFamily="34" charset="-122"/>
              <a:ea typeface="微软雅黑" panose="020B0503020204020204" pitchFamily="34" charset="-122"/>
            </a:endParaRPr>
          </a:p>
        </p:txBody>
      </p:sp>
      <p:sp>
        <p:nvSpPr>
          <p:cNvPr id="92" name="矩形 91"/>
          <p:cNvSpPr/>
          <p:nvPr/>
        </p:nvSpPr>
        <p:spPr>
          <a:xfrm>
            <a:off x="6478905" y="2750185"/>
            <a:ext cx="4000500" cy="393700"/>
          </a:xfrm>
          <a:prstGeom prst="rect">
            <a:avLst/>
          </a:prstGeom>
          <a:noFill/>
          <a:ln>
            <a:solidFill>
              <a:schemeClr val="accent1">
                <a:lumMod val="40000"/>
                <a:lumOff val="60000"/>
              </a:schemeClr>
            </a:solidFill>
          </a:ln>
          <a:extLst>
            <a:ext uri="{909E8E84-426E-40DD-AFC4-6F175D3DCCD1}">
              <a14:hiddenFill xmlns:a14="http://schemas.microsoft.com/office/drawing/2010/main">
                <a:solidFill>
                  <a:schemeClr val="bg1">
                    <a:lumMod val="9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4" name="文本框 93"/>
          <p:cNvSpPr txBox="1"/>
          <p:nvPr/>
        </p:nvSpPr>
        <p:spPr>
          <a:xfrm>
            <a:off x="6478905" y="2817495"/>
            <a:ext cx="1014730" cy="245110"/>
          </a:xfrm>
          <a:prstGeom prst="rect">
            <a:avLst/>
          </a:prstGeom>
          <a:noFill/>
        </p:spPr>
        <p:txBody>
          <a:bodyPr wrap="square" rtlCol="0" anchor="t">
            <a:spAutoFit/>
          </a:bodyPr>
          <a:lstStyle/>
          <a:p>
            <a:pPr algn="l" defTabSz="457200">
              <a:spcBef>
                <a:spcPts val="0"/>
              </a:spcBef>
              <a:spcAft>
                <a:spcPts val="0"/>
              </a:spcAft>
              <a:buClrTx/>
              <a:buSzTx/>
              <a:buFontTx/>
              <a:defRPr/>
            </a:pPr>
            <a:r>
              <a:rPr lang="zh-CN" altLang="en-US" sz="1000" b="1" noProof="0">
                <a:ln>
                  <a:noFill/>
                </a:ln>
                <a:solidFill>
                  <a:srgbClr val="000000"/>
                </a:solidFill>
                <a:effectLst/>
                <a:uLnTx/>
                <a:uFillTx/>
                <a:latin typeface="微软雅黑" panose="020B0503020204020204" pitchFamily="34" charset="-122"/>
                <a:ea typeface="微软雅黑" panose="020B0503020204020204" pitchFamily="34" charset="-122"/>
                <a:sym typeface="+mn-ea"/>
              </a:rPr>
              <a:t>数智应用场景</a:t>
            </a:r>
            <a:endParaRPr kumimoji="1" lang="zh-CN" altLang="en-US" sz="10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129" name="左右箭头 128"/>
          <p:cNvSpPr/>
          <p:nvPr/>
        </p:nvSpPr>
        <p:spPr>
          <a:xfrm>
            <a:off x="6101715" y="2844800"/>
            <a:ext cx="348615" cy="214630"/>
          </a:xfrm>
          <a:prstGeom prst="leftRightArrow">
            <a:avLst/>
          </a:prstGeom>
          <a:solidFill>
            <a:srgbClr val="94CB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4" name="文本框 133"/>
          <p:cNvSpPr txBox="1"/>
          <p:nvPr/>
        </p:nvSpPr>
        <p:spPr>
          <a:xfrm>
            <a:off x="7421245" y="2811780"/>
            <a:ext cx="805815" cy="245110"/>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数字政府</a:t>
            </a:r>
            <a:endParaRPr kumimoji="1" lang="zh-CN" altLang="en-US" sz="1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135" name="文本框 134"/>
          <p:cNvSpPr txBox="1"/>
          <p:nvPr/>
        </p:nvSpPr>
        <p:spPr>
          <a:xfrm>
            <a:off x="8326755" y="2807970"/>
            <a:ext cx="774700" cy="245110"/>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智慧城市</a:t>
            </a:r>
            <a:endParaRPr kumimoji="1" lang="zh-CN" altLang="en-US" sz="1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138" name="文本框 137"/>
          <p:cNvSpPr txBox="1"/>
          <p:nvPr/>
        </p:nvSpPr>
        <p:spPr>
          <a:xfrm>
            <a:off x="7861935" y="3104515"/>
            <a:ext cx="3970020" cy="219075"/>
          </a:xfrm>
          <a:prstGeom prst="rect">
            <a:avLst/>
          </a:prstGeom>
          <a:noFill/>
        </p:spPr>
        <p:txBody>
          <a:bodyPr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赋能精进，反哺转型</a:t>
            </a:r>
            <a:endParaRPr kumimoji="1" lang="zh-CN" altLang="en-US" sz="100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endParaRPr>
          </a:p>
        </p:txBody>
      </p:sp>
      <p:sp>
        <p:nvSpPr>
          <p:cNvPr id="142" name="文本框 141"/>
          <p:cNvSpPr txBox="1"/>
          <p:nvPr/>
        </p:nvSpPr>
        <p:spPr>
          <a:xfrm>
            <a:off x="5626735" y="3093085"/>
            <a:ext cx="1473835" cy="4787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sz="10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市场验证，质量提升</a:t>
            </a:r>
            <a:endParaRPr kumimoji="1" lang="zh-CN" sz="10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149" name="矩形: 圆角 212"/>
          <p:cNvSpPr/>
          <p:nvPr/>
        </p:nvSpPr>
        <p:spPr>
          <a:xfrm>
            <a:off x="8607425" y="4986020"/>
            <a:ext cx="965835" cy="163195"/>
          </a:xfrm>
          <a:prstGeom prst="roundRect">
            <a:avLst/>
          </a:prstGeom>
          <a:solidFill>
            <a:schemeClr val="bg1"/>
          </a:solidFill>
          <a:ln>
            <a:noFill/>
          </a:ln>
        </p:spPr>
        <p:txBody>
          <a:bodyPr wrap="square" lIns="36195" rIns="36195"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科技创新工作台</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98" name="文本框 97"/>
          <p:cNvSpPr txBox="1"/>
          <p:nvPr/>
        </p:nvSpPr>
        <p:spPr>
          <a:xfrm>
            <a:off x="3215640" y="5149215"/>
            <a:ext cx="1866265" cy="368300"/>
          </a:xfrm>
          <a:prstGeom prst="rect">
            <a:avLst/>
          </a:prstGeom>
          <a:noFill/>
        </p:spPr>
        <p:txBody>
          <a:bodyPr wrap="square" rtlCol="0" anchor="t">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kern="0" noProof="0" dirty="0">
                <a:ln>
                  <a:noFill/>
                </a:ln>
                <a:solidFill>
                  <a:srgbClr val="0070BF"/>
                </a:solidFill>
                <a:effectLst/>
                <a:uLnTx/>
                <a:uFillTx/>
                <a:latin typeface="微软雅黑" panose="020B0503020204020204" pitchFamily="34" charset="-122"/>
                <a:ea typeface="微软雅黑" panose="020B0503020204020204" pitchFamily="34" charset="-122"/>
                <a:sym typeface="+mn-ea"/>
              </a:rPr>
              <a:t>面向外部客户类的</a:t>
            </a:r>
            <a:r>
              <a:rPr kumimoji="1" lang="en-US" altLang="zh-CN" sz="900" b="1" kern="0" noProof="0" dirty="0">
                <a:ln>
                  <a:noFill/>
                </a:ln>
                <a:solidFill>
                  <a:srgbClr val="0070BF"/>
                </a:solidFill>
                <a:effectLst/>
                <a:uLnTx/>
                <a:uFillTx/>
                <a:latin typeface="微软雅黑" panose="020B0503020204020204" pitchFamily="34" charset="-122"/>
                <a:ea typeface="微软雅黑" panose="020B0503020204020204" pitchFamily="34" charset="-122"/>
                <a:sym typeface="+mn-ea"/>
              </a:rPr>
              <a:t>APP</a:t>
            </a:r>
            <a:endParaRPr kumimoji="1" lang="en-US" altLang="zh-CN"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kern="0" noProof="0" dirty="0">
                <a:ln>
                  <a:noFill/>
                </a:ln>
                <a:solidFill>
                  <a:srgbClr val="0070BF"/>
                </a:solidFill>
                <a:effectLst/>
                <a:uLnTx/>
                <a:uFillTx/>
                <a:latin typeface="微软雅黑" panose="020B0503020204020204" pitchFamily="34" charset="-122"/>
                <a:ea typeface="微软雅黑" panose="020B0503020204020204" pitchFamily="34" charset="-122"/>
                <a:sym typeface="+mn-ea"/>
              </a:rPr>
              <a:t>（</a:t>
            </a:r>
            <a:r>
              <a:rPr kumimoji="1" lang="en-US" sz="900" b="1" kern="0" noProof="0" dirty="0">
                <a:ln>
                  <a:noFill/>
                </a:ln>
                <a:solidFill>
                  <a:srgbClr val="0070BF"/>
                </a:solidFill>
                <a:effectLst/>
                <a:uLnTx/>
                <a:uFillTx/>
                <a:latin typeface="微软雅黑" panose="020B0503020204020204" pitchFamily="34" charset="-122"/>
                <a:ea typeface="微软雅黑" panose="020B0503020204020204" pitchFamily="34" charset="-122"/>
                <a:sym typeface="+mn-ea"/>
              </a:rPr>
              <a:t>“1+10”</a:t>
            </a:r>
            <a:r>
              <a:rPr kumimoji="1" lang="zh-CN" altLang="en-US" sz="900" b="1" kern="0" noProof="0" dirty="0">
                <a:ln>
                  <a:noFill/>
                </a:ln>
                <a:solidFill>
                  <a:srgbClr val="0070BF"/>
                </a:solidFill>
                <a:effectLst/>
                <a:uLnTx/>
                <a:uFillTx/>
                <a:latin typeface="微软雅黑" panose="020B0503020204020204" pitchFamily="34" charset="-122"/>
                <a:ea typeface="微软雅黑" panose="020B0503020204020204" pitchFamily="34" charset="-122"/>
                <a:sym typeface="+mn-ea"/>
              </a:rPr>
              <a:t>应用矩阵）</a:t>
            </a:r>
            <a:endParaRPr kumimoji="1" lang="zh-CN" altLang="en-US" sz="900" b="1" kern="0" noProof="0" dirty="0" smtClean="0">
              <a:ln>
                <a:noFill/>
              </a:ln>
              <a:solidFill>
                <a:srgbClr val="0070BF"/>
              </a:solidFill>
              <a:effectLst/>
              <a:uLnTx/>
              <a:uFillTx/>
              <a:latin typeface="微软雅黑" panose="020B0503020204020204" pitchFamily="34" charset="-122"/>
              <a:ea typeface="微软雅黑" panose="020B0503020204020204" pitchFamily="34" charset="-122"/>
              <a:sym typeface="+mn-ea"/>
            </a:endParaRPr>
          </a:p>
        </p:txBody>
      </p:sp>
      <p:sp>
        <p:nvSpPr>
          <p:cNvPr id="163" name="左右箭头 162"/>
          <p:cNvSpPr/>
          <p:nvPr/>
        </p:nvSpPr>
        <p:spPr>
          <a:xfrm>
            <a:off x="10456228" y="3946525"/>
            <a:ext cx="417195" cy="344805"/>
          </a:xfrm>
          <a:prstGeom prst="leftRightArrow">
            <a:avLst>
              <a:gd name="adj1" fmla="val 43669"/>
              <a:gd name="adj2" fmla="val 32412"/>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9" name="左右箭头 168"/>
          <p:cNvSpPr/>
          <p:nvPr/>
        </p:nvSpPr>
        <p:spPr>
          <a:xfrm>
            <a:off x="10456228" y="5369560"/>
            <a:ext cx="417195" cy="344805"/>
          </a:xfrm>
          <a:prstGeom prst="leftRightArrow">
            <a:avLst>
              <a:gd name="adj1" fmla="val 43669"/>
              <a:gd name="adj2" fmla="val 32412"/>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kumimoji="0" lang="zh-CN" altLang="en-US" sz="2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j-cs"/>
                <a:sym typeface="+mn-ea"/>
              </a:rPr>
              <a:t>数智化转型规划体系</a:t>
            </a:r>
            <a:endParaRPr lang="zh-CN" altLang="en-US" dirty="0"/>
          </a:p>
        </p:txBody>
      </p:sp>
      <p:sp>
        <p:nvSpPr>
          <p:cNvPr id="200" name="文本框 199"/>
          <p:cNvSpPr txBox="1"/>
          <p:nvPr/>
        </p:nvSpPr>
        <p:spPr>
          <a:xfrm>
            <a:off x="315595" y="869900"/>
            <a:ext cx="11819255" cy="650240"/>
          </a:xfrm>
          <a:prstGeom prst="rect">
            <a:avLst/>
          </a:prstGeom>
          <a:noFill/>
        </p:spPr>
        <p:txBody>
          <a:bodyPr wrap="square" rtlCol="0" anchor="t">
            <a:spAutoFit/>
          </a:bodyPr>
          <a:lstStyle/>
          <a:p>
            <a:pPr indent="-285750" algn="l">
              <a:lnSpc>
                <a:spcPct val="130000"/>
              </a:lnSpc>
              <a:spcBef>
                <a:spcPts val="0"/>
              </a:spcBef>
              <a:spcAft>
                <a:spcPts val="0"/>
              </a:spcAft>
              <a:buClr>
                <a:srgbClr val="009CE2"/>
              </a:buClr>
              <a:buSzTx/>
              <a:buFont typeface="Wingdings" panose="05000000000000000000" pitchFamily="2" charset="2"/>
              <a:buChar char="n"/>
              <a:defRPr/>
            </a:pPr>
            <a:r>
              <a:rPr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构建“1+7+3”的数智化转型</a:t>
            </a:r>
            <a:r>
              <a:rPr 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规划和行动计划体系</a:t>
            </a:r>
            <a:r>
              <a:rPr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a:t>
            </a:r>
            <a:r>
              <a:rPr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遵循“三图一碑</a:t>
            </a:r>
            <a:r>
              <a:rPr lang="en-US"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a:t>
            </a:r>
            <a:r>
              <a:rPr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一书一表”</a:t>
            </a:r>
            <a:r>
              <a:rPr 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工作推进方法论</a:t>
            </a:r>
            <a:r>
              <a:rPr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a:t>
            </a:r>
            <a:r>
              <a:rPr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确保各项战略有序推进并实现滚动</a:t>
            </a:r>
            <a:r>
              <a:rPr 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迭代</a:t>
            </a:r>
            <a:r>
              <a:rPr 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a:t>
            </a:r>
            <a:r>
              <a:rPr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以系统化、科学化的方式推动数智化转型工作全面展开。</a:t>
            </a:r>
            <a:endParaRPr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endParaRPr>
          </a:p>
        </p:txBody>
      </p:sp>
      <p:grpSp>
        <p:nvGrpSpPr>
          <p:cNvPr id="2" name="组合 1"/>
          <p:cNvGrpSpPr/>
          <p:nvPr/>
        </p:nvGrpSpPr>
        <p:grpSpPr>
          <a:xfrm>
            <a:off x="2298700" y="2239010"/>
            <a:ext cx="6224905" cy="4065270"/>
            <a:chOff x="3280" y="3526"/>
            <a:chExt cx="10377" cy="6402"/>
          </a:xfrm>
        </p:grpSpPr>
        <p:sp>
          <p:nvSpPr>
            <p:cNvPr id="32" name="矩形 31"/>
            <p:cNvSpPr/>
            <p:nvPr/>
          </p:nvSpPr>
          <p:spPr>
            <a:xfrm>
              <a:off x="3281" y="3526"/>
              <a:ext cx="10376" cy="249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54" name="梯形 53"/>
            <p:cNvSpPr/>
            <p:nvPr/>
          </p:nvSpPr>
          <p:spPr>
            <a:xfrm>
              <a:off x="3395" y="5364"/>
              <a:ext cx="10065" cy="652"/>
            </a:xfrm>
            <a:prstGeom prst="trapezoid">
              <a:avLst>
                <a:gd name="adj" fmla="val 58549"/>
              </a:avLst>
            </a:prstGeom>
            <a:noFill/>
            <a:ln w="12700">
              <a:gradFill>
                <a:gsLst>
                  <a:gs pos="0">
                    <a:schemeClr val="accent1">
                      <a:lumMod val="5000"/>
                      <a:lumOff val="95000"/>
                    </a:schemeClr>
                  </a:gs>
                  <a:gs pos="89000">
                    <a:schemeClr val="accent1"/>
                  </a:gs>
                </a:gsLst>
                <a:lin ang="5400000" scaled="1"/>
              </a:grad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945" b="0" i="0" u="none" strike="noStrike" kern="120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cs typeface="+mn-cs"/>
              </a:endParaRPr>
            </a:p>
          </p:txBody>
        </p:sp>
        <p:sp>
          <p:nvSpPr>
            <p:cNvPr id="25" name="矩形: 圆角 203"/>
            <p:cNvSpPr/>
            <p:nvPr/>
          </p:nvSpPr>
          <p:spPr>
            <a:xfrm>
              <a:off x="6491" y="4426"/>
              <a:ext cx="1251" cy="1440"/>
            </a:xfrm>
            <a:prstGeom prst="roundRect">
              <a:avLst>
                <a:gd name="adj" fmla="val 556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6" name="文本框 25"/>
            <p:cNvSpPr txBox="1"/>
            <p:nvPr/>
          </p:nvSpPr>
          <p:spPr>
            <a:xfrm>
              <a:off x="6511" y="4797"/>
              <a:ext cx="1198" cy="840"/>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客服类</a:t>
              </a:r>
              <a:endPar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专项</a:t>
              </a:r>
              <a:endPar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0" name="矩形: 圆角 208"/>
            <p:cNvSpPr/>
            <p:nvPr/>
          </p:nvSpPr>
          <p:spPr>
            <a:xfrm>
              <a:off x="7798" y="4426"/>
              <a:ext cx="1251" cy="1440"/>
            </a:xfrm>
            <a:prstGeom prst="roundRect">
              <a:avLst>
                <a:gd name="adj" fmla="val 556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1" name="文本框 30"/>
            <p:cNvSpPr txBox="1"/>
            <p:nvPr/>
          </p:nvSpPr>
          <p:spPr>
            <a:xfrm>
              <a:off x="7875" y="4823"/>
              <a:ext cx="1129" cy="840"/>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网络类</a:t>
              </a:r>
              <a:endPar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专项</a:t>
              </a:r>
              <a:endPar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8" name="矩形: 圆角 213"/>
            <p:cNvSpPr/>
            <p:nvPr/>
          </p:nvSpPr>
          <p:spPr>
            <a:xfrm>
              <a:off x="9105" y="4426"/>
              <a:ext cx="1251" cy="1440"/>
            </a:xfrm>
            <a:prstGeom prst="roundRect">
              <a:avLst>
                <a:gd name="adj" fmla="val 556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9" name="文本框 38"/>
            <p:cNvSpPr txBox="1"/>
            <p:nvPr/>
          </p:nvSpPr>
          <p:spPr>
            <a:xfrm>
              <a:off x="9106" y="4797"/>
              <a:ext cx="1245" cy="840"/>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管理类</a:t>
              </a:r>
              <a:endPar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专项</a:t>
              </a:r>
              <a:endPar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7" name="矩形: 圆角 218"/>
            <p:cNvSpPr/>
            <p:nvPr/>
          </p:nvSpPr>
          <p:spPr>
            <a:xfrm>
              <a:off x="10412" y="4426"/>
              <a:ext cx="1251" cy="1440"/>
            </a:xfrm>
            <a:prstGeom prst="roundRect">
              <a:avLst>
                <a:gd name="adj" fmla="val 556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8" name="文本框 47"/>
            <p:cNvSpPr txBox="1"/>
            <p:nvPr/>
          </p:nvSpPr>
          <p:spPr>
            <a:xfrm>
              <a:off x="10442" y="4797"/>
              <a:ext cx="1211" cy="840"/>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科创类</a:t>
              </a:r>
              <a:endPar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专项</a:t>
              </a:r>
              <a:endPar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2" name="矩形: 圆角 223"/>
            <p:cNvSpPr/>
            <p:nvPr/>
          </p:nvSpPr>
          <p:spPr>
            <a:xfrm>
              <a:off x="11719" y="4426"/>
              <a:ext cx="1251" cy="1440"/>
            </a:xfrm>
            <a:prstGeom prst="roundRect">
              <a:avLst>
                <a:gd name="adj" fmla="val 556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3" name="文本框 52"/>
            <p:cNvSpPr txBox="1"/>
            <p:nvPr/>
          </p:nvSpPr>
          <p:spPr>
            <a:xfrm>
              <a:off x="11701" y="4797"/>
              <a:ext cx="1224" cy="1061"/>
            </a:xfrm>
            <a:prstGeom prst="rect">
              <a:avLst/>
            </a:prstGeom>
            <a:noFill/>
          </p:spPr>
          <p:txBody>
            <a:bodyPr wrap="square">
              <a:no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产业类</a:t>
              </a:r>
              <a:endPar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专项</a:t>
              </a:r>
              <a:endPar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5" name="矩形: 圆角 193"/>
            <p:cNvSpPr/>
            <p:nvPr/>
          </p:nvSpPr>
          <p:spPr>
            <a:xfrm>
              <a:off x="3877" y="4426"/>
              <a:ext cx="1251" cy="1440"/>
            </a:xfrm>
            <a:prstGeom prst="roundRect">
              <a:avLst>
                <a:gd name="adj" fmla="val 556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文本框 15"/>
            <p:cNvSpPr txBox="1"/>
            <p:nvPr/>
          </p:nvSpPr>
          <p:spPr>
            <a:xfrm>
              <a:off x="3899" y="4797"/>
              <a:ext cx="1207" cy="840"/>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市场类</a:t>
              </a:r>
              <a:endParaRPr kumimoji="0" lang="en-US" altLang="zh-CN" sz="12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专项</a:t>
              </a:r>
              <a:endParaRPr kumimoji="0" lang="zh-CN" altLang="en-US" sz="12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矩形: 圆角 198"/>
            <p:cNvSpPr/>
            <p:nvPr/>
          </p:nvSpPr>
          <p:spPr>
            <a:xfrm>
              <a:off x="5184" y="4426"/>
              <a:ext cx="1251" cy="1440"/>
            </a:xfrm>
            <a:prstGeom prst="roundRect">
              <a:avLst>
                <a:gd name="adj" fmla="val 556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1" name="文本框 20"/>
            <p:cNvSpPr txBox="1"/>
            <p:nvPr/>
          </p:nvSpPr>
          <p:spPr>
            <a:xfrm>
              <a:off x="5240" y="4797"/>
              <a:ext cx="1138" cy="840"/>
            </a:xfrm>
            <a:prstGeom prst="rect">
              <a:avLst/>
            </a:prstGeom>
            <a:noFill/>
          </p:spPr>
          <p:txBody>
            <a:bodyPr wrap="square">
              <a:spAutoFit/>
            </a:bodyPr>
            <a:lstStyle>
              <a:defPPr>
                <a:defRPr lang="zh-CN"/>
              </a:defPPr>
              <a:lvl1pPr marR="0" lvl="0" indent="0" fontAlgn="auto">
                <a:lnSpc>
                  <a:spcPct val="100000"/>
                </a:lnSpc>
                <a:spcBef>
                  <a:spcPts val="0"/>
                </a:spcBef>
                <a:spcAft>
                  <a:spcPts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600000000000000" charset="-122"/>
                  <a:ea typeface="思源黑体 CN Normal" panose="020B0600000000000000" charset="-122"/>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政企类</a:t>
              </a:r>
              <a:endPar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专项</a:t>
              </a:r>
              <a:endPar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6" name="文本框 95"/>
            <p:cNvSpPr txBox="1"/>
            <p:nvPr/>
          </p:nvSpPr>
          <p:spPr>
            <a:xfrm>
              <a:off x="5543" y="4379"/>
              <a:ext cx="433" cy="531"/>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②</a:t>
              </a:r>
              <a:endPar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97" name="文本框 96"/>
            <p:cNvSpPr txBox="1"/>
            <p:nvPr/>
          </p:nvSpPr>
          <p:spPr>
            <a:xfrm>
              <a:off x="6838" y="4379"/>
              <a:ext cx="453" cy="531"/>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rPr>
                <a:t>③</a:t>
              </a:r>
              <a:endPar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99" name="文本框 98"/>
            <p:cNvSpPr txBox="1"/>
            <p:nvPr/>
          </p:nvSpPr>
          <p:spPr>
            <a:xfrm>
              <a:off x="8163" y="4379"/>
              <a:ext cx="455" cy="531"/>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rPr>
                <a:t>④</a:t>
              </a:r>
              <a:endPar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0" name="文本框 99"/>
            <p:cNvSpPr txBox="1"/>
            <p:nvPr/>
          </p:nvSpPr>
          <p:spPr>
            <a:xfrm>
              <a:off x="9491" y="4379"/>
              <a:ext cx="433" cy="518"/>
            </a:xfrm>
            <a:prstGeom prst="rect">
              <a:avLst/>
            </a:prstGeom>
            <a:noFill/>
          </p:spPr>
          <p:txBody>
            <a:bodyPr wrap="square"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rPr>
                <a:t>⑤</a:t>
              </a:r>
              <a:endPar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1" name="文本框 100"/>
            <p:cNvSpPr txBox="1"/>
            <p:nvPr/>
          </p:nvSpPr>
          <p:spPr>
            <a:xfrm>
              <a:off x="12068" y="4379"/>
              <a:ext cx="473" cy="531"/>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rPr>
                <a:t>⑦</a:t>
              </a:r>
              <a:endPar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3" name="文本框 102"/>
            <p:cNvSpPr txBox="1"/>
            <p:nvPr/>
          </p:nvSpPr>
          <p:spPr>
            <a:xfrm>
              <a:off x="4237" y="4379"/>
              <a:ext cx="465" cy="531"/>
            </a:xfrm>
            <a:prstGeom prst="rect">
              <a:avLst/>
            </a:prstGeom>
            <a:noFill/>
          </p:spPr>
          <p:txBody>
            <a:bodyPr wrap="square" rtlCol="0" anchor="t">
              <a:spAutoFit/>
            </a:bodyPr>
            <a:lstStyle>
              <a:defPPr>
                <a:defRPr lang="en-US"/>
              </a:defPPr>
              <a:lvl1pPr marR="0" lvl="0" indent="0" fontAlgn="auto">
                <a:lnSpc>
                  <a:spcPct val="100000"/>
                </a:lnSpc>
                <a:spcBef>
                  <a:spcPts val="0"/>
                </a:spcBef>
                <a:spcAft>
                  <a:spcPts val="0"/>
                </a:spcAft>
                <a:buClrTx/>
                <a:buSzTx/>
                <a:buFontTx/>
                <a:buNone/>
                <a:defRPr kumimoji="1" sz="1600" b="1" i="0" u="none" strike="noStrike" cap="none" spc="0" normalizeH="0" baseline="0">
                  <a:ln>
                    <a:noFill/>
                  </a:ln>
                  <a:solidFill>
                    <a:srgbClr val="0070BF"/>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①</a:t>
              </a:r>
              <a:endPar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04" name="文本框 103"/>
            <p:cNvSpPr txBox="1"/>
            <p:nvPr/>
          </p:nvSpPr>
          <p:spPr>
            <a:xfrm>
              <a:off x="10785" y="4379"/>
              <a:ext cx="421" cy="504"/>
            </a:xfrm>
            <a:prstGeom prst="rect">
              <a:avLst/>
            </a:prstGeom>
            <a:noFill/>
          </p:spPr>
          <p:txBody>
            <a:bodyPr wrap="square"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rPr>
                <a:t>⑥</a:t>
              </a:r>
              <a:endPar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6" name="矩形 35"/>
            <p:cNvSpPr/>
            <p:nvPr/>
          </p:nvSpPr>
          <p:spPr>
            <a:xfrm>
              <a:off x="3280" y="6017"/>
              <a:ext cx="10376" cy="3911"/>
            </a:xfrm>
            <a:prstGeom prst="rect">
              <a:avLst/>
            </a:prstGeom>
            <a:solidFill>
              <a:srgbClr val="E1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06" name="矩形 105"/>
            <p:cNvSpPr/>
            <p:nvPr/>
          </p:nvSpPr>
          <p:spPr>
            <a:xfrm>
              <a:off x="3648" y="6883"/>
              <a:ext cx="9791" cy="8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rPr>
                <a:t>       </a:t>
              </a: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rPr>
                <a:t>数智能力专项：</a:t>
              </a:r>
              <a:r>
                <a:rPr lang="en-US" altLang="zh-CN" sz="1200" kern="0" spc="-10" noProof="0" dirty="0">
                  <a:ln>
                    <a:noFill/>
                  </a:ln>
                  <a:solidFill>
                    <a:schemeClr val="tx1">
                      <a:alpha val="100000"/>
                    </a:schemeClr>
                  </a:solidFill>
                  <a:effectLst/>
                  <a:uLnTx/>
                  <a:uFillTx/>
                  <a:latin typeface="微软雅黑" panose="020B0503020204020204" pitchFamily="34" charset="-122"/>
                  <a:ea typeface="微软雅黑" panose="020B0503020204020204" pitchFamily="34" charset="-122"/>
                  <a:sym typeface="+mn-ea"/>
                </a:rPr>
                <a:t>AI</a:t>
              </a:r>
              <a:r>
                <a:rPr lang="zh-CN" altLang="en-US" sz="1200" kern="0" spc="-10" noProof="0" dirty="0">
                  <a:ln>
                    <a:noFill/>
                  </a:ln>
                  <a:solidFill>
                    <a:schemeClr val="tx1">
                      <a:alpha val="100000"/>
                    </a:schemeClr>
                  </a:solidFill>
                  <a:effectLst/>
                  <a:uLnTx/>
                  <a:uFillTx/>
                  <a:latin typeface="微软雅黑" panose="020B0503020204020204" pitchFamily="34" charset="-122"/>
                  <a:ea typeface="微软雅黑" panose="020B0503020204020204" pitchFamily="34" charset="-122"/>
                  <a:sym typeface="+mn-ea"/>
                </a:rPr>
                <a:t>、数据能力及基础设施、</a:t>
              </a:r>
              <a:r>
                <a:rPr lang="en-US" altLang="zh-CN" sz="1200" kern="0" spc="-1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sym typeface="+mn-ea"/>
                </a:rPr>
                <a:t>BOMS</a:t>
              </a:r>
              <a:r>
                <a:rPr lang="zh-CN" altLang="en-US" sz="1200" kern="0" spc="-1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sym typeface="+mn-ea"/>
                </a:rPr>
                <a:t>能力集约、统一技术底座</a:t>
              </a:r>
              <a:r>
                <a:rPr lang="en-US" altLang="zh-CN" sz="1200" kern="0" spc="-1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sym typeface="+mn-ea"/>
                </a:rPr>
                <a:t>...</a:t>
              </a:r>
              <a:endParaRPr kumimoji="0" lang="en-US" altLang="zh-CN" sz="1200" i="0" u="none" strike="noStrike" kern="0" cap="none" spc="-1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9" name="文本框 108"/>
            <p:cNvSpPr txBox="1"/>
            <p:nvPr/>
          </p:nvSpPr>
          <p:spPr>
            <a:xfrm>
              <a:off x="3623" y="7012"/>
              <a:ext cx="513" cy="747"/>
            </a:xfrm>
            <a:prstGeom prst="rect">
              <a:avLst/>
            </a:prstGeom>
            <a:noFill/>
          </p:spPr>
          <p:txBody>
            <a:bodyPr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rPr>
                <a:t>⑧</a:t>
              </a:r>
              <a:endPar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7" name="矩形 106"/>
            <p:cNvSpPr/>
            <p:nvPr/>
          </p:nvSpPr>
          <p:spPr>
            <a:xfrm>
              <a:off x="3648" y="7891"/>
              <a:ext cx="9791" cy="6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1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8" name="矩形 107"/>
            <p:cNvSpPr/>
            <p:nvPr/>
          </p:nvSpPr>
          <p:spPr>
            <a:xfrm>
              <a:off x="3648" y="8764"/>
              <a:ext cx="9791" cy="6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altLang="zh-CN" sz="1000" b="0" i="0" u="none" strike="noStrike" kern="0" cap="none" spc="-1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cs"/>
              </a:endParaRPr>
            </a:p>
          </p:txBody>
        </p:sp>
        <p:sp>
          <p:nvSpPr>
            <p:cNvPr id="110" name="文本框 109"/>
            <p:cNvSpPr txBox="1"/>
            <p:nvPr/>
          </p:nvSpPr>
          <p:spPr>
            <a:xfrm>
              <a:off x="3623" y="7933"/>
              <a:ext cx="569" cy="531"/>
            </a:xfrm>
            <a:prstGeom prst="rect">
              <a:avLst/>
            </a:prstGeom>
            <a:noFill/>
          </p:spPr>
          <p:txBody>
            <a:bodyPr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rPr>
                <a:t>⑨ </a:t>
              </a:r>
              <a:endPar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11" name="文本框 110"/>
            <p:cNvSpPr txBox="1"/>
            <p:nvPr/>
          </p:nvSpPr>
          <p:spPr>
            <a:xfrm>
              <a:off x="3628" y="8730"/>
              <a:ext cx="680" cy="531"/>
            </a:xfrm>
            <a:prstGeom prst="rect">
              <a:avLst/>
            </a:prstGeom>
            <a:noFill/>
          </p:spPr>
          <p:txBody>
            <a:bodyPr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⑩</a:t>
              </a:r>
              <a:endParaRPr kumimoji="1"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14" name="文本框 113"/>
            <p:cNvSpPr txBox="1"/>
            <p:nvPr/>
          </p:nvSpPr>
          <p:spPr>
            <a:xfrm>
              <a:off x="4126" y="8014"/>
              <a:ext cx="8845" cy="572"/>
            </a:xfrm>
            <a:prstGeom prst="rect">
              <a:avLst/>
            </a:prstGeom>
            <a:noFill/>
          </p:spPr>
          <p:txBody>
            <a:bodyPr wrap="square">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数据治理专项：</a:t>
              </a:r>
              <a:r>
                <a:rPr lang="zh-CN" altLang="en-US" sz="1200" kern="0" spc="-1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sym typeface="+mn-ea"/>
                </a:rPr>
                <a:t>治理体系、治理方法、基础制度、运营机制、...</a:t>
              </a:r>
              <a:endParaRPr kumimoji="0" lang="zh-CN" altLang="en-US" sz="1200" i="0" u="none" strike="noStrike" kern="0" cap="none" spc="-1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18" name="文本框 117"/>
            <p:cNvSpPr txBox="1"/>
            <p:nvPr/>
          </p:nvSpPr>
          <p:spPr>
            <a:xfrm>
              <a:off x="4126" y="8847"/>
              <a:ext cx="8141" cy="652"/>
            </a:xfrm>
            <a:prstGeom prst="rect">
              <a:avLst/>
            </a:prstGeom>
            <a:noFill/>
          </p:spPr>
          <p:txBody>
            <a:bodyPr wrap="square">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流程治理专项：</a:t>
              </a:r>
              <a:r>
                <a:rPr lang="zh-CN" altLang="en-US" sz="1200" kern="0" spc="-1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sym typeface="+mn-ea"/>
                </a:rPr>
                <a:t>治理体系、资产沉淀、运营机制、</a:t>
              </a:r>
              <a:r>
                <a:rPr lang="en-US" altLang="zh-CN" sz="1200" kern="0" spc="-1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sym typeface="+mn-ea"/>
                </a:rPr>
                <a:t>...</a:t>
              </a:r>
              <a:endParaRPr kumimoji="0" lang="en-US" altLang="zh-CN" sz="1200" i="0" u="none" strike="noStrike" kern="0" cap="none" spc="-1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49" name="文本框 148"/>
            <p:cNvSpPr txBox="1"/>
            <p:nvPr/>
          </p:nvSpPr>
          <p:spPr>
            <a:xfrm>
              <a:off x="6586" y="6204"/>
              <a:ext cx="3946" cy="48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 </a:t>
              </a:r>
              <a:r>
                <a:rPr kumimoji="1" lang="zh-CN" altLang="en-US" sz="1200" b="1" noProof="0" dirty="0">
                  <a:ln>
                    <a:noFill/>
                  </a:ln>
                  <a:effectLst/>
                  <a:uLnTx/>
                  <a:uFillTx/>
                  <a:latin typeface="微软雅黑" panose="020B0503020204020204" pitchFamily="34" charset="-122"/>
                  <a:ea typeface="微软雅黑" panose="020B0503020204020204" pitchFamily="34" charset="-122"/>
                  <a:sym typeface="+mn-ea"/>
                </a:rPr>
                <a:t>项</a:t>
              </a:r>
              <a:r>
                <a:rPr kumimoji="1"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专项能力行动计划</a:t>
              </a:r>
              <a:endParaRPr kumimoji="1"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6911" y="3547"/>
              <a:ext cx="3239" cy="727"/>
            </a:xfrm>
            <a:prstGeom prst="rect">
              <a:avLst/>
            </a:prstGeom>
            <a:noFill/>
          </p:spPr>
          <p:txBody>
            <a:bodyPr wrap="square" rtlCol="0" anchor="t">
              <a:noAutofit/>
            </a:bodyPr>
            <a:lstStyle/>
            <a:p>
              <a:pPr algn="ctr" defTabSz="457200">
                <a:lnSpc>
                  <a:spcPct val="120000"/>
                </a:lnSpc>
                <a:spcBef>
                  <a:spcPts val="0"/>
                </a:spcBef>
                <a:spcAft>
                  <a:spcPts val="0"/>
                </a:spcAft>
                <a:buClrTx/>
                <a:buSzTx/>
                <a:buFontTx/>
                <a:defRPr/>
              </a:pPr>
              <a:r>
                <a:rPr lang="en-US" altLang="zh-CN" sz="1400" b="1"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7</a:t>
              </a:r>
              <a:r>
                <a:rPr lang="en-US" altLang="zh-CN" sz="1400" b="1"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 </a:t>
              </a:r>
              <a:r>
                <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类专项领域行动计划</a:t>
              </a:r>
              <a:endParaRPr kumimoji="1"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grpSp>
      <p:grpSp>
        <p:nvGrpSpPr>
          <p:cNvPr id="8" name="组合 7"/>
          <p:cNvGrpSpPr/>
          <p:nvPr/>
        </p:nvGrpSpPr>
        <p:grpSpPr>
          <a:xfrm>
            <a:off x="1978660" y="2893695"/>
            <a:ext cx="360045" cy="2344420"/>
            <a:chOff x="2281" y="4557"/>
            <a:chExt cx="986" cy="3692"/>
          </a:xfrm>
        </p:grpSpPr>
        <p:sp>
          <p:nvSpPr>
            <p:cNvPr id="61" name="Shape1"/>
            <p:cNvSpPr/>
            <p:nvPr/>
          </p:nvSpPr>
          <p:spPr>
            <a:xfrm rot="10800000" flipH="1">
              <a:off x="2281" y="4557"/>
              <a:ext cx="986" cy="460"/>
            </a:xfrm>
            <a:prstGeom prst="rightArrow">
              <a:avLst>
                <a:gd name="adj1" fmla="val 50000"/>
                <a:gd name="adj2" fmla="val 56559"/>
              </a:avLst>
            </a:prstGeom>
            <a:gradFill flip="none" rotWithShape="1">
              <a:gsLst>
                <a:gs pos="0">
                  <a:sysClr val="window" lastClr="FFFFFF">
                    <a:alpha val="2000"/>
                  </a:sysClr>
                </a:gs>
                <a:gs pos="89000">
                  <a:srgbClr val="4472C4"/>
                </a:gs>
              </a:gsLst>
              <a:lin ang="0" scaled="1"/>
              <a:tileRect/>
            </a:gradFill>
          </p:spPr>
          <p:txBody>
            <a:bodyPr wrap="none" lIns="108000" tIns="108000" rIns="108000" bIns="108000" rtlCol="0" anchor="ctr" anchorCtr="0">
              <a:noAutofit/>
            </a:bodyPr>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2000" b="1" i="0" u="none" strike="noStrike" kern="1200" cap="none" spc="0" normalizeH="0" baseline="0" noProof="0">
                <a:ln>
                  <a:noFill/>
                </a:ln>
                <a:noFill/>
                <a:effectLst/>
                <a:uLnTx/>
                <a:uFillTx/>
                <a:latin typeface="Arial" panose="020B0604020202020204" pitchFamily="34" charset="0"/>
                <a:ea typeface="微软雅黑" panose="020B0503020204020204" pitchFamily="34" charset="-122"/>
                <a:cs typeface="+mn-ea"/>
              </a:endParaRPr>
            </a:p>
          </p:txBody>
        </p:sp>
        <p:sp>
          <p:nvSpPr>
            <p:cNvPr id="65" name="Shape1"/>
            <p:cNvSpPr/>
            <p:nvPr/>
          </p:nvSpPr>
          <p:spPr>
            <a:xfrm rot="10800000" flipH="1">
              <a:off x="2281" y="7789"/>
              <a:ext cx="986" cy="460"/>
            </a:xfrm>
            <a:prstGeom prst="rightArrow">
              <a:avLst>
                <a:gd name="adj1" fmla="val 50000"/>
                <a:gd name="adj2" fmla="val 56559"/>
              </a:avLst>
            </a:prstGeom>
            <a:gradFill flip="none" rotWithShape="1">
              <a:gsLst>
                <a:gs pos="0">
                  <a:sysClr val="window" lastClr="FFFFFF">
                    <a:alpha val="2000"/>
                  </a:sysClr>
                </a:gs>
                <a:gs pos="89000">
                  <a:srgbClr val="4472C4"/>
                </a:gs>
              </a:gsLst>
              <a:lin ang="0" scaled="1"/>
              <a:tileRect/>
            </a:gradFill>
          </p:spPr>
          <p:txBody>
            <a:bodyPr wrap="none" lIns="108000" tIns="108000" rIns="108000" bIns="108000" rtlCol="0" anchor="ctr" anchorCtr="0">
              <a:noAutofit/>
            </a:bodyPr>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2000" b="1" i="0" u="none" strike="noStrike" kern="1200" cap="none" spc="0" normalizeH="0" baseline="0" noProof="0">
                <a:ln>
                  <a:noFill/>
                </a:ln>
                <a:noFill/>
                <a:effectLst/>
                <a:uLnTx/>
                <a:uFillTx/>
                <a:latin typeface="Arial" panose="020B0604020202020204" pitchFamily="34" charset="0"/>
                <a:ea typeface="微软雅黑" panose="020B0503020204020204" pitchFamily="34" charset="-122"/>
                <a:cs typeface="+mn-ea"/>
              </a:endParaRPr>
            </a:p>
          </p:txBody>
        </p:sp>
      </p:grpSp>
      <p:sp>
        <p:nvSpPr>
          <p:cNvPr id="6" name="文本框 5"/>
          <p:cNvSpPr txBox="1"/>
          <p:nvPr/>
        </p:nvSpPr>
        <p:spPr>
          <a:xfrm>
            <a:off x="427355" y="1906270"/>
            <a:ext cx="1551305" cy="344170"/>
          </a:xfrm>
          <a:prstGeom prst="rect">
            <a:avLst/>
          </a:prstGeom>
          <a:noFill/>
        </p:spPr>
        <p:txBody>
          <a:bodyPr wrap="square" rtlCol="0" anchor="t">
            <a:noAutofit/>
          </a:bodyPr>
          <a:p>
            <a:pPr algn="ctr" defTabSz="457200">
              <a:lnSpc>
                <a:spcPct val="120000"/>
              </a:lnSpc>
              <a:spcBef>
                <a:spcPts val="0"/>
              </a:spcBef>
              <a:spcAft>
                <a:spcPts val="0"/>
              </a:spcAft>
              <a:buClrTx/>
              <a:buSzTx/>
              <a:buFontTx/>
              <a:defRPr/>
            </a:pPr>
            <a:r>
              <a:rPr lang="en-US" altLang="zh-CN" sz="1400" b="1"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1</a:t>
            </a:r>
            <a:r>
              <a:rPr lang="en-US" altLang="zh-CN" sz="1400" b="1"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 </a:t>
            </a:r>
            <a:r>
              <a:rPr lang="zh-CN" altLang="en-US" sz="12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本总体规划</a:t>
            </a:r>
            <a:endParaRPr lang="zh-CN" altLang="en-US" sz="12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112" name="文本框 111"/>
          <p:cNvSpPr txBox="1"/>
          <p:nvPr/>
        </p:nvSpPr>
        <p:spPr>
          <a:xfrm>
            <a:off x="8932545" y="1983105"/>
            <a:ext cx="2990215" cy="649605"/>
          </a:xfrm>
          <a:prstGeom prst="rect">
            <a:avLst/>
          </a:prstGeom>
          <a:noFill/>
        </p:spPr>
        <p:txBody>
          <a:bodyPr wrap="square" rtlCol="0" anchor="t">
            <a:noAutofit/>
          </a:bodyPr>
          <a:lstStyle/>
          <a:p>
            <a:pPr algn="l" defTabSz="457200">
              <a:lnSpc>
                <a:spcPct val="120000"/>
              </a:lnSpc>
              <a:spcBef>
                <a:spcPts val="0"/>
              </a:spcBef>
              <a:spcAft>
                <a:spcPts val="0"/>
              </a:spcAft>
              <a:buClrTx/>
              <a:buSzTx/>
              <a:buFontTx/>
              <a:defRPr/>
            </a:pPr>
            <a:r>
              <a:rPr lang="en-US" altLang="zh-CN" sz="12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各行动计划按照</a:t>
            </a:r>
            <a:r>
              <a:rPr lang="en-US" altLang="zh-CN" sz="1200" b="1" kern="10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200" b="1" kern="10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三图一碑</a:t>
            </a:r>
            <a:r>
              <a:rPr lang="en-US" altLang="zh-CN" sz="1200" b="1" kern="10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200" b="1" kern="10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一书一表</a:t>
            </a:r>
            <a:r>
              <a:rPr lang="en-US" altLang="zh-CN" sz="1200" b="1" kern="10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200" b="1" kern="10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细化规划目标、工作举措、评价体系等，</a:t>
            </a:r>
            <a:r>
              <a:rPr lang="zh-CN" altLang="en-US" sz="12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推进数智化转型有序开展。</a:t>
            </a:r>
            <a:endParaRPr lang="zh-CN" altLang="en-US" sz="12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13" name="圆角矩形 36"/>
          <p:cNvSpPr/>
          <p:nvPr/>
        </p:nvSpPr>
        <p:spPr>
          <a:xfrm>
            <a:off x="8914130" y="1785620"/>
            <a:ext cx="3007995" cy="4896485"/>
          </a:xfrm>
          <a:prstGeom prst="roundRect">
            <a:avLst>
              <a:gd name="adj" fmla="val 41"/>
            </a:avLst>
          </a:prstGeom>
          <a:noFill/>
          <a:ln>
            <a:solidFill>
              <a:schemeClr val="bg1">
                <a:lumMod val="8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pitchFamily="34" charset="-122"/>
              <a:ea typeface="微软雅黑" panose="020B0503020204020204" pitchFamily="34" charset="-122"/>
              <a:sym typeface="+mn-ea"/>
            </a:endParaRPr>
          </a:p>
        </p:txBody>
      </p:sp>
      <p:sp>
        <p:nvSpPr>
          <p:cNvPr id="115" name="ísḷiḓé"/>
          <p:cNvSpPr/>
          <p:nvPr>
            <p:custDataLst>
              <p:tags r:id="rId1"/>
            </p:custDataLst>
          </p:nvPr>
        </p:nvSpPr>
        <p:spPr bwMode="auto">
          <a:xfrm>
            <a:off x="9440545" y="1581785"/>
            <a:ext cx="1941195" cy="323850"/>
          </a:xfrm>
          <a:prstGeom prst="rect">
            <a:avLst/>
          </a:prstGeom>
          <a:solidFill>
            <a:srgbClr val="0070BF"/>
          </a:solidFill>
          <a:ln w="12700" cap="flat" cmpd="sng" algn="ctr">
            <a:noFill/>
            <a:prstDash val="solid"/>
            <a:miter lim="800000"/>
          </a:ln>
          <a:effectLst>
            <a:outerShdw blurRad="76200" dir="18900000" sy="23000" kx="-1200000" algn="bl" rotWithShape="0">
              <a:prstClr val="black">
                <a:alpha val="20000"/>
              </a:prstClr>
            </a:outerShdw>
          </a:effectLst>
        </p:spPr>
        <p:txBody>
          <a:bodyPr vert="horz" wrap="square" numCol="1" spcCol="0" rtlCol="0" fromWordArt="0" anchor="ctr" anchorCtr="0" forceAA="0" compatLnSpc="0">
            <a:noAutofit/>
          </a:bodyPr>
          <a:lstStyle>
            <a:defPPr>
              <a:defRPr lang="en-US"/>
            </a:defPPr>
            <a:lvl1pPr marR="0" lvl="0" indent="0" algn="ctr" fontAlgn="auto">
              <a:lnSpc>
                <a:spcPct val="100000"/>
              </a:lnSpc>
              <a:spcBef>
                <a:spcPts val="0"/>
              </a:spcBef>
              <a:spcAft>
                <a:spcPts val="0"/>
              </a:spcAft>
              <a:buClrTx/>
              <a:buSzTx/>
              <a:buFontTx/>
              <a:buNone/>
              <a:defRPr kumimoji="1" sz="1600" b="1" i="0" u="none" strike="noStrike" cap="none" spc="0" normalizeH="0" baseline="0">
                <a:ln>
                  <a:noFill/>
                </a:ln>
                <a:solidFill>
                  <a:srgbClr val="0070BF"/>
                </a:solidFill>
                <a:effectLst/>
                <a:uLnTx/>
                <a:uFillTx/>
                <a:latin typeface="微软雅黑" panose="020B0503020204020204" pitchFamily="34" charset="-122"/>
                <a:ea typeface="微软雅黑" panose="020B0503020204020204" pitchFamily="3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转型工作推进</a:t>
            </a:r>
            <a:r>
              <a:rPr kumimoji="0" lang="zh-CN" altLang="en-US" sz="14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方法论</a:t>
            </a:r>
            <a:endParaRPr kumimoji="0" lang="zh-CN" altLang="en-US" sz="14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sp>
        <p:nvSpPr>
          <p:cNvPr id="120" name="矩形 119"/>
          <p:cNvSpPr/>
          <p:nvPr>
            <p:custDataLst>
              <p:tags r:id="rId2"/>
            </p:custDataLst>
          </p:nvPr>
        </p:nvSpPr>
        <p:spPr>
          <a:xfrm>
            <a:off x="9693910" y="5023485"/>
            <a:ext cx="1447165" cy="340995"/>
          </a:xfrm>
          <a:prstGeom prst="rect">
            <a:avLst/>
          </a:prstGeom>
          <a:noFill/>
          <a:ln>
            <a:noFill/>
          </a:ln>
        </p:spPr>
        <p:style>
          <a:lnRef idx="2">
            <a:srgbClr val="1C66C4">
              <a:shade val="50000"/>
            </a:srgbClr>
          </a:lnRef>
          <a:fillRef idx="1">
            <a:srgbClr val="1C66C4"/>
          </a:fillRef>
          <a:effectRef idx="0">
            <a:srgbClr val="1C66C4"/>
          </a:effectRef>
          <a:fontRef idx="minor">
            <a:srgbClr val="FFFFFF"/>
          </a:fontRef>
        </p:style>
        <p:txBody>
          <a:bodyPr vertOverflow="overflow" horzOverflow="overflow" vert="horz" wrap="none" numCol="1" spcCol="0" rtlCol="0" fromWordArt="0" anchor="ctr" anchorCtr="0" forceAA="0" compatLnSpc="1">
            <a:noAutofit/>
          </a:bodyPr>
          <a:lstStyle/>
          <a:p>
            <a:pPr lvl="0" algn="ctr">
              <a:spcBef>
                <a:spcPts val="0"/>
              </a:spcBef>
              <a:spcAft>
                <a:spcPts val="0"/>
              </a:spcAft>
              <a:buClrTx/>
              <a:buSzTx/>
              <a:buFontTx/>
              <a:defRPr/>
            </a:pPr>
            <a:r>
              <a:rPr lang="zh-CN" altLang="en-US" sz="1200" b="1" noProof="0">
                <a:ln>
                  <a:noFill/>
                </a:ln>
                <a:solidFill>
                  <a:schemeClr val="accent5"/>
                </a:solidFill>
                <a:effectLst/>
                <a:uLnTx/>
                <a:uFillTx/>
                <a:latin typeface="微软雅黑" panose="020B0503020204020204" pitchFamily="34" charset="-122"/>
                <a:ea typeface="微软雅黑" panose="020B0503020204020204" pitchFamily="34" charset="-122"/>
                <a:cs typeface="思源黑体 CN Normal" panose="020B0600000000000000" charset="-122"/>
                <a:sym typeface="+mn-ea"/>
              </a:rPr>
              <a:t>一书一表</a:t>
            </a: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cs typeface="思源黑体 CN Normal" panose="020B0600000000000000" charset="-122"/>
                <a:sym typeface="+mn-ea"/>
              </a:rPr>
              <a:t>  落实执行</a:t>
            </a:r>
            <a:endPar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cs typeface="思源黑体 CN Normal" panose="020B0600000000000000" charset="-122"/>
              <a:sym typeface="+mn-ea"/>
            </a:endParaRPr>
          </a:p>
        </p:txBody>
      </p:sp>
      <p:grpSp>
        <p:nvGrpSpPr>
          <p:cNvPr id="9" name="组合 8"/>
          <p:cNvGrpSpPr/>
          <p:nvPr/>
        </p:nvGrpSpPr>
        <p:grpSpPr>
          <a:xfrm>
            <a:off x="9119235" y="2773680"/>
            <a:ext cx="2607945" cy="2120900"/>
            <a:chOff x="14361" y="4251"/>
            <a:chExt cx="4107" cy="3340"/>
          </a:xfrm>
        </p:grpSpPr>
        <p:sp>
          <p:nvSpPr>
            <p:cNvPr id="119" name="矩形 118"/>
            <p:cNvSpPr/>
            <p:nvPr>
              <p:custDataLst>
                <p:tags r:id="rId3"/>
              </p:custDataLst>
            </p:nvPr>
          </p:nvSpPr>
          <p:spPr>
            <a:xfrm>
              <a:off x="15181" y="4251"/>
              <a:ext cx="2449" cy="537"/>
            </a:xfrm>
            <a:prstGeom prst="rect">
              <a:avLst/>
            </a:prstGeom>
            <a:noFill/>
            <a:ln>
              <a:noFill/>
            </a:ln>
          </p:spPr>
          <p:style>
            <a:lnRef idx="2">
              <a:srgbClr val="1C66C4">
                <a:shade val="50000"/>
              </a:srgbClr>
            </a:lnRef>
            <a:fillRef idx="1">
              <a:srgbClr val="1C66C4"/>
            </a:fillRef>
            <a:effectRef idx="0">
              <a:srgbClr val="1C66C4"/>
            </a:effectRef>
            <a:fontRef idx="minor">
              <a:srgbClr val="FFFFFF"/>
            </a:fontRef>
          </p:style>
          <p:txBody>
            <a:bodyPr vertOverflow="overflow" horzOverflow="overflow" vert="horz" wrap="non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schemeClr val="accent5"/>
                  </a:solidFill>
                  <a:effectLst/>
                  <a:uLnTx/>
                  <a:uFillTx/>
                  <a:latin typeface="微软雅黑" panose="020B0503020204020204" pitchFamily="34" charset="-122"/>
                  <a:ea typeface="微软雅黑" panose="020B0503020204020204" pitchFamily="34" charset="-122"/>
                  <a:cs typeface="思源黑体 CN Normal" panose="020B0600000000000000" charset="-122"/>
                  <a:sym typeface="+mn-ea"/>
                </a:rPr>
                <a:t>三图一碑</a:t>
              </a:r>
              <a:r>
                <a:rPr kumimoji="0" lang="en-US" altLang="zh-CN" sz="12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思源黑体 CN Normal" panose="020B0600000000000000" charset="-122"/>
                  <a:sym typeface="+mn-ea"/>
                </a:rPr>
                <a:t>  </a:t>
              </a:r>
              <a:r>
                <a:rPr kumimoji="0" lang="zh-CN" altLang="en-US" sz="12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思源黑体 CN Normal" panose="020B0600000000000000" charset="-122"/>
                  <a:sym typeface="+mn-ea"/>
                </a:rPr>
                <a:t>明晰规划</a:t>
              </a:r>
              <a:endParaRPr kumimoji="0" lang="zh-CN" altLang="en-US" sz="12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思源黑体 CN Normal" panose="020B0600000000000000" charset="-122"/>
                <a:sym typeface="+mn-ea"/>
              </a:endParaRPr>
            </a:p>
          </p:txBody>
        </p:sp>
        <p:sp>
          <p:nvSpPr>
            <p:cNvPr id="179" name="矩形 178"/>
            <p:cNvSpPr/>
            <p:nvPr>
              <p:custDataLst>
                <p:tags r:id="rId4"/>
              </p:custDataLst>
            </p:nvPr>
          </p:nvSpPr>
          <p:spPr>
            <a:xfrm>
              <a:off x="14361" y="4853"/>
              <a:ext cx="4107" cy="2738"/>
            </a:xfrm>
            <a:prstGeom prst="rect">
              <a:avLst/>
            </a:prstGeom>
            <a:solidFill>
              <a:srgbClr val="FFFFFF"/>
            </a:solidFill>
            <a:ln w="15875">
              <a:solidFill>
                <a:schemeClr val="accent1">
                  <a:lumMod val="20000"/>
                  <a:lumOff val="80000"/>
                </a:schemeClr>
              </a:solidFill>
            </a:ln>
            <a:effectLst>
              <a:outerShdw blurRad="165100" dist="76200" dir="5400000" algn="t" rotWithShape="0">
                <a:srgbClr val="1C66C4">
                  <a:alpha val="40000"/>
                </a:srgbClr>
              </a:outerShdw>
            </a:effectLst>
          </p:spPr>
          <p:style>
            <a:lnRef idx="2">
              <a:srgbClr val="1C66C4">
                <a:shade val="50000"/>
              </a:srgbClr>
            </a:lnRef>
            <a:fillRef idx="1">
              <a:srgbClr val="1C66C4"/>
            </a:fillRef>
            <a:effectRef idx="0">
              <a:srgbClr val="1C66C4"/>
            </a:effectRef>
            <a:fontRef idx="minor">
              <a:srgbClr val="FFFFFF"/>
            </a:fontRef>
          </p:style>
          <p:txBody>
            <a:bodyPr vertOverflow="overflow" horzOverflow="overflow" vert="horz" wrap="non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思源黑体 CN Normal" panose="020B0600000000000000" charset="-122"/>
                <a:sym typeface="+mn-ea"/>
              </a:endParaRPr>
            </a:p>
          </p:txBody>
        </p:sp>
        <p:sp>
          <p:nvSpPr>
            <p:cNvPr id="121" name="aBJeFSBwWMIbTFq圆角矩形 54"/>
            <p:cNvSpPr/>
            <p:nvPr>
              <p:custDataLst>
                <p:tags r:id="rId5"/>
              </p:custDataLst>
            </p:nvPr>
          </p:nvSpPr>
          <p:spPr>
            <a:xfrm>
              <a:off x="14511" y="5068"/>
              <a:ext cx="588" cy="2399"/>
            </a:xfrm>
            <a:prstGeom prst="roundRect">
              <a:avLst/>
            </a:prstGeom>
            <a:solidFill>
              <a:srgbClr val="E1F3F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21590" rIns="1778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22" name="maps-and-flags_353247"/>
            <p:cNvSpPr/>
            <p:nvPr/>
          </p:nvSpPr>
          <p:spPr>
            <a:xfrm>
              <a:off x="14706" y="5277"/>
              <a:ext cx="174" cy="334"/>
            </a:xfrm>
            <a:custGeom>
              <a:avLst/>
              <a:gdLst>
                <a:gd name="connsiteX0" fmla="*/ 18602 w 607639"/>
                <a:gd name="connsiteY0" fmla="*/ 396873 h 445127"/>
                <a:gd name="connsiteX1" fmla="*/ 18602 w 607639"/>
                <a:gd name="connsiteY1" fmla="*/ 426554 h 445127"/>
                <a:gd name="connsiteX2" fmla="*/ 246278 w 607639"/>
                <a:gd name="connsiteY2" fmla="*/ 426554 h 445127"/>
                <a:gd name="connsiteX3" fmla="*/ 246278 w 607639"/>
                <a:gd name="connsiteY3" fmla="*/ 396873 h 445127"/>
                <a:gd name="connsiteX4" fmla="*/ 181918 w 607639"/>
                <a:gd name="connsiteY4" fmla="*/ 350005 h 445127"/>
                <a:gd name="connsiteX5" fmla="*/ 201676 w 607639"/>
                <a:gd name="connsiteY5" fmla="*/ 350005 h 445127"/>
                <a:gd name="connsiteX6" fmla="*/ 201676 w 607639"/>
                <a:gd name="connsiteY6" fmla="*/ 368564 h 445127"/>
                <a:gd name="connsiteX7" fmla="*/ 181918 w 607639"/>
                <a:gd name="connsiteY7" fmla="*/ 368564 h 445127"/>
                <a:gd name="connsiteX8" fmla="*/ 150939 w 607639"/>
                <a:gd name="connsiteY8" fmla="*/ 350005 h 445127"/>
                <a:gd name="connsiteX9" fmla="*/ 173308 w 607639"/>
                <a:gd name="connsiteY9" fmla="*/ 350005 h 445127"/>
                <a:gd name="connsiteX10" fmla="*/ 173308 w 607639"/>
                <a:gd name="connsiteY10" fmla="*/ 368564 h 445127"/>
                <a:gd name="connsiteX11" fmla="*/ 150939 w 607639"/>
                <a:gd name="connsiteY11" fmla="*/ 368564 h 445127"/>
                <a:gd name="connsiteX12" fmla="*/ 123701 w 607639"/>
                <a:gd name="connsiteY12" fmla="*/ 350005 h 445127"/>
                <a:gd name="connsiteX13" fmla="*/ 144800 w 607639"/>
                <a:gd name="connsiteY13" fmla="*/ 350005 h 445127"/>
                <a:gd name="connsiteX14" fmla="*/ 144800 w 607639"/>
                <a:gd name="connsiteY14" fmla="*/ 368564 h 445127"/>
                <a:gd name="connsiteX15" fmla="*/ 123701 w 607639"/>
                <a:gd name="connsiteY15" fmla="*/ 368564 h 445127"/>
                <a:gd name="connsiteX16" fmla="*/ 95334 w 607639"/>
                <a:gd name="connsiteY16" fmla="*/ 350005 h 445127"/>
                <a:gd name="connsiteX17" fmla="*/ 113822 w 607639"/>
                <a:gd name="connsiteY17" fmla="*/ 350005 h 445127"/>
                <a:gd name="connsiteX18" fmla="*/ 113822 w 607639"/>
                <a:gd name="connsiteY18" fmla="*/ 368564 h 445127"/>
                <a:gd name="connsiteX19" fmla="*/ 95334 w 607639"/>
                <a:gd name="connsiteY19" fmla="*/ 368564 h 445127"/>
                <a:gd name="connsiteX20" fmla="*/ 68096 w 607639"/>
                <a:gd name="connsiteY20" fmla="*/ 350005 h 445127"/>
                <a:gd name="connsiteX21" fmla="*/ 85385 w 607639"/>
                <a:gd name="connsiteY21" fmla="*/ 350005 h 445127"/>
                <a:gd name="connsiteX22" fmla="*/ 85385 w 607639"/>
                <a:gd name="connsiteY22" fmla="*/ 368564 h 445127"/>
                <a:gd name="connsiteX23" fmla="*/ 68096 w 607639"/>
                <a:gd name="connsiteY23" fmla="*/ 368564 h 445127"/>
                <a:gd name="connsiteX24" fmla="*/ 39587 w 607639"/>
                <a:gd name="connsiteY24" fmla="*/ 350005 h 445127"/>
                <a:gd name="connsiteX25" fmla="*/ 56946 w 607639"/>
                <a:gd name="connsiteY25" fmla="*/ 350005 h 445127"/>
                <a:gd name="connsiteX26" fmla="*/ 56946 w 607639"/>
                <a:gd name="connsiteY26" fmla="*/ 368564 h 445127"/>
                <a:gd name="connsiteX27" fmla="*/ 39587 w 607639"/>
                <a:gd name="connsiteY27" fmla="*/ 368564 h 445127"/>
                <a:gd name="connsiteX28" fmla="*/ 181918 w 607639"/>
                <a:gd name="connsiteY28" fmla="*/ 322766 h 445127"/>
                <a:gd name="connsiteX29" fmla="*/ 201676 w 607639"/>
                <a:gd name="connsiteY29" fmla="*/ 322766 h 445127"/>
                <a:gd name="connsiteX30" fmla="*/ 201676 w 607639"/>
                <a:gd name="connsiteY30" fmla="*/ 341325 h 445127"/>
                <a:gd name="connsiteX31" fmla="*/ 181918 w 607639"/>
                <a:gd name="connsiteY31" fmla="*/ 341325 h 445127"/>
                <a:gd name="connsiteX32" fmla="*/ 181918 w 607639"/>
                <a:gd name="connsiteY32" fmla="*/ 294329 h 445127"/>
                <a:gd name="connsiteX33" fmla="*/ 201676 w 607639"/>
                <a:gd name="connsiteY33" fmla="*/ 294329 h 445127"/>
                <a:gd name="connsiteX34" fmla="*/ 201676 w 607639"/>
                <a:gd name="connsiteY34" fmla="*/ 312888 h 445127"/>
                <a:gd name="connsiteX35" fmla="*/ 181918 w 607639"/>
                <a:gd name="connsiteY35" fmla="*/ 312888 h 445127"/>
                <a:gd name="connsiteX36" fmla="*/ 181918 w 607639"/>
                <a:gd name="connsiteY36" fmla="*/ 264762 h 445127"/>
                <a:gd name="connsiteX37" fmla="*/ 201676 w 607639"/>
                <a:gd name="connsiteY37" fmla="*/ 264762 h 445127"/>
                <a:gd name="connsiteX38" fmla="*/ 201676 w 607639"/>
                <a:gd name="connsiteY38" fmla="*/ 283250 h 445127"/>
                <a:gd name="connsiteX39" fmla="*/ 181918 w 607639"/>
                <a:gd name="connsiteY39" fmla="*/ 283250 h 445127"/>
                <a:gd name="connsiteX40" fmla="*/ 426958 w 607639"/>
                <a:gd name="connsiteY40" fmla="*/ 262242 h 445127"/>
                <a:gd name="connsiteX41" fmla="*/ 426958 w 607639"/>
                <a:gd name="connsiteY41" fmla="*/ 426554 h 445127"/>
                <a:gd name="connsiteX42" fmla="*/ 589037 w 607639"/>
                <a:gd name="connsiteY42" fmla="*/ 426554 h 445127"/>
                <a:gd name="connsiteX43" fmla="*/ 589037 w 607639"/>
                <a:gd name="connsiteY43" fmla="*/ 262242 h 445127"/>
                <a:gd name="connsiteX44" fmla="*/ 238801 w 607639"/>
                <a:gd name="connsiteY44" fmla="*/ 262242 h 445127"/>
                <a:gd name="connsiteX45" fmla="*/ 238801 w 607639"/>
                <a:gd name="connsiteY45" fmla="*/ 340088 h 445127"/>
                <a:gd name="connsiteX46" fmla="*/ 303152 w 607639"/>
                <a:gd name="connsiteY46" fmla="*/ 340088 h 445127"/>
                <a:gd name="connsiteX47" fmla="*/ 303152 w 607639"/>
                <a:gd name="connsiteY47" fmla="*/ 426554 h 445127"/>
                <a:gd name="connsiteX48" fmla="*/ 369995 w 607639"/>
                <a:gd name="connsiteY48" fmla="*/ 426554 h 445127"/>
                <a:gd name="connsiteX49" fmla="*/ 369995 w 607639"/>
                <a:gd name="connsiteY49" fmla="*/ 262242 h 445127"/>
                <a:gd name="connsiteX50" fmla="*/ 181918 w 607639"/>
                <a:gd name="connsiteY50" fmla="*/ 235054 h 445127"/>
                <a:gd name="connsiteX51" fmla="*/ 201676 w 607639"/>
                <a:gd name="connsiteY51" fmla="*/ 235054 h 445127"/>
                <a:gd name="connsiteX52" fmla="*/ 201676 w 607639"/>
                <a:gd name="connsiteY52" fmla="*/ 253613 h 445127"/>
                <a:gd name="connsiteX53" fmla="*/ 181918 w 607639"/>
                <a:gd name="connsiteY53" fmla="*/ 253613 h 445127"/>
                <a:gd name="connsiteX54" fmla="*/ 408362 w 607639"/>
                <a:gd name="connsiteY54" fmla="*/ 206616 h 445127"/>
                <a:gd name="connsiteX55" fmla="*/ 426921 w 607639"/>
                <a:gd name="connsiteY55" fmla="*/ 206616 h 445127"/>
                <a:gd name="connsiteX56" fmla="*/ 426921 w 607639"/>
                <a:gd name="connsiteY56" fmla="*/ 225175 h 445127"/>
                <a:gd name="connsiteX57" fmla="*/ 408362 w 607639"/>
                <a:gd name="connsiteY57" fmla="*/ 225175 h 445127"/>
                <a:gd name="connsiteX58" fmla="*/ 379854 w 607639"/>
                <a:gd name="connsiteY58" fmla="*/ 206616 h 445127"/>
                <a:gd name="connsiteX59" fmla="*/ 398483 w 607639"/>
                <a:gd name="connsiteY59" fmla="*/ 206616 h 445127"/>
                <a:gd name="connsiteX60" fmla="*/ 398483 w 607639"/>
                <a:gd name="connsiteY60" fmla="*/ 225175 h 445127"/>
                <a:gd name="connsiteX61" fmla="*/ 379854 w 607639"/>
                <a:gd name="connsiteY61" fmla="*/ 225175 h 445127"/>
                <a:gd name="connsiteX62" fmla="*/ 352757 w 607639"/>
                <a:gd name="connsiteY62" fmla="*/ 206616 h 445127"/>
                <a:gd name="connsiteX63" fmla="*/ 369975 w 607639"/>
                <a:gd name="connsiteY63" fmla="*/ 206616 h 445127"/>
                <a:gd name="connsiteX64" fmla="*/ 369975 w 607639"/>
                <a:gd name="connsiteY64" fmla="*/ 225175 h 445127"/>
                <a:gd name="connsiteX65" fmla="*/ 352757 w 607639"/>
                <a:gd name="connsiteY65" fmla="*/ 225175 h 445127"/>
                <a:gd name="connsiteX66" fmla="*/ 322978 w 607639"/>
                <a:gd name="connsiteY66" fmla="*/ 206616 h 445127"/>
                <a:gd name="connsiteX67" fmla="*/ 341537 w 607639"/>
                <a:gd name="connsiteY67" fmla="*/ 206616 h 445127"/>
                <a:gd name="connsiteX68" fmla="*/ 341537 w 607639"/>
                <a:gd name="connsiteY68" fmla="*/ 225175 h 445127"/>
                <a:gd name="connsiteX69" fmla="*/ 322978 w 607639"/>
                <a:gd name="connsiteY69" fmla="*/ 225175 h 445127"/>
                <a:gd name="connsiteX70" fmla="*/ 294540 w 607639"/>
                <a:gd name="connsiteY70" fmla="*/ 206616 h 445127"/>
                <a:gd name="connsiteX71" fmla="*/ 315498 w 607639"/>
                <a:gd name="connsiteY71" fmla="*/ 206616 h 445127"/>
                <a:gd name="connsiteX72" fmla="*/ 315498 w 607639"/>
                <a:gd name="connsiteY72" fmla="*/ 225175 h 445127"/>
                <a:gd name="connsiteX73" fmla="*/ 294540 w 607639"/>
                <a:gd name="connsiteY73" fmla="*/ 225175 h 445127"/>
                <a:gd name="connsiteX74" fmla="*/ 266032 w 607639"/>
                <a:gd name="connsiteY74" fmla="*/ 206616 h 445127"/>
                <a:gd name="connsiteX75" fmla="*/ 285861 w 607639"/>
                <a:gd name="connsiteY75" fmla="*/ 206616 h 445127"/>
                <a:gd name="connsiteX76" fmla="*/ 285861 w 607639"/>
                <a:gd name="connsiteY76" fmla="*/ 225175 h 445127"/>
                <a:gd name="connsiteX77" fmla="*/ 266032 w 607639"/>
                <a:gd name="connsiteY77" fmla="*/ 225175 h 445127"/>
                <a:gd name="connsiteX78" fmla="*/ 238793 w 607639"/>
                <a:gd name="connsiteY78" fmla="*/ 206616 h 445127"/>
                <a:gd name="connsiteX79" fmla="*/ 257422 w 607639"/>
                <a:gd name="connsiteY79" fmla="*/ 206616 h 445127"/>
                <a:gd name="connsiteX80" fmla="*/ 257422 w 607639"/>
                <a:gd name="connsiteY80" fmla="*/ 225175 h 445127"/>
                <a:gd name="connsiteX81" fmla="*/ 238793 w 607639"/>
                <a:gd name="connsiteY81" fmla="*/ 225175 h 445127"/>
                <a:gd name="connsiteX82" fmla="*/ 210426 w 607639"/>
                <a:gd name="connsiteY82" fmla="*/ 206616 h 445127"/>
                <a:gd name="connsiteX83" fmla="*/ 230184 w 607639"/>
                <a:gd name="connsiteY83" fmla="*/ 206616 h 445127"/>
                <a:gd name="connsiteX84" fmla="*/ 230184 w 607639"/>
                <a:gd name="connsiteY84" fmla="*/ 225175 h 445127"/>
                <a:gd name="connsiteX85" fmla="*/ 210426 w 607639"/>
                <a:gd name="connsiteY85" fmla="*/ 225175 h 445127"/>
                <a:gd name="connsiteX86" fmla="*/ 181918 w 607639"/>
                <a:gd name="connsiteY86" fmla="*/ 206616 h 445127"/>
                <a:gd name="connsiteX87" fmla="*/ 201676 w 607639"/>
                <a:gd name="connsiteY87" fmla="*/ 206616 h 445127"/>
                <a:gd name="connsiteX88" fmla="*/ 201676 w 607639"/>
                <a:gd name="connsiteY88" fmla="*/ 225175 h 445127"/>
                <a:gd name="connsiteX89" fmla="*/ 181918 w 607639"/>
                <a:gd name="connsiteY89" fmla="*/ 225175 h 445127"/>
                <a:gd name="connsiteX90" fmla="*/ 18602 w 607639"/>
                <a:gd name="connsiteY90" fmla="*/ 188128 h 445127"/>
                <a:gd name="connsiteX91" fmla="*/ 18602 w 607639"/>
                <a:gd name="connsiteY91" fmla="*/ 322759 h 445127"/>
                <a:gd name="connsiteX92" fmla="*/ 150953 w 607639"/>
                <a:gd name="connsiteY92" fmla="*/ 322759 h 445127"/>
                <a:gd name="connsiteX93" fmla="*/ 150953 w 607639"/>
                <a:gd name="connsiteY93" fmla="*/ 188128 h 445127"/>
                <a:gd name="connsiteX94" fmla="*/ 408362 w 607639"/>
                <a:gd name="connsiteY94" fmla="*/ 113893 h 445127"/>
                <a:gd name="connsiteX95" fmla="*/ 426921 w 607639"/>
                <a:gd name="connsiteY95" fmla="*/ 113893 h 445127"/>
                <a:gd name="connsiteX96" fmla="*/ 426921 w 607639"/>
                <a:gd name="connsiteY96" fmla="*/ 132522 h 445127"/>
                <a:gd name="connsiteX97" fmla="*/ 408362 w 607639"/>
                <a:gd name="connsiteY97" fmla="*/ 132522 h 445127"/>
                <a:gd name="connsiteX98" fmla="*/ 18602 w 607639"/>
                <a:gd name="connsiteY98" fmla="*/ 85577 h 445127"/>
                <a:gd name="connsiteX99" fmla="*/ 18602 w 607639"/>
                <a:gd name="connsiteY99" fmla="*/ 142362 h 445127"/>
                <a:gd name="connsiteX100" fmla="*/ 150953 w 607639"/>
                <a:gd name="connsiteY100" fmla="*/ 142362 h 445127"/>
                <a:gd name="connsiteX101" fmla="*/ 150953 w 607639"/>
                <a:gd name="connsiteY101" fmla="*/ 85577 h 445127"/>
                <a:gd name="connsiteX102" fmla="*/ 408324 w 607639"/>
                <a:gd name="connsiteY102" fmla="*/ 37400 h 445127"/>
                <a:gd name="connsiteX103" fmla="*/ 426934 w 607639"/>
                <a:gd name="connsiteY103" fmla="*/ 37400 h 445127"/>
                <a:gd name="connsiteX104" fmla="*/ 426934 w 607639"/>
                <a:gd name="connsiteY104" fmla="*/ 55882 h 445127"/>
                <a:gd name="connsiteX105" fmla="*/ 444209 w 607639"/>
                <a:gd name="connsiteY105" fmla="*/ 55882 h 445127"/>
                <a:gd name="connsiteX106" fmla="*/ 444209 w 607639"/>
                <a:gd name="connsiteY106" fmla="*/ 74453 h 445127"/>
                <a:gd name="connsiteX107" fmla="*/ 426934 w 607639"/>
                <a:gd name="connsiteY107" fmla="*/ 74453 h 445127"/>
                <a:gd name="connsiteX108" fmla="*/ 426934 w 607639"/>
                <a:gd name="connsiteY108" fmla="*/ 92935 h 445127"/>
                <a:gd name="connsiteX109" fmla="*/ 408324 w 607639"/>
                <a:gd name="connsiteY109" fmla="*/ 92935 h 445127"/>
                <a:gd name="connsiteX110" fmla="*/ 408324 w 607639"/>
                <a:gd name="connsiteY110" fmla="*/ 74453 h 445127"/>
                <a:gd name="connsiteX111" fmla="*/ 389803 w 607639"/>
                <a:gd name="connsiteY111" fmla="*/ 74453 h 445127"/>
                <a:gd name="connsiteX112" fmla="*/ 389803 w 607639"/>
                <a:gd name="connsiteY112" fmla="*/ 55882 h 445127"/>
                <a:gd name="connsiteX113" fmla="*/ 408324 w 607639"/>
                <a:gd name="connsiteY113" fmla="*/ 55882 h 445127"/>
                <a:gd name="connsiteX114" fmla="*/ 418503 w 607639"/>
                <a:gd name="connsiteY114" fmla="*/ 18573 h 445127"/>
                <a:gd name="connsiteX115" fmla="*/ 371063 w 607639"/>
                <a:gd name="connsiteY115" fmla="*/ 65938 h 445127"/>
                <a:gd name="connsiteX116" fmla="*/ 398210 w 607639"/>
                <a:gd name="connsiteY116" fmla="*/ 129655 h 445127"/>
                <a:gd name="connsiteX117" fmla="*/ 418503 w 607639"/>
                <a:gd name="connsiteY117" fmla="*/ 162535 h 445127"/>
                <a:gd name="connsiteX118" fmla="*/ 438974 w 607639"/>
                <a:gd name="connsiteY118" fmla="*/ 129566 h 445127"/>
                <a:gd name="connsiteX119" fmla="*/ 466032 w 607639"/>
                <a:gd name="connsiteY119" fmla="*/ 65938 h 445127"/>
                <a:gd name="connsiteX120" fmla="*/ 418503 w 607639"/>
                <a:gd name="connsiteY120" fmla="*/ 18573 h 445127"/>
                <a:gd name="connsiteX121" fmla="*/ 418503 w 607639"/>
                <a:gd name="connsiteY121" fmla="*/ 0 h 445127"/>
                <a:gd name="connsiteX122" fmla="*/ 484545 w 607639"/>
                <a:gd name="connsiteY122" fmla="*/ 65938 h 445127"/>
                <a:gd name="connsiteX123" fmla="*/ 447875 w 607639"/>
                <a:gd name="connsiteY123" fmla="*/ 151071 h 445127"/>
                <a:gd name="connsiteX124" fmla="*/ 462827 w 607639"/>
                <a:gd name="connsiteY124" fmla="*/ 151071 h 445127"/>
                <a:gd name="connsiteX125" fmla="*/ 462827 w 607639"/>
                <a:gd name="connsiteY125" fmla="*/ 206612 h 445127"/>
                <a:gd name="connsiteX126" fmla="*/ 589037 w 607639"/>
                <a:gd name="connsiteY126" fmla="*/ 206612 h 445127"/>
                <a:gd name="connsiteX127" fmla="*/ 589037 w 607639"/>
                <a:gd name="connsiteY127" fmla="*/ 85577 h 445127"/>
                <a:gd name="connsiteX128" fmla="*/ 496204 w 607639"/>
                <a:gd name="connsiteY128" fmla="*/ 85577 h 445127"/>
                <a:gd name="connsiteX129" fmla="*/ 496204 w 607639"/>
                <a:gd name="connsiteY129" fmla="*/ 67004 h 445127"/>
                <a:gd name="connsiteX130" fmla="*/ 607639 w 607639"/>
                <a:gd name="connsiteY130" fmla="*/ 67004 h 445127"/>
                <a:gd name="connsiteX131" fmla="*/ 607639 w 607639"/>
                <a:gd name="connsiteY131" fmla="*/ 445127 h 445127"/>
                <a:gd name="connsiteX132" fmla="*/ 0 w 607639"/>
                <a:gd name="connsiteY132" fmla="*/ 445127 h 445127"/>
                <a:gd name="connsiteX133" fmla="*/ 0 w 607639"/>
                <a:gd name="connsiteY133" fmla="*/ 67004 h 445127"/>
                <a:gd name="connsiteX134" fmla="*/ 341513 w 607639"/>
                <a:gd name="connsiteY134" fmla="*/ 67004 h 445127"/>
                <a:gd name="connsiteX135" fmla="*/ 341513 w 607639"/>
                <a:gd name="connsiteY135" fmla="*/ 85577 h 445127"/>
                <a:gd name="connsiteX136" fmla="*/ 201686 w 607639"/>
                <a:gd name="connsiteY136" fmla="*/ 85577 h 445127"/>
                <a:gd name="connsiteX137" fmla="*/ 201686 w 607639"/>
                <a:gd name="connsiteY137" fmla="*/ 169555 h 445127"/>
                <a:gd name="connsiteX138" fmla="*/ 360115 w 607639"/>
                <a:gd name="connsiteY138" fmla="*/ 169555 h 445127"/>
                <a:gd name="connsiteX139" fmla="*/ 360115 w 607639"/>
                <a:gd name="connsiteY139" fmla="*/ 151071 h 445127"/>
                <a:gd name="connsiteX140" fmla="*/ 378717 w 607639"/>
                <a:gd name="connsiteY140" fmla="*/ 151071 h 445127"/>
                <a:gd name="connsiteX141" fmla="*/ 378717 w 607639"/>
                <a:gd name="connsiteY141" fmla="*/ 188128 h 445127"/>
                <a:gd name="connsiteX142" fmla="*/ 183173 w 607639"/>
                <a:gd name="connsiteY142" fmla="*/ 188128 h 445127"/>
                <a:gd name="connsiteX143" fmla="*/ 183173 w 607639"/>
                <a:gd name="connsiteY143" fmla="*/ 85577 h 445127"/>
                <a:gd name="connsiteX144" fmla="*/ 169555 w 607639"/>
                <a:gd name="connsiteY144" fmla="*/ 85577 h 445127"/>
                <a:gd name="connsiteX145" fmla="*/ 169555 w 607639"/>
                <a:gd name="connsiteY145" fmla="*/ 160935 h 445127"/>
                <a:gd name="connsiteX146" fmla="*/ 18602 w 607639"/>
                <a:gd name="connsiteY146" fmla="*/ 160935 h 445127"/>
                <a:gd name="connsiteX147" fmla="*/ 18602 w 607639"/>
                <a:gd name="connsiteY147" fmla="*/ 169555 h 445127"/>
                <a:gd name="connsiteX148" fmla="*/ 169555 w 607639"/>
                <a:gd name="connsiteY148" fmla="*/ 169555 h 445127"/>
                <a:gd name="connsiteX149" fmla="*/ 169555 w 607639"/>
                <a:gd name="connsiteY149" fmla="*/ 341332 h 445127"/>
                <a:gd name="connsiteX150" fmla="*/ 18602 w 607639"/>
                <a:gd name="connsiteY150" fmla="*/ 341332 h 445127"/>
                <a:gd name="connsiteX151" fmla="*/ 18602 w 607639"/>
                <a:gd name="connsiteY151" fmla="*/ 349952 h 445127"/>
                <a:gd name="connsiteX152" fmla="*/ 30974 w 607639"/>
                <a:gd name="connsiteY152" fmla="*/ 349952 h 445127"/>
                <a:gd name="connsiteX153" fmla="*/ 30974 w 607639"/>
                <a:gd name="connsiteY153" fmla="*/ 368525 h 445127"/>
                <a:gd name="connsiteX154" fmla="*/ 18602 w 607639"/>
                <a:gd name="connsiteY154" fmla="*/ 368525 h 445127"/>
                <a:gd name="connsiteX155" fmla="*/ 18602 w 607639"/>
                <a:gd name="connsiteY155" fmla="*/ 378389 h 445127"/>
                <a:gd name="connsiteX156" fmla="*/ 264791 w 607639"/>
                <a:gd name="connsiteY156" fmla="*/ 378389 h 445127"/>
                <a:gd name="connsiteX157" fmla="*/ 264791 w 607639"/>
                <a:gd name="connsiteY157" fmla="*/ 426554 h 445127"/>
                <a:gd name="connsiteX158" fmla="*/ 284639 w 607639"/>
                <a:gd name="connsiteY158" fmla="*/ 426554 h 445127"/>
                <a:gd name="connsiteX159" fmla="*/ 284639 w 607639"/>
                <a:gd name="connsiteY159" fmla="*/ 358572 h 445127"/>
                <a:gd name="connsiteX160" fmla="*/ 220288 w 607639"/>
                <a:gd name="connsiteY160" fmla="*/ 358572 h 445127"/>
                <a:gd name="connsiteX161" fmla="*/ 220288 w 607639"/>
                <a:gd name="connsiteY161" fmla="*/ 243669 h 445127"/>
                <a:gd name="connsiteX162" fmla="*/ 388597 w 607639"/>
                <a:gd name="connsiteY162" fmla="*/ 243669 h 445127"/>
                <a:gd name="connsiteX163" fmla="*/ 388597 w 607639"/>
                <a:gd name="connsiteY163" fmla="*/ 426554 h 445127"/>
                <a:gd name="connsiteX164" fmla="*/ 408356 w 607639"/>
                <a:gd name="connsiteY164" fmla="*/ 426554 h 445127"/>
                <a:gd name="connsiteX165" fmla="*/ 408356 w 607639"/>
                <a:gd name="connsiteY165" fmla="*/ 243669 h 445127"/>
                <a:gd name="connsiteX166" fmla="*/ 589037 w 607639"/>
                <a:gd name="connsiteY166" fmla="*/ 243669 h 445127"/>
                <a:gd name="connsiteX167" fmla="*/ 589037 w 607639"/>
                <a:gd name="connsiteY167" fmla="*/ 225185 h 445127"/>
                <a:gd name="connsiteX168" fmla="*/ 444225 w 607639"/>
                <a:gd name="connsiteY168" fmla="*/ 225185 h 445127"/>
                <a:gd name="connsiteX169" fmla="*/ 444225 w 607639"/>
                <a:gd name="connsiteY169" fmla="*/ 156847 h 445127"/>
                <a:gd name="connsiteX170" fmla="*/ 426157 w 607639"/>
                <a:gd name="connsiteY170" fmla="*/ 184573 h 445127"/>
                <a:gd name="connsiteX171" fmla="*/ 418503 w 607639"/>
                <a:gd name="connsiteY171" fmla="*/ 195593 h 445127"/>
                <a:gd name="connsiteX172" fmla="*/ 410937 w 607639"/>
                <a:gd name="connsiteY172" fmla="*/ 184573 h 445127"/>
                <a:gd name="connsiteX173" fmla="*/ 352461 w 607639"/>
                <a:gd name="connsiteY173" fmla="*/ 65938 h 445127"/>
                <a:gd name="connsiteX174" fmla="*/ 418503 w 607639"/>
                <a:gd name="connsiteY174" fmla="*/ 0 h 445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607639" h="445127">
                  <a:moveTo>
                    <a:pt x="18602" y="396873"/>
                  </a:moveTo>
                  <a:lnTo>
                    <a:pt x="18602" y="426554"/>
                  </a:lnTo>
                  <a:lnTo>
                    <a:pt x="246278" y="426554"/>
                  </a:lnTo>
                  <a:lnTo>
                    <a:pt x="246278" y="396873"/>
                  </a:lnTo>
                  <a:close/>
                  <a:moveTo>
                    <a:pt x="181918" y="350005"/>
                  </a:moveTo>
                  <a:lnTo>
                    <a:pt x="201676" y="350005"/>
                  </a:lnTo>
                  <a:lnTo>
                    <a:pt x="201676" y="368564"/>
                  </a:lnTo>
                  <a:lnTo>
                    <a:pt x="181918" y="368564"/>
                  </a:lnTo>
                  <a:close/>
                  <a:moveTo>
                    <a:pt x="150939" y="350005"/>
                  </a:moveTo>
                  <a:lnTo>
                    <a:pt x="173308" y="350005"/>
                  </a:lnTo>
                  <a:lnTo>
                    <a:pt x="173308" y="368564"/>
                  </a:lnTo>
                  <a:lnTo>
                    <a:pt x="150939" y="368564"/>
                  </a:lnTo>
                  <a:close/>
                  <a:moveTo>
                    <a:pt x="123701" y="350005"/>
                  </a:moveTo>
                  <a:lnTo>
                    <a:pt x="144800" y="350005"/>
                  </a:lnTo>
                  <a:lnTo>
                    <a:pt x="144800" y="368564"/>
                  </a:lnTo>
                  <a:lnTo>
                    <a:pt x="123701" y="368564"/>
                  </a:lnTo>
                  <a:close/>
                  <a:moveTo>
                    <a:pt x="95334" y="350005"/>
                  </a:moveTo>
                  <a:lnTo>
                    <a:pt x="113822" y="350005"/>
                  </a:lnTo>
                  <a:lnTo>
                    <a:pt x="113822" y="368564"/>
                  </a:lnTo>
                  <a:lnTo>
                    <a:pt x="95334" y="368564"/>
                  </a:lnTo>
                  <a:close/>
                  <a:moveTo>
                    <a:pt x="68096" y="350005"/>
                  </a:moveTo>
                  <a:lnTo>
                    <a:pt x="85385" y="350005"/>
                  </a:lnTo>
                  <a:lnTo>
                    <a:pt x="85385" y="368564"/>
                  </a:lnTo>
                  <a:lnTo>
                    <a:pt x="68096" y="368564"/>
                  </a:lnTo>
                  <a:close/>
                  <a:moveTo>
                    <a:pt x="39587" y="350005"/>
                  </a:moveTo>
                  <a:lnTo>
                    <a:pt x="56946" y="350005"/>
                  </a:lnTo>
                  <a:lnTo>
                    <a:pt x="56946" y="368564"/>
                  </a:lnTo>
                  <a:lnTo>
                    <a:pt x="39587" y="368564"/>
                  </a:lnTo>
                  <a:close/>
                  <a:moveTo>
                    <a:pt x="181918" y="322766"/>
                  </a:moveTo>
                  <a:lnTo>
                    <a:pt x="201676" y="322766"/>
                  </a:lnTo>
                  <a:lnTo>
                    <a:pt x="201676" y="341325"/>
                  </a:lnTo>
                  <a:lnTo>
                    <a:pt x="181918" y="341325"/>
                  </a:lnTo>
                  <a:close/>
                  <a:moveTo>
                    <a:pt x="181918" y="294329"/>
                  </a:moveTo>
                  <a:lnTo>
                    <a:pt x="201676" y="294329"/>
                  </a:lnTo>
                  <a:lnTo>
                    <a:pt x="201676" y="312888"/>
                  </a:lnTo>
                  <a:lnTo>
                    <a:pt x="181918" y="312888"/>
                  </a:lnTo>
                  <a:close/>
                  <a:moveTo>
                    <a:pt x="181918" y="264762"/>
                  </a:moveTo>
                  <a:lnTo>
                    <a:pt x="201676" y="264762"/>
                  </a:lnTo>
                  <a:lnTo>
                    <a:pt x="201676" y="283250"/>
                  </a:lnTo>
                  <a:lnTo>
                    <a:pt x="181918" y="283250"/>
                  </a:lnTo>
                  <a:close/>
                  <a:moveTo>
                    <a:pt x="426958" y="262242"/>
                  </a:moveTo>
                  <a:lnTo>
                    <a:pt x="426958" y="426554"/>
                  </a:lnTo>
                  <a:lnTo>
                    <a:pt x="589037" y="426554"/>
                  </a:lnTo>
                  <a:lnTo>
                    <a:pt x="589037" y="262242"/>
                  </a:lnTo>
                  <a:close/>
                  <a:moveTo>
                    <a:pt x="238801" y="262242"/>
                  </a:moveTo>
                  <a:lnTo>
                    <a:pt x="238801" y="340088"/>
                  </a:lnTo>
                  <a:lnTo>
                    <a:pt x="303152" y="340088"/>
                  </a:lnTo>
                  <a:lnTo>
                    <a:pt x="303152" y="426554"/>
                  </a:lnTo>
                  <a:lnTo>
                    <a:pt x="369995" y="426554"/>
                  </a:lnTo>
                  <a:lnTo>
                    <a:pt x="369995" y="262242"/>
                  </a:lnTo>
                  <a:close/>
                  <a:moveTo>
                    <a:pt x="181918" y="235054"/>
                  </a:moveTo>
                  <a:lnTo>
                    <a:pt x="201676" y="235054"/>
                  </a:lnTo>
                  <a:lnTo>
                    <a:pt x="201676" y="253613"/>
                  </a:lnTo>
                  <a:lnTo>
                    <a:pt x="181918" y="253613"/>
                  </a:lnTo>
                  <a:close/>
                  <a:moveTo>
                    <a:pt x="408362" y="206616"/>
                  </a:moveTo>
                  <a:lnTo>
                    <a:pt x="426921" y="206616"/>
                  </a:lnTo>
                  <a:lnTo>
                    <a:pt x="426921" y="225175"/>
                  </a:lnTo>
                  <a:lnTo>
                    <a:pt x="408362" y="225175"/>
                  </a:lnTo>
                  <a:close/>
                  <a:moveTo>
                    <a:pt x="379854" y="206616"/>
                  </a:moveTo>
                  <a:lnTo>
                    <a:pt x="398483" y="206616"/>
                  </a:lnTo>
                  <a:lnTo>
                    <a:pt x="398483" y="225175"/>
                  </a:lnTo>
                  <a:lnTo>
                    <a:pt x="379854" y="225175"/>
                  </a:lnTo>
                  <a:close/>
                  <a:moveTo>
                    <a:pt x="352757" y="206616"/>
                  </a:moveTo>
                  <a:lnTo>
                    <a:pt x="369975" y="206616"/>
                  </a:lnTo>
                  <a:lnTo>
                    <a:pt x="369975" y="225175"/>
                  </a:lnTo>
                  <a:lnTo>
                    <a:pt x="352757" y="225175"/>
                  </a:lnTo>
                  <a:close/>
                  <a:moveTo>
                    <a:pt x="322978" y="206616"/>
                  </a:moveTo>
                  <a:lnTo>
                    <a:pt x="341537" y="206616"/>
                  </a:lnTo>
                  <a:lnTo>
                    <a:pt x="341537" y="225175"/>
                  </a:lnTo>
                  <a:lnTo>
                    <a:pt x="322978" y="225175"/>
                  </a:lnTo>
                  <a:close/>
                  <a:moveTo>
                    <a:pt x="294540" y="206616"/>
                  </a:moveTo>
                  <a:lnTo>
                    <a:pt x="315498" y="206616"/>
                  </a:lnTo>
                  <a:lnTo>
                    <a:pt x="315498" y="225175"/>
                  </a:lnTo>
                  <a:lnTo>
                    <a:pt x="294540" y="225175"/>
                  </a:lnTo>
                  <a:close/>
                  <a:moveTo>
                    <a:pt x="266032" y="206616"/>
                  </a:moveTo>
                  <a:lnTo>
                    <a:pt x="285861" y="206616"/>
                  </a:lnTo>
                  <a:lnTo>
                    <a:pt x="285861" y="225175"/>
                  </a:lnTo>
                  <a:lnTo>
                    <a:pt x="266032" y="225175"/>
                  </a:lnTo>
                  <a:close/>
                  <a:moveTo>
                    <a:pt x="238793" y="206616"/>
                  </a:moveTo>
                  <a:lnTo>
                    <a:pt x="257422" y="206616"/>
                  </a:lnTo>
                  <a:lnTo>
                    <a:pt x="257422" y="225175"/>
                  </a:lnTo>
                  <a:lnTo>
                    <a:pt x="238793" y="225175"/>
                  </a:lnTo>
                  <a:close/>
                  <a:moveTo>
                    <a:pt x="210426" y="206616"/>
                  </a:moveTo>
                  <a:lnTo>
                    <a:pt x="230184" y="206616"/>
                  </a:lnTo>
                  <a:lnTo>
                    <a:pt x="230184" y="225175"/>
                  </a:lnTo>
                  <a:lnTo>
                    <a:pt x="210426" y="225175"/>
                  </a:lnTo>
                  <a:close/>
                  <a:moveTo>
                    <a:pt x="181918" y="206616"/>
                  </a:moveTo>
                  <a:lnTo>
                    <a:pt x="201676" y="206616"/>
                  </a:lnTo>
                  <a:lnTo>
                    <a:pt x="201676" y="225175"/>
                  </a:lnTo>
                  <a:lnTo>
                    <a:pt x="181918" y="225175"/>
                  </a:lnTo>
                  <a:close/>
                  <a:moveTo>
                    <a:pt x="18602" y="188128"/>
                  </a:moveTo>
                  <a:lnTo>
                    <a:pt x="18602" y="322759"/>
                  </a:lnTo>
                  <a:lnTo>
                    <a:pt x="150953" y="322759"/>
                  </a:lnTo>
                  <a:lnTo>
                    <a:pt x="150953" y="188128"/>
                  </a:lnTo>
                  <a:close/>
                  <a:moveTo>
                    <a:pt x="408362" y="113893"/>
                  </a:moveTo>
                  <a:lnTo>
                    <a:pt x="426921" y="113893"/>
                  </a:lnTo>
                  <a:lnTo>
                    <a:pt x="426921" y="132522"/>
                  </a:lnTo>
                  <a:lnTo>
                    <a:pt x="408362" y="132522"/>
                  </a:lnTo>
                  <a:close/>
                  <a:moveTo>
                    <a:pt x="18602" y="85577"/>
                  </a:moveTo>
                  <a:lnTo>
                    <a:pt x="18602" y="142362"/>
                  </a:lnTo>
                  <a:lnTo>
                    <a:pt x="150953" y="142362"/>
                  </a:lnTo>
                  <a:lnTo>
                    <a:pt x="150953" y="85577"/>
                  </a:lnTo>
                  <a:close/>
                  <a:moveTo>
                    <a:pt x="408324" y="37400"/>
                  </a:moveTo>
                  <a:lnTo>
                    <a:pt x="426934" y="37400"/>
                  </a:lnTo>
                  <a:lnTo>
                    <a:pt x="426934" y="55882"/>
                  </a:lnTo>
                  <a:lnTo>
                    <a:pt x="444209" y="55882"/>
                  </a:lnTo>
                  <a:lnTo>
                    <a:pt x="444209" y="74453"/>
                  </a:lnTo>
                  <a:lnTo>
                    <a:pt x="426934" y="74453"/>
                  </a:lnTo>
                  <a:lnTo>
                    <a:pt x="426934" y="92935"/>
                  </a:lnTo>
                  <a:lnTo>
                    <a:pt x="408324" y="92935"/>
                  </a:lnTo>
                  <a:lnTo>
                    <a:pt x="408324" y="74453"/>
                  </a:lnTo>
                  <a:lnTo>
                    <a:pt x="389803" y="74453"/>
                  </a:lnTo>
                  <a:lnTo>
                    <a:pt x="389803" y="55882"/>
                  </a:lnTo>
                  <a:lnTo>
                    <a:pt x="408324" y="55882"/>
                  </a:lnTo>
                  <a:close/>
                  <a:moveTo>
                    <a:pt x="418503" y="18573"/>
                  </a:moveTo>
                  <a:cubicBezTo>
                    <a:pt x="392335" y="18573"/>
                    <a:pt x="371063" y="39812"/>
                    <a:pt x="371063" y="65938"/>
                  </a:cubicBezTo>
                  <a:cubicBezTo>
                    <a:pt x="371063" y="72336"/>
                    <a:pt x="374623" y="89043"/>
                    <a:pt x="398210" y="129655"/>
                  </a:cubicBezTo>
                  <a:cubicBezTo>
                    <a:pt x="405686" y="142540"/>
                    <a:pt x="413162" y="154359"/>
                    <a:pt x="418503" y="162535"/>
                  </a:cubicBezTo>
                  <a:cubicBezTo>
                    <a:pt x="423932" y="154359"/>
                    <a:pt x="431498" y="142451"/>
                    <a:pt x="438974" y="129566"/>
                  </a:cubicBezTo>
                  <a:cubicBezTo>
                    <a:pt x="462471" y="89043"/>
                    <a:pt x="466032" y="72336"/>
                    <a:pt x="466032" y="65938"/>
                  </a:cubicBezTo>
                  <a:cubicBezTo>
                    <a:pt x="466032" y="39812"/>
                    <a:pt x="444759" y="18573"/>
                    <a:pt x="418503" y="18573"/>
                  </a:cubicBezTo>
                  <a:close/>
                  <a:moveTo>
                    <a:pt x="418503" y="0"/>
                  </a:moveTo>
                  <a:cubicBezTo>
                    <a:pt x="454906" y="0"/>
                    <a:pt x="484545" y="29592"/>
                    <a:pt x="484545" y="65938"/>
                  </a:cubicBezTo>
                  <a:cubicBezTo>
                    <a:pt x="484545" y="86466"/>
                    <a:pt x="464519" y="123612"/>
                    <a:pt x="447875" y="151071"/>
                  </a:cubicBezTo>
                  <a:lnTo>
                    <a:pt x="462827" y="151071"/>
                  </a:lnTo>
                  <a:lnTo>
                    <a:pt x="462827" y="206612"/>
                  </a:lnTo>
                  <a:lnTo>
                    <a:pt x="589037" y="206612"/>
                  </a:lnTo>
                  <a:lnTo>
                    <a:pt x="589037" y="85577"/>
                  </a:lnTo>
                  <a:lnTo>
                    <a:pt x="496204" y="85577"/>
                  </a:lnTo>
                  <a:lnTo>
                    <a:pt x="496204" y="67004"/>
                  </a:lnTo>
                  <a:lnTo>
                    <a:pt x="607639" y="67004"/>
                  </a:lnTo>
                  <a:lnTo>
                    <a:pt x="607639" y="445127"/>
                  </a:lnTo>
                  <a:lnTo>
                    <a:pt x="0" y="445127"/>
                  </a:lnTo>
                  <a:lnTo>
                    <a:pt x="0" y="67004"/>
                  </a:lnTo>
                  <a:lnTo>
                    <a:pt x="341513" y="67004"/>
                  </a:lnTo>
                  <a:lnTo>
                    <a:pt x="341513" y="85577"/>
                  </a:lnTo>
                  <a:lnTo>
                    <a:pt x="201686" y="85577"/>
                  </a:lnTo>
                  <a:lnTo>
                    <a:pt x="201686" y="169555"/>
                  </a:lnTo>
                  <a:lnTo>
                    <a:pt x="360115" y="169555"/>
                  </a:lnTo>
                  <a:lnTo>
                    <a:pt x="360115" y="151071"/>
                  </a:lnTo>
                  <a:lnTo>
                    <a:pt x="378717" y="151071"/>
                  </a:lnTo>
                  <a:lnTo>
                    <a:pt x="378717" y="188128"/>
                  </a:lnTo>
                  <a:lnTo>
                    <a:pt x="183173" y="188128"/>
                  </a:lnTo>
                  <a:lnTo>
                    <a:pt x="183173" y="85577"/>
                  </a:lnTo>
                  <a:lnTo>
                    <a:pt x="169555" y="85577"/>
                  </a:lnTo>
                  <a:lnTo>
                    <a:pt x="169555" y="160935"/>
                  </a:lnTo>
                  <a:lnTo>
                    <a:pt x="18602" y="160935"/>
                  </a:lnTo>
                  <a:lnTo>
                    <a:pt x="18602" y="169555"/>
                  </a:lnTo>
                  <a:lnTo>
                    <a:pt x="169555" y="169555"/>
                  </a:lnTo>
                  <a:lnTo>
                    <a:pt x="169555" y="341332"/>
                  </a:lnTo>
                  <a:lnTo>
                    <a:pt x="18602" y="341332"/>
                  </a:lnTo>
                  <a:lnTo>
                    <a:pt x="18602" y="349952"/>
                  </a:lnTo>
                  <a:lnTo>
                    <a:pt x="30974" y="349952"/>
                  </a:lnTo>
                  <a:lnTo>
                    <a:pt x="30974" y="368525"/>
                  </a:lnTo>
                  <a:lnTo>
                    <a:pt x="18602" y="368525"/>
                  </a:lnTo>
                  <a:lnTo>
                    <a:pt x="18602" y="378389"/>
                  </a:lnTo>
                  <a:lnTo>
                    <a:pt x="264791" y="378389"/>
                  </a:lnTo>
                  <a:lnTo>
                    <a:pt x="264791" y="426554"/>
                  </a:lnTo>
                  <a:lnTo>
                    <a:pt x="284639" y="426554"/>
                  </a:lnTo>
                  <a:lnTo>
                    <a:pt x="284639" y="358572"/>
                  </a:lnTo>
                  <a:lnTo>
                    <a:pt x="220288" y="358572"/>
                  </a:lnTo>
                  <a:lnTo>
                    <a:pt x="220288" y="243669"/>
                  </a:lnTo>
                  <a:lnTo>
                    <a:pt x="388597" y="243669"/>
                  </a:lnTo>
                  <a:lnTo>
                    <a:pt x="388597" y="426554"/>
                  </a:lnTo>
                  <a:lnTo>
                    <a:pt x="408356" y="426554"/>
                  </a:lnTo>
                  <a:lnTo>
                    <a:pt x="408356" y="243669"/>
                  </a:lnTo>
                  <a:lnTo>
                    <a:pt x="589037" y="243669"/>
                  </a:lnTo>
                  <a:lnTo>
                    <a:pt x="589037" y="225185"/>
                  </a:lnTo>
                  <a:lnTo>
                    <a:pt x="444225" y="225185"/>
                  </a:lnTo>
                  <a:lnTo>
                    <a:pt x="444225" y="156847"/>
                  </a:lnTo>
                  <a:cubicBezTo>
                    <a:pt x="435503" y="170977"/>
                    <a:pt x="428204" y="181641"/>
                    <a:pt x="426157" y="184573"/>
                  </a:cubicBezTo>
                  <a:lnTo>
                    <a:pt x="418503" y="195593"/>
                  </a:lnTo>
                  <a:lnTo>
                    <a:pt x="410937" y="184573"/>
                  </a:lnTo>
                  <a:cubicBezTo>
                    <a:pt x="404885" y="175865"/>
                    <a:pt x="352461" y="99174"/>
                    <a:pt x="352461" y="65938"/>
                  </a:cubicBezTo>
                  <a:cubicBezTo>
                    <a:pt x="352461" y="29592"/>
                    <a:pt x="382100" y="0"/>
                    <a:pt x="41850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01" name="aBJeFSBwWMIbTFq圆角矩形 54"/>
            <p:cNvSpPr/>
            <p:nvPr>
              <p:custDataLst>
                <p:tags r:id="rId6"/>
              </p:custDataLst>
            </p:nvPr>
          </p:nvSpPr>
          <p:spPr>
            <a:xfrm>
              <a:off x="15553" y="5068"/>
              <a:ext cx="588" cy="2399"/>
            </a:xfrm>
            <a:prstGeom prst="roundRect">
              <a:avLst/>
            </a:prstGeom>
            <a:solidFill>
              <a:srgbClr val="E1F3F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21590" rIns="1778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04" name="aBJeFSBwWMIbTFq圆角矩形 54"/>
            <p:cNvSpPr/>
            <p:nvPr>
              <p:custDataLst>
                <p:tags r:id="rId7"/>
              </p:custDataLst>
            </p:nvPr>
          </p:nvSpPr>
          <p:spPr>
            <a:xfrm>
              <a:off x="16596" y="5068"/>
              <a:ext cx="588" cy="2399"/>
            </a:xfrm>
            <a:prstGeom prst="roundRect">
              <a:avLst/>
            </a:prstGeom>
            <a:solidFill>
              <a:srgbClr val="E1F3F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21590" rIns="1778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07" name="aBJeFSBwWMIbTFq圆角矩形 54"/>
            <p:cNvSpPr/>
            <p:nvPr>
              <p:custDataLst>
                <p:tags r:id="rId8"/>
              </p:custDataLst>
            </p:nvPr>
          </p:nvSpPr>
          <p:spPr>
            <a:xfrm>
              <a:off x="17638" y="5068"/>
              <a:ext cx="588" cy="2399"/>
            </a:xfrm>
            <a:prstGeom prst="roundRect">
              <a:avLst/>
            </a:prstGeom>
            <a:solidFill>
              <a:srgbClr val="E1F3F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21590" rIns="1778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mn-ea"/>
              </a:endParaRPr>
            </a:p>
          </p:txBody>
        </p:sp>
        <p:pic>
          <p:nvPicPr>
            <p:cNvPr id="123" name="图片 47" descr="四个方向箭头"/>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747" y="5277"/>
              <a:ext cx="190" cy="350"/>
            </a:xfrm>
            <a:prstGeom prst="rect">
              <a:avLst/>
            </a:prstGeom>
          </p:spPr>
        </p:pic>
        <p:pic>
          <p:nvPicPr>
            <p:cNvPr id="124" name="图片 45" descr="目标"/>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792" y="5277"/>
              <a:ext cx="190" cy="350"/>
            </a:xfrm>
            <a:prstGeom prst="rect">
              <a:avLst/>
            </a:prstGeom>
          </p:spPr>
        </p:pic>
        <p:pic>
          <p:nvPicPr>
            <p:cNvPr id="125" name="图片 49" descr="任务"/>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7838" y="5277"/>
              <a:ext cx="190" cy="350"/>
            </a:xfrm>
            <a:prstGeom prst="rect">
              <a:avLst/>
            </a:prstGeom>
          </p:spPr>
        </p:pic>
        <p:sp>
          <p:nvSpPr>
            <p:cNvPr id="126" name="文本框 125"/>
            <p:cNvSpPr txBox="1"/>
            <p:nvPr/>
          </p:nvSpPr>
          <p:spPr>
            <a:xfrm>
              <a:off x="14485" y="5617"/>
              <a:ext cx="578" cy="1717"/>
            </a:xfrm>
            <a:prstGeom prst="rect">
              <a:avLst/>
            </a:prstGeom>
            <a:noFill/>
          </p:spPr>
          <p:txBody>
            <a:bodyPr vert="eaVert" wrap="square" rtlCol="0">
              <a:spAutoFit/>
            </a:bodyPr>
            <a:lstStyle/>
            <a:p>
              <a:pPr algn="ctr"/>
              <a:r>
                <a:rPr kumimoji="1" lang="en-US"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总体规划图</a:t>
              </a:r>
              <a:endParaRPr kumimoji="1" lang="en-US" altLang="en-US"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12" name="文本框 211"/>
            <p:cNvSpPr txBox="1"/>
            <p:nvPr/>
          </p:nvSpPr>
          <p:spPr>
            <a:xfrm>
              <a:off x="15527" y="5617"/>
              <a:ext cx="578" cy="1717"/>
            </a:xfrm>
            <a:prstGeom prst="rect">
              <a:avLst/>
            </a:prstGeom>
            <a:noFill/>
          </p:spPr>
          <p:txBody>
            <a:bodyPr vert="eaVert" wrap="square" rtlCol="0">
              <a:spAutoFit/>
            </a:bodyPr>
            <a:lstStyle/>
            <a:p>
              <a:pPr algn="ctr"/>
              <a:r>
                <a:rPr kumimoji="1" lang="en-US" altLang="en-US" sz="1200" b="1" dirty="0">
                  <a:solidFill>
                    <a:schemeClr val="tx1">
                      <a:lumMod val="75000"/>
                      <a:lumOff val="25000"/>
                    </a:schemeClr>
                  </a:solidFill>
                  <a:latin typeface="微软雅黑" panose="020B0503020204020204" pitchFamily="34" charset="-122"/>
                  <a:ea typeface="微软雅黑" panose="020B0503020204020204" pitchFamily="34" charset="-122"/>
                </a:rPr>
                <a:t>落地路线图</a:t>
              </a:r>
              <a:endParaRPr kumimoji="1" lang="en-US" altLang="en-US"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13" name="文本框 212"/>
            <p:cNvSpPr txBox="1"/>
            <p:nvPr/>
          </p:nvSpPr>
          <p:spPr>
            <a:xfrm>
              <a:off x="16569" y="5617"/>
              <a:ext cx="578" cy="1717"/>
            </a:xfrm>
            <a:prstGeom prst="rect">
              <a:avLst/>
            </a:prstGeom>
            <a:noFill/>
          </p:spPr>
          <p:txBody>
            <a:bodyPr vert="eaVert" wrap="square" rtlCol="0">
              <a:spAutoFit/>
            </a:bodyPr>
            <a:lstStyle/>
            <a:p>
              <a:pPr algn="ctr"/>
              <a:r>
                <a:rPr kumimoji="1" lang="en-US"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实施工程图</a:t>
              </a:r>
              <a:endParaRPr kumimoji="1" lang="en-US" altLang="en-US"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14" name="文本框 213"/>
            <p:cNvSpPr txBox="1"/>
            <p:nvPr/>
          </p:nvSpPr>
          <p:spPr>
            <a:xfrm>
              <a:off x="17655" y="5617"/>
              <a:ext cx="578" cy="1717"/>
            </a:xfrm>
            <a:prstGeom prst="rect">
              <a:avLst/>
            </a:prstGeom>
            <a:noFill/>
          </p:spPr>
          <p:txBody>
            <a:bodyPr vert="eaVert" wrap="square" rtlCol="0">
              <a:spAutoFit/>
            </a:bodyPr>
            <a:lstStyle/>
            <a:p>
              <a:pPr algn="ctr"/>
              <a:r>
                <a:rPr kumimoji="1" lang="en-US" altLang="en-US" sz="1200" b="1" dirty="0">
                  <a:solidFill>
                    <a:schemeClr val="tx1">
                      <a:lumMod val="75000"/>
                      <a:lumOff val="25000"/>
                    </a:schemeClr>
                  </a:solidFill>
                  <a:latin typeface="微软雅黑" panose="020B0503020204020204" pitchFamily="34" charset="-122"/>
                  <a:ea typeface="微软雅黑" panose="020B0503020204020204" pitchFamily="34" charset="-122"/>
                </a:rPr>
                <a:t>里程碑</a:t>
              </a:r>
              <a:endParaRPr kumimoji="1" lang="en-US" altLang="en-US"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15" name="任意多边形: 形状 120"/>
            <p:cNvSpPr/>
            <p:nvPr>
              <p:custDataLst>
                <p:tags r:id="rId15"/>
              </p:custDataLst>
            </p:nvPr>
          </p:nvSpPr>
          <p:spPr bwMode="auto">
            <a:xfrm flipV="1">
              <a:off x="15182" y="5619"/>
              <a:ext cx="305" cy="128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62000"/>
                  </a:schemeClr>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思源黑体 CN Normal" panose="020B0600000000000000" charset="-122"/>
                <a:sym typeface="+mn-ea"/>
              </a:endParaRPr>
            </a:p>
          </p:txBody>
        </p:sp>
        <p:sp>
          <p:nvSpPr>
            <p:cNvPr id="216" name="任意多边形: 形状 120"/>
            <p:cNvSpPr/>
            <p:nvPr>
              <p:custDataLst>
                <p:tags r:id="rId16"/>
              </p:custDataLst>
            </p:nvPr>
          </p:nvSpPr>
          <p:spPr bwMode="auto">
            <a:xfrm flipV="1">
              <a:off x="16242" y="5619"/>
              <a:ext cx="305" cy="128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62000"/>
                  </a:schemeClr>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思源黑体 CN Normal" panose="020B0600000000000000" charset="-122"/>
                <a:sym typeface="+mn-ea"/>
              </a:endParaRPr>
            </a:p>
          </p:txBody>
        </p:sp>
        <p:sp>
          <p:nvSpPr>
            <p:cNvPr id="217" name="任意多边形: 形状 120"/>
            <p:cNvSpPr/>
            <p:nvPr>
              <p:custDataLst>
                <p:tags r:id="rId17"/>
              </p:custDataLst>
            </p:nvPr>
          </p:nvSpPr>
          <p:spPr bwMode="auto">
            <a:xfrm flipV="1">
              <a:off x="17302" y="5619"/>
              <a:ext cx="305" cy="128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62000"/>
                  </a:schemeClr>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思源黑体 CN Normal" panose="020B0600000000000000" charset="-122"/>
                <a:sym typeface="+mn-ea"/>
              </a:endParaRPr>
            </a:p>
          </p:txBody>
        </p:sp>
        <p:sp>
          <p:nvSpPr>
            <p:cNvPr id="222" name="文本框 221"/>
            <p:cNvSpPr txBox="1"/>
            <p:nvPr/>
          </p:nvSpPr>
          <p:spPr>
            <a:xfrm>
              <a:off x="14990" y="5650"/>
              <a:ext cx="404" cy="11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路径解析</a:t>
              </a:r>
              <a:endPar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23" name="文本框 222"/>
            <p:cNvSpPr txBox="1"/>
            <p:nvPr/>
          </p:nvSpPr>
          <p:spPr>
            <a:xfrm>
              <a:off x="16028" y="5650"/>
              <a:ext cx="404" cy="11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举措分解</a:t>
              </a:r>
              <a:endParaRPr kumimoji="1" lang="en-US"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24" name="文本框 223"/>
            <p:cNvSpPr txBox="1"/>
            <p:nvPr/>
          </p:nvSpPr>
          <p:spPr>
            <a:xfrm>
              <a:off x="17068" y="5650"/>
              <a:ext cx="404" cy="11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进度计划</a:t>
              </a:r>
              <a:endParaRPr kumimoji="1" lang="en-US"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
        <p:nvSpPr>
          <p:cNvPr id="127" name="矩形 126"/>
          <p:cNvSpPr/>
          <p:nvPr>
            <p:custDataLst>
              <p:tags r:id="rId18"/>
            </p:custDataLst>
          </p:nvPr>
        </p:nvSpPr>
        <p:spPr>
          <a:xfrm>
            <a:off x="9107805" y="5415915"/>
            <a:ext cx="2607945" cy="1033145"/>
          </a:xfrm>
          <a:prstGeom prst="rect">
            <a:avLst/>
          </a:prstGeom>
          <a:solidFill>
            <a:srgbClr val="FFFFFF"/>
          </a:solidFill>
          <a:ln w="15875">
            <a:solidFill>
              <a:schemeClr val="accent1">
                <a:lumMod val="20000"/>
                <a:lumOff val="80000"/>
              </a:schemeClr>
            </a:solidFill>
          </a:ln>
          <a:effectLst>
            <a:outerShdw blurRad="165100" dist="76200" dir="5400000" algn="t" rotWithShape="0">
              <a:srgbClr val="1C66C4">
                <a:alpha val="40000"/>
              </a:srgbClr>
            </a:outerShdw>
          </a:effectLst>
        </p:spPr>
        <p:style>
          <a:lnRef idx="2">
            <a:srgbClr val="1C66C4">
              <a:shade val="50000"/>
            </a:srgbClr>
          </a:lnRef>
          <a:fillRef idx="1">
            <a:srgbClr val="1C66C4"/>
          </a:fillRef>
          <a:effectRef idx="0">
            <a:srgbClr val="1C66C4"/>
          </a:effectRef>
          <a:fontRef idx="minor">
            <a:srgbClr val="FFFFFF"/>
          </a:fontRef>
        </p:style>
        <p:txBody>
          <a:bodyPr vertOverflow="overflow" horzOverflow="overflow" vert="horz" wrap="non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思源黑体 CN Normal" panose="020B0600000000000000" charset="-122"/>
              <a:sym typeface="+mn-ea"/>
            </a:endParaRPr>
          </a:p>
        </p:txBody>
      </p:sp>
      <p:grpSp>
        <p:nvGrpSpPr>
          <p:cNvPr id="128" name="组合 127"/>
          <p:cNvGrpSpPr/>
          <p:nvPr/>
        </p:nvGrpSpPr>
        <p:grpSpPr>
          <a:xfrm rot="0">
            <a:off x="9449435" y="5522595"/>
            <a:ext cx="2124710" cy="796505"/>
            <a:chOff x="1905" y="8367"/>
            <a:chExt cx="3453" cy="1895"/>
          </a:xfrm>
        </p:grpSpPr>
        <p:grpSp>
          <p:nvGrpSpPr>
            <p:cNvPr id="129" name="组合 128"/>
            <p:cNvGrpSpPr/>
            <p:nvPr/>
          </p:nvGrpSpPr>
          <p:grpSpPr>
            <a:xfrm>
              <a:off x="1905" y="8367"/>
              <a:ext cx="3451" cy="1735"/>
              <a:chOff x="2459" y="8367"/>
              <a:chExt cx="2291" cy="1735"/>
            </a:xfrm>
          </p:grpSpPr>
          <p:sp>
            <p:nvSpPr>
              <p:cNvPr id="236" name="aBJeFSBwWMIbTFq圆角矩形 54"/>
              <p:cNvSpPr/>
              <p:nvPr>
                <p:custDataLst>
                  <p:tags r:id="rId19"/>
                </p:custDataLst>
              </p:nvPr>
            </p:nvSpPr>
            <p:spPr>
              <a:xfrm>
                <a:off x="2459" y="8367"/>
                <a:ext cx="826" cy="1705"/>
              </a:xfrm>
              <a:prstGeom prst="roundRect">
                <a:avLst/>
              </a:prstGeom>
              <a:solidFill>
                <a:srgbClr val="E1F3F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21590" rIns="1778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38" name="aBJeFSBwWMIbTFq圆角矩形 54"/>
              <p:cNvSpPr/>
              <p:nvPr>
                <p:custDataLst>
                  <p:tags r:id="rId20"/>
                </p:custDataLst>
              </p:nvPr>
            </p:nvSpPr>
            <p:spPr>
              <a:xfrm>
                <a:off x="3924" y="8367"/>
                <a:ext cx="826" cy="1706"/>
              </a:xfrm>
              <a:prstGeom prst="roundRect">
                <a:avLst/>
              </a:prstGeom>
              <a:solidFill>
                <a:srgbClr val="E1F3F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21590" rIns="1778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42" name="任意多边形: 形状 120"/>
              <p:cNvSpPr/>
              <p:nvPr>
                <p:custDataLst>
                  <p:tags r:id="rId21"/>
                </p:custDataLst>
              </p:nvPr>
            </p:nvSpPr>
            <p:spPr bwMode="auto">
              <a:xfrm flipV="1">
                <a:off x="3403" y="8807"/>
                <a:ext cx="429" cy="1031"/>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62000"/>
                    </a:schemeClr>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思源黑体 CN Normal" panose="020B0600000000000000" charset="-122"/>
                  <a:sym typeface="+mn-ea"/>
                </a:endParaRPr>
              </a:p>
            </p:txBody>
          </p:sp>
          <p:sp>
            <p:nvSpPr>
              <p:cNvPr id="243" name="文本框 242"/>
              <p:cNvSpPr txBox="1"/>
              <p:nvPr/>
            </p:nvSpPr>
            <p:spPr>
              <a:xfrm>
                <a:off x="3413" y="8421"/>
                <a:ext cx="376" cy="16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执行考核</a:t>
                </a:r>
                <a:endParaRPr kumimoji="1" lang="en-US"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1" name="seo-monitoring_69070"/>
              <p:cNvSpPr/>
              <p:nvPr>
                <p:custDataLst>
                  <p:tags r:id="rId22"/>
                </p:custDataLst>
              </p:nvPr>
            </p:nvSpPr>
            <p:spPr>
              <a:xfrm>
                <a:off x="4227" y="8694"/>
                <a:ext cx="214" cy="303"/>
              </a:xfrm>
              <a:custGeom>
                <a:avLst/>
                <a:gdLst>
                  <a:gd name="connsiteX0" fmla="*/ 321806 w 606375"/>
                  <a:gd name="connsiteY0" fmla="*/ 326012 h 607145"/>
                  <a:gd name="connsiteX1" fmla="*/ 596994 w 606375"/>
                  <a:gd name="connsiteY1" fmla="*/ 326012 h 607145"/>
                  <a:gd name="connsiteX2" fmla="*/ 603999 w 606375"/>
                  <a:gd name="connsiteY2" fmla="*/ 329080 h 607145"/>
                  <a:gd name="connsiteX3" fmla="*/ 606334 w 606375"/>
                  <a:gd name="connsiteY3" fmla="*/ 336320 h 607145"/>
                  <a:gd name="connsiteX4" fmla="*/ 507641 w 606375"/>
                  <a:gd name="connsiteY4" fmla="*/ 529714 h 607145"/>
                  <a:gd name="connsiteX5" fmla="*/ 304107 w 606375"/>
                  <a:gd name="connsiteY5" fmla="*/ 607145 h 607145"/>
                  <a:gd name="connsiteX6" fmla="*/ 173581 w 606375"/>
                  <a:gd name="connsiteY6" fmla="*/ 577817 h 607145"/>
                  <a:gd name="connsiteX7" fmla="*/ 168665 w 606375"/>
                  <a:gd name="connsiteY7" fmla="*/ 572049 h 607145"/>
                  <a:gd name="connsiteX8" fmla="*/ 169648 w 606375"/>
                  <a:gd name="connsiteY8" fmla="*/ 564564 h 607145"/>
                  <a:gd name="connsiteX9" fmla="*/ 313817 w 606375"/>
                  <a:gd name="connsiteY9" fmla="*/ 330430 h 607145"/>
                  <a:gd name="connsiteX10" fmla="*/ 321806 w 606375"/>
                  <a:gd name="connsiteY10" fmla="*/ 326012 h 607145"/>
                  <a:gd name="connsiteX11" fmla="*/ 541564 w 606375"/>
                  <a:gd name="connsiteY11" fmla="*/ 209521 h 607145"/>
                  <a:gd name="connsiteX12" fmla="*/ 525586 w 606375"/>
                  <a:gd name="connsiteY12" fmla="*/ 232842 h 607145"/>
                  <a:gd name="connsiteX13" fmla="*/ 549553 w 606375"/>
                  <a:gd name="connsiteY13" fmla="*/ 232842 h 607145"/>
                  <a:gd name="connsiteX14" fmla="*/ 541564 w 606375"/>
                  <a:gd name="connsiteY14" fmla="*/ 209521 h 607145"/>
                  <a:gd name="connsiteX15" fmla="*/ 80256 w 606375"/>
                  <a:gd name="connsiteY15" fmla="*/ 180283 h 607145"/>
                  <a:gd name="connsiteX16" fmla="*/ 64033 w 606375"/>
                  <a:gd name="connsiteY16" fmla="*/ 215631 h 607145"/>
                  <a:gd name="connsiteX17" fmla="*/ 48424 w 606375"/>
                  <a:gd name="connsiteY17" fmla="*/ 303631 h 607145"/>
                  <a:gd name="connsiteX18" fmla="*/ 76200 w 606375"/>
                  <a:gd name="connsiteY18" fmla="*/ 419247 h 607145"/>
                  <a:gd name="connsiteX19" fmla="*/ 115038 w 606375"/>
                  <a:gd name="connsiteY19" fmla="*/ 475337 h 607145"/>
                  <a:gd name="connsiteX20" fmla="*/ 214345 w 606375"/>
                  <a:gd name="connsiteY20" fmla="*/ 314064 h 607145"/>
                  <a:gd name="connsiteX21" fmla="*/ 512558 w 606375"/>
                  <a:gd name="connsiteY21" fmla="*/ 156006 h 607145"/>
                  <a:gd name="connsiteX22" fmla="*/ 461430 w 606375"/>
                  <a:gd name="connsiteY22" fmla="*/ 232842 h 607145"/>
                  <a:gd name="connsiteX23" fmla="*/ 480357 w 606375"/>
                  <a:gd name="connsiteY23" fmla="*/ 232842 h 607145"/>
                  <a:gd name="connsiteX24" fmla="*/ 522636 w 606375"/>
                  <a:gd name="connsiteY24" fmla="*/ 171348 h 607145"/>
                  <a:gd name="connsiteX25" fmla="*/ 512558 w 606375"/>
                  <a:gd name="connsiteY25" fmla="*/ 156006 h 607145"/>
                  <a:gd name="connsiteX26" fmla="*/ 73865 w 606375"/>
                  <a:gd name="connsiteY26" fmla="*/ 109833 h 607145"/>
                  <a:gd name="connsiteX27" fmla="*/ 80994 w 606375"/>
                  <a:gd name="connsiteY27" fmla="*/ 112534 h 607145"/>
                  <a:gd name="connsiteX28" fmla="*/ 270512 w 606375"/>
                  <a:gd name="connsiteY28" fmla="*/ 301667 h 607145"/>
                  <a:gd name="connsiteX29" fmla="*/ 271864 w 606375"/>
                  <a:gd name="connsiteY29" fmla="*/ 313205 h 607145"/>
                  <a:gd name="connsiteX30" fmla="*/ 131507 w 606375"/>
                  <a:gd name="connsiteY30" fmla="*/ 541123 h 607145"/>
                  <a:gd name="connsiteX31" fmla="*/ 125239 w 606375"/>
                  <a:gd name="connsiteY31" fmla="*/ 545418 h 607145"/>
                  <a:gd name="connsiteX32" fmla="*/ 123518 w 606375"/>
                  <a:gd name="connsiteY32" fmla="*/ 545541 h 607145"/>
                  <a:gd name="connsiteX33" fmla="*/ 117742 w 606375"/>
                  <a:gd name="connsiteY33" fmla="*/ 543577 h 607145"/>
                  <a:gd name="connsiteX34" fmla="*/ 0 w 606375"/>
                  <a:gd name="connsiteY34" fmla="*/ 303631 h 607145"/>
                  <a:gd name="connsiteX35" fmla="*/ 67105 w 606375"/>
                  <a:gd name="connsiteY35" fmla="*/ 113270 h 607145"/>
                  <a:gd name="connsiteX36" fmla="*/ 73865 w 606375"/>
                  <a:gd name="connsiteY36" fmla="*/ 109833 h 607145"/>
                  <a:gd name="connsiteX37" fmla="*/ 468927 w 606375"/>
                  <a:gd name="connsiteY37" fmla="*/ 108627 h 607145"/>
                  <a:gd name="connsiteX38" fmla="*/ 386335 w 606375"/>
                  <a:gd name="connsiteY38" fmla="*/ 232842 h 607145"/>
                  <a:gd name="connsiteX39" fmla="*/ 416693 w 606375"/>
                  <a:gd name="connsiteY39" fmla="*/ 232842 h 607145"/>
                  <a:gd name="connsiteX40" fmla="*/ 487609 w 606375"/>
                  <a:gd name="connsiteY40" fmla="*/ 126179 h 607145"/>
                  <a:gd name="connsiteX41" fmla="*/ 476547 w 606375"/>
                  <a:gd name="connsiteY41" fmla="*/ 115378 h 607145"/>
                  <a:gd name="connsiteX42" fmla="*/ 468927 w 606375"/>
                  <a:gd name="connsiteY42" fmla="*/ 108627 h 607145"/>
                  <a:gd name="connsiteX43" fmla="*/ 415832 w 606375"/>
                  <a:gd name="connsiteY43" fmla="*/ 74136 h 607145"/>
                  <a:gd name="connsiteX44" fmla="*/ 319475 w 606375"/>
                  <a:gd name="connsiteY44" fmla="*/ 218973 h 607145"/>
                  <a:gd name="connsiteX45" fmla="*/ 333364 w 606375"/>
                  <a:gd name="connsiteY45" fmla="*/ 232842 h 607145"/>
                  <a:gd name="connsiteX46" fmla="*/ 341475 w 606375"/>
                  <a:gd name="connsiteY46" fmla="*/ 232842 h 607145"/>
                  <a:gd name="connsiteX47" fmla="*/ 438693 w 606375"/>
                  <a:gd name="connsiteY47" fmla="*/ 86779 h 607145"/>
                  <a:gd name="connsiteX48" fmla="*/ 415832 w 606375"/>
                  <a:gd name="connsiteY48" fmla="*/ 74136 h 607145"/>
                  <a:gd name="connsiteX49" fmla="*/ 223487 w 606375"/>
                  <a:gd name="connsiteY49" fmla="*/ 61371 h 607145"/>
                  <a:gd name="connsiteX50" fmla="*/ 215990 w 606375"/>
                  <a:gd name="connsiteY50" fmla="*/ 63949 h 607145"/>
                  <a:gd name="connsiteX51" fmla="*/ 180593 w 606375"/>
                  <a:gd name="connsiteY51" fmla="*/ 80151 h 607145"/>
                  <a:gd name="connsiteX52" fmla="*/ 198046 w 606375"/>
                  <a:gd name="connsiteY52" fmla="*/ 97703 h 607145"/>
                  <a:gd name="connsiteX53" fmla="*/ 353151 w 606375"/>
                  <a:gd name="connsiteY53" fmla="*/ 53147 h 607145"/>
                  <a:gd name="connsiteX54" fmla="*/ 272895 w 606375"/>
                  <a:gd name="connsiteY54" fmla="*/ 172330 h 607145"/>
                  <a:gd name="connsiteX55" fmla="*/ 292559 w 606375"/>
                  <a:gd name="connsiteY55" fmla="*/ 192092 h 607145"/>
                  <a:gd name="connsiteX56" fmla="*/ 380436 w 606375"/>
                  <a:gd name="connsiteY56" fmla="*/ 60021 h 607145"/>
                  <a:gd name="connsiteX57" fmla="*/ 353151 w 606375"/>
                  <a:gd name="connsiteY57" fmla="*/ 53147 h 607145"/>
                  <a:gd name="connsiteX58" fmla="*/ 304112 w 606375"/>
                  <a:gd name="connsiteY58" fmla="*/ 48483 h 607145"/>
                  <a:gd name="connsiteX59" fmla="*/ 277196 w 606375"/>
                  <a:gd name="connsiteY59" fmla="*/ 49833 h 607145"/>
                  <a:gd name="connsiteX60" fmla="*/ 224839 w 606375"/>
                  <a:gd name="connsiteY60" fmla="*/ 124461 h 607145"/>
                  <a:gd name="connsiteX61" fmla="*/ 245978 w 606375"/>
                  <a:gd name="connsiteY61" fmla="*/ 145573 h 607145"/>
                  <a:gd name="connsiteX62" fmla="*/ 311364 w 606375"/>
                  <a:gd name="connsiteY62" fmla="*/ 48483 h 607145"/>
                  <a:gd name="connsiteX63" fmla="*/ 304112 w 606375"/>
                  <a:gd name="connsiteY63" fmla="*/ 48483 h 607145"/>
                  <a:gd name="connsiteX64" fmla="*/ 304112 w 606375"/>
                  <a:gd name="connsiteY64" fmla="*/ 0 h 607145"/>
                  <a:gd name="connsiteX65" fmla="*/ 507642 w 606375"/>
                  <a:gd name="connsiteY65" fmla="*/ 77451 h 607145"/>
                  <a:gd name="connsiteX66" fmla="*/ 606334 w 606375"/>
                  <a:gd name="connsiteY66" fmla="*/ 271015 h 607145"/>
                  <a:gd name="connsiteX67" fmla="*/ 603999 w 606375"/>
                  <a:gd name="connsiteY67" fmla="*/ 278134 h 607145"/>
                  <a:gd name="connsiteX68" fmla="*/ 596994 w 606375"/>
                  <a:gd name="connsiteY68" fmla="*/ 281203 h 607145"/>
                  <a:gd name="connsiteX69" fmla="*/ 317140 w 606375"/>
                  <a:gd name="connsiteY69" fmla="*/ 281203 h 607145"/>
                  <a:gd name="connsiteX70" fmla="*/ 310626 w 606375"/>
                  <a:gd name="connsiteY70" fmla="*/ 278503 h 607145"/>
                  <a:gd name="connsiteX71" fmla="*/ 112749 w 606375"/>
                  <a:gd name="connsiteY71" fmla="*/ 80887 h 607145"/>
                  <a:gd name="connsiteX72" fmla="*/ 110046 w 606375"/>
                  <a:gd name="connsiteY72" fmla="*/ 73768 h 607145"/>
                  <a:gd name="connsiteX73" fmla="*/ 113487 w 606375"/>
                  <a:gd name="connsiteY73" fmla="*/ 67017 h 607145"/>
                  <a:gd name="connsiteX74" fmla="*/ 304112 w 606375"/>
                  <a:gd name="connsiteY74" fmla="*/ 0 h 60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6375" h="607145">
                    <a:moveTo>
                      <a:pt x="321806" y="326012"/>
                    </a:moveTo>
                    <a:lnTo>
                      <a:pt x="596994" y="326012"/>
                    </a:lnTo>
                    <a:cubicBezTo>
                      <a:pt x="599697" y="326012"/>
                      <a:pt x="602156" y="327116"/>
                      <a:pt x="603999" y="329080"/>
                    </a:cubicBezTo>
                    <a:cubicBezTo>
                      <a:pt x="605720" y="331043"/>
                      <a:pt x="606580" y="333620"/>
                      <a:pt x="606334" y="336320"/>
                    </a:cubicBezTo>
                    <a:cubicBezTo>
                      <a:pt x="598346" y="411174"/>
                      <a:pt x="563317" y="479893"/>
                      <a:pt x="507641" y="529714"/>
                    </a:cubicBezTo>
                    <a:cubicBezTo>
                      <a:pt x="451964" y="579658"/>
                      <a:pt x="379695" y="607145"/>
                      <a:pt x="304107" y="607145"/>
                    </a:cubicBezTo>
                    <a:cubicBezTo>
                      <a:pt x="258386" y="607145"/>
                      <a:pt x="214509" y="597328"/>
                      <a:pt x="173581" y="577817"/>
                    </a:cubicBezTo>
                    <a:cubicBezTo>
                      <a:pt x="171123" y="576712"/>
                      <a:pt x="169402" y="574626"/>
                      <a:pt x="168665" y="572049"/>
                    </a:cubicBezTo>
                    <a:cubicBezTo>
                      <a:pt x="167804" y="569595"/>
                      <a:pt x="168173" y="566773"/>
                      <a:pt x="169648" y="564564"/>
                    </a:cubicBezTo>
                    <a:lnTo>
                      <a:pt x="313817" y="330430"/>
                    </a:lnTo>
                    <a:cubicBezTo>
                      <a:pt x="315538" y="327607"/>
                      <a:pt x="318488" y="326012"/>
                      <a:pt x="321806" y="326012"/>
                    </a:cubicBezTo>
                    <a:close/>
                    <a:moveTo>
                      <a:pt x="541564" y="209521"/>
                    </a:moveTo>
                    <a:lnTo>
                      <a:pt x="525586" y="232842"/>
                    </a:lnTo>
                    <a:lnTo>
                      <a:pt x="549553" y="232842"/>
                    </a:lnTo>
                    <a:cubicBezTo>
                      <a:pt x="547340" y="224987"/>
                      <a:pt x="544636" y="217131"/>
                      <a:pt x="541564" y="209521"/>
                    </a:cubicBezTo>
                    <a:close/>
                    <a:moveTo>
                      <a:pt x="80256" y="180283"/>
                    </a:moveTo>
                    <a:cubicBezTo>
                      <a:pt x="73988" y="191575"/>
                      <a:pt x="68580" y="203480"/>
                      <a:pt x="64033" y="215631"/>
                    </a:cubicBezTo>
                    <a:cubicBezTo>
                      <a:pt x="53709" y="243737"/>
                      <a:pt x="48424" y="273316"/>
                      <a:pt x="48424" y="303631"/>
                    </a:cubicBezTo>
                    <a:cubicBezTo>
                      <a:pt x="48424" y="344379"/>
                      <a:pt x="57765" y="383286"/>
                      <a:pt x="76200" y="419247"/>
                    </a:cubicBezTo>
                    <a:cubicBezTo>
                      <a:pt x="86524" y="439498"/>
                      <a:pt x="99552" y="458277"/>
                      <a:pt x="115038" y="475337"/>
                    </a:cubicBezTo>
                    <a:lnTo>
                      <a:pt x="214345" y="314064"/>
                    </a:lnTo>
                    <a:close/>
                    <a:moveTo>
                      <a:pt x="512558" y="156006"/>
                    </a:moveTo>
                    <a:lnTo>
                      <a:pt x="461430" y="232842"/>
                    </a:lnTo>
                    <a:lnTo>
                      <a:pt x="480357" y="232842"/>
                    </a:lnTo>
                    <a:lnTo>
                      <a:pt x="522636" y="171348"/>
                    </a:lnTo>
                    <a:cubicBezTo>
                      <a:pt x="519441" y="166071"/>
                      <a:pt x="516000" y="161038"/>
                      <a:pt x="512558" y="156006"/>
                    </a:cubicBezTo>
                    <a:close/>
                    <a:moveTo>
                      <a:pt x="73865" y="109833"/>
                    </a:moveTo>
                    <a:cubicBezTo>
                      <a:pt x="76569" y="109588"/>
                      <a:pt x="79150" y="110693"/>
                      <a:pt x="80994" y="112534"/>
                    </a:cubicBezTo>
                    <a:lnTo>
                      <a:pt x="270512" y="301667"/>
                    </a:lnTo>
                    <a:cubicBezTo>
                      <a:pt x="273585" y="304736"/>
                      <a:pt x="274076" y="309523"/>
                      <a:pt x="271864" y="313205"/>
                    </a:cubicBezTo>
                    <a:lnTo>
                      <a:pt x="131507" y="541123"/>
                    </a:lnTo>
                    <a:cubicBezTo>
                      <a:pt x="130032" y="543332"/>
                      <a:pt x="127820" y="544927"/>
                      <a:pt x="125239" y="545418"/>
                    </a:cubicBezTo>
                    <a:cubicBezTo>
                      <a:pt x="124624" y="545418"/>
                      <a:pt x="124010" y="545541"/>
                      <a:pt x="123518" y="545541"/>
                    </a:cubicBezTo>
                    <a:cubicBezTo>
                      <a:pt x="121429" y="545541"/>
                      <a:pt x="119462" y="544805"/>
                      <a:pt x="117742" y="543577"/>
                    </a:cubicBezTo>
                    <a:cubicBezTo>
                      <a:pt x="42893" y="485647"/>
                      <a:pt x="0" y="398137"/>
                      <a:pt x="0" y="303631"/>
                    </a:cubicBezTo>
                    <a:cubicBezTo>
                      <a:pt x="0" y="234532"/>
                      <a:pt x="23843" y="166905"/>
                      <a:pt x="67105" y="113270"/>
                    </a:cubicBezTo>
                    <a:cubicBezTo>
                      <a:pt x="68826" y="111184"/>
                      <a:pt x="71284" y="109956"/>
                      <a:pt x="73865" y="109833"/>
                    </a:cubicBezTo>
                    <a:close/>
                    <a:moveTo>
                      <a:pt x="468927" y="108627"/>
                    </a:moveTo>
                    <a:lnTo>
                      <a:pt x="386335" y="232842"/>
                    </a:lnTo>
                    <a:lnTo>
                      <a:pt x="416693" y="232842"/>
                    </a:lnTo>
                    <a:lnTo>
                      <a:pt x="487609" y="126179"/>
                    </a:lnTo>
                    <a:cubicBezTo>
                      <a:pt x="484044" y="122374"/>
                      <a:pt x="480357" y="118815"/>
                      <a:pt x="476547" y="115378"/>
                    </a:cubicBezTo>
                    <a:cubicBezTo>
                      <a:pt x="474089" y="113169"/>
                      <a:pt x="471631" y="110959"/>
                      <a:pt x="468927" y="108627"/>
                    </a:cubicBezTo>
                    <a:close/>
                    <a:moveTo>
                      <a:pt x="415832" y="74136"/>
                    </a:moveTo>
                    <a:lnTo>
                      <a:pt x="319475" y="218973"/>
                    </a:lnTo>
                    <a:lnTo>
                      <a:pt x="333364" y="232842"/>
                    </a:lnTo>
                    <a:lnTo>
                      <a:pt x="341475" y="232842"/>
                    </a:lnTo>
                    <a:lnTo>
                      <a:pt x="438693" y="86779"/>
                    </a:lnTo>
                    <a:cubicBezTo>
                      <a:pt x="431318" y="82115"/>
                      <a:pt x="423698" y="77941"/>
                      <a:pt x="415832" y="74136"/>
                    </a:cubicBezTo>
                    <a:close/>
                    <a:moveTo>
                      <a:pt x="223487" y="61371"/>
                    </a:moveTo>
                    <a:cubicBezTo>
                      <a:pt x="220906" y="62230"/>
                      <a:pt x="218448" y="63090"/>
                      <a:pt x="215990" y="63949"/>
                    </a:cubicBezTo>
                    <a:cubicBezTo>
                      <a:pt x="203822" y="68490"/>
                      <a:pt x="191900" y="73891"/>
                      <a:pt x="180593" y="80151"/>
                    </a:cubicBezTo>
                    <a:lnTo>
                      <a:pt x="198046" y="97703"/>
                    </a:lnTo>
                    <a:close/>
                    <a:moveTo>
                      <a:pt x="353151" y="53147"/>
                    </a:moveTo>
                    <a:lnTo>
                      <a:pt x="272895" y="172330"/>
                    </a:lnTo>
                    <a:lnTo>
                      <a:pt x="292559" y="192092"/>
                    </a:lnTo>
                    <a:lnTo>
                      <a:pt x="380436" y="60021"/>
                    </a:lnTo>
                    <a:cubicBezTo>
                      <a:pt x="371464" y="57321"/>
                      <a:pt x="362369" y="54989"/>
                      <a:pt x="353151" y="53147"/>
                    </a:cubicBezTo>
                    <a:close/>
                    <a:moveTo>
                      <a:pt x="304112" y="48483"/>
                    </a:moveTo>
                    <a:cubicBezTo>
                      <a:pt x="295140" y="48483"/>
                      <a:pt x="286045" y="48852"/>
                      <a:pt x="277196" y="49833"/>
                    </a:cubicBezTo>
                    <a:lnTo>
                      <a:pt x="224839" y="124461"/>
                    </a:lnTo>
                    <a:lnTo>
                      <a:pt x="245978" y="145573"/>
                    </a:lnTo>
                    <a:lnTo>
                      <a:pt x="311364" y="48483"/>
                    </a:lnTo>
                    <a:cubicBezTo>
                      <a:pt x="308906" y="48483"/>
                      <a:pt x="306447" y="48483"/>
                      <a:pt x="304112" y="48483"/>
                    </a:cubicBezTo>
                    <a:close/>
                    <a:moveTo>
                      <a:pt x="304112" y="0"/>
                    </a:moveTo>
                    <a:cubicBezTo>
                      <a:pt x="379699" y="0"/>
                      <a:pt x="451966" y="27494"/>
                      <a:pt x="507642" y="77451"/>
                    </a:cubicBezTo>
                    <a:cubicBezTo>
                      <a:pt x="563318" y="127407"/>
                      <a:pt x="598346" y="196020"/>
                      <a:pt x="606334" y="271015"/>
                    </a:cubicBezTo>
                    <a:cubicBezTo>
                      <a:pt x="606580" y="273593"/>
                      <a:pt x="605720" y="276171"/>
                      <a:pt x="603999" y="278134"/>
                    </a:cubicBezTo>
                    <a:cubicBezTo>
                      <a:pt x="602156" y="280098"/>
                      <a:pt x="599698" y="281203"/>
                      <a:pt x="596994" y="281203"/>
                    </a:cubicBezTo>
                    <a:lnTo>
                      <a:pt x="317140" y="281203"/>
                    </a:lnTo>
                    <a:cubicBezTo>
                      <a:pt x="314682" y="281203"/>
                      <a:pt x="312347" y="280221"/>
                      <a:pt x="310626" y="278503"/>
                    </a:cubicBezTo>
                    <a:lnTo>
                      <a:pt x="112749" y="80887"/>
                    </a:lnTo>
                    <a:cubicBezTo>
                      <a:pt x="110783" y="79046"/>
                      <a:pt x="109800" y="76469"/>
                      <a:pt x="110046" y="73768"/>
                    </a:cubicBezTo>
                    <a:cubicBezTo>
                      <a:pt x="110168" y="71191"/>
                      <a:pt x="111398" y="68736"/>
                      <a:pt x="113487" y="67017"/>
                    </a:cubicBezTo>
                    <a:cubicBezTo>
                      <a:pt x="167196" y="23812"/>
                      <a:pt x="234917" y="0"/>
                      <a:pt x="3041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思源黑体 CN Normal" panose="020B0600000000000000" charset="-122"/>
                </a:endParaRPr>
              </a:p>
            </p:txBody>
          </p:sp>
          <p:sp>
            <p:nvSpPr>
              <p:cNvPr id="132" name="shop_346547"/>
              <p:cNvSpPr/>
              <p:nvPr>
                <p:custDataLst>
                  <p:tags r:id="rId23"/>
                </p:custDataLst>
              </p:nvPr>
            </p:nvSpPr>
            <p:spPr>
              <a:xfrm>
                <a:off x="2740" y="8633"/>
                <a:ext cx="245" cy="296"/>
              </a:xfrm>
              <a:custGeom>
                <a:avLst/>
                <a:gdLst>
                  <a:gd name="connsiteX0" fmla="*/ 87166 w 569431"/>
                  <a:gd name="connsiteY0" fmla="*/ 225085 h 422900"/>
                  <a:gd name="connsiteX1" fmla="*/ 94699 w 569431"/>
                  <a:gd name="connsiteY1" fmla="*/ 226160 h 422900"/>
                  <a:gd name="connsiteX2" fmla="*/ 138820 w 569431"/>
                  <a:gd name="connsiteY2" fmla="*/ 285290 h 422900"/>
                  <a:gd name="connsiteX3" fmla="*/ 171103 w 569431"/>
                  <a:gd name="connsiteY3" fmla="*/ 258413 h 422900"/>
                  <a:gd name="connsiteX4" fmla="*/ 172179 w 569431"/>
                  <a:gd name="connsiteY4" fmla="*/ 258413 h 422900"/>
                  <a:gd name="connsiteX5" fmla="*/ 204463 w 569431"/>
                  <a:gd name="connsiteY5" fmla="*/ 285290 h 422900"/>
                  <a:gd name="connsiteX6" fmla="*/ 248584 w 569431"/>
                  <a:gd name="connsiteY6" fmla="*/ 226160 h 422900"/>
                  <a:gd name="connsiteX7" fmla="*/ 256117 w 569431"/>
                  <a:gd name="connsiteY7" fmla="*/ 225085 h 422900"/>
                  <a:gd name="connsiteX8" fmla="*/ 343283 w 569431"/>
                  <a:gd name="connsiteY8" fmla="*/ 422900 h 422900"/>
                  <a:gd name="connsiteX9" fmla="*/ 172179 w 569431"/>
                  <a:gd name="connsiteY9" fmla="*/ 422900 h 422900"/>
                  <a:gd name="connsiteX10" fmla="*/ 0 w 569431"/>
                  <a:gd name="connsiteY10" fmla="*/ 422900 h 422900"/>
                  <a:gd name="connsiteX11" fmla="*/ 87166 w 569431"/>
                  <a:gd name="connsiteY11" fmla="*/ 225085 h 422900"/>
                  <a:gd name="connsiteX12" fmla="*/ 498370 w 569431"/>
                  <a:gd name="connsiteY12" fmla="*/ 207981 h 422900"/>
                  <a:gd name="connsiteX13" fmla="*/ 569431 w 569431"/>
                  <a:gd name="connsiteY13" fmla="*/ 368095 h 422900"/>
                  <a:gd name="connsiteX14" fmla="*/ 429463 w 569431"/>
                  <a:gd name="connsiteY14" fmla="*/ 369170 h 422900"/>
                  <a:gd name="connsiteX15" fmla="*/ 351942 w 569431"/>
                  <a:gd name="connsiteY15" fmla="*/ 369170 h 422900"/>
                  <a:gd name="connsiteX16" fmla="*/ 336868 w 569431"/>
                  <a:gd name="connsiteY16" fmla="*/ 298247 h 422900"/>
                  <a:gd name="connsiteX17" fmla="*/ 314258 w 569431"/>
                  <a:gd name="connsiteY17" fmla="*/ 253114 h 422900"/>
                  <a:gd name="connsiteX18" fmla="*/ 361632 w 569431"/>
                  <a:gd name="connsiteY18" fmla="*/ 209056 h 422900"/>
                  <a:gd name="connsiteX19" fmla="*/ 367015 w 569431"/>
                  <a:gd name="connsiteY19" fmla="*/ 209056 h 422900"/>
                  <a:gd name="connsiteX20" fmla="*/ 402546 w 569431"/>
                  <a:gd name="connsiteY20" fmla="*/ 257412 h 422900"/>
                  <a:gd name="connsiteX21" fmla="*/ 429463 w 569431"/>
                  <a:gd name="connsiteY21" fmla="*/ 235920 h 422900"/>
                  <a:gd name="connsiteX22" fmla="*/ 456380 w 569431"/>
                  <a:gd name="connsiteY22" fmla="*/ 256338 h 422900"/>
                  <a:gd name="connsiteX23" fmla="*/ 491910 w 569431"/>
                  <a:gd name="connsiteY23" fmla="*/ 209056 h 422900"/>
                  <a:gd name="connsiteX24" fmla="*/ 498370 w 569431"/>
                  <a:gd name="connsiteY24" fmla="*/ 207981 h 422900"/>
                  <a:gd name="connsiteX25" fmla="*/ 411120 w 569431"/>
                  <a:gd name="connsiteY25" fmla="*/ 87617 h 422900"/>
                  <a:gd name="connsiteX26" fmla="*/ 352955 w 569431"/>
                  <a:gd name="connsiteY26" fmla="*/ 115563 h 422900"/>
                  <a:gd name="connsiteX27" fmla="*/ 352955 w 569431"/>
                  <a:gd name="connsiteY27" fmla="*/ 122013 h 422900"/>
                  <a:gd name="connsiteX28" fmla="*/ 430508 w 569431"/>
                  <a:gd name="connsiteY28" fmla="*/ 210152 h 422900"/>
                  <a:gd name="connsiteX29" fmla="*/ 509138 w 569431"/>
                  <a:gd name="connsiteY29" fmla="*/ 122013 h 422900"/>
                  <a:gd name="connsiteX30" fmla="*/ 509138 w 569431"/>
                  <a:gd name="connsiteY30" fmla="*/ 116638 h 422900"/>
                  <a:gd name="connsiteX31" fmla="*/ 411120 w 569431"/>
                  <a:gd name="connsiteY31" fmla="*/ 87617 h 422900"/>
                  <a:gd name="connsiteX32" fmla="*/ 148561 w 569431"/>
                  <a:gd name="connsiteY32" fmla="*/ 76776 h 422900"/>
                  <a:gd name="connsiteX33" fmla="*/ 77567 w 569431"/>
                  <a:gd name="connsiteY33" fmla="*/ 111183 h 422900"/>
                  <a:gd name="connsiteX34" fmla="*/ 77567 w 569431"/>
                  <a:gd name="connsiteY34" fmla="*/ 118710 h 422900"/>
                  <a:gd name="connsiteX35" fmla="*/ 172226 w 569431"/>
                  <a:gd name="connsiteY35" fmla="*/ 227308 h 422900"/>
                  <a:gd name="connsiteX36" fmla="*/ 269037 w 569431"/>
                  <a:gd name="connsiteY36" fmla="*/ 118710 h 422900"/>
                  <a:gd name="connsiteX37" fmla="*/ 269037 w 569431"/>
                  <a:gd name="connsiteY37" fmla="*/ 112258 h 422900"/>
                  <a:gd name="connsiteX38" fmla="*/ 148561 w 569431"/>
                  <a:gd name="connsiteY38" fmla="*/ 76776 h 422900"/>
                  <a:gd name="connsiteX39" fmla="*/ 444241 w 569431"/>
                  <a:gd name="connsiteY39" fmla="*/ 25677 h 422900"/>
                  <a:gd name="connsiteX40" fmla="*/ 485441 w 569431"/>
                  <a:gd name="connsiteY40" fmla="*/ 36023 h 422900"/>
                  <a:gd name="connsiteX41" fmla="*/ 520986 w 569431"/>
                  <a:gd name="connsiteY41" fmla="*/ 112339 h 422900"/>
                  <a:gd name="connsiteX42" fmla="*/ 520986 w 569431"/>
                  <a:gd name="connsiteY42" fmla="*/ 114488 h 422900"/>
                  <a:gd name="connsiteX43" fmla="*/ 526372 w 569431"/>
                  <a:gd name="connsiteY43" fmla="*/ 124162 h 422900"/>
                  <a:gd name="connsiteX44" fmla="*/ 525295 w 569431"/>
                  <a:gd name="connsiteY44" fmla="*/ 139211 h 422900"/>
                  <a:gd name="connsiteX45" fmla="*/ 517755 w 569431"/>
                  <a:gd name="connsiteY45" fmla="*/ 146735 h 422900"/>
                  <a:gd name="connsiteX46" fmla="*/ 430508 w 569431"/>
                  <a:gd name="connsiteY46" fmla="*/ 221976 h 422900"/>
                  <a:gd name="connsiteX47" fmla="*/ 344338 w 569431"/>
                  <a:gd name="connsiteY47" fmla="*/ 146735 h 422900"/>
                  <a:gd name="connsiteX48" fmla="*/ 335721 w 569431"/>
                  <a:gd name="connsiteY48" fmla="*/ 139211 h 422900"/>
                  <a:gd name="connsiteX49" fmla="*/ 334644 w 569431"/>
                  <a:gd name="connsiteY49" fmla="*/ 123087 h 422900"/>
                  <a:gd name="connsiteX50" fmla="*/ 341107 w 569431"/>
                  <a:gd name="connsiteY50" fmla="*/ 114488 h 422900"/>
                  <a:gd name="connsiteX51" fmla="*/ 341107 w 569431"/>
                  <a:gd name="connsiteY51" fmla="*/ 112339 h 422900"/>
                  <a:gd name="connsiteX52" fmla="*/ 393886 w 569431"/>
                  <a:gd name="connsiteY52" fmla="*/ 36023 h 422900"/>
                  <a:gd name="connsiteX53" fmla="*/ 404657 w 569431"/>
                  <a:gd name="connsiteY53" fmla="*/ 36023 h 422900"/>
                  <a:gd name="connsiteX54" fmla="*/ 411120 w 569431"/>
                  <a:gd name="connsiteY54" fmla="*/ 30648 h 422900"/>
                  <a:gd name="connsiteX55" fmla="*/ 444241 w 569431"/>
                  <a:gd name="connsiteY55" fmla="*/ 25677 h 422900"/>
                  <a:gd name="connsiteX56" fmla="*/ 189437 w 569431"/>
                  <a:gd name="connsiteY56" fmla="*/ 166 h 422900"/>
                  <a:gd name="connsiteX57" fmla="*/ 239994 w 569431"/>
                  <a:gd name="connsiteY57" fmla="*/ 12262 h 422900"/>
                  <a:gd name="connsiteX58" fmla="*/ 283020 w 569431"/>
                  <a:gd name="connsiteY58" fmla="*/ 106882 h 422900"/>
                  <a:gd name="connsiteX59" fmla="*/ 284096 w 569431"/>
                  <a:gd name="connsiteY59" fmla="*/ 110108 h 422900"/>
                  <a:gd name="connsiteX60" fmla="*/ 290550 w 569431"/>
                  <a:gd name="connsiteY60" fmla="*/ 120860 h 422900"/>
                  <a:gd name="connsiteX61" fmla="*/ 289475 w 569431"/>
                  <a:gd name="connsiteY61" fmla="*/ 140214 h 422900"/>
                  <a:gd name="connsiteX62" fmla="*/ 279793 w 569431"/>
                  <a:gd name="connsiteY62" fmla="*/ 149891 h 422900"/>
                  <a:gd name="connsiteX63" fmla="*/ 172226 w 569431"/>
                  <a:gd name="connsiteY63" fmla="*/ 242361 h 422900"/>
                  <a:gd name="connsiteX64" fmla="*/ 66810 w 569431"/>
                  <a:gd name="connsiteY64" fmla="*/ 148816 h 422900"/>
                  <a:gd name="connsiteX65" fmla="*/ 56053 w 569431"/>
                  <a:gd name="connsiteY65" fmla="*/ 139139 h 422900"/>
                  <a:gd name="connsiteX66" fmla="*/ 54978 w 569431"/>
                  <a:gd name="connsiteY66" fmla="*/ 120860 h 422900"/>
                  <a:gd name="connsiteX67" fmla="*/ 62507 w 569431"/>
                  <a:gd name="connsiteY67" fmla="*/ 109033 h 422900"/>
                  <a:gd name="connsiteX68" fmla="*/ 62507 w 569431"/>
                  <a:gd name="connsiteY68" fmla="*/ 105807 h 422900"/>
                  <a:gd name="connsiteX69" fmla="*/ 128123 w 569431"/>
                  <a:gd name="connsiteY69" fmla="*/ 12262 h 422900"/>
                  <a:gd name="connsiteX70" fmla="*/ 141031 w 569431"/>
                  <a:gd name="connsiteY70" fmla="*/ 13337 h 422900"/>
                  <a:gd name="connsiteX71" fmla="*/ 148561 w 569431"/>
                  <a:gd name="connsiteY71" fmla="*/ 5811 h 422900"/>
                  <a:gd name="connsiteX72" fmla="*/ 189437 w 569431"/>
                  <a:gd name="connsiteY72" fmla="*/ 166 h 42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569431" h="422900">
                    <a:moveTo>
                      <a:pt x="87166" y="225085"/>
                    </a:moveTo>
                    <a:cubicBezTo>
                      <a:pt x="90394" y="225085"/>
                      <a:pt x="92546" y="225085"/>
                      <a:pt x="94699" y="226160"/>
                    </a:cubicBezTo>
                    <a:lnTo>
                      <a:pt x="138820" y="285290"/>
                    </a:lnTo>
                    <a:lnTo>
                      <a:pt x="171103" y="258413"/>
                    </a:lnTo>
                    <a:lnTo>
                      <a:pt x="172179" y="258413"/>
                    </a:lnTo>
                    <a:lnTo>
                      <a:pt x="204463" y="285290"/>
                    </a:lnTo>
                    <a:lnTo>
                      <a:pt x="248584" y="226160"/>
                    </a:lnTo>
                    <a:cubicBezTo>
                      <a:pt x="250736" y="225085"/>
                      <a:pt x="252889" y="225085"/>
                      <a:pt x="256117" y="225085"/>
                    </a:cubicBezTo>
                    <a:cubicBezTo>
                      <a:pt x="337903" y="236911"/>
                      <a:pt x="343283" y="422900"/>
                      <a:pt x="343283" y="422900"/>
                    </a:cubicBezTo>
                    <a:lnTo>
                      <a:pt x="172179" y="422900"/>
                    </a:lnTo>
                    <a:lnTo>
                      <a:pt x="0" y="422900"/>
                    </a:lnTo>
                    <a:cubicBezTo>
                      <a:pt x="0" y="422900"/>
                      <a:pt x="5380" y="236911"/>
                      <a:pt x="87166" y="225085"/>
                    </a:cubicBezTo>
                    <a:close/>
                    <a:moveTo>
                      <a:pt x="498370" y="207981"/>
                    </a:moveTo>
                    <a:cubicBezTo>
                      <a:pt x="565124" y="217652"/>
                      <a:pt x="569431" y="368095"/>
                      <a:pt x="569431" y="368095"/>
                    </a:cubicBezTo>
                    <a:lnTo>
                      <a:pt x="429463" y="369170"/>
                    </a:lnTo>
                    <a:lnTo>
                      <a:pt x="351942" y="369170"/>
                    </a:lnTo>
                    <a:cubicBezTo>
                      <a:pt x="348712" y="345529"/>
                      <a:pt x="344405" y="317590"/>
                      <a:pt x="336868" y="298247"/>
                    </a:cubicBezTo>
                    <a:cubicBezTo>
                      <a:pt x="329332" y="277830"/>
                      <a:pt x="320718" y="262785"/>
                      <a:pt x="314258" y="253114"/>
                    </a:cubicBezTo>
                    <a:cubicBezTo>
                      <a:pt x="325025" y="229473"/>
                      <a:pt x="340098" y="211205"/>
                      <a:pt x="361632" y="209056"/>
                    </a:cubicBezTo>
                    <a:cubicBezTo>
                      <a:pt x="363785" y="207981"/>
                      <a:pt x="365939" y="209056"/>
                      <a:pt x="367015" y="209056"/>
                    </a:cubicBezTo>
                    <a:lnTo>
                      <a:pt x="402546" y="257412"/>
                    </a:lnTo>
                    <a:lnTo>
                      <a:pt x="429463" y="235920"/>
                    </a:lnTo>
                    <a:lnTo>
                      <a:pt x="456380" y="256338"/>
                    </a:lnTo>
                    <a:lnTo>
                      <a:pt x="491910" y="209056"/>
                    </a:lnTo>
                    <a:cubicBezTo>
                      <a:pt x="494064" y="207981"/>
                      <a:pt x="496217" y="207981"/>
                      <a:pt x="498370" y="207981"/>
                    </a:cubicBezTo>
                    <a:close/>
                    <a:moveTo>
                      <a:pt x="411120" y="87617"/>
                    </a:moveTo>
                    <a:cubicBezTo>
                      <a:pt x="406811" y="95141"/>
                      <a:pt x="371266" y="109114"/>
                      <a:pt x="352955" y="115563"/>
                    </a:cubicBezTo>
                    <a:cubicBezTo>
                      <a:pt x="352955" y="117713"/>
                      <a:pt x="352955" y="119863"/>
                      <a:pt x="352955" y="122013"/>
                    </a:cubicBezTo>
                    <a:cubicBezTo>
                      <a:pt x="352955" y="163933"/>
                      <a:pt x="386346" y="210152"/>
                      <a:pt x="430508" y="210152"/>
                    </a:cubicBezTo>
                    <a:cubicBezTo>
                      <a:pt x="474670" y="210152"/>
                      <a:pt x="509138" y="162858"/>
                      <a:pt x="509138" y="122013"/>
                    </a:cubicBezTo>
                    <a:cubicBezTo>
                      <a:pt x="509138" y="119863"/>
                      <a:pt x="509138" y="118788"/>
                      <a:pt x="509138" y="116638"/>
                    </a:cubicBezTo>
                    <a:cubicBezTo>
                      <a:pt x="484364" y="113414"/>
                      <a:pt x="427277" y="104815"/>
                      <a:pt x="411120" y="87617"/>
                    </a:cubicBezTo>
                    <a:close/>
                    <a:moveTo>
                      <a:pt x="148561" y="76776"/>
                    </a:moveTo>
                    <a:cubicBezTo>
                      <a:pt x="143183" y="85378"/>
                      <a:pt x="100156" y="102581"/>
                      <a:pt x="77567" y="111183"/>
                    </a:cubicBezTo>
                    <a:cubicBezTo>
                      <a:pt x="77567" y="113334"/>
                      <a:pt x="76491" y="116559"/>
                      <a:pt x="77567" y="118710"/>
                    </a:cubicBezTo>
                    <a:cubicBezTo>
                      <a:pt x="77567" y="170321"/>
                      <a:pt x="117367" y="227308"/>
                      <a:pt x="172226" y="227308"/>
                    </a:cubicBezTo>
                    <a:cubicBezTo>
                      <a:pt x="227085" y="227308"/>
                      <a:pt x="269037" y="169245"/>
                      <a:pt x="269037" y="118710"/>
                    </a:cubicBezTo>
                    <a:cubicBezTo>
                      <a:pt x="269037" y="116559"/>
                      <a:pt x="269037" y="114409"/>
                      <a:pt x="269037" y="112258"/>
                    </a:cubicBezTo>
                    <a:cubicBezTo>
                      <a:pt x="237842" y="109033"/>
                      <a:pt x="167923" y="97205"/>
                      <a:pt x="148561" y="76776"/>
                    </a:cubicBezTo>
                    <a:close/>
                    <a:moveTo>
                      <a:pt x="444241" y="25677"/>
                    </a:moveTo>
                    <a:cubicBezTo>
                      <a:pt x="456898" y="26349"/>
                      <a:pt x="470900" y="29574"/>
                      <a:pt x="485441" y="36023"/>
                    </a:cubicBezTo>
                    <a:cubicBezTo>
                      <a:pt x="513447" y="47846"/>
                      <a:pt x="519909" y="76868"/>
                      <a:pt x="520986" y="112339"/>
                    </a:cubicBezTo>
                    <a:cubicBezTo>
                      <a:pt x="520986" y="113414"/>
                      <a:pt x="520986" y="114488"/>
                      <a:pt x="520986" y="114488"/>
                    </a:cubicBezTo>
                    <a:cubicBezTo>
                      <a:pt x="524218" y="116638"/>
                      <a:pt x="527449" y="119863"/>
                      <a:pt x="526372" y="124162"/>
                    </a:cubicBezTo>
                    <a:lnTo>
                      <a:pt x="525295" y="139211"/>
                    </a:lnTo>
                    <a:cubicBezTo>
                      <a:pt x="525295" y="143510"/>
                      <a:pt x="522064" y="146735"/>
                      <a:pt x="517755" y="146735"/>
                    </a:cubicBezTo>
                    <a:cubicBezTo>
                      <a:pt x="506984" y="186505"/>
                      <a:pt x="473593" y="221976"/>
                      <a:pt x="430508" y="221976"/>
                    </a:cubicBezTo>
                    <a:cubicBezTo>
                      <a:pt x="388500" y="221976"/>
                      <a:pt x="355109" y="186505"/>
                      <a:pt x="344338" y="146735"/>
                    </a:cubicBezTo>
                    <a:cubicBezTo>
                      <a:pt x="340030" y="146735"/>
                      <a:pt x="336798" y="143510"/>
                      <a:pt x="335721" y="139211"/>
                    </a:cubicBezTo>
                    <a:lnTo>
                      <a:pt x="334644" y="123087"/>
                    </a:lnTo>
                    <a:cubicBezTo>
                      <a:pt x="334644" y="118788"/>
                      <a:pt x="336798" y="115563"/>
                      <a:pt x="341107" y="114488"/>
                    </a:cubicBezTo>
                    <a:cubicBezTo>
                      <a:pt x="341107" y="113414"/>
                      <a:pt x="341107" y="112339"/>
                      <a:pt x="341107" y="112339"/>
                    </a:cubicBezTo>
                    <a:cubicBezTo>
                      <a:pt x="338953" y="81167"/>
                      <a:pt x="351878" y="41397"/>
                      <a:pt x="393886" y="36023"/>
                    </a:cubicBezTo>
                    <a:cubicBezTo>
                      <a:pt x="397117" y="34948"/>
                      <a:pt x="403580" y="37097"/>
                      <a:pt x="404657" y="36023"/>
                    </a:cubicBezTo>
                    <a:cubicBezTo>
                      <a:pt x="405734" y="36023"/>
                      <a:pt x="408966" y="31723"/>
                      <a:pt x="411120" y="30648"/>
                    </a:cubicBezTo>
                    <a:cubicBezTo>
                      <a:pt x="420275" y="26886"/>
                      <a:pt x="431585" y="25005"/>
                      <a:pt x="444241" y="25677"/>
                    </a:cubicBezTo>
                    <a:close/>
                    <a:moveTo>
                      <a:pt x="189437" y="166"/>
                    </a:moveTo>
                    <a:cubicBezTo>
                      <a:pt x="204765" y="972"/>
                      <a:pt x="221707" y="4736"/>
                      <a:pt x="239994" y="12262"/>
                    </a:cubicBezTo>
                    <a:cubicBezTo>
                      <a:pt x="274415" y="27315"/>
                      <a:pt x="283020" y="62798"/>
                      <a:pt x="283020" y="106882"/>
                    </a:cubicBezTo>
                    <a:cubicBezTo>
                      <a:pt x="284096" y="107957"/>
                      <a:pt x="284096" y="109033"/>
                      <a:pt x="284096" y="110108"/>
                    </a:cubicBezTo>
                    <a:cubicBezTo>
                      <a:pt x="288399" y="111183"/>
                      <a:pt x="291626" y="115484"/>
                      <a:pt x="290550" y="120860"/>
                    </a:cubicBezTo>
                    <a:lnTo>
                      <a:pt x="289475" y="140214"/>
                    </a:lnTo>
                    <a:cubicBezTo>
                      <a:pt x="288399" y="145590"/>
                      <a:pt x="285172" y="148816"/>
                      <a:pt x="279793" y="149891"/>
                    </a:cubicBezTo>
                    <a:cubicBezTo>
                      <a:pt x="266885" y="198277"/>
                      <a:pt x="224934" y="242361"/>
                      <a:pt x="172226" y="242361"/>
                    </a:cubicBezTo>
                    <a:cubicBezTo>
                      <a:pt x="120594" y="242361"/>
                      <a:pt x="78642" y="198277"/>
                      <a:pt x="66810" y="148816"/>
                    </a:cubicBezTo>
                    <a:cubicBezTo>
                      <a:pt x="61432" y="148816"/>
                      <a:pt x="57129" y="145590"/>
                      <a:pt x="56053" y="139139"/>
                    </a:cubicBezTo>
                    <a:lnTo>
                      <a:pt x="54978" y="120860"/>
                    </a:lnTo>
                    <a:cubicBezTo>
                      <a:pt x="53902" y="115484"/>
                      <a:pt x="57129" y="110108"/>
                      <a:pt x="62507" y="109033"/>
                    </a:cubicBezTo>
                    <a:cubicBezTo>
                      <a:pt x="62507" y="107957"/>
                      <a:pt x="62507" y="106882"/>
                      <a:pt x="62507" y="105807"/>
                    </a:cubicBezTo>
                    <a:cubicBezTo>
                      <a:pt x="59280" y="68174"/>
                      <a:pt x="76491" y="19789"/>
                      <a:pt x="128123" y="12262"/>
                    </a:cubicBezTo>
                    <a:cubicBezTo>
                      <a:pt x="131350" y="11187"/>
                      <a:pt x="139956" y="14413"/>
                      <a:pt x="141031" y="13337"/>
                    </a:cubicBezTo>
                    <a:cubicBezTo>
                      <a:pt x="142107" y="12262"/>
                      <a:pt x="146410" y="6886"/>
                      <a:pt x="148561" y="5811"/>
                    </a:cubicBezTo>
                    <a:cubicBezTo>
                      <a:pt x="160394" y="1510"/>
                      <a:pt x="174109" y="-640"/>
                      <a:pt x="189437" y="166"/>
                    </a:cubicBezTo>
                    <a:close/>
                  </a:path>
                </a:pathLst>
              </a:custGeom>
              <a:solidFill>
                <a:schemeClr val="bg1"/>
              </a:solidFill>
              <a:ln w="6350">
                <a:noFill/>
              </a:ln>
              <a:effectLst>
                <a:glow>
                  <a:srgbClr val="000000"/>
                </a:glow>
              </a:effectLst>
              <a:scene3d>
                <a:camera prst="orthographicFront"/>
                <a:lightRig rig="flat" dir="t"/>
              </a:scene3d>
              <a:sp3d extrusionH="101600">
                <a:contourClr>
                  <a:srgbClr val="000000"/>
                </a:contourClr>
              </a:sp3d>
            </p:spPr>
            <p:txBody>
              <a:bodyPr rot="0" spcFirstLastPara="0" vert="horz" wrap="square" lIns="91440" tIns="45720" rIns="91440" bIns="45720" numCol="1" spcCol="0" rtlCol="0" fromWordArt="0" anchor="t" anchorCtr="0" forceAA="0" compatLnSpc="1">
                <a:noAutofit/>
                <a:sp3d extrusionH="107950">
                  <a:bevelT w="12700" h="12700"/>
                  <a:extrusionClr>
                    <a:schemeClr val="accent1">
                      <a:lumMod val="60000"/>
                      <a:lumOff val="40000"/>
                    </a:schemeClr>
                  </a:extrusionClr>
                </a:sp3d>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a:ln w="6350">
                    <a:noFill/>
                  </a:ln>
                  <a:gradFill flip="none" rotWithShape="1">
                    <a:gsLst>
                      <a:gs pos="0">
                        <a:srgbClr val="1B5B9E">
                          <a:lumMod val="20000"/>
                          <a:lumOff val="80000"/>
                        </a:srgbClr>
                      </a:gs>
                      <a:gs pos="42000">
                        <a:srgbClr val="1B5B9E"/>
                      </a:gs>
                      <a:gs pos="100000">
                        <a:srgbClr val="FF5D0D"/>
                      </a:gs>
                    </a:gsLst>
                    <a:lin ang="2700000" scaled="1"/>
                    <a:tileRect/>
                  </a:gradFill>
                  <a:effectLst>
                    <a:reflection blurRad="6350" stA="79000" endPos="31000" dir="5400000" sy="-100000" algn="bl" rotWithShape="0"/>
                  </a:effectLst>
                  <a:uLnTx/>
                  <a:uFillTx/>
                  <a:latin typeface="微软雅黑" panose="020B0503020204020204" pitchFamily="34" charset="-122"/>
                  <a:ea typeface="微软雅黑" panose="020B0503020204020204" pitchFamily="34" charset="-122"/>
                  <a:cs typeface="思源黑体 CN Normal" panose="020B0600000000000000" charset="-122"/>
                </a:endParaRPr>
              </a:p>
            </p:txBody>
          </p:sp>
        </p:grpSp>
        <p:sp>
          <p:nvSpPr>
            <p:cNvPr id="133" name="文本框 132"/>
            <p:cNvSpPr txBox="1"/>
            <p:nvPr/>
          </p:nvSpPr>
          <p:spPr>
            <a:xfrm>
              <a:off x="1999" y="9167"/>
              <a:ext cx="1106" cy="1095"/>
            </a:xfrm>
            <a:prstGeom prst="rect">
              <a:avLst/>
            </a:prstGeom>
            <a:noFill/>
          </p:spPr>
          <p:txBody>
            <a:bodyPr wrap="square" rtlCol="0">
              <a:spAutoFit/>
            </a:bodyPr>
            <a:lstStyle/>
            <a:p>
              <a:pPr algn="l"/>
              <a:r>
                <a:rPr kumimoji="1"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任务书</a:t>
              </a:r>
              <a:endParaRPr kumimoji="1"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4" name="文本框 133"/>
            <p:cNvSpPr txBox="1"/>
            <p:nvPr/>
          </p:nvSpPr>
          <p:spPr>
            <a:xfrm>
              <a:off x="4212" y="9167"/>
              <a:ext cx="1146" cy="1095"/>
            </a:xfrm>
            <a:prstGeom prst="rect">
              <a:avLst/>
            </a:prstGeom>
            <a:noFill/>
          </p:spPr>
          <p:txBody>
            <a:bodyPr wrap="square" rtlCol="0">
              <a:spAutoFit/>
            </a:bodyPr>
            <a:lstStyle/>
            <a:p>
              <a:pPr algn="l"/>
              <a:r>
                <a:rPr kumimoji="1"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绩效表</a:t>
              </a:r>
              <a:endParaRPr kumimoji="1"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136" name="圆角矩形 135"/>
          <p:cNvSpPr/>
          <p:nvPr/>
        </p:nvSpPr>
        <p:spPr>
          <a:xfrm>
            <a:off x="302260" y="1771015"/>
            <a:ext cx="8295005" cy="4911090"/>
          </a:xfrm>
          <a:prstGeom prst="roundRect">
            <a:avLst>
              <a:gd name="adj" fmla="val 0"/>
            </a:avLst>
          </a:prstGeom>
          <a:noFill/>
          <a:ln>
            <a:solidFill>
              <a:schemeClr val="bg1">
                <a:lumMod val="8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37" name="ísḷiḓé"/>
          <p:cNvSpPr/>
          <p:nvPr>
            <p:custDataLst>
              <p:tags r:id="rId24"/>
            </p:custDataLst>
          </p:nvPr>
        </p:nvSpPr>
        <p:spPr bwMode="auto">
          <a:xfrm>
            <a:off x="2286000" y="1581785"/>
            <a:ext cx="4328160" cy="323850"/>
          </a:xfrm>
          <a:prstGeom prst="rect">
            <a:avLst/>
          </a:prstGeom>
          <a:solidFill>
            <a:srgbClr val="0070BF"/>
          </a:solidFill>
          <a:ln w="12700" cap="flat" cmpd="sng" algn="ctr">
            <a:noFill/>
            <a:prstDash val="solid"/>
            <a:miter lim="800000"/>
          </a:ln>
          <a:effectLst>
            <a:outerShdw blurRad="76200" dir="18900000" sy="23000" kx="-1200000" algn="bl" rotWithShape="0">
              <a:prstClr val="black">
                <a:alpha val="20000"/>
              </a:prstClr>
            </a:outerShdw>
          </a:effectLst>
        </p:spPr>
        <p:txBody>
          <a:bodyPr vert="horz" wrap="square" numCol="1" spcCol="0" rtlCol="0" fromWordArt="0" anchor="ctr" anchorCtr="0" forceAA="0" compatLnSpc="0">
            <a:noAutofit/>
          </a:bodyPr>
          <a:lstStyle>
            <a:defPPr>
              <a:defRPr lang="en-US"/>
            </a:defPPr>
            <a:lvl1pPr marR="0" lvl="0" indent="0" algn="ctr" fontAlgn="auto">
              <a:lnSpc>
                <a:spcPct val="100000"/>
              </a:lnSpc>
              <a:spcBef>
                <a:spcPts val="0"/>
              </a:spcBef>
              <a:spcAft>
                <a:spcPts val="0"/>
              </a:spcAft>
              <a:buClrTx/>
              <a:buSzTx/>
              <a:buFontTx/>
              <a:buNone/>
              <a:defRPr kumimoji="1" sz="1600" b="1" i="0" u="none" strike="noStrike" cap="none" spc="0" normalizeH="0" baseline="0">
                <a:ln>
                  <a:noFill/>
                </a:ln>
                <a:solidFill>
                  <a:srgbClr val="0070BF"/>
                </a:solidFill>
                <a:effectLst/>
                <a:uLnTx/>
                <a:uFillTx/>
                <a:latin typeface="微软雅黑" panose="020B0503020204020204" pitchFamily="34" charset="-122"/>
                <a:ea typeface="微软雅黑" panose="020B0503020204020204" pitchFamily="3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中国移动数智化转型</a:t>
            </a:r>
            <a:r>
              <a:rPr kumimoji="0" lang="zh-CN" altLang="en-US" sz="14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规划体系</a:t>
            </a:r>
            <a:endParaRPr kumimoji="0" lang="zh-CN" altLang="en-US" sz="14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grpSp>
        <p:nvGrpSpPr>
          <p:cNvPr id="7" name="组合 6"/>
          <p:cNvGrpSpPr/>
          <p:nvPr/>
        </p:nvGrpSpPr>
        <p:grpSpPr>
          <a:xfrm>
            <a:off x="427355" y="1936115"/>
            <a:ext cx="1551305" cy="4686300"/>
            <a:chOff x="403" y="3049"/>
            <a:chExt cx="2062" cy="7380"/>
          </a:xfrm>
        </p:grpSpPr>
        <p:sp>
          <p:nvSpPr>
            <p:cNvPr id="13" name="矩形 12"/>
            <p:cNvSpPr/>
            <p:nvPr>
              <p:custDataLst>
                <p:tags r:id="rId25"/>
              </p:custDataLst>
            </p:nvPr>
          </p:nvSpPr>
          <p:spPr>
            <a:xfrm>
              <a:off x="403" y="3049"/>
              <a:ext cx="2062" cy="7380"/>
            </a:xfrm>
            <a:prstGeom prst="rect">
              <a:avLst/>
            </a:prstGeom>
            <a:noFill/>
            <a:ln w="12700" cap="flat" cmpd="sng" algn="ctr">
              <a:solidFill>
                <a:schemeClr val="bg1">
                  <a:lumMod val="85000"/>
                </a:schemeClr>
              </a:solidFill>
              <a:prstDash val="solid"/>
              <a:miter lim="800000"/>
            </a:ln>
            <a:effec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4" name="圆角矩形 23"/>
            <p:cNvSpPr/>
            <p:nvPr/>
          </p:nvSpPr>
          <p:spPr>
            <a:xfrm>
              <a:off x="723" y="6951"/>
              <a:ext cx="1474" cy="981"/>
            </a:xfrm>
            <a:prstGeom prst="roundRect">
              <a:avLst/>
            </a:prstGeom>
            <a:solidFill>
              <a:srgbClr val="E1F3FF"/>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r>
                <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数智</a:t>
              </a:r>
              <a:endPar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a:p>
              <a:pPr lvl="0" algn="ctr" defTabSz="457200">
                <a:spcBef>
                  <a:spcPts val="0"/>
                </a:spcBef>
                <a:spcAft>
                  <a:spcPts val="0"/>
                </a:spcAft>
                <a:buClrTx/>
                <a:buSzTx/>
                <a:buFontTx/>
                <a:defRPr/>
              </a:pPr>
              <a:r>
                <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中枢</a:t>
              </a:r>
              <a:endPar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27" name="圆角矩形 26"/>
            <p:cNvSpPr/>
            <p:nvPr/>
          </p:nvSpPr>
          <p:spPr>
            <a:xfrm>
              <a:off x="723" y="8082"/>
              <a:ext cx="1474" cy="103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11" name="圆角矩形 10"/>
            <p:cNvSpPr/>
            <p:nvPr/>
          </p:nvSpPr>
          <p:spPr>
            <a:xfrm>
              <a:off x="723" y="4018"/>
              <a:ext cx="1474" cy="2806"/>
            </a:xfrm>
            <a:prstGeom prst="roundRect">
              <a:avLst>
                <a:gd name="adj" fmla="val 9904"/>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defTabSz="457200">
                <a:spcBef>
                  <a:spcPts val="0"/>
                </a:spcBef>
                <a:spcAft>
                  <a:spcPts val="0"/>
                </a:spcAft>
                <a:buClrTx/>
                <a:buSzTx/>
                <a:buFontTx/>
                <a:defRPr/>
              </a:pPr>
              <a:endPar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22" name="圆角矩形 21"/>
            <p:cNvSpPr/>
            <p:nvPr/>
          </p:nvSpPr>
          <p:spPr>
            <a:xfrm>
              <a:off x="568" y="3557"/>
              <a:ext cx="1784" cy="5704"/>
            </a:xfrm>
            <a:prstGeom prst="roundRect">
              <a:avLst>
                <a:gd name="adj" fmla="val 10538"/>
              </a:avLst>
            </a:prstGeom>
            <a:no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defTabSz="457200">
                <a:spcBef>
                  <a:spcPts val="0"/>
                </a:spcBef>
                <a:spcAft>
                  <a:spcPts val="0"/>
                </a:spcAft>
                <a:buClrTx/>
                <a:buSzTx/>
                <a:buFontTx/>
                <a:defRPr/>
              </a:pPr>
              <a:endPar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23" name="文本框 22"/>
            <p:cNvSpPr txBox="1"/>
            <p:nvPr/>
          </p:nvSpPr>
          <p:spPr>
            <a:xfrm>
              <a:off x="948" y="8249"/>
              <a:ext cx="1018" cy="725"/>
            </a:xfrm>
            <a:prstGeom prst="rect">
              <a:avLst/>
            </a:prstGeom>
            <a:noFill/>
          </p:spPr>
          <p:txBody>
            <a:bodyPr wrap="square" rtlCol="0" anchor="t">
              <a:spAutoFit/>
            </a:bodyPr>
            <a:p>
              <a:pPr lvl="0" algn="ctr" defTabSz="457200">
                <a:spcBef>
                  <a:spcPts val="0"/>
                </a:spcBef>
                <a:spcAft>
                  <a:spcPts val="0"/>
                </a:spcAft>
                <a:buClrTx/>
                <a:buSzTx/>
                <a:buFontTx/>
                <a:defRPr/>
              </a:pPr>
              <a:r>
                <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治理</a:t>
              </a:r>
              <a:endPar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a:p>
              <a:pPr lvl="0" algn="ctr" defTabSz="457200">
                <a:spcBef>
                  <a:spcPts val="0"/>
                </a:spcBef>
                <a:spcAft>
                  <a:spcPts val="0"/>
                </a:spcAft>
                <a:buClrTx/>
                <a:buSzTx/>
                <a:buFontTx/>
                <a:defRPr/>
              </a:pPr>
              <a:r>
                <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体系</a:t>
              </a:r>
              <a:endParaRPr kumimoji="1" lang="zh-CN" altLang="en-US" sz="1200" b="1" noProof="0" dirty="0" smtClean="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49" name="矩形 48"/>
            <p:cNvSpPr/>
            <p:nvPr/>
          </p:nvSpPr>
          <p:spPr>
            <a:xfrm>
              <a:off x="917" y="4822"/>
              <a:ext cx="1077" cy="273"/>
            </a:xfrm>
            <a:prstGeom prst="rect">
              <a:avLst/>
            </a:prstGeom>
            <a:solidFill>
              <a:schemeClr val="bg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lstStyle/>
            <a:p>
              <a:pPr algn="ctr"/>
              <a:r>
                <a:rPr lang="zh-CN" altLang="en-US" sz="1000">
                  <a:solidFill>
                    <a:schemeClr val="tx1">
                      <a:lumMod val="75000"/>
                      <a:lumOff val="25000"/>
                    </a:schemeClr>
                  </a:solidFill>
                </a:rPr>
                <a:t>政企运营</a:t>
              </a:r>
              <a:endParaRPr lang="zh-CN" altLang="en-US" sz="1000">
                <a:solidFill>
                  <a:schemeClr val="tx1">
                    <a:lumMod val="75000"/>
                    <a:lumOff val="25000"/>
                  </a:schemeClr>
                </a:solidFill>
              </a:endParaRPr>
            </a:p>
          </p:txBody>
        </p:sp>
        <p:sp>
          <p:nvSpPr>
            <p:cNvPr id="50" name="矩形 49"/>
            <p:cNvSpPr/>
            <p:nvPr/>
          </p:nvSpPr>
          <p:spPr>
            <a:xfrm>
              <a:off x="917" y="5146"/>
              <a:ext cx="1077" cy="273"/>
            </a:xfrm>
            <a:prstGeom prst="rect">
              <a:avLst/>
            </a:prstGeom>
            <a:solidFill>
              <a:schemeClr val="bg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lstStyle/>
            <a:p>
              <a:pPr algn="ctr"/>
              <a:r>
                <a:rPr lang="zh-CN" altLang="en-US" sz="1000">
                  <a:solidFill>
                    <a:schemeClr val="tx1">
                      <a:lumMod val="75000"/>
                      <a:lumOff val="25000"/>
                    </a:schemeClr>
                  </a:solidFill>
                </a:rPr>
                <a:t>服务运营</a:t>
              </a:r>
              <a:endParaRPr lang="zh-CN" altLang="en-US" sz="1000">
                <a:solidFill>
                  <a:schemeClr val="tx1">
                    <a:lumMod val="75000"/>
                    <a:lumOff val="25000"/>
                  </a:schemeClr>
                </a:solidFill>
              </a:endParaRPr>
            </a:p>
          </p:txBody>
        </p:sp>
        <p:sp>
          <p:nvSpPr>
            <p:cNvPr id="51" name="矩形 50"/>
            <p:cNvSpPr/>
            <p:nvPr/>
          </p:nvSpPr>
          <p:spPr>
            <a:xfrm>
              <a:off x="917" y="4497"/>
              <a:ext cx="1077" cy="273"/>
            </a:xfrm>
            <a:prstGeom prst="rect">
              <a:avLst/>
            </a:prstGeom>
            <a:solidFill>
              <a:schemeClr val="bg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lstStyle/>
            <a:p>
              <a:pPr algn="ctr"/>
              <a:r>
                <a:rPr lang="zh-CN" altLang="en-US" sz="1000">
                  <a:solidFill>
                    <a:schemeClr val="tx1">
                      <a:lumMod val="75000"/>
                      <a:lumOff val="25000"/>
                    </a:schemeClr>
                  </a:solidFill>
                </a:rPr>
                <a:t>市场运营</a:t>
              </a:r>
              <a:endParaRPr lang="zh-CN" altLang="en-US" sz="1000">
                <a:solidFill>
                  <a:schemeClr val="tx1">
                    <a:lumMod val="75000"/>
                    <a:lumOff val="25000"/>
                  </a:schemeClr>
                </a:solidFill>
              </a:endParaRPr>
            </a:p>
          </p:txBody>
        </p:sp>
        <p:sp>
          <p:nvSpPr>
            <p:cNvPr id="55" name="矩形 54"/>
            <p:cNvSpPr/>
            <p:nvPr/>
          </p:nvSpPr>
          <p:spPr>
            <a:xfrm>
              <a:off x="917" y="5471"/>
              <a:ext cx="1077" cy="273"/>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lstStyle/>
            <a:p>
              <a:pPr algn="ctr"/>
              <a:r>
                <a:rPr lang="zh-CN" altLang="en-US" sz="1000">
                  <a:solidFill>
                    <a:schemeClr val="tx1">
                      <a:lumMod val="75000"/>
                      <a:lumOff val="25000"/>
                    </a:schemeClr>
                  </a:solidFill>
                </a:rPr>
                <a:t>网络支撑</a:t>
              </a:r>
              <a:endParaRPr lang="zh-CN" altLang="en-US" sz="1000">
                <a:solidFill>
                  <a:schemeClr val="tx1">
                    <a:lumMod val="75000"/>
                    <a:lumOff val="25000"/>
                  </a:schemeClr>
                </a:solidFill>
              </a:endParaRPr>
            </a:p>
          </p:txBody>
        </p:sp>
        <p:sp>
          <p:nvSpPr>
            <p:cNvPr id="56" name="矩形 55"/>
            <p:cNvSpPr/>
            <p:nvPr/>
          </p:nvSpPr>
          <p:spPr>
            <a:xfrm>
              <a:off x="917" y="6121"/>
              <a:ext cx="1077" cy="273"/>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1000">
                  <a:solidFill>
                    <a:schemeClr val="tx1">
                      <a:lumMod val="75000"/>
                      <a:lumOff val="25000"/>
                    </a:schemeClr>
                  </a:solidFill>
                </a:rPr>
                <a:t>企业管理</a:t>
              </a:r>
              <a:endParaRPr lang="zh-CN" altLang="en-US" sz="1000">
                <a:solidFill>
                  <a:schemeClr val="tx1">
                    <a:lumMod val="75000"/>
                    <a:lumOff val="25000"/>
                  </a:schemeClr>
                </a:solidFill>
              </a:endParaRPr>
            </a:p>
          </p:txBody>
        </p:sp>
        <p:sp>
          <p:nvSpPr>
            <p:cNvPr id="68" name="矩形 67"/>
            <p:cNvSpPr/>
            <p:nvPr/>
          </p:nvSpPr>
          <p:spPr>
            <a:xfrm>
              <a:off x="917" y="5796"/>
              <a:ext cx="1077" cy="273"/>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1000">
                  <a:solidFill>
                    <a:schemeClr val="tx1">
                      <a:lumMod val="75000"/>
                      <a:lumOff val="25000"/>
                    </a:schemeClr>
                  </a:solidFill>
                </a:rPr>
                <a:t>科技创新</a:t>
              </a:r>
              <a:endParaRPr lang="zh-CN" altLang="en-US" sz="1000">
                <a:solidFill>
                  <a:schemeClr val="tx1">
                    <a:lumMod val="75000"/>
                    <a:lumOff val="25000"/>
                  </a:schemeClr>
                </a:solidFill>
              </a:endParaRPr>
            </a:p>
          </p:txBody>
        </p:sp>
        <p:sp>
          <p:nvSpPr>
            <p:cNvPr id="72" name="文本框 71"/>
            <p:cNvSpPr txBox="1"/>
            <p:nvPr/>
          </p:nvSpPr>
          <p:spPr>
            <a:xfrm>
              <a:off x="824" y="4036"/>
              <a:ext cx="1331" cy="434"/>
            </a:xfrm>
            <a:prstGeom prst="rect">
              <a:avLst/>
            </a:prstGeom>
            <a:noFill/>
          </p:spPr>
          <p:txBody>
            <a:bodyPr wrap="square" rtlCol="0" anchor="t">
              <a:spAutoFit/>
            </a:bodyPr>
            <a:p>
              <a:pPr lvl="0" algn="ctr" defTabSz="457200">
                <a:spcBef>
                  <a:spcPts val="0"/>
                </a:spcBef>
                <a:spcAft>
                  <a:spcPts val="0"/>
                </a:spcAft>
                <a:buClrTx/>
                <a:buSzTx/>
                <a:buFontTx/>
                <a:defRPr/>
              </a:pPr>
              <a:r>
                <a:rPr kumimoji="1" lang="zh-CN" altLang="en-US" sz="1200" b="1" noProof="0" dirty="0" smtClean="0">
                  <a:ln>
                    <a:noFill/>
                  </a:ln>
                  <a:solidFill>
                    <a:srgbClr val="000000"/>
                  </a:solidFill>
                  <a:effectLst/>
                  <a:uLnTx/>
                  <a:uFillTx/>
                  <a:latin typeface="微软雅黑" panose="020B0503020204020204" pitchFamily="34" charset="-122"/>
                  <a:ea typeface="微软雅黑" panose="020B0503020204020204" pitchFamily="34" charset="-122"/>
                  <a:sym typeface="+mn-ea"/>
                </a:rPr>
                <a:t>场景焕新</a:t>
              </a:r>
              <a:endParaRPr kumimoji="1" lang="zh-CN" altLang="en-US" sz="1200" b="1" noProof="0" dirty="0" smtClean="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76" name="矩形 75"/>
            <p:cNvSpPr/>
            <p:nvPr/>
          </p:nvSpPr>
          <p:spPr>
            <a:xfrm>
              <a:off x="917" y="6446"/>
              <a:ext cx="1077" cy="273"/>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1000">
                  <a:solidFill>
                    <a:schemeClr val="tx1">
                      <a:lumMod val="75000"/>
                      <a:lumOff val="25000"/>
                    </a:schemeClr>
                  </a:solidFill>
                </a:rPr>
                <a:t>产业赋能</a:t>
              </a:r>
              <a:endParaRPr lang="zh-CN" altLang="en-US" sz="1000">
                <a:solidFill>
                  <a:schemeClr val="tx1">
                    <a:lumMod val="75000"/>
                    <a:lumOff val="25000"/>
                  </a:schemeClr>
                </a:solidFill>
              </a:endParaRPr>
            </a:p>
          </p:txBody>
        </p:sp>
        <p:sp>
          <p:nvSpPr>
            <p:cNvPr id="79" name="文本框 78"/>
            <p:cNvSpPr txBox="1"/>
            <p:nvPr/>
          </p:nvSpPr>
          <p:spPr>
            <a:xfrm>
              <a:off x="779" y="3540"/>
              <a:ext cx="1373" cy="396"/>
            </a:xfrm>
            <a:prstGeom prst="rect">
              <a:avLst/>
            </a:prstGeom>
            <a:noFill/>
          </p:spPr>
          <p:txBody>
            <a:bodyPr wrap="square" rtlCol="0" anchor="t">
              <a:noAutofit/>
            </a:bodyPr>
            <a:p>
              <a:pPr algn="ctr" defTabSz="457200">
                <a:lnSpc>
                  <a:spcPct val="120000"/>
                </a:lnSpc>
                <a:spcBef>
                  <a:spcPts val="0"/>
                </a:spcBef>
                <a:spcAft>
                  <a:spcPts val="0"/>
                </a:spcAft>
                <a:buClrTx/>
                <a:buSzTx/>
                <a:buFontTx/>
                <a:defRPr/>
              </a:pPr>
              <a:r>
                <a:rPr lang="zh-CN" sz="12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总体蓝图</a:t>
              </a:r>
              <a:endParaRPr lang="zh-CN" sz="12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89" name="圆角矩形 88"/>
            <p:cNvSpPr/>
            <p:nvPr>
              <p:custDataLst>
                <p:tags r:id="rId26"/>
              </p:custDataLst>
            </p:nvPr>
          </p:nvSpPr>
          <p:spPr>
            <a:xfrm>
              <a:off x="568" y="9414"/>
              <a:ext cx="1783" cy="378"/>
            </a:xfrm>
            <a:prstGeom prst="roundRect">
              <a:avLst/>
            </a:prstGeom>
            <a:no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defTabSz="457200">
                <a:spcBef>
                  <a:spcPts val="0"/>
                </a:spcBef>
                <a:spcAft>
                  <a:spcPts val="0"/>
                </a:spcAft>
                <a:buClrTx/>
                <a:buSzTx/>
                <a:buFontTx/>
                <a:defRPr/>
              </a:pPr>
              <a:r>
                <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机制保障</a:t>
              </a:r>
              <a:endPar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2" name="圆角矩形 141"/>
            <p:cNvSpPr/>
            <p:nvPr>
              <p:custDataLst>
                <p:tags r:id="rId27"/>
              </p:custDataLst>
            </p:nvPr>
          </p:nvSpPr>
          <p:spPr>
            <a:xfrm>
              <a:off x="568" y="9928"/>
              <a:ext cx="1783" cy="378"/>
            </a:xfrm>
            <a:prstGeom prst="roundRect">
              <a:avLst/>
            </a:prstGeom>
            <a:no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defTabSz="457200">
                <a:spcBef>
                  <a:spcPts val="0"/>
                </a:spcBef>
                <a:spcAft>
                  <a:spcPts val="0"/>
                </a:spcAft>
                <a:buClrTx/>
                <a:buSzTx/>
                <a:buFontTx/>
                <a:defRPr/>
              </a:pPr>
              <a:r>
                <a:rPr lang="en-US" altLang="zh-CN"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a:t>
              </a:r>
              <a:endParaRPr lang="en-US" altLang="zh-CN" sz="1200" b="1" noProof="0" dirty="0">
                <a:ln>
                  <a:noFill/>
                </a:ln>
                <a:solidFill>
                  <a:srgbClr val="000000"/>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35" name="Freeform 22"/>
          <p:cNvSpPr/>
          <p:nvPr/>
        </p:nvSpPr>
        <p:spPr bwMode="auto">
          <a:xfrm rot="5400000">
            <a:off x="7830820" y="4043045"/>
            <a:ext cx="1821815" cy="38163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chemeClr val="accent1">
                  <a:lumMod val="5000"/>
                  <a:lumOff val="95000"/>
                  <a:alpha val="0"/>
                </a:schemeClr>
              </a:gs>
              <a:gs pos="53000">
                <a:schemeClr val="accent1">
                  <a:lumMod val="45000"/>
                  <a:lumOff val="55000"/>
                  <a:alpha val="44000"/>
                </a:schemeClr>
              </a:gs>
              <a:gs pos="80000">
                <a:schemeClr val="accent1">
                  <a:lumMod val="45000"/>
                  <a:lumOff val="55000"/>
                  <a:alpha val="61000"/>
                </a:schemeClr>
              </a:gs>
              <a:gs pos="100000">
                <a:schemeClr val="accent1">
                  <a:lumMod val="60000"/>
                  <a:lumOff val="40000"/>
                  <a:alpha val="48000"/>
                </a:schemeClr>
              </a:gs>
            </a:gsLst>
            <a:lin ang="162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ustDataLst>
      <p:tags r:id="rId28"/>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线连接符 4"/>
          <p:cNvCxnSpPr/>
          <p:nvPr/>
        </p:nvCxnSpPr>
        <p:spPr>
          <a:xfrm>
            <a:off x="3344633" y="1228165"/>
            <a:ext cx="0" cy="4545106"/>
          </a:xfrm>
          <a:prstGeom prst="line">
            <a:avLst/>
          </a:prstGeom>
          <a:ln>
            <a:gradFill>
              <a:gsLst>
                <a:gs pos="0">
                  <a:schemeClr val="accent1">
                    <a:alpha val="0"/>
                  </a:schemeClr>
                </a:gs>
                <a:gs pos="29000">
                  <a:schemeClr val="accent1"/>
                </a:gs>
                <a:gs pos="8300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519889" y="1443318"/>
            <a:ext cx="824743" cy="1200329"/>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1" lang="zh-CN" altLang="en-US"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目录</a:t>
            </a:r>
            <a:endParaRPr kumimoji="1" lang="zh-CN" altLang="en-US"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rot="5400000">
            <a:off x="1775612" y="3518823"/>
            <a:ext cx="2491708" cy="646331"/>
          </a:xfrm>
          <a:prstGeom prst="rect">
            <a:avLst/>
          </a:prstGeom>
          <a:noFill/>
        </p:spPr>
        <p:txBody>
          <a:bodyPr wrap="none"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EEEFEE"/>
                </a:solidFill>
                <a:effectLst/>
                <a:uLnTx/>
                <a:uFillTx/>
                <a:latin typeface="微软雅黑" panose="020B0503020204020204" pitchFamily="34" charset="-122"/>
                <a:ea typeface="微软雅黑" panose="020B0503020204020204" pitchFamily="34" charset="-122"/>
                <a:cs typeface="+mn-cs"/>
              </a:rPr>
              <a:t>CONTENT</a:t>
            </a:r>
            <a:endParaRPr kumimoji="1" lang="zh-CN" altLang="en-US" sz="3600" b="1" i="0" u="none" strike="noStrike" kern="1200" cap="none" spc="0" normalizeH="0" baseline="0" noProof="0" dirty="0">
              <a:ln>
                <a:noFill/>
              </a:ln>
              <a:solidFill>
                <a:srgbClr val="EEEFEE"/>
              </a:solidFill>
              <a:effectLst/>
              <a:uLnTx/>
              <a:uFillTx/>
              <a:latin typeface="微软雅黑" panose="020B0503020204020204" pitchFamily="34" charset="-122"/>
              <a:ea typeface="微软雅黑" panose="020B0503020204020204" pitchFamily="34" charset="-122"/>
              <a:cs typeface="+mn-cs"/>
            </a:endParaRPr>
          </a:p>
        </p:txBody>
      </p:sp>
      <p:sp>
        <p:nvSpPr>
          <p:cNvPr id="8" name="Parallelogram 16"/>
          <p:cNvSpPr/>
          <p:nvPr>
            <p:custDataLst>
              <p:tags r:id="rId1"/>
            </p:custDataLst>
          </p:nvPr>
        </p:nvSpPr>
        <p:spPr>
          <a:xfrm>
            <a:off x="4455160" y="2583180"/>
            <a:ext cx="4114800" cy="501650"/>
          </a:xfrm>
          <a:prstGeom prst="parallelogram">
            <a:avLst>
              <a:gd name="adj" fmla="val 35345"/>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2000" b="1" dirty="0">
              <a:solidFill>
                <a:srgbClr val="FFFFFF"/>
              </a:solidFill>
              <a:latin typeface="微软雅黑" panose="020B0503020204020204" pitchFamily="34" charset="-122"/>
              <a:ea typeface="微软雅黑" panose="020B0503020204020204" pitchFamily="34" charset="-122"/>
              <a:sym typeface="+mn-ea"/>
            </a:endParaRPr>
          </a:p>
        </p:txBody>
      </p:sp>
      <p:sp>
        <p:nvSpPr>
          <p:cNvPr id="9" name="Parallelogram 2"/>
          <p:cNvSpPr/>
          <p:nvPr>
            <p:custDataLst>
              <p:tags r:id="rId2"/>
            </p:custDataLst>
          </p:nvPr>
        </p:nvSpPr>
        <p:spPr>
          <a:xfrm>
            <a:off x="3852545" y="2583180"/>
            <a:ext cx="780415" cy="501650"/>
          </a:xfrm>
          <a:prstGeom prst="parallelogram">
            <a:avLst>
              <a:gd name="adj" fmla="val 35345"/>
            </a:avLst>
          </a:prstGeom>
          <a:solidFill>
            <a:schemeClr val="tx1">
              <a:lumMod val="50000"/>
              <a:lumOff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02</a:t>
            </a:r>
            <a:endParaRPr kumimoji="1"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0" name="文本框 18"/>
          <p:cNvSpPr txBox="1"/>
          <p:nvPr>
            <p:custDataLst>
              <p:tags r:id="rId3"/>
            </p:custDataLst>
          </p:nvPr>
        </p:nvSpPr>
        <p:spPr>
          <a:xfrm flipH="1">
            <a:off x="4643120" y="2604135"/>
            <a:ext cx="3778885" cy="460375"/>
          </a:xfrm>
          <a:prstGeom prst="rect">
            <a:avLst/>
          </a:prstGeom>
          <a:solidFill>
            <a:schemeClr val="bg1">
              <a:lumMod val="95000"/>
            </a:schemeClr>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cs typeface="+mn-cs"/>
              </a:rPr>
              <a:t>规划路径</a:t>
            </a:r>
            <a:endParaRPr kumimoji="0" lang="zh-CN" altLang="en-US" sz="2400" b="1"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cs typeface="+mn-cs"/>
            </a:endParaRPr>
          </a:p>
        </p:txBody>
      </p:sp>
      <p:grpSp>
        <p:nvGrpSpPr>
          <p:cNvPr id="13" name="组合 12"/>
          <p:cNvGrpSpPr/>
          <p:nvPr/>
        </p:nvGrpSpPr>
        <p:grpSpPr>
          <a:xfrm>
            <a:off x="3862705" y="1664970"/>
            <a:ext cx="4717415" cy="501650"/>
            <a:chOff x="5956" y="4272"/>
            <a:chExt cx="7429" cy="790"/>
          </a:xfrm>
        </p:grpSpPr>
        <p:sp>
          <p:nvSpPr>
            <p:cNvPr id="26" name="Parallelogram 16"/>
            <p:cNvSpPr/>
            <p:nvPr/>
          </p:nvSpPr>
          <p:spPr>
            <a:xfrm>
              <a:off x="6905" y="4272"/>
              <a:ext cx="6480" cy="790"/>
            </a:xfrm>
            <a:prstGeom prst="parallelogram">
              <a:avLst>
                <a:gd name="adj" fmla="val 35345"/>
              </a:avLst>
            </a:prstGeom>
            <a:solidFill>
              <a:srgbClr val="E5F0F9"/>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27" name="Parallelogram 2"/>
            <p:cNvSpPr/>
            <p:nvPr/>
          </p:nvSpPr>
          <p:spPr>
            <a:xfrm>
              <a:off x="5956" y="4272"/>
              <a:ext cx="1229" cy="790"/>
            </a:xfrm>
            <a:prstGeom prst="parallelogram">
              <a:avLst>
                <a:gd name="adj" fmla="val 35345"/>
              </a:avLst>
            </a:prstGeom>
            <a:solidFill>
              <a:srgbClr val="0070C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kumimoji="1" lang="en-US" altLang="zh-CN" sz="2000" b="1">
                  <a:solidFill>
                    <a:srgbClr val="FFFFFF"/>
                  </a:solidFill>
                  <a:latin typeface="微软雅黑" panose="020B0503020204020204" pitchFamily="34" charset="-122"/>
                  <a:ea typeface="微软雅黑" panose="020B0503020204020204" pitchFamily="34" charset="-122"/>
                </a:rPr>
                <a:t>01</a:t>
              </a:r>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28" name="文本框 18"/>
            <p:cNvSpPr txBox="1"/>
            <p:nvPr/>
          </p:nvSpPr>
          <p:spPr>
            <a:xfrm flipH="1">
              <a:off x="7275" y="4305"/>
              <a:ext cx="5876" cy="725"/>
            </a:xfrm>
            <a:prstGeom prst="rect">
              <a:avLst/>
            </a:prstGeom>
            <a:noFill/>
          </p:spPr>
          <p:txBody>
            <a:bodyPr wrap="square" rtlCol="0">
              <a:spAutoFit/>
            </a:bodyPr>
            <a:lstStyle>
              <a:defPPr>
                <a:defRPr lang="zh-CN"/>
              </a:defPPr>
              <a:lvl1pPr marR="0" lvl="0" indent="0" algn="ctr" defTabSz="457200" fontAlgn="auto">
                <a:lnSpc>
                  <a:spcPct val="100000"/>
                </a:lnSpc>
                <a:spcBef>
                  <a:spcPts val="0"/>
                </a:spcBef>
                <a:spcAft>
                  <a:spcPts val="0"/>
                </a:spcAft>
                <a:buClrTx/>
                <a:buSzTx/>
                <a:buFontTx/>
                <a:buNone/>
                <a:defRPr kumimoji="0" sz="2400" b="1" i="0" u="none" strike="noStrike" cap="none" spc="0" normalizeH="0" baseline="0">
                  <a:ln>
                    <a:noFill/>
                  </a:ln>
                  <a:solidFill>
                    <a:srgbClr val="0070C0"/>
                  </a:solidFill>
                  <a:effectLst/>
                  <a:uLnTx/>
                  <a:uFillTx/>
                  <a:latin typeface="微软雅黑" panose="020B0503020204020204" pitchFamily="34" charset="-122"/>
                  <a:ea typeface="微软雅黑" panose="020B0503020204020204" pitchFamily="34" charset="-122"/>
                </a:defRPr>
              </a:lvl1pPr>
            </a:lstStyle>
            <a:p>
              <a:r>
                <a:rPr lang="zh-CN" altLang="en-US" dirty="0"/>
                <a:t>问题</a:t>
              </a:r>
              <a:r>
                <a:rPr lang="zh-CN" altLang="en-US" dirty="0"/>
                <a:t>分析</a:t>
              </a:r>
              <a:endParaRPr lang="zh-CN" altLang="en-US" dirty="0"/>
            </a:p>
          </p:txBody>
        </p:sp>
      </p:grpSp>
      <p:grpSp>
        <p:nvGrpSpPr>
          <p:cNvPr id="12" name="组合 11"/>
          <p:cNvGrpSpPr/>
          <p:nvPr/>
        </p:nvGrpSpPr>
        <p:grpSpPr>
          <a:xfrm>
            <a:off x="3782060" y="3513455"/>
            <a:ext cx="4717415" cy="501650"/>
            <a:chOff x="5956" y="5794"/>
            <a:chExt cx="7429" cy="790"/>
          </a:xfrm>
          <a:solidFill>
            <a:schemeClr val="bg1">
              <a:lumMod val="95000"/>
            </a:schemeClr>
          </a:solidFill>
        </p:grpSpPr>
        <p:sp>
          <p:nvSpPr>
            <p:cNvPr id="30" name="Parallelogram 16"/>
            <p:cNvSpPr/>
            <p:nvPr/>
          </p:nvSpPr>
          <p:spPr>
            <a:xfrm>
              <a:off x="6905" y="5794"/>
              <a:ext cx="6480" cy="790"/>
            </a:xfrm>
            <a:prstGeom prst="parallelogram">
              <a:avLst>
                <a:gd name="adj" fmla="val 35345"/>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1" name="Parallelogram 2"/>
            <p:cNvSpPr/>
            <p:nvPr/>
          </p:nvSpPr>
          <p:spPr>
            <a:xfrm>
              <a:off x="5956" y="5794"/>
              <a:ext cx="1229" cy="790"/>
            </a:xfrm>
            <a:prstGeom prst="parallelogram">
              <a:avLst>
                <a:gd name="adj" fmla="val 35345"/>
              </a:avLst>
            </a:prstGeom>
            <a:solidFill>
              <a:schemeClr val="bg1">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kumimoji="1" lang="en-US" altLang="zh-CN" sz="2000" b="1" dirty="0">
                  <a:solidFill>
                    <a:srgbClr val="FFFFFF"/>
                  </a:solidFill>
                  <a:latin typeface="微软雅黑" panose="020B0503020204020204" pitchFamily="34" charset="-122"/>
                  <a:ea typeface="微软雅黑" panose="020B0503020204020204" pitchFamily="34" charset="-122"/>
                </a:rPr>
                <a:t>03</a:t>
              </a:r>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2" name="文本框 18"/>
            <p:cNvSpPr txBox="1"/>
            <p:nvPr/>
          </p:nvSpPr>
          <p:spPr>
            <a:xfrm flipH="1">
              <a:off x="7275" y="5827"/>
              <a:ext cx="5876" cy="725"/>
            </a:xfrm>
            <a:prstGeom prst="rect">
              <a:avLst/>
            </a:prstGeom>
            <a:grpFill/>
          </p:spPr>
          <p:txBody>
            <a:bodyPr wrap="square" rtlCol="0">
              <a:spAutoFit/>
            </a:bodyPr>
            <a:lstStyle>
              <a:defPPr>
                <a:defRPr lang="zh-CN"/>
              </a:defPPr>
              <a:lvl1pPr marR="0" lvl="0" indent="0" algn="ctr" defTabSz="457200" fontAlgn="auto">
                <a:lnSpc>
                  <a:spcPct val="100000"/>
                </a:lnSpc>
                <a:spcBef>
                  <a:spcPts val="0"/>
                </a:spcBef>
                <a:spcAft>
                  <a:spcPts val="0"/>
                </a:spcAft>
                <a:buClrTx/>
                <a:buSzTx/>
                <a:buFontTx/>
                <a:buNone/>
                <a:defRPr kumimoji="0" sz="2400" b="1" i="0" u="none" strike="noStrike" cap="none" spc="0" normalizeH="0" baseline="0">
                  <a:ln>
                    <a:noFill/>
                  </a:ln>
                  <a:solidFill>
                    <a:srgbClr val="0070C0"/>
                  </a:solidFill>
                  <a:effectLst/>
                  <a:uLnTx/>
                  <a:uFillTx/>
                  <a:latin typeface="微软雅黑" panose="020B0503020204020204" pitchFamily="34" charset="-122"/>
                  <a:ea typeface="微软雅黑" panose="020B0503020204020204" pitchFamily="34" charset="-122"/>
                </a:defRPr>
              </a:lvl1pPr>
            </a:lstStyle>
            <a:p>
              <a:r>
                <a:rPr lang="zh-CN" altLang="en-US" dirty="0">
                  <a:solidFill>
                    <a:schemeClr val="bg1">
                      <a:lumMod val="50000"/>
                    </a:schemeClr>
                  </a:solidFill>
                  <a:sym typeface="+mn-ea"/>
                </a:rPr>
                <a:t>行动计划</a:t>
              </a:r>
              <a:endParaRPr lang="en-US" altLang="zh-CN" dirty="0">
                <a:solidFill>
                  <a:schemeClr val="bg1">
                    <a:lumMod val="50000"/>
                  </a:schemeClr>
                </a:solidFill>
                <a:sym typeface="+mn-ea"/>
              </a:endParaRPr>
            </a:p>
          </p:txBody>
        </p:sp>
      </p:grpSp>
      <p:grpSp>
        <p:nvGrpSpPr>
          <p:cNvPr id="14" name="组合 13"/>
          <p:cNvGrpSpPr/>
          <p:nvPr/>
        </p:nvGrpSpPr>
        <p:grpSpPr>
          <a:xfrm>
            <a:off x="3782060" y="4438015"/>
            <a:ext cx="4717415" cy="501650"/>
            <a:chOff x="5956" y="7316"/>
            <a:chExt cx="7429" cy="790"/>
          </a:xfrm>
          <a:solidFill>
            <a:schemeClr val="bg1">
              <a:lumMod val="95000"/>
            </a:schemeClr>
          </a:solidFill>
        </p:grpSpPr>
        <p:sp>
          <p:nvSpPr>
            <p:cNvPr id="34" name="Parallelogram 16"/>
            <p:cNvSpPr/>
            <p:nvPr/>
          </p:nvSpPr>
          <p:spPr>
            <a:xfrm>
              <a:off x="6905" y="7316"/>
              <a:ext cx="6480" cy="790"/>
            </a:xfrm>
            <a:prstGeom prst="parallelogram">
              <a:avLst>
                <a:gd name="adj" fmla="val 35345"/>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5" name="Parallelogram 2"/>
            <p:cNvSpPr/>
            <p:nvPr/>
          </p:nvSpPr>
          <p:spPr>
            <a:xfrm>
              <a:off x="5956" y="7316"/>
              <a:ext cx="1229" cy="790"/>
            </a:xfrm>
            <a:prstGeom prst="parallelogram">
              <a:avLst>
                <a:gd name="adj" fmla="val 35345"/>
              </a:avLst>
            </a:prstGeom>
            <a:solidFill>
              <a:schemeClr val="bg1">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kumimoji="1" lang="en-US" altLang="zh-CN" sz="2000" b="1" dirty="0">
                  <a:solidFill>
                    <a:srgbClr val="FFFFFF"/>
                  </a:solidFill>
                  <a:latin typeface="微软雅黑" panose="020B0503020204020204" pitchFamily="34" charset="-122"/>
                  <a:ea typeface="微软雅黑" panose="020B0503020204020204" pitchFamily="34" charset="-122"/>
                </a:rPr>
                <a:t>04</a:t>
              </a:r>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6" name="文本框 18"/>
            <p:cNvSpPr txBox="1"/>
            <p:nvPr/>
          </p:nvSpPr>
          <p:spPr>
            <a:xfrm flipH="1">
              <a:off x="7303" y="7349"/>
              <a:ext cx="5876" cy="725"/>
            </a:xfrm>
            <a:prstGeom prst="rect">
              <a:avLst/>
            </a:prstGeom>
            <a:grpFill/>
          </p:spPr>
          <p:txBody>
            <a:bodyPr wrap="square" rtlCol="0">
              <a:spAutoFit/>
            </a:bodyPr>
            <a:lstStyle>
              <a:defPPr>
                <a:defRPr lang="zh-CN"/>
              </a:defPPr>
              <a:lvl1pPr marR="0" lvl="0" indent="0" algn="ctr" defTabSz="457200" fontAlgn="auto">
                <a:lnSpc>
                  <a:spcPct val="100000"/>
                </a:lnSpc>
                <a:spcBef>
                  <a:spcPts val="0"/>
                </a:spcBef>
                <a:spcAft>
                  <a:spcPts val="0"/>
                </a:spcAft>
                <a:buClrTx/>
                <a:buSzTx/>
                <a:buFontTx/>
                <a:buNone/>
                <a:defRPr kumimoji="0" sz="2400" b="1" i="0" u="none" strike="noStrike" cap="none" spc="0" normalizeH="0" baseline="0">
                  <a:ln>
                    <a:noFill/>
                  </a:ln>
                  <a:solidFill>
                    <a:srgbClr val="0070C0"/>
                  </a:solidFill>
                  <a:effectLst/>
                  <a:uLnTx/>
                  <a:uFillTx/>
                  <a:latin typeface="微软雅黑" panose="020B0503020204020204" pitchFamily="34" charset="-122"/>
                  <a:ea typeface="微软雅黑" panose="020B0503020204020204" pitchFamily="34" charset="-122"/>
                </a:defRPr>
              </a:lvl1pPr>
            </a:lstStyle>
            <a:p>
              <a:r>
                <a:rPr lang="zh-CN" altLang="en-US" dirty="0">
                  <a:solidFill>
                    <a:schemeClr val="bg1">
                      <a:lumMod val="50000"/>
                    </a:schemeClr>
                  </a:solidFill>
                  <a:sym typeface="+mn-ea"/>
                </a:rPr>
                <a:t>任务清单</a:t>
              </a:r>
              <a:endParaRPr lang="zh-CN" altLang="en-US" dirty="0">
                <a:solidFill>
                  <a:schemeClr val="bg1">
                    <a:lumMod val="50000"/>
                  </a:schemeClr>
                </a:solidFill>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custDataLst>
              <p:tags r:id="rId1"/>
            </p:custDataLst>
          </p:nvPr>
        </p:nvSpPr>
        <p:spPr>
          <a:xfrm>
            <a:off x="-21338" y="892653"/>
            <a:ext cx="12192001" cy="720000"/>
          </a:xfrm>
          <a:prstGeom prst="rect">
            <a:avLst/>
          </a:prstGeom>
          <a:noFill/>
          <a:ln w="12700" cap="flat" cmpd="sng" algn="ctr">
            <a:noFill/>
            <a:prstDash val="solid"/>
            <a:miter lim="800000"/>
          </a:ln>
          <a:effectLst/>
        </p:spPr>
        <p:txBody>
          <a:bodyPr vertOverflow="overflow" horzOverflow="overflow" vert="horz" wrap="square" lIns="540000" tIns="45720" rIns="540000" bIns="45720" numCol="1" spcCol="0" rtlCol="0" fromWordArt="0" anchor="ctr" anchorCtr="0" forceAA="0" compatLnSpc="1">
            <a:noAutofit/>
          </a:bodyPr>
          <a:lstStyle>
            <a:defPPr>
              <a:defRPr lang="en-US"/>
            </a:defPPr>
            <a:lvl1pPr marR="0" lvl="0" algn="ctr" defTabSz="914400" fontAlgn="auto">
              <a:lnSpc>
                <a:spcPct val="120000"/>
              </a:lnSpc>
              <a:spcBef>
                <a:spcPts val="0"/>
              </a:spcBef>
              <a:spcAft>
                <a:spcPts val="0"/>
              </a:spcAft>
              <a:buClrTx/>
              <a:buSzTx/>
              <a:buFontTx/>
              <a:buNone/>
              <a:defRPr sz="1600" b="1" kern="0">
                <a:ln>
                  <a:noFill/>
                </a:ln>
                <a:solidFill>
                  <a:srgbClr val="0070BF"/>
                </a:solidFill>
                <a:effectLst/>
                <a:uLnTx/>
                <a:uFillTx/>
                <a:latin typeface="Arial" panose="020B0604020202020204" pitchFamily="34" charset="0"/>
                <a:ea typeface="微软雅黑" panose="020B0503020204020204" pitchFamily="3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1" indent="-254000" algn="l" defTabSz="914400" rtl="0" eaLnBrk="0" fontAlgn="auto" latinLnBrk="0" hangingPunct="1">
              <a:lnSpc>
                <a:spcPct val="109000"/>
              </a:lnSpc>
              <a:spcBef>
                <a:spcPts val="0"/>
              </a:spcBef>
              <a:spcAft>
                <a:spcPts val="0"/>
              </a:spcAft>
              <a:buClrTx/>
              <a:buSzTx/>
              <a:buFontTx/>
              <a:buNone/>
              <a:defRPr/>
            </a:pPr>
            <a:r>
              <a:rPr kumimoji="0" lang="en-US" altLang="zh-CN" sz="1400" b="0" i="0" u="none" strike="noStrike" kern="0" cap="none" spc="0" normalizeH="0" baseline="0" noProof="0" dirty="0">
                <a:ln>
                  <a:noFill/>
                </a:ln>
                <a:solidFill>
                  <a:srgbClr val="009CE2">
                    <a:alpha val="100000"/>
                  </a:srgbClr>
                </a:solidFill>
                <a:effectLst/>
                <a:uLnTx/>
                <a:uFillTx/>
                <a:latin typeface="Wingdings" panose="05000000000000000000"/>
                <a:ea typeface="Wingdings" panose="05000000000000000000"/>
                <a:cs typeface="Wingdings" panose="05000000000000000000"/>
                <a:sym typeface="+mn-ea"/>
              </a:rPr>
              <a:t>n</a:t>
            </a:r>
            <a:r>
              <a:rPr kumimoji="0" lang="zh-CN" altLang="en-US" sz="1400" b="0" i="0" u="none" strike="noStrike" kern="0" cap="none" spc="-330" normalizeH="0" baseline="0" noProof="0" dirty="0">
                <a:ln>
                  <a:noFill/>
                </a:ln>
                <a:solidFill>
                  <a:srgbClr val="009CE2">
                    <a:alpha val="100000"/>
                  </a:srgbClr>
                </a:solidFill>
                <a:effectLst/>
                <a:uLnTx/>
                <a:uFillTx/>
                <a:latin typeface="Wingdings" panose="05000000000000000000"/>
                <a:ea typeface="Wingdings" panose="05000000000000000000"/>
                <a:cs typeface="Wingdings" panose="05000000000000000000"/>
                <a:sym typeface="+mn-ea"/>
              </a:rPr>
              <a:t> </a:t>
            </a:r>
            <a:r>
              <a:rPr kumimoji="0" lang="zh-CN" altLang="en-US"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构建“梳</a:t>
            </a:r>
            <a:r>
              <a:rPr kumimoji="0" lang="en-US" altLang="zh-CN"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a:t>
            </a:r>
            <a:r>
              <a:rPr kumimoji="0" lang="zh-CN" altLang="en-US"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理</a:t>
            </a:r>
            <a:r>
              <a:rPr kumimoji="0" lang="en-US" altLang="zh-CN"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a:t>
            </a:r>
            <a:r>
              <a:rPr kumimoji="0" lang="zh-CN" altLang="en-US"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规</a:t>
            </a:r>
            <a:r>
              <a:rPr kumimoji="0" lang="en-US" altLang="zh-CN"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a:t>
            </a:r>
            <a:r>
              <a:rPr kumimoji="0" lang="zh-CN" altLang="en-US"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建</a:t>
            </a:r>
            <a:r>
              <a:rPr kumimoji="0" lang="en-US" altLang="zh-CN"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a:t>
            </a:r>
            <a:r>
              <a:rPr kumimoji="0" lang="zh-CN" altLang="en-US"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运</a:t>
            </a:r>
            <a:r>
              <a:rPr kumimoji="0" lang="en-US" altLang="zh-CN"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a:t>
            </a:r>
            <a:r>
              <a:rPr kumimoji="0" lang="zh-CN" altLang="en-US"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rPr>
              <a:t>五步法梳理市场领域数智化转型工作，对核心场景进行痛点分析、制定升级举措，并制定目标和进行任务分解，确保数智化转型规划符合发展策略要求并切实落地。</a:t>
            </a:r>
            <a:endParaRPr kumimoji="0" lang="zh-CN" altLang="en-US" sz="1400" b="1" i="0" u="none" strike="noStrike" kern="0" cap="none" spc="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sym typeface="+mn-ea"/>
            </a:endParaRPr>
          </a:p>
          <a:p>
            <a:pPr marL="0" marR="0" lvl="1" indent="-254000" algn="l" defTabSz="914400" rtl="0" eaLnBrk="0" fontAlgn="auto" latinLnBrk="0" hangingPunct="1">
              <a:lnSpc>
                <a:spcPct val="109000"/>
              </a:lnSpc>
              <a:spcBef>
                <a:spcPts val="0"/>
              </a:spcBef>
              <a:spcAft>
                <a:spcPts val="0"/>
              </a:spcAft>
              <a:buClrTx/>
              <a:buSzTx/>
              <a:buFontTx/>
              <a:buNone/>
              <a:defRPr/>
            </a:pPr>
            <a:r>
              <a:rPr lang="en-US" altLang="zh-CN" sz="1400" kern="0" noProof="0" dirty="0">
                <a:ln>
                  <a:noFill/>
                </a:ln>
                <a:solidFill>
                  <a:srgbClr val="C00000">
                    <a:alpha val="100000"/>
                  </a:srgbClr>
                </a:solidFill>
                <a:effectLst/>
                <a:uLnTx/>
                <a:uFillTx/>
                <a:latin typeface="Wingdings" panose="05000000000000000000"/>
                <a:ea typeface="Wingdings" panose="05000000000000000000"/>
                <a:cs typeface="Wingdings" panose="05000000000000000000"/>
                <a:sym typeface="+mn-ea"/>
              </a:rPr>
              <a:t>n</a:t>
            </a:r>
            <a:r>
              <a:rPr lang="zh-CN" altLang="en-US" sz="1400" kern="0" spc="-330" noProof="0" dirty="0">
                <a:ln>
                  <a:noFill/>
                </a:ln>
                <a:solidFill>
                  <a:srgbClr val="C00000">
                    <a:alpha val="100000"/>
                  </a:srgbClr>
                </a:solidFill>
                <a:effectLst/>
                <a:uLnTx/>
                <a:uFillTx/>
                <a:latin typeface="Wingdings" panose="05000000000000000000"/>
                <a:ea typeface="Wingdings" panose="05000000000000000000"/>
                <a:cs typeface="Wingdings" panose="05000000000000000000"/>
                <a:sym typeface="+mn-ea"/>
              </a:rPr>
              <a:t> </a:t>
            </a:r>
            <a:r>
              <a:rPr kumimoji="0" lang="zh-CN" altLang="en-US" sz="1400" b="1" i="0" u="none" strike="noStrike" kern="0" cap="none" spc="0" normalizeH="0" baseline="0" noProof="0" dirty="0">
                <a:ln>
                  <a:noFill/>
                </a:ln>
                <a:solidFill>
                  <a:srgbClr val="C00000">
                    <a:alpha val="100000"/>
                  </a:srgbClr>
                </a:solidFill>
                <a:effectLst/>
                <a:uLnTx/>
                <a:uFillTx/>
                <a:latin typeface="微软雅黑" panose="020B0503020204020204" pitchFamily="34" charset="-122"/>
                <a:ea typeface="微软雅黑" panose="020B0503020204020204" pitchFamily="34" charset="-122"/>
                <a:cs typeface="+mn-lt"/>
                <a:sym typeface="+mn-ea"/>
              </a:rPr>
              <a:t>目前已初步梳理问题、流程及实施路径，待拉通省公司团队，</a:t>
            </a:r>
            <a:r>
              <a:rPr kumimoji="0" lang="en-US" altLang="zh-CN" sz="1400" b="1" i="0" u="none" strike="noStrike" kern="0" cap="none" spc="0" normalizeH="0" baseline="0" noProof="0" dirty="0">
                <a:ln>
                  <a:noFill/>
                </a:ln>
                <a:solidFill>
                  <a:srgbClr val="C00000">
                    <a:alpha val="100000"/>
                  </a:srgbClr>
                </a:solidFill>
                <a:effectLst/>
                <a:uLnTx/>
                <a:uFillTx/>
                <a:latin typeface="微软雅黑" panose="020B0503020204020204" pitchFamily="34" charset="-122"/>
                <a:ea typeface="微软雅黑" panose="020B0503020204020204" pitchFamily="34" charset="-122"/>
                <a:cs typeface="+mn-lt"/>
                <a:sym typeface="+mn-ea"/>
              </a:rPr>
              <a:t>4</a:t>
            </a:r>
            <a:r>
              <a:rPr kumimoji="0" lang="zh-CN" altLang="en-US" sz="1400" b="1" i="0" u="none" strike="noStrike" kern="0" cap="none" spc="0" normalizeH="0" baseline="0" noProof="0" dirty="0">
                <a:ln>
                  <a:noFill/>
                </a:ln>
                <a:solidFill>
                  <a:srgbClr val="C00000">
                    <a:alpha val="100000"/>
                  </a:srgbClr>
                </a:solidFill>
                <a:effectLst/>
                <a:uLnTx/>
                <a:uFillTx/>
                <a:latin typeface="微软雅黑" panose="020B0503020204020204" pitchFamily="34" charset="-122"/>
                <a:ea typeface="微软雅黑" panose="020B0503020204020204" pitchFamily="34" charset="-122"/>
                <a:cs typeface="+mn-lt"/>
                <a:sym typeface="+mn-ea"/>
              </a:rPr>
              <a:t>月协同规划实施路径和举措。</a:t>
            </a:r>
            <a:endParaRPr kumimoji="0" lang="zh-CN" altLang="en-US" sz="1400" b="1" i="0" u="none" strike="noStrike" kern="0" cap="none" spc="0" normalizeH="0" baseline="0" noProof="0" dirty="0">
              <a:ln>
                <a:noFill/>
              </a:ln>
              <a:solidFill>
                <a:srgbClr val="C00000">
                  <a:alpha val="100000"/>
                </a:srgbClr>
              </a:solidFill>
              <a:effectLst/>
              <a:uLnTx/>
              <a:uFillTx/>
              <a:latin typeface="微软雅黑" panose="020B0503020204020204" pitchFamily="34" charset="-122"/>
              <a:ea typeface="微软雅黑" panose="020B0503020204020204" pitchFamily="34" charset="-122"/>
              <a:cs typeface="+mn-lt"/>
              <a:sym typeface="+mn-ea"/>
            </a:endParaRPr>
          </a:p>
        </p:txBody>
      </p:sp>
      <p:sp>
        <p:nvSpPr>
          <p:cNvPr id="63" name="矩形 62"/>
          <p:cNvSpPr/>
          <p:nvPr/>
        </p:nvSpPr>
        <p:spPr>
          <a:xfrm>
            <a:off x="-1" y="802083"/>
            <a:ext cx="11052000" cy="72000"/>
          </a:xfrm>
          <a:prstGeom prst="rect">
            <a:avLst/>
          </a:prstGeom>
          <a:gradFill>
            <a:gsLst>
              <a:gs pos="100000">
                <a:srgbClr val="FFFFFF"/>
              </a:gs>
              <a:gs pos="30000">
                <a:srgbClr val="0070BF">
                  <a:lumMod val="45000"/>
                  <a:lumOff val="55000"/>
                </a:srgbClr>
              </a:gs>
              <a:gs pos="0">
                <a:srgbClr val="1184CF"/>
              </a:gs>
              <a:gs pos="100000">
                <a:srgbClr val="0070BF">
                  <a:lumMod val="30000"/>
                  <a:lumOff val="70000"/>
                </a:srgbClr>
              </a:gs>
            </a:gsLst>
            <a:lin ang="0" scaled="0"/>
          </a:gra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9" name="组合 8"/>
          <p:cNvGrpSpPr/>
          <p:nvPr/>
        </p:nvGrpSpPr>
        <p:grpSpPr>
          <a:xfrm>
            <a:off x="2019300" y="5546725"/>
            <a:ext cx="1559560" cy="964565"/>
            <a:chOff x="3180" y="8371"/>
            <a:chExt cx="2456" cy="1519"/>
          </a:xfrm>
        </p:grpSpPr>
        <p:sp>
          <p:nvSpPr>
            <p:cNvPr id="78" name="剪去对角的矩形 16"/>
            <p:cNvSpPr/>
            <p:nvPr/>
          </p:nvSpPr>
          <p:spPr>
            <a:xfrm>
              <a:off x="3180" y="9050"/>
              <a:ext cx="2456" cy="840"/>
            </a:xfrm>
            <a:prstGeom prst="snip2DiagRect">
              <a:avLst/>
            </a:prstGeom>
            <a:gradFill>
              <a:gsLst>
                <a:gs pos="0">
                  <a:schemeClr val="accent1">
                    <a:lumMod val="20000"/>
                    <a:lumOff val="80000"/>
                  </a:schemeClr>
                </a:gs>
                <a:gs pos="36000">
                  <a:schemeClr val="accent1">
                    <a:lumMod val="45000"/>
                    <a:lumOff val="55000"/>
                  </a:schemeClr>
                </a:gs>
                <a:gs pos="100000">
                  <a:schemeClr val="accent1"/>
                </a:gs>
              </a:gsLst>
              <a:lin ang="10800000" scaled="0"/>
            </a:grad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rPr>
                <a:t>定目标</a:t>
              </a:r>
              <a:endPar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rPr>
                <a:t>定方向</a:t>
              </a:r>
              <a:endPar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endParaRPr>
            </a:p>
          </p:txBody>
        </p:sp>
        <p:sp>
          <p:nvSpPr>
            <p:cNvPr id="84" name="燕尾形 34"/>
            <p:cNvSpPr/>
            <p:nvPr/>
          </p:nvSpPr>
          <p:spPr>
            <a:xfrm rot="5400000">
              <a:off x="4111" y="8402"/>
              <a:ext cx="593" cy="531"/>
            </a:xfrm>
            <a:prstGeom prst="chevron">
              <a:avLst/>
            </a:prstGeom>
            <a:solidFill>
              <a:schemeClr val="accent1">
                <a:lumMod val="60000"/>
                <a:lumOff val="40000"/>
              </a:schemeClr>
            </a:solid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22" name="组合 21"/>
          <p:cNvGrpSpPr/>
          <p:nvPr/>
        </p:nvGrpSpPr>
        <p:grpSpPr>
          <a:xfrm>
            <a:off x="332105" y="1885315"/>
            <a:ext cx="11484610" cy="3521710"/>
            <a:chOff x="523" y="2938"/>
            <a:chExt cx="18086" cy="5213"/>
          </a:xfrm>
        </p:grpSpPr>
        <p:sp>
          <p:nvSpPr>
            <p:cNvPr id="71" name="矩形 70"/>
            <p:cNvSpPr/>
            <p:nvPr/>
          </p:nvSpPr>
          <p:spPr>
            <a:xfrm>
              <a:off x="7515" y="2938"/>
              <a:ext cx="5283" cy="517"/>
            </a:xfrm>
            <a:prstGeom prst="rect">
              <a:avLst/>
            </a:prstGeom>
          </p:spPr>
          <p:txBody>
            <a:bodyPr wrap="square">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mn-ea"/>
                </a:rPr>
                <a:t>五步法，指导数智化转型场景落地</a:t>
              </a:r>
              <a:endParaRPr kumimoji="0" lang="zh-CN" altLang="en-US" sz="1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mn-ea"/>
              </a:endParaRPr>
            </a:p>
          </p:txBody>
        </p:sp>
        <p:sp>
          <p:nvSpPr>
            <p:cNvPr id="76" name="圆角矩形 13"/>
            <p:cNvSpPr/>
            <p:nvPr/>
          </p:nvSpPr>
          <p:spPr>
            <a:xfrm>
              <a:off x="523" y="2938"/>
              <a:ext cx="18086" cy="5213"/>
            </a:xfrm>
            <a:prstGeom prst="roundRect">
              <a:avLst>
                <a:gd name="adj" fmla="val 3748"/>
              </a:avLst>
            </a:prstGeom>
            <a:ln>
              <a:solidFill>
                <a:schemeClr val="accent1"/>
              </a:solidFill>
            </a:ln>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89" name="组合 88"/>
            <p:cNvGrpSpPr/>
            <p:nvPr/>
          </p:nvGrpSpPr>
          <p:grpSpPr>
            <a:xfrm>
              <a:off x="3113" y="3570"/>
              <a:ext cx="15298" cy="4349"/>
              <a:chOff x="5563440" y="2266987"/>
              <a:chExt cx="6127408" cy="2761700"/>
            </a:xfrm>
          </p:grpSpPr>
          <p:sp>
            <p:nvSpPr>
              <p:cNvPr id="93" name="五边形 73"/>
              <p:cNvSpPr/>
              <p:nvPr/>
            </p:nvSpPr>
            <p:spPr>
              <a:xfrm>
                <a:off x="5563440" y="2266987"/>
                <a:ext cx="1196653" cy="338554"/>
              </a:xfrm>
              <a:prstGeom prst="homePlate">
                <a:avLst/>
              </a:prstGeom>
              <a:gradFill>
                <a:gsLst>
                  <a:gs pos="0">
                    <a:schemeClr val="accent1">
                      <a:lumMod val="20000"/>
                      <a:lumOff val="80000"/>
                    </a:schemeClr>
                  </a:gs>
                  <a:gs pos="34000">
                    <a:schemeClr val="accent1">
                      <a:lumMod val="45000"/>
                      <a:lumOff val="55000"/>
                    </a:schemeClr>
                  </a:gs>
                  <a:gs pos="100000">
                    <a:schemeClr val="accent1"/>
                  </a:gs>
                </a:gsLst>
                <a:lin ang="10800000" scaled="0"/>
              </a:gra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ea"/>
                    <a:sym typeface="+mn-lt"/>
                  </a:rPr>
                  <a:t>梳：</a:t>
                </a: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基于愿景找问题</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94" name="五边形 74"/>
              <p:cNvSpPr/>
              <p:nvPr/>
            </p:nvSpPr>
            <p:spPr>
              <a:xfrm>
                <a:off x="6796128" y="2266987"/>
                <a:ext cx="1196653" cy="338554"/>
              </a:xfrm>
              <a:prstGeom prst="homePlate">
                <a:avLst/>
              </a:prstGeom>
              <a:gradFill>
                <a:gsLst>
                  <a:gs pos="0">
                    <a:schemeClr val="accent1">
                      <a:lumMod val="20000"/>
                      <a:lumOff val="80000"/>
                    </a:schemeClr>
                  </a:gs>
                  <a:gs pos="34000">
                    <a:schemeClr val="accent1">
                      <a:lumMod val="45000"/>
                      <a:lumOff val="55000"/>
                    </a:schemeClr>
                  </a:gs>
                  <a:gs pos="100000">
                    <a:schemeClr val="accent1"/>
                  </a:gs>
                </a:gsLst>
                <a:lin ang="10800000" scaled="0"/>
              </a:gra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ea"/>
                    <a:sym typeface="+mn-lt"/>
                  </a:rPr>
                  <a:t>理：</a:t>
                </a: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理顺业务流程</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95" name="五边形 75"/>
              <p:cNvSpPr/>
              <p:nvPr/>
            </p:nvSpPr>
            <p:spPr>
              <a:xfrm>
                <a:off x="8028816" y="2266987"/>
                <a:ext cx="1196653" cy="338554"/>
              </a:xfrm>
              <a:prstGeom prst="homePlate">
                <a:avLst/>
              </a:prstGeom>
              <a:gradFill>
                <a:gsLst>
                  <a:gs pos="0">
                    <a:schemeClr val="accent1">
                      <a:lumMod val="20000"/>
                      <a:lumOff val="80000"/>
                    </a:schemeClr>
                  </a:gs>
                  <a:gs pos="34000">
                    <a:schemeClr val="accent1">
                      <a:lumMod val="45000"/>
                      <a:lumOff val="55000"/>
                    </a:schemeClr>
                  </a:gs>
                  <a:gs pos="100000">
                    <a:schemeClr val="accent1"/>
                  </a:gs>
                </a:gsLst>
                <a:lin ang="10800000" scaled="0"/>
              </a:gra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ea"/>
                    <a:sym typeface="+mn-lt"/>
                  </a:rPr>
                  <a:t>规：</a:t>
                </a: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规划实施路径</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96" name="五边形 76"/>
              <p:cNvSpPr/>
              <p:nvPr/>
            </p:nvSpPr>
            <p:spPr>
              <a:xfrm>
                <a:off x="9261504" y="2266987"/>
                <a:ext cx="1196653" cy="338554"/>
              </a:xfrm>
              <a:prstGeom prst="homePlate">
                <a:avLst/>
              </a:prstGeom>
              <a:gradFill>
                <a:gsLst>
                  <a:gs pos="0">
                    <a:schemeClr val="accent1">
                      <a:lumMod val="20000"/>
                      <a:lumOff val="80000"/>
                    </a:schemeClr>
                  </a:gs>
                  <a:gs pos="34000">
                    <a:schemeClr val="accent1">
                      <a:lumMod val="45000"/>
                      <a:lumOff val="55000"/>
                    </a:schemeClr>
                  </a:gs>
                  <a:gs pos="100000">
                    <a:schemeClr val="accent1"/>
                  </a:gs>
                </a:gsLst>
                <a:lin ang="10800000" scaled="0"/>
              </a:gra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ea"/>
                    <a:sym typeface="+mn-lt"/>
                  </a:rPr>
                  <a:t>建：</a:t>
                </a: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能力建设上线</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97" name="五边形 77"/>
              <p:cNvSpPr/>
              <p:nvPr/>
            </p:nvSpPr>
            <p:spPr>
              <a:xfrm>
                <a:off x="10494195" y="2266987"/>
                <a:ext cx="1196653" cy="338554"/>
              </a:xfrm>
              <a:prstGeom prst="homePlate">
                <a:avLst/>
              </a:prstGeom>
              <a:gradFill>
                <a:gsLst>
                  <a:gs pos="0">
                    <a:schemeClr val="accent1">
                      <a:lumMod val="20000"/>
                      <a:lumOff val="80000"/>
                    </a:schemeClr>
                  </a:gs>
                  <a:gs pos="34000">
                    <a:schemeClr val="accent1">
                      <a:lumMod val="45000"/>
                      <a:lumOff val="55000"/>
                    </a:schemeClr>
                  </a:gs>
                  <a:gs pos="100000">
                    <a:schemeClr val="accent1"/>
                  </a:gs>
                </a:gsLst>
                <a:lin ang="10800000" scaled="0"/>
              </a:gra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ea"/>
                    <a:sym typeface="+mn-lt"/>
                  </a:rPr>
                  <a:t>运：</a:t>
                </a: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穿透运营实践</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98" name="组合 97"/>
              <p:cNvGrpSpPr/>
              <p:nvPr/>
            </p:nvGrpSpPr>
            <p:grpSpPr>
              <a:xfrm>
                <a:off x="5590453" y="2826735"/>
                <a:ext cx="6003353" cy="2201952"/>
                <a:chOff x="5590453" y="2909031"/>
                <a:chExt cx="6003353" cy="1882425"/>
              </a:xfrm>
            </p:grpSpPr>
            <p:sp>
              <p:nvSpPr>
                <p:cNvPr id="106" name="文本框 105"/>
                <p:cNvSpPr txBox="1"/>
                <p:nvPr/>
              </p:nvSpPr>
              <p:spPr>
                <a:xfrm>
                  <a:off x="5590453" y="2916936"/>
                  <a:ext cx="1110697" cy="1874520"/>
                </a:xfrm>
                <a:prstGeom prst="roundRect">
                  <a:avLst>
                    <a:gd name="adj" fmla="val 4424"/>
                  </a:avLst>
                </a:prstGeom>
                <a:noFill/>
                <a:ln>
                  <a:solidFill>
                    <a:schemeClr val="accent1">
                      <a:lumMod val="60000"/>
                      <a:lumOff val="40000"/>
                    </a:schemeClr>
                  </a:solidFill>
                </a:ln>
              </p:spPr>
              <p:txBody>
                <a:bodyPr wrap="square" rtlCol="0">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zh-CN" sz="105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分析愿景场景，找准业务痛点：</a:t>
                  </a:r>
                  <a:r>
                    <a:rPr kumimoji="1" lang="zh-CN" sz="105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细分市场运营、产品</a:t>
                  </a:r>
                  <a:r>
                    <a:rPr kumimoji="1" lang="en-US" altLang="zh-CN" sz="105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AI</a:t>
                  </a:r>
                  <a:r>
                    <a:rPr kumimoji="1" lang="zh-CN" altLang="en-US" sz="105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化、</a:t>
                  </a:r>
                  <a:r>
                    <a:rPr kumimoji="1" lang="en-US" altLang="zh-CN" sz="105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APP</a:t>
                  </a:r>
                  <a:r>
                    <a:rPr kumimoji="1" lang="zh-CN" altLang="en-US" sz="105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平台化、网格智能化、智能驾驶舱、三个面向等</a:t>
                  </a:r>
                  <a:endParaRPr kumimoji="1" lang="en-US" altLang="zh-CN" sz="105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zh-CN" altLang="en-US" sz="105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梳理业务支撑系统现状问题，明确提升方向：</a:t>
                  </a:r>
                  <a:r>
                    <a:rPr kumimoji="1" lang="zh-CN" altLang="en-US" sz="105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如集省专客户全生命周期数据未拉通</a:t>
                  </a:r>
                  <a:endParaRPr kumimoji="1" lang="zh-CN" altLang="en-US" sz="105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endParaRPr kumimoji="1" lang="zh-CN" altLang="en-US" sz="105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107" name="文本框 106"/>
                <p:cNvSpPr txBox="1"/>
                <p:nvPr/>
              </p:nvSpPr>
              <p:spPr>
                <a:xfrm>
                  <a:off x="6813617" y="2909031"/>
                  <a:ext cx="1110697" cy="1874520"/>
                </a:xfrm>
                <a:prstGeom prst="roundRect">
                  <a:avLst>
                    <a:gd name="adj" fmla="val 4424"/>
                  </a:avLst>
                </a:prstGeom>
                <a:noFill/>
                <a:ln>
                  <a:solidFill>
                    <a:schemeClr val="accent1">
                      <a:lumMod val="60000"/>
                      <a:lumOff val="40000"/>
                    </a:schemeClr>
                  </a:solidFill>
                </a:ln>
              </p:spPr>
              <p:txBody>
                <a:bodyPr wrap="square" rtlCol="0">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zh-CN" sz="105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理顺重点场景业务流程：</a:t>
                  </a:r>
                  <a:r>
                    <a:rPr kumimoji="1" lang="zh-CN" altLang="en-US" sz="105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基于场景，拆解业务流程、平台交互等</a:t>
                  </a:r>
                  <a:endParaRPr kumimoji="1" lang="zh-CN" altLang="en-US" sz="105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zh-CN" altLang="en-US" sz="105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明确各要素提升目标及平台定位：</a:t>
                  </a:r>
                  <a:r>
                    <a:rPr kumimoji="1" lang="zh-CN" altLang="en-US" sz="105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基于业务流程，明确各要素提升目标，平台分工、工具优化目标</a:t>
                  </a:r>
                  <a:endParaRPr kumimoji="1" lang="zh-CN" altLang="en-US" sz="105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8" name="文本框 107"/>
                <p:cNvSpPr txBox="1"/>
                <p:nvPr/>
              </p:nvSpPr>
              <p:spPr>
                <a:xfrm>
                  <a:off x="8036781" y="2909031"/>
                  <a:ext cx="1110697" cy="1874520"/>
                </a:xfrm>
                <a:prstGeom prst="roundRect">
                  <a:avLst>
                    <a:gd name="adj" fmla="val 4424"/>
                  </a:avLst>
                </a:prstGeom>
                <a:noFill/>
                <a:ln>
                  <a:solidFill>
                    <a:schemeClr val="accent1">
                      <a:lumMod val="60000"/>
                      <a:lumOff val="40000"/>
                    </a:schemeClr>
                  </a:solidFill>
                </a:ln>
              </p:spPr>
              <p:txBody>
                <a:bodyPr wrap="square" rtlCol="0">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zh-CN" altLang="en-US" sz="105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规划实现路径，输出实施举措：</a:t>
                  </a:r>
                  <a:r>
                    <a:rPr kumimoji="1" lang="zh-CN" altLang="en-US" sz="105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以“五要素”为抓手，制定数智能力升级举措</a:t>
                  </a:r>
                  <a:endParaRPr kumimoji="1" lang="zh-CN" altLang="en-US" sz="105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zh-CN" altLang="en-US" sz="105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编制技术实现方案：</a:t>
                  </a:r>
                  <a:r>
                    <a:rPr kumimoji="1" lang="zh-CN" altLang="en-US" sz="105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明确技术规范（如统一流程设计、数据模型等）</a:t>
                  </a:r>
                  <a:endParaRPr kumimoji="1" lang="zh-CN" altLang="en-US" sz="105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zh-CN" altLang="en-US" sz="105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明确实施计划及里程碑</a:t>
                  </a:r>
                  <a:endParaRPr kumimoji="1" lang="zh-CN" altLang="en-US" sz="105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zh-CN" altLang="en-US" sz="105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明确评价机制</a:t>
                  </a:r>
                  <a:endParaRPr kumimoji="1" lang="zh-CN" altLang="en-US" sz="105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109" name="文本框 108"/>
                <p:cNvSpPr txBox="1"/>
                <p:nvPr/>
              </p:nvSpPr>
              <p:spPr>
                <a:xfrm>
                  <a:off x="9259945" y="2909031"/>
                  <a:ext cx="1110697" cy="1874520"/>
                </a:xfrm>
                <a:prstGeom prst="roundRect">
                  <a:avLst>
                    <a:gd name="adj" fmla="val 4424"/>
                  </a:avLst>
                </a:prstGeom>
                <a:noFill/>
                <a:ln>
                  <a:solidFill>
                    <a:schemeClr val="accent1">
                      <a:lumMod val="60000"/>
                      <a:lumOff val="40000"/>
                    </a:schemeClr>
                  </a:solidFill>
                </a:ln>
              </p:spPr>
              <p:txBody>
                <a:bodyPr wrap="square" rtlCol="0">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zh-CN" altLang="en-US" sz="105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各单位梳理数智化转型建设方案：</a:t>
                  </a:r>
                  <a:r>
                    <a:rPr kumimoji="1" lang="zh-CN" altLang="en-US" sz="105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基于规划和技术方案，各单位梳理本单位数智化转型建设方案</a:t>
                  </a:r>
                  <a:endParaRPr kumimoji="1" lang="zh-CN" altLang="en-US" sz="105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zh-CN" altLang="en-US" sz="105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各单位按计划完成能力建设、系统升级及验证</a:t>
                  </a:r>
                  <a:endParaRPr kumimoji="1" lang="en-US" altLang="zh-CN" sz="105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0" name="文本框 109"/>
                <p:cNvSpPr txBox="1"/>
                <p:nvPr/>
              </p:nvSpPr>
              <p:spPr>
                <a:xfrm>
                  <a:off x="10483109" y="2909031"/>
                  <a:ext cx="1110697" cy="1874520"/>
                </a:xfrm>
                <a:prstGeom prst="roundRect">
                  <a:avLst>
                    <a:gd name="adj" fmla="val 4424"/>
                  </a:avLst>
                </a:prstGeom>
                <a:noFill/>
                <a:ln>
                  <a:solidFill>
                    <a:schemeClr val="accent1">
                      <a:lumMod val="60000"/>
                      <a:lumOff val="40000"/>
                    </a:schemeClr>
                  </a:solidFill>
                </a:ln>
              </p:spPr>
              <p:txBody>
                <a:bodyPr wrap="square" rtlCol="0">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zh-CN" altLang="en-US" sz="105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各单位基于规划场景，开展业务流程穿透运营：</a:t>
                  </a:r>
                  <a:r>
                    <a:rPr kumimoji="1" lang="zh-CN" altLang="en-US" sz="105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结合本单位特点，组织运营人员、一线人员进行穿透运营，助力市场目标完成</a:t>
                  </a:r>
                  <a:endParaRPr kumimoji="1" lang="zh-CN" altLang="en-US" sz="105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zh-CN" altLang="en-US" sz="105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筛选</a:t>
                  </a:r>
                  <a:r>
                    <a:rPr kumimoji="1" lang="en-US" altLang="zh-CN" sz="105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N</a:t>
                  </a:r>
                  <a:r>
                    <a:rPr kumimoji="1" lang="zh-CN" altLang="en-US" sz="105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个运营标杆，全网复制推广</a:t>
                  </a:r>
                  <a:endParaRPr kumimoji="1" lang="zh-CN" altLang="en-US" sz="105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grpSp>
        </p:grpSp>
        <p:sp>
          <p:nvSpPr>
            <p:cNvPr id="113" name="矩形 112"/>
            <p:cNvSpPr/>
            <p:nvPr/>
          </p:nvSpPr>
          <p:spPr>
            <a:xfrm>
              <a:off x="683" y="4179"/>
              <a:ext cx="2082" cy="3962"/>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客户全生命周期存量运营</a:t>
              </a:r>
              <a:endParaRPr kumimoji="1"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细分市场运营</a:t>
              </a:r>
              <a:endParaRPr kumimoji="1"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产品AI化</a:t>
              </a:r>
              <a:endParaRPr kumimoji="1"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APP运营平台化</a:t>
              </a:r>
              <a:endParaRPr kumimoji="1"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1" 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智能驾驶舱</a:t>
              </a:r>
              <a:endParaRPr kumimoji="1" 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r>
                <a:rPr kumimoji="1"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a:t>
              </a:r>
              <a:endParaRPr kumimoji="1"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14" name="矩形 113"/>
            <p:cNvSpPr/>
            <p:nvPr/>
          </p:nvSpPr>
          <p:spPr>
            <a:xfrm>
              <a:off x="852" y="3599"/>
              <a:ext cx="1708" cy="533"/>
            </a:xfrm>
            <a:prstGeom prst="rect">
              <a:avLst/>
            </a:prstGeom>
            <a:noFill/>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sym typeface="+mn-lt"/>
                </a:rPr>
                <a:t>业务愿景</a:t>
              </a:r>
              <a:endParaRPr kumimoji="0" lang="zh-CN" altLang="en-US" sz="1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15" name="等腰三角形 114"/>
            <p:cNvSpPr/>
            <p:nvPr/>
          </p:nvSpPr>
          <p:spPr>
            <a:xfrm rot="5400000">
              <a:off x="577" y="5535"/>
              <a:ext cx="4349" cy="419"/>
            </a:xfrm>
            <a:prstGeom prst="triangle">
              <a:avLst/>
            </a:prstGeom>
            <a:solidFill>
              <a:schemeClr val="accent1">
                <a:lumMod val="20000"/>
                <a:lumOff val="80000"/>
              </a:schemeClr>
            </a:solidFill>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sym typeface="+mn-lt"/>
              </a:endParaRPr>
            </a:p>
          </p:txBody>
        </p:sp>
      </p:grpSp>
      <p:sp>
        <p:nvSpPr>
          <p:cNvPr id="116" name="矩形 115"/>
          <p:cNvSpPr/>
          <p:nvPr/>
        </p:nvSpPr>
        <p:spPr>
          <a:xfrm>
            <a:off x="515939" y="6576618"/>
            <a:ext cx="10708640" cy="246221"/>
          </a:xfrm>
          <a:prstGeom prst="rect">
            <a:avLst/>
          </a:prstGeom>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文档中的全部内容属</a:t>
            </a:r>
            <a:r>
              <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中国移动</a:t>
            </a: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所有，未经允许，不可全部或部分发表、复制、使用于任何目的</a:t>
            </a:r>
            <a:endPar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endParaRPr>
          </a:p>
        </p:txBody>
      </p:sp>
      <p:sp>
        <p:nvSpPr>
          <p:cNvPr id="7" name="标题 1"/>
          <p:cNvSpPr>
            <a:spLocks noGrp="1"/>
          </p:cNvSpPr>
          <p:nvPr/>
        </p:nvSpPr>
        <p:spPr>
          <a:xfrm>
            <a:off x="150829" y="274371"/>
            <a:ext cx="9577633" cy="4865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altLang="zh-CN" sz="2400" b="1" kern="1200" dirty="0">
                <a:solidFill>
                  <a:srgbClr val="0070C0"/>
                </a:solidFill>
                <a:latin typeface="+mn-ea"/>
                <a:ea typeface="+mn-ea"/>
                <a:cs typeface="+mj-cs"/>
              </a:defRPr>
            </a:lvl1pPr>
          </a:lstStyle>
          <a:p>
            <a:r>
              <a:rPr lang="zh-CN" altLang="en-US" dirty="0"/>
              <a:t> </a:t>
            </a:r>
            <a:r>
              <a:rPr lang="zh-CN" altLang="en-US">
                <a:sym typeface="+mn-ea"/>
              </a:rPr>
              <a:t> </a:t>
            </a:r>
            <a:r>
              <a:rPr lang="zh-CN" altLang="en-US" noProof="0">
                <a:ln>
                  <a:noFill/>
                </a:ln>
                <a:solidFill>
                  <a:srgbClr val="C00000"/>
                </a:solidFill>
                <a:effectLst/>
                <a:uLnTx/>
                <a:uFillTx/>
                <a:latin typeface="微软雅黑" panose="020B0503020204020204" pitchFamily="34" charset="-122"/>
                <a:ea typeface="微软雅黑" panose="020B0503020204020204" pitchFamily="34" charset="-122"/>
                <a:sym typeface="+mn-ea"/>
              </a:rPr>
              <a:t>方法论</a:t>
            </a: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sym typeface="+mn-ea"/>
              </a:rPr>
              <a:t> </a:t>
            </a:r>
            <a:r>
              <a:rPr lang="zh-CN" altLang="en-US" dirty="0"/>
              <a:t>指导数智化转型落地</a:t>
            </a:r>
            <a:endParaRPr lang="zh-CN" altLang="en-US" dirty="0"/>
          </a:p>
        </p:txBody>
      </p:sp>
      <p:grpSp>
        <p:nvGrpSpPr>
          <p:cNvPr id="10" name="组合 9"/>
          <p:cNvGrpSpPr/>
          <p:nvPr/>
        </p:nvGrpSpPr>
        <p:grpSpPr>
          <a:xfrm>
            <a:off x="4058920" y="5546725"/>
            <a:ext cx="1559560" cy="964565"/>
            <a:chOff x="3180" y="8371"/>
            <a:chExt cx="2456" cy="1519"/>
          </a:xfrm>
        </p:grpSpPr>
        <p:sp>
          <p:nvSpPr>
            <p:cNvPr id="11" name="剪去对角的矩形 16"/>
            <p:cNvSpPr/>
            <p:nvPr/>
          </p:nvSpPr>
          <p:spPr>
            <a:xfrm>
              <a:off x="3180" y="9050"/>
              <a:ext cx="2456" cy="840"/>
            </a:xfrm>
            <a:prstGeom prst="snip2DiagRect">
              <a:avLst/>
            </a:prstGeom>
            <a:gradFill>
              <a:gsLst>
                <a:gs pos="0">
                  <a:schemeClr val="accent1">
                    <a:lumMod val="20000"/>
                    <a:lumOff val="80000"/>
                  </a:schemeClr>
                </a:gs>
                <a:gs pos="36000">
                  <a:schemeClr val="accent1">
                    <a:lumMod val="45000"/>
                    <a:lumOff val="55000"/>
                  </a:schemeClr>
                </a:gs>
                <a:gs pos="100000">
                  <a:schemeClr val="accent1"/>
                </a:gs>
              </a:gsLst>
              <a:lin ang="10800000" scaled="0"/>
            </a:gradFill>
          </p:spPr>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rPr>
                <a:t>定流程</a:t>
              </a:r>
              <a:endPar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2" name="燕尾形 34"/>
            <p:cNvSpPr/>
            <p:nvPr/>
          </p:nvSpPr>
          <p:spPr>
            <a:xfrm rot="5400000">
              <a:off x="4111" y="8402"/>
              <a:ext cx="593" cy="531"/>
            </a:xfrm>
            <a:prstGeom prst="chevron">
              <a:avLst/>
            </a:prstGeom>
            <a:solidFill>
              <a:schemeClr val="accent1">
                <a:lumMod val="60000"/>
                <a:lumOff val="40000"/>
              </a:schemeClr>
            </a:solidFill>
          </p:spPr>
          <p:txBody>
            <a:bodyPr wrap="square" rtlCol="0" anchor="ctr">
              <a:sp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13" name="组合 12"/>
          <p:cNvGrpSpPr/>
          <p:nvPr/>
        </p:nvGrpSpPr>
        <p:grpSpPr>
          <a:xfrm>
            <a:off x="6037580" y="5550535"/>
            <a:ext cx="1559560" cy="964565"/>
            <a:chOff x="3180" y="8371"/>
            <a:chExt cx="2456" cy="1519"/>
          </a:xfrm>
        </p:grpSpPr>
        <p:sp>
          <p:nvSpPr>
            <p:cNvPr id="14" name="剪去对角的矩形 16"/>
            <p:cNvSpPr/>
            <p:nvPr/>
          </p:nvSpPr>
          <p:spPr>
            <a:xfrm>
              <a:off x="3180" y="9050"/>
              <a:ext cx="2456" cy="840"/>
            </a:xfrm>
            <a:prstGeom prst="snip2DiagRect">
              <a:avLst/>
            </a:prstGeom>
            <a:gradFill>
              <a:gsLst>
                <a:gs pos="0">
                  <a:schemeClr val="accent1">
                    <a:lumMod val="20000"/>
                    <a:lumOff val="80000"/>
                  </a:schemeClr>
                </a:gs>
                <a:gs pos="36000">
                  <a:schemeClr val="accent1">
                    <a:lumMod val="45000"/>
                    <a:lumOff val="55000"/>
                  </a:schemeClr>
                </a:gs>
                <a:gs pos="100000">
                  <a:schemeClr val="accent1"/>
                </a:gs>
              </a:gsLst>
              <a:lin ang="10800000" scaled="0"/>
            </a:gradFill>
          </p:spPr>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rPr>
                <a:t>定举措</a:t>
              </a:r>
              <a:endPar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rPr>
                <a:t>定计划</a:t>
              </a:r>
              <a:endPar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5" name="燕尾形 34"/>
            <p:cNvSpPr/>
            <p:nvPr/>
          </p:nvSpPr>
          <p:spPr>
            <a:xfrm rot="5400000">
              <a:off x="4111" y="8402"/>
              <a:ext cx="593" cy="531"/>
            </a:xfrm>
            <a:prstGeom prst="chevron">
              <a:avLst/>
            </a:prstGeom>
            <a:solidFill>
              <a:schemeClr val="accent1">
                <a:lumMod val="60000"/>
                <a:lumOff val="40000"/>
              </a:schemeClr>
            </a:solidFill>
          </p:spPr>
          <p:txBody>
            <a:bodyPr wrap="square" rtlCol="0" anchor="ctr">
              <a:sp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16" name="组合 15"/>
          <p:cNvGrpSpPr/>
          <p:nvPr/>
        </p:nvGrpSpPr>
        <p:grpSpPr>
          <a:xfrm>
            <a:off x="7938135" y="5555615"/>
            <a:ext cx="1559560" cy="964565"/>
            <a:chOff x="3180" y="8371"/>
            <a:chExt cx="2456" cy="1519"/>
          </a:xfrm>
        </p:grpSpPr>
        <p:sp>
          <p:nvSpPr>
            <p:cNvPr id="17" name="剪去对角的矩形 16"/>
            <p:cNvSpPr/>
            <p:nvPr/>
          </p:nvSpPr>
          <p:spPr>
            <a:xfrm>
              <a:off x="3180" y="9050"/>
              <a:ext cx="2456" cy="840"/>
            </a:xfrm>
            <a:prstGeom prst="snip2DiagRect">
              <a:avLst/>
            </a:prstGeom>
            <a:gradFill>
              <a:gsLst>
                <a:gs pos="0">
                  <a:schemeClr val="accent1">
                    <a:lumMod val="20000"/>
                    <a:lumOff val="80000"/>
                  </a:schemeClr>
                </a:gs>
                <a:gs pos="36000">
                  <a:schemeClr val="accent1">
                    <a:lumMod val="45000"/>
                    <a:lumOff val="55000"/>
                  </a:schemeClr>
                </a:gs>
                <a:gs pos="100000">
                  <a:schemeClr val="accent1"/>
                </a:gs>
              </a:gsLst>
              <a:lin ang="10800000" scaled="0"/>
            </a:gradFill>
          </p:spPr>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rPr>
                <a:t>建能力</a:t>
              </a:r>
              <a:endPar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rPr>
                <a:t>搭平台</a:t>
              </a:r>
              <a:endPar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8" name="燕尾形 34"/>
            <p:cNvSpPr/>
            <p:nvPr/>
          </p:nvSpPr>
          <p:spPr>
            <a:xfrm rot="5400000">
              <a:off x="4111" y="8402"/>
              <a:ext cx="593" cy="531"/>
            </a:xfrm>
            <a:prstGeom prst="chevron">
              <a:avLst/>
            </a:prstGeom>
            <a:solidFill>
              <a:schemeClr val="accent1">
                <a:lumMod val="60000"/>
                <a:lumOff val="40000"/>
              </a:schemeClr>
            </a:solidFill>
          </p:spPr>
          <p:txBody>
            <a:bodyPr wrap="square" rtlCol="0" anchor="ctr">
              <a:sp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19" name="组合 18"/>
          <p:cNvGrpSpPr/>
          <p:nvPr/>
        </p:nvGrpSpPr>
        <p:grpSpPr>
          <a:xfrm>
            <a:off x="9962515" y="5539105"/>
            <a:ext cx="1559560" cy="964565"/>
            <a:chOff x="3180" y="8371"/>
            <a:chExt cx="2456" cy="1519"/>
          </a:xfrm>
        </p:grpSpPr>
        <p:sp>
          <p:nvSpPr>
            <p:cNvPr id="20" name="剪去对角的矩形 19"/>
            <p:cNvSpPr/>
            <p:nvPr/>
          </p:nvSpPr>
          <p:spPr>
            <a:xfrm>
              <a:off x="3180" y="9050"/>
              <a:ext cx="2456" cy="840"/>
            </a:xfrm>
            <a:prstGeom prst="snip2DiagRect">
              <a:avLst/>
            </a:prstGeom>
            <a:gradFill>
              <a:gsLst>
                <a:gs pos="0">
                  <a:schemeClr val="accent1">
                    <a:lumMod val="20000"/>
                    <a:lumOff val="80000"/>
                  </a:schemeClr>
                </a:gs>
                <a:gs pos="36000">
                  <a:schemeClr val="accent1">
                    <a:lumMod val="45000"/>
                    <a:lumOff val="55000"/>
                  </a:schemeClr>
                </a:gs>
                <a:gs pos="100000">
                  <a:schemeClr val="accent1"/>
                </a:gs>
              </a:gsLst>
              <a:lin ang="10800000" scaled="0"/>
            </a:gradFill>
          </p:spPr>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rPr>
                <a:t>试运营</a:t>
              </a:r>
              <a:endPar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rPr>
                <a:t>评标杆</a:t>
              </a:r>
              <a:endParaRPr kumimoji="0" lang="zh-CN" altLang="en-US" sz="1200" b="1" i="0" u="none" strike="noStrike" kern="120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燕尾形 34"/>
            <p:cNvSpPr/>
            <p:nvPr/>
          </p:nvSpPr>
          <p:spPr>
            <a:xfrm rot="5400000">
              <a:off x="4111" y="8402"/>
              <a:ext cx="593" cy="531"/>
            </a:xfrm>
            <a:prstGeom prst="chevron">
              <a:avLst/>
            </a:prstGeom>
            <a:solidFill>
              <a:schemeClr val="accent1">
                <a:lumMod val="60000"/>
                <a:lumOff val="40000"/>
              </a:schemeClr>
            </a:solidFill>
          </p:spPr>
          <p:txBody>
            <a:bodyPr wrap="square" rtlCol="0" anchor="ctr">
              <a:sp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ea"/>
                <a:sym typeface="+mn-lt"/>
              </a:endParaRPr>
            </a:p>
          </p:txBody>
        </p:sp>
      </p:grpSp>
      <p:sp>
        <p:nvSpPr>
          <p:cNvPr id="2" name="文本框 1"/>
          <p:cNvSpPr txBox="1"/>
          <p:nvPr/>
        </p:nvSpPr>
        <p:spPr>
          <a:xfrm rot="20220000">
            <a:off x="1694815" y="2098040"/>
            <a:ext cx="879475" cy="460375"/>
          </a:xfrm>
          <a:prstGeom prst="rect">
            <a:avLst/>
          </a:prstGeom>
          <a:noFill/>
          <a:ln>
            <a:solidFill>
              <a:srgbClr val="FF0000"/>
            </a:solidFill>
          </a:ln>
        </p:spPr>
        <p:txBody>
          <a:bodyPr wrap="square" rtlCol="0">
            <a:spAutoFit/>
          </a:bodyPr>
          <a:p>
            <a:r>
              <a:rPr lang="zh-CN" altLang="en-US" sz="1200" b="1">
                <a:solidFill>
                  <a:srgbClr val="C00000"/>
                </a:solidFill>
              </a:rPr>
              <a:t>初步完成，</a:t>
            </a:r>
            <a:endParaRPr lang="zh-CN" altLang="en-US" sz="1200" b="1">
              <a:solidFill>
                <a:srgbClr val="C00000"/>
              </a:solidFill>
            </a:endParaRPr>
          </a:p>
          <a:p>
            <a:r>
              <a:rPr lang="zh-CN" altLang="en-US" sz="1200" b="1">
                <a:solidFill>
                  <a:srgbClr val="C00000"/>
                </a:solidFill>
              </a:rPr>
              <a:t>持续迭代</a:t>
            </a:r>
            <a:endParaRPr lang="zh-CN" altLang="en-US" sz="1200" b="1">
              <a:solidFill>
                <a:srgbClr val="C00000"/>
              </a:solidFill>
            </a:endParaRPr>
          </a:p>
        </p:txBody>
      </p:sp>
      <p:sp>
        <p:nvSpPr>
          <p:cNvPr id="4" name="文本框 3"/>
          <p:cNvSpPr txBox="1"/>
          <p:nvPr/>
        </p:nvSpPr>
        <p:spPr>
          <a:xfrm rot="20220000">
            <a:off x="5702935" y="2110105"/>
            <a:ext cx="742315" cy="275590"/>
          </a:xfrm>
          <a:prstGeom prst="rect">
            <a:avLst/>
          </a:prstGeom>
          <a:noFill/>
          <a:ln>
            <a:solidFill>
              <a:srgbClr val="FF0000"/>
            </a:solidFill>
          </a:ln>
        </p:spPr>
        <p:txBody>
          <a:bodyPr wrap="square" rtlCol="0">
            <a:spAutoFit/>
          </a:bodyPr>
          <a:p>
            <a:r>
              <a:rPr lang="zh-CN" altLang="en-US" sz="1200" b="1">
                <a:solidFill>
                  <a:srgbClr val="C00000"/>
                </a:solidFill>
              </a:rPr>
              <a:t>开展中</a:t>
            </a:r>
            <a:endParaRPr lang="zh-CN" altLang="en-US" sz="1200" b="1">
              <a:solidFill>
                <a:srgbClr val="C00000"/>
              </a:solidFill>
            </a:endParaRPr>
          </a:p>
        </p:txBody>
      </p:sp>
      <p:sp>
        <p:nvSpPr>
          <p:cNvPr id="5" name="文本框 4"/>
          <p:cNvSpPr txBox="1"/>
          <p:nvPr/>
        </p:nvSpPr>
        <p:spPr>
          <a:xfrm rot="20220000">
            <a:off x="3740785" y="2029460"/>
            <a:ext cx="879475" cy="460375"/>
          </a:xfrm>
          <a:prstGeom prst="rect">
            <a:avLst/>
          </a:prstGeom>
          <a:noFill/>
          <a:ln>
            <a:solidFill>
              <a:srgbClr val="FF0000"/>
            </a:solidFill>
          </a:ln>
        </p:spPr>
        <p:txBody>
          <a:bodyPr wrap="square" rtlCol="0">
            <a:spAutoFit/>
          </a:bodyPr>
          <a:p>
            <a:r>
              <a:rPr lang="zh-CN" altLang="en-US" sz="1200" b="1">
                <a:solidFill>
                  <a:srgbClr val="C00000"/>
                </a:solidFill>
              </a:rPr>
              <a:t>初步完成，</a:t>
            </a:r>
            <a:endParaRPr lang="zh-CN" altLang="en-US" sz="1200" b="1">
              <a:solidFill>
                <a:srgbClr val="C00000"/>
              </a:solidFill>
            </a:endParaRPr>
          </a:p>
          <a:p>
            <a:r>
              <a:rPr lang="zh-CN" altLang="en-US" sz="1200" b="1">
                <a:solidFill>
                  <a:srgbClr val="C00000"/>
                </a:solidFill>
              </a:rPr>
              <a:t>持续迭代</a:t>
            </a:r>
            <a:endParaRPr lang="zh-CN" altLang="en-US" sz="1200" b="1">
              <a:solidFill>
                <a:srgbClr val="C00000"/>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  </a:t>
            </a:r>
            <a:r>
              <a:rPr lang="zh-CN" altLang="en-US">
                <a:sym typeface="+mn-ea"/>
              </a:rPr>
              <a:t> </a:t>
            </a:r>
            <a:r>
              <a:rPr lang="zh-CN" altLang="en-US">
                <a:solidFill>
                  <a:srgbClr val="C00000"/>
                </a:solidFill>
                <a:sym typeface="+mn-ea"/>
              </a:rPr>
              <a:t>问题分析</a:t>
            </a: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sym typeface="+mn-ea"/>
              </a:rPr>
              <a:t>现状及问题分析</a:t>
            </a:r>
            <a:endParaRPr lang="zh-CN" altLang="en-US"/>
          </a:p>
        </p:txBody>
      </p:sp>
      <p:sp>
        <p:nvSpPr>
          <p:cNvPr id="3" name="文本占位符 2"/>
          <p:cNvSpPr>
            <a:spLocks noGrp="1"/>
          </p:cNvSpPr>
          <p:nvPr>
            <p:ph type="body" sz="quarter" idx="10"/>
          </p:nvPr>
        </p:nvSpPr>
        <p:spPr>
          <a:xfrm>
            <a:off x="0" y="914400"/>
            <a:ext cx="12360910" cy="361950"/>
          </a:xfrm>
        </p:spPr>
        <p:txBody>
          <a:bodyPr/>
          <a:lstStyle/>
          <a:p>
            <a:pPr fontAlgn="auto">
              <a:lnSpc>
                <a:spcPct val="150000"/>
              </a:lnSpc>
            </a:pPr>
            <a:r>
              <a:rPr lang="zh-CN" altLang="en-US"/>
              <a:t>以客户为中心，聚焦客户的情绪价值、功能价值、体验价值的提升，以业务需求为切入，调</a:t>
            </a:r>
            <a:r>
              <a:t>研分析系统能力现状及核心痛点，明确痛点问题</a:t>
            </a:r>
            <a:r>
              <a:rPr lang="zh-CN" altLang="en-US"/>
              <a:t>。</a:t>
            </a:r>
            <a:endParaRPr lang="zh-CN" altLang="en-US"/>
          </a:p>
        </p:txBody>
      </p:sp>
      <p:grpSp>
        <p:nvGrpSpPr>
          <p:cNvPr id="35" name="组合 34"/>
          <p:cNvGrpSpPr/>
          <p:nvPr/>
        </p:nvGrpSpPr>
        <p:grpSpPr>
          <a:xfrm>
            <a:off x="183515" y="1523365"/>
            <a:ext cx="11789410" cy="4389755"/>
            <a:chOff x="289" y="2319"/>
            <a:chExt cx="18566" cy="6913"/>
          </a:xfrm>
        </p:grpSpPr>
        <p:sp>
          <p:nvSpPr>
            <p:cNvPr id="32" name="矩形 31"/>
            <p:cNvSpPr/>
            <p:nvPr>
              <p:custDataLst>
                <p:tags r:id="rId1"/>
              </p:custDataLst>
            </p:nvPr>
          </p:nvSpPr>
          <p:spPr>
            <a:xfrm>
              <a:off x="15031" y="2364"/>
              <a:ext cx="3824" cy="429"/>
            </a:xfrm>
            <a:prstGeom prst="rect">
              <a:avLst/>
            </a:prstGeom>
            <a:solidFill>
              <a:srgbClr val="40B0FF"/>
            </a:solidFill>
            <a:ln w="6350">
              <a:noFill/>
            </a:ln>
          </p:spPr>
          <p:style>
            <a:lnRef idx="2">
              <a:schemeClr val="accent6">
                <a:shade val="50000"/>
              </a:schemeClr>
            </a:lnRef>
            <a:fillRef idx="1">
              <a:schemeClr val="accent6"/>
            </a:fillRef>
            <a:effectRef idx="0">
              <a:schemeClr val="accent6"/>
            </a:effectRef>
            <a:fontRef idx="minor">
              <a:schemeClr val="lt1"/>
            </a:fontRef>
          </p:style>
          <p:txBody>
            <a:bodyPr rot="0" vertOverflow="overflow" horzOverflow="overflow" vert="horz" wrap="square" lIns="45719" tIns="45719" rIns="45719" bIns="45719" numCol="1" spcCol="38100" rtlCol="0" fromWordArt="0" anchor="ctr" anchorCtr="0" forceAA="0" compatLnSpc="1">
              <a:noAutofit/>
            </a:bodyPr>
            <a:p>
              <a:pPr lvl="0" algn="ctr" defTabSz="544195" latinLnBrk="1" hangingPunct="0">
                <a:spcBef>
                  <a:spcPts val="0"/>
                </a:spcBef>
                <a:spcAft>
                  <a:spcPts val="0"/>
                </a:spcAft>
                <a:buClrTx/>
                <a:buSzTx/>
                <a:buFontTx/>
              </a:pPr>
              <a:r>
                <a:rPr lang="zh-CN" sz="1200" b="1" dirty="0">
                  <a:solidFill>
                    <a:schemeClr val="bg1"/>
                  </a:solidFill>
                  <a:latin typeface="微软雅黑" panose="020B0503020204020204" pitchFamily="34" charset="-122"/>
                  <a:ea typeface="微软雅黑" panose="020B0503020204020204" pitchFamily="34" charset="-122"/>
                  <a:sym typeface="+mn-ea"/>
                </a:rPr>
                <a:t>提升一体化运营能力</a:t>
              </a:r>
              <a:endParaRPr lang="zh-CN" sz="1200" b="1" dirty="0">
                <a:solidFill>
                  <a:schemeClr val="bg1"/>
                </a:solidFill>
                <a:latin typeface="微软雅黑" panose="020B0503020204020204" pitchFamily="34" charset="-122"/>
                <a:ea typeface="微软雅黑" panose="020B0503020204020204" pitchFamily="34" charset="-122"/>
                <a:sym typeface="+mn-ea"/>
              </a:endParaRPr>
            </a:p>
          </p:txBody>
        </p:sp>
        <p:sp>
          <p:nvSpPr>
            <p:cNvPr id="31" name="矩形 30"/>
            <p:cNvSpPr/>
            <p:nvPr>
              <p:custDataLst>
                <p:tags r:id="rId2"/>
              </p:custDataLst>
            </p:nvPr>
          </p:nvSpPr>
          <p:spPr>
            <a:xfrm>
              <a:off x="10200" y="2388"/>
              <a:ext cx="4589" cy="429"/>
            </a:xfrm>
            <a:prstGeom prst="rect">
              <a:avLst/>
            </a:prstGeom>
            <a:solidFill>
              <a:srgbClr val="40B0FF"/>
            </a:solidFill>
            <a:ln w="6350">
              <a:noFill/>
            </a:ln>
          </p:spPr>
          <p:style>
            <a:lnRef idx="2">
              <a:schemeClr val="accent6">
                <a:shade val="50000"/>
              </a:schemeClr>
            </a:lnRef>
            <a:fillRef idx="1">
              <a:schemeClr val="accent6"/>
            </a:fillRef>
            <a:effectRef idx="0">
              <a:schemeClr val="accent6"/>
            </a:effectRef>
            <a:fontRef idx="minor">
              <a:schemeClr val="lt1"/>
            </a:fontRef>
          </p:style>
          <p:txBody>
            <a:bodyPr rot="0" vertOverflow="overflow" horzOverflow="overflow" vert="horz" wrap="square" lIns="45719" tIns="45719" rIns="45719" bIns="45719" numCol="1" spcCol="38100" rtlCol="0" fromWordArt="0" anchor="ctr" anchorCtr="0" forceAA="0" compatLnSpc="1">
              <a:noAutofit/>
            </a:bodyPr>
            <a:p>
              <a:pPr lvl="0" algn="ctr" defTabSz="544195" latinLnBrk="1" hangingPunct="0">
                <a:spcBef>
                  <a:spcPts val="0"/>
                </a:spcBef>
                <a:spcAft>
                  <a:spcPts val="0"/>
                </a:spcAft>
                <a:buClrTx/>
                <a:buSzTx/>
                <a:buFontTx/>
              </a:pPr>
              <a:r>
                <a:rPr lang="zh-CN" sz="1200" b="1" dirty="0">
                  <a:solidFill>
                    <a:schemeClr val="bg1"/>
                  </a:solidFill>
                  <a:latin typeface="微软雅黑" panose="020B0503020204020204" pitchFamily="34" charset="-122"/>
                  <a:ea typeface="微软雅黑" panose="020B0503020204020204" pitchFamily="34" charset="-122"/>
                  <a:sym typeface="+mn-ea"/>
                </a:rPr>
                <a:t>提升客户体验价值，做好流程可视</a:t>
              </a:r>
              <a:endParaRPr lang="zh-CN" sz="1200" b="1" dirty="0">
                <a:solidFill>
                  <a:schemeClr val="bg1"/>
                </a:solidFill>
                <a:latin typeface="微软雅黑" panose="020B0503020204020204" pitchFamily="34" charset="-122"/>
                <a:ea typeface="微软雅黑" panose="020B0503020204020204" pitchFamily="34" charset="-122"/>
                <a:sym typeface="+mn-ea"/>
              </a:endParaRPr>
            </a:p>
          </p:txBody>
        </p:sp>
        <p:sp>
          <p:nvSpPr>
            <p:cNvPr id="30" name="矩形 29"/>
            <p:cNvSpPr/>
            <p:nvPr>
              <p:custDataLst>
                <p:tags r:id="rId3"/>
              </p:custDataLst>
            </p:nvPr>
          </p:nvSpPr>
          <p:spPr>
            <a:xfrm>
              <a:off x="5531" y="2363"/>
              <a:ext cx="4364" cy="429"/>
            </a:xfrm>
            <a:prstGeom prst="rect">
              <a:avLst/>
            </a:prstGeom>
            <a:solidFill>
              <a:srgbClr val="40B0FF"/>
            </a:solidFill>
            <a:ln w="6350">
              <a:noFill/>
            </a:ln>
          </p:spPr>
          <p:style>
            <a:lnRef idx="2">
              <a:schemeClr val="accent6">
                <a:shade val="50000"/>
              </a:schemeClr>
            </a:lnRef>
            <a:fillRef idx="1">
              <a:schemeClr val="accent6"/>
            </a:fillRef>
            <a:effectRef idx="0">
              <a:schemeClr val="accent6"/>
            </a:effectRef>
            <a:fontRef idx="minor">
              <a:schemeClr val="lt1"/>
            </a:fontRef>
          </p:style>
          <p:txBody>
            <a:bodyPr rot="0" vertOverflow="overflow" horzOverflow="overflow" vert="horz" wrap="square" lIns="45719" tIns="45719" rIns="45719" bIns="45719" numCol="1" spcCol="38100" rtlCol="0" fromWordArt="0" anchor="ctr" anchorCtr="0" forceAA="0" compatLnSpc="1">
              <a:noAutofit/>
            </a:bodyPr>
            <a:p>
              <a:pPr lvl="0" algn="ctr" defTabSz="544195" latinLnBrk="1" hangingPunct="0">
                <a:spcBef>
                  <a:spcPts val="0"/>
                </a:spcBef>
                <a:spcAft>
                  <a:spcPts val="0"/>
                </a:spcAft>
                <a:buClrTx/>
                <a:buSzTx/>
                <a:buFontTx/>
              </a:pPr>
              <a:r>
                <a:rPr lang="zh-CN" sz="1200" b="1" dirty="0">
                  <a:solidFill>
                    <a:schemeClr val="bg1"/>
                  </a:solidFill>
                  <a:latin typeface="微软雅黑" panose="020B0503020204020204" pitchFamily="34" charset="-122"/>
                  <a:ea typeface="微软雅黑" panose="020B0503020204020204" pitchFamily="34" charset="-122"/>
                  <a:sym typeface="+mn-ea"/>
                </a:rPr>
                <a:t>提升客户功能价值，做好产品创新</a:t>
              </a:r>
              <a:endParaRPr lang="zh-CN" sz="1200" b="1" dirty="0">
                <a:solidFill>
                  <a:schemeClr val="bg1"/>
                </a:solidFill>
                <a:latin typeface="微软雅黑" panose="020B0503020204020204" pitchFamily="34" charset="-122"/>
                <a:ea typeface="微软雅黑" panose="020B0503020204020204" pitchFamily="34" charset="-122"/>
                <a:sym typeface="+mn-ea"/>
              </a:endParaRPr>
            </a:p>
          </p:txBody>
        </p:sp>
        <p:grpSp>
          <p:nvGrpSpPr>
            <p:cNvPr id="8" name="组合 7"/>
            <p:cNvGrpSpPr/>
            <p:nvPr/>
          </p:nvGrpSpPr>
          <p:grpSpPr>
            <a:xfrm rot="0">
              <a:off x="384" y="2739"/>
              <a:ext cx="4818" cy="6492"/>
              <a:chOff x="13843" y="4709"/>
              <a:chExt cx="4970" cy="4993"/>
            </a:xfrm>
          </p:grpSpPr>
          <p:sp>
            <p:nvSpPr>
              <p:cNvPr id="4" name="矩形 3"/>
              <p:cNvSpPr/>
              <p:nvPr/>
            </p:nvSpPr>
            <p:spPr>
              <a:xfrm>
                <a:off x="13843" y="4709"/>
                <a:ext cx="4970" cy="1903"/>
              </a:xfrm>
              <a:prstGeom prst="rect">
                <a:avLst/>
              </a:prstGeom>
              <a:solidFill>
                <a:srgbClr val="00B0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a:endParaRPr lang="zh-CN" altLang="en-US" sz="1200">
                  <a:latin typeface="微软雅黑" panose="020B0503020204020204" pitchFamily="34" charset="-122"/>
                  <a:ea typeface="微软雅黑" panose="020B0503020204020204" pitchFamily="34" charset="-122"/>
                </a:endParaRPr>
              </a:p>
            </p:txBody>
          </p:sp>
          <p:grpSp>
            <p:nvGrpSpPr>
              <p:cNvPr id="6" name="组合 5"/>
              <p:cNvGrpSpPr/>
              <p:nvPr/>
            </p:nvGrpSpPr>
            <p:grpSpPr>
              <a:xfrm>
                <a:off x="13843" y="7072"/>
                <a:ext cx="4970" cy="2630"/>
                <a:chOff x="13843" y="6703"/>
                <a:chExt cx="4970" cy="2908"/>
              </a:xfrm>
            </p:grpSpPr>
            <p:sp>
              <p:nvSpPr>
                <p:cNvPr id="7" name="矩形 6"/>
                <p:cNvSpPr/>
                <p:nvPr/>
              </p:nvSpPr>
              <p:spPr>
                <a:xfrm>
                  <a:off x="13843" y="6703"/>
                  <a:ext cx="4970" cy="2908"/>
                </a:xfrm>
                <a:prstGeom prst="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a:endParaRPr lang="zh-CN" altLang="en-US" sz="1200">
                    <a:latin typeface="微软雅黑" panose="020B0503020204020204" pitchFamily="34" charset="-122"/>
                    <a:ea typeface="微软雅黑" panose="020B0503020204020204" pitchFamily="34" charset="-122"/>
                  </a:endParaRPr>
                </a:p>
              </p:txBody>
            </p:sp>
            <p:sp>
              <p:nvSpPr>
                <p:cNvPr id="15" name="矩形 14"/>
                <p:cNvSpPr/>
                <p:nvPr/>
              </p:nvSpPr>
              <p:spPr>
                <a:xfrm>
                  <a:off x="13898" y="7308"/>
                  <a:ext cx="1610" cy="22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rIns="0" numCol="1" spcCol="0" rtlCol="0" fromWordArt="0" anchor="t" anchorCtr="0" forceAA="0" compatLnSpc="1">
                  <a:noAutofit/>
                </a:bodyPr>
                <a:p>
                  <a:pPr lvl="0" algn="ctr">
                    <a:lnSpc>
                      <a:spcPct val="120000"/>
                    </a:lnSpc>
                    <a:spcBef>
                      <a:spcPts val="0"/>
                    </a:spcBef>
                    <a:spcAft>
                      <a:spcPts val="0"/>
                    </a:spcAft>
                    <a:buClrTx/>
                    <a:buSzTx/>
                    <a:buFontTx/>
                    <a:buNone/>
                  </a:pPr>
                  <a:r>
                    <a:rPr lang="zh-CN" altLang="en-US" sz="1200" b="1">
                      <a:solidFill>
                        <a:schemeClr val="accent1"/>
                      </a:solidFill>
                      <a:latin typeface="微软雅黑" panose="020B0503020204020204" pitchFamily="34" charset="-122"/>
                      <a:ea typeface="微软雅黑" panose="020B0503020204020204" pitchFamily="34" charset="-122"/>
                      <a:sym typeface="+mn-ea"/>
                    </a:rPr>
                    <a:t>客户精细分群能力待提升</a:t>
                  </a:r>
                  <a:endParaRPr lang="zh-CN" altLang="en-US" sz="1200" b="1">
                    <a:solidFill>
                      <a:schemeClr val="accent1"/>
                    </a:solidFill>
                    <a:latin typeface="微软雅黑" panose="020B0503020204020204" pitchFamily="34" charset="-122"/>
                    <a:ea typeface="微软雅黑" panose="020B0503020204020204" pitchFamily="34" charset="-122"/>
                    <a:sym typeface="+mn-ea"/>
                  </a:endParaRPr>
                </a:p>
                <a:p>
                  <a:pPr lvl="0" algn="l">
                    <a:lnSpc>
                      <a:spcPct val="120000"/>
                    </a:lnSpc>
                    <a:spcBef>
                      <a:spcPts val="0"/>
                    </a:spcBef>
                    <a:spcAft>
                      <a:spcPts val="0"/>
                    </a:spcAft>
                    <a:buClrTx/>
                    <a:buSzTx/>
                    <a:buFontTx/>
                    <a:buNone/>
                  </a:pPr>
                  <a:r>
                    <a:rPr lang="zh-CN" altLang="en-US" sz="1100">
                      <a:solidFill>
                        <a:schemeClr val="tx1"/>
                      </a:solidFill>
                      <a:latin typeface="微软雅黑" panose="020B0503020204020204" pitchFamily="34" charset="-122"/>
                      <a:ea typeface="微软雅黑" panose="020B0503020204020204" pitchFamily="34" charset="-122"/>
                      <a:sym typeface="+mn-ea"/>
                    </a:rPr>
                    <a:t>客户行为、订单等数据分散；</a:t>
                  </a:r>
                  <a:endParaRPr lang="zh-CN" altLang="en-US" sz="1100">
                    <a:solidFill>
                      <a:schemeClr val="tx1"/>
                    </a:solidFill>
                    <a:latin typeface="微软雅黑" panose="020B0503020204020204" pitchFamily="34" charset="-122"/>
                    <a:ea typeface="微软雅黑" panose="020B0503020204020204" pitchFamily="34" charset="-122"/>
                    <a:sym typeface="+mn-ea"/>
                  </a:endParaRPr>
                </a:p>
                <a:p>
                  <a:pPr lvl="0" algn="l">
                    <a:lnSpc>
                      <a:spcPct val="120000"/>
                    </a:lnSpc>
                    <a:spcBef>
                      <a:spcPts val="0"/>
                    </a:spcBef>
                    <a:spcAft>
                      <a:spcPts val="0"/>
                    </a:spcAft>
                    <a:buClrTx/>
                    <a:buSzTx/>
                    <a:buFontTx/>
                    <a:buNone/>
                  </a:pPr>
                  <a:r>
                    <a:rPr lang="zh-CN" altLang="en-US" sz="1100">
                      <a:solidFill>
                        <a:schemeClr val="tx1"/>
                      </a:solidFill>
                      <a:latin typeface="微软雅黑" panose="020B0503020204020204" pitchFamily="34" charset="-122"/>
                      <a:ea typeface="微软雅黑" panose="020B0503020204020204" pitchFamily="34" charset="-122"/>
                      <a:sym typeface="+mn-ea"/>
                    </a:rPr>
                    <a:t>，跨域数据相互隔离，需拉通提升客户分群精准度</a:t>
                  </a:r>
                  <a:endParaRPr lang="zh-CN" altLang="en-US" sz="1200" b="1">
                    <a:solidFill>
                      <a:schemeClr val="accent1"/>
                    </a:solidFill>
                    <a:latin typeface="微软雅黑" panose="020B0503020204020204" pitchFamily="34" charset="-122"/>
                    <a:ea typeface="微软雅黑" panose="020B0503020204020204" pitchFamily="34" charset="-122"/>
                    <a:sym typeface="+mn-ea"/>
                  </a:endParaRPr>
                </a:p>
                <a:p>
                  <a:pPr lvl="0" algn="ctr">
                    <a:buClrTx/>
                    <a:buSzTx/>
                    <a:buFontTx/>
                  </a:pPr>
                  <a:endParaRPr lang="zh-CN" altLang="en-US" sz="1200" b="1">
                    <a:solidFill>
                      <a:schemeClr val="accent1"/>
                    </a:solidFill>
                    <a:latin typeface="微软雅黑" panose="020B0503020204020204" pitchFamily="34" charset="-122"/>
                    <a:ea typeface="微软雅黑" panose="020B0503020204020204" pitchFamily="34" charset="-122"/>
                    <a:sym typeface="+mn-ea"/>
                  </a:endParaRPr>
                </a:p>
              </p:txBody>
            </p:sp>
            <p:sp>
              <p:nvSpPr>
                <p:cNvPr id="16" name="矩形 15"/>
                <p:cNvSpPr/>
                <p:nvPr/>
              </p:nvSpPr>
              <p:spPr>
                <a:xfrm>
                  <a:off x="15526" y="7308"/>
                  <a:ext cx="1610" cy="22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lIns="36195" rIns="0" rtlCol="0" anchor="t" anchorCtr="0"/>
                <a:p>
                  <a:pPr algn="ctr"/>
                  <a:r>
                    <a:rPr lang="zh-CN" altLang="en-US"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运营分析以增量为主</a:t>
                  </a:r>
                  <a:endParaRPr lang="zh-CN" altLang="en-US" sz="1200" b="1">
                    <a:solidFill>
                      <a:schemeClr val="accent1"/>
                    </a:solidFill>
                    <a:latin typeface="微软雅黑" panose="020B0503020204020204" pitchFamily="34" charset="-122"/>
                    <a:ea typeface="微软雅黑" panose="020B0503020204020204" pitchFamily="34" charset="-122"/>
                  </a:endParaRPr>
                </a:p>
                <a:p>
                  <a:pPr algn="l">
                    <a:lnSpc>
                      <a:spcPct val="120000"/>
                    </a:lnSpc>
                    <a:spcBef>
                      <a:spcPts val="0"/>
                    </a:spcBef>
                    <a:spcAft>
                      <a:spcPts val="0"/>
                    </a:spcAft>
                    <a:buClrTx/>
                    <a:buSzTx/>
                    <a:buNone/>
                  </a:pPr>
                  <a:r>
                    <a:rPr lang="zh-CN" altLang="en-US" sz="1100">
                      <a:solidFill>
                        <a:schemeClr val="tx1"/>
                      </a:solidFill>
                      <a:latin typeface="微软雅黑" panose="020B0503020204020204" pitchFamily="34" charset="-122"/>
                      <a:ea typeface="微软雅黑" panose="020B0503020204020204" pitchFamily="34" charset="-122"/>
                      <a:sym typeface="+mn-ea"/>
                    </a:rPr>
                    <a:t>当前运营分析和策略仍以增量运营为主，需加强存量运营能力，实现存增一体</a:t>
                  </a:r>
                  <a:endParaRPr lang="zh-CN" altLang="en-US" sz="1100">
                    <a:solidFill>
                      <a:schemeClr val="tx1"/>
                    </a:solidFill>
                    <a:latin typeface="微软雅黑" panose="020B0503020204020204" pitchFamily="34" charset="-122"/>
                    <a:ea typeface="微软雅黑" panose="020B0503020204020204" pitchFamily="34" charset="-122"/>
                  </a:endParaRPr>
                </a:p>
              </p:txBody>
            </p:sp>
            <p:sp>
              <p:nvSpPr>
                <p:cNvPr id="17" name="矩形 16"/>
                <p:cNvSpPr/>
                <p:nvPr/>
              </p:nvSpPr>
              <p:spPr>
                <a:xfrm>
                  <a:off x="17154" y="7308"/>
                  <a:ext cx="1610" cy="22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lIns="36195" rIns="0" rtlCol="0" anchor="t" anchorCtr="0"/>
                <a:p>
                  <a:pPr algn="ctr">
                    <a:lnSpc>
                      <a:spcPct val="120000"/>
                    </a:lnSpc>
                    <a:spcBef>
                      <a:spcPts val="0"/>
                    </a:spcBef>
                    <a:spcAft>
                      <a:spcPts val="0"/>
                    </a:spcAft>
                    <a:buClrTx/>
                    <a:buSzTx/>
                    <a:buNone/>
                  </a:pPr>
                  <a:r>
                    <a:rPr lang="zh-CN" altLang="en-US" sz="1200" b="1">
                      <a:solidFill>
                        <a:schemeClr val="accent1"/>
                      </a:solidFill>
                      <a:latin typeface="微软雅黑" panose="020B0503020204020204" pitchFamily="34" charset="-122"/>
                      <a:ea typeface="微软雅黑" panose="020B0503020204020204" pitchFamily="34" charset="-122"/>
                      <a:sym typeface="+mn-ea"/>
                    </a:rPr>
                    <a:t>自动化运营能力待提升</a:t>
                  </a:r>
                  <a:endParaRPr lang="zh-CN" altLang="en-US" sz="1200" b="1">
                    <a:solidFill>
                      <a:schemeClr val="accent1"/>
                    </a:solidFill>
                    <a:latin typeface="微软雅黑" panose="020B0503020204020204" pitchFamily="34" charset="-122"/>
                    <a:ea typeface="微软雅黑" panose="020B0503020204020204" pitchFamily="34" charset="-122"/>
                    <a:sym typeface="+mn-ea"/>
                  </a:endParaRPr>
                </a:p>
                <a:p>
                  <a:pPr algn="l">
                    <a:lnSpc>
                      <a:spcPct val="120000"/>
                    </a:lnSpc>
                    <a:spcBef>
                      <a:spcPts val="0"/>
                    </a:spcBef>
                    <a:spcAft>
                      <a:spcPts val="0"/>
                    </a:spcAft>
                    <a:buClrTx/>
                    <a:buSzTx/>
                    <a:buNone/>
                  </a:pPr>
                  <a:r>
                    <a:rPr lang="zh-CN" altLang="en-US" sz="1100">
                      <a:solidFill>
                        <a:schemeClr val="tx1"/>
                      </a:solidFill>
                      <a:latin typeface="微软雅黑" panose="020B0503020204020204" pitchFamily="34" charset="-122"/>
                      <a:ea typeface="微软雅黑" panose="020B0503020204020204" pitchFamily="34" charset="-122"/>
                      <a:sym typeface="+mn-ea"/>
                    </a:rPr>
                    <a:t>策略仍依赖人工经验策划，标签以省个性化为主；自动化、一体化运营能力待提升</a:t>
                  </a:r>
                  <a:endParaRPr lang="zh-CN" altLang="en-US" sz="1100">
                    <a:solidFill>
                      <a:schemeClr val="tx1"/>
                    </a:solidFill>
                    <a:latin typeface="微软雅黑" panose="020B0503020204020204" pitchFamily="34" charset="-122"/>
                    <a:ea typeface="微软雅黑" panose="020B0503020204020204" pitchFamily="34" charset="-122"/>
                  </a:endParaRPr>
                </a:p>
                <a:p>
                  <a:pPr algn="ctr">
                    <a:lnSpc>
                      <a:spcPct val="130000"/>
                    </a:lnSpc>
                    <a:spcBef>
                      <a:spcPts val="0"/>
                    </a:spcBef>
                    <a:spcAft>
                      <a:spcPts val="0"/>
                    </a:spcAft>
                  </a:pPr>
                  <a:endParaRPr lang="zh-CN" altLang="en-US" sz="11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8" name="上箭头 17"/>
              <p:cNvSpPr/>
              <p:nvPr/>
            </p:nvSpPr>
            <p:spPr>
              <a:xfrm rot="10800000">
                <a:off x="15694" y="6639"/>
                <a:ext cx="1192" cy="432"/>
              </a:xfrm>
              <a:prstGeom prst="upArrow">
                <a:avLst>
                  <a:gd name="adj1" fmla="val 50000"/>
                  <a:gd name="adj2" fmla="val 59854"/>
                </a:avLst>
              </a:prstGeom>
              <a:solidFill>
                <a:srgbClr val="B2D1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26" name="文本框 25"/>
              <p:cNvSpPr txBox="1"/>
              <p:nvPr/>
            </p:nvSpPr>
            <p:spPr>
              <a:xfrm>
                <a:off x="14427" y="4751"/>
                <a:ext cx="4336" cy="1883"/>
              </a:xfrm>
              <a:prstGeom prst="rect">
                <a:avLst/>
              </a:prstGeom>
              <a:solidFill>
                <a:srgbClr val="0070BF"/>
              </a:solidFill>
              <a:ln>
                <a:solidFill>
                  <a:srgbClr val="0070BF"/>
                </a:solidFill>
              </a:ln>
            </p:spPr>
            <p:txBody>
              <a:bodyPr wrap="square" rtlCol="0">
                <a:noAutofit/>
              </a:bodyPr>
              <a:p>
                <a:pPr algn="l">
                  <a:lnSpc>
                    <a:spcPct val="13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rPr>
                  <a:t>①细分市场运营：</a:t>
                </a:r>
                <a:r>
                  <a:rPr kumimoji="1" lang="en-US" altLang="zh-CN" sz="1100" dirty="0" smtClean="0">
                    <a:solidFill>
                      <a:schemeClr val="bg1"/>
                    </a:solidFill>
                    <a:latin typeface="微软雅黑" panose="020B0503020204020204" pitchFamily="34" charset="-122"/>
                    <a:ea typeface="微软雅黑" panose="020B0503020204020204" pitchFamily="34" charset="-122"/>
                  </a:rPr>
                  <a:t>5</a:t>
                </a:r>
                <a:r>
                  <a:rPr kumimoji="1" lang="zh-CN" altLang="en-US" sz="1100" dirty="0" smtClean="0">
                    <a:solidFill>
                      <a:schemeClr val="bg1"/>
                    </a:solidFill>
                    <a:latin typeface="微软雅黑" panose="020B0503020204020204" pitchFamily="34" charset="-122"/>
                    <a:ea typeface="微软雅黑" panose="020B0503020204020204" pitchFamily="34" charset="-122"/>
                  </a:rPr>
                  <a:t>大类</a:t>
                </a:r>
                <a:r>
                  <a:rPr kumimoji="1" lang="en-US" altLang="zh-CN" sz="1100" dirty="0" smtClean="0">
                    <a:solidFill>
                      <a:schemeClr val="bg1"/>
                    </a:solidFill>
                    <a:latin typeface="微软雅黑" panose="020B0503020204020204" pitchFamily="34" charset="-122"/>
                    <a:ea typeface="微软雅黑" panose="020B0503020204020204" pitchFamily="34" charset="-122"/>
                  </a:rPr>
                  <a:t>58</a:t>
                </a:r>
                <a:r>
                  <a:rPr kumimoji="1" lang="zh-CN" altLang="en-US" sz="1100" dirty="0" smtClean="0">
                    <a:solidFill>
                      <a:schemeClr val="bg1"/>
                    </a:solidFill>
                    <a:latin typeface="微软雅黑" panose="020B0503020204020204" pitchFamily="34" charset="-122"/>
                    <a:ea typeface="微软雅黑" panose="020B0503020204020204" pitchFamily="34" charset="-122"/>
                  </a:rPr>
                  <a:t>小类客群细分</a:t>
                </a:r>
                <a:endParaRPr kumimoji="1" lang="zh-CN" altLang="en-US" sz="1100" dirty="0" smtClean="0">
                  <a:solidFill>
                    <a:schemeClr val="bg1"/>
                  </a:solidFill>
                  <a:latin typeface="微软雅黑" panose="020B0503020204020204" pitchFamily="34" charset="-122"/>
                  <a:ea typeface="微软雅黑" panose="020B0503020204020204" pitchFamily="34" charset="-122"/>
                </a:endParaRPr>
              </a:p>
              <a:p>
                <a:pPr algn="l">
                  <a:lnSpc>
                    <a:spcPct val="13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rPr>
                  <a:t>②存量市场运营：</a:t>
                </a:r>
                <a:r>
                  <a:rPr kumimoji="1" lang="zh-CN" altLang="en-US" sz="1100" dirty="0" smtClean="0">
                    <a:solidFill>
                      <a:schemeClr val="bg1"/>
                    </a:solidFill>
                    <a:latin typeface="微软雅黑" panose="020B0503020204020204" pitchFamily="34" charset="-122"/>
                    <a:ea typeface="微软雅黑" panose="020B0503020204020204" pitchFamily="34" charset="-122"/>
                  </a:rPr>
                  <a:t>三大行动，洞察中高端、家庭等用户，提升融合运营能力</a:t>
                </a:r>
                <a:endParaRPr kumimoji="1" lang="zh-CN" altLang="en-US" sz="1100" dirty="0" smtClean="0">
                  <a:solidFill>
                    <a:schemeClr val="bg1"/>
                  </a:solidFill>
                  <a:latin typeface="微软雅黑" panose="020B0503020204020204" pitchFamily="34" charset="-122"/>
                  <a:ea typeface="微软雅黑" panose="020B0503020204020204" pitchFamily="34" charset="-122"/>
                </a:endParaRPr>
              </a:p>
              <a:p>
                <a:pPr algn="l">
                  <a:lnSpc>
                    <a:spcPct val="13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rPr>
                  <a:t>③家庭市场增收：</a:t>
                </a:r>
                <a:r>
                  <a:rPr kumimoji="1" lang="zh-CN" altLang="en-US" sz="1100" dirty="0" smtClean="0">
                    <a:solidFill>
                      <a:schemeClr val="bg1"/>
                    </a:solidFill>
                    <a:latin typeface="微软雅黑" panose="020B0503020204020204" pitchFamily="34" charset="-122"/>
                    <a:ea typeface="微软雅黑" panose="020B0503020204020204" pitchFamily="34" charset="-122"/>
                  </a:rPr>
                  <a:t>向泛家庭运营转型</a:t>
                </a:r>
                <a:endParaRPr kumimoji="1" lang="zh-CN" altLang="en-US" sz="1100" dirty="0" smtClean="0">
                  <a:solidFill>
                    <a:schemeClr val="bg1"/>
                  </a:solidFill>
                  <a:latin typeface="微软雅黑" panose="020B0503020204020204" pitchFamily="34" charset="-122"/>
                  <a:ea typeface="微软雅黑" panose="020B0503020204020204" pitchFamily="34" charset="-122"/>
                </a:endParaRPr>
              </a:p>
              <a:p>
                <a:pPr algn="l">
                  <a:lnSpc>
                    <a:spcPct val="13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rPr>
                  <a:t>④客户全生命周期运营：</a:t>
                </a:r>
                <a:r>
                  <a:rPr kumimoji="1" lang="zh-CN" altLang="en-US" sz="1100" dirty="0" smtClean="0">
                    <a:solidFill>
                      <a:schemeClr val="bg1"/>
                    </a:solidFill>
                    <a:latin typeface="微软雅黑" panose="020B0503020204020204" pitchFamily="34" charset="-122"/>
                    <a:ea typeface="微软雅黑" panose="020B0503020204020204" pitchFamily="34" charset="-122"/>
                  </a:rPr>
                  <a:t>建设存量运营平台、数智运营平台等，强化融合运营</a:t>
                </a:r>
                <a:endParaRPr kumimoji="1" lang="zh-CN" altLang="en-US" sz="1100" dirty="0" smtClean="0">
                  <a:solidFill>
                    <a:schemeClr val="bg1"/>
                  </a:solidFill>
                  <a:latin typeface="微软雅黑" panose="020B0503020204020204" pitchFamily="34" charset="-122"/>
                  <a:ea typeface="微软雅黑" panose="020B0503020204020204" pitchFamily="34" charset="-122"/>
                </a:endParaRPr>
              </a:p>
              <a:p>
                <a:pPr algn="l">
                  <a:lnSpc>
                    <a:spcPct val="130000"/>
                  </a:lnSpc>
                  <a:spcBef>
                    <a:spcPts val="0"/>
                  </a:spcBef>
                  <a:spcAft>
                    <a:spcPts val="0"/>
                  </a:spcAft>
                </a:pPr>
                <a:r>
                  <a:rPr kumimoji="1" lang="en-US" altLang="zh-CN" sz="1100" dirty="0" smtClean="0">
                    <a:solidFill>
                      <a:schemeClr val="bg1"/>
                    </a:solidFill>
                    <a:latin typeface="微软雅黑" panose="020B0503020204020204" pitchFamily="34" charset="-122"/>
                    <a:ea typeface="微软雅黑" panose="020B0503020204020204" pitchFamily="34" charset="-122"/>
                  </a:rPr>
                  <a:t>......</a:t>
                </a:r>
                <a:endParaRPr kumimoji="1" lang="en-US" altLang="zh-CN" sz="1100" dirty="0" smtClean="0">
                  <a:solidFill>
                    <a:schemeClr val="bg1"/>
                  </a:solidFill>
                  <a:latin typeface="微软雅黑" panose="020B0503020204020204" pitchFamily="34" charset="-122"/>
                  <a:ea typeface="微软雅黑" panose="020B0503020204020204" pitchFamily="34" charset="-122"/>
                </a:endParaRPr>
              </a:p>
            </p:txBody>
          </p:sp>
        </p:grpSp>
        <p:sp>
          <p:nvSpPr>
            <p:cNvPr id="28" name="矩形 27"/>
            <p:cNvSpPr/>
            <p:nvPr/>
          </p:nvSpPr>
          <p:spPr>
            <a:xfrm>
              <a:off x="384" y="2738"/>
              <a:ext cx="567" cy="2501"/>
            </a:xfrm>
            <a:prstGeom prst="rect">
              <a:avLst/>
            </a:prstGeom>
            <a:solidFill>
              <a:srgbClr val="F2F2F2"/>
            </a:solidFill>
            <a:ln>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业务需求</a:t>
              </a:r>
              <a:endPar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9" name="矩形 28"/>
            <p:cNvSpPr/>
            <p:nvPr/>
          </p:nvSpPr>
          <p:spPr>
            <a:xfrm>
              <a:off x="384" y="5799"/>
              <a:ext cx="4818" cy="617"/>
            </a:xfrm>
            <a:prstGeom prst="rect">
              <a:avLst/>
            </a:prstGeom>
            <a:solidFill>
              <a:srgbClr val="F2F2F2"/>
            </a:solidFill>
            <a:ln>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问题分析</a:t>
              </a:r>
              <a:endPar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21" name="组合 20"/>
            <p:cNvGrpSpPr/>
            <p:nvPr/>
          </p:nvGrpSpPr>
          <p:grpSpPr>
            <a:xfrm>
              <a:off x="5483" y="2747"/>
              <a:ext cx="4411" cy="6485"/>
              <a:chOff x="5327" y="2968"/>
              <a:chExt cx="4411" cy="6485"/>
            </a:xfrm>
          </p:grpSpPr>
          <p:sp>
            <p:nvSpPr>
              <p:cNvPr id="61" name="矩形 60"/>
              <p:cNvSpPr/>
              <p:nvPr/>
            </p:nvSpPr>
            <p:spPr>
              <a:xfrm>
                <a:off x="5327" y="2969"/>
                <a:ext cx="4411" cy="2474"/>
              </a:xfrm>
              <a:prstGeom prst="rect">
                <a:avLst/>
              </a:prstGeom>
              <a:solidFill>
                <a:srgbClr val="00B0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a:endParaRPr lang="zh-CN" altLang="en-US" sz="1100">
                  <a:latin typeface="微软雅黑" panose="020B0503020204020204" pitchFamily="34" charset="-122"/>
                  <a:ea typeface="微软雅黑" panose="020B0503020204020204" pitchFamily="34" charset="-122"/>
                </a:endParaRPr>
              </a:p>
            </p:txBody>
          </p:sp>
          <p:grpSp>
            <p:nvGrpSpPr>
              <p:cNvPr id="63" name="组合 62"/>
              <p:cNvGrpSpPr/>
              <p:nvPr/>
            </p:nvGrpSpPr>
            <p:grpSpPr>
              <a:xfrm rot="0">
                <a:off x="5433" y="6041"/>
                <a:ext cx="4305" cy="3412"/>
                <a:chOff x="13962" y="6703"/>
                <a:chExt cx="4851" cy="2901"/>
              </a:xfrm>
            </p:grpSpPr>
            <p:sp>
              <p:nvSpPr>
                <p:cNvPr id="66" name="矩形 65"/>
                <p:cNvSpPr/>
                <p:nvPr/>
              </p:nvSpPr>
              <p:spPr>
                <a:xfrm>
                  <a:off x="13962" y="6703"/>
                  <a:ext cx="4851" cy="2901"/>
                </a:xfrm>
                <a:prstGeom prst="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a:endParaRPr lang="zh-CN" altLang="en-US" sz="1200">
                    <a:latin typeface="微软雅黑" panose="020B0503020204020204" pitchFamily="34" charset="-122"/>
                    <a:ea typeface="微软雅黑" panose="020B0503020204020204" pitchFamily="34" charset="-122"/>
                  </a:endParaRPr>
                </a:p>
              </p:txBody>
            </p:sp>
            <p:sp>
              <p:nvSpPr>
                <p:cNvPr id="67" name="矩形 66"/>
                <p:cNvSpPr/>
                <p:nvPr/>
              </p:nvSpPr>
              <p:spPr>
                <a:xfrm>
                  <a:off x="14007" y="7308"/>
                  <a:ext cx="2246" cy="220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lIns="36195" rIns="0" rtlCol="0" anchor="t" anchorCtr="0"/>
                <a:p>
                  <a:pPr indent="0" algn="ctr" fontAlgn="auto">
                    <a:lnSpc>
                      <a:spcPct val="120000"/>
                    </a:lnSpc>
                    <a:spcBef>
                      <a:spcPts val="0"/>
                    </a:spcBef>
                    <a:spcAft>
                      <a:spcPts val="0"/>
                    </a:spcAft>
                  </a:pPr>
                  <a:r>
                    <a:rPr lang="zh-CN" altLang="en-US" sz="1200" b="1">
                      <a:solidFill>
                        <a:schemeClr val="accent1"/>
                      </a:solidFill>
                      <a:latin typeface="微软雅黑" panose="020B0503020204020204" pitchFamily="34" charset="-122"/>
                      <a:ea typeface="微软雅黑" panose="020B0503020204020204" pitchFamily="34" charset="-122"/>
                    </a:rPr>
                    <a:t>产品统一供给能力待加强</a:t>
                  </a:r>
                  <a:endParaRPr lang="zh-CN" altLang="en-US" sz="1200" b="1">
                    <a:solidFill>
                      <a:schemeClr val="accent1"/>
                    </a:solidFill>
                    <a:latin typeface="微软雅黑" panose="020B0503020204020204" pitchFamily="34" charset="-122"/>
                    <a:ea typeface="微软雅黑" panose="020B0503020204020204" pitchFamily="34" charset="-122"/>
                  </a:endParaRPr>
                </a:p>
                <a:p>
                  <a:pPr indent="0" algn="l" fontAlgn="auto">
                    <a:lnSpc>
                      <a:spcPct val="120000"/>
                    </a:lnSpc>
                    <a:spcBef>
                      <a:spcPts val="0"/>
                    </a:spcBef>
                    <a:spcAft>
                      <a:spcPts val="0"/>
                    </a:spcAft>
                  </a:pPr>
                  <a:r>
                    <a:rPr lang="zh-CN" altLang="en-US" sz="1100">
                      <a:solidFill>
                        <a:schemeClr val="tx1"/>
                      </a:solidFill>
                      <a:latin typeface="微软雅黑" panose="020B0503020204020204" pitchFamily="34" charset="-122"/>
                      <a:ea typeface="微软雅黑" panose="020B0503020204020204" pitchFamily="34" charset="-122"/>
                    </a:rPr>
                    <a:t>全网产品分散在多系统中管理，业务推广所需的原子产品数量少，需强化封装能力建设</a:t>
                  </a:r>
                  <a:endParaRPr lang="zh-CN" altLang="en-US" sz="1100">
                    <a:solidFill>
                      <a:schemeClr val="tx1"/>
                    </a:solidFill>
                    <a:latin typeface="微软雅黑" panose="020B0503020204020204" pitchFamily="34" charset="-122"/>
                    <a:ea typeface="微软雅黑" panose="020B0503020204020204" pitchFamily="34" charset="-122"/>
                  </a:endParaRPr>
                </a:p>
              </p:txBody>
            </p:sp>
          </p:grpSp>
          <p:sp>
            <p:nvSpPr>
              <p:cNvPr id="70" name="上箭头 69"/>
              <p:cNvSpPr/>
              <p:nvPr/>
            </p:nvSpPr>
            <p:spPr>
              <a:xfrm rot="10800000">
                <a:off x="6970" y="5478"/>
                <a:ext cx="1058" cy="562"/>
              </a:xfrm>
              <a:prstGeom prst="upArrow">
                <a:avLst>
                  <a:gd name="adj1" fmla="val 50000"/>
                  <a:gd name="adj2" fmla="val 59854"/>
                </a:avLst>
              </a:prstGeom>
              <a:solidFill>
                <a:srgbClr val="B2D1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71" name="文本框 70"/>
              <p:cNvSpPr txBox="1"/>
              <p:nvPr/>
            </p:nvSpPr>
            <p:spPr>
              <a:xfrm>
                <a:off x="5845" y="3024"/>
                <a:ext cx="3848" cy="2448"/>
              </a:xfrm>
              <a:prstGeom prst="rect">
                <a:avLst/>
              </a:prstGeom>
              <a:solidFill>
                <a:srgbClr val="0070BF"/>
              </a:solidFill>
              <a:ln>
                <a:solidFill>
                  <a:srgbClr val="0070BF"/>
                </a:solidFill>
              </a:ln>
            </p:spPr>
            <p:txBody>
              <a:bodyPr wrap="square" rtlCol="0">
                <a:noAutofit/>
              </a:bodyPr>
              <a:p>
                <a:pPr algn="l">
                  <a:lnSpc>
                    <a:spcPct val="13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rPr>
                  <a:t>①</a:t>
                </a:r>
                <a:r>
                  <a:rPr kumimoji="1" lang="zh-CN" altLang="en-US" sz="1100" b="1" dirty="0" smtClean="0">
                    <a:solidFill>
                      <a:schemeClr val="bg1"/>
                    </a:solidFill>
                    <a:latin typeface="微软雅黑" panose="020B0503020204020204" pitchFamily="34" charset="-122"/>
                    <a:ea typeface="微软雅黑" panose="020B0503020204020204" pitchFamily="34" charset="-122"/>
                    <a:sym typeface="+mn-ea"/>
                  </a:rPr>
                  <a:t>细分市场产品供给：</a:t>
                </a:r>
                <a:r>
                  <a:rPr kumimoji="1" lang="zh-CN" altLang="en-US" sz="1100" dirty="0" smtClean="0">
                    <a:solidFill>
                      <a:schemeClr val="bg1"/>
                    </a:solidFill>
                    <a:latin typeface="微软雅黑" panose="020B0503020204020204" pitchFamily="34" charset="-122"/>
                    <a:ea typeface="微软雅黑" panose="020B0503020204020204" pitchFamily="34" charset="-122"/>
                    <a:sym typeface="+mn-ea"/>
                  </a:rPr>
                  <a:t>统一原子产品库</a:t>
                </a:r>
                <a:r>
                  <a:rPr kumimoji="1" lang="zh-CN" altLang="en-US" sz="1100" b="1" dirty="0" smtClean="0">
                    <a:solidFill>
                      <a:schemeClr val="bg1"/>
                    </a:solidFill>
                    <a:latin typeface="微软雅黑" panose="020B0503020204020204" pitchFamily="34" charset="-122"/>
                    <a:ea typeface="微软雅黑" panose="020B0503020204020204" pitchFamily="34" charset="-122"/>
                    <a:sym typeface="+mn-ea"/>
                  </a:rPr>
                  <a:t>，</a:t>
                </a:r>
                <a:r>
                  <a:rPr kumimoji="1" lang="zh-CN" sz="1100" dirty="0" smtClean="0">
                    <a:solidFill>
                      <a:schemeClr val="bg1"/>
                    </a:solidFill>
                    <a:latin typeface="微软雅黑" panose="020B0503020204020204" pitchFamily="34" charset="-122"/>
                    <a:ea typeface="微软雅黑" panose="020B0503020204020204" pitchFamily="34" charset="-122"/>
                    <a:sym typeface="+mn-ea"/>
                  </a:rPr>
                  <a:t>全专业公司产品纳管</a:t>
                </a:r>
                <a:endParaRPr kumimoji="1" lang="zh-CN" altLang="en-US" sz="1100" dirty="0" smtClean="0">
                  <a:solidFill>
                    <a:schemeClr val="bg1"/>
                  </a:solidFill>
                  <a:latin typeface="微软雅黑" panose="020B0503020204020204" pitchFamily="34" charset="-122"/>
                  <a:ea typeface="微软雅黑" panose="020B0503020204020204" pitchFamily="34" charset="-122"/>
                </a:endParaRPr>
              </a:p>
              <a:p>
                <a:pPr algn="l">
                  <a:lnSpc>
                    <a:spcPct val="13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rPr>
                  <a:t>②产品智能封装：</a:t>
                </a:r>
                <a:r>
                  <a:rPr kumimoji="1" lang="zh-CN" altLang="en-US" sz="1100" dirty="0" smtClean="0">
                    <a:solidFill>
                      <a:schemeClr val="bg1"/>
                    </a:solidFill>
                    <a:latin typeface="微软雅黑" panose="020B0503020204020204" pitchFamily="34" charset="-122"/>
                    <a:ea typeface="微软雅黑" panose="020B0503020204020204" pitchFamily="34" charset="-122"/>
                  </a:rPr>
                  <a:t>省专</a:t>
                </a:r>
                <a:r>
                  <a:rPr kumimoji="1" lang="zh-CN" sz="1100" dirty="0" smtClean="0">
                    <a:solidFill>
                      <a:schemeClr val="bg1"/>
                    </a:solidFill>
                    <a:latin typeface="微软雅黑" panose="020B0503020204020204" pitchFamily="34" charset="-122"/>
                    <a:ea typeface="微软雅黑" panose="020B0503020204020204" pitchFamily="34" charset="-122"/>
                    <a:sym typeface="+mn-ea"/>
                  </a:rPr>
                  <a:t>产品智能封装</a:t>
                </a:r>
                <a:endParaRPr kumimoji="1" lang="zh-CN" altLang="en-US" sz="1100" dirty="0" smtClean="0">
                  <a:solidFill>
                    <a:schemeClr val="bg1"/>
                  </a:solidFill>
                  <a:latin typeface="微软雅黑" panose="020B0503020204020204" pitchFamily="34" charset="-122"/>
                  <a:ea typeface="微软雅黑" panose="020B0503020204020204" pitchFamily="34" charset="-122"/>
                </a:endParaRPr>
              </a:p>
              <a:p>
                <a:pPr algn="l">
                  <a:lnSpc>
                    <a:spcPct val="13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rPr>
                  <a:t>③产品智能定价：</a:t>
                </a:r>
                <a:r>
                  <a:rPr kumimoji="1" lang="zh-CN" altLang="en-US" sz="1100" dirty="0" smtClean="0">
                    <a:solidFill>
                      <a:schemeClr val="bg1"/>
                    </a:solidFill>
                    <a:latin typeface="微软雅黑" panose="020B0503020204020204" pitchFamily="34" charset="-122"/>
                    <a:ea typeface="微软雅黑" panose="020B0503020204020204" pitchFamily="34" charset="-122"/>
                  </a:rPr>
                  <a:t>科学算费，实现产品智能定价</a:t>
                </a:r>
                <a:endParaRPr kumimoji="1" lang="zh-CN" altLang="en-US" sz="1100" dirty="0" smtClean="0">
                  <a:solidFill>
                    <a:schemeClr val="bg1"/>
                  </a:solidFill>
                  <a:latin typeface="微软雅黑" panose="020B0503020204020204" pitchFamily="34" charset="-122"/>
                  <a:ea typeface="微软雅黑" panose="020B0503020204020204" pitchFamily="34" charset="-122"/>
                </a:endParaRPr>
              </a:p>
              <a:p>
                <a:pPr algn="l">
                  <a:lnSpc>
                    <a:spcPct val="13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rPr>
                  <a:t>④产品</a:t>
                </a:r>
                <a:r>
                  <a:rPr kumimoji="1" lang="en-US" altLang="zh-CN" sz="1100" b="1" dirty="0" smtClean="0">
                    <a:solidFill>
                      <a:schemeClr val="bg1"/>
                    </a:solidFill>
                    <a:latin typeface="微软雅黑" panose="020B0503020204020204" pitchFamily="34" charset="-122"/>
                    <a:ea typeface="微软雅黑" panose="020B0503020204020204" pitchFamily="34" charset="-122"/>
                  </a:rPr>
                  <a:t>AI</a:t>
                </a:r>
                <a:r>
                  <a:rPr kumimoji="1" lang="zh-CN" altLang="en-US" sz="1100" b="1" dirty="0" smtClean="0">
                    <a:solidFill>
                      <a:schemeClr val="bg1"/>
                    </a:solidFill>
                    <a:latin typeface="微软雅黑" panose="020B0503020204020204" pitchFamily="34" charset="-122"/>
                    <a:ea typeface="微软雅黑" panose="020B0503020204020204" pitchFamily="34" charset="-122"/>
                  </a:rPr>
                  <a:t>化</a:t>
                </a:r>
                <a:endParaRPr kumimoji="1" lang="zh-CN" altLang="en-US" sz="1100" b="1" dirty="0" smtClean="0">
                  <a:solidFill>
                    <a:schemeClr val="bg1"/>
                  </a:solidFill>
                  <a:latin typeface="微软雅黑" panose="020B0503020204020204" pitchFamily="34" charset="-122"/>
                  <a:ea typeface="微软雅黑" panose="020B0503020204020204" pitchFamily="34" charset="-122"/>
                </a:endParaRPr>
              </a:p>
              <a:p>
                <a:pPr algn="l">
                  <a:lnSpc>
                    <a:spcPct val="130000"/>
                  </a:lnSpc>
                  <a:spcBef>
                    <a:spcPts val="0"/>
                  </a:spcBef>
                  <a:spcAft>
                    <a:spcPts val="0"/>
                  </a:spcAft>
                </a:pPr>
                <a:r>
                  <a:rPr kumimoji="1" lang="en-US" altLang="zh-CN" sz="1100" b="1" dirty="0" smtClean="0">
                    <a:solidFill>
                      <a:schemeClr val="bg1"/>
                    </a:solidFill>
                    <a:latin typeface="微软雅黑" panose="020B0503020204020204" pitchFamily="34" charset="-122"/>
                    <a:ea typeface="微软雅黑" panose="020B0503020204020204" pitchFamily="34" charset="-122"/>
                  </a:rPr>
                  <a:t>......</a:t>
                </a:r>
                <a:endParaRPr kumimoji="1" lang="en-US" altLang="zh-CN" sz="1100" b="1" dirty="0" smtClean="0">
                  <a:solidFill>
                    <a:schemeClr val="bg1"/>
                  </a:solidFill>
                  <a:latin typeface="微软雅黑" panose="020B0503020204020204" pitchFamily="34" charset="-122"/>
                  <a:ea typeface="微软雅黑" panose="020B0503020204020204" pitchFamily="34" charset="-122"/>
                </a:endParaRPr>
              </a:p>
            </p:txBody>
          </p:sp>
          <p:sp>
            <p:nvSpPr>
              <p:cNvPr id="72" name="矩形 71"/>
              <p:cNvSpPr/>
              <p:nvPr/>
            </p:nvSpPr>
            <p:spPr>
              <a:xfrm>
                <a:off x="5327" y="2968"/>
                <a:ext cx="519" cy="2501"/>
              </a:xfrm>
              <a:prstGeom prst="rect">
                <a:avLst/>
              </a:prstGeom>
              <a:solidFill>
                <a:srgbClr val="F2F2F2"/>
              </a:solidFill>
              <a:ln>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业务</a:t>
                </a:r>
                <a:r>
                  <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需求</a:t>
                </a:r>
                <a:endPar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73" name="矩形 72"/>
              <p:cNvSpPr/>
              <p:nvPr/>
            </p:nvSpPr>
            <p:spPr>
              <a:xfrm>
                <a:off x="5327" y="6029"/>
                <a:ext cx="4411" cy="617"/>
              </a:xfrm>
              <a:prstGeom prst="rect">
                <a:avLst/>
              </a:prstGeom>
              <a:solidFill>
                <a:srgbClr val="F2F2F2"/>
              </a:solidFill>
              <a:ln>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问题分析</a:t>
                </a:r>
                <a:endPar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74" name="矩形 73"/>
              <p:cNvSpPr/>
              <p:nvPr/>
            </p:nvSpPr>
            <p:spPr>
              <a:xfrm>
                <a:off x="7499" y="6752"/>
                <a:ext cx="2194" cy="259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lIns="36195" rIns="0" rtlCol="0" anchor="t" anchorCtr="0"/>
              <a:p>
                <a:pPr indent="0" algn="ctr" fontAlgn="auto">
                  <a:lnSpc>
                    <a:spcPct val="120000"/>
                  </a:lnSpc>
                  <a:spcBef>
                    <a:spcPts val="0"/>
                  </a:spcBef>
                  <a:spcAft>
                    <a:spcPts val="0"/>
                  </a:spcAft>
                </a:pPr>
                <a:r>
                  <a:rPr lang="zh-CN" altLang="en-US" sz="1200" b="1">
                    <a:solidFill>
                      <a:schemeClr val="accent1"/>
                    </a:solidFill>
                    <a:latin typeface="微软雅黑" panose="020B0503020204020204" pitchFamily="34" charset="-122"/>
                    <a:ea typeface="微软雅黑" panose="020B0503020204020204" pitchFamily="34" charset="-122"/>
                  </a:rPr>
                  <a:t>产品运营、省专</a:t>
                </a:r>
                <a:endParaRPr lang="zh-CN" altLang="en-US" sz="1200" b="1">
                  <a:solidFill>
                    <a:schemeClr val="accent1"/>
                  </a:solidFill>
                  <a:latin typeface="微软雅黑" panose="020B0503020204020204" pitchFamily="34" charset="-122"/>
                  <a:ea typeface="微软雅黑" panose="020B0503020204020204" pitchFamily="34" charset="-122"/>
                </a:endParaRPr>
              </a:p>
              <a:p>
                <a:pPr indent="0" algn="ctr" fontAlgn="auto">
                  <a:lnSpc>
                    <a:spcPct val="120000"/>
                  </a:lnSpc>
                  <a:spcBef>
                    <a:spcPts val="0"/>
                  </a:spcBef>
                  <a:spcAft>
                    <a:spcPts val="0"/>
                  </a:spcAft>
                </a:pPr>
                <a:r>
                  <a:rPr lang="zh-CN" altLang="en-US" sz="1200" b="1">
                    <a:solidFill>
                      <a:schemeClr val="accent1"/>
                    </a:solidFill>
                    <a:latin typeface="微软雅黑" panose="020B0503020204020204" pitchFamily="34" charset="-122"/>
                    <a:ea typeface="微软雅黑" panose="020B0503020204020204" pitchFamily="34" charset="-122"/>
                  </a:rPr>
                  <a:t>协同效率待提升</a:t>
                </a:r>
                <a:endParaRPr lang="zh-CN" altLang="en-US" sz="1200" b="1">
                  <a:solidFill>
                    <a:schemeClr val="accent1"/>
                  </a:solidFill>
                  <a:latin typeface="微软雅黑" panose="020B0503020204020204" pitchFamily="34" charset="-122"/>
                  <a:ea typeface="微软雅黑" panose="020B0503020204020204" pitchFamily="34" charset="-122"/>
                </a:endParaRPr>
              </a:p>
              <a:p>
                <a:pPr indent="0" algn="l" fontAlgn="auto">
                  <a:lnSpc>
                    <a:spcPct val="120000"/>
                  </a:lnSpc>
                  <a:spcBef>
                    <a:spcPts val="0"/>
                  </a:spcBef>
                  <a:spcAft>
                    <a:spcPts val="0"/>
                  </a:spcAft>
                </a:pPr>
                <a:r>
                  <a:rPr lang="zh-CN" altLang="en-US" sz="1100">
                    <a:solidFill>
                      <a:schemeClr val="tx1"/>
                    </a:solidFill>
                    <a:latin typeface="微软雅黑" panose="020B0503020204020204" pitchFamily="34" charset="-122"/>
                    <a:ea typeface="微软雅黑" panose="020B0503020204020204" pitchFamily="34" charset="-122"/>
                  </a:rPr>
                  <a:t>强化省专协同，建设两级OKR协同，专项任务协同能力；针对</a:t>
                </a:r>
                <a:r>
                  <a:rPr lang="en-US" altLang="zh-CN" sz="1100">
                    <a:solidFill>
                      <a:schemeClr val="tx1"/>
                    </a:solidFill>
                    <a:latin typeface="微软雅黑" panose="020B0503020204020204" pitchFamily="34" charset="-122"/>
                    <a:ea typeface="微软雅黑" panose="020B0503020204020204" pitchFamily="34" charset="-122"/>
                  </a:rPr>
                  <a:t>AI</a:t>
                </a:r>
                <a:r>
                  <a:rPr lang="zh-CN" altLang="en-US" sz="1100">
                    <a:solidFill>
                      <a:schemeClr val="tx1"/>
                    </a:solidFill>
                    <a:latin typeface="微软雅黑" panose="020B0503020204020204" pitchFamily="34" charset="-122"/>
                    <a:ea typeface="微软雅黑" panose="020B0503020204020204" pitchFamily="34" charset="-122"/>
                  </a:rPr>
                  <a:t>产品等提升产品运营管理能力</a:t>
                </a:r>
                <a:endParaRPr lang="zh-CN" altLang="en-US" sz="1100">
                  <a:solidFill>
                    <a:schemeClr val="tx1"/>
                  </a:solidFill>
                  <a:latin typeface="微软雅黑" panose="020B0503020204020204" pitchFamily="34" charset="-122"/>
                  <a:ea typeface="微软雅黑" panose="020B0503020204020204" pitchFamily="34" charset="-122"/>
                </a:endParaRPr>
              </a:p>
            </p:txBody>
          </p:sp>
        </p:grpSp>
        <p:grpSp>
          <p:nvGrpSpPr>
            <p:cNvPr id="23" name="组合 22"/>
            <p:cNvGrpSpPr/>
            <p:nvPr/>
          </p:nvGrpSpPr>
          <p:grpSpPr>
            <a:xfrm>
              <a:off x="10200" y="2747"/>
              <a:ext cx="4590" cy="6485"/>
              <a:chOff x="9835" y="2968"/>
              <a:chExt cx="4447" cy="6485"/>
            </a:xfrm>
          </p:grpSpPr>
          <p:sp>
            <p:nvSpPr>
              <p:cNvPr id="87" name="矩形 86"/>
              <p:cNvSpPr/>
              <p:nvPr/>
            </p:nvSpPr>
            <p:spPr>
              <a:xfrm>
                <a:off x="9835" y="2969"/>
                <a:ext cx="4447" cy="2474"/>
              </a:xfrm>
              <a:prstGeom prst="rect">
                <a:avLst/>
              </a:prstGeom>
              <a:solidFill>
                <a:srgbClr val="00B0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a:endParaRPr lang="zh-CN" altLang="en-US" sz="1200">
                  <a:latin typeface="微软雅黑" panose="020B0503020204020204" pitchFamily="34" charset="-122"/>
                  <a:ea typeface="微软雅黑" panose="020B0503020204020204" pitchFamily="34" charset="-122"/>
                </a:endParaRPr>
              </a:p>
            </p:txBody>
          </p:sp>
          <p:sp>
            <p:nvSpPr>
              <p:cNvPr id="89" name="矩形 88"/>
              <p:cNvSpPr/>
              <p:nvPr/>
            </p:nvSpPr>
            <p:spPr>
              <a:xfrm>
                <a:off x="9835" y="6041"/>
                <a:ext cx="4447" cy="3412"/>
              </a:xfrm>
              <a:prstGeom prst="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a:endParaRPr lang="zh-CN" altLang="en-US" sz="1200">
                  <a:latin typeface="微软雅黑" panose="020B0503020204020204" pitchFamily="34" charset="-122"/>
                  <a:ea typeface="微软雅黑" panose="020B0503020204020204" pitchFamily="34" charset="-122"/>
                </a:endParaRPr>
              </a:p>
            </p:txBody>
          </p:sp>
          <p:sp>
            <p:nvSpPr>
              <p:cNvPr id="90" name="矩形 89"/>
              <p:cNvSpPr/>
              <p:nvPr/>
            </p:nvSpPr>
            <p:spPr>
              <a:xfrm>
                <a:off x="9877" y="6753"/>
                <a:ext cx="2296" cy="259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lIns="36195" rIns="0" rtlCol="0" anchor="t" anchorCtr="0"/>
              <a:p>
                <a:pPr indent="0" algn="ctr" fontAlgn="auto">
                  <a:lnSpc>
                    <a:spcPct val="120000"/>
                  </a:lnSpc>
                  <a:spcBef>
                    <a:spcPts val="0"/>
                  </a:spcBef>
                  <a:spcAft>
                    <a:spcPts val="0"/>
                  </a:spcAft>
                </a:pPr>
                <a:r>
                  <a:rPr lang="zh-CN" altLang="en-US" sz="1200" b="1">
                    <a:solidFill>
                      <a:schemeClr val="accent1"/>
                    </a:solidFill>
                    <a:latin typeface="微软雅黑" panose="020B0503020204020204" pitchFamily="34" charset="-122"/>
                    <a:ea typeface="微软雅黑" panose="020B0503020204020204" pitchFamily="34" charset="-122"/>
                  </a:rPr>
                  <a:t>触点统一调度能力</a:t>
                </a:r>
                <a:endParaRPr lang="zh-CN" altLang="en-US" sz="1200" b="1">
                  <a:solidFill>
                    <a:schemeClr val="accent1"/>
                  </a:solidFill>
                  <a:latin typeface="微软雅黑" panose="020B0503020204020204" pitchFamily="34" charset="-122"/>
                  <a:ea typeface="微软雅黑" panose="020B0503020204020204" pitchFamily="34" charset="-122"/>
                </a:endParaRPr>
              </a:p>
              <a:p>
                <a:pPr indent="0" algn="ctr" fontAlgn="auto">
                  <a:lnSpc>
                    <a:spcPct val="120000"/>
                  </a:lnSpc>
                  <a:spcBef>
                    <a:spcPts val="0"/>
                  </a:spcBef>
                  <a:spcAft>
                    <a:spcPts val="0"/>
                  </a:spcAft>
                </a:pPr>
                <a:r>
                  <a:rPr lang="zh-CN" altLang="en-US" sz="1200" b="1">
                    <a:solidFill>
                      <a:schemeClr val="accent1"/>
                    </a:solidFill>
                    <a:latin typeface="微软雅黑" panose="020B0503020204020204" pitchFamily="34" charset="-122"/>
                    <a:ea typeface="微软雅黑" panose="020B0503020204020204" pitchFamily="34" charset="-122"/>
                  </a:rPr>
                  <a:t>待提升</a:t>
                </a:r>
                <a:endParaRPr lang="zh-CN" altLang="en-US" sz="1100">
                  <a:solidFill>
                    <a:schemeClr val="tx1"/>
                  </a:solidFill>
                  <a:latin typeface="微软雅黑" panose="020B0503020204020204" pitchFamily="34" charset="-122"/>
                  <a:ea typeface="微软雅黑" panose="020B0503020204020204" pitchFamily="34" charset="-122"/>
                </a:endParaRPr>
              </a:p>
              <a:p>
                <a:pPr indent="0" algn="l" fontAlgn="auto">
                  <a:lnSpc>
                    <a:spcPct val="120000"/>
                  </a:lnSpc>
                  <a:spcBef>
                    <a:spcPts val="0"/>
                  </a:spcBef>
                  <a:spcAft>
                    <a:spcPts val="0"/>
                  </a:spcAft>
                </a:pPr>
                <a:r>
                  <a:rPr lang="zh-CN" altLang="en-US" sz="1100">
                    <a:solidFill>
                      <a:schemeClr val="tx1"/>
                    </a:solidFill>
                    <a:latin typeface="微软雅黑" panose="020B0503020204020204" pitchFamily="34" charset="-122"/>
                    <a:ea typeface="微软雅黑" panose="020B0503020204020204" pitchFamily="34" charset="-122"/>
                  </a:rPr>
                  <a:t>渠道管理分散，导致排期不统一，</a:t>
                </a:r>
                <a:r>
                  <a:rPr lang="en-US" altLang="zh-CN" sz="1100">
                    <a:solidFill>
                      <a:schemeClr val="tx1"/>
                    </a:solidFill>
                    <a:latin typeface="微软雅黑" panose="020B0503020204020204" pitchFamily="34" charset="-122"/>
                    <a:ea typeface="微软雅黑" panose="020B0503020204020204" pitchFamily="34" charset="-122"/>
                    <a:sym typeface="+mn-ea"/>
                  </a:rPr>
                  <a:t>营销内容同一用户多次触达，影响转化</a:t>
                </a:r>
                <a:endParaRPr lang="zh-CN" altLang="en-US" sz="1100">
                  <a:solidFill>
                    <a:schemeClr val="tx1"/>
                  </a:solidFill>
                  <a:latin typeface="微软雅黑" panose="020B0503020204020204" pitchFamily="34" charset="-122"/>
                  <a:ea typeface="微软雅黑" panose="020B0503020204020204" pitchFamily="34" charset="-122"/>
                </a:endParaRPr>
              </a:p>
            </p:txBody>
          </p:sp>
          <p:sp>
            <p:nvSpPr>
              <p:cNvPr id="91" name="矩形 90"/>
              <p:cNvSpPr/>
              <p:nvPr/>
            </p:nvSpPr>
            <p:spPr>
              <a:xfrm>
                <a:off x="12206" y="6753"/>
                <a:ext cx="2032" cy="259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lIns="36195" rIns="0" rtlCol="0" anchor="t" anchorCtr="0"/>
              <a:p>
                <a:pPr algn="ctr">
                  <a:lnSpc>
                    <a:spcPct val="120000"/>
                  </a:lnSpc>
                  <a:spcBef>
                    <a:spcPts val="0"/>
                  </a:spcBef>
                  <a:spcAft>
                    <a:spcPts val="0"/>
                  </a:spcAft>
                  <a:buClrTx/>
                  <a:buSzTx/>
                  <a:buNone/>
                </a:pPr>
                <a:r>
                  <a:rPr lang="zh-CN" altLang="en-US" sz="1200" b="1">
                    <a:solidFill>
                      <a:schemeClr val="accent1"/>
                    </a:solidFill>
                    <a:latin typeface="微软雅黑" panose="020B0503020204020204" pitchFamily="34" charset="-122"/>
                    <a:ea typeface="微软雅黑" panose="020B0503020204020204" pitchFamily="34" charset="-122"/>
                  </a:rPr>
                  <a:t>触客数据存储分散，未充分应用</a:t>
                </a:r>
                <a:endParaRPr lang="zh-CN" altLang="en-US" sz="1200" b="1">
                  <a:solidFill>
                    <a:schemeClr val="accent1"/>
                  </a:solidFill>
                  <a:latin typeface="微软雅黑" panose="020B0503020204020204" pitchFamily="34" charset="-122"/>
                  <a:ea typeface="微软雅黑" panose="020B0503020204020204" pitchFamily="34" charset="-122"/>
                </a:endParaRPr>
              </a:p>
              <a:p>
                <a:pPr algn="ctr">
                  <a:lnSpc>
                    <a:spcPct val="130000"/>
                  </a:lnSpc>
                  <a:spcBef>
                    <a:spcPts val="0"/>
                  </a:spcBef>
                  <a:spcAft>
                    <a:spcPts val="0"/>
                  </a:spcAft>
                </a:pPr>
                <a:r>
                  <a:rPr lang="zh-CN" altLang="en-US" sz="1100">
                    <a:solidFill>
                      <a:schemeClr val="tx1"/>
                    </a:solidFill>
                    <a:latin typeface="微软雅黑" panose="020B0503020204020204" pitchFamily="34" charset="-122"/>
                    <a:ea typeface="微软雅黑" panose="020B0503020204020204" pitchFamily="34" charset="-122"/>
                    <a:sym typeface="+mn-ea"/>
                  </a:rPr>
                  <a:t>触客效果数据存储分散，无法及时做效果分析和策略调优</a:t>
                </a:r>
                <a:endParaRPr lang="en-US" altLang="zh-CN" sz="1100">
                  <a:solidFill>
                    <a:schemeClr val="tx1"/>
                  </a:solidFill>
                  <a:latin typeface="微软雅黑" panose="020B0503020204020204" pitchFamily="34" charset="-122"/>
                  <a:ea typeface="微软雅黑" panose="020B0503020204020204" pitchFamily="34" charset="-122"/>
                </a:endParaRPr>
              </a:p>
            </p:txBody>
          </p:sp>
          <p:sp>
            <p:nvSpPr>
              <p:cNvPr id="93" name="上箭头 92"/>
              <p:cNvSpPr/>
              <p:nvPr/>
            </p:nvSpPr>
            <p:spPr>
              <a:xfrm rot="10800000">
                <a:off x="11491" y="5478"/>
                <a:ext cx="1067" cy="562"/>
              </a:xfrm>
              <a:prstGeom prst="upArrow">
                <a:avLst>
                  <a:gd name="adj1" fmla="val 50000"/>
                  <a:gd name="adj2" fmla="val 59854"/>
                </a:avLst>
              </a:prstGeom>
              <a:solidFill>
                <a:srgbClr val="B2D1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94" name="文本框 93"/>
              <p:cNvSpPr txBox="1"/>
              <p:nvPr/>
            </p:nvSpPr>
            <p:spPr>
              <a:xfrm>
                <a:off x="10358" y="3024"/>
                <a:ext cx="3880" cy="2448"/>
              </a:xfrm>
              <a:prstGeom prst="rect">
                <a:avLst/>
              </a:prstGeom>
              <a:solidFill>
                <a:srgbClr val="0070BF"/>
              </a:solidFill>
              <a:ln>
                <a:solidFill>
                  <a:srgbClr val="0070BF"/>
                </a:solidFill>
              </a:ln>
            </p:spPr>
            <p:txBody>
              <a:bodyPr wrap="square" rtlCol="0">
                <a:noAutofit/>
              </a:bodyPr>
              <a:p>
                <a:pPr algn="l">
                  <a:lnSpc>
                    <a:spcPct val="13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rPr>
                  <a:t>①</a:t>
                </a:r>
                <a:r>
                  <a:rPr kumimoji="1" lang="en-US" altLang="zh-CN" sz="1100" b="1" dirty="0" smtClean="0">
                    <a:solidFill>
                      <a:schemeClr val="bg1"/>
                    </a:solidFill>
                    <a:latin typeface="微软雅黑" panose="020B0503020204020204" pitchFamily="34" charset="-122"/>
                    <a:ea typeface="微软雅黑" panose="020B0503020204020204" pitchFamily="34" charset="-122"/>
                  </a:rPr>
                  <a:t>APP</a:t>
                </a:r>
                <a:r>
                  <a:rPr kumimoji="1" lang="zh-CN" altLang="en-US" sz="1100" b="1" dirty="0" smtClean="0">
                    <a:solidFill>
                      <a:schemeClr val="bg1"/>
                    </a:solidFill>
                    <a:latin typeface="微软雅黑" panose="020B0503020204020204" pitchFamily="34" charset="-122"/>
                    <a:ea typeface="微软雅黑" panose="020B0503020204020204" pitchFamily="34" charset="-122"/>
                  </a:rPr>
                  <a:t>运营平台化：</a:t>
                </a:r>
                <a:r>
                  <a:rPr kumimoji="1" lang="zh-CN" altLang="en-US" sz="1100" dirty="0" smtClean="0">
                    <a:solidFill>
                      <a:schemeClr val="bg1"/>
                    </a:solidFill>
                    <a:latin typeface="微软雅黑" panose="020B0503020204020204" pitchFamily="34" charset="-122"/>
                    <a:ea typeface="微软雅黑" panose="020B0503020204020204" pitchFamily="34" charset="-122"/>
                  </a:rPr>
                  <a:t>特色支撑能力</a:t>
                </a:r>
                <a:endParaRPr kumimoji="1" lang="zh-CN" altLang="en-US" sz="1100" dirty="0" smtClean="0">
                  <a:solidFill>
                    <a:schemeClr val="bg1"/>
                  </a:solidFill>
                  <a:latin typeface="微软雅黑" panose="020B0503020204020204" pitchFamily="34" charset="-122"/>
                  <a:ea typeface="微软雅黑" panose="020B0503020204020204" pitchFamily="34" charset="-122"/>
                </a:endParaRPr>
              </a:p>
              <a:p>
                <a:pPr algn="l">
                  <a:lnSpc>
                    <a:spcPct val="13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rPr>
                  <a:t>②</a:t>
                </a:r>
                <a:r>
                  <a:rPr kumimoji="1" lang="en-US" altLang="zh-CN" sz="1100" b="1" dirty="0" smtClean="0">
                    <a:solidFill>
                      <a:schemeClr val="bg1"/>
                    </a:solidFill>
                    <a:latin typeface="微软雅黑" panose="020B0503020204020204" pitchFamily="34" charset="-122"/>
                    <a:ea typeface="微软雅黑" panose="020B0503020204020204" pitchFamily="34" charset="-122"/>
                  </a:rPr>
                  <a:t>1+N</a:t>
                </a:r>
                <a:r>
                  <a:rPr kumimoji="1" lang="zh-CN" altLang="en-US" sz="1100" b="1" dirty="0" smtClean="0">
                    <a:solidFill>
                      <a:schemeClr val="bg1"/>
                    </a:solidFill>
                    <a:latin typeface="微软雅黑" panose="020B0503020204020204" pitchFamily="34" charset="-122"/>
                    <a:ea typeface="微软雅黑" panose="020B0503020204020204" pitchFamily="34" charset="-122"/>
                  </a:rPr>
                  <a:t>数据、运营等拉通</a:t>
                </a:r>
                <a:endParaRPr kumimoji="1" lang="zh-CN" altLang="en-US" sz="1100" b="1" dirty="0" smtClean="0">
                  <a:solidFill>
                    <a:schemeClr val="bg1"/>
                  </a:solidFill>
                  <a:latin typeface="微软雅黑" panose="020B0503020204020204" pitchFamily="34" charset="-122"/>
                  <a:ea typeface="微软雅黑" panose="020B0503020204020204" pitchFamily="34" charset="-122"/>
                </a:endParaRPr>
              </a:p>
              <a:p>
                <a:pPr algn="l">
                  <a:lnSpc>
                    <a:spcPct val="13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rPr>
                  <a:t>③三大入驻：</a:t>
                </a:r>
                <a:r>
                  <a:rPr kumimoji="1" lang="zh-CN" altLang="en-US" sz="1100" dirty="0" smtClean="0">
                    <a:solidFill>
                      <a:schemeClr val="bg1"/>
                    </a:solidFill>
                    <a:latin typeface="微软雅黑" panose="020B0503020204020204" pitchFamily="34" charset="-122"/>
                    <a:ea typeface="微软雅黑" panose="020B0503020204020204" pitchFamily="34" charset="-122"/>
                  </a:rPr>
                  <a:t>智家工程师、营业厅、客户经理入驻</a:t>
                </a:r>
                <a:endParaRPr kumimoji="1" lang="zh-CN" altLang="en-US" sz="1100" dirty="0" smtClean="0">
                  <a:solidFill>
                    <a:schemeClr val="bg1"/>
                  </a:solidFill>
                  <a:latin typeface="微软雅黑" panose="020B0503020204020204" pitchFamily="34" charset="-122"/>
                  <a:ea typeface="微软雅黑" panose="020B0503020204020204" pitchFamily="34" charset="-122"/>
                </a:endParaRPr>
              </a:p>
              <a:p>
                <a:pPr algn="l">
                  <a:lnSpc>
                    <a:spcPct val="13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rPr>
                  <a:t>④线上线下触点融通</a:t>
                </a:r>
                <a:endParaRPr kumimoji="1" lang="zh-CN" altLang="en-US" sz="1100" b="1" dirty="0" smtClean="0">
                  <a:solidFill>
                    <a:schemeClr val="bg1"/>
                  </a:solidFill>
                  <a:latin typeface="微软雅黑" panose="020B0503020204020204" pitchFamily="34" charset="-122"/>
                  <a:ea typeface="微软雅黑" panose="020B0503020204020204" pitchFamily="34" charset="-122"/>
                </a:endParaRPr>
              </a:p>
              <a:p>
                <a:pPr algn="l">
                  <a:lnSpc>
                    <a:spcPct val="13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rPr>
                  <a:t>⑤网格通</a:t>
                </a:r>
                <a:r>
                  <a:rPr kumimoji="1" lang="en-US" altLang="zh-CN" sz="1100" b="1" dirty="0" smtClean="0">
                    <a:solidFill>
                      <a:schemeClr val="bg1"/>
                    </a:solidFill>
                    <a:latin typeface="微软雅黑" panose="020B0503020204020204" pitchFamily="34" charset="-122"/>
                    <a:ea typeface="微软雅黑" panose="020B0503020204020204" pitchFamily="34" charset="-122"/>
                  </a:rPr>
                  <a:t>APP</a:t>
                </a:r>
                <a:r>
                  <a:rPr kumimoji="1" lang="zh-CN" altLang="en-US" sz="1100" b="1" dirty="0" smtClean="0">
                    <a:solidFill>
                      <a:schemeClr val="bg1"/>
                    </a:solidFill>
                    <a:latin typeface="微软雅黑" panose="020B0503020204020204" pitchFamily="34" charset="-122"/>
                    <a:ea typeface="微软雅黑" panose="020B0503020204020204" pitchFamily="34" charset="-122"/>
                  </a:rPr>
                  <a:t>智能化</a:t>
                </a:r>
                <a:endParaRPr kumimoji="1" lang="zh-CN" altLang="en-US" sz="1100" b="1" dirty="0" smtClean="0">
                  <a:solidFill>
                    <a:schemeClr val="bg1"/>
                  </a:solidFill>
                  <a:latin typeface="微软雅黑" panose="020B0503020204020204" pitchFamily="34" charset="-122"/>
                  <a:ea typeface="微软雅黑" panose="020B0503020204020204" pitchFamily="34" charset="-122"/>
                </a:endParaRPr>
              </a:p>
              <a:p>
                <a:pPr algn="l">
                  <a:lnSpc>
                    <a:spcPct val="130000"/>
                  </a:lnSpc>
                  <a:spcBef>
                    <a:spcPts val="0"/>
                  </a:spcBef>
                  <a:spcAft>
                    <a:spcPts val="0"/>
                  </a:spcAft>
                </a:pPr>
                <a:r>
                  <a:rPr kumimoji="1" lang="en-US" altLang="zh-CN" sz="1100" b="1" dirty="0" smtClean="0">
                    <a:solidFill>
                      <a:schemeClr val="bg1"/>
                    </a:solidFill>
                    <a:latin typeface="微软雅黑" panose="020B0503020204020204" pitchFamily="34" charset="-122"/>
                    <a:ea typeface="微软雅黑" panose="020B0503020204020204" pitchFamily="34" charset="-122"/>
                  </a:rPr>
                  <a:t>......</a:t>
                </a:r>
                <a:endParaRPr kumimoji="1" lang="en-US" altLang="zh-CN" sz="1100" b="1" dirty="0" smtClean="0">
                  <a:solidFill>
                    <a:schemeClr val="bg1"/>
                  </a:solidFill>
                  <a:latin typeface="微软雅黑" panose="020B0503020204020204" pitchFamily="34" charset="-122"/>
                  <a:ea typeface="微软雅黑" panose="020B0503020204020204" pitchFamily="34" charset="-122"/>
                </a:endParaRPr>
              </a:p>
            </p:txBody>
          </p:sp>
          <p:sp>
            <p:nvSpPr>
              <p:cNvPr id="95" name="矩形 94"/>
              <p:cNvSpPr/>
              <p:nvPr/>
            </p:nvSpPr>
            <p:spPr>
              <a:xfrm>
                <a:off x="9835" y="2968"/>
                <a:ext cx="522" cy="2501"/>
              </a:xfrm>
              <a:prstGeom prst="rect">
                <a:avLst/>
              </a:prstGeom>
              <a:solidFill>
                <a:srgbClr val="F2F2F2"/>
              </a:solidFill>
              <a:ln>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业务</a:t>
                </a:r>
                <a:r>
                  <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需求</a:t>
                </a:r>
                <a:endPar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96" name="矩形 95"/>
              <p:cNvSpPr/>
              <p:nvPr/>
            </p:nvSpPr>
            <p:spPr>
              <a:xfrm>
                <a:off x="9835" y="6029"/>
                <a:ext cx="4447" cy="617"/>
              </a:xfrm>
              <a:prstGeom prst="rect">
                <a:avLst/>
              </a:prstGeom>
              <a:solidFill>
                <a:srgbClr val="F2F2F2"/>
              </a:solidFill>
              <a:ln>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问题分析</a:t>
                </a:r>
                <a:endPar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22" name="组合 21"/>
            <p:cNvGrpSpPr/>
            <p:nvPr/>
          </p:nvGrpSpPr>
          <p:grpSpPr>
            <a:xfrm>
              <a:off x="15015" y="2747"/>
              <a:ext cx="3789" cy="6484"/>
              <a:chOff x="14397" y="2968"/>
              <a:chExt cx="4411" cy="6484"/>
            </a:xfrm>
          </p:grpSpPr>
          <p:sp>
            <p:nvSpPr>
              <p:cNvPr id="5" name="矩形 4"/>
              <p:cNvSpPr/>
              <p:nvPr/>
            </p:nvSpPr>
            <p:spPr>
              <a:xfrm>
                <a:off x="14397" y="2969"/>
                <a:ext cx="4411" cy="2474"/>
              </a:xfrm>
              <a:prstGeom prst="rect">
                <a:avLst/>
              </a:prstGeom>
              <a:solidFill>
                <a:srgbClr val="00B0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a:endParaRPr lang="zh-CN" altLang="en-US" sz="1100">
                  <a:latin typeface="微软雅黑" panose="020B0503020204020204" pitchFamily="34" charset="-122"/>
                  <a:ea typeface="微软雅黑" panose="020B0503020204020204" pitchFamily="34" charset="-122"/>
                </a:endParaRPr>
              </a:p>
            </p:txBody>
          </p:sp>
          <p:grpSp>
            <p:nvGrpSpPr>
              <p:cNvPr id="9" name="组合 8"/>
              <p:cNvGrpSpPr/>
              <p:nvPr/>
            </p:nvGrpSpPr>
            <p:grpSpPr>
              <a:xfrm rot="0">
                <a:off x="14397" y="6041"/>
                <a:ext cx="4411" cy="3411"/>
                <a:chOff x="13843" y="6703"/>
                <a:chExt cx="4970" cy="2900"/>
              </a:xfrm>
            </p:grpSpPr>
            <p:sp>
              <p:nvSpPr>
                <p:cNvPr id="10" name="矩形 9"/>
                <p:cNvSpPr/>
                <p:nvPr/>
              </p:nvSpPr>
              <p:spPr>
                <a:xfrm>
                  <a:off x="13843" y="6703"/>
                  <a:ext cx="4970" cy="2900"/>
                </a:xfrm>
                <a:prstGeom prst="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a:endParaRPr lang="zh-CN" altLang="en-US" sz="1200">
                    <a:latin typeface="微软雅黑" panose="020B0503020204020204" pitchFamily="34" charset="-122"/>
                    <a:ea typeface="微软雅黑" panose="020B0503020204020204" pitchFamily="34" charset="-122"/>
                  </a:endParaRPr>
                </a:p>
              </p:txBody>
            </p:sp>
            <p:sp>
              <p:nvSpPr>
                <p:cNvPr id="11" name="矩形 10"/>
                <p:cNvSpPr/>
                <p:nvPr/>
              </p:nvSpPr>
              <p:spPr>
                <a:xfrm>
                  <a:off x="13892" y="7308"/>
                  <a:ext cx="2455" cy="220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lIns="36195" rIns="0" rtlCol="0" anchor="t" anchorCtr="0"/>
                <a:p>
                  <a:pPr indent="0" algn="ctr" fontAlgn="auto">
                    <a:lnSpc>
                      <a:spcPct val="120000"/>
                    </a:lnSpc>
                    <a:spcBef>
                      <a:spcPts val="0"/>
                    </a:spcBef>
                    <a:spcAft>
                      <a:spcPts val="0"/>
                    </a:spcAft>
                  </a:pPr>
                  <a:r>
                    <a:rPr lang="zh-CN" altLang="en-US" sz="1200" b="1">
                      <a:solidFill>
                        <a:schemeClr val="accent1"/>
                      </a:solidFill>
                      <a:latin typeface="微软雅黑" panose="020B0503020204020204" pitchFamily="34" charset="-122"/>
                      <a:ea typeface="微软雅黑" panose="020B0503020204020204" pitchFamily="34" charset="-122"/>
                    </a:rPr>
                    <a:t>业务洞察能力待加强</a:t>
                  </a:r>
                  <a:endParaRPr lang="zh-CN" altLang="en-US" sz="1200" b="1">
                    <a:solidFill>
                      <a:schemeClr val="accent1"/>
                    </a:solidFill>
                    <a:latin typeface="微软雅黑" panose="020B0503020204020204" pitchFamily="34" charset="-122"/>
                    <a:ea typeface="微软雅黑" panose="020B0503020204020204" pitchFamily="34" charset="-122"/>
                  </a:endParaRPr>
                </a:p>
                <a:p>
                  <a:pPr indent="0" algn="l" fontAlgn="auto">
                    <a:lnSpc>
                      <a:spcPct val="120000"/>
                    </a:lnSpc>
                    <a:spcBef>
                      <a:spcPts val="0"/>
                    </a:spcBef>
                    <a:spcAft>
                      <a:spcPts val="0"/>
                    </a:spcAft>
                  </a:pPr>
                  <a:r>
                    <a:rPr lang="zh-CN" altLang="en-US" sz="1100">
                      <a:solidFill>
                        <a:schemeClr val="tx1"/>
                      </a:solidFill>
                      <a:latin typeface="微软雅黑" panose="020B0503020204020204" pitchFamily="34" charset="-122"/>
                      <a:ea typeface="微软雅黑" panose="020B0503020204020204" pitchFamily="34" charset="-122"/>
                      <a:sym typeface="+mn-ea"/>
                    </a:rPr>
                    <a:t>当前预警、数据提取与问题排查多依赖人工</a:t>
                  </a:r>
                  <a:r>
                    <a:rPr lang="zh-CN" altLang="en-US" sz="1100">
                      <a:solidFill>
                        <a:schemeClr val="tx1"/>
                      </a:solidFill>
                      <a:latin typeface="微软雅黑" panose="020B0503020204020204" pitchFamily="34" charset="-122"/>
                      <a:ea typeface="微软雅黑" panose="020B0503020204020204" pitchFamily="34" charset="-122"/>
                    </a:rPr>
                    <a:t>，需进一步加强指标智能监控能力</a:t>
                  </a:r>
                  <a:endParaRPr lang="zh-CN" altLang="en-US" sz="1100">
                    <a:solidFill>
                      <a:schemeClr val="tx1"/>
                    </a:solidFill>
                    <a:latin typeface="微软雅黑" panose="020B0503020204020204" pitchFamily="34" charset="-122"/>
                    <a:ea typeface="微软雅黑" panose="020B0503020204020204" pitchFamily="34" charset="-122"/>
                  </a:endParaRPr>
                </a:p>
              </p:txBody>
            </p:sp>
          </p:grpSp>
          <p:sp>
            <p:nvSpPr>
              <p:cNvPr id="12" name="上箭头 11"/>
              <p:cNvSpPr/>
              <p:nvPr/>
            </p:nvSpPr>
            <p:spPr>
              <a:xfrm rot="10800000">
                <a:off x="16040" y="5478"/>
                <a:ext cx="1058" cy="562"/>
              </a:xfrm>
              <a:prstGeom prst="upArrow">
                <a:avLst>
                  <a:gd name="adj1" fmla="val 50000"/>
                  <a:gd name="adj2" fmla="val 59854"/>
                </a:avLst>
              </a:prstGeom>
              <a:solidFill>
                <a:srgbClr val="B2D1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13" name="文本框 12"/>
              <p:cNvSpPr txBox="1"/>
              <p:nvPr/>
            </p:nvSpPr>
            <p:spPr>
              <a:xfrm>
                <a:off x="14915" y="3024"/>
                <a:ext cx="3848" cy="2448"/>
              </a:xfrm>
              <a:prstGeom prst="rect">
                <a:avLst/>
              </a:prstGeom>
              <a:solidFill>
                <a:srgbClr val="0070BF"/>
              </a:solidFill>
              <a:ln>
                <a:solidFill>
                  <a:srgbClr val="0070BF"/>
                </a:solidFill>
              </a:ln>
            </p:spPr>
            <p:txBody>
              <a:bodyPr wrap="square" rtlCol="0">
                <a:noAutofit/>
              </a:bodyPr>
              <a:p>
                <a:pPr algn="l">
                  <a:lnSpc>
                    <a:spcPct val="14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sym typeface="+mn-ea"/>
                  </a:rPr>
                  <a:t>①</a:t>
                </a:r>
                <a:r>
                  <a:rPr kumimoji="1" lang="zh-CN" sz="1100" b="1" dirty="0" smtClean="0">
                    <a:solidFill>
                      <a:schemeClr val="bg1"/>
                    </a:solidFill>
                    <a:latin typeface="微软雅黑" panose="020B0503020204020204" pitchFamily="34" charset="-122"/>
                    <a:ea typeface="微软雅黑" panose="020B0503020204020204" pitchFamily="34" charset="-122"/>
                    <a:sym typeface="+mn-ea"/>
                  </a:rPr>
                  <a:t>智能驾驶舱</a:t>
                </a:r>
                <a:r>
                  <a:rPr kumimoji="1" lang="zh-CN" altLang="en-US" sz="1100" b="1" dirty="0" smtClean="0">
                    <a:solidFill>
                      <a:schemeClr val="bg1"/>
                    </a:solidFill>
                    <a:latin typeface="微软雅黑" panose="020B0503020204020204" pitchFamily="34" charset="-122"/>
                    <a:ea typeface="微软雅黑" panose="020B0503020204020204" pitchFamily="34" charset="-122"/>
                    <a:sym typeface="+mn-ea"/>
                  </a:rPr>
                  <a:t>：</a:t>
                </a:r>
                <a:r>
                  <a:rPr kumimoji="1" lang="zh-CN" altLang="en-US" sz="1100" dirty="0" smtClean="0">
                    <a:solidFill>
                      <a:schemeClr val="bg1"/>
                    </a:solidFill>
                    <a:latin typeface="微软雅黑" panose="020B0503020204020204" pitchFamily="34" charset="-122"/>
                    <a:ea typeface="微软雅黑" panose="020B0503020204020204" pitchFamily="34" charset="-122"/>
                    <a:sym typeface="+mn-ea"/>
                  </a:rPr>
                  <a:t>指挥调度能力</a:t>
                </a:r>
                <a:endParaRPr kumimoji="1" lang="zh-CN" altLang="en-US" sz="1100" dirty="0" smtClean="0">
                  <a:solidFill>
                    <a:schemeClr val="bg1"/>
                  </a:solidFill>
                  <a:latin typeface="微软雅黑" panose="020B0503020204020204" pitchFamily="34" charset="-122"/>
                  <a:ea typeface="微软雅黑" panose="020B0503020204020204" pitchFamily="34" charset="-122"/>
                </a:endParaRPr>
              </a:p>
              <a:p>
                <a:pPr algn="l">
                  <a:lnSpc>
                    <a:spcPct val="14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sym typeface="+mn-ea"/>
                  </a:rPr>
                  <a:t>②智慧分析：</a:t>
                </a:r>
                <a:r>
                  <a:rPr kumimoji="1" lang="zh-CN" altLang="en-US" sz="1100" dirty="0" smtClean="0">
                    <a:solidFill>
                      <a:schemeClr val="bg1"/>
                    </a:solidFill>
                    <a:latin typeface="微软雅黑" panose="020B0503020204020204" pitchFamily="34" charset="-122"/>
                    <a:ea typeface="微软雅黑" panose="020B0503020204020204" pitchFamily="34" charset="-122"/>
                    <a:sym typeface="+mn-ea"/>
                  </a:rPr>
                  <a:t>提升监控能力</a:t>
                </a:r>
                <a:endParaRPr kumimoji="1" lang="zh-CN" altLang="en-US" sz="1100" b="1" dirty="0" smtClean="0">
                  <a:solidFill>
                    <a:schemeClr val="bg1"/>
                  </a:solidFill>
                  <a:latin typeface="微软雅黑" panose="020B0503020204020204" pitchFamily="34" charset="-122"/>
                  <a:ea typeface="微软雅黑" panose="020B0503020204020204" pitchFamily="34" charset="-122"/>
                </a:endParaRPr>
              </a:p>
              <a:p>
                <a:pPr algn="l">
                  <a:lnSpc>
                    <a:spcPct val="14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sym typeface="+mn-ea"/>
                  </a:rPr>
                  <a:t>③</a:t>
                </a:r>
                <a:r>
                  <a:rPr kumimoji="1" lang="en-US" altLang="zh-CN" sz="1100" b="1" dirty="0" smtClean="0">
                    <a:solidFill>
                      <a:schemeClr val="bg1"/>
                    </a:solidFill>
                    <a:latin typeface="微软雅黑" panose="020B0503020204020204" pitchFamily="34" charset="-122"/>
                    <a:ea typeface="微软雅黑" panose="020B0503020204020204" pitchFamily="34" charset="-122"/>
                    <a:sym typeface="+mn-ea"/>
                  </a:rPr>
                  <a:t>AI</a:t>
                </a:r>
                <a:r>
                  <a:rPr kumimoji="1" lang="zh-CN" altLang="en-US" sz="1100" b="1" dirty="0" smtClean="0">
                    <a:solidFill>
                      <a:schemeClr val="bg1"/>
                    </a:solidFill>
                    <a:latin typeface="微软雅黑" panose="020B0503020204020204" pitchFamily="34" charset="-122"/>
                    <a:ea typeface="微软雅黑" panose="020B0503020204020204" pitchFamily="34" charset="-122"/>
                    <a:sym typeface="+mn-ea"/>
                  </a:rPr>
                  <a:t>监控预警</a:t>
                </a:r>
                <a:endParaRPr kumimoji="1" lang="zh-CN" altLang="en-US" sz="1100" b="1" dirty="0" smtClean="0">
                  <a:solidFill>
                    <a:schemeClr val="bg1"/>
                  </a:solidFill>
                  <a:latin typeface="微软雅黑" panose="020B0503020204020204" pitchFamily="34" charset="-122"/>
                  <a:ea typeface="微软雅黑" panose="020B0503020204020204" pitchFamily="34" charset="-122"/>
                  <a:sym typeface="+mn-ea"/>
                </a:endParaRPr>
              </a:p>
              <a:p>
                <a:pPr algn="l">
                  <a:lnSpc>
                    <a:spcPct val="140000"/>
                  </a:lnSpc>
                  <a:spcBef>
                    <a:spcPts val="0"/>
                  </a:spcBef>
                  <a:spcAft>
                    <a:spcPts val="0"/>
                  </a:spcAft>
                </a:pPr>
                <a:r>
                  <a:rPr kumimoji="1" lang="zh-CN" altLang="en-US" sz="1100" b="1" dirty="0" smtClean="0">
                    <a:solidFill>
                      <a:schemeClr val="bg1"/>
                    </a:solidFill>
                    <a:latin typeface="微软雅黑" panose="020B0503020204020204" pitchFamily="34" charset="-122"/>
                    <a:ea typeface="微软雅黑" panose="020B0503020204020204" pitchFamily="34" charset="-122"/>
                    <a:sym typeface="+mn-ea"/>
                  </a:rPr>
                  <a:t>④集省市县格五级销售执行链路</a:t>
                </a:r>
                <a:endParaRPr kumimoji="1" lang="zh-CN" altLang="en-US" sz="1100" b="1" dirty="0" smtClean="0">
                  <a:solidFill>
                    <a:schemeClr val="bg1"/>
                  </a:solidFill>
                  <a:latin typeface="微软雅黑" panose="020B0503020204020204" pitchFamily="34" charset="-122"/>
                  <a:ea typeface="微软雅黑" panose="020B0503020204020204" pitchFamily="34" charset="-122"/>
                  <a:sym typeface="+mn-ea"/>
                </a:endParaRPr>
              </a:p>
              <a:p>
                <a:pPr algn="l">
                  <a:lnSpc>
                    <a:spcPct val="140000"/>
                  </a:lnSpc>
                  <a:spcBef>
                    <a:spcPts val="0"/>
                  </a:spcBef>
                  <a:spcAft>
                    <a:spcPts val="0"/>
                  </a:spcAft>
                </a:pPr>
                <a:r>
                  <a:rPr kumimoji="1" lang="en-US" altLang="zh-CN" sz="1100" b="1" dirty="0" smtClean="0">
                    <a:solidFill>
                      <a:schemeClr val="bg1"/>
                    </a:solidFill>
                    <a:latin typeface="微软雅黑" panose="020B0503020204020204" pitchFamily="34" charset="-122"/>
                    <a:ea typeface="微软雅黑" panose="020B0503020204020204" pitchFamily="34" charset="-122"/>
                  </a:rPr>
                  <a:t>......</a:t>
                </a:r>
                <a:endParaRPr kumimoji="1" lang="en-US" altLang="zh-CN" sz="1100" b="1" dirty="0" smtClean="0">
                  <a:solidFill>
                    <a:schemeClr val="bg1"/>
                  </a:solidFill>
                  <a:latin typeface="微软雅黑" panose="020B0503020204020204" pitchFamily="34" charset="-122"/>
                  <a:ea typeface="微软雅黑" panose="020B0503020204020204" pitchFamily="34" charset="-122"/>
                </a:endParaRPr>
              </a:p>
            </p:txBody>
          </p:sp>
          <p:sp>
            <p:nvSpPr>
              <p:cNvPr id="14" name="矩形 13"/>
              <p:cNvSpPr/>
              <p:nvPr/>
            </p:nvSpPr>
            <p:spPr>
              <a:xfrm>
                <a:off x="14397" y="2968"/>
                <a:ext cx="519" cy="2501"/>
              </a:xfrm>
              <a:prstGeom prst="rect">
                <a:avLst/>
              </a:prstGeom>
              <a:solidFill>
                <a:srgbClr val="F2F2F2"/>
              </a:solidFill>
              <a:ln>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业务</a:t>
                </a:r>
                <a:r>
                  <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需求</a:t>
                </a:r>
                <a:endPar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9" name="矩形 18"/>
              <p:cNvSpPr/>
              <p:nvPr/>
            </p:nvSpPr>
            <p:spPr>
              <a:xfrm>
                <a:off x="14397" y="6029"/>
                <a:ext cx="4411" cy="617"/>
              </a:xfrm>
              <a:prstGeom prst="rect">
                <a:avLst/>
              </a:prstGeom>
              <a:solidFill>
                <a:srgbClr val="F2F2F2"/>
              </a:solidFill>
              <a:ln>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问题分析</a:t>
                </a:r>
                <a:endPar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0" name="矩形 19"/>
              <p:cNvSpPr/>
              <p:nvPr/>
            </p:nvSpPr>
            <p:spPr>
              <a:xfrm>
                <a:off x="16640" y="6711"/>
                <a:ext cx="2123" cy="263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lIns="36195" rIns="0" rtlCol="0" anchor="t" anchorCtr="0"/>
              <a:p>
                <a:pPr indent="0" algn="ctr" fontAlgn="auto">
                  <a:lnSpc>
                    <a:spcPct val="120000"/>
                  </a:lnSpc>
                  <a:spcBef>
                    <a:spcPts val="0"/>
                  </a:spcBef>
                  <a:spcAft>
                    <a:spcPts val="0"/>
                  </a:spcAft>
                </a:pPr>
                <a:r>
                  <a:rPr lang="zh-CN" altLang="en-US" sz="1200" b="1">
                    <a:solidFill>
                      <a:schemeClr val="accent1"/>
                    </a:solidFill>
                    <a:latin typeface="微软雅黑" panose="020B0503020204020204" pitchFamily="34" charset="-122"/>
                    <a:ea typeface="微软雅黑" panose="020B0503020204020204" pitchFamily="34" charset="-122"/>
                  </a:rPr>
                  <a:t>统一调度能力待提升</a:t>
                </a:r>
                <a:endParaRPr lang="zh-CN" altLang="en-US" sz="1200" b="1">
                  <a:solidFill>
                    <a:schemeClr val="accent1"/>
                  </a:solidFill>
                  <a:latin typeface="微软雅黑" panose="020B0503020204020204" pitchFamily="34" charset="-122"/>
                  <a:ea typeface="微软雅黑" panose="020B0503020204020204" pitchFamily="34" charset="-122"/>
                </a:endParaRPr>
              </a:p>
              <a:p>
                <a:pPr indent="0" algn="l" fontAlgn="auto">
                  <a:lnSpc>
                    <a:spcPct val="120000"/>
                  </a:lnSpc>
                  <a:spcBef>
                    <a:spcPts val="0"/>
                  </a:spcBef>
                  <a:spcAft>
                    <a:spcPts val="0"/>
                  </a:spcAft>
                </a:pPr>
                <a:r>
                  <a:rPr lang="zh-CN" altLang="en-US" sz="1100">
                    <a:solidFill>
                      <a:schemeClr val="tx1"/>
                    </a:solidFill>
                    <a:latin typeface="微软雅黑" panose="020B0503020204020204" pitchFamily="34" charset="-122"/>
                    <a:ea typeface="微软雅黑" panose="020B0503020204020204" pitchFamily="34" charset="-122"/>
                  </a:rPr>
                  <a:t>指挥调度需要贯通集省市县格五级销售执行链路，确保任务直达一线</a:t>
                </a:r>
                <a:endParaRPr lang="zh-CN" altLang="en-US" sz="1100">
                  <a:solidFill>
                    <a:schemeClr val="tx1"/>
                  </a:solidFill>
                  <a:latin typeface="微软雅黑" panose="020B0503020204020204" pitchFamily="34" charset="-122"/>
                  <a:ea typeface="微软雅黑" panose="020B0503020204020204" pitchFamily="34" charset="-122"/>
                </a:endParaRPr>
              </a:p>
            </p:txBody>
          </p:sp>
        </p:grpSp>
        <p:sp>
          <p:nvSpPr>
            <p:cNvPr id="24" name="文本框 23"/>
            <p:cNvSpPr txBox="1"/>
            <p:nvPr/>
          </p:nvSpPr>
          <p:spPr>
            <a:xfrm rot="20220000">
              <a:off x="5527" y="2545"/>
              <a:ext cx="838" cy="434"/>
            </a:xfrm>
            <a:prstGeom prst="rect">
              <a:avLst/>
            </a:prstGeom>
            <a:noFill/>
            <a:ln>
              <a:solidFill>
                <a:srgbClr val="FF0000"/>
              </a:solidFill>
            </a:ln>
          </p:spPr>
          <p:txBody>
            <a:bodyPr wrap="square" rtlCol="0">
              <a:spAutoFit/>
            </a:bodyPr>
            <a:p>
              <a:r>
                <a:rPr lang="zh-CN" altLang="en-US" sz="1200" b="1">
                  <a:solidFill>
                    <a:srgbClr val="C00000"/>
                  </a:solidFill>
                </a:rPr>
                <a:t>产品</a:t>
              </a:r>
              <a:endParaRPr lang="zh-CN" altLang="en-US" sz="1200" b="1">
                <a:solidFill>
                  <a:srgbClr val="C00000"/>
                </a:solidFill>
              </a:endParaRPr>
            </a:p>
          </p:txBody>
        </p:sp>
        <p:sp>
          <p:nvSpPr>
            <p:cNvPr id="25" name="文本框 24"/>
            <p:cNvSpPr txBox="1"/>
            <p:nvPr/>
          </p:nvSpPr>
          <p:spPr>
            <a:xfrm rot="20220000">
              <a:off x="10274" y="2545"/>
              <a:ext cx="838" cy="434"/>
            </a:xfrm>
            <a:prstGeom prst="rect">
              <a:avLst/>
            </a:prstGeom>
            <a:noFill/>
            <a:ln>
              <a:solidFill>
                <a:srgbClr val="FF0000"/>
              </a:solidFill>
            </a:ln>
          </p:spPr>
          <p:txBody>
            <a:bodyPr wrap="square" rtlCol="0">
              <a:spAutoFit/>
            </a:bodyPr>
            <a:p>
              <a:r>
                <a:rPr lang="zh-CN" altLang="en-US" sz="1200" b="1">
                  <a:solidFill>
                    <a:srgbClr val="C00000"/>
                  </a:solidFill>
                </a:rPr>
                <a:t>渠道</a:t>
              </a:r>
              <a:endParaRPr lang="zh-CN" altLang="en-US" sz="1200" b="1">
                <a:solidFill>
                  <a:srgbClr val="C00000"/>
                </a:solidFill>
              </a:endParaRPr>
            </a:p>
          </p:txBody>
        </p:sp>
        <p:sp>
          <p:nvSpPr>
            <p:cNvPr id="27" name="文本框 26"/>
            <p:cNvSpPr txBox="1"/>
            <p:nvPr/>
          </p:nvSpPr>
          <p:spPr>
            <a:xfrm rot="20220000">
              <a:off x="15021" y="2545"/>
              <a:ext cx="838" cy="434"/>
            </a:xfrm>
            <a:prstGeom prst="rect">
              <a:avLst/>
            </a:prstGeom>
            <a:noFill/>
            <a:ln>
              <a:solidFill>
                <a:srgbClr val="FF0000"/>
              </a:solidFill>
            </a:ln>
          </p:spPr>
          <p:txBody>
            <a:bodyPr wrap="square" rtlCol="0">
              <a:spAutoFit/>
            </a:bodyPr>
            <a:p>
              <a:r>
                <a:rPr lang="zh-CN" altLang="en-US" sz="1200" b="1">
                  <a:solidFill>
                    <a:srgbClr val="C00000"/>
                  </a:solidFill>
                </a:rPr>
                <a:t>协同</a:t>
              </a:r>
              <a:endParaRPr lang="zh-CN" altLang="en-US" sz="1200" b="1">
                <a:solidFill>
                  <a:srgbClr val="C00000"/>
                </a:solidFill>
              </a:endParaRPr>
            </a:p>
          </p:txBody>
        </p:sp>
        <p:sp>
          <p:nvSpPr>
            <p:cNvPr id="225" name="矩形 224"/>
            <p:cNvSpPr/>
            <p:nvPr>
              <p:custDataLst>
                <p:tags r:id="rId4"/>
              </p:custDataLst>
            </p:nvPr>
          </p:nvSpPr>
          <p:spPr>
            <a:xfrm>
              <a:off x="437" y="2319"/>
              <a:ext cx="4765" cy="429"/>
            </a:xfrm>
            <a:prstGeom prst="rect">
              <a:avLst/>
            </a:prstGeom>
            <a:solidFill>
              <a:srgbClr val="40B0FF"/>
            </a:solidFill>
            <a:ln w="6350">
              <a:noFill/>
            </a:ln>
          </p:spPr>
          <p:style>
            <a:lnRef idx="2">
              <a:schemeClr val="accent6">
                <a:shade val="50000"/>
              </a:schemeClr>
            </a:lnRef>
            <a:fillRef idx="1">
              <a:schemeClr val="accent6"/>
            </a:fillRef>
            <a:effectRef idx="0">
              <a:schemeClr val="accent6"/>
            </a:effectRef>
            <a:fontRef idx="minor">
              <a:schemeClr val="lt1"/>
            </a:fontRef>
          </p:style>
          <p:txBody>
            <a:bodyPr rot="0" vertOverflow="overflow" horzOverflow="overflow" vert="horz" wrap="square" lIns="45719" tIns="45719" rIns="45719" bIns="45719" numCol="1" spcCol="38100" rtlCol="0" fromWordArt="0" anchor="ctr" anchorCtr="0" forceAA="0" compatLnSpc="1">
              <a:noAutofit/>
            </a:bodyPr>
            <a:p>
              <a:pPr lvl="0" algn="ctr" defTabSz="544195" latinLnBrk="1" hangingPunct="0">
                <a:spcBef>
                  <a:spcPts val="0"/>
                </a:spcBef>
                <a:spcAft>
                  <a:spcPts val="0"/>
                </a:spcAft>
                <a:buClrTx/>
                <a:buSzTx/>
                <a:buFontTx/>
              </a:pPr>
              <a:r>
                <a:rPr lang="zh-CN" sz="1200" b="1" dirty="0">
                  <a:solidFill>
                    <a:schemeClr val="bg1"/>
                  </a:solidFill>
                  <a:latin typeface="微软雅黑" panose="020B0503020204020204" pitchFamily="34" charset="-122"/>
                  <a:ea typeface="微软雅黑" panose="020B0503020204020204" pitchFamily="34" charset="-122"/>
                  <a:sym typeface="+mn-ea"/>
                </a:rPr>
                <a:t>提升客户情绪价值，做好营销服务</a:t>
              </a:r>
              <a:endParaRPr lang="zh-CN" sz="1200" b="1" dirty="0">
                <a:solidFill>
                  <a:schemeClr val="bg1"/>
                </a:solidFill>
                <a:latin typeface="微软雅黑" panose="020B0503020204020204" pitchFamily="34" charset="-122"/>
                <a:ea typeface="微软雅黑" panose="020B0503020204020204" pitchFamily="34" charset="-122"/>
                <a:sym typeface="+mn-ea"/>
              </a:endParaRPr>
            </a:p>
          </p:txBody>
        </p:sp>
        <p:sp>
          <p:nvSpPr>
            <p:cNvPr id="68" name="文本框 67"/>
            <p:cNvSpPr txBox="1"/>
            <p:nvPr/>
          </p:nvSpPr>
          <p:spPr>
            <a:xfrm rot="20220000">
              <a:off x="289" y="2545"/>
              <a:ext cx="838" cy="434"/>
            </a:xfrm>
            <a:prstGeom prst="rect">
              <a:avLst/>
            </a:prstGeom>
            <a:noFill/>
            <a:ln>
              <a:solidFill>
                <a:srgbClr val="FF0000"/>
              </a:solidFill>
            </a:ln>
          </p:spPr>
          <p:txBody>
            <a:bodyPr wrap="square" rtlCol="0">
              <a:spAutoFit/>
            </a:bodyPr>
            <a:p>
              <a:r>
                <a:rPr lang="zh-CN" altLang="en-US" sz="1200" b="1">
                  <a:solidFill>
                    <a:srgbClr val="C00000"/>
                  </a:solidFill>
                </a:rPr>
                <a:t>客户</a:t>
              </a:r>
              <a:endParaRPr lang="zh-CN" altLang="en-US" sz="1200" b="1">
                <a:solidFill>
                  <a:srgbClr val="C00000"/>
                </a:solidFill>
              </a:endParaRPr>
            </a:p>
          </p:txBody>
        </p:sp>
      </p:grpSp>
      <p:grpSp>
        <p:nvGrpSpPr>
          <p:cNvPr id="39" name="组合 38"/>
          <p:cNvGrpSpPr/>
          <p:nvPr/>
        </p:nvGrpSpPr>
        <p:grpSpPr>
          <a:xfrm>
            <a:off x="83820" y="5888355"/>
            <a:ext cx="3088640" cy="805180"/>
            <a:chOff x="132" y="9161"/>
            <a:chExt cx="4864" cy="1268"/>
          </a:xfrm>
        </p:grpSpPr>
        <p:sp>
          <p:nvSpPr>
            <p:cNvPr id="171" name="文本框 170"/>
            <p:cNvSpPr txBox="1"/>
            <p:nvPr/>
          </p:nvSpPr>
          <p:spPr>
            <a:xfrm>
              <a:off x="132" y="9586"/>
              <a:ext cx="848" cy="822"/>
            </a:xfrm>
            <a:prstGeom prst="rect">
              <a:avLst/>
            </a:prstGeom>
            <a:noFill/>
          </p:spPr>
          <p:txBody>
            <a:bodyPr vert="horz" wrap="none" rtlCol="0" anchor="t">
              <a:spAutoFit/>
            </a:bodyPr>
            <a:p>
              <a:r>
                <a:rPr lang="zh-CN" sz="1400" b="1" dirty="0">
                  <a:solidFill>
                    <a:srgbClr val="0070C0"/>
                  </a:solidFill>
                  <a:latin typeface="微软雅黑" panose="020B0503020204020204" pitchFamily="34" charset="-122"/>
                  <a:ea typeface="微软雅黑" panose="020B0503020204020204" pitchFamily="34" charset="-122"/>
                </a:rPr>
                <a:t>提升</a:t>
              </a:r>
              <a:endParaRPr lang="zh-CN" sz="1400" b="1" dirty="0">
                <a:solidFill>
                  <a:srgbClr val="0070C0"/>
                </a:solidFill>
                <a:latin typeface="微软雅黑" panose="020B0503020204020204" pitchFamily="34" charset="-122"/>
                <a:ea typeface="微软雅黑" panose="020B0503020204020204" pitchFamily="34" charset="-122"/>
              </a:endParaRPr>
            </a:p>
            <a:p>
              <a:r>
                <a:rPr lang="zh-CN" altLang="en-US" sz="1400" b="1" dirty="0">
                  <a:solidFill>
                    <a:srgbClr val="0070C0"/>
                  </a:solidFill>
                  <a:latin typeface="微软雅黑" panose="020B0503020204020204" pitchFamily="34" charset="-122"/>
                  <a:ea typeface="微软雅黑" panose="020B0503020204020204" pitchFamily="34" charset="-122"/>
                </a:rPr>
                <a:t>方向</a:t>
              </a:r>
              <a:endParaRPr lang="zh-CN" altLang="en-US" sz="1400" b="1" dirty="0">
                <a:solidFill>
                  <a:srgbClr val="0070C0"/>
                </a:solidFill>
                <a:latin typeface="微软雅黑" panose="020B0503020204020204" pitchFamily="34" charset="-122"/>
                <a:ea typeface="微软雅黑" panose="020B0503020204020204" pitchFamily="34" charset="-122"/>
              </a:endParaRPr>
            </a:p>
          </p:txBody>
        </p:sp>
        <p:sp>
          <p:nvSpPr>
            <p:cNvPr id="40" name="矩形 39"/>
            <p:cNvSpPr/>
            <p:nvPr/>
          </p:nvSpPr>
          <p:spPr>
            <a:xfrm>
              <a:off x="1120" y="9607"/>
              <a:ext cx="3876" cy="822"/>
            </a:xfrm>
            <a:prstGeom prst="rect">
              <a:avLst/>
            </a:prstGeom>
            <a:solidFill>
              <a:schemeClr val="bg1"/>
            </a:solidFill>
          </p:spPr>
          <p:txBody>
            <a:bodyPr wrap="square">
              <a:spAutoFit/>
            </a:bodyPr>
            <a:p>
              <a:pPr algn="ctr"/>
              <a:r>
                <a:rPr lang="zh-CN" sz="1400" b="1" dirty="0">
                  <a:solidFill>
                    <a:srgbClr val="C00000"/>
                  </a:solidFill>
                  <a:latin typeface="微软雅黑" panose="020B0503020204020204" pitchFamily="34" charset="-122"/>
                  <a:ea typeface="微软雅黑" panose="020B0503020204020204" pitchFamily="34" charset="-122"/>
                </a:rPr>
                <a:t>精细化、自动化、一体化的</a:t>
              </a:r>
              <a:endParaRPr lang="zh-CN" sz="1400" b="1" dirty="0">
                <a:solidFill>
                  <a:srgbClr val="C00000"/>
                </a:solidFill>
                <a:latin typeface="微软雅黑" panose="020B0503020204020204" pitchFamily="34" charset="-122"/>
                <a:ea typeface="微软雅黑" panose="020B0503020204020204" pitchFamily="34" charset="-122"/>
              </a:endParaRPr>
            </a:p>
            <a:p>
              <a:pPr algn="ctr"/>
              <a:r>
                <a:rPr lang="zh-CN" sz="1400" b="1" dirty="0">
                  <a:solidFill>
                    <a:srgbClr val="C00000"/>
                  </a:solidFill>
                  <a:latin typeface="微软雅黑" panose="020B0503020204020204" pitchFamily="34" charset="-122"/>
                  <a:ea typeface="微软雅黑" panose="020B0503020204020204" pitchFamily="34" charset="-122"/>
                </a:rPr>
                <a:t>客户全生命周期精准运营</a:t>
              </a:r>
              <a:endParaRPr lang="zh-CN" sz="1400" b="1" dirty="0">
                <a:solidFill>
                  <a:srgbClr val="C00000"/>
                </a:solidFill>
                <a:latin typeface="微软雅黑" panose="020B0503020204020204" pitchFamily="34" charset="-122"/>
                <a:ea typeface="微软雅黑" panose="020B0503020204020204" pitchFamily="34" charset="-122"/>
              </a:endParaRPr>
            </a:p>
          </p:txBody>
        </p:sp>
        <p:sp>
          <p:nvSpPr>
            <p:cNvPr id="58" name="上箭头 143"/>
            <p:cNvSpPr/>
            <p:nvPr/>
          </p:nvSpPr>
          <p:spPr>
            <a:xfrm rot="10800000">
              <a:off x="2530" y="9161"/>
              <a:ext cx="1134" cy="454"/>
            </a:xfrm>
            <a:prstGeom prst="upArrow">
              <a:avLst/>
            </a:prstGeom>
            <a:gradFill flip="none" rotWithShape="1">
              <a:gsLst>
                <a:gs pos="100000">
                  <a:srgbClr val="5B9BD5"/>
                </a:gs>
                <a:gs pos="50000">
                  <a:schemeClr val="accent1">
                    <a:tint val="44500"/>
                    <a:satMod val="160000"/>
                  </a:schemeClr>
                </a:gs>
                <a:gs pos="0">
                  <a:schemeClr val="accent1">
                    <a:tint val="23500"/>
                    <a:satMod val="160000"/>
                    <a:alpha val="0"/>
                  </a:schemeClr>
                </a:gs>
              </a:gsLst>
              <a:lin ang="16200000" scaled="1"/>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100">
                <a:solidFill>
                  <a:schemeClr val="tx1"/>
                </a:solidFill>
                <a:sym typeface="+mn-ea"/>
              </a:endParaRPr>
            </a:p>
          </p:txBody>
        </p:sp>
      </p:grpSp>
      <p:grpSp>
        <p:nvGrpSpPr>
          <p:cNvPr id="45" name="组合 44"/>
          <p:cNvGrpSpPr/>
          <p:nvPr/>
        </p:nvGrpSpPr>
        <p:grpSpPr>
          <a:xfrm>
            <a:off x="3426460" y="5882005"/>
            <a:ext cx="2999740" cy="805180"/>
            <a:chOff x="1126" y="9425"/>
            <a:chExt cx="4724" cy="1268"/>
          </a:xfrm>
        </p:grpSpPr>
        <p:sp>
          <p:nvSpPr>
            <p:cNvPr id="43" name="矩形 42"/>
            <p:cNvSpPr/>
            <p:nvPr/>
          </p:nvSpPr>
          <p:spPr>
            <a:xfrm>
              <a:off x="1126" y="9871"/>
              <a:ext cx="4724" cy="822"/>
            </a:xfrm>
            <a:prstGeom prst="rect">
              <a:avLst/>
            </a:prstGeom>
            <a:solidFill>
              <a:schemeClr val="bg1"/>
            </a:solidFill>
          </p:spPr>
          <p:txBody>
            <a:bodyPr wrap="square">
              <a:spAutoFit/>
            </a:bodyPr>
            <a:p>
              <a:pPr algn="ctr"/>
              <a:r>
                <a:rPr lang="zh-CN" altLang="en-US" sz="1400" b="1" dirty="0">
                  <a:solidFill>
                    <a:srgbClr val="C00000"/>
                  </a:solidFill>
                  <a:latin typeface="微软雅黑" panose="020B0503020204020204" pitchFamily="34" charset="-122"/>
                  <a:ea typeface="微软雅黑" panose="020B0503020204020204" pitchFamily="34" charset="-122"/>
                </a:rPr>
                <a:t>全网原子化产品灵活封装供给，推动通信服务向</a:t>
              </a:r>
              <a:r>
                <a:rPr lang="en-US" altLang="zh-CN" sz="1400" b="1" dirty="0">
                  <a:solidFill>
                    <a:srgbClr val="C00000"/>
                  </a:solidFill>
                  <a:latin typeface="微软雅黑" panose="020B0503020204020204" pitchFamily="34" charset="-122"/>
                  <a:ea typeface="微软雅黑" panose="020B0503020204020204" pitchFamily="34" charset="-122"/>
                </a:rPr>
                <a:t>AI+</a:t>
              </a:r>
              <a:r>
                <a:rPr lang="zh-CN" altLang="en-US" sz="1400" b="1" dirty="0">
                  <a:solidFill>
                    <a:srgbClr val="C00000"/>
                  </a:solidFill>
                  <a:latin typeface="微软雅黑" panose="020B0503020204020204" pitchFamily="34" charset="-122"/>
                  <a:ea typeface="微软雅黑" panose="020B0503020204020204" pitchFamily="34" charset="-122"/>
                </a:rPr>
                <a:t>信息服务转换</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44" name="上箭头 143"/>
            <p:cNvSpPr/>
            <p:nvPr/>
          </p:nvSpPr>
          <p:spPr>
            <a:xfrm rot="10800000">
              <a:off x="2730" y="9425"/>
              <a:ext cx="1134" cy="454"/>
            </a:xfrm>
            <a:prstGeom prst="upArrow">
              <a:avLst/>
            </a:prstGeom>
            <a:gradFill flip="none" rotWithShape="1">
              <a:gsLst>
                <a:gs pos="100000">
                  <a:srgbClr val="5B9BD5"/>
                </a:gs>
                <a:gs pos="50000">
                  <a:schemeClr val="accent1">
                    <a:tint val="44500"/>
                    <a:satMod val="160000"/>
                  </a:schemeClr>
                </a:gs>
                <a:gs pos="0">
                  <a:schemeClr val="accent1">
                    <a:tint val="23500"/>
                    <a:satMod val="160000"/>
                    <a:alpha val="0"/>
                  </a:schemeClr>
                </a:gs>
              </a:gsLst>
              <a:lin ang="16200000" scaled="1"/>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100">
                <a:solidFill>
                  <a:schemeClr val="tx1"/>
                </a:solidFill>
                <a:sym typeface="+mn-ea"/>
              </a:endParaRPr>
            </a:p>
          </p:txBody>
        </p:sp>
      </p:grpSp>
      <p:grpSp>
        <p:nvGrpSpPr>
          <p:cNvPr id="46" name="组合 45"/>
          <p:cNvGrpSpPr/>
          <p:nvPr/>
        </p:nvGrpSpPr>
        <p:grpSpPr>
          <a:xfrm>
            <a:off x="6600825" y="5910580"/>
            <a:ext cx="2868295" cy="805180"/>
            <a:chOff x="1181" y="9425"/>
            <a:chExt cx="4517" cy="1268"/>
          </a:xfrm>
        </p:grpSpPr>
        <p:sp>
          <p:nvSpPr>
            <p:cNvPr id="47" name="矩形 46"/>
            <p:cNvSpPr/>
            <p:nvPr/>
          </p:nvSpPr>
          <p:spPr>
            <a:xfrm>
              <a:off x="1181" y="9871"/>
              <a:ext cx="4517" cy="822"/>
            </a:xfrm>
            <a:prstGeom prst="rect">
              <a:avLst/>
            </a:prstGeom>
            <a:solidFill>
              <a:schemeClr val="bg1"/>
            </a:solidFill>
          </p:spPr>
          <p:txBody>
            <a:bodyPr wrap="square">
              <a:spAutoFit/>
            </a:bodyPr>
            <a:p>
              <a:pPr algn="ctr"/>
              <a:r>
                <a:rPr lang="zh-CN" altLang="en-US" sz="1400" b="1" dirty="0">
                  <a:solidFill>
                    <a:srgbClr val="C00000"/>
                  </a:solidFill>
                  <a:latin typeface="微软雅黑" panose="020B0503020204020204" pitchFamily="34" charset="-122"/>
                  <a:ea typeface="微软雅黑" panose="020B0503020204020204" pitchFamily="34" charset="-122"/>
                </a:rPr>
                <a:t>平台化渠道运营，构建生态化、场景化、精准化的客户触达新模式</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48" name="上箭头 143"/>
            <p:cNvSpPr/>
            <p:nvPr/>
          </p:nvSpPr>
          <p:spPr>
            <a:xfrm rot="10800000">
              <a:off x="2730" y="9425"/>
              <a:ext cx="1134" cy="454"/>
            </a:xfrm>
            <a:prstGeom prst="upArrow">
              <a:avLst/>
            </a:prstGeom>
            <a:gradFill flip="none" rotWithShape="1">
              <a:gsLst>
                <a:gs pos="100000">
                  <a:srgbClr val="5B9BD5"/>
                </a:gs>
                <a:gs pos="50000">
                  <a:schemeClr val="accent1">
                    <a:tint val="44500"/>
                    <a:satMod val="160000"/>
                  </a:schemeClr>
                </a:gs>
                <a:gs pos="0">
                  <a:schemeClr val="accent1">
                    <a:tint val="23500"/>
                    <a:satMod val="160000"/>
                    <a:alpha val="0"/>
                  </a:schemeClr>
                </a:gs>
              </a:gsLst>
              <a:lin ang="16200000" scaled="1"/>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100">
                <a:solidFill>
                  <a:schemeClr val="tx1"/>
                </a:solidFill>
                <a:sym typeface="+mn-ea"/>
              </a:endParaRPr>
            </a:p>
          </p:txBody>
        </p:sp>
      </p:grpSp>
      <p:grpSp>
        <p:nvGrpSpPr>
          <p:cNvPr id="49" name="组合 48"/>
          <p:cNvGrpSpPr/>
          <p:nvPr/>
        </p:nvGrpSpPr>
        <p:grpSpPr>
          <a:xfrm>
            <a:off x="9598660" y="5936615"/>
            <a:ext cx="2358390" cy="805180"/>
            <a:chOff x="1181" y="9425"/>
            <a:chExt cx="4517" cy="1268"/>
          </a:xfrm>
        </p:grpSpPr>
        <p:sp>
          <p:nvSpPr>
            <p:cNvPr id="50" name="矩形 49"/>
            <p:cNvSpPr/>
            <p:nvPr/>
          </p:nvSpPr>
          <p:spPr>
            <a:xfrm>
              <a:off x="1181" y="9871"/>
              <a:ext cx="4517" cy="822"/>
            </a:xfrm>
            <a:prstGeom prst="rect">
              <a:avLst/>
            </a:prstGeom>
            <a:solidFill>
              <a:schemeClr val="bg1"/>
            </a:solidFill>
          </p:spPr>
          <p:txBody>
            <a:bodyPr wrap="square">
              <a:spAutoFit/>
            </a:bodyPr>
            <a:p>
              <a:pPr algn="ctr"/>
              <a:r>
                <a:rPr lang="zh-CN" altLang="en-US" sz="1400" b="1" dirty="0">
                  <a:solidFill>
                    <a:srgbClr val="C00000"/>
                  </a:solidFill>
                  <a:latin typeface="微软雅黑" panose="020B0503020204020204" pitchFamily="34" charset="-122"/>
                  <a:ea typeface="微软雅黑" panose="020B0503020204020204" pitchFamily="34" charset="-122"/>
                </a:rPr>
                <a:t>以</a:t>
              </a:r>
              <a:r>
                <a:rPr lang="en-US" altLang="zh-CN" sz="1400" b="1" dirty="0">
                  <a:solidFill>
                    <a:srgbClr val="C00000"/>
                  </a:solidFill>
                  <a:latin typeface="微软雅黑" panose="020B0503020204020204" pitchFamily="34" charset="-122"/>
                  <a:ea typeface="微软雅黑" panose="020B0503020204020204" pitchFamily="34" charset="-122"/>
                </a:rPr>
                <a:t>AI+</a:t>
              </a:r>
              <a:r>
                <a:rPr lang="zh-CN" altLang="en-US" sz="1400" b="1" dirty="0">
                  <a:solidFill>
                    <a:srgbClr val="C00000"/>
                  </a:solidFill>
                  <a:latin typeface="微软雅黑" panose="020B0503020204020204" pitchFamily="34" charset="-122"/>
                  <a:ea typeface="微软雅黑" panose="020B0503020204020204" pitchFamily="34" charset="-122"/>
                </a:rPr>
                <a:t>为核心的运营、执行、监控、调度能力</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51" name="上箭头 143"/>
            <p:cNvSpPr/>
            <p:nvPr/>
          </p:nvSpPr>
          <p:spPr>
            <a:xfrm rot="10800000">
              <a:off x="2730" y="9425"/>
              <a:ext cx="1134" cy="454"/>
            </a:xfrm>
            <a:prstGeom prst="upArrow">
              <a:avLst/>
            </a:prstGeom>
            <a:gradFill flip="none" rotWithShape="1">
              <a:gsLst>
                <a:gs pos="100000">
                  <a:srgbClr val="5B9BD5"/>
                </a:gs>
                <a:gs pos="50000">
                  <a:schemeClr val="accent1">
                    <a:tint val="44500"/>
                    <a:satMod val="160000"/>
                  </a:schemeClr>
                </a:gs>
                <a:gs pos="0">
                  <a:schemeClr val="accent1">
                    <a:tint val="23500"/>
                    <a:satMod val="160000"/>
                    <a:alpha val="0"/>
                  </a:schemeClr>
                </a:gs>
              </a:gsLst>
              <a:lin ang="16200000" scaled="1"/>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100">
                <a:solidFill>
                  <a:schemeClr val="tx1"/>
                </a:solidFill>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solidFill>
                  <a:srgbClr val="C00000"/>
                </a:solidFill>
                <a:sym typeface="+mn-ea"/>
              </a:rPr>
              <a:t>转型思路</a:t>
            </a: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sym typeface="+mn-ea"/>
              </a:rPr>
              <a:t>市场领域数智化转型的核心</a:t>
            </a:r>
            <a:endParaRPr lang="zh-CN" altLang="en-US" dirty="0"/>
          </a:p>
        </p:txBody>
      </p:sp>
      <p:sp>
        <p:nvSpPr>
          <p:cNvPr id="177" name="文本占位符 176"/>
          <p:cNvSpPr>
            <a:spLocks noGrp="1"/>
          </p:cNvSpPr>
          <p:nvPr>
            <p:ph type="body" sz="quarter" idx="10"/>
          </p:nvPr>
        </p:nvSpPr>
        <p:spPr>
          <a:xfrm>
            <a:off x="103505" y="874395"/>
            <a:ext cx="12178665" cy="565785"/>
          </a:xfrm>
        </p:spPr>
        <p:txBody>
          <a:bodyPr/>
          <a:lstStyle/>
          <a:p>
            <a:pPr>
              <a:lnSpc>
                <a:spcPct val="110000"/>
              </a:lnSpc>
            </a:pPr>
            <a:r>
              <a:rPr lang="zh-CN" altLang="en-US" sz="1600" b="0" dirty="0">
                <a:solidFill>
                  <a:srgbClr val="000000"/>
                </a:solidFill>
                <a:effectLst/>
                <a:latin typeface="Helvetica Neue" panose="02000503000000020004" pitchFamily="2" charset="0"/>
              </a:rPr>
              <a:t>通过业务运营模式转变、支撑模式转型、组织机制变革，强化技术驱动，重塑市场竞争力与</a:t>
            </a:r>
            <a:r>
              <a:rPr lang="en-US" altLang="zh-CN" sz="1600" b="0" dirty="0">
                <a:solidFill>
                  <a:srgbClr val="000000"/>
                </a:solidFill>
                <a:effectLst/>
                <a:latin typeface="Helvetica Neue" panose="02000503000000020004" pitchFamily="2" charset="0"/>
              </a:rPr>
              <a:t>IT</a:t>
            </a:r>
            <a:r>
              <a:rPr sz="1600" b="0" dirty="0">
                <a:solidFill>
                  <a:srgbClr val="000000"/>
                </a:solidFill>
                <a:effectLst/>
                <a:latin typeface="Helvetica Neue" panose="02000503000000020004" pitchFamily="2" charset="0"/>
              </a:rPr>
              <a:t>核心价值，实现以客户为中心的价值运营。</a:t>
            </a:r>
            <a:endParaRPr sz="1600" b="0" dirty="0">
              <a:solidFill>
                <a:srgbClr val="000000"/>
              </a:solidFill>
              <a:effectLst/>
              <a:latin typeface="Helvetica Neue" panose="02000503000000020004" pitchFamily="2" charset="0"/>
            </a:endParaRPr>
          </a:p>
        </p:txBody>
      </p:sp>
      <p:sp>
        <p:nvSpPr>
          <p:cNvPr id="122" name="矩形 121"/>
          <p:cNvSpPr/>
          <p:nvPr/>
        </p:nvSpPr>
        <p:spPr>
          <a:xfrm>
            <a:off x="661670" y="2609850"/>
            <a:ext cx="11355705" cy="260350"/>
          </a:xfrm>
          <a:prstGeom prst="rect">
            <a:avLst/>
          </a:prstGeom>
        </p:spPr>
        <p:txBody>
          <a:bodyPr wrap="square">
            <a:spAutoFit/>
          </a:bodyPr>
          <a:lstStyle/>
          <a:p>
            <a:pPr lvl="0" algn="ctr">
              <a:defRPr/>
            </a:pPr>
            <a:r>
              <a:rPr kumimoji="0" lang="zh-CN" altLang="en-US" sz="11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加强统筹研发项目管理，持续落实“三横六纵”研发全生命周期管理制度</a:t>
            </a:r>
            <a:endParaRPr lang="en-US" altLang="zh-CN" sz="11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21" name="文本框 20"/>
          <p:cNvSpPr txBox="1"/>
          <p:nvPr/>
        </p:nvSpPr>
        <p:spPr>
          <a:xfrm flipH="1">
            <a:off x="11076305" y="1900555"/>
            <a:ext cx="839470" cy="4614545"/>
          </a:xfrm>
          <a:prstGeom prst="rect">
            <a:avLst/>
          </a:prstGeom>
          <a:noFill/>
          <a:ln>
            <a:solidFill>
              <a:schemeClr val="accent1"/>
            </a:solidFill>
          </a:ln>
        </p:spPr>
        <p:txBody>
          <a:bodyPr wrap="square" rtlCol="0" anchor="ctr" anchorCtr="0">
            <a:noAutofit/>
          </a:bodyPr>
          <a:lstStyle/>
          <a:p>
            <a:pPr algn="ctr"/>
            <a:endParaRPr kumimoji="1" lang="zh-CN" altLang="en-US" sz="1200" dirty="0">
              <a:latin typeface="微软雅黑" panose="020B0503020204020204" pitchFamily="34" charset="-122"/>
              <a:ea typeface="微软雅黑" panose="020B0503020204020204" pitchFamily="34" charset="-122"/>
            </a:endParaRPr>
          </a:p>
          <a:p>
            <a:pPr algn="l"/>
            <a:endParaRPr kumimoji="1" lang="zh-CN" altLang="en-US" sz="1000" dirty="0">
              <a:latin typeface="微软雅黑" panose="020B0503020204020204" pitchFamily="34" charset="-122"/>
              <a:ea typeface="微软雅黑" panose="020B0503020204020204" pitchFamily="34" charset="-122"/>
            </a:endParaRPr>
          </a:p>
          <a:p>
            <a:pPr algn="l"/>
            <a:r>
              <a:rPr kumimoji="1" lang="zh-CN" altLang="en-US" sz="1000" b="1" dirty="0">
                <a:latin typeface="微软雅黑" panose="020B0503020204020204" pitchFamily="34" charset="-122"/>
                <a:ea typeface="微软雅黑" panose="020B0503020204020204" pitchFamily="34" charset="-122"/>
              </a:rPr>
              <a:t>客户全生命周期的价值经营：</a:t>
            </a:r>
            <a:r>
              <a:rPr kumimoji="1" lang="zh-CN" altLang="en-US" sz="1000" dirty="0">
                <a:latin typeface="微软雅黑" panose="020B0503020204020204" pitchFamily="34" charset="-122"/>
                <a:ea typeface="微软雅黑" panose="020B0503020204020204" pitchFamily="34" charset="-122"/>
              </a:rPr>
              <a:t>以客户为中心，通过数据驱动提升服务效率与客户功能价值、体验价值、情绪价值提升</a:t>
            </a:r>
            <a:endParaRPr kumimoji="1" lang="zh-CN" altLang="en-US" sz="1000" dirty="0">
              <a:latin typeface="微软雅黑" panose="020B0503020204020204" pitchFamily="34" charset="-122"/>
              <a:ea typeface="微软雅黑" panose="020B0503020204020204" pitchFamily="34" charset="-122"/>
            </a:endParaRPr>
          </a:p>
          <a:p>
            <a:pPr algn="l"/>
            <a:endParaRPr kumimoji="1" lang="zh-CN" altLang="en-US" sz="1000" dirty="0">
              <a:latin typeface="微软雅黑" panose="020B0503020204020204" pitchFamily="34" charset="-122"/>
              <a:ea typeface="微软雅黑" panose="020B0503020204020204" pitchFamily="34" charset="-122"/>
            </a:endParaRPr>
          </a:p>
          <a:p>
            <a:pPr algn="l"/>
            <a:endParaRPr kumimoji="1" lang="zh-CN" altLang="en-US" sz="1000" dirty="0">
              <a:latin typeface="微软雅黑" panose="020B0503020204020204" pitchFamily="34" charset="-122"/>
              <a:ea typeface="微软雅黑" panose="020B0503020204020204" pitchFamily="34" charset="-122"/>
            </a:endParaRPr>
          </a:p>
          <a:p>
            <a:pPr algn="l"/>
            <a:endParaRPr kumimoji="1" lang="zh-CN" altLang="en-US" sz="1000" dirty="0">
              <a:latin typeface="微软雅黑" panose="020B0503020204020204" pitchFamily="34" charset="-122"/>
              <a:ea typeface="微软雅黑" panose="020B0503020204020204" pitchFamily="34" charset="-122"/>
            </a:endParaRPr>
          </a:p>
          <a:p>
            <a:pPr algn="l"/>
            <a:r>
              <a:rPr kumimoji="1" lang="zh-CN" altLang="en-US" sz="1000" b="1" dirty="0">
                <a:latin typeface="微软雅黑" panose="020B0503020204020204" pitchFamily="34" charset="-122"/>
                <a:ea typeface="微软雅黑" panose="020B0503020204020204" pitchFamily="34" charset="-122"/>
              </a:rPr>
              <a:t>增强一体化运营能力：</a:t>
            </a:r>
            <a:r>
              <a:rPr kumimoji="1" lang="zh-CN" altLang="en-US" sz="1000" dirty="0">
                <a:latin typeface="微软雅黑" panose="020B0503020204020204" pitchFamily="34" charset="-122"/>
                <a:ea typeface="微软雅黑" panose="020B0503020204020204" pitchFamily="34" charset="-122"/>
              </a:rPr>
              <a:t>AI技术推动运营模式创新，增强自动化、一体化运营能力</a:t>
            </a:r>
            <a:endParaRPr kumimoji="1" lang="zh-CN" altLang="en-US" sz="1000" dirty="0">
              <a:latin typeface="微软雅黑" panose="020B0503020204020204" pitchFamily="34" charset="-122"/>
              <a:ea typeface="微软雅黑" panose="020B0503020204020204" pitchFamily="34" charset="-122"/>
            </a:endParaRPr>
          </a:p>
        </p:txBody>
      </p:sp>
      <p:sp>
        <p:nvSpPr>
          <p:cNvPr id="31" name="文本框 30"/>
          <p:cNvSpPr txBox="1"/>
          <p:nvPr/>
        </p:nvSpPr>
        <p:spPr>
          <a:xfrm>
            <a:off x="11098530" y="1468755"/>
            <a:ext cx="918845" cy="275590"/>
          </a:xfrm>
          <a:prstGeom prst="rect">
            <a:avLst/>
          </a:prstGeom>
          <a:noFill/>
        </p:spPr>
        <p:txBody>
          <a:bodyPr wrap="square" rtlCol="0" anchor="t">
            <a:spAutoFit/>
          </a:bodyPr>
          <a:lstStyle/>
          <a:p>
            <a:pPr algn="l"/>
            <a:r>
              <a:rPr kumimoji="1" lang="zh-CN" altLang="en-US" sz="1200" b="1" dirty="0">
                <a:latin typeface="微软雅黑" panose="020B0503020204020204" pitchFamily="34" charset="-122"/>
                <a:ea typeface="微软雅黑" panose="020B0503020204020204" pitchFamily="34" charset="-122"/>
                <a:sym typeface="+mn-ea"/>
              </a:rPr>
              <a:t>价值目标</a:t>
            </a:r>
            <a:endParaRPr kumimoji="1" lang="zh-CN" altLang="en-US" sz="1200" b="1" dirty="0">
              <a:latin typeface="微软雅黑" panose="020B0503020204020204" pitchFamily="34" charset="-122"/>
              <a:ea typeface="微软雅黑" panose="020B0503020204020204" pitchFamily="34" charset="-122"/>
              <a:sym typeface="+mn-ea"/>
            </a:endParaRPr>
          </a:p>
        </p:txBody>
      </p:sp>
      <p:sp>
        <p:nvSpPr>
          <p:cNvPr id="18" name="Freeform 22"/>
          <p:cNvSpPr/>
          <p:nvPr/>
        </p:nvSpPr>
        <p:spPr bwMode="auto">
          <a:xfrm rot="5400000">
            <a:off x="9963785" y="3929380"/>
            <a:ext cx="1821815" cy="38163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chemeClr val="accent1">
                  <a:lumMod val="5000"/>
                  <a:lumOff val="95000"/>
                  <a:alpha val="0"/>
                </a:schemeClr>
              </a:gs>
              <a:gs pos="53000">
                <a:schemeClr val="accent1">
                  <a:lumMod val="45000"/>
                  <a:lumOff val="55000"/>
                  <a:alpha val="44000"/>
                </a:schemeClr>
              </a:gs>
              <a:gs pos="80000">
                <a:schemeClr val="accent1">
                  <a:lumMod val="45000"/>
                  <a:lumOff val="55000"/>
                  <a:alpha val="61000"/>
                </a:schemeClr>
              </a:gs>
              <a:gs pos="100000">
                <a:schemeClr val="accent1">
                  <a:lumMod val="60000"/>
                  <a:lumOff val="40000"/>
                  <a:alpha val="48000"/>
                </a:schemeClr>
              </a:gs>
            </a:gsLst>
            <a:lin ang="162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29" name="组合 28"/>
          <p:cNvGrpSpPr/>
          <p:nvPr/>
        </p:nvGrpSpPr>
        <p:grpSpPr>
          <a:xfrm>
            <a:off x="480060" y="1325245"/>
            <a:ext cx="10024110" cy="3284220"/>
            <a:chOff x="756" y="2359"/>
            <a:chExt cx="15786" cy="5679"/>
          </a:xfrm>
        </p:grpSpPr>
        <p:grpSp>
          <p:nvGrpSpPr>
            <p:cNvPr id="3" name="组合 2"/>
            <p:cNvGrpSpPr/>
            <p:nvPr/>
          </p:nvGrpSpPr>
          <p:grpSpPr>
            <a:xfrm>
              <a:off x="804" y="2359"/>
              <a:ext cx="15737" cy="3564"/>
              <a:chOff x="3805" y="2715"/>
              <a:chExt cx="13127" cy="3564"/>
            </a:xfrm>
          </p:grpSpPr>
          <p:sp>
            <p:nvSpPr>
              <p:cNvPr id="120" name="Rectangle 6"/>
              <p:cNvSpPr/>
              <p:nvPr/>
            </p:nvSpPr>
            <p:spPr>
              <a:xfrm>
                <a:off x="3805" y="3479"/>
                <a:ext cx="13127" cy="2800"/>
              </a:xfrm>
              <a:prstGeom prst="rect">
                <a:avLst/>
              </a:prstGeom>
              <a:solidFill>
                <a:srgbClr val="FFFFFF"/>
              </a:solidFill>
              <a:ln w="9525" cap="flat" cmpd="sng" algn="ctr">
                <a:solidFill>
                  <a:srgbClr val="C6C7C6"/>
                </a:soli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21" name="Rectangle 2"/>
              <p:cNvSpPr/>
              <p:nvPr/>
            </p:nvSpPr>
            <p:spPr>
              <a:xfrm>
                <a:off x="5048" y="3315"/>
                <a:ext cx="10806" cy="429"/>
              </a:xfrm>
              <a:prstGeom prst="rect">
                <a:avLst/>
              </a:prstGeom>
              <a:solidFill>
                <a:schemeClr val="accent1">
                  <a:lumMod val="60000"/>
                  <a:lumOff val="40000"/>
                </a:schemeClr>
              </a:solidFill>
              <a:ln w="38100" cap="flat" cmpd="sng" algn="ctr">
                <a:solidFill>
                  <a:schemeClr val="accent1">
                    <a:lumMod val="60000"/>
                    <a:lumOff val="40000"/>
                  </a:schemeClr>
                </a:solidFill>
                <a:prstDash val="solid"/>
                <a:miter lim="800000"/>
              </a:ln>
              <a:effectLst/>
            </p:spPr>
            <p:txBody>
              <a:bodyPr wrap="square" lIns="82296" tIns="41148" rIns="82296" bIns="4114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400" b="1"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运营模式转型</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28" name="文本框 27"/>
              <p:cNvSpPr txBox="1"/>
              <p:nvPr/>
            </p:nvSpPr>
            <p:spPr>
              <a:xfrm>
                <a:off x="7438" y="2715"/>
                <a:ext cx="5781" cy="530"/>
              </a:xfrm>
              <a:prstGeom prst="rect">
                <a:avLst/>
              </a:prstGeom>
              <a:noFill/>
            </p:spPr>
            <p:txBody>
              <a:bodyPr wrap="square" rtlCol="0" anchor="t">
                <a:spAutoFit/>
              </a:bodyPr>
              <a:lstStyle/>
              <a:p>
                <a:pPr algn="ctr"/>
                <a:r>
                  <a:rPr kumimoji="1" lang="zh-CN" altLang="en-US" sz="1400" b="1" dirty="0">
                    <a:latin typeface="微软雅黑" panose="020B0503020204020204" pitchFamily="34" charset="-122"/>
                    <a:ea typeface="微软雅黑" panose="020B0503020204020204" pitchFamily="34" charset="-122"/>
                  </a:rPr>
                  <a:t>推动中国移动</a:t>
                </a:r>
                <a:r>
                  <a:rPr kumimoji="1" lang="en-US" altLang="zh-CN" sz="1400" b="1" dirty="0">
                    <a:latin typeface="微软雅黑" panose="020B0503020204020204" pitchFamily="34" charset="-122"/>
                    <a:ea typeface="微软雅黑" panose="020B0503020204020204" pitchFamily="34" charset="-122"/>
                  </a:rPr>
                  <a:t> </a:t>
                </a:r>
                <a:r>
                  <a:rPr kumimoji="1" lang="zh-CN" altLang="en-US" sz="1400" b="1" dirty="0">
                    <a:latin typeface="微软雅黑" panose="020B0503020204020204" pitchFamily="34" charset="-122"/>
                    <a:ea typeface="微软雅黑" panose="020B0503020204020204" pitchFamily="34" charset="-122"/>
                  </a:rPr>
                  <a:t>从</a:t>
                </a:r>
                <a:r>
                  <a:rPr kumimoji="1" lang="en-US" altLang="zh-CN" sz="1400" b="1" dirty="0">
                    <a:latin typeface="微软雅黑" panose="020B0503020204020204" pitchFamily="34" charset="-122"/>
                    <a:ea typeface="微软雅黑" panose="020B0503020204020204" pitchFamily="34" charset="-122"/>
                  </a:rPr>
                  <a:t> </a:t>
                </a:r>
                <a:r>
                  <a:rPr kumimoji="1" lang="zh-CN" altLang="en-US" sz="1400" b="1" dirty="0">
                    <a:latin typeface="微软雅黑" panose="020B0503020204020204" pitchFamily="34" charset="-122"/>
                    <a:ea typeface="微软雅黑" panose="020B0503020204020204" pitchFamily="34" charset="-122"/>
                  </a:rPr>
                  <a:t>通信运营商 向 信息服务商 转型</a:t>
                </a:r>
                <a:endParaRPr kumimoji="1" lang="zh-CN" altLang="en-US" sz="1400" b="1" dirty="0">
                  <a:latin typeface="微软雅黑" panose="020B0503020204020204" pitchFamily="34" charset="-122"/>
                  <a:ea typeface="微软雅黑" panose="020B0503020204020204" pitchFamily="34" charset="-122"/>
                </a:endParaRPr>
              </a:p>
            </p:txBody>
          </p:sp>
        </p:grpSp>
        <p:grpSp>
          <p:nvGrpSpPr>
            <p:cNvPr id="27" name="组合 26"/>
            <p:cNvGrpSpPr/>
            <p:nvPr/>
          </p:nvGrpSpPr>
          <p:grpSpPr>
            <a:xfrm>
              <a:off x="756" y="3355"/>
              <a:ext cx="15786" cy="4683"/>
              <a:chOff x="756" y="3355"/>
              <a:chExt cx="15786" cy="4683"/>
            </a:xfrm>
          </p:grpSpPr>
          <p:sp>
            <p:nvSpPr>
              <p:cNvPr id="146" name="Rectangle 6"/>
              <p:cNvSpPr/>
              <p:nvPr/>
            </p:nvSpPr>
            <p:spPr>
              <a:xfrm>
                <a:off x="756" y="6209"/>
                <a:ext cx="15786" cy="1829"/>
              </a:xfrm>
              <a:prstGeom prst="rect">
                <a:avLst/>
              </a:prstGeom>
              <a:solidFill>
                <a:srgbClr val="FFFFFF"/>
              </a:solidFill>
              <a:ln w="9525" cap="flat" cmpd="sng" algn="ctr">
                <a:solidFill>
                  <a:srgbClr val="C6C7C6"/>
                </a:soli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grpSp>
            <p:nvGrpSpPr>
              <p:cNvPr id="42" name="组合 41"/>
              <p:cNvGrpSpPr/>
              <p:nvPr/>
            </p:nvGrpSpPr>
            <p:grpSpPr>
              <a:xfrm rot="0">
                <a:off x="964" y="3394"/>
                <a:ext cx="3934" cy="2413"/>
                <a:chOff x="1528" y="3282"/>
                <a:chExt cx="7729" cy="2530"/>
              </a:xfrm>
            </p:grpSpPr>
            <p:grpSp>
              <p:nvGrpSpPr>
                <p:cNvPr id="44" name="组合 43"/>
                <p:cNvGrpSpPr/>
                <p:nvPr/>
              </p:nvGrpSpPr>
              <p:grpSpPr>
                <a:xfrm>
                  <a:off x="1528" y="3530"/>
                  <a:ext cx="7635" cy="2279"/>
                  <a:chOff x="1407" y="3530"/>
                  <a:chExt cx="7635" cy="2279"/>
                </a:xfrm>
              </p:grpSpPr>
              <p:sp>
                <p:nvSpPr>
                  <p:cNvPr id="45" name="Rectangle: Rounded Corners 104"/>
                  <p:cNvSpPr/>
                  <p:nvPr/>
                </p:nvSpPr>
                <p:spPr>
                  <a:xfrm>
                    <a:off x="1409" y="3530"/>
                    <a:ext cx="7633" cy="2210"/>
                  </a:xfrm>
                  <a:prstGeom prst="roundRect">
                    <a:avLst>
                      <a:gd name="adj" fmla="val 0"/>
                    </a:avLst>
                  </a:prstGeom>
                  <a:solidFill>
                    <a:srgbClr val="DFF2FF"/>
                  </a:solidFill>
                  <a:ln w="3175" cap="flat" cmpd="sng" algn="ctr">
                    <a:noFill/>
                    <a:prstDash val="solid"/>
                    <a:miter lim="800000"/>
                  </a:ln>
                  <a:effectLst/>
                </p:spPr>
                <p:txBody>
                  <a:bodyPr rot="0" spcFirstLastPara="0" vertOverflow="overflow" horzOverflow="overflow" vert="horz" wrap="square" lIns="54195" tIns="27097" rIns="54195" bIns="27097" numCol="1" spcCol="0" rtlCol="0" fromWordArt="0" anchor="ctr" anchorCtr="0" forceAA="0" compatLnSpc="1">
                    <a:noAutofit/>
                  </a:bodyPr>
                  <a:p>
                    <a:pPr lvl="0" algn="ctr" defTabSz="541655">
                      <a:spcBef>
                        <a:spcPts val="0"/>
                      </a:spcBef>
                      <a:spcAft>
                        <a:spcPts val="0"/>
                      </a:spcAft>
                      <a:buClrTx/>
                      <a:buSzTx/>
                      <a:buFontTx/>
                      <a:defRPr/>
                    </a:pPr>
                    <a:endParaRPr lang="en-US" sz="1050" kern="0" noProof="0">
                      <a:ln>
                        <a:noFill/>
                      </a:ln>
                      <a:solidFill>
                        <a:srgbClr val="666666"/>
                      </a:solidFill>
                      <a:effectLst/>
                      <a:uLnTx/>
                      <a:uFillTx/>
                      <a:latin typeface="微软雅黑" panose="020B0503020204020204" pitchFamily="34" charset="-122"/>
                      <a:ea typeface="微软雅黑" panose="020B0503020204020204" pitchFamily="34" charset="-122"/>
                      <a:sym typeface="+mn-ea"/>
                    </a:endParaRPr>
                  </a:p>
                </p:txBody>
              </p:sp>
              <p:sp>
                <p:nvSpPr>
                  <p:cNvPr id="49" name="矩形 71"/>
                  <p:cNvSpPr/>
                  <p:nvPr/>
                </p:nvSpPr>
                <p:spPr>
                  <a:xfrm>
                    <a:off x="1407" y="4408"/>
                    <a:ext cx="3391" cy="751"/>
                  </a:xfrm>
                  <a:prstGeom prst="rect">
                    <a:avLst/>
                  </a:prstGeom>
                </p:spPr>
                <p:txBody>
                  <a:bodyPr wrap="square">
                    <a:spAutoFit/>
                  </a:bodyPr>
                  <a:p>
                    <a:pPr lvl="0" algn="ctr" defTabSz="1188085" fontAlgn="ctr">
                      <a:buClrTx/>
                      <a:buSzTx/>
                      <a:buFontTx/>
                      <a:defRPr/>
                    </a:pPr>
                    <a:r>
                      <a:rPr sz="1050" b="1" dirty="0">
                        <a:solidFill>
                          <a:schemeClr val="tx1"/>
                        </a:solidFill>
                        <a:latin typeface="微软雅黑" panose="020B0503020204020204" pitchFamily="34" charset="-122"/>
                        <a:ea typeface="微软雅黑" panose="020B0503020204020204" pitchFamily="34" charset="-122"/>
                        <a:sym typeface="+mn-ea"/>
                      </a:rPr>
                      <a:t>粗放式的规模增长</a:t>
                    </a:r>
                    <a:endParaRPr sz="1050" b="1" dirty="0">
                      <a:solidFill>
                        <a:schemeClr val="tx1"/>
                      </a:solidFill>
                      <a:latin typeface="微软雅黑" panose="020B0503020204020204" pitchFamily="34" charset="-122"/>
                      <a:ea typeface="微软雅黑" panose="020B0503020204020204" pitchFamily="34" charset="-122"/>
                      <a:sym typeface="+mn-ea"/>
                    </a:endParaRPr>
                  </a:p>
                </p:txBody>
              </p:sp>
              <p:sp>
                <p:nvSpPr>
                  <p:cNvPr id="50" name="矩形 77"/>
                  <p:cNvSpPr/>
                  <p:nvPr/>
                </p:nvSpPr>
                <p:spPr>
                  <a:xfrm>
                    <a:off x="1673" y="3769"/>
                    <a:ext cx="2690" cy="458"/>
                  </a:xfrm>
                  <a:prstGeom prst="rect">
                    <a:avLst/>
                  </a:prstGeom>
                </p:spPr>
                <p:txBody>
                  <a:bodyPr wrap="square">
                    <a:spAutoFit/>
                  </a:bodyPr>
                  <a:p>
                    <a:pPr algn="ctr" defTabSz="1188085" fontAlgn="ctr">
                      <a:defRPr/>
                    </a:pPr>
                    <a:r>
                      <a:rPr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单一手机号</a:t>
                    </a:r>
                    <a:endParaRPr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1" name="矩形 82"/>
                  <p:cNvSpPr/>
                  <p:nvPr/>
                </p:nvSpPr>
                <p:spPr>
                  <a:xfrm>
                    <a:off x="1407" y="5058"/>
                    <a:ext cx="3142" cy="751"/>
                  </a:xfrm>
                  <a:prstGeom prst="rect">
                    <a:avLst/>
                  </a:prstGeom>
                </p:spPr>
                <p:txBody>
                  <a:bodyPr wrap="square">
                    <a:spAutoFit/>
                  </a:bodyPr>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以满足客户的功能价值为主</a:t>
                    </a:r>
                    <a:endPar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52" name="组合 51"/>
                <p:cNvGrpSpPr/>
                <p:nvPr/>
              </p:nvGrpSpPr>
              <p:grpSpPr>
                <a:xfrm>
                  <a:off x="4918" y="3758"/>
                  <a:ext cx="426" cy="1713"/>
                  <a:chOff x="7612" y="3743"/>
                  <a:chExt cx="426" cy="1713"/>
                </a:xfrm>
              </p:grpSpPr>
              <p:sp>
                <p:nvSpPr>
                  <p:cNvPr id="53" name="右箭头 52"/>
                  <p:cNvSpPr/>
                  <p:nvPr/>
                </p:nvSpPr>
                <p:spPr>
                  <a:xfrm>
                    <a:off x="7612" y="3743"/>
                    <a:ext cx="426" cy="428"/>
                  </a:xfrm>
                  <a:prstGeom prst="rightArrow">
                    <a:avLst/>
                  </a:prstGeom>
                  <a:gradFill>
                    <a:gsLst>
                      <a:gs pos="0">
                        <a:schemeClr val="accent1">
                          <a:lumMod val="5000"/>
                          <a:lumOff val="95000"/>
                        </a:schemeClr>
                      </a:gs>
                      <a:gs pos="72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微软雅黑" panose="020B0503020204020204" pitchFamily="34" charset="-122"/>
                      <a:ea typeface="微软雅黑" panose="020B0503020204020204" pitchFamily="34" charset="-122"/>
                    </a:endParaRPr>
                  </a:p>
                </p:txBody>
              </p:sp>
              <p:sp>
                <p:nvSpPr>
                  <p:cNvPr id="54" name="右箭头 53"/>
                  <p:cNvSpPr/>
                  <p:nvPr/>
                </p:nvSpPr>
                <p:spPr>
                  <a:xfrm>
                    <a:off x="7612" y="4378"/>
                    <a:ext cx="426" cy="428"/>
                  </a:xfrm>
                  <a:prstGeom prst="rightArrow">
                    <a:avLst/>
                  </a:prstGeom>
                  <a:gradFill>
                    <a:gsLst>
                      <a:gs pos="0">
                        <a:schemeClr val="accent1">
                          <a:lumMod val="5000"/>
                          <a:lumOff val="95000"/>
                        </a:schemeClr>
                      </a:gs>
                      <a:gs pos="72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55" name="右箭头 54"/>
                  <p:cNvSpPr/>
                  <p:nvPr/>
                </p:nvSpPr>
                <p:spPr>
                  <a:xfrm>
                    <a:off x="7612" y="5028"/>
                    <a:ext cx="426" cy="428"/>
                  </a:xfrm>
                  <a:prstGeom prst="rightArrow">
                    <a:avLst/>
                  </a:prstGeom>
                  <a:gradFill>
                    <a:gsLst>
                      <a:gs pos="0">
                        <a:schemeClr val="accent1">
                          <a:lumMod val="5000"/>
                          <a:lumOff val="95000"/>
                        </a:schemeClr>
                      </a:gs>
                      <a:gs pos="72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grpSp>
              <p:nvGrpSpPr>
                <p:cNvPr id="56" name="组合 55"/>
                <p:cNvGrpSpPr/>
                <p:nvPr/>
              </p:nvGrpSpPr>
              <p:grpSpPr>
                <a:xfrm>
                  <a:off x="5047" y="3686"/>
                  <a:ext cx="4210" cy="2126"/>
                  <a:chOff x="1047" y="3883"/>
                  <a:chExt cx="4210" cy="2126"/>
                </a:xfrm>
              </p:grpSpPr>
              <p:sp>
                <p:nvSpPr>
                  <p:cNvPr id="57" name="矩形 71"/>
                  <p:cNvSpPr/>
                  <p:nvPr/>
                </p:nvSpPr>
                <p:spPr>
                  <a:xfrm>
                    <a:off x="1142" y="4575"/>
                    <a:ext cx="4022" cy="751"/>
                  </a:xfrm>
                  <a:prstGeom prst="rect">
                    <a:avLst/>
                  </a:prstGeom>
                </p:spPr>
                <p:txBody>
                  <a:bodyPr wrap="square">
                    <a:spAutoFit/>
                  </a:bodyPr>
                  <a:p>
                    <a:pPr lvl="0" algn="ctr" defTabSz="1188085" fontAlgn="ctr">
                      <a:buClrTx/>
                      <a:buSzTx/>
                      <a:buFontTx/>
                      <a:defRPr/>
                    </a:pPr>
                    <a:r>
                      <a:rPr sz="1050" b="1" dirty="0">
                        <a:solidFill>
                          <a:schemeClr val="tx1"/>
                        </a:solidFill>
                        <a:latin typeface="微软雅黑" panose="020B0503020204020204" pitchFamily="34" charset="-122"/>
                        <a:ea typeface="微软雅黑" panose="020B0503020204020204" pitchFamily="34" charset="-122"/>
                        <a:sym typeface="+mn-ea"/>
                      </a:rPr>
                      <a:t>基于细分存增一体的精细化运营</a:t>
                    </a:r>
                    <a:endParaRPr sz="1050" b="1" dirty="0">
                      <a:solidFill>
                        <a:schemeClr val="tx1"/>
                      </a:solidFill>
                      <a:latin typeface="微软雅黑" panose="020B0503020204020204" pitchFamily="34" charset="-122"/>
                      <a:ea typeface="微软雅黑" panose="020B0503020204020204" pitchFamily="34" charset="-122"/>
                      <a:sym typeface="+mn-ea"/>
                    </a:endParaRPr>
                  </a:p>
                </p:txBody>
              </p:sp>
              <p:sp>
                <p:nvSpPr>
                  <p:cNvPr id="58" name="矩形 77"/>
                  <p:cNvSpPr/>
                  <p:nvPr/>
                </p:nvSpPr>
                <p:spPr>
                  <a:xfrm>
                    <a:off x="1373" y="3883"/>
                    <a:ext cx="3562" cy="751"/>
                  </a:xfrm>
                  <a:prstGeom prst="rect">
                    <a:avLst/>
                  </a:prstGeom>
                </p:spPr>
                <p:txBody>
                  <a:bodyPr wrap="square">
                    <a:spAutoFit/>
                  </a:bodyPr>
                  <a:p>
                    <a:pPr algn="ctr" defTabSz="1188085" fontAlgn="ctr">
                      <a:defRPr/>
                    </a:pPr>
                    <a:r>
                      <a:rPr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以家庭、自然人为维度的运营</a:t>
                    </a:r>
                    <a:endParaRPr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9" name="矩形 82"/>
                  <p:cNvSpPr/>
                  <p:nvPr/>
                </p:nvSpPr>
                <p:spPr>
                  <a:xfrm>
                    <a:off x="1047" y="5258"/>
                    <a:ext cx="4210" cy="751"/>
                  </a:xfrm>
                  <a:prstGeom prst="rect">
                    <a:avLst/>
                  </a:prstGeom>
                </p:spPr>
                <p:txBody>
                  <a:bodyPr wrap="square">
                    <a:spAutoFit/>
                  </a:bodyPr>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满足客户的功能、情绪、体验价值</a:t>
                    </a:r>
                    <a:endPar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60" name="文本框 59"/>
                <p:cNvSpPr txBox="1"/>
                <p:nvPr/>
              </p:nvSpPr>
              <p:spPr>
                <a:xfrm>
                  <a:off x="3223" y="3282"/>
                  <a:ext cx="4160" cy="426"/>
                </a:xfrm>
                <a:prstGeom prst="rect">
                  <a:avLst/>
                </a:prstGeom>
                <a:noFill/>
              </p:spPr>
              <p:txBody>
                <a:bodyPr wrap="none" lIns="90000" rtlCol="0" anchor="ctr" anchorCtr="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客户运营转型</a:t>
                  </a:r>
                  <a:endParaRPr kumimoji="0" 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grpSp>
            <p:nvGrpSpPr>
              <p:cNvPr id="79" name="组合 78"/>
              <p:cNvGrpSpPr/>
              <p:nvPr/>
            </p:nvGrpSpPr>
            <p:grpSpPr>
              <a:xfrm rot="0">
                <a:off x="4982" y="3384"/>
                <a:ext cx="3934" cy="2413"/>
                <a:chOff x="1528" y="3282"/>
                <a:chExt cx="7729" cy="2530"/>
              </a:xfrm>
            </p:grpSpPr>
            <p:grpSp>
              <p:nvGrpSpPr>
                <p:cNvPr id="80" name="组合 79"/>
                <p:cNvGrpSpPr/>
                <p:nvPr/>
              </p:nvGrpSpPr>
              <p:grpSpPr>
                <a:xfrm>
                  <a:off x="1528" y="3530"/>
                  <a:ext cx="7635" cy="2279"/>
                  <a:chOff x="1407" y="3530"/>
                  <a:chExt cx="7635" cy="2279"/>
                </a:xfrm>
              </p:grpSpPr>
              <p:sp>
                <p:nvSpPr>
                  <p:cNvPr id="81" name="Rectangle: Rounded Corners 104"/>
                  <p:cNvSpPr/>
                  <p:nvPr/>
                </p:nvSpPr>
                <p:spPr>
                  <a:xfrm>
                    <a:off x="1409" y="3530"/>
                    <a:ext cx="7633" cy="2210"/>
                  </a:xfrm>
                  <a:prstGeom prst="roundRect">
                    <a:avLst>
                      <a:gd name="adj" fmla="val 0"/>
                    </a:avLst>
                  </a:prstGeom>
                  <a:solidFill>
                    <a:srgbClr val="DFF2FF"/>
                  </a:solidFill>
                  <a:ln w="3175" cap="flat" cmpd="sng" algn="ctr">
                    <a:noFill/>
                    <a:prstDash val="solid"/>
                    <a:miter lim="800000"/>
                  </a:ln>
                  <a:effectLst/>
                </p:spPr>
                <p:txBody>
                  <a:bodyPr rot="0" spcFirstLastPara="0" vertOverflow="overflow" horzOverflow="overflow" vert="horz" wrap="square" lIns="54195" tIns="27097" rIns="54195" bIns="27097" numCol="1" spcCol="0" rtlCol="0" fromWordArt="0" anchor="ctr" anchorCtr="0" forceAA="0" compatLnSpc="1">
                    <a:noAutofit/>
                  </a:bodyPr>
                  <a:p>
                    <a:pPr lvl="0" algn="ctr" defTabSz="541655">
                      <a:spcBef>
                        <a:spcPts val="0"/>
                      </a:spcBef>
                      <a:spcAft>
                        <a:spcPts val="0"/>
                      </a:spcAft>
                      <a:buClrTx/>
                      <a:buSzTx/>
                      <a:buFontTx/>
                      <a:defRPr/>
                    </a:pPr>
                    <a:endParaRPr lang="en-US" sz="1050" kern="0" noProof="0">
                      <a:ln>
                        <a:noFill/>
                      </a:ln>
                      <a:solidFill>
                        <a:srgbClr val="666666"/>
                      </a:solidFill>
                      <a:effectLst/>
                      <a:uLnTx/>
                      <a:uFillTx/>
                      <a:latin typeface="微软雅黑" panose="020B0503020204020204" pitchFamily="34" charset="-122"/>
                      <a:ea typeface="微软雅黑" panose="020B0503020204020204" pitchFamily="34" charset="-122"/>
                      <a:sym typeface="+mn-ea"/>
                    </a:endParaRPr>
                  </a:p>
                </p:txBody>
              </p:sp>
              <p:sp>
                <p:nvSpPr>
                  <p:cNvPr id="82" name="矩形 71"/>
                  <p:cNvSpPr/>
                  <p:nvPr/>
                </p:nvSpPr>
                <p:spPr>
                  <a:xfrm>
                    <a:off x="1407" y="4408"/>
                    <a:ext cx="3391" cy="751"/>
                  </a:xfrm>
                  <a:prstGeom prst="rect">
                    <a:avLst/>
                  </a:prstGeom>
                </p:spPr>
                <p:txBody>
                  <a:bodyPr wrap="square">
                    <a:spAutoFit/>
                  </a:bodyPr>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sym typeface="+mn-ea"/>
                      </a:rPr>
                      <a:t>分散的封装</a:t>
                    </a:r>
                    <a:endParaRPr lang="zh-CN" sz="1050" b="1" dirty="0">
                      <a:solidFill>
                        <a:schemeClr val="tx1"/>
                      </a:solidFill>
                      <a:latin typeface="微软雅黑" panose="020B0503020204020204" pitchFamily="34" charset="-122"/>
                      <a:ea typeface="微软雅黑" panose="020B0503020204020204" pitchFamily="34" charset="-122"/>
                      <a:sym typeface="+mn-ea"/>
                    </a:endParaRPr>
                  </a:p>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sym typeface="+mn-ea"/>
                      </a:rPr>
                      <a:t>能力</a:t>
                    </a:r>
                    <a:endParaRPr lang="zh-CN" sz="1050" b="1" dirty="0">
                      <a:solidFill>
                        <a:schemeClr val="tx1"/>
                      </a:solidFill>
                      <a:latin typeface="微软雅黑" panose="020B0503020204020204" pitchFamily="34" charset="-122"/>
                      <a:ea typeface="微软雅黑" panose="020B0503020204020204" pitchFamily="34" charset="-122"/>
                      <a:sym typeface="+mn-ea"/>
                    </a:endParaRPr>
                  </a:p>
                </p:txBody>
              </p:sp>
              <p:sp>
                <p:nvSpPr>
                  <p:cNvPr id="83" name="矩形 77"/>
                  <p:cNvSpPr/>
                  <p:nvPr/>
                </p:nvSpPr>
                <p:spPr>
                  <a:xfrm>
                    <a:off x="1673" y="3769"/>
                    <a:ext cx="2690" cy="458"/>
                  </a:xfrm>
                  <a:prstGeom prst="rect">
                    <a:avLst/>
                  </a:prstGeom>
                </p:spPr>
                <p:txBody>
                  <a:bodyPr wrap="square">
                    <a:spAutoFit/>
                  </a:bodyPr>
                  <a:p>
                    <a:pPr algn="ctr" defTabSz="1188085" fontAlgn="ctr">
                      <a:defRPr/>
                    </a:pPr>
                    <a:r>
                      <a:rPr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通信服务</a:t>
                    </a:r>
                    <a:endParaRPr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4" name="矩形 82"/>
                  <p:cNvSpPr/>
                  <p:nvPr/>
                </p:nvSpPr>
                <p:spPr>
                  <a:xfrm>
                    <a:off x="1407" y="5058"/>
                    <a:ext cx="3142" cy="751"/>
                  </a:xfrm>
                  <a:prstGeom prst="rect">
                    <a:avLst/>
                  </a:prstGeom>
                </p:spPr>
                <p:txBody>
                  <a:bodyPr wrap="square">
                    <a:spAutoFit/>
                  </a:bodyPr>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业务流程</a:t>
                    </a:r>
                    <a:endPar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不统一</a:t>
                    </a:r>
                    <a:endPar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85" name="组合 84"/>
                <p:cNvGrpSpPr/>
                <p:nvPr/>
              </p:nvGrpSpPr>
              <p:grpSpPr>
                <a:xfrm>
                  <a:off x="4918" y="3758"/>
                  <a:ext cx="426" cy="1713"/>
                  <a:chOff x="7612" y="3743"/>
                  <a:chExt cx="426" cy="1713"/>
                </a:xfrm>
              </p:grpSpPr>
              <p:sp>
                <p:nvSpPr>
                  <p:cNvPr id="86" name="右箭头 85"/>
                  <p:cNvSpPr/>
                  <p:nvPr/>
                </p:nvSpPr>
                <p:spPr>
                  <a:xfrm>
                    <a:off x="7612" y="3743"/>
                    <a:ext cx="426" cy="428"/>
                  </a:xfrm>
                  <a:prstGeom prst="rightArrow">
                    <a:avLst/>
                  </a:prstGeom>
                  <a:gradFill>
                    <a:gsLst>
                      <a:gs pos="0">
                        <a:schemeClr val="accent1">
                          <a:lumMod val="5000"/>
                          <a:lumOff val="95000"/>
                        </a:schemeClr>
                      </a:gs>
                      <a:gs pos="72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微软雅黑" panose="020B0503020204020204" pitchFamily="34" charset="-122"/>
                      <a:ea typeface="微软雅黑" panose="020B0503020204020204" pitchFamily="34" charset="-122"/>
                    </a:endParaRPr>
                  </a:p>
                </p:txBody>
              </p:sp>
              <p:sp>
                <p:nvSpPr>
                  <p:cNvPr id="87" name="右箭头 86"/>
                  <p:cNvSpPr/>
                  <p:nvPr/>
                </p:nvSpPr>
                <p:spPr>
                  <a:xfrm>
                    <a:off x="7612" y="4378"/>
                    <a:ext cx="426" cy="428"/>
                  </a:xfrm>
                  <a:prstGeom prst="rightArrow">
                    <a:avLst/>
                  </a:prstGeom>
                  <a:gradFill>
                    <a:gsLst>
                      <a:gs pos="0">
                        <a:schemeClr val="accent1">
                          <a:lumMod val="5000"/>
                          <a:lumOff val="95000"/>
                        </a:schemeClr>
                      </a:gs>
                      <a:gs pos="72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88" name="右箭头 87"/>
                  <p:cNvSpPr/>
                  <p:nvPr/>
                </p:nvSpPr>
                <p:spPr>
                  <a:xfrm>
                    <a:off x="7612" y="5028"/>
                    <a:ext cx="426" cy="428"/>
                  </a:xfrm>
                  <a:prstGeom prst="rightArrow">
                    <a:avLst/>
                  </a:prstGeom>
                  <a:gradFill>
                    <a:gsLst>
                      <a:gs pos="0">
                        <a:schemeClr val="accent1">
                          <a:lumMod val="5000"/>
                          <a:lumOff val="95000"/>
                        </a:schemeClr>
                      </a:gs>
                      <a:gs pos="72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grpSp>
              <p:nvGrpSpPr>
                <p:cNvPr id="89" name="组合 88"/>
                <p:cNvGrpSpPr/>
                <p:nvPr/>
              </p:nvGrpSpPr>
              <p:grpSpPr>
                <a:xfrm>
                  <a:off x="5047" y="3769"/>
                  <a:ext cx="4210" cy="2043"/>
                  <a:chOff x="1047" y="3966"/>
                  <a:chExt cx="4210" cy="2043"/>
                </a:xfrm>
              </p:grpSpPr>
              <p:sp>
                <p:nvSpPr>
                  <p:cNvPr id="90" name="矩形 71"/>
                  <p:cNvSpPr/>
                  <p:nvPr/>
                </p:nvSpPr>
                <p:spPr>
                  <a:xfrm>
                    <a:off x="1142" y="4575"/>
                    <a:ext cx="4022" cy="751"/>
                  </a:xfrm>
                  <a:prstGeom prst="rect">
                    <a:avLst/>
                  </a:prstGeom>
                </p:spPr>
                <p:txBody>
                  <a:bodyPr wrap="square">
                    <a:spAutoFit/>
                  </a:bodyPr>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sym typeface="+mn-ea"/>
                      </a:rPr>
                      <a:t>灵活便捷的</a:t>
                    </a:r>
                    <a:endParaRPr lang="zh-CN" sz="1050" b="1" dirty="0">
                      <a:solidFill>
                        <a:schemeClr val="tx1"/>
                      </a:solidFill>
                      <a:latin typeface="微软雅黑" panose="020B0503020204020204" pitchFamily="34" charset="-122"/>
                      <a:ea typeface="微软雅黑" panose="020B0503020204020204" pitchFamily="34" charset="-122"/>
                      <a:sym typeface="+mn-ea"/>
                    </a:endParaRPr>
                  </a:p>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sym typeface="+mn-ea"/>
                      </a:rPr>
                      <a:t>封装能力</a:t>
                    </a:r>
                    <a:endParaRPr lang="zh-CN" sz="1050" b="1" dirty="0">
                      <a:solidFill>
                        <a:schemeClr val="tx1"/>
                      </a:solidFill>
                      <a:latin typeface="微软雅黑" panose="020B0503020204020204" pitchFamily="34" charset="-122"/>
                      <a:ea typeface="微软雅黑" panose="020B0503020204020204" pitchFamily="34" charset="-122"/>
                      <a:sym typeface="+mn-ea"/>
                    </a:endParaRPr>
                  </a:p>
                </p:txBody>
              </p:sp>
              <p:sp>
                <p:nvSpPr>
                  <p:cNvPr id="91" name="矩形 77"/>
                  <p:cNvSpPr/>
                  <p:nvPr/>
                </p:nvSpPr>
                <p:spPr>
                  <a:xfrm>
                    <a:off x="1352" y="3966"/>
                    <a:ext cx="3562" cy="458"/>
                  </a:xfrm>
                  <a:prstGeom prst="rect">
                    <a:avLst/>
                  </a:prstGeom>
                </p:spPr>
                <p:txBody>
                  <a:bodyPr wrap="square">
                    <a:spAutoFit/>
                  </a:bodyPr>
                  <a:p>
                    <a:pPr algn="ctr" defTabSz="1188085" fontAlgn="ctr">
                      <a:defRPr/>
                    </a:pPr>
                    <a:r>
                      <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AI+信息服务</a:t>
                    </a:r>
                    <a:endPar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2" name="矩形 82"/>
                  <p:cNvSpPr/>
                  <p:nvPr/>
                </p:nvSpPr>
                <p:spPr>
                  <a:xfrm>
                    <a:off x="1047" y="5258"/>
                    <a:ext cx="4210" cy="751"/>
                  </a:xfrm>
                  <a:prstGeom prst="rect">
                    <a:avLst/>
                  </a:prstGeom>
                </p:spPr>
                <p:txBody>
                  <a:bodyPr wrap="square">
                    <a:spAutoFit/>
                  </a:bodyPr>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标准化</a:t>
                    </a:r>
                    <a:endPar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业务流程</a:t>
                    </a:r>
                    <a:endPar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93" name="文本框 92"/>
                <p:cNvSpPr txBox="1"/>
                <p:nvPr/>
              </p:nvSpPr>
              <p:spPr>
                <a:xfrm>
                  <a:off x="3223" y="3282"/>
                  <a:ext cx="4160" cy="426"/>
                </a:xfrm>
                <a:prstGeom prst="rect">
                  <a:avLst/>
                </a:prstGeom>
                <a:noFill/>
              </p:spPr>
              <p:txBody>
                <a:bodyPr wrap="none" lIns="90000" rtlCol="0" anchor="ctr" anchorCtr="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产品运营转型</a:t>
                  </a:r>
                  <a:endParaRPr kumimoji="0" 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grpSp>
            <p:nvGrpSpPr>
              <p:cNvPr id="94" name="组合 93"/>
              <p:cNvGrpSpPr/>
              <p:nvPr/>
            </p:nvGrpSpPr>
            <p:grpSpPr>
              <a:xfrm rot="0">
                <a:off x="9019" y="3379"/>
                <a:ext cx="3569" cy="2344"/>
                <a:chOff x="1528" y="3282"/>
                <a:chExt cx="7635" cy="2458"/>
              </a:xfrm>
            </p:grpSpPr>
            <p:grpSp>
              <p:nvGrpSpPr>
                <p:cNvPr id="95" name="组合 94"/>
                <p:cNvGrpSpPr/>
                <p:nvPr/>
              </p:nvGrpSpPr>
              <p:grpSpPr>
                <a:xfrm>
                  <a:off x="1528" y="3530"/>
                  <a:ext cx="7635" cy="2210"/>
                  <a:chOff x="1407" y="3530"/>
                  <a:chExt cx="7635" cy="2210"/>
                </a:xfrm>
              </p:grpSpPr>
              <p:sp>
                <p:nvSpPr>
                  <p:cNvPr id="96" name="Rectangle: Rounded Corners 104"/>
                  <p:cNvSpPr/>
                  <p:nvPr/>
                </p:nvSpPr>
                <p:spPr>
                  <a:xfrm>
                    <a:off x="1409" y="3530"/>
                    <a:ext cx="7633" cy="2210"/>
                  </a:xfrm>
                  <a:prstGeom prst="roundRect">
                    <a:avLst>
                      <a:gd name="adj" fmla="val 0"/>
                    </a:avLst>
                  </a:prstGeom>
                  <a:solidFill>
                    <a:srgbClr val="DFF2FF"/>
                  </a:solidFill>
                  <a:ln w="3175" cap="flat" cmpd="sng" algn="ctr">
                    <a:noFill/>
                    <a:prstDash val="solid"/>
                    <a:miter lim="800000"/>
                  </a:ln>
                  <a:effectLst/>
                </p:spPr>
                <p:txBody>
                  <a:bodyPr rot="0" spcFirstLastPara="0" vertOverflow="overflow" horzOverflow="overflow" vert="horz" wrap="square" lIns="54195" tIns="27097" rIns="54195" bIns="27097" numCol="1" spcCol="0" rtlCol="0" fromWordArt="0" anchor="ctr" anchorCtr="0" forceAA="0" compatLnSpc="1">
                    <a:noAutofit/>
                  </a:bodyPr>
                  <a:p>
                    <a:pPr lvl="0" algn="ctr" defTabSz="541655">
                      <a:spcBef>
                        <a:spcPts val="0"/>
                      </a:spcBef>
                      <a:spcAft>
                        <a:spcPts val="0"/>
                      </a:spcAft>
                      <a:buClrTx/>
                      <a:buSzTx/>
                      <a:buFontTx/>
                      <a:defRPr/>
                    </a:pPr>
                    <a:endParaRPr lang="en-US" sz="1050" kern="0" noProof="0">
                      <a:ln>
                        <a:noFill/>
                      </a:ln>
                      <a:solidFill>
                        <a:srgbClr val="666666"/>
                      </a:solidFill>
                      <a:effectLst/>
                      <a:uLnTx/>
                      <a:uFillTx/>
                      <a:latin typeface="微软雅黑" panose="020B0503020204020204" pitchFamily="34" charset="-122"/>
                      <a:ea typeface="微软雅黑" panose="020B0503020204020204" pitchFamily="34" charset="-122"/>
                      <a:sym typeface="+mn-ea"/>
                    </a:endParaRPr>
                  </a:p>
                </p:txBody>
              </p:sp>
              <p:sp>
                <p:nvSpPr>
                  <p:cNvPr id="97" name="矩形 71"/>
                  <p:cNvSpPr/>
                  <p:nvPr/>
                </p:nvSpPr>
                <p:spPr>
                  <a:xfrm>
                    <a:off x="1407" y="4694"/>
                    <a:ext cx="3391" cy="458"/>
                  </a:xfrm>
                  <a:prstGeom prst="rect">
                    <a:avLst/>
                  </a:prstGeom>
                </p:spPr>
                <p:txBody>
                  <a:bodyPr wrap="square">
                    <a:spAutoFit/>
                  </a:bodyPr>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sym typeface="+mn-ea"/>
                      </a:rPr>
                      <a:t>分散营销调度</a:t>
                    </a:r>
                    <a:endParaRPr lang="zh-CN" sz="1050" b="1" dirty="0">
                      <a:solidFill>
                        <a:schemeClr val="tx1"/>
                      </a:solidFill>
                      <a:latin typeface="微软雅黑" panose="020B0503020204020204" pitchFamily="34" charset="-122"/>
                      <a:ea typeface="微软雅黑" panose="020B0503020204020204" pitchFamily="34" charset="-122"/>
                      <a:sym typeface="+mn-ea"/>
                    </a:endParaRPr>
                  </a:p>
                </p:txBody>
              </p:sp>
              <p:sp>
                <p:nvSpPr>
                  <p:cNvPr id="98" name="矩形 77"/>
                  <p:cNvSpPr/>
                  <p:nvPr/>
                </p:nvSpPr>
                <p:spPr>
                  <a:xfrm>
                    <a:off x="1407" y="3769"/>
                    <a:ext cx="3140" cy="751"/>
                  </a:xfrm>
                  <a:prstGeom prst="rect">
                    <a:avLst/>
                  </a:prstGeom>
                </p:spPr>
                <p:txBody>
                  <a:bodyPr wrap="square">
                    <a:spAutoFit/>
                  </a:bodyPr>
                  <a:p>
                    <a:pPr algn="ctr" defTabSz="1188085" fontAlgn="ctr">
                      <a:defRPr/>
                    </a:pPr>
                    <a:r>
                      <a:rPr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单一</a:t>
                    </a:r>
                    <a:r>
                      <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触点运营</a:t>
                    </a:r>
                    <a:endPar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100" name="组合 99"/>
                <p:cNvGrpSpPr/>
                <p:nvPr/>
              </p:nvGrpSpPr>
              <p:grpSpPr>
                <a:xfrm>
                  <a:off x="4881" y="3758"/>
                  <a:ext cx="463" cy="1357"/>
                  <a:chOff x="7575" y="3743"/>
                  <a:chExt cx="463" cy="1357"/>
                </a:xfrm>
              </p:grpSpPr>
              <p:sp>
                <p:nvSpPr>
                  <p:cNvPr id="101" name="右箭头 100"/>
                  <p:cNvSpPr/>
                  <p:nvPr/>
                </p:nvSpPr>
                <p:spPr>
                  <a:xfrm>
                    <a:off x="7612" y="3743"/>
                    <a:ext cx="426" cy="428"/>
                  </a:xfrm>
                  <a:prstGeom prst="rightArrow">
                    <a:avLst/>
                  </a:prstGeom>
                  <a:gradFill>
                    <a:gsLst>
                      <a:gs pos="0">
                        <a:schemeClr val="accent1">
                          <a:lumMod val="5000"/>
                          <a:lumOff val="95000"/>
                        </a:schemeClr>
                      </a:gs>
                      <a:gs pos="72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微软雅黑" panose="020B0503020204020204" pitchFamily="34" charset="-122"/>
                      <a:ea typeface="微软雅黑" panose="020B0503020204020204" pitchFamily="34" charset="-122"/>
                    </a:endParaRPr>
                  </a:p>
                </p:txBody>
              </p:sp>
              <p:sp>
                <p:nvSpPr>
                  <p:cNvPr id="102" name="右箭头 101"/>
                  <p:cNvSpPr/>
                  <p:nvPr/>
                </p:nvSpPr>
                <p:spPr>
                  <a:xfrm>
                    <a:off x="7575" y="4672"/>
                    <a:ext cx="426" cy="428"/>
                  </a:xfrm>
                  <a:prstGeom prst="rightArrow">
                    <a:avLst/>
                  </a:prstGeom>
                  <a:gradFill>
                    <a:gsLst>
                      <a:gs pos="0">
                        <a:schemeClr val="accent1">
                          <a:lumMod val="5000"/>
                          <a:lumOff val="95000"/>
                        </a:schemeClr>
                      </a:gs>
                      <a:gs pos="72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grpSp>
              <p:nvGrpSpPr>
                <p:cNvPr id="104" name="组合 103"/>
                <p:cNvGrpSpPr/>
                <p:nvPr/>
              </p:nvGrpSpPr>
              <p:grpSpPr>
                <a:xfrm>
                  <a:off x="5103" y="3769"/>
                  <a:ext cx="4022" cy="1361"/>
                  <a:chOff x="1103" y="3966"/>
                  <a:chExt cx="4022" cy="1361"/>
                </a:xfrm>
              </p:grpSpPr>
              <p:sp>
                <p:nvSpPr>
                  <p:cNvPr id="105" name="矩形 71"/>
                  <p:cNvSpPr/>
                  <p:nvPr/>
                </p:nvSpPr>
                <p:spPr>
                  <a:xfrm>
                    <a:off x="1103" y="4869"/>
                    <a:ext cx="4022" cy="458"/>
                  </a:xfrm>
                  <a:prstGeom prst="rect">
                    <a:avLst/>
                  </a:prstGeom>
                </p:spPr>
                <p:txBody>
                  <a:bodyPr wrap="square">
                    <a:spAutoFit/>
                  </a:bodyPr>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sym typeface="+mn-ea"/>
                      </a:rPr>
                      <a:t>统一调度管理</a:t>
                    </a:r>
                    <a:endParaRPr lang="zh-CN" sz="1050" b="1" dirty="0">
                      <a:solidFill>
                        <a:schemeClr val="tx1"/>
                      </a:solidFill>
                      <a:latin typeface="微软雅黑" panose="020B0503020204020204" pitchFamily="34" charset="-122"/>
                      <a:ea typeface="微软雅黑" panose="020B0503020204020204" pitchFamily="34" charset="-122"/>
                      <a:sym typeface="+mn-ea"/>
                    </a:endParaRPr>
                  </a:p>
                </p:txBody>
              </p:sp>
              <p:sp>
                <p:nvSpPr>
                  <p:cNvPr id="106" name="矩形 77"/>
                  <p:cNvSpPr/>
                  <p:nvPr/>
                </p:nvSpPr>
                <p:spPr>
                  <a:xfrm>
                    <a:off x="1352" y="3966"/>
                    <a:ext cx="3562" cy="751"/>
                  </a:xfrm>
                  <a:prstGeom prst="rect">
                    <a:avLst/>
                  </a:prstGeom>
                </p:spPr>
                <p:txBody>
                  <a:bodyPr wrap="square">
                    <a:spAutoFit/>
                  </a:bodyPr>
                  <a:p>
                    <a:pPr algn="ctr" defTabSz="1188085" fontAlgn="ctr">
                      <a:defRPr/>
                    </a:pPr>
                    <a:r>
                      <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生态化、场景化、精准化</a:t>
                    </a:r>
                    <a:endPar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108" name="文本框 107"/>
                <p:cNvSpPr txBox="1"/>
                <p:nvPr/>
              </p:nvSpPr>
              <p:spPr>
                <a:xfrm>
                  <a:off x="3223" y="3282"/>
                  <a:ext cx="4160" cy="426"/>
                </a:xfrm>
                <a:prstGeom prst="rect">
                  <a:avLst/>
                </a:prstGeom>
                <a:noFill/>
              </p:spPr>
              <p:txBody>
                <a:bodyPr wrap="none" lIns="90000" rtlCol="0" anchor="ctr" anchorCtr="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渠道运营转型</a:t>
                  </a:r>
                  <a:endParaRPr kumimoji="0" 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grpSp>
            <p:nvGrpSpPr>
              <p:cNvPr id="109" name="组合 108"/>
              <p:cNvGrpSpPr/>
              <p:nvPr/>
            </p:nvGrpSpPr>
            <p:grpSpPr>
              <a:xfrm rot="0">
                <a:off x="12797" y="3355"/>
                <a:ext cx="3635" cy="2344"/>
                <a:chOff x="1528" y="3282"/>
                <a:chExt cx="7948" cy="2458"/>
              </a:xfrm>
            </p:grpSpPr>
            <p:grpSp>
              <p:nvGrpSpPr>
                <p:cNvPr id="110" name="组合 109"/>
                <p:cNvGrpSpPr/>
                <p:nvPr/>
              </p:nvGrpSpPr>
              <p:grpSpPr>
                <a:xfrm>
                  <a:off x="1528" y="3530"/>
                  <a:ext cx="7635" cy="2210"/>
                  <a:chOff x="1407" y="3530"/>
                  <a:chExt cx="7635" cy="2210"/>
                </a:xfrm>
              </p:grpSpPr>
              <p:sp>
                <p:nvSpPr>
                  <p:cNvPr id="111" name="Rectangle: Rounded Corners 104"/>
                  <p:cNvSpPr/>
                  <p:nvPr/>
                </p:nvSpPr>
                <p:spPr>
                  <a:xfrm>
                    <a:off x="1409" y="3530"/>
                    <a:ext cx="7633" cy="2210"/>
                  </a:xfrm>
                  <a:prstGeom prst="roundRect">
                    <a:avLst>
                      <a:gd name="adj" fmla="val 0"/>
                    </a:avLst>
                  </a:prstGeom>
                  <a:solidFill>
                    <a:srgbClr val="DFF2FF"/>
                  </a:solidFill>
                  <a:ln w="3175" cap="flat" cmpd="sng" algn="ctr">
                    <a:noFill/>
                    <a:prstDash val="solid"/>
                    <a:miter lim="800000"/>
                  </a:ln>
                  <a:effectLst/>
                </p:spPr>
                <p:txBody>
                  <a:bodyPr rot="0" spcFirstLastPara="0" vertOverflow="overflow" horzOverflow="overflow" vert="horz" wrap="square" lIns="54195" tIns="27097" rIns="54195" bIns="27097" numCol="1" spcCol="0" rtlCol="0" fromWordArt="0" anchor="ctr" anchorCtr="0" forceAA="0" compatLnSpc="1">
                    <a:noAutofit/>
                  </a:bodyPr>
                  <a:p>
                    <a:pPr lvl="0" algn="ctr" defTabSz="541655">
                      <a:spcBef>
                        <a:spcPts val="0"/>
                      </a:spcBef>
                      <a:spcAft>
                        <a:spcPts val="0"/>
                      </a:spcAft>
                      <a:buClrTx/>
                      <a:buSzTx/>
                      <a:buFontTx/>
                      <a:defRPr/>
                    </a:pPr>
                    <a:endParaRPr lang="en-US" sz="1050" kern="0" noProof="0">
                      <a:ln>
                        <a:noFill/>
                      </a:ln>
                      <a:solidFill>
                        <a:srgbClr val="666666"/>
                      </a:solidFill>
                      <a:effectLst/>
                      <a:uLnTx/>
                      <a:uFillTx/>
                      <a:latin typeface="微软雅黑" panose="020B0503020204020204" pitchFamily="34" charset="-122"/>
                      <a:ea typeface="微软雅黑" panose="020B0503020204020204" pitchFamily="34" charset="-122"/>
                      <a:sym typeface="+mn-ea"/>
                    </a:endParaRPr>
                  </a:p>
                </p:txBody>
              </p:sp>
              <p:sp>
                <p:nvSpPr>
                  <p:cNvPr id="112" name="矩形 71"/>
                  <p:cNvSpPr/>
                  <p:nvPr/>
                </p:nvSpPr>
                <p:spPr>
                  <a:xfrm>
                    <a:off x="1407" y="4598"/>
                    <a:ext cx="3391" cy="751"/>
                  </a:xfrm>
                  <a:prstGeom prst="rect">
                    <a:avLst/>
                  </a:prstGeom>
                </p:spPr>
                <p:txBody>
                  <a:bodyPr wrap="square">
                    <a:spAutoFit/>
                  </a:bodyPr>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sym typeface="+mn-ea"/>
                      </a:rPr>
                      <a:t>指标调度</a:t>
                    </a:r>
                    <a:endParaRPr lang="zh-CN" sz="1050" b="1" dirty="0">
                      <a:solidFill>
                        <a:schemeClr val="tx1"/>
                      </a:solidFill>
                      <a:latin typeface="微软雅黑" panose="020B0503020204020204" pitchFamily="34" charset="-122"/>
                      <a:ea typeface="微软雅黑" panose="020B0503020204020204" pitchFamily="34" charset="-122"/>
                      <a:sym typeface="+mn-ea"/>
                    </a:endParaRPr>
                  </a:p>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sym typeface="+mn-ea"/>
                      </a:rPr>
                      <a:t>为主</a:t>
                    </a:r>
                    <a:endParaRPr lang="zh-CN" sz="1050" b="1" dirty="0">
                      <a:solidFill>
                        <a:schemeClr val="tx1"/>
                      </a:solidFill>
                      <a:latin typeface="微软雅黑" panose="020B0503020204020204" pitchFamily="34" charset="-122"/>
                      <a:ea typeface="微软雅黑" panose="020B0503020204020204" pitchFamily="34" charset="-122"/>
                      <a:sym typeface="+mn-ea"/>
                    </a:endParaRPr>
                  </a:p>
                </p:txBody>
              </p:sp>
              <p:sp>
                <p:nvSpPr>
                  <p:cNvPr id="113" name="矩形 77"/>
                  <p:cNvSpPr/>
                  <p:nvPr/>
                </p:nvSpPr>
                <p:spPr>
                  <a:xfrm>
                    <a:off x="1673" y="3769"/>
                    <a:ext cx="2690" cy="751"/>
                  </a:xfrm>
                  <a:prstGeom prst="rect">
                    <a:avLst/>
                  </a:prstGeom>
                </p:spPr>
                <p:txBody>
                  <a:bodyPr wrap="square">
                    <a:spAutoFit/>
                  </a:bodyPr>
                  <a:p>
                    <a:pPr algn="ctr" defTabSz="1188085" fontAlgn="ctr">
                      <a:defRPr/>
                    </a:pPr>
                    <a:r>
                      <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业务预警依赖人工</a:t>
                    </a:r>
                    <a:endPar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115" name="组合 114"/>
                <p:cNvGrpSpPr/>
                <p:nvPr/>
              </p:nvGrpSpPr>
              <p:grpSpPr>
                <a:xfrm>
                  <a:off x="4918" y="3758"/>
                  <a:ext cx="426" cy="1267"/>
                  <a:chOff x="7612" y="3743"/>
                  <a:chExt cx="426" cy="1267"/>
                </a:xfrm>
              </p:grpSpPr>
              <p:sp>
                <p:nvSpPr>
                  <p:cNvPr id="116" name="右箭头 115"/>
                  <p:cNvSpPr/>
                  <p:nvPr/>
                </p:nvSpPr>
                <p:spPr>
                  <a:xfrm>
                    <a:off x="7612" y="3743"/>
                    <a:ext cx="426" cy="428"/>
                  </a:xfrm>
                  <a:prstGeom prst="rightArrow">
                    <a:avLst/>
                  </a:prstGeom>
                  <a:gradFill>
                    <a:gsLst>
                      <a:gs pos="0">
                        <a:schemeClr val="accent1">
                          <a:lumMod val="5000"/>
                          <a:lumOff val="95000"/>
                        </a:schemeClr>
                      </a:gs>
                      <a:gs pos="72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微软雅黑" panose="020B0503020204020204" pitchFamily="34" charset="-122"/>
                      <a:ea typeface="微软雅黑" panose="020B0503020204020204" pitchFamily="34" charset="-122"/>
                    </a:endParaRPr>
                  </a:p>
                </p:txBody>
              </p:sp>
              <p:sp>
                <p:nvSpPr>
                  <p:cNvPr id="117" name="右箭头 116"/>
                  <p:cNvSpPr/>
                  <p:nvPr/>
                </p:nvSpPr>
                <p:spPr>
                  <a:xfrm>
                    <a:off x="7612" y="4582"/>
                    <a:ext cx="426" cy="428"/>
                  </a:xfrm>
                  <a:prstGeom prst="rightArrow">
                    <a:avLst/>
                  </a:prstGeom>
                  <a:gradFill>
                    <a:gsLst>
                      <a:gs pos="0">
                        <a:schemeClr val="accent1">
                          <a:lumMod val="5000"/>
                          <a:lumOff val="95000"/>
                        </a:schemeClr>
                      </a:gs>
                      <a:gs pos="72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grpSp>
            <p:grpSp>
              <p:nvGrpSpPr>
                <p:cNvPr id="119" name="组合 118"/>
                <p:cNvGrpSpPr/>
                <p:nvPr/>
              </p:nvGrpSpPr>
              <p:grpSpPr>
                <a:xfrm>
                  <a:off x="5352" y="3769"/>
                  <a:ext cx="4124" cy="1560"/>
                  <a:chOff x="1352" y="3966"/>
                  <a:chExt cx="4124" cy="1560"/>
                </a:xfrm>
              </p:grpSpPr>
              <p:sp>
                <p:nvSpPr>
                  <p:cNvPr id="123" name="矩形 71"/>
                  <p:cNvSpPr/>
                  <p:nvPr/>
                </p:nvSpPr>
                <p:spPr>
                  <a:xfrm>
                    <a:off x="1357" y="4775"/>
                    <a:ext cx="4119" cy="751"/>
                  </a:xfrm>
                  <a:prstGeom prst="rect">
                    <a:avLst/>
                  </a:prstGeom>
                </p:spPr>
                <p:txBody>
                  <a:bodyPr wrap="square">
                    <a:spAutoFit/>
                  </a:bodyPr>
                  <a:p>
                    <a:pPr lvl="0" algn="ctr" defTabSz="1188085" fontAlgn="ctr">
                      <a:buClrTx/>
                      <a:buSzTx/>
                      <a:buFontTx/>
                      <a:defRPr/>
                    </a:pPr>
                    <a:r>
                      <a:rPr lang="zh-CN" sz="1050" b="1" dirty="0">
                        <a:solidFill>
                          <a:schemeClr val="tx1"/>
                        </a:solidFill>
                        <a:latin typeface="微软雅黑" panose="020B0503020204020204" pitchFamily="34" charset="-122"/>
                        <a:ea typeface="微软雅黑" panose="020B0503020204020204" pitchFamily="34" charset="-122"/>
                        <a:sym typeface="+mn-ea"/>
                      </a:rPr>
                      <a:t>拉通指标、营销、生产多维调度</a:t>
                    </a:r>
                    <a:endParaRPr lang="zh-CN" sz="1050" b="1" dirty="0">
                      <a:solidFill>
                        <a:schemeClr val="tx1"/>
                      </a:solidFill>
                      <a:latin typeface="微软雅黑" panose="020B0503020204020204" pitchFamily="34" charset="-122"/>
                      <a:ea typeface="微软雅黑" panose="020B0503020204020204" pitchFamily="34" charset="-122"/>
                      <a:sym typeface="+mn-ea"/>
                    </a:endParaRPr>
                  </a:p>
                </p:txBody>
              </p:sp>
              <p:sp>
                <p:nvSpPr>
                  <p:cNvPr id="124" name="矩形 77"/>
                  <p:cNvSpPr/>
                  <p:nvPr/>
                </p:nvSpPr>
                <p:spPr>
                  <a:xfrm>
                    <a:off x="1352" y="3966"/>
                    <a:ext cx="3562" cy="454"/>
                  </a:xfrm>
                  <a:prstGeom prst="rect">
                    <a:avLst/>
                  </a:prstGeom>
                </p:spPr>
                <p:txBody>
                  <a:bodyPr wrap="square">
                    <a:spAutoFit/>
                  </a:bodyPr>
                  <a:p>
                    <a:pPr algn="ctr" defTabSz="1188085" fontAlgn="ctr">
                      <a:defRPr/>
                    </a:pPr>
                    <a:r>
                      <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自动化预警</a:t>
                    </a:r>
                    <a:endParaRPr lang="zh-CN" sz="105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126" name="文本框 125"/>
                <p:cNvSpPr txBox="1"/>
                <p:nvPr/>
              </p:nvSpPr>
              <p:spPr>
                <a:xfrm>
                  <a:off x="3223" y="3282"/>
                  <a:ext cx="4160" cy="426"/>
                </a:xfrm>
                <a:prstGeom prst="rect">
                  <a:avLst/>
                </a:prstGeom>
                <a:noFill/>
              </p:spPr>
              <p:txBody>
                <a:bodyPr wrap="none" lIns="90000" rtlCol="0" anchor="ctr" anchorCtr="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指挥调度转型</a:t>
                  </a:r>
                  <a:endParaRPr kumimoji="0" 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sp>
            <p:nvSpPr>
              <p:cNvPr id="127" name="Rectangle 2"/>
              <p:cNvSpPr/>
              <p:nvPr/>
            </p:nvSpPr>
            <p:spPr>
              <a:xfrm>
                <a:off x="2229" y="5968"/>
                <a:ext cx="13086" cy="409"/>
              </a:xfrm>
              <a:prstGeom prst="rect">
                <a:avLst/>
              </a:prstGeom>
              <a:solidFill>
                <a:schemeClr val="accent1">
                  <a:lumMod val="60000"/>
                  <a:lumOff val="40000"/>
                </a:schemeClr>
              </a:solidFill>
              <a:ln w="38100" cap="flat" cmpd="sng" algn="ctr">
                <a:solidFill>
                  <a:schemeClr val="accent1">
                    <a:lumMod val="60000"/>
                    <a:lumOff val="40000"/>
                  </a:schemeClr>
                </a:solidFill>
                <a:prstDash val="solid"/>
                <a:miter lim="800000"/>
              </a:ln>
              <a:effectLst/>
            </p:spPr>
            <p:txBody>
              <a:bodyPr wrap="square" lIns="82296" tIns="41148" rIns="82296" bIns="4114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400" b="1"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系统支撑转型</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grpSp>
            <p:nvGrpSpPr>
              <p:cNvPr id="147" name="组合 146"/>
              <p:cNvGrpSpPr/>
              <p:nvPr/>
            </p:nvGrpSpPr>
            <p:grpSpPr>
              <a:xfrm rot="0">
                <a:off x="1002" y="6458"/>
                <a:ext cx="4355" cy="1460"/>
                <a:chOff x="1002" y="6912"/>
                <a:chExt cx="4355" cy="1531"/>
              </a:xfrm>
            </p:grpSpPr>
            <p:sp>
              <p:nvSpPr>
                <p:cNvPr id="193" name="矩形 192"/>
                <p:cNvSpPr/>
                <p:nvPr/>
              </p:nvSpPr>
              <p:spPr>
                <a:xfrm>
                  <a:off x="1002" y="6912"/>
                  <a:ext cx="4355" cy="1455"/>
                </a:xfrm>
                <a:prstGeom prst="rect">
                  <a:avLst/>
                </a:prstGeom>
                <a:solidFill>
                  <a:srgbClr val="DFF2FF"/>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137" name="组合 136"/>
                <p:cNvGrpSpPr/>
                <p:nvPr/>
              </p:nvGrpSpPr>
              <p:grpSpPr>
                <a:xfrm>
                  <a:off x="1096" y="7141"/>
                  <a:ext cx="4186" cy="1302"/>
                  <a:chOff x="2518" y="3753"/>
                  <a:chExt cx="4186" cy="1302"/>
                </a:xfrm>
              </p:grpSpPr>
              <p:grpSp>
                <p:nvGrpSpPr>
                  <p:cNvPr id="138" name="组合 137"/>
                  <p:cNvGrpSpPr/>
                  <p:nvPr/>
                </p:nvGrpSpPr>
                <p:grpSpPr>
                  <a:xfrm rot="0">
                    <a:off x="2518" y="3753"/>
                    <a:ext cx="4186" cy="1302"/>
                    <a:chOff x="4214527" y="2423177"/>
                    <a:chExt cx="2262219" cy="763515"/>
                  </a:xfrm>
                </p:grpSpPr>
                <p:grpSp>
                  <p:nvGrpSpPr>
                    <p:cNvPr id="139" name="组合 138"/>
                    <p:cNvGrpSpPr/>
                    <p:nvPr/>
                  </p:nvGrpSpPr>
                  <p:grpSpPr>
                    <a:xfrm>
                      <a:off x="4214527" y="2423177"/>
                      <a:ext cx="1133368" cy="758545"/>
                      <a:chOff x="4214527" y="2423177"/>
                      <a:chExt cx="1133368" cy="758545"/>
                    </a:xfrm>
                  </p:grpSpPr>
                  <p:sp>
                    <p:nvSpPr>
                      <p:cNvPr id="140" name="圆角矩形 151"/>
                      <p:cNvSpPr/>
                      <p:nvPr/>
                    </p:nvSpPr>
                    <p:spPr>
                      <a:xfrm>
                        <a:off x="4259884" y="2423177"/>
                        <a:ext cx="936000" cy="360000"/>
                      </a:xfrm>
                      <a:prstGeom prst="roundRect">
                        <a:avLst/>
                      </a:prstGeom>
                      <a:gradFill>
                        <a:gsLst>
                          <a:gs pos="56000">
                            <a:srgbClr val="F2F6FE"/>
                          </a:gs>
                          <a:gs pos="0">
                            <a:srgbClr val="F5FBFD"/>
                          </a:gs>
                          <a:gs pos="100000">
                            <a:schemeClr val="bg2"/>
                          </a:gs>
                        </a:gsLst>
                        <a:lin ang="5400000" scaled="1"/>
                      </a:gradFill>
                      <a:ln w="6350" cmpd="sng">
                        <a:noFill/>
                        <a:prstDash val="sysDot"/>
                      </a:ln>
                      <a:effectLst>
                        <a:outerShdw blurRad="25400" sx="101000" sy="101000" algn="ctr"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烟囱式构建</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41" name="文本框 140"/>
                      <p:cNvSpPr txBox="1"/>
                      <p:nvPr/>
                    </p:nvSpPr>
                    <p:spPr>
                      <a:xfrm>
                        <a:off x="4214527" y="2839353"/>
                        <a:ext cx="1133368" cy="342369"/>
                      </a:xfrm>
                      <a:prstGeom prst="rect">
                        <a:avLst/>
                      </a:prstGeom>
                      <a:noFill/>
                    </p:spPr>
                    <p:txBody>
                      <a:bodyPr wrap="square" rtlCol="0">
                        <a:spAutoFit/>
                      </a:bodyPr>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平台分散、重复建设</a:t>
                        </a:r>
                        <a:endParaRPr kumimoji="0" lang="zh-CN" altLang="en-US" sz="1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42" name="组合 141"/>
                    <p:cNvGrpSpPr/>
                    <p:nvPr/>
                  </p:nvGrpSpPr>
                  <p:grpSpPr>
                    <a:xfrm>
                      <a:off x="5348242" y="2428147"/>
                      <a:ext cx="1128504" cy="758545"/>
                      <a:chOff x="5348242" y="2428147"/>
                      <a:chExt cx="1128504" cy="758545"/>
                    </a:xfrm>
                  </p:grpSpPr>
                  <p:sp>
                    <p:nvSpPr>
                      <p:cNvPr id="143" name="圆角矩形 159"/>
                      <p:cNvSpPr/>
                      <p:nvPr/>
                    </p:nvSpPr>
                    <p:spPr>
                      <a:xfrm>
                        <a:off x="5471469" y="2428147"/>
                        <a:ext cx="936000" cy="360000"/>
                      </a:xfrm>
                      <a:prstGeom prst="roundRect">
                        <a:avLst/>
                      </a:prstGeom>
                      <a:gradFill>
                        <a:gsLst>
                          <a:gs pos="56000">
                            <a:srgbClr val="F2F6FE"/>
                          </a:gs>
                          <a:gs pos="0">
                            <a:srgbClr val="F5FBFD"/>
                          </a:gs>
                          <a:gs pos="100000">
                            <a:schemeClr val="bg2"/>
                          </a:gs>
                        </a:gsLst>
                        <a:lin ang="5400000" scaled="1"/>
                      </a:gradFill>
                      <a:ln w="6350" cmpd="sng">
                        <a:noFill/>
                        <a:prstDash val="sysDot"/>
                      </a:ln>
                      <a:effectLst>
                        <a:outerShdw blurRad="25400" sx="101000" sy="101000" algn="ctr"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中央厨房式</a:t>
                        </a:r>
                        <a:endParaRPr kumimoji="0" 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44" name="文本框 143"/>
                      <p:cNvSpPr txBox="1"/>
                      <p:nvPr/>
                    </p:nvSpPr>
                    <p:spPr>
                      <a:xfrm>
                        <a:off x="5348242" y="2844323"/>
                        <a:ext cx="1128504" cy="342369"/>
                      </a:xfrm>
                      <a:prstGeom prst="rect">
                        <a:avLst/>
                      </a:prstGeom>
                      <a:noFill/>
                    </p:spPr>
                    <p:txBody>
                      <a:bodyPr wrap="square" rtlCol="0">
                        <a:spAutoFit/>
                      </a:bodyPr>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收敛平台、集约化</a:t>
                        </a:r>
                        <a:endParaRPr kumimoji="0" lang="zh-CN" altLang="en-US" sz="1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sp>
                <p:nvSpPr>
                  <p:cNvPr id="145" name="箭头: 右 26"/>
                  <p:cNvSpPr/>
                  <p:nvPr/>
                </p:nvSpPr>
                <p:spPr>
                  <a:xfrm>
                    <a:off x="4334" y="3815"/>
                    <a:ext cx="637" cy="377"/>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148" name="组合 147"/>
              <p:cNvGrpSpPr/>
              <p:nvPr/>
            </p:nvGrpSpPr>
            <p:grpSpPr>
              <a:xfrm rot="0">
                <a:off x="6066" y="6497"/>
                <a:ext cx="4355" cy="1460"/>
                <a:chOff x="1002" y="6912"/>
                <a:chExt cx="4355" cy="1531"/>
              </a:xfrm>
            </p:grpSpPr>
            <p:sp>
              <p:nvSpPr>
                <p:cNvPr id="149" name="矩形 148"/>
                <p:cNvSpPr/>
                <p:nvPr/>
              </p:nvSpPr>
              <p:spPr>
                <a:xfrm>
                  <a:off x="1002" y="6912"/>
                  <a:ext cx="4355" cy="1455"/>
                </a:xfrm>
                <a:prstGeom prst="rect">
                  <a:avLst/>
                </a:prstGeom>
                <a:solidFill>
                  <a:srgbClr val="DFF2FF"/>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150" name="组合 149"/>
                <p:cNvGrpSpPr/>
                <p:nvPr/>
              </p:nvGrpSpPr>
              <p:grpSpPr>
                <a:xfrm>
                  <a:off x="1096" y="7141"/>
                  <a:ext cx="4186" cy="1302"/>
                  <a:chOff x="2518" y="3753"/>
                  <a:chExt cx="4186" cy="1302"/>
                </a:xfrm>
              </p:grpSpPr>
              <p:grpSp>
                <p:nvGrpSpPr>
                  <p:cNvPr id="151" name="组合 150"/>
                  <p:cNvGrpSpPr/>
                  <p:nvPr/>
                </p:nvGrpSpPr>
                <p:grpSpPr>
                  <a:xfrm rot="0">
                    <a:off x="2518" y="3753"/>
                    <a:ext cx="4186" cy="1302"/>
                    <a:chOff x="4214527" y="2423177"/>
                    <a:chExt cx="2262219" cy="763544"/>
                  </a:xfrm>
                </p:grpSpPr>
                <p:grpSp>
                  <p:nvGrpSpPr>
                    <p:cNvPr id="152" name="组合 151"/>
                    <p:cNvGrpSpPr/>
                    <p:nvPr/>
                  </p:nvGrpSpPr>
                  <p:grpSpPr>
                    <a:xfrm>
                      <a:off x="4214527" y="2423177"/>
                      <a:ext cx="1133368" cy="758574"/>
                      <a:chOff x="4214527" y="2423177"/>
                      <a:chExt cx="1133368" cy="758574"/>
                    </a:xfrm>
                  </p:grpSpPr>
                  <p:sp>
                    <p:nvSpPr>
                      <p:cNvPr id="153" name="圆角矩形 151"/>
                      <p:cNvSpPr/>
                      <p:nvPr/>
                    </p:nvSpPr>
                    <p:spPr>
                      <a:xfrm>
                        <a:off x="4259884" y="2423177"/>
                        <a:ext cx="936000" cy="360000"/>
                      </a:xfrm>
                      <a:prstGeom prst="roundRect">
                        <a:avLst/>
                      </a:prstGeom>
                      <a:gradFill>
                        <a:gsLst>
                          <a:gs pos="56000">
                            <a:srgbClr val="F2F6FE"/>
                          </a:gs>
                          <a:gs pos="0">
                            <a:srgbClr val="F5FBFD"/>
                          </a:gs>
                          <a:gs pos="100000">
                            <a:schemeClr val="bg2"/>
                          </a:gs>
                        </a:gsLst>
                        <a:lin ang="5400000" scaled="1"/>
                      </a:gradFill>
                      <a:ln w="6350" cmpd="sng">
                        <a:noFill/>
                        <a:prstDash val="sysDot"/>
                      </a:ln>
                      <a:effectLst>
                        <a:outerShdw blurRad="25400" sx="101000" sy="101000" algn="ctr"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功能导向型系统</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54" name="文本框 153"/>
                      <p:cNvSpPr txBox="1"/>
                      <p:nvPr/>
                    </p:nvSpPr>
                    <p:spPr>
                      <a:xfrm>
                        <a:off x="4214527" y="2839353"/>
                        <a:ext cx="1133368" cy="342398"/>
                      </a:xfrm>
                      <a:prstGeom prst="rect">
                        <a:avLst/>
                      </a:prstGeom>
                      <a:noFill/>
                    </p:spPr>
                    <p:txBody>
                      <a:bodyPr wrap="square" rtlCol="0">
                        <a:spAutoFit/>
                      </a:bodyPr>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业务支撑能力为主</a:t>
                        </a:r>
                        <a:endParaRPr kumimoji="0" lang="zh-CN" altLang="en-US" sz="1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55" name="组合 154"/>
                    <p:cNvGrpSpPr/>
                    <p:nvPr/>
                  </p:nvGrpSpPr>
                  <p:grpSpPr>
                    <a:xfrm>
                      <a:off x="5348242" y="2428147"/>
                      <a:ext cx="1128504" cy="758574"/>
                      <a:chOff x="5348242" y="2428147"/>
                      <a:chExt cx="1128504" cy="758574"/>
                    </a:xfrm>
                  </p:grpSpPr>
                  <p:sp>
                    <p:nvSpPr>
                      <p:cNvPr id="156" name="圆角矩形 159"/>
                      <p:cNvSpPr/>
                      <p:nvPr/>
                    </p:nvSpPr>
                    <p:spPr>
                      <a:xfrm>
                        <a:off x="5471469" y="2428147"/>
                        <a:ext cx="936000" cy="360000"/>
                      </a:xfrm>
                      <a:prstGeom prst="roundRect">
                        <a:avLst/>
                      </a:prstGeom>
                      <a:gradFill>
                        <a:gsLst>
                          <a:gs pos="56000">
                            <a:srgbClr val="F2F6FE"/>
                          </a:gs>
                          <a:gs pos="0">
                            <a:srgbClr val="F5FBFD"/>
                          </a:gs>
                          <a:gs pos="100000">
                            <a:schemeClr val="bg2"/>
                          </a:gs>
                        </a:gsLst>
                        <a:lin ang="5400000" scaled="1"/>
                      </a:gradFill>
                      <a:ln w="6350" cmpd="sng">
                        <a:noFill/>
                        <a:prstDash val="sysDot"/>
                      </a:ln>
                      <a:effectLst>
                        <a:outerShdw blurRad="25400" sx="101000" sy="101000" algn="ctr"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功能支撑</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融合</a:t>
                        </a:r>
                        <a:r>
                          <a:rPr kumimoji="0" 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运营</a:t>
                        </a:r>
                        <a:endParaRPr kumimoji="0" 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57" name="文本框 156"/>
                      <p:cNvSpPr txBox="1"/>
                      <p:nvPr/>
                    </p:nvSpPr>
                    <p:spPr>
                      <a:xfrm>
                        <a:off x="5348242" y="2844323"/>
                        <a:ext cx="1128504" cy="342398"/>
                      </a:xfrm>
                      <a:prstGeom prst="rect">
                        <a:avLst/>
                      </a:prstGeom>
                      <a:noFill/>
                    </p:spPr>
                    <p:txBody>
                      <a:bodyPr wrap="square" rtlCol="0">
                        <a:spAutoFit/>
                      </a:bodyPr>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强化运营能力</a:t>
                        </a:r>
                        <a:endParaRPr kumimoji="0" lang="zh-CN" altLang="en-US" sz="1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sp>
                <p:nvSpPr>
                  <p:cNvPr id="158" name="箭头: 右 26"/>
                  <p:cNvSpPr/>
                  <p:nvPr/>
                </p:nvSpPr>
                <p:spPr>
                  <a:xfrm>
                    <a:off x="4334" y="3815"/>
                    <a:ext cx="637" cy="377"/>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159" name="组合 158"/>
              <p:cNvGrpSpPr/>
              <p:nvPr/>
            </p:nvGrpSpPr>
            <p:grpSpPr>
              <a:xfrm rot="0">
                <a:off x="11131" y="6497"/>
                <a:ext cx="4602" cy="1460"/>
                <a:chOff x="1002" y="6912"/>
                <a:chExt cx="4602" cy="1531"/>
              </a:xfrm>
            </p:grpSpPr>
            <p:sp>
              <p:nvSpPr>
                <p:cNvPr id="160" name="矩形 159"/>
                <p:cNvSpPr/>
                <p:nvPr/>
              </p:nvSpPr>
              <p:spPr>
                <a:xfrm>
                  <a:off x="1002" y="6912"/>
                  <a:ext cx="4602" cy="1455"/>
                </a:xfrm>
                <a:prstGeom prst="rect">
                  <a:avLst/>
                </a:prstGeom>
                <a:solidFill>
                  <a:srgbClr val="DFF2FF"/>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161" name="组合 160"/>
                <p:cNvGrpSpPr/>
                <p:nvPr/>
              </p:nvGrpSpPr>
              <p:grpSpPr>
                <a:xfrm>
                  <a:off x="1096" y="7141"/>
                  <a:ext cx="4308" cy="1302"/>
                  <a:chOff x="2518" y="3753"/>
                  <a:chExt cx="4308" cy="1302"/>
                </a:xfrm>
              </p:grpSpPr>
              <p:grpSp>
                <p:nvGrpSpPr>
                  <p:cNvPr id="162" name="组合 161"/>
                  <p:cNvGrpSpPr/>
                  <p:nvPr/>
                </p:nvGrpSpPr>
                <p:grpSpPr>
                  <a:xfrm rot="0">
                    <a:off x="2518" y="3753"/>
                    <a:ext cx="4308" cy="1302"/>
                    <a:chOff x="4214527" y="2423177"/>
                    <a:chExt cx="2328055" cy="764013"/>
                  </a:xfrm>
                </p:grpSpPr>
                <p:grpSp>
                  <p:nvGrpSpPr>
                    <p:cNvPr id="163" name="组合 162"/>
                    <p:cNvGrpSpPr/>
                    <p:nvPr/>
                  </p:nvGrpSpPr>
                  <p:grpSpPr>
                    <a:xfrm>
                      <a:off x="4214527" y="2423177"/>
                      <a:ext cx="1133368" cy="758765"/>
                      <a:chOff x="4214527" y="2423177"/>
                      <a:chExt cx="1133368" cy="758765"/>
                    </a:xfrm>
                  </p:grpSpPr>
                  <p:sp>
                    <p:nvSpPr>
                      <p:cNvPr id="164" name="圆角矩形 151"/>
                      <p:cNvSpPr/>
                      <p:nvPr/>
                    </p:nvSpPr>
                    <p:spPr>
                      <a:xfrm>
                        <a:off x="4259884" y="2423177"/>
                        <a:ext cx="936000" cy="360000"/>
                      </a:xfrm>
                      <a:prstGeom prst="roundRect">
                        <a:avLst/>
                      </a:prstGeom>
                      <a:gradFill>
                        <a:gsLst>
                          <a:gs pos="56000">
                            <a:srgbClr val="F2F6FE"/>
                          </a:gs>
                          <a:gs pos="0">
                            <a:srgbClr val="F5FBFD"/>
                          </a:gs>
                          <a:gs pos="100000">
                            <a:schemeClr val="bg2"/>
                          </a:gs>
                        </a:gsLst>
                        <a:lin ang="5400000" scaled="1"/>
                      </a:gradFill>
                      <a:ln w="6350" cmpd="sng">
                        <a:noFill/>
                        <a:prstDash val="sysDot"/>
                      </a:ln>
                      <a:effectLst>
                        <a:outerShdw blurRad="25400" sx="101000" sy="101000" algn="ctr"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聚焦单一业务需求</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65" name="文本框 164"/>
                      <p:cNvSpPr txBox="1"/>
                      <p:nvPr/>
                    </p:nvSpPr>
                    <p:spPr>
                      <a:xfrm>
                        <a:off x="4214527" y="2839353"/>
                        <a:ext cx="1133368" cy="342589"/>
                      </a:xfrm>
                      <a:prstGeom prst="rect">
                        <a:avLst/>
                      </a:prstGeom>
                      <a:noFill/>
                    </p:spPr>
                    <p:txBody>
                      <a:bodyPr wrap="square" rtlCol="0">
                        <a:spAutoFit/>
                      </a:bodyPr>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单领域运营为主</a:t>
                        </a:r>
                        <a:endParaRPr kumimoji="0" lang="zh-CN" altLang="en-US" sz="1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66" name="组合 165"/>
                    <p:cNvGrpSpPr/>
                    <p:nvPr/>
                  </p:nvGrpSpPr>
                  <p:grpSpPr>
                    <a:xfrm>
                      <a:off x="5538464" y="2428147"/>
                      <a:ext cx="1004118" cy="759043"/>
                      <a:chOff x="5538464" y="2428147"/>
                      <a:chExt cx="1004118" cy="759043"/>
                    </a:xfrm>
                  </p:grpSpPr>
                  <p:sp>
                    <p:nvSpPr>
                      <p:cNvPr id="167" name="圆角矩形 159"/>
                      <p:cNvSpPr/>
                      <p:nvPr/>
                    </p:nvSpPr>
                    <p:spPr>
                      <a:xfrm>
                        <a:off x="5538472" y="2428147"/>
                        <a:ext cx="1004110" cy="360103"/>
                      </a:xfrm>
                      <a:prstGeom prst="roundRect">
                        <a:avLst/>
                      </a:prstGeom>
                      <a:gradFill>
                        <a:gsLst>
                          <a:gs pos="56000">
                            <a:srgbClr val="F2F6FE"/>
                          </a:gs>
                          <a:gs pos="0">
                            <a:srgbClr val="F5FBFD"/>
                          </a:gs>
                          <a:gs pos="100000">
                            <a:schemeClr val="bg2"/>
                          </a:gs>
                        </a:gsLst>
                        <a:lin ang="5400000" scaled="1"/>
                      </a:gradFill>
                      <a:ln w="6350" cmpd="sng">
                        <a:noFill/>
                        <a:prstDash val="sysDot"/>
                      </a:ln>
                      <a:effectLst>
                        <a:outerShdw blurRad="25400" sx="101000" sy="101000" algn="ctr"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自动化、一体化运营</a:t>
                        </a:r>
                        <a:endParaRPr kumimoji="0" 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68" name="文本框 167"/>
                      <p:cNvSpPr txBox="1"/>
                      <p:nvPr/>
                    </p:nvSpPr>
                    <p:spPr>
                      <a:xfrm>
                        <a:off x="5538464" y="2844601"/>
                        <a:ext cx="938139" cy="342589"/>
                      </a:xfrm>
                      <a:prstGeom prst="rect">
                        <a:avLst/>
                      </a:prstGeom>
                      <a:noFill/>
                    </p:spPr>
                    <p:txBody>
                      <a:bodyPr wrap="square" rtlCol="0">
                        <a:spAutoFit/>
                      </a:bodyPr>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智能化运营</a:t>
                        </a:r>
                        <a:endParaRPr kumimoji="0" lang="zh-CN" altLang="en-US" sz="1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sp>
                <p:nvSpPr>
                  <p:cNvPr id="169" name="箭头: 右 26"/>
                  <p:cNvSpPr/>
                  <p:nvPr/>
                </p:nvSpPr>
                <p:spPr>
                  <a:xfrm>
                    <a:off x="4334" y="3815"/>
                    <a:ext cx="637" cy="377"/>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grpSp>
      <p:grpSp>
        <p:nvGrpSpPr>
          <p:cNvPr id="14" name="组合 13"/>
          <p:cNvGrpSpPr/>
          <p:nvPr/>
        </p:nvGrpSpPr>
        <p:grpSpPr>
          <a:xfrm>
            <a:off x="488950" y="4716145"/>
            <a:ext cx="10024110" cy="875665"/>
            <a:chOff x="770" y="8147"/>
            <a:chExt cx="15786" cy="1596"/>
          </a:xfrm>
        </p:grpSpPr>
        <p:sp>
          <p:nvSpPr>
            <p:cNvPr id="4" name="Rectangle 6"/>
            <p:cNvSpPr/>
            <p:nvPr/>
          </p:nvSpPr>
          <p:spPr>
            <a:xfrm>
              <a:off x="770" y="8275"/>
              <a:ext cx="15786" cy="1176"/>
            </a:xfrm>
            <a:prstGeom prst="rect">
              <a:avLst/>
            </a:prstGeom>
            <a:solidFill>
              <a:srgbClr val="FFFFFF"/>
            </a:solidFill>
            <a:ln w="9525" cap="flat" cmpd="sng" algn="ctr">
              <a:solidFill>
                <a:srgbClr val="C6C7C6"/>
              </a:soli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5" name="Rectangle 2"/>
            <p:cNvSpPr/>
            <p:nvPr/>
          </p:nvSpPr>
          <p:spPr>
            <a:xfrm>
              <a:off x="2243" y="8147"/>
              <a:ext cx="13086" cy="409"/>
            </a:xfrm>
            <a:prstGeom prst="rect">
              <a:avLst/>
            </a:prstGeom>
            <a:solidFill>
              <a:schemeClr val="accent1">
                <a:lumMod val="60000"/>
                <a:lumOff val="40000"/>
              </a:schemeClr>
            </a:solidFill>
            <a:ln w="38100" cap="flat" cmpd="sng" algn="ctr">
              <a:solidFill>
                <a:schemeClr val="accent1">
                  <a:lumMod val="60000"/>
                  <a:lumOff val="40000"/>
                </a:schemeClr>
              </a:solidFill>
              <a:prstDash val="solid"/>
              <a:miter lim="800000"/>
            </a:ln>
            <a:effectLst/>
          </p:spPr>
          <p:txBody>
            <a:bodyPr wrap="square" lIns="82296" tIns="41148" rIns="82296" bIns="4114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400" b="1"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组织机制转型</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grpSp>
          <p:nvGrpSpPr>
            <p:cNvPr id="6" name="组合 5"/>
            <p:cNvGrpSpPr/>
            <p:nvPr/>
          </p:nvGrpSpPr>
          <p:grpSpPr>
            <a:xfrm>
              <a:off x="1009" y="8363"/>
              <a:ext cx="14345" cy="1381"/>
              <a:chOff x="4015" y="4573"/>
              <a:chExt cx="14345" cy="1381"/>
            </a:xfrm>
          </p:grpSpPr>
          <p:sp>
            <p:nvSpPr>
              <p:cNvPr id="7" name="矩形 6"/>
              <p:cNvSpPr/>
              <p:nvPr/>
            </p:nvSpPr>
            <p:spPr>
              <a:xfrm>
                <a:off x="4015" y="4968"/>
                <a:ext cx="6393" cy="620"/>
              </a:xfrm>
              <a:prstGeom prst="rect">
                <a:avLst/>
              </a:prstGeom>
              <a:solidFill>
                <a:srgbClr val="E5F0F9"/>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4316" y="5085"/>
                <a:ext cx="5956" cy="454"/>
              </a:xfrm>
              <a:prstGeom prst="rect">
                <a:avLst/>
              </a:prstGeom>
              <a:noFill/>
            </p:spPr>
            <p:txBody>
              <a:bodyPr wrap="square" rtlCol="0" anchor="t">
                <a:noAutofit/>
              </a:bodyPr>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团队配置分散，省专、地市团队以职能划分</a:t>
                </a:r>
                <a:endParaRPr lang="zh-CN" sz="1200">
                  <a:solidFill>
                    <a:schemeClr val="tx1"/>
                  </a:solidFill>
                  <a:latin typeface="微软雅黑" panose="020B0503020204020204" pitchFamily="34" charset="-122"/>
                  <a:ea typeface="微软雅黑" panose="020B0503020204020204" pitchFamily="34" charset="-122"/>
                  <a:sym typeface="+mn-ea"/>
                </a:endParaRPr>
              </a:p>
            </p:txBody>
          </p:sp>
          <p:sp>
            <p:nvSpPr>
              <p:cNvPr id="9" name="Freeform 22"/>
              <p:cNvSpPr/>
              <p:nvPr/>
            </p:nvSpPr>
            <p:spPr bwMode="auto">
              <a:xfrm rot="5400000">
                <a:off x="10296" y="4844"/>
                <a:ext cx="1381" cy="839"/>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chemeClr val="accent1">
                      <a:lumMod val="5000"/>
                      <a:lumOff val="95000"/>
                      <a:alpha val="0"/>
                    </a:schemeClr>
                  </a:gs>
                  <a:gs pos="53000">
                    <a:schemeClr val="accent1">
                      <a:lumMod val="45000"/>
                      <a:lumOff val="55000"/>
                      <a:alpha val="44000"/>
                    </a:schemeClr>
                  </a:gs>
                  <a:gs pos="80000">
                    <a:schemeClr val="accent1">
                      <a:lumMod val="45000"/>
                      <a:lumOff val="55000"/>
                      <a:alpha val="61000"/>
                    </a:schemeClr>
                  </a:gs>
                  <a:gs pos="100000">
                    <a:schemeClr val="accent1">
                      <a:lumMod val="60000"/>
                      <a:lumOff val="40000"/>
                      <a:alpha val="48000"/>
                    </a:schemeClr>
                  </a:gs>
                </a:gsLst>
                <a:lin ang="162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10" name="组合 9"/>
              <p:cNvGrpSpPr/>
              <p:nvPr/>
            </p:nvGrpSpPr>
            <p:grpSpPr>
              <a:xfrm>
                <a:off x="11606" y="4960"/>
                <a:ext cx="6754" cy="627"/>
                <a:chOff x="4215" y="5120"/>
                <a:chExt cx="6393" cy="627"/>
              </a:xfrm>
            </p:grpSpPr>
            <p:sp>
              <p:nvSpPr>
                <p:cNvPr id="11" name="矩形 10"/>
                <p:cNvSpPr/>
                <p:nvPr/>
              </p:nvSpPr>
              <p:spPr>
                <a:xfrm>
                  <a:off x="4215" y="5120"/>
                  <a:ext cx="6393" cy="627"/>
                </a:xfrm>
                <a:prstGeom prst="rect">
                  <a:avLst/>
                </a:prstGeom>
                <a:solidFill>
                  <a:srgbClr val="E5F0F9"/>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 name="文本框 11"/>
                <p:cNvSpPr txBox="1"/>
                <p:nvPr/>
              </p:nvSpPr>
              <p:spPr>
                <a:xfrm>
                  <a:off x="4348" y="5197"/>
                  <a:ext cx="5956" cy="454"/>
                </a:xfrm>
                <a:prstGeom prst="rect">
                  <a:avLst/>
                </a:prstGeom>
                <a:noFill/>
              </p:spPr>
              <p:txBody>
                <a:bodyPr wrap="square" rtlCol="0" anchor="t">
                  <a:noAutofit/>
                </a:bodyPr>
                <a:p>
                  <a:pPr lvl="0" algn="ctr" latinLnBrk="1" hangingPunct="0">
                    <a:spcBef>
                      <a:spcPts val="0"/>
                    </a:spcBef>
                    <a:spcAft>
                      <a:spcPts val="0"/>
                    </a:spcAft>
                    <a:buClrTx/>
                    <a:buSzTx/>
                    <a:buFontTx/>
                  </a:pPr>
                  <a:r>
                    <a:rPr lang="zh-CN" sz="120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纵向拉通集省专市县格，横向拉通业务</a:t>
                  </a:r>
                  <a:r>
                    <a:rPr lang="en-US" altLang="zh-CN" sz="120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+IT</a:t>
                  </a:r>
                  <a:endParaRPr lang="zh-CN" sz="1200">
                    <a:solidFill>
                      <a:schemeClr val="tx1"/>
                    </a:solidFill>
                    <a:latin typeface="微软雅黑" panose="020B0503020204020204" pitchFamily="34" charset="-122"/>
                    <a:ea typeface="微软雅黑" panose="020B0503020204020204" pitchFamily="34" charset="-122"/>
                    <a:sym typeface="+mn-ea"/>
                  </a:endParaRPr>
                </a:p>
              </p:txBody>
            </p:sp>
          </p:grpSp>
        </p:grpSp>
      </p:grpSp>
      <p:grpSp>
        <p:nvGrpSpPr>
          <p:cNvPr id="46" name="组合 45"/>
          <p:cNvGrpSpPr/>
          <p:nvPr/>
        </p:nvGrpSpPr>
        <p:grpSpPr>
          <a:xfrm>
            <a:off x="476250" y="5544185"/>
            <a:ext cx="10037445" cy="1176020"/>
            <a:chOff x="750" y="9451"/>
            <a:chExt cx="15807" cy="1852"/>
          </a:xfrm>
        </p:grpSpPr>
        <p:grpSp>
          <p:nvGrpSpPr>
            <p:cNvPr id="15" name="组合 14"/>
            <p:cNvGrpSpPr/>
            <p:nvPr/>
          </p:nvGrpSpPr>
          <p:grpSpPr>
            <a:xfrm>
              <a:off x="750" y="9451"/>
              <a:ext cx="15807" cy="1852"/>
              <a:chOff x="770" y="8147"/>
              <a:chExt cx="15786" cy="1852"/>
            </a:xfrm>
          </p:grpSpPr>
          <p:sp>
            <p:nvSpPr>
              <p:cNvPr id="16" name="Rectangle 6"/>
              <p:cNvSpPr/>
              <p:nvPr/>
            </p:nvSpPr>
            <p:spPr>
              <a:xfrm>
                <a:off x="770" y="8275"/>
                <a:ext cx="15786" cy="1724"/>
              </a:xfrm>
              <a:prstGeom prst="rect">
                <a:avLst/>
              </a:prstGeom>
              <a:solidFill>
                <a:srgbClr val="FFFFFF"/>
              </a:solidFill>
              <a:ln w="9525" cap="flat" cmpd="sng" algn="ctr">
                <a:solidFill>
                  <a:srgbClr val="C6C7C6"/>
                </a:soli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7" name="Rectangle 2"/>
              <p:cNvSpPr/>
              <p:nvPr/>
            </p:nvSpPr>
            <p:spPr>
              <a:xfrm>
                <a:off x="2243" y="8147"/>
                <a:ext cx="13086" cy="409"/>
              </a:xfrm>
              <a:prstGeom prst="rect">
                <a:avLst/>
              </a:prstGeom>
              <a:solidFill>
                <a:schemeClr val="accent1">
                  <a:lumMod val="60000"/>
                  <a:lumOff val="40000"/>
                </a:schemeClr>
              </a:solidFill>
              <a:ln w="38100" cap="flat" cmpd="sng" algn="ctr">
                <a:solidFill>
                  <a:schemeClr val="accent1">
                    <a:lumMod val="60000"/>
                    <a:lumOff val="40000"/>
                  </a:schemeClr>
                </a:solidFill>
                <a:prstDash val="solid"/>
                <a:miter lim="800000"/>
              </a:ln>
              <a:effectLst/>
            </p:spPr>
            <p:txBody>
              <a:bodyPr wrap="square" lIns="82296" tIns="41148" rIns="82296" bIns="4114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400" b="1"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强化技术驱动</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grpSp>
        <p:grpSp>
          <p:nvGrpSpPr>
            <p:cNvPr id="30" name="组合 29"/>
            <p:cNvGrpSpPr/>
            <p:nvPr/>
          </p:nvGrpSpPr>
          <p:grpSpPr>
            <a:xfrm>
              <a:off x="1009" y="9883"/>
              <a:ext cx="15504" cy="1350"/>
              <a:chOff x="901" y="8148"/>
              <a:chExt cx="15504" cy="1350"/>
            </a:xfrm>
          </p:grpSpPr>
          <p:grpSp>
            <p:nvGrpSpPr>
              <p:cNvPr id="32" name="组合 31"/>
              <p:cNvGrpSpPr/>
              <p:nvPr/>
            </p:nvGrpSpPr>
            <p:grpSpPr>
              <a:xfrm>
                <a:off x="902" y="9022"/>
                <a:ext cx="15280" cy="476"/>
                <a:chOff x="889" y="8682"/>
                <a:chExt cx="13909" cy="436"/>
              </a:xfrm>
            </p:grpSpPr>
            <p:sp>
              <p:nvSpPr>
                <p:cNvPr id="33" name="矩形 32"/>
                <p:cNvSpPr/>
                <p:nvPr/>
              </p:nvSpPr>
              <p:spPr>
                <a:xfrm>
                  <a:off x="889" y="8682"/>
                  <a:ext cx="13909" cy="436"/>
                </a:xfrm>
                <a:prstGeom prst="rect">
                  <a:avLst/>
                </a:prstGeom>
                <a:solidFill>
                  <a:srgbClr val="E5F0F9"/>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4" name="文本框 33"/>
                <p:cNvSpPr txBox="1"/>
                <p:nvPr/>
              </p:nvSpPr>
              <p:spPr>
                <a:xfrm>
                  <a:off x="5389" y="8721"/>
                  <a:ext cx="5128" cy="397"/>
                </a:xfrm>
                <a:prstGeom prst="rect">
                  <a:avLst/>
                </a:prstGeom>
                <a:noFill/>
              </p:spPr>
              <p:txBody>
                <a:bodyPr wrap="square" rtlCol="0" anchor="t">
                  <a:spAutoFit/>
                </a:bodyPr>
                <a:p>
                  <a:pPr algn="l"/>
                  <a:r>
                    <a:rPr lang="zh-CN" altLang="en-US" sz="1200" b="1">
                      <a:solidFill>
                        <a:srgbClr val="0070BF"/>
                      </a:solidFill>
                      <a:latin typeface="微软雅黑" panose="020B0503020204020204" pitchFamily="34" charset="-122"/>
                      <a:ea typeface="微软雅黑" panose="020B0503020204020204" pitchFamily="34" charset="-122"/>
                      <a:sym typeface="+mn-ea"/>
                    </a:rPr>
                    <a:t>强化能力</a:t>
                  </a:r>
                  <a:r>
                    <a:rPr lang="zh-CN" sz="1200" b="1">
                      <a:solidFill>
                        <a:srgbClr val="0070BF"/>
                      </a:solidFill>
                      <a:latin typeface="微软雅黑" panose="020B0503020204020204" pitchFamily="34" charset="-122"/>
                      <a:ea typeface="微软雅黑" panose="020B0503020204020204" pitchFamily="34" charset="-122"/>
                      <a:sym typeface="+mn-ea"/>
                    </a:rPr>
                    <a:t>中台、 云、数、智一体化技术底座</a:t>
                  </a:r>
                  <a:endParaRPr lang="zh-CN" sz="1200" b="1">
                    <a:solidFill>
                      <a:srgbClr val="0070BF"/>
                    </a:solidFill>
                    <a:latin typeface="微软雅黑" panose="020B0503020204020204" pitchFamily="34" charset="-122"/>
                    <a:ea typeface="微软雅黑" panose="020B0503020204020204" pitchFamily="34" charset="-122"/>
                    <a:sym typeface="+mn-ea"/>
                  </a:endParaRPr>
                </a:p>
              </p:txBody>
            </p:sp>
          </p:grpSp>
          <p:grpSp>
            <p:nvGrpSpPr>
              <p:cNvPr id="35" name="组合 34"/>
              <p:cNvGrpSpPr/>
              <p:nvPr/>
            </p:nvGrpSpPr>
            <p:grpSpPr>
              <a:xfrm>
                <a:off x="9143" y="8148"/>
                <a:ext cx="7262" cy="813"/>
                <a:chOff x="4021" y="8392"/>
                <a:chExt cx="14067" cy="813"/>
              </a:xfrm>
            </p:grpSpPr>
            <p:sp>
              <p:nvSpPr>
                <p:cNvPr id="36" name="矩形 35"/>
                <p:cNvSpPr/>
                <p:nvPr/>
              </p:nvSpPr>
              <p:spPr>
                <a:xfrm>
                  <a:off x="4021" y="8392"/>
                  <a:ext cx="13633" cy="812"/>
                </a:xfrm>
                <a:prstGeom prst="rect">
                  <a:avLst/>
                </a:prstGeom>
                <a:solidFill>
                  <a:srgbClr val="E5F0F9"/>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7" name="文本框 36"/>
                <p:cNvSpPr txBox="1"/>
                <p:nvPr/>
              </p:nvSpPr>
              <p:spPr>
                <a:xfrm>
                  <a:off x="4316" y="8832"/>
                  <a:ext cx="13772" cy="373"/>
                </a:xfrm>
                <a:prstGeom prst="rect">
                  <a:avLst/>
                </a:prstGeom>
                <a:noFill/>
              </p:spPr>
              <p:txBody>
                <a:bodyPr wrap="square" rtlCol="0" anchor="t">
                  <a:noAutofit/>
                </a:bodyPr>
                <a:p>
                  <a:pPr lvl="0" algn="ctr" latinLnBrk="1" hangingPunct="0">
                    <a:spcBef>
                      <a:spcPts val="0"/>
                    </a:spcBef>
                    <a:spcAft>
                      <a:spcPts val="0"/>
                    </a:spcAft>
                    <a:buClrTx/>
                    <a:buSzTx/>
                    <a:buFontTx/>
                  </a:pPr>
                  <a:r>
                    <a:rPr lang="zh-CN" sz="1200" b="1">
                      <a:latin typeface="微软雅黑" panose="020B0503020204020204" pitchFamily="34" charset="-122"/>
                      <a:ea typeface="微软雅黑" panose="020B0503020204020204" pitchFamily="34" charset="-122"/>
                      <a:sym typeface="+mn-ea"/>
                    </a:rPr>
                    <a:t>打造</a:t>
                  </a:r>
                  <a:r>
                    <a:rPr lang="zh-CN" sz="1200" b="1">
                      <a:solidFill>
                        <a:srgbClr val="C00000"/>
                      </a:solidFill>
                      <a:latin typeface="微软雅黑" panose="020B0503020204020204" pitchFamily="34" charset="-122"/>
                      <a:ea typeface="微软雅黑" panose="020B0503020204020204" pitchFamily="34" charset="-122"/>
                      <a:sym typeface="+mn-ea"/>
                    </a:rPr>
                    <a:t>智慧大脑</a:t>
                  </a:r>
                  <a:r>
                    <a:rPr lang="zh-CN" sz="1200" b="1">
                      <a:latin typeface="微软雅黑" panose="020B0503020204020204" pitchFamily="34" charset="-122"/>
                      <a:ea typeface="微软雅黑" panose="020B0503020204020204" pitchFamily="34" charset="-122"/>
                      <a:sym typeface="+mn-ea"/>
                    </a:rPr>
                    <a:t>，创新打磨AI+应用，提供</a:t>
                  </a:r>
                  <a:r>
                    <a:rPr lang="zh-CN" sz="1200" b="1">
                      <a:solidFill>
                        <a:srgbClr val="C00000"/>
                      </a:solidFill>
                      <a:latin typeface="微软雅黑" panose="020B0503020204020204" pitchFamily="34" charset="-122"/>
                      <a:ea typeface="微软雅黑" panose="020B0503020204020204" pitchFamily="34" charset="-122"/>
                      <a:sym typeface="+mn-ea"/>
                    </a:rPr>
                    <a:t>智能工具、能力</a:t>
                  </a:r>
                  <a:endParaRPr kumimoji="1" lang="zh-CN" altLang="en-US" sz="1200" b="1" dirty="0" smtClean="0">
                    <a:solidFill>
                      <a:srgbClr val="C00000"/>
                    </a:solidFill>
                    <a:latin typeface="微软雅黑" panose="020B0503020204020204" pitchFamily="34" charset="-122"/>
                    <a:ea typeface="微软雅黑" panose="020B0503020204020204" pitchFamily="34" charset="-122"/>
                    <a:sym typeface="+mn-ea"/>
                  </a:endParaRPr>
                </a:p>
              </p:txBody>
            </p:sp>
            <p:sp>
              <p:nvSpPr>
                <p:cNvPr id="38" name="文本框 37"/>
                <p:cNvSpPr txBox="1"/>
                <p:nvPr/>
              </p:nvSpPr>
              <p:spPr>
                <a:xfrm>
                  <a:off x="10071" y="8458"/>
                  <a:ext cx="2989" cy="434"/>
                </a:xfrm>
                <a:prstGeom prst="rect">
                  <a:avLst/>
                </a:prstGeom>
                <a:noFill/>
              </p:spPr>
              <p:txBody>
                <a:bodyPr wrap="square" rtlCol="0" anchor="t">
                  <a:spAutoFit/>
                </a:bodyPr>
                <a:p>
                  <a:pPr algn="l"/>
                  <a:r>
                    <a:rPr lang="zh-CN" altLang="en-US" sz="1200" b="1">
                      <a:solidFill>
                        <a:srgbClr val="0070BF"/>
                      </a:solidFill>
                      <a:latin typeface="微软雅黑" panose="020B0503020204020204" pitchFamily="34" charset="-122"/>
                      <a:ea typeface="微软雅黑" panose="020B0503020204020204" pitchFamily="34" charset="-122"/>
                      <a:sym typeface="+mn-ea"/>
                    </a:rPr>
                    <a:t>强化</a:t>
                  </a:r>
                  <a:r>
                    <a:rPr lang="en-US" altLang="zh-CN" sz="1200" b="1">
                      <a:solidFill>
                        <a:srgbClr val="0070BF"/>
                      </a:solidFill>
                      <a:latin typeface="微软雅黑" panose="020B0503020204020204" pitchFamily="34" charset="-122"/>
                      <a:ea typeface="微软雅黑" panose="020B0503020204020204" pitchFamily="34" charset="-122"/>
                      <a:sym typeface="+mn-ea"/>
                    </a:rPr>
                    <a:t>AI</a:t>
                  </a:r>
                  <a:r>
                    <a:rPr lang="zh-CN" altLang="en-US" sz="1200" b="1">
                      <a:solidFill>
                        <a:srgbClr val="0070BF"/>
                      </a:solidFill>
                      <a:latin typeface="微软雅黑" panose="020B0503020204020204" pitchFamily="34" charset="-122"/>
                      <a:ea typeface="微软雅黑" panose="020B0503020204020204" pitchFamily="34" charset="-122"/>
                      <a:sym typeface="+mn-ea"/>
                    </a:rPr>
                    <a:t>驱动</a:t>
                  </a:r>
                  <a:endParaRPr kumimoji="1" lang="zh-CN" altLang="en-US" sz="1200" b="1" dirty="0" smtClean="0">
                    <a:solidFill>
                      <a:srgbClr val="0070BF"/>
                    </a:solidFill>
                    <a:latin typeface="微软雅黑" panose="020B0503020204020204" pitchFamily="34" charset="-122"/>
                    <a:ea typeface="微软雅黑" panose="020B0503020204020204" pitchFamily="34" charset="-122"/>
                    <a:sym typeface="+mn-ea"/>
                  </a:endParaRPr>
                </a:p>
              </p:txBody>
            </p:sp>
          </p:grpSp>
          <p:grpSp>
            <p:nvGrpSpPr>
              <p:cNvPr id="39" name="组合 38"/>
              <p:cNvGrpSpPr/>
              <p:nvPr/>
            </p:nvGrpSpPr>
            <p:grpSpPr>
              <a:xfrm>
                <a:off x="901" y="8159"/>
                <a:ext cx="8117" cy="802"/>
                <a:chOff x="4212" y="9468"/>
                <a:chExt cx="14183" cy="802"/>
              </a:xfrm>
            </p:grpSpPr>
            <p:sp>
              <p:nvSpPr>
                <p:cNvPr id="40" name="矩形 39"/>
                <p:cNvSpPr/>
                <p:nvPr/>
              </p:nvSpPr>
              <p:spPr>
                <a:xfrm>
                  <a:off x="4212" y="9468"/>
                  <a:ext cx="14183" cy="802"/>
                </a:xfrm>
                <a:prstGeom prst="rect">
                  <a:avLst/>
                </a:prstGeom>
                <a:solidFill>
                  <a:srgbClr val="E5F0F9"/>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1" name="文本框 40"/>
                <p:cNvSpPr txBox="1"/>
                <p:nvPr/>
              </p:nvSpPr>
              <p:spPr>
                <a:xfrm>
                  <a:off x="4317" y="9860"/>
                  <a:ext cx="13772" cy="373"/>
                </a:xfrm>
                <a:prstGeom prst="rect">
                  <a:avLst/>
                </a:prstGeom>
                <a:noFill/>
              </p:spPr>
              <p:txBody>
                <a:bodyPr wrap="square" rtlCol="0" anchor="t">
                  <a:noAutofit/>
                </a:bodyPr>
                <a:p>
                  <a:pPr lvl="0" algn="ctr" latinLnBrk="1" hangingPunct="0">
                    <a:spcBef>
                      <a:spcPts val="0"/>
                    </a:spcBef>
                    <a:spcAft>
                      <a:spcPts val="0"/>
                    </a:spcAft>
                    <a:buClrTx/>
                    <a:buSzTx/>
                    <a:buFontTx/>
                  </a:pPr>
                  <a:r>
                    <a:rPr lang="zh-CN" sz="1200" b="1">
                      <a:solidFill>
                        <a:schemeClr val="tx1"/>
                      </a:solidFill>
                      <a:latin typeface="微软雅黑" panose="020B0503020204020204" pitchFamily="34" charset="-122"/>
                      <a:ea typeface="微软雅黑" panose="020B0503020204020204" pitchFamily="34" charset="-122"/>
                      <a:sym typeface="+mn-ea"/>
                    </a:rPr>
                    <a:t>加强</a:t>
                  </a:r>
                  <a:r>
                    <a:rPr lang="zh-CN" sz="1200" b="1">
                      <a:solidFill>
                        <a:srgbClr val="C00000"/>
                      </a:solidFill>
                      <a:latin typeface="微软雅黑" panose="020B0503020204020204" pitchFamily="34" charset="-122"/>
                      <a:ea typeface="微软雅黑" panose="020B0503020204020204" pitchFamily="34" charset="-122"/>
                      <a:sym typeface="+mn-ea"/>
                    </a:rPr>
                    <a:t>数源质量</a:t>
                  </a:r>
                  <a:r>
                    <a:rPr lang="zh-CN" sz="1200" b="1">
                      <a:solidFill>
                        <a:schemeClr val="tx1"/>
                      </a:solidFill>
                      <a:latin typeface="微软雅黑" panose="020B0503020204020204" pitchFamily="34" charset="-122"/>
                      <a:ea typeface="微软雅黑" panose="020B0503020204020204" pitchFamily="34" charset="-122"/>
                      <a:sym typeface="+mn-ea"/>
                    </a:rPr>
                    <a:t>治理，构建</a:t>
                  </a:r>
                  <a:r>
                    <a:rPr lang="zh-CN" sz="1200" b="1">
                      <a:solidFill>
                        <a:srgbClr val="C00000"/>
                      </a:solidFill>
                      <a:latin typeface="微软雅黑" panose="020B0503020204020204" pitchFamily="34" charset="-122"/>
                      <a:ea typeface="微软雅黑" panose="020B0503020204020204" pitchFamily="34" charset="-122"/>
                      <a:sym typeface="+mn-ea"/>
                    </a:rPr>
                    <a:t>数据互融</a:t>
                  </a:r>
                  <a:r>
                    <a:rPr lang="zh-CN" sz="1200" b="1">
                      <a:solidFill>
                        <a:schemeClr val="tx1"/>
                      </a:solidFill>
                      <a:latin typeface="微软雅黑" panose="020B0503020204020204" pitchFamily="34" charset="-122"/>
                      <a:ea typeface="微软雅黑" panose="020B0503020204020204" pitchFamily="34" charset="-122"/>
                      <a:sym typeface="+mn-ea"/>
                    </a:rPr>
                    <a:t>机制，强化核心</a:t>
                  </a:r>
                  <a:r>
                    <a:rPr lang="zh-CN" sz="1200" b="1">
                      <a:solidFill>
                        <a:srgbClr val="C00000"/>
                      </a:solidFill>
                      <a:latin typeface="微软雅黑" panose="020B0503020204020204" pitchFamily="34" charset="-122"/>
                      <a:ea typeface="微软雅黑" panose="020B0503020204020204" pitchFamily="34" charset="-122"/>
                      <a:sym typeface="+mn-ea"/>
                    </a:rPr>
                    <a:t>数据应用</a:t>
                  </a:r>
                  <a:r>
                    <a:rPr lang="zh-CN" sz="1200" b="1">
                      <a:solidFill>
                        <a:schemeClr val="tx1"/>
                      </a:solidFill>
                      <a:latin typeface="微软雅黑" panose="020B0503020204020204" pitchFamily="34" charset="-122"/>
                      <a:ea typeface="微软雅黑" panose="020B0503020204020204" pitchFamily="34" charset="-122"/>
                      <a:sym typeface="+mn-ea"/>
                    </a:rPr>
                    <a:t>运营</a:t>
                  </a:r>
                  <a:endParaRPr lang="zh-CN" sz="1200" b="1">
                    <a:solidFill>
                      <a:schemeClr val="tx1"/>
                    </a:solidFill>
                    <a:latin typeface="微软雅黑" panose="020B0503020204020204" pitchFamily="34" charset="-122"/>
                    <a:ea typeface="微软雅黑" panose="020B0503020204020204" pitchFamily="34" charset="-122"/>
                    <a:sym typeface="+mn-ea"/>
                  </a:endParaRPr>
                </a:p>
              </p:txBody>
            </p:sp>
            <p:sp>
              <p:nvSpPr>
                <p:cNvPr id="43" name="文本框 42"/>
                <p:cNvSpPr txBox="1"/>
                <p:nvPr/>
              </p:nvSpPr>
              <p:spPr>
                <a:xfrm>
                  <a:off x="9915" y="9534"/>
                  <a:ext cx="3845" cy="434"/>
                </a:xfrm>
                <a:prstGeom prst="rect">
                  <a:avLst/>
                </a:prstGeom>
                <a:noFill/>
              </p:spPr>
              <p:txBody>
                <a:bodyPr wrap="square" rtlCol="0" anchor="t">
                  <a:spAutoFit/>
                </a:bodyPr>
                <a:p>
                  <a:pPr algn="l"/>
                  <a:r>
                    <a:rPr lang="zh-CN" altLang="en-US" sz="1200" b="1">
                      <a:solidFill>
                        <a:srgbClr val="0070BF"/>
                      </a:solidFill>
                      <a:latin typeface="微软雅黑" panose="020B0503020204020204" pitchFamily="34" charset="-122"/>
                      <a:ea typeface="微软雅黑" panose="020B0503020204020204" pitchFamily="34" charset="-122"/>
                      <a:sym typeface="+mn-ea"/>
                    </a:rPr>
                    <a:t>强化</a:t>
                  </a:r>
                  <a:r>
                    <a:rPr lang="zh-CN" sz="1200" b="1">
                      <a:solidFill>
                        <a:srgbClr val="0070BF"/>
                      </a:solidFill>
                      <a:latin typeface="微软雅黑" panose="020B0503020204020204" pitchFamily="34" charset="-122"/>
                      <a:ea typeface="微软雅黑" panose="020B0503020204020204" pitchFamily="34" charset="-122"/>
                      <a:sym typeface="+mn-ea"/>
                    </a:rPr>
                    <a:t>数据驱动</a:t>
                  </a:r>
                  <a:endParaRPr kumimoji="1" lang="zh-CN" sz="1200" b="1" dirty="0" smtClean="0">
                    <a:solidFill>
                      <a:srgbClr val="0070BF"/>
                    </a:solidFill>
                    <a:latin typeface="微软雅黑" panose="020B0503020204020204" pitchFamily="34" charset="-122"/>
                    <a:ea typeface="微软雅黑" panose="020B0503020204020204" pitchFamily="34" charset="-122"/>
                    <a:sym typeface="+mn-ea"/>
                  </a:endParaRPr>
                </a:p>
              </p:txBody>
            </p:sp>
          </p:grpSp>
        </p:gr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线连接符 4"/>
          <p:cNvCxnSpPr/>
          <p:nvPr/>
        </p:nvCxnSpPr>
        <p:spPr>
          <a:xfrm>
            <a:off x="3344633" y="1228165"/>
            <a:ext cx="0" cy="4545106"/>
          </a:xfrm>
          <a:prstGeom prst="line">
            <a:avLst/>
          </a:prstGeom>
          <a:ln>
            <a:gradFill>
              <a:gsLst>
                <a:gs pos="0">
                  <a:schemeClr val="accent1">
                    <a:alpha val="0"/>
                  </a:schemeClr>
                </a:gs>
                <a:gs pos="29000">
                  <a:schemeClr val="accent1"/>
                </a:gs>
                <a:gs pos="8300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519889" y="1443318"/>
            <a:ext cx="824743" cy="1200329"/>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1" lang="zh-CN" altLang="en-US"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目录</a:t>
            </a:r>
            <a:endParaRPr kumimoji="1" lang="zh-CN" altLang="en-US"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rot="5400000">
            <a:off x="1775612" y="3518823"/>
            <a:ext cx="2491708" cy="646331"/>
          </a:xfrm>
          <a:prstGeom prst="rect">
            <a:avLst/>
          </a:prstGeom>
          <a:noFill/>
        </p:spPr>
        <p:txBody>
          <a:bodyPr wrap="none"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EEEFEE"/>
                </a:solidFill>
                <a:effectLst/>
                <a:uLnTx/>
                <a:uFillTx/>
                <a:latin typeface="微软雅黑" panose="020B0503020204020204" pitchFamily="34" charset="-122"/>
                <a:ea typeface="微软雅黑" panose="020B0503020204020204" pitchFamily="34" charset="-122"/>
                <a:cs typeface="+mn-cs"/>
              </a:rPr>
              <a:t>CONTENT</a:t>
            </a:r>
            <a:endParaRPr kumimoji="1" lang="zh-CN" altLang="en-US" sz="3600" b="1" i="0" u="none" strike="noStrike" kern="1200" cap="none" spc="0" normalizeH="0" baseline="0" noProof="0" dirty="0">
              <a:ln>
                <a:noFill/>
              </a:ln>
              <a:solidFill>
                <a:srgbClr val="EEEFEE"/>
              </a:solidFill>
              <a:effectLst/>
              <a:uLnTx/>
              <a:uFillTx/>
              <a:latin typeface="微软雅黑" panose="020B0503020204020204" pitchFamily="34" charset="-122"/>
              <a:ea typeface="微软雅黑" panose="020B0503020204020204" pitchFamily="34" charset="-122"/>
              <a:cs typeface="+mn-cs"/>
            </a:endParaRPr>
          </a:p>
        </p:txBody>
      </p:sp>
      <p:sp>
        <p:nvSpPr>
          <p:cNvPr id="8" name="Parallelogram 16"/>
          <p:cNvSpPr/>
          <p:nvPr>
            <p:custDataLst>
              <p:tags r:id="rId1"/>
            </p:custDataLst>
          </p:nvPr>
        </p:nvSpPr>
        <p:spPr>
          <a:xfrm>
            <a:off x="4455160" y="2550160"/>
            <a:ext cx="4114800" cy="501650"/>
          </a:xfrm>
          <a:prstGeom prst="parallelogram">
            <a:avLst>
              <a:gd name="adj" fmla="val 35345"/>
            </a:avLst>
          </a:prstGeom>
          <a:solidFill>
            <a:srgbClr val="E5F0F9"/>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2000" b="1" dirty="0">
              <a:solidFill>
                <a:srgbClr val="FFFFFF"/>
              </a:solidFill>
              <a:latin typeface="微软雅黑" panose="020B0503020204020204" pitchFamily="34" charset="-122"/>
              <a:ea typeface="微软雅黑" panose="020B0503020204020204" pitchFamily="34" charset="-122"/>
              <a:sym typeface="+mn-ea"/>
            </a:endParaRPr>
          </a:p>
        </p:txBody>
      </p:sp>
      <p:sp>
        <p:nvSpPr>
          <p:cNvPr id="9" name="Parallelogram 2"/>
          <p:cNvSpPr/>
          <p:nvPr>
            <p:custDataLst>
              <p:tags r:id="rId2"/>
            </p:custDataLst>
          </p:nvPr>
        </p:nvSpPr>
        <p:spPr>
          <a:xfrm>
            <a:off x="3852545" y="2550160"/>
            <a:ext cx="780415" cy="501650"/>
          </a:xfrm>
          <a:prstGeom prst="parallelogram">
            <a:avLst>
              <a:gd name="adj" fmla="val 35345"/>
            </a:avLst>
          </a:prstGeom>
          <a:solidFill>
            <a:srgbClr val="0070C0"/>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r>
              <a:rPr kumimoji="1" lang="en-US" altLang="zh-CN" sz="2000" b="1">
                <a:solidFill>
                  <a:srgbClr val="FFFFFF"/>
                </a:solidFill>
                <a:latin typeface="微软雅黑" panose="020B0503020204020204" pitchFamily="34" charset="-122"/>
                <a:ea typeface="微软雅黑" panose="020B0503020204020204" pitchFamily="34" charset="-122"/>
                <a:sym typeface="+mn-ea"/>
              </a:rPr>
              <a:t>02</a:t>
            </a:r>
            <a:endParaRPr kumimoji="1" lang="en-US" altLang="zh-CN" sz="2000" b="1">
              <a:solidFill>
                <a:srgbClr val="FFFFFF"/>
              </a:solidFill>
              <a:latin typeface="微软雅黑" panose="020B0503020204020204" pitchFamily="34" charset="-122"/>
              <a:ea typeface="微软雅黑" panose="020B0503020204020204" pitchFamily="34" charset="-122"/>
              <a:sym typeface="+mn-ea"/>
            </a:endParaRPr>
          </a:p>
        </p:txBody>
      </p:sp>
      <p:sp>
        <p:nvSpPr>
          <p:cNvPr id="10" name="文本框 18"/>
          <p:cNvSpPr/>
          <p:nvPr>
            <p:custDataLst>
              <p:tags r:id="rId3"/>
            </p:custDataLst>
          </p:nvPr>
        </p:nvSpPr>
        <p:spPr>
          <a:xfrm flipH="1">
            <a:off x="4643120" y="2602230"/>
            <a:ext cx="3778885" cy="398780"/>
          </a:xfrm>
          <a:prstGeom prst="rect">
            <a:avLst/>
          </a:prstGeom>
          <a:noFill/>
          <a:ln w="28575">
            <a:noFill/>
          </a:ln>
          <a:extLst>
            <a:ext uri="{909E8E84-426E-40DD-AFC4-6F175D3DCCD1}">
              <a14:hiddenFill xmlns:a14="http://schemas.microsoft.com/office/drawing/2010/main">
                <a:solidFill>
                  <a:srgbClr val="0070C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r>
              <a:rPr kumimoji="1" lang="zh-CN" altLang="en-US" sz="2400" b="1">
                <a:solidFill>
                  <a:schemeClr val="accent1"/>
                </a:solidFill>
                <a:latin typeface="微软雅黑" panose="020B0503020204020204" pitchFamily="34" charset="-122"/>
                <a:ea typeface="微软雅黑" panose="020B0503020204020204" pitchFamily="34" charset="-122"/>
                <a:sym typeface="+mn-ea"/>
              </a:rPr>
              <a:t>规划路径</a:t>
            </a:r>
            <a:endParaRPr kumimoji="1" lang="zh-CN" altLang="en-US" sz="2400" b="1">
              <a:solidFill>
                <a:schemeClr val="accent1"/>
              </a:solidFill>
              <a:latin typeface="微软雅黑" panose="020B0503020204020204" pitchFamily="34" charset="-122"/>
              <a:ea typeface="微软雅黑" panose="020B0503020204020204" pitchFamily="34" charset="-122"/>
              <a:sym typeface="+mn-ea"/>
            </a:endParaRPr>
          </a:p>
        </p:txBody>
      </p:sp>
      <p:sp>
        <p:nvSpPr>
          <p:cNvPr id="26" name="Parallelogram 16"/>
          <p:cNvSpPr/>
          <p:nvPr/>
        </p:nvSpPr>
        <p:spPr>
          <a:xfrm>
            <a:off x="4465320" y="1664970"/>
            <a:ext cx="4114800" cy="501650"/>
          </a:xfrm>
          <a:prstGeom prst="parallelogram">
            <a:avLst>
              <a:gd name="adj" fmla="val 35345"/>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2000" b="1" dirty="0">
              <a:solidFill>
                <a:srgbClr val="FFFFFF"/>
              </a:solidFill>
              <a:latin typeface="微软雅黑" panose="020B0503020204020204" pitchFamily="34" charset="-122"/>
              <a:ea typeface="微软雅黑" panose="020B0503020204020204" pitchFamily="34" charset="-122"/>
              <a:sym typeface="+mn-ea"/>
            </a:endParaRPr>
          </a:p>
        </p:txBody>
      </p:sp>
      <p:sp>
        <p:nvSpPr>
          <p:cNvPr id="27" name="Parallelogram 2"/>
          <p:cNvSpPr/>
          <p:nvPr/>
        </p:nvSpPr>
        <p:spPr>
          <a:xfrm>
            <a:off x="3862705" y="1664970"/>
            <a:ext cx="780415" cy="501650"/>
          </a:xfrm>
          <a:prstGeom prst="parallelogram">
            <a:avLst>
              <a:gd name="adj" fmla="val 35345"/>
            </a:avLst>
          </a:prstGeom>
          <a:solidFill>
            <a:schemeClr val="accent4">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kumimoji="1" lang="en-US" altLang="zh-CN" sz="2000" b="1">
                <a:solidFill>
                  <a:srgbClr val="FFFFFF"/>
                </a:solidFill>
                <a:latin typeface="微软雅黑" panose="020B0503020204020204" pitchFamily="34" charset="-122"/>
                <a:ea typeface="微软雅黑" panose="020B0503020204020204" pitchFamily="34" charset="-122"/>
              </a:rPr>
              <a:t>01</a:t>
            </a:r>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28" name="文本框 18"/>
          <p:cNvSpPr/>
          <p:nvPr/>
        </p:nvSpPr>
        <p:spPr>
          <a:xfrm flipH="1">
            <a:off x="4700270" y="1685925"/>
            <a:ext cx="3731260" cy="460375"/>
          </a:xfrm>
          <a:prstGeom prst="rect">
            <a:avLst/>
          </a:prstGeom>
          <a:noFill/>
          <a:ln w="28575">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r>
              <a:rPr kumimoji="1" lang="zh-CN" altLang="en-US" sz="2400" b="1" dirty="0">
                <a:solidFill>
                  <a:schemeClr val="accent4">
                    <a:lumMod val="50000"/>
                  </a:schemeClr>
                </a:solidFill>
                <a:latin typeface="微软雅黑" panose="020B0503020204020204" pitchFamily="34" charset="-122"/>
                <a:ea typeface="微软雅黑" panose="020B0503020204020204" pitchFamily="34" charset="-122"/>
                <a:sym typeface="+mn-ea"/>
              </a:rPr>
              <a:t>问题</a:t>
            </a:r>
            <a:r>
              <a:rPr kumimoji="1" lang="zh-CN" altLang="en-US" sz="2400" b="1" dirty="0">
                <a:solidFill>
                  <a:schemeClr val="accent4">
                    <a:lumMod val="50000"/>
                  </a:schemeClr>
                </a:solidFill>
                <a:latin typeface="微软雅黑" panose="020B0503020204020204" pitchFamily="34" charset="-122"/>
                <a:ea typeface="微软雅黑" panose="020B0503020204020204" pitchFamily="34" charset="-122"/>
                <a:sym typeface="+mn-ea"/>
              </a:rPr>
              <a:t>分析</a:t>
            </a:r>
            <a:endParaRPr kumimoji="1" lang="zh-CN" altLang="en-US" sz="2400" b="1" dirty="0">
              <a:solidFill>
                <a:schemeClr val="accent4">
                  <a:lumMod val="50000"/>
                </a:schemeClr>
              </a:solidFill>
              <a:latin typeface="微软雅黑" panose="020B0503020204020204" pitchFamily="34" charset="-122"/>
              <a:ea typeface="微软雅黑" panose="020B0503020204020204" pitchFamily="34" charset="-122"/>
              <a:sym typeface="+mn-ea"/>
            </a:endParaRPr>
          </a:p>
        </p:txBody>
      </p:sp>
      <p:sp>
        <p:nvSpPr>
          <p:cNvPr id="30" name="Parallelogram 16"/>
          <p:cNvSpPr/>
          <p:nvPr/>
        </p:nvSpPr>
        <p:spPr>
          <a:xfrm>
            <a:off x="4384675" y="3455670"/>
            <a:ext cx="4114800" cy="501650"/>
          </a:xfrm>
          <a:prstGeom prst="parallelogram">
            <a:avLst>
              <a:gd name="adj" fmla="val 35345"/>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1" name="Parallelogram 2"/>
          <p:cNvSpPr/>
          <p:nvPr/>
        </p:nvSpPr>
        <p:spPr>
          <a:xfrm>
            <a:off x="3782060" y="3455670"/>
            <a:ext cx="780415" cy="501650"/>
          </a:xfrm>
          <a:prstGeom prst="parallelogram">
            <a:avLst>
              <a:gd name="adj" fmla="val 35345"/>
            </a:avLst>
          </a:prstGeom>
          <a:solidFill>
            <a:schemeClr val="bg1">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kumimoji="1" lang="en-US" altLang="zh-CN" sz="2000" b="1" dirty="0">
                <a:solidFill>
                  <a:srgbClr val="FFFFFF"/>
                </a:solidFill>
                <a:latin typeface="微软雅黑" panose="020B0503020204020204" pitchFamily="34" charset="-122"/>
                <a:ea typeface="微软雅黑" panose="020B0503020204020204" pitchFamily="34" charset="-122"/>
              </a:rPr>
              <a:t>03</a:t>
            </a:r>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2" name="文本框 18"/>
          <p:cNvSpPr txBox="1"/>
          <p:nvPr/>
        </p:nvSpPr>
        <p:spPr>
          <a:xfrm flipH="1">
            <a:off x="4619625" y="3476625"/>
            <a:ext cx="3731260" cy="460375"/>
          </a:xfrm>
          <a:prstGeom prst="rect">
            <a:avLst/>
          </a:prstGeom>
          <a:solidFill>
            <a:schemeClr val="bg1">
              <a:lumMod val="95000"/>
            </a:schemeClr>
          </a:solidFill>
        </p:spPr>
        <p:txBody>
          <a:bodyPr wrap="square" rtlCol="0">
            <a:spAutoFit/>
          </a:bodyPr>
          <a:lstStyle>
            <a:defPPr>
              <a:defRPr lang="zh-CN"/>
            </a:defPPr>
            <a:lvl1pPr marR="0" lvl="0" indent="0" algn="ctr" defTabSz="457200" fontAlgn="auto">
              <a:lnSpc>
                <a:spcPct val="100000"/>
              </a:lnSpc>
              <a:spcBef>
                <a:spcPts val="0"/>
              </a:spcBef>
              <a:spcAft>
                <a:spcPts val="0"/>
              </a:spcAft>
              <a:buClrTx/>
              <a:buSzTx/>
              <a:buFontTx/>
              <a:buNone/>
              <a:defRPr kumimoji="0" sz="2400" b="1" i="0" u="none" strike="noStrike" cap="none" spc="0" normalizeH="0" baseline="0">
                <a:ln>
                  <a:noFill/>
                </a:ln>
                <a:solidFill>
                  <a:srgbClr val="0070C0"/>
                </a:solidFill>
                <a:effectLst/>
                <a:uLnTx/>
                <a:uFillTx/>
                <a:latin typeface="微软雅黑" panose="020B0503020204020204" pitchFamily="34" charset="-122"/>
                <a:ea typeface="微软雅黑" panose="020B0503020204020204" pitchFamily="34" charset="-122"/>
              </a:defRPr>
            </a:lvl1pPr>
          </a:lstStyle>
          <a:p>
            <a:r>
              <a:rPr lang="zh-CN" altLang="en-US" dirty="0">
                <a:solidFill>
                  <a:schemeClr val="bg1">
                    <a:lumMod val="50000"/>
                  </a:schemeClr>
                </a:solidFill>
                <a:sym typeface="+mn-ea"/>
              </a:rPr>
              <a:t>行动计划</a:t>
            </a:r>
            <a:endParaRPr lang="zh-CN" altLang="en-US" dirty="0">
              <a:solidFill>
                <a:schemeClr val="bg1">
                  <a:lumMod val="50000"/>
                </a:schemeClr>
              </a:solidFill>
            </a:endParaRPr>
          </a:p>
        </p:txBody>
      </p:sp>
      <p:grpSp>
        <p:nvGrpSpPr>
          <p:cNvPr id="14" name="组合 13"/>
          <p:cNvGrpSpPr/>
          <p:nvPr/>
        </p:nvGrpSpPr>
        <p:grpSpPr>
          <a:xfrm>
            <a:off x="3782060" y="4355465"/>
            <a:ext cx="4717415" cy="501650"/>
            <a:chOff x="5956" y="7316"/>
            <a:chExt cx="7429" cy="790"/>
          </a:xfrm>
          <a:solidFill>
            <a:schemeClr val="bg1">
              <a:lumMod val="95000"/>
            </a:schemeClr>
          </a:solidFill>
        </p:grpSpPr>
        <p:sp>
          <p:nvSpPr>
            <p:cNvPr id="34" name="Parallelogram 16"/>
            <p:cNvSpPr/>
            <p:nvPr/>
          </p:nvSpPr>
          <p:spPr>
            <a:xfrm>
              <a:off x="6905" y="7316"/>
              <a:ext cx="6480" cy="790"/>
            </a:xfrm>
            <a:prstGeom prst="parallelogram">
              <a:avLst>
                <a:gd name="adj" fmla="val 35345"/>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5" name="Parallelogram 2"/>
            <p:cNvSpPr/>
            <p:nvPr/>
          </p:nvSpPr>
          <p:spPr>
            <a:xfrm>
              <a:off x="5956" y="7316"/>
              <a:ext cx="1229" cy="790"/>
            </a:xfrm>
            <a:prstGeom prst="parallelogram">
              <a:avLst>
                <a:gd name="adj" fmla="val 35345"/>
              </a:avLst>
            </a:prstGeom>
            <a:solidFill>
              <a:schemeClr val="bg1">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kumimoji="1" lang="en-US" altLang="zh-CN" sz="2000" b="1" dirty="0">
                  <a:solidFill>
                    <a:srgbClr val="FFFFFF"/>
                  </a:solidFill>
                  <a:latin typeface="微软雅黑" panose="020B0503020204020204" pitchFamily="34" charset="-122"/>
                  <a:ea typeface="微软雅黑" panose="020B0503020204020204" pitchFamily="34" charset="-122"/>
                </a:rPr>
                <a:t>04</a:t>
              </a:r>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6" name="文本框 18"/>
            <p:cNvSpPr txBox="1"/>
            <p:nvPr/>
          </p:nvSpPr>
          <p:spPr>
            <a:xfrm flipH="1">
              <a:off x="7303" y="7349"/>
              <a:ext cx="5876" cy="725"/>
            </a:xfrm>
            <a:prstGeom prst="rect">
              <a:avLst/>
            </a:prstGeom>
            <a:grpFill/>
          </p:spPr>
          <p:txBody>
            <a:bodyPr wrap="square" rtlCol="0">
              <a:spAutoFit/>
            </a:bodyPr>
            <a:lstStyle>
              <a:defPPr>
                <a:defRPr lang="zh-CN"/>
              </a:defPPr>
              <a:lvl1pPr marR="0" lvl="0" indent="0" algn="ctr" defTabSz="457200" fontAlgn="auto">
                <a:lnSpc>
                  <a:spcPct val="100000"/>
                </a:lnSpc>
                <a:spcBef>
                  <a:spcPts val="0"/>
                </a:spcBef>
                <a:spcAft>
                  <a:spcPts val="0"/>
                </a:spcAft>
                <a:buClrTx/>
                <a:buSzTx/>
                <a:buFontTx/>
                <a:buNone/>
                <a:defRPr kumimoji="0" sz="2400" b="1" i="0" u="none" strike="noStrike" cap="none" spc="0" normalizeH="0" baseline="0">
                  <a:ln>
                    <a:noFill/>
                  </a:ln>
                  <a:solidFill>
                    <a:srgbClr val="0070C0"/>
                  </a:solidFill>
                  <a:effectLst/>
                  <a:uLnTx/>
                  <a:uFillTx/>
                  <a:latin typeface="微软雅黑" panose="020B0503020204020204" pitchFamily="34" charset="-122"/>
                  <a:ea typeface="微软雅黑" panose="020B0503020204020204" pitchFamily="34" charset="-122"/>
                </a:defRPr>
              </a:lvl1pPr>
            </a:lstStyle>
            <a:p>
              <a:r>
                <a:rPr lang="zh-CN" altLang="en-US" dirty="0">
                  <a:solidFill>
                    <a:schemeClr val="bg1">
                      <a:lumMod val="50000"/>
                    </a:schemeClr>
                  </a:solidFill>
                  <a:sym typeface="+mn-ea"/>
                </a:rPr>
                <a:t>任务清单</a:t>
              </a:r>
              <a:endParaRPr lang="zh-CN" altLang="en-US" dirty="0">
                <a:solidFill>
                  <a:schemeClr val="bg1">
                    <a:lumMod val="50000"/>
                  </a:schemeClr>
                </a:solidFill>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38" name=""/>
        <p:cNvGrpSpPr/>
        <p:nvPr/>
      </p:nvGrpSpPr>
      <p:grpSpPr>
        <a:xfrm>
          <a:off x="0" y="0"/>
          <a:ext cx="0" cy="0"/>
          <a:chOff x="0" y="0"/>
          <a:chExt cx="0" cy="0"/>
        </a:xfrm>
      </p:grpSpPr>
      <p:sp>
        <p:nvSpPr>
          <p:cNvPr id="1048937" name="标题 1"/>
          <p:cNvSpPr>
            <a:spLocks noGrp="1"/>
          </p:cNvSpPr>
          <p:nvPr>
            <p:ph type="title"/>
          </p:nvPr>
        </p:nvSpPr>
        <p:spPr/>
        <p:txBody>
          <a:bodyPr>
            <a:normAutofit/>
          </a:bodyPr>
          <a:p>
            <a:r>
              <a:rPr lang="zh-CN" altLang="en-US">
                <a:solidFill>
                  <a:srgbClr val="C00000"/>
                </a:solidFill>
                <a:sym typeface="+mn-ea"/>
              </a:rPr>
              <a:t>业务蓝图</a:t>
            </a: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sym typeface="+mn-ea"/>
              </a:rPr>
              <a:t>构建</a:t>
            </a:r>
            <a:r>
              <a:rPr>
                <a:sym typeface="+mn-ea"/>
              </a:rPr>
              <a:t>“</a:t>
            </a:r>
            <a:r>
              <a:rPr lang="zh-CN" altLang="en-US">
                <a:sym typeface="+mn-ea"/>
              </a:rPr>
              <a:t>2</a:t>
            </a:r>
            <a:r>
              <a:rPr>
                <a:sym typeface="+mn-ea"/>
              </a:rPr>
              <a:t>3</a:t>
            </a:r>
            <a:r>
              <a:rPr lang="zh-CN" altLang="en-US">
                <a:sym typeface="+mn-ea"/>
              </a:rPr>
              <a:t>46</a:t>
            </a:r>
            <a:r>
              <a:rPr>
                <a:sym typeface="+mn-ea"/>
              </a:rPr>
              <a:t>”</a:t>
            </a:r>
            <a:r>
              <a:rPr lang="zh-CN" altLang="en-US">
                <a:sym typeface="+mn-ea"/>
              </a:rPr>
              <a:t>客户全生命周期数智营销体系</a:t>
            </a:r>
            <a:endParaRPr lang="zh-CN" altLang="en-US" kern="0" noProof="0" dirty="0">
              <a:ln>
                <a:noFill/>
              </a:ln>
              <a:effectLst/>
              <a:uLn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48938" name="文本占位符 2"/>
          <p:cNvSpPr>
            <a:spLocks noGrp="1"/>
          </p:cNvSpPr>
          <p:nvPr>
            <p:ph type="body" sz="quarter" idx="10"/>
          </p:nvPr>
        </p:nvSpPr>
        <p:spPr>
          <a:xfrm>
            <a:off x="151130" y="915035"/>
            <a:ext cx="12178665" cy="657860"/>
          </a:xfrm>
        </p:spPr>
        <p:txBody>
          <a:bodyPr/>
          <a:p>
            <a:r>
              <a:t>  以能力中台为底座，构建全生命周期数据平台和AI智慧大脑2个平台，统一收敛3屏联动前台，形成4大关键融合运营能力，落地到6大要素，支撑各细分场景，实现存增一体的客户全生命周期精准运营。</a:t>
            </a:r>
          </a:p>
        </p:txBody>
      </p:sp>
      <p:grpSp>
        <p:nvGrpSpPr>
          <p:cNvPr id="45" name="组合 44"/>
          <p:cNvGrpSpPr/>
          <p:nvPr/>
        </p:nvGrpSpPr>
        <p:grpSpPr>
          <a:xfrm>
            <a:off x="236855" y="1421130"/>
            <a:ext cx="11717020" cy="5322570"/>
            <a:chOff x="373" y="2013"/>
            <a:chExt cx="18452" cy="8382"/>
          </a:xfrm>
        </p:grpSpPr>
        <p:sp>
          <p:nvSpPr>
            <p:cNvPr id="280" name="矩形 279"/>
            <p:cNvSpPr/>
            <p:nvPr>
              <p:custDataLst>
                <p:tags r:id="rId1"/>
              </p:custDataLst>
            </p:nvPr>
          </p:nvSpPr>
          <p:spPr>
            <a:xfrm>
              <a:off x="453" y="8585"/>
              <a:ext cx="6598" cy="1514"/>
            </a:xfrm>
            <a:prstGeom prst="rect">
              <a:avLst/>
            </a:prstGeom>
            <a:solidFill>
              <a:srgbClr val="E6F0F8"/>
            </a:solidFill>
            <a:ln w="12700" cap="flat" cmpd="sng" algn="ctr">
              <a:solidFill>
                <a:schemeClr val="bg1">
                  <a:lumMod val="75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pitchFamily="34" charset="-122"/>
                <a:cs typeface="+mn-cs"/>
              </a:endParaRPr>
            </a:p>
          </p:txBody>
        </p:sp>
        <p:sp>
          <p:nvSpPr>
            <p:cNvPr id="13" name="文本框 12"/>
            <p:cNvSpPr txBox="1"/>
            <p:nvPr/>
          </p:nvSpPr>
          <p:spPr>
            <a:xfrm>
              <a:off x="7110" y="2777"/>
              <a:ext cx="4871" cy="531"/>
            </a:xfrm>
            <a:prstGeom prst="rect">
              <a:avLst/>
            </a:prstGeom>
            <a:noFill/>
          </p:spPr>
          <p:txBody>
            <a:bodyPr wrap="square" rtlCol="0">
              <a:sp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央企</a:t>
              </a:r>
              <a:r>
                <a:rPr kumimoji="0" lang="zh-CN" altLang="en-US" sz="1600" b="0"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数字化转型标杆</a:t>
              </a:r>
              <a:endParaRPr kumimoji="0" lang="zh-CN" altLang="en-US" sz="1600" b="0"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rot="0">
              <a:off x="2325" y="2103"/>
              <a:ext cx="15862" cy="1725"/>
              <a:chOff x="3668" y="1760"/>
              <a:chExt cx="13065" cy="2947"/>
            </a:xfrm>
          </p:grpSpPr>
          <p:sp>
            <p:nvSpPr>
              <p:cNvPr id="15" name="等腰三角形 14"/>
              <p:cNvSpPr/>
              <p:nvPr/>
            </p:nvSpPr>
            <p:spPr>
              <a:xfrm>
                <a:off x="3668" y="1760"/>
                <a:ext cx="13065" cy="941"/>
              </a:xfrm>
              <a:prstGeom prst="triangle">
                <a:avLst>
                  <a:gd name="adj" fmla="val 49703"/>
                </a:avLst>
              </a:prstGeom>
              <a:solidFill>
                <a:srgbClr val="0070C6"/>
              </a:solidFill>
              <a:ln w="12700" cap="flat" cmpd="sng" algn="ctr">
                <a:noFill/>
                <a:prstDash val="solid"/>
                <a:miter lim="800000"/>
              </a:ln>
              <a:effec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基于用户细分、存增一体的客户全生命周期精准运营</a:t>
                </a:r>
                <a:endParaRPr kumimoji="0" lang="zh-CN" altLang="en-US" sz="130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6360" y="4089"/>
                <a:ext cx="6374" cy="618"/>
              </a:xfrm>
              <a:prstGeom prst="rect">
                <a:avLst/>
              </a:prstGeom>
              <a:noFill/>
            </p:spPr>
            <p:txBody>
              <a:bodyPr wrap="square" rtlCol="0">
                <a:sp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基于用户细分、存增一体的客户全生命周期精准运营</a:t>
                </a:r>
                <a:endParaRPr kumimoji="0" lang="zh-CN" altLang="en-US" sz="9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108" name="矩形 107"/>
            <p:cNvSpPr/>
            <p:nvPr/>
          </p:nvSpPr>
          <p:spPr>
            <a:xfrm>
              <a:off x="7961" y="5889"/>
              <a:ext cx="2220" cy="1754"/>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lumMod val="60000"/>
                      <a:lumOff val="40000"/>
                    </a:schemeClr>
                  </a:solidFill>
                </a14:hiddenFill>
              </a:ext>
            </a:ex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chemeClr val="tx1"/>
                </a:solidFill>
                <a:effectLst/>
                <a:uLnTx/>
                <a:uFillTx/>
                <a:latin typeface="Arial" panose="020B0604020202020204"/>
                <a:ea typeface="微软雅黑" panose="020B0503020204020204" pitchFamily="34" charset="-122"/>
                <a:cs typeface="+mn-cs"/>
              </a:endParaRPr>
            </a:p>
          </p:txBody>
        </p:sp>
        <p:sp>
          <p:nvSpPr>
            <p:cNvPr id="109" name="矩形 108"/>
            <p:cNvSpPr/>
            <p:nvPr>
              <p:custDataLst>
                <p:tags r:id="rId2"/>
              </p:custDataLst>
            </p:nvPr>
          </p:nvSpPr>
          <p:spPr>
            <a:xfrm>
              <a:off x="373" y="5036"/>
              <a:ext cx="7134" cy="3368"/>
            </a:xfrm>
            <a:prstGeom prst="rect">
              <a:avLst/>
            </a:prstGeom>
            <a:noFill/>
            <a:ln w="19050" cap="flat" cmpd="sng" algn="ctr">
              <a:solidFill>
                <a:schemeClr val="accent1">
                  <a:shade val="50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pitchFamily="34" charset="-122"/>
                <a:cs typeface="+mn-cs"/>
              </a:endParaRPr>
            </a:p>
          </p:txBody>
        </p:sp>
        <p:sp>
          <p:nvSpPr>
            <p:cNvPr id="110" name="矩形 109"/>
            <p:cNvSpPr/>
            <p:nvPr>
              <p:custDataLst>
                <p:tags r:id="rId3"/>
              </p:custDataLst>
            </p:nvPr>
          </p:nvSpPr>
          <p:spPr>
            <a:xfrm>
              <a:off x="7607" y="5036"/>
              <a:ext cx="9650" cy="3368"/>
            </a:xfrm>
            <a:prstGeom prst="rect">
              <a:avLst/>
            </a:prstGeom>
            <a:noFill/>
            <a:ln w="19050" cap="flat" cmpd="sng" algn="ctr">
              <a:solidFill>
                <a:schemeClr val="accent1">
                  <a:shade val="50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pitchFamily="34" charset="-122"/>
                <a:cs typeface="+mn-cs"/>
              </a:endParaRPr>
            </a:p>
          </p:txBody>
        </p:sp>
        <p:sp>
          <p:nvSpPr>
            <p:cNvPr id="127" name="矩形 126"/>
            <p:cNvSpPr/>
            <p:nvPr>
              <p:custDataLst>
                <p:tags r:id="rId4"/>
              </p:custDataLst>
            </p:nvPr>
          </p:nvSpPr>
          <p:spPr>
            <a:xfrm>
              <a:off x="17355" y="4386"/>
              <a:ext cx="1402" cy="6009"/>
            </a:xfrm>
            <a:prstGeom prst="rect">
              <a:avLst/>
            </a:prstGeom>
            <a:noFill/>
            <a:ln w="19050" cap="flat" cmpd="sng" algn="ctr">
              <a:solidFill>
                <a:schemeClr val="bg1">
                  <a:lumMod val="75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pitchFamily="34" charset="-122"/>
                <a:cs typeface="+mn-cs"/>
              </a:endParaRPr>
            </a:p>
          </p:txBody>
        </p:sp>
        <p:sp>
          <p:nvSpPr>
            <p:cNvPr id="129" name="矩形 128"/>
            <p:cNvSpPr/>
            <p:nvPr/>
          </p:nvSpPr>
          <p:spPr>
            <a:xfrm>
              <a:off x="7698" y="5175"/>
              <a:ext cx="9459" cy="526"/>
            </a:xfrm>
            <a:prstGeom prst="rect">
              <a:avLst/>
            </a:prstGeom>
            <a:solidFill>
              <a:srgbClr val="E6F0F8"/>
            </a:solidFill>
            <a:ln w="12700" cap="flat" cmpd="sng" algn="ctr">
              <a:noFill/>
              <a:prstDash val="solid"/>
              <a:miter lim="800000"/>
            </a:ln>
            <a:effectLst/>
          </p:spPr>
          <p:txBody>
            <a:bodyPr rtlCol="0" anchor="ctr">
              <a:noAutofit/>
            </a:bodyPr>
            <a:p>
              <a:pPr lvl="0" algn="ctr">
                <a:buClrTx/>
                <a:buSzTx/>
                <a:buFontTx/>
                <a:defRPr/>
              </a:pPr>
              <a:r>
                <a:rPr lang="en-US" altLang="zh-CN" sz="1400" b="1" kern="0" dirty="0">
                  <a:solidFill>
                    <a:srgbClr val="C00000"/>
                  </a:solidFill>
                  <a:latin typeface="Arial" panose="020B0604020202020204"/>
                  <a:ea typeface="微软雅黑" panose="020B0503020204020204" pitchFamily="34" charset="-122"/>
                  <a:sym typeface="+mn-ea"/>
                </a:rPr>
                <a:t>    </a:t>
              </a:r>
              <a:r>
                <a:rPr lang="zh-CN" altLang="en-US" sz="1200" b="1" kern="0" dirty="0">
                  <a:solidFill>
                    <a:srgbClr val="C00000"/>
                  </a:solidFill>
                  <a:latin typeface="Arial" panose="020B0604020202020204"/>
                  <a:ea typeface="微软雅黑" panose="020B0503020204020204" pitchFamily="34" charset="-122"/>
                  <a:sym typeface="+mn-ea"/>
                </a:rPr>
                <a:t>客户全生命周期</a:t>
              </a:r>
              <a:r>
                <a:rPr lang="en-US" altLang="zh-CN" sz="1200" b="1" kern="0" dirty="0">
                  <a:solidFill>
                    <a:srgbClr val="C00000"/>
                  </a:solidFill>
                  <a:latin typeface="Arial" panose="020B0604020202020204"/>
                  <a:ea typeface="微软雅黑" panose="020B0503020204020204" pitchFamily="34" charset="-122"/>
                  <a:sym typeface="+mn-ea"/>
                </a:rPr>
                <a:t>--</a:t>
              </a:r>
              <a:r>
                <a:rPr lang="zh-CN" altLang="en-US" sz="1400" b="1" kern="0" dirty="0">
                  <a:solidFill>
                    <a:srgbClr val="C00000"/>
                  </a:solidFill>
                  <a:latin typeface="Arial" panose="020B0604020202020204"/>
                  <a:ea typeface="微软雅黑" panose="020B0503020204020204" pitchFamily="34" charset="-122"/>
                  <a:sym typeface="+mn-ea"/>
                </a:rPr>
                <a:t>AI智慧大脑</a:t>
              </a:r>
              <a:endParaRPr lang="zh-CN" altLang="en-US" sz="1400" b="1" kern="0" dirty="0">
                <a:solidFill>
                  <a:srgbClr val="C00000"/>
                </a:solidFill>
                <a:latin typeface="Arial" panose="020B0604020202020204"/>
                <a:ea typeface="微软雅黑" panose="020B0503020204020204" pitchFamily="34" charset="-122"/>
                <a:sym typeface="+mn-ea"/>
              </a:endParaRPr>
            </a:p>
          </p:txBody>
        </p:sp>
        <p:sp>
          <p:nvSpPr>
            <p:cNvPr id="130" name="矩形 129"/>
            <p:cNvSpPr/>
            <p:nvPr>
              <p:custDataLst>
                <p:tags r:id="rId5"/>
              </p:custDataLst>
            </p:nvPr>
          </p:nvSpPr>
          <p:spPr>
            <a:xfrm>
              <a:off x="454" y="5196"/>
              <a:ext cx="6921" cy="542"/>
            </a:xfrm>
            <a:prstGeom prst="rect">
              <a:avLst/>
            </a:prstGeom>
            <a:solidFill>
              <a:srgbClr val="E6F0F8"/>
            </a:solidFill>
            <a:ln w="12700" cap="flat" cmpd="sng" algn="ctr">
              <a:noFill/>
              <a:prstDash val="solid"/>
              <a:miter lim="800000"/>
            </a:ln>
            <a:effectLst/>
          </p:spPr>
          <p:txBody>
            <a:bodyPr rtlCol="0" anchor="ctr">
              <a:noAutofit/>
            </a:bodyPr>
            <a:p>
              <a:pPr lvl="0" algn="ctr">
                <a:buClrTx/>
                <a:buSzTx/>
                <a:buFontTx/>
                <a:defRPr/>
              </a:pPr>
              <a:r>
                <a:rPr lang="zh-CN" altLang="en-US" sz="1200" b="1" kern="0" dirty="0">
                  <a:solidFill>
                    <a:srgbClr val="C00000"/>
                  </a:solidFill>
                  <a:latin typeface="Arial" panose="020B0604020202020204"/>
                  <a:ea typeface="微软雅黑" panose="020B0503020204020204" pitchFamily="34" charset="-122"/>
                  <a:sym typeface="+mn-ea"/>
                </a:rPr>
                <a:t>客户全生命周期</a:t>
              </a:r>
              <a:r>
                <a:rPr lang="en-US" altLang="zh-CN" sz="1200" b="1" kern="0" dirty="0">
                  <a:solidFill>
                    <a:srgbClr val="C00000"/>
                  </a:solidFill>
                  <a:latin typeface="Arial" panose="020B0604020202020204"/>
                  <a:ea typeface="微软雅黑" panose="020B0503020204020204" pitchFamily="34" charset="-122"/>
                  <a:sym typeface="+mn-ea"/>
                </a:rPr>
                <a:t>--</a:t>
              </a:r>
              <a:r>
                <a:rPr lang="zh-CN" altLang="en-US" sz="1400" b="1" kern="0" dirty="0">
                  <a:solidFill>
                    <a:srgbClr val="C00000"/>
                  </a:solidFill>
                  <a:latin typeface="Arial" panose="020B0604020202020204"/>
                  <a:ea typeface="微软雅黑" panose="020B0503020204020204" pitchFamily="34" charset="-122"/>
                  <a:sym typeface="+mn-ea"/>
                </a:rPr>
                <a:t>数据平台</a:t>
              </a:r>
              <a:endParaRPr lang="zh-CN" altLang="en-US" sz="1400" b="1" kern="0" dirty="0">
                <a:solidFill>
                  <a:srgbClr val="C00000"/>
                </a:solidFill>
                <a:latin typeface="Arial" panose="020B0604020202020204"/>
                <a:ea typeface="微软雅黑" panose="020B0503020204020204" pitchFamily="34" charset="-122"/>
                <a:sym typeface="+mn-ea"/>
              </a:endParaRPr>
            </a:p>
          </p:txBody>
        </p:sp>
        <p:sp>
          <p:nvSpPr>
            <p:cNvPr id="183" name="矩形 182"/>
            <p:cNvSpPr/>
            <p:nvPr>
              <p:custDataLst>
                <p:tags r:id="rId6"/>
              </p:custDataLst>
            </p:nvPr>
          </p:nvSpPr>
          <p:spPr>
            <a:xfrm>
              <a:off x="373" y="10151"/>
              <a:ext cx="16750" cy="244"/>
            </a:xfrm>
            <a:prstGeom prst="rect">
              <a:avLst/>
            </a:prstGeom>
            <a:solidFill>
              <a:srgbClr val="E6F0F8"/>
            </a:solidFill>
            <a:ln w="12700" cap="flat" cmpd="sng" algn="ctr">
              <a:noFill/>
              <a:prstDash val="solid"/>
              <a:miter lim="800000"/>
            </a:ln>
            <a:effectLst/>
          </p:spPr>
          <p:txBody>
            <a:bodyPr rtlCol="0" anchor="ctr">
              <a:noAutofit/>
            </a:bodyPr>
            <a:p>
              <a:pPr marL="0" marR="0" lvl="0" algn="ctr" defTabSz="457200" rtl="0" eaLnBrk="1" fontAlgn="auto" latinLnBrk="0" hangingPunct="1">
                <a:lnSpc>
                  <a:spcPct val="100000"/>
                </a:lnSpc>
                <a:spcBef>
                  <a:spcPts val="0"/>
                </a:spcBef>
                <a:spcAft>
                  <a:spcPts val="0"/>
                </a:spcAft>
                <a:buClrTx/>
                <a:buSzTx/>
                <a:buFontTx/>
                <a:buNone/>
                <a:defRPr/>
              </a:pPr>
              <a:r>
                <a:rPr lang="zh-CN" altLang="en-US" sz="1200" b="1" noProof="0">
                  <a:ln>
                    <a:noFill/>
                  </a:ln>
                  <a:solidFill>
                    <a:srgbClr val="0070C0"/>
                  </a:solidFill>
                  <a:effectLst/>
                  <a:uLnTx/>
                  <a:uFillTx/>
                  <a:latin typeface="微软雅黑" panose="020B0503020204020204" pitchFamily="34" charset="-122"/>
                  <a:ea typeface="微软雅黑" panose="020B0503020204020204" pitchFamily="34" charset="-122"/>
                  <a:sym typeface="+mn-ea"/>
                </a:rPr>
                <a:t>能力中台支撑底座</a:t>
              </a:r>
              <a:endParaRPr lang="zh-CN" altLang="en-US" sz="1200" b="1" kern="0" noProof="0" dirty="0">
                <a:ln>
                  <a:noFill/>
                </a:ln>
                <a:solidFill>
                  <a:srgbClr val="0070C0"/>
                </a:solidFill>
                <a:effectLst/>
                <a:uLnTx/>
                <a:uFillTx/>
                <a:latin typeface="微软雅黑" panose="020B0503020204020204" pitchFamily="34" charset="-122"/>
                <a:ea typeface="微软雅黑" panose="020B0503020204020204" pitchFamily="34" charset="-122"/>
                <a:sym typeface="+mn-ea"/>
              </a:endParaRPr>
            </a:p>
          </p:txBody>
        </p:sp>
        <p:sp>
          <p:nvSpPr>
            <p:cNvPr id="131" name="矩形 130"/>
            <p:cNvSpPr/>
            <p:nvPr>
              <p:custDataLst>
                <p:tags r:id="rId7"/>
              </p:custDataLst>
            </p:nvPr>
          </p:nvSpPr>
          <p:spPr>
            <a:xfrm>
              <a:off x="387" y="2013"/>
              <a:ext cx="18438" cy="1189"/>
            </a:xfrm>
            <a:prstGeom prst="rect">
              <a:avLst/>
            </a:prstGeom>
            <a:noFill/>
            <a:ln w="12700" cap="flat" cmpd="sng" algn="ctr">
              <a:solidFill>
                <a:schemeClr val="accent1">
                  <a:shade val="50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pitchFamily="34" charset="-122"/>
                <a:cs typeface="+mn-cs"/>
              </a:endParaRPr>
            </a:p>
          </p:txBody>
        </p:sp>
        <p:sp>
          <p:nvSpPr>
            <p:cNvPr id="26" name="文本框 25"/>
            <p:cNvSpPr txBox="1"/>
            <p:nvPr/>
          </p:nvSpPr>
          <p:spPr>
            <a:xfrm>
              <a:off x="387" y="2103"/>
              <a:ext cx="1601" cy="427"/>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目</a:t>
              </a:r>
              <a:r>
                <a:rPr kumimoji="0" lang="en-US" altLang="zh-CN" sz="1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   </a:t>
              </a:r>
              <a:r>
                <a:rPr kumimoji="0" lang="zh-CN" altLang="en-US" sz="1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标</a:t>
              </a:r>
              <a:endParaRPr kumimoji="0" lang="zh-CN" altLang="en-US" sz="1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grpSp>
          <p:nvGrpSpPr>
            <p:cNvPr id="29" name="组合 28"/>
            <p:cNvGrpSpPr/>
            <p:nvPr/>
          </p:nvGrpSpPr>
          <p:grpSpPr>
            <a:xfrm rot="0">
              <a:off x="476" y="4349"/>
              <a:ext cx="16539" cy="555"/>
              <a:chOff x="316" y="3085"/>
              <a:chExt cx="16700" cy="567"/>
            </a:xfrm>
          </p:grpSpPr>
          <p:sp>
            <p:nvSpPr>
              <p:cNvPr id="72" name="文本框 71"/>
              <p:cNvSpPr txBox="1"/>
              <p:nvPr/>
            </p:nvSpPr>
            <p:spPr>
              <a:xfrm>
                <a:off x="316" y="3085"/>
                <a:ext cx="1907" cy="552"/>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4</a:t>
                </a:r>
                <a:r>
                  <a:rPr kumimoji="0" lang="zh-CN"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大关键</a:t>
                </a:r>
                <a:endParaRPr kumimoji="0" lang="zh-CN"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融合运营能力</a:t>
                </a:r>
                <a:endParaRPr kumimoji="0" lang="zh-CN"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nvGrpSpPr>
              <p:cNvPr id="21" name="组合 20"/>
              <p:cNvGrpSpPr/>
              <p:nvPr/>
            </p:nvGrpSpPr>
            <p:grpSpPr>
              <a:xfrm rot="0">
                <a:off x="2224" y="3180"/>
                <a:ext cx="14792" cy="473"/>
                <a:chOff x="1702" y="4397"/>
                <a:chExt cx="13834" cy="1753"/>
              </a:xfrm>
            </p:grpSpPr>
            <p:sp>
              <p:nvSpPr>
                <p:cNvPr id="22" name="矩形 21"/>
                <p:cNvSpPr/>
                <p:nvPr>
                  <p:custDataLst>
                    <p:tags r:id="rId8"/>
                  </p:custDataLst>
                </p:nvPr>
              </p:nvSpPr>
              <p:spPr>
                <a:xfrm>
                  <a:off x="1702" y="4465"/>
                  <a:ext cx="3372" cy="1683"/>
                </a:xfrm>
                <a:prstGeom prst="rect">
                  <a:avLst/>
                </a:prstGeom>
                <a:solidFill>
                  <a:srgbClr val="E6F0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全领域：</a:t>
                  </a:r>
                  <a:r>
                    <a:rPr kumimoji="1" lang="zh-CN" altLang="en-US" sz="11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客户统一账号</a:t>
                  </a:r>
                  <a:endParaRPr kumimoji="1"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3" name="矩形 22"/>
                <p:cNvSpPr/>
                <p:nvPr>
                  <p:custDataLst>
                    <p:tags r:id="rId9"/>
                  </p:custDataLst>
                </p:nvPr>
              </p:nvSpPr>
              <p:spPr>
                <a:xfrm>
                  <a:off x="5161" y="4397"/>
                  <a:ext cx="3372" cy="1684"/>
                </a:xfrm>
                <a:prstGeom prst="rect">
                  <a:avLst/>
                </a:prstGeom>
                <a:solidFill>
                  <a:srgbClr val="E6F0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全时空：</a:t>
                  </a:r>
                  <a:r>
                    <a:rPr kumimoji="1" lang="zh-CN" altLang="en-US" sz="11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客户融合洞察</a:t>
                  </a:r>
                  <a:endParaRPr kumimoji="1"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 name="矩形 4"/>
                <p:cNvSpPr/>
                <p:nvPr>
                  <p:custDataLst>
                    <p:tags r:id="rId10"/>
                  </p:custDataLst>
                </p:nvPr>
              </p:nvSpPr>
              <p:spPr>
                <a:xfrm>
                  <a:off x="8667" y="4466"/>
                  <a:ext cx="3372" cy="1684"/>
                </a:xfrm>
                <a:prstGeom prst="rect">
                  <a:avLst/>
                </a:prstGeom>
                <a:solidFill>
                  <a:srgbClr val="E6F0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全产品：</a:t>
                  </a:r>
                  <a:r>
                    <a:rPr kumimoji="1" lang="zh-CN" altLang="en-US" sz="11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灵活封装供给</a:t>
                  </a:r>
                  <a:endParaRPr kumimoji="1"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5" name="矩形 24"/>
                <p:cNvSpPr/>
                <p:nvPr>
                  <p:custDataLst>
                    <p:tags r:id="rId11"/>
                  </p:custDataLst>
                </p:nvPr>
              </p:nvSpPr>
              <p:spPr>
                <a:xfrm>
                  <a:off x="12164" y="4463"/>
                  <a:ext cx="3372" cy="1684"/>
                </a:xfrm>
                <a:prstGeom prst="rect">
                  <a:avLst/>
                </a:prstGeom>
                <a:solidFill>
                  <a:srgbClr val="E6F0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全触点：</a:t>
                  </a:r>
                  <a:r>
                    <a:rPr kumimoji="1" lang="zh-CN" altLang="en-US" sz="11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联动智能交互</a:t>
                  </a:r>
                  <a:endParaRPr kumimoji="1"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grpSp>
        </p:grpSp>
        <p:grpSp>
          <p:nvGrpSpPr>
            <p:cNvPr id="34" name="组合 33"/>
            <p:cNvGrpSpPr/>
            <p:nvPr/>
          </p:nvGrpSpPr>
          <p:grpSpPr>
            <a:xfrm rot="0">
              <a:off x="17397" y="4505"/>
              <a:ext cx="1317" cy="5692"/>
              <a:chOff x="17397" y="4109"/>
              <a:chExt cx="1317" cy="6351"/>
            </a:xfrm>
          </p:grpSpPr>
          <p:sp>
            <p:nvSpPr>
              <p:cNvPr id="128" name="矩形 127"/>
              <p:cNvSpPr/>
              <p:nvPr>
                <p:custDataLst>
                  <p:tags r:id="rId12"/>
                </p:custDataLst>
              </p:nvPr>
            </p:nvSpPr>
            <p:spPr>
              <a:xfrm>
                <a:off x="17400" y="4109"/>
                <a:ext cx="1314" cy="832"/>
              </a:xfrm>
              <a:prstGeom prst="rect">
                <a:avLst/>
              </a:prstGeom>
              <a:solidFill>
                <a:srgbClr val="E6F0F8"/>
              </a:solidFill>
              <a:ln w="12700" cap="flat" cmpd="sng" algn="ctr">
                <a:noFill/>
                <a:prstDash val="solid"/>
                <a:miter lim="800000"/>
              </a:ln>
              <a:effectLst/>
            </p:spPr>
            <p:txBody>
              <a:bodyPr rtlCol="0" anchor="ctr">
                <a:noAutofit/>
              </a:bodyPr>
              <a:p>
                <a:pPr lvl="0" algn="ctr" defTabSz="457200">
                  <a:spcBef>
                    <a:spcPts val="0"/>
                  </a:spcBef>
                  <a:spcAft>
                    <a:spcPts val="0"/>
                  </a:spcAft>
                  <a:buClrTx/>
                  <a:buSzTx/>
                  <a:buFontTx/>
                  <a:defRPr/>
                </a:pPr>
                <a:r>
                  <a:rPr lang="en-US" altLang="zh-CN" sz="1400" b="1" noProof="0">
                    <a:ln>
                      <a:noFill/>
                    </a:ln>
                    <a:solidFill>
                      <a:srgbClr val="C00000"/>
                    </a:solidFill>
                    <a:effectLst/>
                    <a:uLnTx/>
                    <a:uFillTx/>
                    <a:latin typeface="微软雅黑" panose="020B0503020204020204" pitchFamily="34" charset="-122"/>
                    <a:ea typeface="微软雅黑" panose="020B0503020204020204" pitchFamily="34" charset="-122"/>
                    <a:sym typeface="+mn-ea"/>
                  </a:rPr>
                  <a:t>6大要素</a:t>
                </a:r>
                <a:endParaRPr lang="en-US" altLang="zh-CN" sz="1400" b="1" noProof="0">
                  <a:ln>
                    <a:noFill/>
                  </a:ln>
                  <a:solidFill>
                    <a:srgbClr val="C00000"/>
                  </a:solidFill>
                  <a:effectLst/>
                  <a:uLnTx/>
                  <a:uFillTx/>
                  <a:latin typeface="微软雅黑" panose="020B0503020204020204" pitchFamily="34" charset="-122"/>
                  <a:ea typeface="微软雅黑" panose="020B0503020204020204" pitchFamily="34" charset="-122"/>
                  <a:sym typeface="+mn-ea"/>
                </a:endParaRPr>
              </a:p>
            </p:txBody>
          </p:sp>
          <p:sp>
            <p:nvSpPr>
              <p:cNvPr id="8" name="矩形 7"/>
              <p:cNvSpPr/>
              <p:nvPr/>
            </p:nvSpPr>
            <p:spPr>
              <a:xfrm>
                <a:off x="17397" y="4999"/>
                <a:ext cx="1315" cy="850"/>
              </a:xfrm>
              <a:prstGeom prst="rect">
                <a:avLst/>
              </a:prstGeom>
              <a:solidFill>
                <a:schemeClr val="bg1">
                  <a:lumMod val="95000"/>
                </a:schemeClr>
              </a:solidFill>
              <a:ln w="12700" cap="flat" cmpd="sng" algn="ctr">
                <a:noFill/>
                <a:prstDash val="solid"/>
                <a:miter lim="800000"/>
              </a:ln>
              <a:effectLst/>
            </p:spPr>
            <p:txBody>
              <a:bodyPr rtlCol="0" anchor="ctr">
                <a:noAutofit/>
              </a:bodyPr>
              <a:p>
                <a:pPr lvl="0" algn="ctr">
                  <a:spcBef>
                    <a:spcPts val="0"/>
                  </a:spcBef>
                  <a:spcAft>
                    <a:spcPts val="0"/>
                  </a:spcAft>
                  <a:buClrTx/>
                  <a:buSzTx/>
                  <a:buFontTx/>
                  <a:defRPr/>
                </a:pPr>
                <a:r>
                  <a:rPr lang="zh-CN" altLang="en-US" sz="1200" b="1" kern="0" noProof="0" dirty="0">
                    <a:ln>
                      <a:noFill/>
                    </a:ln>
                    <a:effectLst/>
                    <a:uLnTx/>
                    <a:uFillTx/>
                    <a:latin typeface="Arial" panose="020B0604020202020204"/>
                    <a:ea typeface="微软雅黑" panose="020B0503020204020204" pitchFamily="34" charset="-122"/>
                    <a:sym typeface="+mn-ea"/>
                  </a:rPr>
                  <a:t>业务产品</a:t>
                </a:r>
                <a:endParaRPr lang="zh-CN" altLang="en-US" sz="1200" b="1" kern="0" noProof="0" dirty="0">
                  <a:ln>
                    <a:noFill/>
                  </a:ln>
                  <a:effectLst/>
                  <a:uLnTx/>
                  <a:uFillTx/>
                  <a:latin typeface="Arial" panose="020B0604020202020204"/>
                  <a:ea typeface="微软雅黑" panose="020B0503020204020204" pitchFamily="34" charset="-122"/>
                  <a:sym typeface="+mn-ea"/>
                </a:endParaRPr>
              </a:p>
            </p:txBody>
          </p:sp>
          <p:sp>
            <p:nvSpPr>
              <p:cNvPr id="61" name="矩形 60"/>
              <p:cNvSpPr/>
              <p:nvPr/>
            </p:nvSpPr>
            <p:spPr>
              <a:xfrm>
                <a:off x="17397" y="5921"/>
                <a:ext cx="1315" cy="850"/>
              </a:xfrm>
              <a:prstGeom prst="rect">
                <a:avLst/>
              </a:prstGeom>
              <a:solidFill>
                <a:schemeClr val="bg1">
                  <a:lumMod val="95000"/>
                </a:schemeClr>
              </a:solidFill>
              <a:ln w="12700" cap="flat" cmpd="sng" algn="ctr">
                <a:noFill/>
                <a:prstDash val="solid"/>
                <a:miter lim="800000"/>
              </a:ln>
              <a:effectLst/>
            </p:spPr>
            <p:txBody>
              <a:bodyPr rtlCol="0" anchor="ctr">
                <a:noAutofit/>
              </a:bodyPr>
              <a:p>
                <a:pPr lvl="0" algn="ctr">
                  <a:spcBef>
                    <a:spcPts val="0"/>
                  </a:spcBef>
                  <a:spcAft>
                    <a:spcPts val="0"/>
                  </a:spcAft>
                  <a:buClrTx/>
                  <a:buSzTx/>
                  <a:buFontTx/>
                  <a:defRPr/>
                </a:pPr>
                <a:r>
                  <a:rPr lang="zh-CN" altLang="en-US" sz="1200" b="1" kern="0" noProof="0" dirty="0">
                    <a:ln>
                      <a:noFill/>
                    </a:ln>
                    <a:effectLst/>
                    <a:uLnTx/>
                    <a:uFillTx/>
                    <a:latin typeface="Arial" panose="020B0604020202020204"/>
                    <a:ea typeface="微软雅黑" panose="020B0503020204020204" pitchFamily="34" charset="-122"/>
                    <a:sym typeface="+mn-ea"/>
                  </a:rPr>
                  <a:t>组织队伍</a:t>
                </a:r>
                <a:endParaRPr lang="zh-CN" altLang="en-US" sz="1200" b="1" kern="0" noProof="0" dirty="0">
                  <a:ln>
                    <a:noFill/>
                  </a:ln>
                  <a:effectLst/>
                  <a:uLnTx/>
                  <a:uFillTx/>
                  <a:latin typeface="Arial" panose="020B0604020202020204"/>
                  <a:ea typeface="微软雅黑" panose="020B0503020204020204" pitchFamily="34" charset="-122"/>
                  <a:sym typeface="+mn-ea"/>
                </a:endParaRPr>
              </a:p>
            </p:txBody>
          </p:sp>
          <p:sp>
            <p:nvSpPr>
              <p:cNvPr id="67" name="矩形 66"/>
              <p:cNvSpPr/>
              <p:nvPr/>
            </p:nvSpPr>
            <p:spPr>
              <a:xfrm>
                <a:off x="17397" y="6838"/>
                <a:ext cx="1315" cy="850"/>
              </a:xfrm>
              <a:prstGeom prst="rect">
                <a:avLst/>
              </a:prstGeom>
              <a:solidFill>
                <a:schemeClr val="bg1">
                  <a:lumMod val="95000"/>
                </a:schemeClr>
              </a:solidFill>
              <a:ln w="12700" cap="flat" cmpd="sng" algn="ctr">
                <a:noFill/>
                <a:prstDash val="solid"/>
                <a:miter lim="800000"/>
              </a:ln>
              <a:effectLst/>
            </p:spPr>
            <p:txBody>
              <a:bodyPr rtlCol="0" anchor="ctr">
                <a:noAutofit/>
              </a:bodyPr>
              <a:p>
                <a:pPr lvl="0" algn="ctr">
                  <a:spcBef>
                    <a:spcPts val="0"/>
                  </a:spcBef>
                  <a:spcAft>
                    <a:spcPts val="0"/>
                  </a:spcAft>
                  <a:buClrTx/>
                  <a:buSzTx/>
                  <a:buFontTx/>
                  <a:defRPr/>
                </a:pPr>
                <a:r>
                  <a:rPr lang="zh-CN" altLang="en-US" sz="1200" b="1" kern="0" noProof="0" dirty="0">
                    <a:ln>
                      <a:noFill/>
                    </a:ln>
                    <a:effectLst/>
                    <a:uLnTx/>
                    <a:uFillTx/>
                    <a:latin typeface="Arial" panose="020B0604020202020204"/>
                    <a:ea typeface="微软雅黑" panose="020B0503020204020204" pitchFamily="34" charset="-122"/>
                    <a:sym typeface="+mn-ea"/>
                  </a:rPr>
                  <a:t>平台工具</a:t>
                </a:r>
                <a:endParaRPr lang="zh-CN" altLang="en-US" sz="1200" b="1" kern="0" noProof="0" dirty="0">
                  <a:ln>
                    <a:noFill/>
                  </a:ln>
                  <a:effectLst/>
                  <a:uLnTx/>
                  <a:uFillTx/>
                  <a:latin typeface="Arial" panose="020B0604020202020204"/>
                  <a:ea typeface="微软雅黑" panose="020B0503020204020204" pitchFamily="34" charset="-122"/>
                  <a:sym typeface="+mn-ea"/>
                </a:endParaRPr>
              </a:p>
            </p:txBody>
          </p:sp>
          <p:sp>
            <p:nvSpPr>
              <p:cNvPr id="93" name="矩形 92"/>
              <p:cNvSpPr/>
              <p:nvPr/>
            </p:nvSpPr>
            <p:spPr>
              <a:xfrm>
                <a:off x="17397" y="7763"/>
                <a:ext cx="1315" cy="850"/>
              </a:xfrm>
              <a:prstGeom prst="rect">
                <a:avLst/>
              </a:prstGeom>
              <a:solidFill>
                <a:schemeClr val="bg1">
                  <a:lumMod val="95000"/>
                </a:schemeClr>
              </a:solidFill>
              <a:ln w="12700" cap="flat" cmpd="sng" algn="ctr">
                <a:noFill/>
                <a:prstDash val="solid"/>
                <a:miter lim="800000"/>
              </a:ln>
              <a:effectLst/>
            </p:spPr>
            <p:txBody>
              <a:bodyPr rtlCol="0" anchor="ctr">
                <a:noAutofit/>
              </a:bodyPr>
              <a:p>
                <a:pPr lvl="0" algn="ctr">
                  <a:spcBef>
                    <a:spcPts val="0"/>
                  </a:spcBef>
                  <a:spcAft>
                    <a:spcPts val="0"/>
                  </a:spcAft>
                  <a:buClrTx/>
                  <a:buSzTx/>
                  <a:buFontTx/>
                  <a:defRPr/>
                </a:pPr>
                <a:r>
                  <a:rPr lang="zh-CN" altLang="en-US" sz="1200" b="1" kern="0" noProof="0" dirty="0">
                    <a:ln>
                      <a:noFill/>
                    </a:ln>
                    <a:effectLst/>
                    <a:uLnTx/>
                    <a:uFillTx/>
                    <a:latin typeface="Arial" panose="020B0604020202020204"/>
                    <a:ea typeface="微软雅黑" panose="020B0503020204020204" pitchFamily="34" charset="-122"/>
                    <a:sym typeface="+mn-ea"/>
                  </a:rPr>
                  <a:t>渠道销售</a:t>
                </a:r>
                <a:endParaRPr lang="zh-CN" altLang="en-US" sz="1200" b="1" kern="0" noProof="0" dirty="0">
                  <a:ln>
                    <a:noFill/>
                  </a:ln>
                  <a:effectLst/>
                  <a:uLnTx/>
                  <a:uFillTx/>
                  <a:latin typeface="Arial" panose="020B0604020202020204"/>
                  <a:ea typeface="微软雅黑" panose="020B0503020204020204" pitchFamily="34" charset="-122"/>
                  <a:sym typeface="+mn-ea"/>
                </a:endParaRPr>
              </a:p>
            </p:txBody>
          </p:sp>
          <p:sp>
            <p:nvSpPr>
              <p:cNvPr id="94" name="矩形 93"/>
              <p:cNvSpPr/>
              <p:nvPr/>
            </p:nvSpPr>
            <p:spPr>
              <a:xfrm>
                <a:off x="17397" y="8698"/>
                <a:ext cx="1315" cy="850"/>
              </a:xfrm>
              <a:prstGeom prst="rect">
                <a:avLst/>
              </a:prstGeom>
              <a:solidFill>
                <a:schemeClr val="bg1">
                  <a:lumMod val="95000"/>
                </a:schemeClr>
              </a:solidFill>
              <a:ln w="12700" cap="flat" cmpd="sng" algn="ctr">
                <a:noFill/>
                <a:prstDash val="solid"/>
                <a:miter lim="800000"/>
              </a:ln>
              <a:effectLst/>
            </p:spPr>
            <p:txBody>
              <a:bodyPr rtlCol="0" anchor="ctr">
                <a:noAutofit/>
              </a:bodyPr>
              <a:p>
                <a:pPr lvl="0" algn="ctr">
                  <a:spcBef>
                    <a:spcPts val="0"/>
                  </a:spcBef>
                  <a:spcAft>
                    <a:spcPts val="0"/>
                  </a:spcAft>
                  <a:buClrTx/>
                  <a:buSzTx/>
                  <a:buFontTx/>
                  <a:defRPr/>
                </a:pPr>
                <a:r>
                  <a:rPr lang="zh-CN" altLang="en-US" sz="1200" b="1" kern="0" noProof="0" dirty="0">
                    <a:ln>
                      <a:noFill/>
                    </a:ln>
                    <a:effectLst/>
                    <a:uLnTx/>
                    <a:uFillTx/>
                    <a:latin typeface="Arial" panose="020B0604020202020204"/>
                    <a:ea typeface="微软雅黑" panose="020B0503020204020204" pitchFamily="34" charset="-122"/>
                    <a:sym typeface="+mn-ea"/>
                  </a:rPr>
                  <a:t>数据流程</a:t>
                </a:r>
                <a:endParaRPr lang="zh-CN" altLang="en-US" sz="1200" b="1" kern="0" noProof="0" dirty="0">
                  <a:ln>
                    <a:noFill/>
                  </a:ln>
                  <a:effectLst/>
                  <a:uLnTx/>
                  <a:uFillTx/>
                  <a:latin typeface="Arial" panose="020B0604020202020204"/>
                  <a:ea typeface="微软雅黑" panose="020B0503020204020204" pitchFamily="34" charset="-122"/>
                  <a:sym typeface="+mn-ea"/>
                </a:endParaRPr>
              </a:p>
            </p:txBody>
          </p:sp>
          <p:sp>
            <p:nvSpPr>
              <p:cNvPr id="95" name="矩形 94"/>
              <p:cNvSpPr/>
              <p:nvPr/>
            </p:nvSpPr>
            <p:spPr>
              <a:xfrm>
                <a:off x="17397" y="9610"/>
                <a:ext cx="1315" cy="850"/>
              </a:xfrm>
              <a:prstGeom prst="rect">
                <a:avLst/>
              </a:prstGeom>
              <a:solidFill>
                <a:schemeClr val="bg1">
                  <a:lumMod val="95000"/>
                </a:schemeClr>
              </a:solidFill>
              <a:ln w="12700" cap="flat" cmpd="sng" algn="ctr">
                <a:noFill/>
                <a:prstDash val="solid"/>
                <a:miter lim="800000"/>
              </a:ln>
              <a:effectLst/>
            </p:spPr>
            <p:txBody>
              <a:bodyPr rtlCol="0" anchor="ctr">
                <a:noAutofit/>
              </a:bodyPr>
              <a:p>
                <a:pPr lvl="0" algn="ctr">
                  <a:spcBef>
                    <a:spcPts val="0"/>
                  </a:spcBef>
                  <a:spcAft>
                    <a:spcPts val="0"/>
                  </a:spcAft>
                  <a:buClrTx/>
                  <a:buSzTx/>
                  <a:buFontTx/>
                  <a:defRPr/>
                </a:pPr>
                <a:r>
                  <a:rPr lang="zh-CN" altLang="en-US" sz="1200" b="1" kern="0" noProof="0" dirty="0">
                    <a:ln>
                      <a:noFill/>
                    </a:ln>
                    <a:effectLst/>
                    <a:uLnTx/>
                    <a:uFillTx/>
                    <a:latin typeface="Arial" panose="020B0604020202020204"/>
                    <a:ea typeface="微软雅黑" panose="020B0503020204020204" pitchFamily="34" charset="-122"/>
                    <a:sym typeface="+mn-ea"/>
                  </a:rPr>
                  <a:t>评价激励</a:t>
                </a:r>
                <a:endParaRPr lang="zh-CN" altLang="en-US" sz="1200" b="1" kern="0" noProof="0" dirty="0">
                  <a:ln>
                    <a:noFill/>
                  </a:ln>
                  <a:effectLst/>
                  <a:uLnTx/>
                  <a:uFillTx/>
                  <a:latin typeface="Arial" panose="020B0604020202020204"/>
                  <a:ea typeface="微软雅黑" panose="020B0503020204020204" pitchFamily="34" charset="-122"/>
                  <a:sym typeface="+mn-ea"/>
                </a:endParaRPr>
              </a:p>
            </p:txBody>
          </p:sp>
        </p:grpSp>
        <p:sp>
          <p:nvSpPr>
            <p:cNvPr id="199" name="矩形: 圆角 485"/>
            <p:cNvSpPr/>
            <p:nvPr/>
          </p:nvSpPr>
          <p:spPr bwMode="auto">
            <a:xfrm>
              <a:off x="14869" y="5983"/>
              <a:ext cx="2266" cy="2350"/>
            </a:xfrm>
            <a:prstGeom prst="roundRect">
              <a:avLst>
                <a:gd name="adj" fmla="val 5141"/>
              </a:avLst>
            </a:prstGeom>
            <a:noFill/>
            <a:ln w="6350" cmpd="sng">
              <a:solidFill>
                <a:schemeClr val="tx1"/>
              </a:solidFill>
              <a:prstDash val="dash"/>
              <a:miter lim="800000"/>
            </a:ln>
            <a:extLst>
              <a:ext uri="{909E8E84-426E-40DD-AFC4-6F175D3DCCD1}">
                <a14:hiddenFill xmlns:a14="http://schemas.microsoft.com/office/drawing/2010/main">
                  <a:solidFill>
                    <a:schemeClr val="bg1"/>
                  </a:solidFill>
                </a14:hiddenFill>
              </a:ext>
            </a:extLst>
          </p:spPr>
          <p:txBody>
            <a:bodyPr lIns="0" tIns="0" rIns="0" bIns="0" rtlCol="0" anchor="t" anchorCtr="0"/>
            <a:p>
              <a:pPr algn="ctr" defTabSz="685800"/>
              <a:endParaRPr lang="en-US" altLang="zh-CN" sz="1000" b="1" dirty="0">
                <a:latin typeface="+mj-ea"/>
                <a:ea typeface="+mj-ea"/>
              </a:endParaRPr>
            </a:p>
          </p:txBody>
        </p:sp>
        <p:sp>
          <p:nvSpPr>
            <p:cNvPr id="269" name="矩形 268"/>
            <p:cNvSpPr/>
            <p:nvPr/>
          </p:nvSpPr>
          <p:spPr>
            <a:xfrm>
              <a:off x="1465" y="8885"/>
              <a:ext cx="1043" cy="41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家庭关系</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识别模型</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p:txBody>
        </p:sp>
        <p:sp>
          <p:nvSpPr>
            <p:cNvPr id="270" name="矩形 269"/>
            <p:cNvSpPr/>
            <p:nvPr/>
          </p:nvSpPr>
          <p:spPr>
            <a:xfrm>
              <a:off x="1515" y="9668"/>
              <a:ext cx="1472" cy="40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新一代云原生BOSS数据直采</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p:txBody>
        </p:sp>
        <p:sp>
          <p:nvSpPr>
            <p:cNvPr id="271" name="矩形 270"/>
            <p:cNvSpPr/>
            <p:nvPr/>
          </p:nvSpPr>
          <p:spPr>
            <a:xfrm>
              <a:off x="1496" y="9323"/>
              <a:ext cx="1949" cy="30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全景家视图</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p:txBody>
        </p:sp>
        <p:grpSp>
          <p:nvGrpSpPr>
            <p:cNvPr id="277" name="组合 276"/>
            <p:cNvGrpSpPr/>
            <p:nvPr/>
          </p:nvGrpSpPr>
          <p:grpSpPr>
            <a:xfrm rot="0">
              <a:off x="7732" y="5788"/>
              <a:ext cx="2324" cy="2545"/>
              <a:chOff x="7698" y="5542"/>
              <a:chExt cx="2324" cy="2600"/>
            </a:xfrm>
          </p:grpSpPr>
          <p:grpSp>
            <p:nvGrpSpPr>
              <p:cNvPr id="1" name="组合 0"/>
              <p:cNvGrpSpPr/>
              <p:nvPr/>
            </p:nvGrpSpPr>
            <p:grpSpPr>
              <a:xfrm>
                <a:off x="7732" y="5728"/>
                <a:ext cx="2266" cy="2414"/>
                <a:chOff x="7693" y="6840"/>
                <a:chExt cx="2268" cy="2959"/>
              </a:xfrm>
            </p:grpSpPr>
            <p:sp>
              <p:nvSpPr>
                <p:cNvPr id="2" name="矩形 1"/>
                <p:cNvSpPr/>
                <p:nvPr/>
              </p:nvSpPr>
              <p:spPr>
                <a:xfrm>
                  <a:off x="7768" y="7859"/>
                  <a:ext cx="2143" cy="591"/>
                </a:xfrm>
                <a:prstGeom prst="rect">
                  <a:avLst/>
                </a:prstGeom>
                <a:solidFill>
                  <a:schemeClr val="bg1">
                    <a:lumMod val="95000"/>
                  </a:schemeClr>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effectLst/>
                      <a:uLnTx/>
                      <a:uFillTx/>
                      <a:latin typeface="Arial" panose="020B0604020202020204"/>
                      <a:ea typeface="微软雅黑" panose="020B0503020204020204" pitchFamily="34" charset="-122"/>
                      <a:sym typeface="+mn-ea"/>
                    </a:rPr>
                    <a:t>大模型算法</a:t>
                  </a:r>
                  <a:r>
                    <a:rPr lang="en-US" altLang="zh-CN" sz="800" kern="0" noProof="0" dirty="0">
                      <a:ln>
                        <a:noFill/>
                      </a:ln>
                      <a:effectLst/>
                      <a:uLnTx/>
                      <a:uFillTx/>
                      <a:latin typeface="Arial" panose="020B0604020202020204"/>
                      <a:ea typeface="微软雅黑" panose="020B0503020204020204" pitchFamily="34" charset="-122"/>
                      <a:sym typeface="+mn-ea"/>
                    </a:rPr>
                    <a:t>“</a:t>
                  </a:r>
                  <a:r>
                    <a:rPr lang="zh-CN" altLang="en-US" sz="800" kern="0" noProof="0" dirty="0">
                      <a:ln>
                        <a:noFill/>
                      </a:ln>
                      <a:effectLst/>
                      <a:uLnTx/>
                      <a:uFillTx/>
                      <a:latin typeface="Arial" panose="020B0604020202020204"/>
                      <a:ea typeface="微软雅黑" panose="020B0503020204020204" pitchFamily="34" charset="-122"/>
                      <a:sym typeface="+mn-ea"/>
                    </a:rPr>
                    <a:t>组标</a:t>
                  </a:r>
                  <a:r>
                    <a:rPr lang="en-US" altLang="zh-CN" sz="800" kern="0" noProof="0" dirty="0">
                      <a:ln>
                        <a:noFill/>
                      </a:ln>
                      <a:effectLst/>
                      <a:uLnTx/>
                      <a:uFillTx/>
                      <a:latin typeface="Arial" panose="020B0604020202020204"/>
                      <a:ea typeface="微软雅黑" panose="020B0503020204020204" pitchFamily="34" charset="-122"/>
                      <a:sym typeface="+mn-ea"/>
                    </a:rPr>
                    <a:t>”</a:t>
                  </a:r>
                  <a:endParaRPr lang="en-US" altLang="zh-CN" sz="800" kern="0" noProof="0" dirty="0">
                    <a:ln>
                      <a:noFill/>
                    </a:ln>
                    <a:effectLst/>
                    <a:uLnTx/>
                    <a:uFillTx/>
                    <a:latin typeface="Arial" panose="020B0604020202020204"/>
                    <a:ea typeface="微软雅黑" panose="020B0503020204020204" pitchFamily="34" charset="-122"/>
                    <a:sym typeface="+mn-ea"/>
                  </a:endParaRPr>
                </a:p>
              </p:txBody>
            </p:sp>
            <p:sp>
              <p:nvSpPr>
                <p:cNvPr id="3" name="矩形 2"/>
                <p:cNvSpPr/>
                <p:nvPr/>
              </p:nvSpPr>
              <p:spPr>
                <a:xfrm>
                  <a:off x="7768" y="8551"/>
                  <a:ext cx="2143" cy="591"/>
                </a:xfrm>
                <a:prstGeom prst="rect">
                  <a:avLst/>
                </a:prstGeom>
                <a:solidFill>
                  <a:schemeClr val="bg1">
                    <a:lumMod val="95000"/>
                  </a:schemeClr>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effectLst/>
                      <a:uLnTx/>
                      <a:uFillTx/>
                      <a:latin typeface="Arial" panose="020B0604020202020204"/>
                      <a:ea typeface="微软雅黑" panose="020B0503020204020204" pitchFamily="34" charset="-122"/>
                      <a:sym typeface="+mn-ea"/>
                    </a:rPr>
                    <a:t>细分客群</a:t>
                  </a:r>
                  <a:r>
                    <a:rPr lang="en-US" altLang="zh-CN" sz="800" kern="0" noProof="0" dirty="0">
                      <a:ln>
                        <a:noFill/>
                      </a:ln>
                      <a:effectLst/>
                      <a:uLnTx/>
                      <a:uFillTx/>
                      <a:latin typeface="Arial" panose="020B0604020202020204"/>
                      <a:ea typeface="微软雅黑" panose="020B0503020204020204" pitchFamily="34" charset="-122"/>
                      <a:sym typeface="+mn-ea"/>
                    </a:rPr>
                    <a:t>“</a:t>
                  </a:r>
                  <a:r>
                    <a:rPr lang="zh-CN" altLang="en-US" sz="800" kern="0" noProof="0" dirty="0">
                      <a:ln>
                        <a:noFill/>
                      </a:ln>
                      <a:effectLst/>
                      <a:uLnTx/>
                      <a:uFillTx/>
                      <a:latin typeface="Arial" panose="020B0604020202020204"/>
                      <a:ea typeface="微软雅黑" panose="020B0503020204020204" pitchFamily="34" charset="-122"/>
                      <a:sym typeface="+mn-ea"/>
                    </a:rPr>
                    <a:t>用标</a:t>
                  </a:r>
                  <a:r>
                    <a:rPr lang="en-US" altLang="zh-CN" sz="800" kern="0" noProof="0" dirty="0">
                      <a:ln>
                        <a:noFill/>
                      </a:ln>
                      <a:effectLst/>
                      <a:uLnTx/>
                      <a:uFillTx/>
                      <a:latin typeface="Arial" panose="020B0604020202020204"/>
                      <a:ea typeface="微软雅黑" panose="020B0503020204020204" pitchFamily="34" charset="-122"/>
                      <a:sym typeface="+mn-ea"/>
                    </a:rPr>
                    <a:t>”</a:t>
                  </a:r>
                  <a:r>
                    <a:rPr lang="zh-CN" altLang="en-US" sz="800" kern="0" noProof="0" dirty="0">
                      <a:ln>
                        <a:noFill/>
                      </a:ln>
                      <a:effectLst/>
                      <a:uLnTx/>
                      <a:uFillTx/>
                      <a:latin typeface="Arial" panose="020B0604020202020204"/>
                      <a:ea typeface="微软雅黑" panose="020B0503020204020204" pitchFamily="34" charset="-122"/>
                      <a:sym typeface="+mn-ea"/>
                    </a:rPr>
                    <a:t>输出</a:t>
                  </a:r>
                  <a:endParaRPr lang="zh-CN" altLang="en-US" sz="800" kern="0" noProof="0" dirty="0">
                    <a:ln>
                      <a:noFill/>
                    </a:ln>
                    <a:effectLst/>
                    <a:uLnTx/>
                    <a:uFillTx/>
                    <a:latin typeface="Arial" panose="020B0604020202020204"/>
                    <a:ea typeface="微软雅黑" panose="020B0503020204020204" pitchFamily="34" charset="-122"/>
                    <a:sym typeface="+mn-ea"/>
                  </a:endParaRPr>
                </a:p>
              </p:txBody>
            </p:sp>
            <p:sp>
              <p:nvSpPr>
                <p:cNvPr id="4" name="矩形 3"/>
                <p:cNvSpPr/>
                <p:nvPr/>
              </p:nvSpPr>
              <p:spPr>
                <a:xfrm>
                  <a:off x="7768" y="7196"/>
                  <a:ext cx="2143" cy="591"/>
                </a:xfrm>
                <a:prstGeom prst="rect">
                  <a:avLst/>
                </a:prstGeom>
                <a:solidFill>
                  <a:schemeClr val="bg1">
                    <a:lumMod val="95000"/>
                  </a:schemeClr>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en-US" altLang="zh-CN" sz="800" kern="0" noProof="0" dirty="0">
                      <a:ln>
                        <a:noFill/>
                      </a:ln>
                      <a:effectLst/>
                      <a:uLnTx/>
                      <a:uFillTx/>
                      <a:latin typeface="Arial" panose="020B0604020202020204"/>
                      <a:ea typeface="微软雅黑" panose="020B0503020204020204" pitchFamily="34" charset="-122"/>
                      <a:sym typeface="+mn-ea"/>
                    </a:rPr>
                    <a:t>“</a:t>
                  </a:r>
                  <a:r>
                    <a:rPr lang="zh-CN" altLang="en-US" sz="800" kern="0" noProof="0" dirty="0">
                      <a:ln>
                        <a:noFill/>
                      </a:ln>
                      <a:effectLst/>
                      <a:uLnTx/>
                      <a:uFillTx/>
                      <a:latin typeface="Arial" panose="020B0604020202020204"/>
                      <a:ea typeface="微软雅黑" panose="020B0503020204020204" pitchFamily="34" charset="-122"/>
                      <a:sym typeface="+mn-ea"/>
                    </a:rPr>
                    <a:t>数字人</a:t>
                  </a:r>
                  <a:r>
                    <a:rPr lang="en-US" altLang="zh-CN" sz="800" kern="0" noProof="0" dirty="0">
                      <a:ln>
                        <a:noFill/>
                      </a:ln>
                      <a:effectLst/>
                      <a:uLnTx/>
                      <a:uFillTx/>
                      <a:latin typeface="Arial" panose="020B0604020202020204"/>
                      <a:ea typeface="微软雅黑" panose="020B0503020204020204" pitchFamily="34" charset="-122"/>
                      <a:sym typeface="+mn-ea"/>
                    </a:rPr>
                    <a:t>”“</a:t>
                  </a:r>
                  <a:r>
                    <a:rPr lang="zh-CN" altLang="en-US" sz="800" kern="0" noProof="0" dirty="0">
                      <a:ln>
                        <a:noFill/>
                      </a:ln>
                      <a:effectLst/>
                      <a:uLnTx/>
                      <a:uFillTx/>
                      <a:latin typeface="Arial" panose="020B0604020202020204"/>
                      <a:ea typeface="微软雅黑" panose="020B0503020204020204" pitchFamily="34" charset="-122"/>
                      <a:sym typeface="+mn-ea"/>
                    </a:rPr>
                    <a:t>打标</a:t>
                  </a:r>
                  <a:r>
                    <a:rPr lang="en-US" altLang="zh-CN" sz="800" kern="0" noProof="0" dirty="0">
                      <a:ln>
                        <a:noFill/>
                      </a:ln>
                      <a:effectLst/>
                      <a:uLnTx/>
                      <a:uFillTx/>
                      <a:latin typeface="Arial" panose="020B0604020202020204"/>
                      <a:ea typeface="微软雅黑" panose="020B0503020204020204" pitchFamily="34" charset="-122"/>
                      <a:sym typeface="+mn-ea"/>
                    </a:rPr>
                    <a:t>”</a:t>
                  </a:r>
                  <a:r>
                    <a:rPr lang="zh-CN" altLang="en-US" sz="800" kern="0" noProof="0" dirty="0">
                      <a:ln>
                        <a:noFill/>
                      </a:ln>
                      <a:effectLst/>
                      <a:uLnTx/>
                      <a:uFillTx/>
                      <a:latin typeface="Arial" panose="020B0604020202020204"/>
                      <a:ea typeface="微软雅黑" panose="020B0503020204020204" pitchFamily="34" charset="-122"/>
                      <a:sym typeface="+mn-ea"/>
                    </a:rPr>
                    <a:t>输入</a:t>
                  </a:r>
                  <a:endParaRPr lang="zh-CN" altLang="en-US" sz="800" kern="0" noProof="0" dirty="0">
                    <a:ln>
                      <a:noFill/>
                    </a:ln>
                    <a:effectLst/>
                    <a:uLnTx/>
                    <a:uFillTx/>
                    <a:latin typeface="Arial" panose="020B0604020202020204"/>
                    <a:ea typeface="微软雅黑" panose="020B0503020204020204" pitchFamily="34" charset="-122"/>
                    <a:sym typeface="+mn-ea"/>
                  </a:endParaRPr>
                </a:p>
              </p:txBody>
            </p:sp>
            <p:sp>
              <p:nvSpPr>
                <p:cNvPr id="6" name="矩形: 圆角 485"/>
                <p:cNvSpPr/>
                <p:nvPr/>
              </p:nvSpPr>
              <p:spPr bwMode="auto">
                <a:xfrm>
                  <a:off x="7693" y="6840"/>
                  <a:ext cx="2268" cy="2959"/>
                </a:xfrm>
                <a:prstGeom prst="roundRect">
                  <a:avLst>
                    <a:gd name="adj" fmla="val 5141"/>
                  </a:avLst>
                </a:prstGeom>
                <a:noFill/>
                <a:ln w="6350" cmpd="sng">
                  <a:solidFill>
                    <a:schemeClr val="tx1"/>
                  </a:solidFill>
                  <a:prstDash val="dash"/>
                  <a:miter lim="800000"/>
                </a:ln>
                <a:extLst>
                  <a:ext uri="{909E8E84-426E-40DD-AFC4-6F175D3DCCD1}">
                    <a14:hiddenFill xmlns:a14="http://schemas.microsoft.com/office/drawing/2010/main">
                      <a:solidFill>
                        <a:schemeClr val="bg1"/>
                      </a:solidFill>
                    </a14:hiddenFill>
                  </a:ext>
                </a:extLst>
              </p:spPr>
              <p:txBody>
                <a:bodyPr lIns="0" tIns="0" rIns="0" bIns="0" rtlCol="0" anchor="t" anchorCtr="0"/>
                <a:p>
                  <a:pPr algn="ctr" defTabSz="685800"/>
                  <a:endParaRPr lang="zh-CN" sz="1000" b="1" dirty="0">
                    <a:latin typeface="+mj-ea"/>
                    <a:ea typeface="+mj-ea"/>
                  </a:endParaRPr>
                </a:p>
              </p:txBody>
            </p:sp>
          </p:grpSp>
          <p:sp>
            <p:nvSpPr>
              <p:cNvPr id="12" name="文本框 11"/>
              <p:cNvSpPr txBox="1"/>
              <p:nvPr/>
            </p:nvSpPr>
            <p:spPr>
              <a:xfrm>
                <a:off x="7875" y="7611"/>
                <a:ext cx="2073" cy="451"/>
              </a:xfrm>
              <a:prstGeom prst="rect">
                <a:avLst/>
              </a:prstGeom>
              <a:solidFill>
                <a:schemeClr val="bg1"/>
              </a:solidFill>
            </p:spPr>
            <p:txBody>
              <a:bodyPr wrap="square" rtlCol="0">
                <a:noAutofit/>
              </a:bodyPr>
              <a:p>
                <a:pPr algn="ctr"/>
                <a:r>
                  <a:rPr lang="zh-CN" altLang="en-US"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银发</a:t>
                </a:r>
                <a:r>
                  <a:rPr lang="en-US" altLang="zh-CN"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垂类</a:t>
                </a:r>
                <a:r>
                  <a:rPr lang="en-US" altLang="zh-CN"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乡村</a:t>
                </a:r>
                <a:r>
                  <a:rPr lang="en-US" altLang="zh-CN"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国际</a:t>
                </a:r>
                <a:endParaRPr lang="en-US" altLang="zh-CN"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校园</a:t>
                </a:r>
                <a:r>
                  <a:rPr lang="en-US" altLang="zh-CN"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家庭</a:t>
                </a:r>
                <a:r>
                  <a:rPr lang="en-US" altLang="zh-CN"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商铺</a:t>
                </a:r>
                <a:r>
                  <a:rPr lang="en-US" altLang="zh-CN"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政企</a:t>
                </a:r>
                <a:endParaRPr lang="zh-CN" altLang="en-US" sz="800" b="1"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1" name="文本框 100"/>
              <p:cNvSpPr txBox="1"/>
              <p:nvPr/>
            </p:nvSpPr>
            <p:spPr>
              <a:xfrm>
                <a:off x="7698" y="5542"/>
                <a:ext cx="2324" cy="374"/>
              </a:xfrm>
              <a:prstGeom prst="rect">
                <a:avLst/>
              </a:prstGeom>
              <a:solidFill>
                <a:srgbClr val="E6F0F8"/>
              </a:solidFill>
            </p:spPr>
            <p:txBody>
              <a:bodyPr wrap="square" rtlCol="0" anchor="t">
                <a:noAutofit/>
              </a:bodyPr>
              <a:p>
                <a:pPr algn="ctr"/>
                <a:r>
                  <a:rPr lang="zh-CN" altLang="en-US" sz="1000" b="1">
                    <a:latin typeface="微软雅黑" panose="020B0503020204020204" pitchFamily="34" charset="-122"/>
                    <a:ea typeface="微软雅黑" panose="020B0503020204020204" pitchFamily="34" charset="-122"/>
                  </a:rPr>
                  <a:t>客群</a:t>
                </a:r>
                <a:r>
                  <a:rPr lang="zh-CN" altLang="en-US" sz="1000" b="1">
                    <a:latin typeface="微软雅黑" panose="020B0503020204020204" pitchFamily="34" charset="-122"/>
                    <a:ea typeface="微软雅黑" panose="020B0503020204020204" pitchFamily="34" charset="-122"/>
                  </a:rPr>
                  <a:t>细分</a:t>
                </a:r>
                <a:endParaRPr lang="zh-CN" altLang="en-US" sz="1000" b="1">
                  <a:latin typeface="微软雅黑" panose="020B0503020204020204" pitchFamily="34" charset="-122"/>
                  <a:ea typeface="微软雅黑" panose="020B0503020204020204" pitchFamily="34" charset="-122"/>
                </a:endParaRPr>
              </a:p>
            </p:txBody>
          </p:sp>
        </p:grpSp>
        <p:grpSp>
          <p:nvGrpSpPr>
            <p:cNvPr id="275" name="组合 274"/>
            <p:cNvGrpSpPr/>
            <p:nvPr/>
          </p:nvGrpSpPr>
          <p:grpSpPr>
            <a:xfrm rot="0">
              <a:off x="12451" y="5794"/>
              <a:ext cx="2324" cy="2527"/>
              <a:chOff x="12451" y="5557"/>
              <a:chExt cx="2324" cy="2582"/>
            </a:xfrm>
          </p:grpSpPr>
          <p:grpSp>
            <p:nvGrpSpPr>
              <p:cNvPr id="225" name="组合 224"/>
              <p:cNvGrpSpPr/>
              <p:nvPr/>
            </p:nvGrpSpPr>
            <p:grpSpPr>
              <a:xfrm>
                <a:off x="12516" y="7412"/>
                <a:ext cx="2169" cy="528"/>
                <a:chOff x="12516" y="7516"/>
                <a:chExt cx="2169" cy="528"/>
              </a:xfrm>
            </p:grpSpPr>
            <p:sp>
              <p:nvSpPr>
                <p:cNvPr id="186" name="矩形 185"/>
                <p:cNvSpPr/>
                <p:nvPr/>
              </p:nvSpPr>
              <p:spPr>
                <a:xfrm>
                  <a:off x="12516" y="7516"/>
                  <a:ext cx="680" cy="5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预演</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187" name="矩形 186"/>
                <p:cNvSpPr/>
                <p:nvPr/>
              </p:nvSpPr>
              <p:spPr>
                <a:xfrm>
                  <a:off x="13267" y="7516"/>
                  <a:ext cx="680" cy="5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评估</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188" name="矩形 187"/>
                <p:cNvSpPr/>
                <p:nvPr/>
              </p:nvSpPr>
              <p:spPr>
                <a:xfrm>
                  <a:off x="14005" y="7516"/>
                  <a:ext cx="680" cy="5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优化</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grpSp>
          <p:sp>
            <p:nvSpPr>
              <p:cNvPr id="198" name="矩形: 圆角 485"/>
              <p:cNvSpPr/>
              <p:nvPr/>
            </p:nvSpPr>
            <p:spPr bwMode="auto">
              <a:xfrm>
                <a:off x="12480" y="5715"/>
                <a:ext cx="2266" cy="2424"/>
              </a:xfrm>
              <a:prstGeom prst="roundRect">
                <a:avLst>
                  <a:gd name="adj" fmla="val 5141"/>
                </a:avLst>
              </a:prstGeom>
              <a:noFill/>
              <a:ln w="6350" cmpd="sng">
                <a:solidFill>
                  <a:schemeClr val="tx1"/>
                </a:solidFill>
                <a:prstDash val="dash"/>
                <a:miter lim="800000"/>
              </a:ln>
              <a:extLst>
                <a:ext uri="{909E8E84-426E-40DD-AFC4-6F175D3DCCD1}">
                  <a14:hiddenFill xmlns:a14="http://schemas.microsoft.com/office/drawing/2010/main">
                    <a:solidFill>
                      <a:schemeClr val="bg1"/>
                    </a:solidFill>
                  </a14:hiddenFill>
                </a:ext>
              </a:extLst>
            </p:spPr>
            <p:txBody>
              <a:bodyPr lIns="0" tIns="0" rIns="0" bIns="0" rtlCol="0" anchor="t" anchorCtr="0"/>
              <a:p>
                <a:pPr algn="ctr" defTabSz="685800"/>
                <a:endParaRPr lang="zh-CN" sz="1000" b="1" dirty="0">
                  <a:latin typeface="+mj-ea"/>
                  <a:ea typeface="+mj-ea"/>
                </a:endParaRPr>
              </a:p>
            </p:txBody>
          </p:sp>
          <p:grpSp>
            <p:nvGrpSpPr>
              <p:cNvPr id="226" name="组合 225"/>
              <p:cNvGrpSpPr/>
              <p:nvPr/>
            </p:nvGrpSpPr>
            <p:grpSpPr>
              <a:xfrm>
                <a:off x="12516" y="6858"/>
                <a:ext cx="2169" cy="528"/>
                <a:chOff x="12516" y="7516"/>
                <a:chExt cx="2169" cy="528"/>
              </a:xfrm>
            </p:grpSpPr>
            <p:sp>
              <p:nvSpPr>
                <p:cNvPr id="227" name="矩形 226"/>
                <p:cNvSpPr/>
                <p:nvPr/>
              </p:nvSpPr>
              <p:spPr>
                <a:xfrm>
                  <a:off x="12516" y="7516"/>
                  <a:ext cx="680" cy="5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触发</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228" name="矩形 227"/>
                <p:cNvSpPr/>
                <p:nvPr/>
              </p:nvSpPr>
              <p:spPr>
                <a:xfrm>
                  <a:off x="13267" y="7516"/>
                  <a:ext cx="680" cy="5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促销</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229" name="矩形 228"/>
                <p:cNvSpPr/>
                <p:nvPr/>
              </p:nvSpPr>
              <p:spPr>
                <a:xfrm>
                  <a:off x="14005" y="7516"/>
                  <a:ext cx="680" cy="5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排序</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grpSp>
          <p:grpSp>
            <p:nvGrpSpPr>
              <p:cNvPr id="230" name="组合 229"/>
              <p:cNvGrpSpPr/>
              <p:nvPr/>
            </p:nvGrpSpPr>
            <p:grpSpPr>
              <a:xfrm>
                <a:off x="12501" y="6103"/>
                <a:ext cx="2169" cy="528"/>
                <a:chOff x="12516" y="7516"/>
                <a:chExt cx="2169" cy="528"/>
              </a:xfrm>
            </p:grpSpPr>
            <p:sp>
              <p:nvSpPr>
                <p:cNvPr id="231" name="矩形 230"/>
                <p:cNvSpPr/>
                <p:nvPr/>
              </p:nvSpPr>
              <p:spPr>
                <a:xfrm>
                  <a:off x="12516" y="7516"/>
                  <a:ext cx="680" cy="5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行为</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232" name="矩形 231"/>
                <p:cNvSpPr/>
                <p:nvPr/>
              </p:nvSpPr>
              <p:spPr>
                <a:xfrm>
                  <a:off x="13267" y="7516"/>
                  <a:ext cx="680" cy="5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产品</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233" name="矩形 232"/>
                <p:cNvSpPr/>
                <p:nvPr/>
              </p:nvSpPr>
              <p:spPr>
                <a:xfrm>
                  <a:off x="14005" y="7516"/>
                  <a:ext cx="680" cy="5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推荐</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grpSp>
          <p:sp>
            <p:nvSpPr>
              <p:cNvPr id="104" name="文本框 103"/>
              <p:cNvSpPr txBox="1"/>
              <p:nvPr/>
            </p:nvSpPr>
            <p:spPr>
              <a:xfrm>
                <a:off x="12451" y="5557"/>
                <a:ext cx="2324" cy="374"/>
              </a:xfrm>
              <a:prstGeom prst="rect">
                <a:avLst/>
              </a:prstGeom>
              <a:solidFill>
                <a:srgbClr val="E6F0F8"/>
              </a:solidFill>
            </p:spPr>
            <p:txBody>
              <a:bodyPr wrap="square" rtlCol="0" anchor="t">
                <a:noAutofit/>
              </a:bodyPr>
              <a:p>
                <a:pPr algn="ctr"/>
                <a:r>
                  <a:rPr lang="zh-CN" altLang="en-US" sz="1000" b="1">
                    <a:latin typeface="微软雅黑" panose="020B0503020204020204" pitchFamily="34" charset="-122"/>
                    <a:ea typeface="微软雅黑" panose="020B0503020204020204" pitchFamily="34" charset="-122"/>
                  </a:rPr>
                  <a:t>策略</a:t>
                </a:r>
                <a:r>
                  <a:rPr lang="zh-CN" altLang="en-US" sz="1000" b="1">
                    <a:latin typeface="微软雅黑" panose="020B0503020204020204" pitchFamily="34" charset="-122"/>
                    <a:ea typeface="微软雅黑" panose="020B0503020204020204" pitchFamily="34" charset="-122"/>
                  </a:rPr>
                  <a:t>适配</a:t>
                </a:r>
                <a:endParaRPr lang="zh-CN" altLang="en-US" sz="1000" b="1">
                  <a:latin typeface="微软雅黑" panose="020B0503020204020204" pitchFamily="34" charset="-122"/>
                  <a:ea typeface="微软雅黑" panose="020B0503020204020204" pitchFamily="34" charset="-122"/>
                </a:endParaRPr>
              </a:p>
            </p:txBody>
          </p:sp>
        </p:grpSp>
        <p:grpSp>
          <p:nvGrpSpPr>
            <p:cNvPr id="274" name="组合 273"/>
            <p:cNvGrpSpPr/>
            <p:nvPr/>
          </p:nvGrpSpPr>
          <p:grpSpPr>
            <a:xfrm rot="0">
              <a:off x="14843" y="5801"/>
              <a:ext cx="2324" cy="2391"/>
              <a:chOff x="14876" y="5557"/>
              <a:chExt cx="2324" cy="2443"/>
            </a:xfrm>
          </p:grpSpPr>
          <p:sp>
            <p:nvSpPr>
              <p:cNvPr id="259" name="矩形 258"/>
              <p:cNvSpPr/>
              <p:nvPr/>
            </p:nvSpPr>
            <p:spPr>
              <a:xfrm>
                <a:off x="14971" y="6461"/>
                <a:ext cx="2181" cy="4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投诉服务轨迹</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260" name="矩形 259"/>
              <p:cNvSpPr/>
              <p:nvPr/>
            </p:nvSpPr>
            <p:spPr>
              <a:xfrm>
                <a:off x="14970" y="6953"/>
                <a:ext cx="2181" cy="4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场景</a:t>
                </a:r>
                <a:r>
                  <a:rPr lang="en-US" altLang="zh-CN" sz="800" kern="100" dirty="0">
                    <a:solidFill>
                      <a:schemeClr val="tx1"/>
                    </a:solidFill>
                    <a:latin typeface="微软雅黑" panose="020B0503020204020204" pitchFamily="34" charset="-122"/>
                    <a:ea typeface="微软雅黑" panose="020B0503020204020204" pitchFamily="34" charset="-122"/>
                    <a:sym typeface="+mn-ea"/>
                  </a:rPr>
                  <a:t>+</a:t>
                </a:r>
                <a:r>
                  <a:rPr lang="zh-CN" altLang="en-US" sz="800" kern="100" dirty="0">
                    <a:solidFill>
                      <a:schemeClr val="tx1"/>
                    </a:solidFill>
                    <a:latin typeface="微软雅黑" panose="020B0503020204020204" pitchFamily="34" charset="-122"/>
                    <a:ea typeface="微软雅黑" panose="020B0503020204020204" pitchFamily="34" charset="-122"/>
                    <a:sym typeface="+mn-ea"/>
                  </a:rPr>
                  <a:t>产品</a:t>
                </a:r>
                <a:r>
                  <a:rPr lang="en-US" altLang="zh-CN" sz="800" kern="100" dirty="0">
                    <a:solidFill>
                      <a:schemeClr val="tx1"/>
                    </a:solidFill>
                    <a:latin typeface="微软雅黑" panose="020B0503020204020204" pitchFamily="34" charset="-122"/>
                    <a:ea typeface="微软雅黑" panose="020B0503020204020204" pitchFamily="34" charset="-122"/>
                    <a:sym typeface="+mn-ea"/>
                  </a:rPr>
                  <a:t>+</a:t>
                </a:r>
                <a:r>
                  <a:rPr lang="zh-CN" altLang="en-US" sz="800" kern="100" dirty="0">
                    <a:solidFill>
                      <a:schemeClr val="tx1"/>
                    </a:solidFill>
                    <a:latin typeface="微软雅黑" panose="020B0503020204020204" pitchFamily="34" charset="-122"/>
                    <a:ea typeface="微软雅黑" panose="020B0503020204020204" pitchFamily="34" charset="-122"/>
                    <a:sym typeface="+mn-ea"/>
                  </a:rPr>
                  <a:t>话术</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261" name="矩形 260"/>
              <p:cNvSpPr/>
              <p:nvPr/>
            </p:nvSpPr>
            <p:spPr>
              <a:xfrm>
                <a:off x="14971" y="5951"/>
                <a:ext cx="2181" cy="4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业务办理轨迹</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grpSp>
            <p:nvGrpSpPr>
              <p:cNvPr id="262" name="组合 261"/>
              <p:cNvGrpSpPr/>
              <p:nvPr/>
            </p:nvGrpSpPr>
            <p:grpSpPr>
              <a:xfrm>
                <a:off x="14983" y="7447"/>
                <a:ext cx="1431" cy="519"/>
                <a:chOff x="12516" y="7516"/>
                <a:chExt cx="1431" cy="519"/>
              </a:xfrm>
            </p:grpSpPr>
            <p:sp>
              <p:nvSpPr>
                <p:cNvPr id="263" name="矩形 262"/>
                <p:cNvSpPr/>
                <p:nvPr/>
              </p:nvSpPr>
              <p:spPr>
                <a:xfrm>
                  <a:off x="12516" y="7516"/>
                  <a:ext cx="680" cy="5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产能</a:t>
                  </a:r>
                  <a:r>
                    <a:rPr lang="zh-CN" altLang="en-US" sz="800" kern="100" dirty="0">
                      <a:solidFill>
                        <a:schemeClr val="tx1"/>
                      </a:solidFill>
                      <a:latin typeface="微软雅黑" panose="020B0503020204020204" pitchFamily="34" charset="-122"/>
                      <a:ea typeface="微软雅黑" panose="020B0503020204020204" pitchFamily="34" charset="-122"/>
                      <a:sym typeface="+mn-ea"/>
                    </a:rPr>
                    <a:t>高效</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264" name="矩形 263"/>
                <p:cNvSpPr/>
                <p:nvPr/>
              </p:nvSpPr>
              <p:spPr>
                <a:xfrm>
                  <a:off x="13267" y="7516"/>
                  <a:ext cx="680" cy="5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免扰用户</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grpSp>
          <p:sp>
            <p:nvSpPr>
              <p:cNvPr id="268" name="文本框 267"/>
              <p:cNvSpPr txBox="1"/>
              <p:nvPr/>
            </p:nvSpPr>
            <p:spPr>
              <a:xfrm>
                <a:off x="16403" y="7412"/>
                <a:ext cx="787" cy="589"/>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协同调度</a:t>
                </a:r>
                <a:endParaRPr kumimoji="0" lang="zh-CN" altLang="en-US" sz="10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05" name="文本框 104"/>
              <p:cNvSpPr txBox="1"/>
              <p:nvPr/>
            </p:nvSpPr>
            <p:spPr>
              <a:xfrm>
                <a:off x="14876" y="5557"/>
                <a:ext cx="2324" cy="374"/>
              </a:xfrm>
              <a:prstGeom prst="rect">
                <a:avLst/>
              </a:prstGeom>
              <a:solidFill>
                <a:srgbClr val="E6F0F8"/>
              </a:solidFill>
            </p:spPr>
            <p:txBody>
              <a:bodyPr wrap="square" rtlCol="0" anchor="t">
                <a:noAutofit/>
              </a:bodyPr>
              <a:p>
                <a:pPr algn="ctr"/>
                <a:r>
                  <a:rPr lang="zh-CN" altLang="en-US" sz="1000" b="1">
                    <a:latin typeface="微软雅黑" panose="020B0503020204020204" pitchFamily="34" charset="-122"/>
                    <a:ea typeface="微软雅黑" panose="020B0503020204020204" pitchFamily="34" charset="-122"/>
                  </a:rPr>
                  <a:t>触点</a:t>
                </a:r>
                <a:r>
                  <a:rPr lang="zh-CN" altLang="en-US" sz="1000" b="1">
                    <a:latin typeface="微软雅黑" panose="020B0503020204020204" pitchFamily="34" charset="-122"/>
                    <a:ea typeface="微软雅黑" panose="020B0503020204020204" pitchFamily="34" charset="-122"/>
                  </a:rPr>
                  <a:t>执行</a:t>
                </a:r>
                <a:endParaRPr lang="zh-CN" altLang="en-US" sz="1000" b="1">
                  <a:latin typeface="微软雅黑" panose="020B0503020204020204" pitchFamily="34" charset="-122"/>
                  <a:ea typeface="微软雅黑" panose="020B0503020204020204" pitchFamily="34" charset="-122"/>
                </a:endParaRPr>
              </a:p>
            </p:txBody>
          </p:sp>
        </p:grpSp>
        <p:sp>
          <p:nvSpPr>
            <p:cNvPr id="282" name="文本框 281"/>
            <p:cNvSpPr txBox="1"/>
            <p:nvPr/>
          </p:nvSpPr>
          <p:spPr>
            <a:xfrm>
              <a:off x="2907" y="8538"/>
              <a:ext cx="2012" cy="427"/>
            </a:xfrm>
            <a:prstGeom prst="rect">
              <a:avLst/>
            </a:prstGeom>
            <a:noFill/>
          </p:spPr>
          <p:txBody>
            <a:bodyPr wrap="square" rtlCol="0">
              <a:no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数据支撑能力</a:t>
              </a:r>
              <a:endParaRPr kumimoji="0" lang="zh-CN" altLang="en-US" sz="11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83" name="矩形 282"/>
            <p:cNvSpPr/>
            <p:nvPr>
              <p:custDataLst>
                <p:tags r:id="rId13"/>
              </p:custDataLst>
            </p:nvPr>
          </p:nvSpPr>
          <p:spPr>
            <a:xfrm>
              <a:off x="7111" y="8585"/>
              <a:ext cx="10146" cy="1498"/>
            </a:xfrm>
            <a:prstGeom prst="rect">
              <a:avLst/>
            </a:prstGeom>
            <a:solidFill>
              <a:srgbClr val="E6F0F8"/>
            </a:solidFill>
            <a:ln w="12700" cap="flat" cmpd="sng" algn="ctr">
              <a:solidFill>
                <a:schemeClr val="bg1">
                  <a:lumMod val="75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pitchFamily="34" charset="-122"/>
                <a:cs typeface="+mn-cs"/>
              </a:endParaRPr>
            </a:p>
          </p:txBody>
        </p:sp>
        <p:sp>
          <p:nvSpPr>
            <p:cNvPr id="284" name="矩形 283"/>
            <p:cNvSpPr/>
            <p:nvPr/>
          </p:nvSpPr>
          <p:spPr>
            <a:xfrm>
              <a:off x="3594" y="9338"/>
              <a:ext cx="1883" cy="30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客户八大基础视图</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p:txBody>
        </p:sp>
        <p:sp>
          <p:nvSpPr>
            <p:cNvPr id="285" name="矩形 284"/>
            <p:cNvSpPr/>
            <p:nvPr/>
          </p:nvSpPr>
          <p:spPr>
            <a:xfrm>
              <a:off x="5622" y="9335"/>
              <a:ext cx="1337" cy="30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en-US" sz="800" b="1"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a:t>
              </a:r>
              <a:endParaRPr lang="en-US" sz="800" b="1"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286" name="文本框 285"/>
            <p:cNvSpPr txBox="1"/>
            <p:nvPr/>
          </p:nvSpPr>
          <p:spPr>
            <a:xfrm>
              <a:off x="476" y="9325"/>
              <a:ext cx="884" cy="308"/>
            </a:xfrm>
            <a:prstGeom prst="rect">
              <a:avLst/>
            </a:prstGeom>
            <a:noFill/>
          </p:spPr>
          <p:txBody>
            <a:bodyPr wrap="square" rtlCol="0">
              <a:noAutofit/>
            </a:bodyPr>
            <a:p>
              <a:pPr marL="0" marR="0" lvl="0" algn="l"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视图层</a:t>
              </a:r>
              <a:endParaRPr kumimoji="0" lang="zh-CN" altLang="en-US" sz="9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87" name="文本框 286"/>
            <p:cNvSpPr txBox="1"/>
            <p:nvPr/>
          </p:nvSpPr>
          <p:spPr>
            <a:xfrm>
              <a:off x="490" y="8912"/>
              <a:ext cx="884" cy="308"/>
            </a:xfrm>
            <a:prstGeom prst="rect">
              <a:avLst/>
            </a:prstGeom>
            <a:noFill/>
          </p:spPr>
          <p:txBody>
            <a:bodyPr wrap="square" rtlCol="0">
              <a:no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模型层</a:t>
              </a:r>
              <a:endParaRPr kumimoji="0" lang="zh-CN" altLang="en-US" sz="9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88" name="文本框 287"/>
            <p:cNvSpPr txBox="1"/>
            <p:nvPr/>
          </p:nvSpPr>
          <p:spPr>
            <a:xfrm>
              <a:off x="387" y="9711"/>
              <a:ext cx="1320" cy="308"/>
            </a:xfrm>
            <a:prstGeom prst="rect">
              <a:avLst/>
            </a:prstGeom>
            <a:noFill/>
          </p:spPr>
          <p:txBody>
            <a:bodyPr wrap="square" rtlCol="0">
              <a:noAutofit/>
            </a:bodyPr>
            <a:p>
              <a:pPr marL="0" marR="0" lvl="0" algn="l"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数据采集层</a:t>
              </a:r>
              <a:endParaRPr kumimoji="0" lang="zh-CN" altLang="en-US" sz="9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289" name="矩形 288"/>
            <p:cNvSpPr/>
            <p:nvPr/>
          </p:nvSpPr>
          <p:spPr>
            <a:xfrm>
              <a:off x="2755" y="8923"/>
              <a:ext cx="1254" cy="378"/>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家庭稳定度</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模型</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p:txBody>
        </p:sp>
        <p:sp>
          <p:nvSpPr>
            <p:cNvPr id="290" name="矩形 289"/>
            <p:cNvSpPr/>
            <p:nvPr/>
          </p:nvSpPr>
          <p:spPr>
            <a:xfrm>
              <a:off x="4123" y="8912"/>
              <a:ext cx="1354" cy="388"/>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中高端客户流失预警模型</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p:txBody>
        </p:sp>
        <p:sp>
          <p:nvSpPr>
            <p:cNvPr id="291" name="矩形 290"/>
            <p:cNvSpPr/>
            <p:nvPr/>
          </p:nvSpPr>
          <p:spPr>
            <a:xfrm>
              <a:off x="5622" y="8908"/>
              <a:ext cx="1333" cy="40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银发群体</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识别模型</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p:txBody>
        </p:sp>
        <p:sp>
          <p:nvSpPr>
            <p:cNvPr id="294" name="文本框 293"/>
            <p:cNvSpPr txBox="1"/>
            <p:nvPr/>
          </p:nvSpPr>
          <p:spPr>
            <a:xfrm>
              <a:off x="11695" y="8570"/>
              <a:ext cx="1677" cy="427"/>
            </a:xfrm>
            <a:prstGeom prst="rect">
              <a:avLst/>
            </a:prstGeom>
            <a:noFill/>
          </p:spPr>
          <p:txBody>
            <a:bodyPr wrap="square" rtlCol="0">
              <a:no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业务支撑能力</a:t>
              </a:r>
              <a:endParaRPr kumimoji="0" lang="zh-CN" altLang="en-US" sz="11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14" name="文本框 313"/>
            <p:cNvSpPr txBox="1"/>
            <p:nvPr/>
          </p:nvSpPr>
          <p:spPr>
            <a:xfrm>
              <a:off x="7375" y="8933"/>
              <a:ext cx="1546" cy="297"/>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统一客户拉通</a:t>
              </a:r>
              <a:endParaRPr kumimoji="0" lang="zh-CN" altLang="en-US" sz="8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15" name="矩形 314"/>
            <p:cNvSpPr/>
            <p:nvPr/>
          </p:nvSpPr>
          <p:spPr>
            <a:xfrm>
              <a:off x="7349" y="9768"/>
              <a:ext cx="1682"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b="1"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全网客户中心</a:t>
              </a:r>
              <a:endParaRPr lang="zh-CN" altLang="en-US" sz="800" b="1"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16" name="矩形 315"/>
            <p:cNvSpPr/>
            <p:nvPr/>
          </p:nvSpPr>
          <p:spPr>
            <a:xfrm>
              <a:off x="7340" y="9265"/>
              <a:ext cx="1682"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客户统一编码</a:t>
              </a:r>
              <a:endPar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17" name="矩形 316"/>
            <p:cNvSpPr/>
            <p:nvPr/>
          </p:nvSpPr>
          <p:spPr>
            <a:xfrm>
              <a:off x="7340" y="9513"/>
              <a:ext cx="1679"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携转客户管理</a:t>
              </a:r>
              <a:endParaRPr lang="zh-CN"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18" name="文本框 317"/>
            <p:cNvSpPr txBox="1"/>
            <p:nvPr/>
          </p:nvSpPr>
          <p:spPr>
            <a:xfrm>
              <a:off x="9445" y="8943"/>
              <a:ext cx="1424" cy="540"/>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原子产品封装</a:t>
              </a:r>
              <a:endParaRPr kumimoji="0" lang="zh-CN" altLang="en-US" sz="8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320" name="矩形 319"/>
            <p:cNvSpPr/>
            <p:nvPr/>
          </p:nvSpPr>
          <p:spPr>
            <a:xfrm>
              <a:off x="9341" y="9509"/>
              <a:ext cx="1682"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产品封装</a:t>
              </a:r>
              <a:r>
                <a:rPr lang="en-US" altLang="zh-CN"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AI</a:t>
              </a:r>
              <a:r>
                <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助手</a:t>
              </a:r>
              <a:endPar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21" name="矩形 320"/>
            <p:cNvSpPr/>
            <p:nvPr/>
          </p:nvSpPr>
          <p:spPr>
            <a:xfrm>
              <a:off x="9345" y="9768"/>
              <a:ext cx="1679"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b="1"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一级产商品中心</a:t>
              </a:r>
              <a:endParaRPr lang="zh-CN" altLang="en-US" sz="800" b="1"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22" name="文本框 321"/>
            <p:cNvSpPr txBox="1"/>
            <p:nvPr/>
          </p:nvSpPr>
          <p:spPr>
            <a:xfrm>
              <a:off x="11365" y="8947"/>
              <a:ext cx="1642" cy="540"/>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订单受理开通</a:t>
              </a:r>
              <a:endParaRPr kumimoji="0" lang="zh-CN" altLang="en-US" sz="8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323" name="矩形 322"/>
            <p:cNvSpPr/>
            <p:nvPr/>
          </p:nvSpPr>
          <p:spPr>
            <a:xfrm>
              <a:off x="11326" y="9254"/>
              <a:ext cx="1682"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跨域协同视频服务</a:t>
              </a:r>
              <a:endPar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24" name="矩形 323"/>
            <p:cNvSpPr/>
            <p:nvPr/>
          </p:nvSpPr>
          <p:spPr>
            <a:xfrm>
              <a:off x="11326" y="9513"/>
              <a:ext cx="1682"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融合业务订单受理</a:t>
              </a:r>
              <a:endPar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25" name="矩形 324"/>
            <p:cNvSpPr/>
            <p:nvPr/>
          </p:nvSpPr>
          <p:spPr>
            <a:xfrm>
              <a:off x="11330" y="9772"/>
              <a:ext cx="1679"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b="1"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一级订单中心</a:t>
              </a:r>
              <a:endParaRPr lang="zh-CN" altLang="en-US" sz="800" b="1"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26" name="文本框 325"/>
            <p:cNvSpPr txBox="1"/>
            <p:nvPr/>
          </p:nvSpPr>
          <p:spPr>
            <a:xfrm>
              <a:off x="13372" y="8943"/>
              <a:ext cx="1424" cy="540"/>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触点智能调度</a:t>
              </a:r>
              <a:endParaRPr kumimoji="0" lang="zh-CN" altLang="en-US" sz="8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27" name="矩形 326"/>
            <p:cNvSpPr/>
            <p:nvPr/>
          </p:nvSpPr>
          <p:spPr>
            <a:xfrm>
              <a:off x="13333" y="9250"/>
              <a:ext cx="1682"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私域流量营销能力</a:t>
              </a:r>
              <a:endPar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28" name="矩形 327"/>
            <p:cNvSpPr/>
            <p:nvPr/>
          </p:nvSpPr>
          <p:spPr>
            <a:xfrm>
              <a:off x="13333" y="9509"/>
              <a:ext cx="1682"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线上极速营销能力</a:t>
              </a:r>
              <a:endPar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29" name="矩形 328"/>
            <p:cNvSpPr/>
            <p:nvPr/>
          </p:nvSpPr>
          <p:spPr>
            <a:xfrm>
              <a:off x="13337" y="9768"/>
              <a:ext cx="1679"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b="1"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触点融通中心</a:t>
              </a:r>
              <a:endParaRPr lang="zh-CN" altLang="en-US" sz="800" b="1"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30" name="文本框 329"/>
            <p:cNvSpPr txBox="1"/>
            <p:nvPr/>
          </p:nvSpPr>
          <p:spPr>
            <a:xfrm>
              <a:off x="15420" y="8943"/>
              <a:ext cx="1424" cy="540"/>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AI能力</a:t>
              </a:r>
              <a:endParaRPr kumimoji="0" lang="zh-CN" altLang="en-US" sz="8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31" name="矩形 330"/>
            <p:cNvSpPr/>
            <p:nvPr/>
          </p:nvSpPr>
          <p:spPr>
            <a:xfrm>
              <a:off x="15381" y="9250"/>
              <a:ext cx="1682"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数字员工</a:t>
              </a:r>
              <a:endPar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32" name="矩形 331"/>
            <p:cNvSpPr/>
            <p:nvPr/>
          </p:nvSpPr>
          <p:spPr>
            <a:xfrm>
              <a:off x="15381" y="9509"/>
              <a:ext cx="1682"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网格通智能助理</a:t>
              </a:r>
              <a:endPar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33" name="矩形 332"/>
            <p:cNvSpPr/>
            <p:nvPr/>
          </p:nvSpPr>
          <p:spPr>
            <a:xfrm>
              <a:off x="15385" y="9768"/>
              <a:ext cx="1679"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b="1"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灵犀智能体</a:t>
              </a:r>
              <a:endParaRPr lang="zh-CN" altLang="en-US" sz="800" b="1"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335" name="矩形 334"/>
            <p:cNvSpPr/>
            <p:nvPr>
              <p:custDataLst>
                <p:tags r:id="rId14"/>
              </p:custDataLst>
            </p:nvPr>
          </p:nvSpPr>
          <p:spPr>
            <a:xfrm>
              <a:off x="373" y="8503"/>
              <a:ext cx="16900" cy="1892"/>
            </a:xfrm>
            <a:prstGeom prst="rect">
              <a:avLst/>
            </a:prstGeom>
            <a:noFill/>
            <a:ln w="19050" cap="flat" cmpd="sng" algn="ctr">
              <a:solidFill>
                <a:schemeClr val="accent1">
                  <a:shade val="50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pitchFamily="34" charset="-122"/>
                <a:cs typeface="+mn-cs"/>
              </a:endParaRPr>
            </a:p>
          </p:txBody>
        </p:sp>
        <p:sp>
          <p:nvSpPr>
            <p:cNvPr id="336" name="虚尾箭头 335"/>
            <p:cNvSpPr/>
            <p:nvPr>
              <p:custDataLst>
                <p:tags r:id="rId15"/>
              </p:custDataLst>
            </p:nvPr>
          </p:nvSpPr>
          <p:spPr>
            <a:xfrm>
              <a:off x="12516" y="6835"/>
              <a:ext cx="2187" cy="247"/>
            </a:xfrm>
            <a:prstGeom prst="stripedRightArrow">
              <a:avLst>
                <a:gd name="adj1" fmla="val 65919"/>
                <a:gd name="adj2" fmla="val 128720"/>
              </a:avLst>
            </a:prstGeom>
            <a:solidFill>
              <a:srgbClr val="C4DCF0"/>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7" name="矩形 6"/>
            <p:cNvSpPr/>
            <p:nvPr/>
          </p:nvSpPr>
          <p:spPr>
            <a:xfrm>
              <a:off x="3159" y="9680"/>
              <a:ext cx="1204" cy="397"/>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触客数据</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贴源直采</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p:txBody>
        </p:sp>
        <p:sp>
          <p:nvSpPr>
            <p:cNvPr id="9" name="矩形 8"/>
            <p:cNvSpPr/>
            <p:nvPr/>
          </p:nvSpPr>
          <p:spPr>
            <a:xfrm>
              <a:off x="4531" y="9668"/>
              <a:ext cx="1183" cy="40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周期数据</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rPr>
                <a:t>离线采集</a:t>
              </a:r>
              <a:endParaRPr lang="zh-CN" altLang="en-US" sz="800" kern="0" noProof="0" dirty="0">
                <a:ln>
                  <a:noFill/>
                </a:ln>
                <a:solidFill>
                  <a:schemeClr val="tx1"/>
                </a:solidFill>
                <a:effectLst/>
                <a:uLnTx/>
                <a:uFillTx/>
                <a:latin typeface="Arial" panose="020B0604020202020204"/>
                <a:ea typeface="微软雅黑" panose="020B0503020204020204" pitchFamily="34" charset="-122"/>
                <a:sym typeface="+mn-ea"/>
              </a:endParaRPr>
            </a:p>
          </p:txBody>
        </p:sp>
        <p:sp>
          <p:nvSpPr>
            <p:cNvPr id="10" name="矩形 9"/>
            <p:cNvSpPr/>
            <p:nvPr/>
          </p:nvSpPr>
          <p:spPr>
            <a:xfrm>
              <a:off x="5945" y="9666"/>
              <a:ext cx="929" cy="40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sz="800" kern="0" noProof="0" dirty="0">
                  <a:ln>
                    <a:noFill/>
                  </a:ln>
                  <a:solidFill>
                    <a:schemeClr val="tx1"/>
                  </a:solidFill>
                  <a:effectLst/>
                  <a:uLnTx/>
                  <a:uFillTx/>
                  <a:latin typeface="Arial" panose="020B0604020202020204"/>
                  <a:ea typeface="微软雅黑" panose="020B0503020204020204" pitchFamily="34" charset="-122"/>
                  <a:sym typeface="+mn-ea"/>
                </a:rPr>
                <a:t>实时数据</a:t>
              </a:r>
              <a:endParaRPr sz="800" kern="0" noProof="0" dirty="0">
                <a:ln>
                  <a:noFill/>
                </a:ln>
                <a:solidFill>
                  <a:schemeClr val="tx1"/>
                </a:solidFill>
                <a:effectLst/>
                <a:uLnTx/>
                <a:uFillTx/>
                <a:latin typeface="Arial" panose="020B0604020202020204"/>
                <a:ea typeface="微软雅黑" panose="020B0503020204020204" pitchFamily="34" charset="-122"/>
                <a:sym typeface="+mn-ea"/>
              </a:endParaRPr>
            </a:p>
          </p:txBody>
        </p:sp>
        <p:sp>
          <p:nvSpPr>
            <p:cNvPr id="14" name="矩形 13"/>
            <p:cNvSpPr/>
            <p:nvPr/>
          </p:nvSpPr>
          <p:spPr>
            <a:xfrm>
              <a:off x="9341" y="9250"/>
              <a:ext cx="1682" cy="222"/>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全网原子产品库</a:t>
              </a:r>
              <a:endParaRPr lang="zh-CN" altLang="en-US" sz="800" kern="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grpSp>
          <p:nvGrpSpPr>
            <p:cNvPr id="132" name="组合 131"/>
            <p:cNvGrpSpPr/>
            <p:nvPr/>
          </p:nvGrpSpPr>
          <p:grpSpPr>
            <a:xfrm rot="0">
              <a:off x="10166" y="5771"/>
              <a:ext cx="2264" cy="2565"/>
              <a:chOff x="10202" y="6548"/>
              <a:chExt cx="2264" cy="3213"/>
            </a:xfrm>
          </p:grpSpPr>
          <p:sp>
            <p:nvSpPr>
              <p:cNvPr id="17" name="矩形: 圆角 485"/>
              <p:cNvSpPr/>
              <p:nvPr/>
            </p:nvSpPr>
            <p:spPr bwMode="auto">
              <a:xfrm>
                <a:off x="10202" y="6918"/>
                <a:ext cx="2141" cy="2843"/>
              </a:xfrm>
              <a:prstGeom prst="roundRect">
                <a:avLst>
                  <a:gd name="adj" fmla="val 5141"/>
                </a:avLst>
              </a:prstGeom>
              <a:noFill/>
              <a:ln w="6350" cmpd="sng">
                <a:solidFill>
                  <a:schemeClr val="tx1"/>
                </a:solidFill>
                <a:prstDash val="dash"/>
                <a:miter lim="800000"/>
              </a:ln>
              <a:extLst>
                <a:ext uri="{909E8E84-426E-40DD-AFC4-6F175D3DCCD1}">
                  <a14:hiddenFill xmlns:a14="http://schemas.microsoft.com/office/drawing/2010/main">
                    <a:solidFill>
                      <a:schemeClr val="bg1"/>
                    </a:solidFill>
                  </a14:hiddenFill>
                </a:ext>
              </a:extLst>
            </p:spPr>
            <p:txBody>
              <a:bodyPr lIns="0" tIns="0" rIns="0" bIns="0" rtlCol="0" anchor="t" anchorCtr="0"/>
              <a:p>
                <a:pPr algn="ctr" defTabSz="685800"/>
                <a:endParaRPr lang="zh-CN" sz="1000" b="1" dirty="0">
                  <a:latin typeface="+mj-ea"/>
                  <a:ea typeface="+mj-ea"/>
                </a:endParaRPr>
              </a:p>
            </p:txBody>
          </p:sp>
          <p:sp>
            <p:nvSpPr>
              <p:cNvPr id="133" name="矩形 132"/>
              <p:cNvSpPr/>
              <p:nvPr/>
            </p:nvSpPr>
            <p:spPr>
              <a:xfrm>
                <a:off x="10246" y="6548"/>
                <a:ext cx="2220" cy="2197"/>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lumMod val="60000"/>
                        <a:lumOff val="40000"/>
                      </a:schemeClr>
                    </a:solidFill>
                  </a14:hiddenFill>
                </a:ext>
              </a:ex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chemeClr val="tx1"/>
                  </a:solidFill>
                  <a:effectLst/>
                  <a:uLnTx/>
                  <a:uFillTx/>
                  <a:latin typeface="Arial" panose="020B0604020202020204"/>
                  <a:ea typeface="微软雅黑" panose="020B0503020204020204" pitchFamily="34" charset="-122"/>
                  <a:cs typeface="+mn-cs"/>
                </a:endParaRPr>
              </a:p>
            </p:txBody>
          </p:sp>
          <p:sp>
            <p:nvSpPr>
              <p:cNvPr id="134" name="五边形 18"/>
              <p:cNvSpPr/>
              <p:nvPr/>
            </p:nvSpPr>
            <p:spPr bwMode="auto">
              <a:xfrm>
                <a:off x="10214" y="7297"/>
                <a:ext cx="655" cy="852"/>
              </a:xfrm>
              <a:prstGeom prst="homePlate">
                <a:avLst>
                  <a:gd name="adj" fmla="val 0"/>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b="1" i="1" dirty="0">
                    <a:solidFill>
                      <a:srgbClr val="0070C0"/>
                    </a:solidFill>
                    <a:latin typeface="微软雅黑" panose="020B0503020204020204" pitchFamily="34" charset="-122"/>
                    <a:ea typeface="微软雅黑" panose="020B0503020204020204" pitchFamily="34" charset="-122"/>
                  </a:rPr>
                  <a:t>预知</a:t>
                </a:r>
                <a:endParaRPr lang="zh-CN" altLang="en-US" sz="800" b="1" i="1" dirty="0">
                  <a:solidFill>
                    <a:srgbClr val="0070C0"/>
                  </a:solidFill>
                  <a:latin typeface="微软雅黑" panose="020B0503020204020204" pitchFamily="34" charset="-122"/>
                  <a:ea typeface="微软雅黑" panose="020B0503020204020204" pitchFamily="34" charset="-122"/>
                </a:endParaRPr>
              </a:p>
              <a:p>
                <a:pPr algn="ctr"/>
                <a:r>
                  <a:rPr lang="zh-CN" altLang="en-US" sz="800" b="1" i="1" dirty="0">
                    <a:solidFill>
                      <a:srgbClr val="0070C0"/>
                    </a:solidFill>
                    <a:latin typeface="微软雅黑" panose="020B0503020204020204" pitchFamily="34" charset="-122"/>
                    <a:ea typeface="微软雅黑" panose="020B0503020204020204" pitchFamily="34" charset="-122"/>
                  </a:rPr>
                  <a:t>需求</a:t>
                </a:r>
                <a:endParaRPr lang="zh-CN" altLang="en-US" sz="800" b="1" i="1" dirty="0">
                  <a:solidFill>
                    <a:srgbClr val="0070C0"/>
                  </a:solidFill>
                  <a:latin typeface="微软雅黑" panose="020B0503020204020204" pitchFamily="34" charset="-122"/>
                  <a:ea typeface="微软雅黑" panose="020B0503020204020204" pitchFamily="34" charset="-122"/>
                </a:endParaRPr>
              </a:p>
            </p:txBody>
          </p:sp>
          <p:sp>
            <p:nvSpPr>
              <p:cNvPr id="135" name="矩形 134"/>
              <p:cNvSpPr/>
              <p:nvPr/>
            </p:nvSpPr>
            <p:spPr>
              <a:xfrm>
                <a:off x="10924" y="7327"/>
                <a:ext cx="656" cy="4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换机</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136" name="矩形 135"/>
              <p:cNvSpPr/>
              <p:nvPr/>
            </p:nvSpPr>
            <p:spPr>
              <a:xfrm>
                <a:off x="11650" y="7341"/>
                <a:ext cx="671" cy="4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升档</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137" name="矩形 136"/>
              <p:cNvSpPr/>
              <p:nvPr/>
            </p:nvSpPr>
            <p:spPr>
              <a:xfrm>
                <a:off x="10924" y="7776"/>
                <a:ext cx="656" cy="4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副卡</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18" name="矩形 17"/>
              <p:cNvSpPr/>
              <p:nvPr/>
            </p:nvSpPr>
            <p:spPr>
              <a:xfrm>
                <a:off x="11650" y="7776"/>
                <a:ext cx="671" cy="4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共享</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19" name="五边形 18"/>
              <p:cNvSpPr/>
              <p:nvPr/>
            </p:nvSpPr>
            <p:spPr bwMode="auto">
              <a:xfrm>
                <a:off x="11650" y="8481"/>
                <a:ext cx="682" cy="967"/>
              </a:xfrm>
              <a:prstGeom prst="homePlate">
                <a:avLst>
                  <a:gd name="adj" fmla="val 0"/>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b="1" i="1" dirty="0">
                    <a:solidFill>
                      <a:srgbClr val="0070C0"/>
                    </a:solidFill>
                    <a:latin typeface="微软雅黑" panose="020B0503020204020204" pitchFamily="34" charset="-122"/>
                    <a:ea typeface="微软雅黑" panose="020B0503020204020204" pitchFamily="34" charset="-122"/>
                  </a:rPr>
                  <a:t>预判风险</a:t>
                </a:r>
                <a:endParaRPr lang="zh-CN" altLang="en-US" sz="800" b="1" i="1" dirty="0">
                  <a:solidFill>
                    <a:srgbClr val="0070C0"/>
                  </a:solidFill>
                  <a:latin typeface="微软雅黑" panose="020B0503020204020204" pitchFamily="34" charset="-122"/>
                  <a:ea typeface="微软雅黑" panose="020B0503020204020204" pitchFamily="34" charset="-122"/>
                </a:endParaRPr>
              </a:p>
            </p:txBody>
          </p:sp>
          <p:sp>
            <p:nvSpPr>
              <p:cNvPr id="20" name="矩形 19"/>
              <p:cNvSpPr/>
              <p:nvPr/>
            </p:nvSpPr>
            <p:spPr>
              <a:xfrm>
                <a:off x="10214" y="8481"/>
                <a:ext cx="656" cy="5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携转</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24" name="矩形 23"/>
              <p:cNvSpPr/>
              <p:nvPr/>
            </p:nvSpPr>
            <p:spPr>
              <a:xfrm>
                <a:off x="10924" y="8481"/>
                <a:ext cx="656" cy="5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离网</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27" name="矩形 26"/>
              <p:cNvSpPr/>
              <p:nvPr/>
            </p:nvSpPr>
            <p:spPr>
              <a:xfrm>
                <a:off x="10214" y="8949"/>
                <a:ext cx="656" cy="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降档</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sp>
            <p:nvSpPr>
              <p:cNvPr id="28" name="矩形 27"/>
              <p:cNvSpPr/>
              <p:nvPr/>
            </p:nvSpPr>
            <p:spPr>
              <a:xfrm>
                <a:off x="10924" y="8949"/>
                <a:ext cx="656" cy="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pitchFamily="34" charset="-122"/>
                    <a:ea typeface="微软雅黑" panose="020B0503020204020204" pitchFamily="34" charset="-122"/>
                    <a:sym typeface="+mn-ea"/>
                  </a:rPr>
                  <a:t>沉默</a:t>
                </a:r>
                <a:endParaRPr lang="zh-CN" altLang="en-US" sz="800" kern="100" dirty="0">
                  <a:solidFill>
                    <a:schemeClr val="tx1"/>
                  </a:solidFill>
                  <a:latin typeface="微软雅黑" panose="020B0503020204020204" pitchFamily="34" charset="-122"/>
                  <a:ea typeface="微软雅黑" panose="020B0503020204020204" pitchFamily="34" charset="-122"/>
                  <a:sym typeface="+mn-ea"/>
                </a:endParaRPr>
              </a:p>
            </p:txBody>
          </p:sp>
        </p:grpSp>
        <p:sp>
          <p:nvSpPr>
            <p:cNvPr id="30" name="文本框 29"/>
            <p:cNvSpPr txBox="1"/>
            <p:nvPr/>
          </p:nvSpPr>
          <p:spPr>
            <a:xfrm>
              <a:off x="10166" y="5801"/>
              <a:ext cx="2190" cy="366"/>
            </a:xfrm>
            <a:prstGeom prst="rect">
              <a:avLst/>
            </a:prstGeom>
            <a:solidFill>
              <a:srgbClr val="E6F0F8"/>
            </a:solidFill>
          </p:spPr>
          <p:txBody>
            <a:bodyPr wrap="square" rtlCol="0" anchor="t">
              <a:noAutofit/>
            </a:bodyPr>
            <a:p>
              <a:pPr algn="ctr"/>
              <a:r>
                <a:rPr lang="zh-CN" altLang="en-US" sz="1000" b="1">
                  <a:latin typeface="微软雅黑" panose="020B0503020204020204" pitchFamily="34" charset="-122"/>
                  <a:ea typeface="微软雅黑" panose="020B0503020204020204" pitchFamily="34" charset="-122"/>
                </a:rPr>
                <a:t>需求</a:t>
              </a:r>
              <a:r>
                <a:rPr lang="zh-CN" altLang="en-US" sz="1000" b="1">
                  <a:latin typeface="微软雅黑" panose="020B0503020204020204" pitchFamily="34" charset="-122"/>
                  <a:ea typeface="微软雅黑" panose="020B0503020204020204" pitchFamily="34" charset="-122"/>
                </a:rPr>
                <a:t>洞察</a:t>
              </a:r>
              <a:endParaRPr lang="zh-CN" altLang="en-US" sz="1000" b="1">
                <a:latin typeface="微软雅黑" panose="020B0503020204020204" pitchFamily="34" charset="-122"/>
                <a:ea typeface="微软雅黑" panose="020B0503020204020204" pitchFamily="34" charset="-122"/>
              </a:endParaRPr>
            </a:p>
          </p:txBody>
        </p:sp>
        <p:grpSp>
          <p:nvGrpSpPr>
            <p:cNvPr id="31" name="组合 30"/>
            <p:cNvGrpSpPr/>
            <p:nvPr/>
          </p:nvGrpSpPr>
          <p:grpSpPr>
            <a:xfrm rot="0">
              <a:off x="6508" y="2772"/>
              <a:ext cx="2286" cy="328"/>
              <a:chOff x="16495" y="3975"/>
              <a:chExt cx="1905" cy="489"/>
            </a:xfrm>
          </p:grpSpPr>
          <p:sp>
            <p:nvSpPr>
              <p:cNvPr id="49" name="矩形: 圆角 35"/>
              <p:cNvSpPr/>
              <p:nvPr>
                <p:custDataLst>
                  <p:tags r:id="rId16"/>
                </p:custDataLst>
              </p:nvPr>
            </p:nvSpPr>
            <p:spPr>
              <a:xfrm>
                <a:off x="16498" y="3975"/>
                <a:ext cx="1902" cy="484"/>
              </a:xfrm>
              <a:prstGeom prst="roundRect">
                <a:avLst/>
              </a:prstGeom>
              <a:solidFill>
                <a:srgbClr val="FFFFFF"/>
              </a:solidFill>
              <a:ln w="3175" cap="flat" cmpd="sng" algn="ctr">
                <a:solidFill>
                  <a:srgbClr val="5B9BD5">
                    <a:alpha val="20000"/>
                  </a:srgbClr>
                </a:solidFill>
                <a:prstDash val="solid"/>
                <a:round/>
                <a:headEnd type="none" w="med" len="med"/>
                <a:tailEnd type="none" w="med" len="med"/>
              </a:ln>
              <a:effectLst>
                <a:outerShdw blurRad="508000" dist="50800" dir="5400000" algn="ctr" rotWithShape="0">
                  <a:srgbClr val="5B9BD5">
                    <a:alpha val="20000"/>
                  </a:srgbClr>
                </a:outerShdw>
              </a:effectLst>
            </p:spPr>
            <p:txBody>
              <a:bodyPr lIns="0" rIns="0" rtlCol="0" anchor="ctr">
                <a:noAutofit/>
              </a:bodyPr>
              <a:p>
                <a:pPr algn="ctr"/>
                <a:endParaRPr lang="zh-CN" altLang="en-US" sz="1600">
                  <a:solidFill>
                    <a:sysClr val="windowText" lastClr="000000"/>
                  </a:solidFill>
                </a:endParaRPr>
              </a:p>
            </p:txBody>
          </p:sp>
          <p:sp>
            <p:nvSpPr>
              <p:cNvPr id="51" name="矩形 50"/>
              <p:cNvSpPr/>
              <p:nvPr>
                <p:custDataLst>
                  <p:tags r:id="rId17"/>
                </p:custDataLst>
              </p:nvPr>
            </p:nvSpPr>
            <p:spPr>
              <a:xfrm>
                <a:off x="16495" y="4040"/>
                <a:ext cx="1895" cy="424"/>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zh-CN" altLang="en-US" sz="1100" b="1" noProof="0">
                    <a:ln>
                      <a:noFill/>
                    </a:ln>
                    <a:solidFill>
                      <a:srgbClr val="0070C0"/>
                    </a:solidFill>
                    <a:effectLst/>
                    <a:uLnTx/>
                    <a:uFillTx/>
                    <a:latin typeface="微软雅黑" panose="020B0503020204020204" pitchFamily="34" charset="-122"/>
                    <a:ea typeface="微软雅黑" panose="020B0503020204020204" pitchFamily="34" charset="-122"/>
                    <a:sym typeface="+mn-ea"/>
                  </a:rPr>
                  <a:t>产品运营</a:t>
                </a:r>
                <a:endParaRPr lang="zh-CN" altLang="en-US" sz="10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64" name="组合 63"/>
            <p:cNvGrpSpPr/>
            <p:nvPr/>
          </p:nvGrpSpPr>
          <p:grpSpPr>
            <a:xfrm rot="0">
              <a:off x="3095" y="2745"/>
              <a:ext cx="3010" cy="390"/>
              <a:chOff x="16025" y="3975"/>
              <a:chExt cx="2508" cy="580"/>
            </a:xfrm>
          </p:grpSpPr>
          <p:sp>
            <p:nvSpPr>
              <p:cNvPr id="65" name="矩形: 圆角 35"/>
              <p:cNvSpPr/>
              <p:nvPr>
                <p:custDataLst>
                  <p:tags r:id="rId18"/>
                </p:custDataLst>
              </p:nvPr>
            </p:nvSpPr>
            <p:spPr>
              <a:xfrm>
                <a:off x="16025" y="3975"/>
                <a:ext cx="2376" cy="484"/>
              </a:xfrm>
              <a:prstGeom prst="roundRect">
                <a:avLst/>
              </a:prstGeom>
              <a:solidFill>
                <a:srgbClr val="FFFFFF"/>
              </a:solidFill>
              <a:ln w="3175" cap="flat" cmpd="sng" algn="ctr">
                <a:solidFill>
                  <a:srgbClr val="5B9BD5">
                    <a:alpha val="20000"/>
                  </a:srgbClr>
                </a:solidFill>
                <a:prstDash val="solid"/>
                <a:round/>
                <a:headEnd type="none" w="med" len="med"/>
                <a:tailEnd type="none" w="med" len="med"/>
              </a:ln>
              <a:effectLst>
                <a:outerShdw blurRad="508000" dist="50800" dir="5400000" algn="ctr" rotWithShape="0">
                  <a:srgbClr val="5B9BD5">
                    <a:alpha val="20000"/>
                  </a:srgbClr>
                </a:outerShdw>
              </a:effectLst>
            </p:spPr>
            <p:txBody>
              <a:bodyPr lIns="0" rIns="0" rtlCol="0" anchor="ctr">
                <a:noAutofit/>
              </a:bodyPr>
              <a:p>
                <a:pPr algn="ctr"/>
                <a:endParaRPr lang="zh-CN" altLang="en-US" sz="1600">
                  <a:solidFill>
                    <a:sysClr val="windowText" lastClr="000000"/>
                  </a:solidFill>
                </a:endParaRPr>
              </a:p>
            </p:txBody>
          </p:sp>
          <p:sp>
            <p:nvSpPr>
              <p:cNvPr id="66" name="矩形 65"/>
              <p:cNvSpPr/>
              <p:nvPr>
                <p:custDataLst>
                  <p:tags r:id="rId19"/>
                </p:custDataLst>
              </p:nvPr>
            </p:nvSpPr>
            <p:spPr>
              <a:xfrm>
                <a:off x="16147" y="3981"/>
                <a:ext cx="2386" cy="574"/>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zh-CN" altLang="en-US" sz="1100" b="1" noProof="0">
                    <a:ln>
                      <a:noFill/>
                    </a:ln>
                    <a:solidFill>
                      <a:srgbClr val="0070C0"/>
                    </a:solidFill>
                    <a:effectLst/>
                    <a:uLnTx/>
                    <a:uFillTx/>
                    <a:latin typeface="微软雅黑" panose="020B0503020204020204" pitchFamily="34" charset="-122"/>
                    <a:ea typeface="微软雅黑" panose="020B0503020204020204" pitchFamily="34" charset="-122"/>
                  </a:rPr>
                  <a:t>存量（全球通、网龄升级</a:t>
                </a:r>
                <a:r>
                  <a:rPr lang="en-US" altLang="zh-CN" sz="1100" b="1" noProof="0">
                    <a:ln>
                      <a:noFill/>
                    </a:ln>
                    <a:solidFill>
                      <a:srgbClr val="0070C0"/>
                    </a:solidFill>
                    <a:effectLst/>
                    <a:uLnTx/>
                    <a:uFillTx/>
                    <a:latin typeface="微软雅黑" panose="020B0503020204020204" pitchFamily="34" charset="-122"/>
                    <a:ea typeface="微软雅黑" panose="020B0503020204020204" pitchFamily="34" charset="-122"/>
                  </a:rPr>
                  <a:t>...</a:t>
                </a:r>
                <a:r>
                  <a:rPr lang="zh-CN" altLang="en-US" sz="1100" b="1" noProof="0">
                    <a:ln>
                      <a:noFill/>
                    </a:ln>
                    <a:solidFill>
                      <a:srgbClr val="0070C0"/>
                    </a:solidFill>
                    <a:effectLst/>
                    <a:uLnTx/>
                    <a:uFillTx/>
                    <a:latin typeface="微软雅黑" panose="020B0503020204020204" pitchFamily="34" charset="-122"/>
                    <a:ea typeface="微软雅黑" panose="020B0503020204020204" pitchFamily="34" charset="-122"/>
                  </a:rPr>
                  <a:t>）</a:t>
                </a:r>
                <a:endParaRPr lang="zh-CN" altLang="en-US" sz="1100" b="1" noProof="0">
                  <a:ln>
                    <a:noFill/>
                  </a:ln>
                  <a:solidFill>
                    <a:srgbClr val="0070C0"/>
                  </a:solidFill>
                  <a:effectLst/>
                  <a:uLnTx/>
                  <a:uFillTx/>
                  <a:latin typeface="微软雅黑" panose="020B0503020204020204" pitchFamily="34" charset="-122"/>
                  <a:ea typeface="微软雅黑" panose="020B0503020204020204" pitchFamily="34" charset="-122"/>
                </a:endParaRPr>
              </a:p>
            </p:txBody>
          </p:sp>
        </p:grpSp>
        <p:grpSp>
          <p:nvGrpSpPr>
            <p:cNvPr id="73" name="组合 72"/>
            <p:cNvGrpSpPr/>
            <p:nvPr/>
          </p:nvGrpSpPr>
          <p:grpSpPr>
            <a:xfrm rot="0">
              <a:off x="12527" y="2766"/>
              <a:ext cx="2286" cy="328"/>
              <a:chOff x="16495" y="3975"/>
              <a:chExt cx="1905" cy="489"/>
            </a:xfrm>
          </p:grpSpPr>
          <p:sp>
            <p:nvSpPr>
              <p:cNvPr id="75" name="矩形: 圆角 35"/>
              <p:cNvSpPr/>
              <p:nvPr>
                <p:custDataLst>
                  <p:tags r:id="rId20"/>
                </p:custDataLst>
              </p:nvPr>
            </p:nvSpPr>
            <p:spPr>
              <a:xfrm>
                <a:off x="16498" y="3975"/>
                <a:ext cx="1902" cy="484"/>
              </a:xfrm>
              <a:prstGeom prst="roundRect">
                <a:avLst/>
              </a:prstGeom>
              <a:solidFill>
                <a:srgbClr val="FFFFFF"/>
              </a:solidFill>
              <a:ln w="3175" cap="flat" cmpd="sng" algn="ctr">
                <a:solidFill>
                  <a:srgbClr val="5B9BD5">
                    <a:alpha val="20000"/>
                  </a:srgbClr>
                </a:solidFill>
                <a:prstDash val="solid"/>
                <a:round/>
                <a:headEnd type="none" w="med" len="med"/>
                <a:tailEnd type="none" w="med" len="med"/>
              </a:ln>
              <a:effectLst>
                <a:outerShdw blurRad="508000" dist="50800" dir="5400000" algn="ctr" rotWithShape="0">
                  <a:srgbClr val="5B9BD5">
                    <a:alpha val="20000"/>
                  </a:srgbClr>
                </a:outerShdw>
              </a:effectLst>
            </p:spPr>
            <p:txBody>
              <a:bodyPr lIns="0" rIns="0" rtlCol="0" anchor="ctr">
                <a:noAutofit/>
              </a:bodyPr>
              <a:p>
                <a:pPr algn="ctr"/>
                <a:endParaRPr lang="zh-CN" altLang="en-US" sz="1600">
                  <a:solidFill>
                    <a:sysClr val="windowText" lastClr="000000"/>
                  </a:solidFill>
                </a:endParaRPr>
              </a:p>
            </p:txBody>
          </p:sp>
          <p:sp>
            <p:nvSpPr>
              <p:cNvPr id="76" name="矩形 75"/>
              <p:cNvSpPr/>
              <p:nvPr>
                <p:custDataLst>
                  <p:tags r:id="rId21"/>
                </p:custDataLst>
              </p:nvPr>
            </p:nvSpPr>
            <p:spPr>
              <a:xfrm>
                <a:off x="16495" y="4040"/>
                <a:ext cx="1895" cy="424"/>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zh-CN" altLang="en-US" sz="1100" b="1" noProof="0">
                    <a:ln>
                      <a:noFill/>
                    </a:ln>
                    <a:solidFill>
                      <a:srgbClr val="0070C0"/>
                    </a:solidFill>
                    <a:effectLst/>
                    <a:uLnTx/>
                    <a:uFillTx/>
                    <a:latin typeface="微软雅黑" panose="020B0503020204020204" pitchFamily="34" charset="-122"/>
                    <a:ea typeface="微软雅黑" panose="020B0503020204020204" pitchFamily="34" charset="-122"/>
                    <a:sym typeface="+mn-ea"/>
                  </a:rPr>
                  <a:t>生态合作</a:t>
                </a:r>
                <a:endParaRPr lang="zh-CN" altLang="en-US" sz="1100" b="1" noProof="0">
                  <a:ln>
                    <a:noFill/>
                  </a:ln>
                  <a:solidFill>
                    <a:srgbClr val="0070C0"/>
                  </a:solidFill>
                  <a:effectLst/>
                  <a:uLnTx/>
                  <a:uFillTx/>
                  <a:latin typeface="微软雅黑" panose="020B0503020204020204" pitchFamily="34" charset="-122"/>
                  <a:ea typeface="微软雅黑" panose="020B0503020204020204" pitchFamily="34" charset="-122"/>
                  <a:sym typeface="+mn-ea"/>
                </a:endParaRPr>
              </a:p>
            </p:txBody>
          </p:sp>
        </p:grpSp>
        <p:grpSp>
          <p:nvGrpSpPr>
            <p:cNvPr id="77" name="组合 76"/>
            <p:cNvGrpSpPr/>
            <p:nvPr/>
          </p:nvGrpSpPr>
          <p:grpSpPr>
            <a:xfrm rot="0">
              <a:off x="9502" y="2769"/>
              <a:ext cx="2286" cy="328"/>
              <a:chOff x="16495" y="3975"/>
              <a:chExt cx="1905" cy="489"/>
            </a:xfrm>
          </p:grpSpPr>
          <p:sp>
            <p:nvSpPr>
              <p:cNvPr id="78" name="矩形: 圆角 35"/>
              <p:cNvSpPr/>
              <p:nvPr>
                <p:custDataLst>
                  <p:tags r:id="rId22"/>
                </p:custDataLst>
              </p:nvPr>
            </p:nvSpPr>
            <p:spPr>
              <a:xfrm>
                <a:off x="16498" y="3975"/>
                <a:ext cx="1902" cy="484"/>
              </a:xfrm>
              <a:prstGeom prst="roundRect">
                <a:avLst/>
              </a:prstGeom>
              <a:solidFill>
                <a:srgbClr val="FFFFFF"/>
              </a:solidFill>
              <a:ln w="3175" cap="flat" cmpd="sng" algn="ctr">
                <a:solidFill>
                  <a:srgbClr val="5B9BD5">
                    <a:alpha val="20000"/>
                  </a:srgbClr>
                </a:solidFill>
                <a:prstDash val="solid"/>
                <a:round/>
                <a:headEnd type="none" w="med" len="med"/>
                <a:tailEnd type="none" w="med" len="med"/>
              </a:ln>
              <a:effectLst>
                <a:outerShdw blurRad="508000" dist="50800" dir="5400000" algn="ctr" rotWithShape="0">
                  <a:srgbClr val="5B9BD5">
                    <a:alpha val="20000"/>
                  </a:srgbClr>
                </a:outerShdw>
              </a:effectLst>
            </p:spPr>
            <p:txBody>
              <a:bodyPr lIns="0" rIns="0" rtlCol="0" anchor="ctr">
                <a:noAutofit/>
              </a:bodyPr>
              <a:p>
                <a:pPr algn="ctr"/>
                <a:endParaRPr lang="zh-CN" altLang="en-US" sz="1600">
                  <a:solidFill>
                    <a:srgbClr val="C00000"/>
                  </a:solidFill>
                  <a:effectLst/>
                </a:endParaRPr>
              </a:p>
            </p:txBody>
          </p:sp>
          <p:sp>
            <p:nvSpPr>
              <p:cNvPr id="79" name="矩形 78"/>
              <p:cNvSpPr/>
              <p:nvPr>
                <p:custDataLst>
                  <p:tags r:id="rId23"/>
                </p:custDataLst>
              </p:nvPr>
            </p:nvSpPr>
            <p:spPr>
              <a:xfrm>
                <a:off x="16495" y="4040"/>
                <a:ext cx="1895" cy="424"/>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zh-CN" altLang="en-US" sz="1100" b="1" noProof="0">
                    <a:ln>
                      <a:noFill/>
                    </a:ln>
                    <a:solidFill>
                      <a:srgbClr val="0070C0"/>
                    </a:solidFill>
                    <a:effectLst/>
                    <a:uLnTx/>
                    <a:uFillTx/>
                    <a:latin typeface="微软雅黑" panose="020B0503020204020204" pitchFamily="34" charset="-122"/>
                    <a:ea typeface="微软雅黑" panose="020B0503020204020204" pitchFamily="34" charset="-122"/>
                    <a:sym typeface="+mn-ea"/>
                  </a:rPr>
                  <a:t>家庭融合</a:t>
                </a:r>
                <a:endParaRPr lang="zh-CN" altLang="en-US" sz="1000" b="1" dirty="0">
                  <a:solidFill>
                    <a:srgbClr val="C0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83" name="组合 82"/>
            <p:cNvGrpSpPr/>
            <p:nvPr/>
          </p:nvGrpSpPr>
          <p:grpSpPr>
            <a:xfrm rot="0">
              <a:off x="15165" y="2766"/>
              <a:ext cx="2286" cy="328"/>
              <a:chOff x="16495" y="3975"/>
              <a:chExt cx="1905" cy="489"/>
            </a:xfrm>
          </p:grpSpPr>
          <p:sp>
            <p:nvSpPr>
              <p:cNvPr id="84" name="矩形: 圆角 35"/>
              <p:cNvSpPr/>
              <p:nvPr>
                <p:custDataLst>
                  <p:tags r:id="rId24"/>
                </p:custDataLst>
              </p:nvPr>
            </p:nvSpPr>
            <p:spPr>
              <a:xfrm>
                <a:off x="16498" y="3975"/>
                <a:ext cx="1902" cy="484"/>
              </a:xfrm>
              <a:prstGeom prst="roundRect">
                <a:avLst/>
              </a:prstGeom>
              <a:solidFill>
                <a:srgbClr val="FFFFFF"/>
              </a:solidFill>
              <a:ln w="3175" cap="flat" cmpd="sng" algn="ctr">
                <a:solidFill>
                  <a:srgbClr val="5B9BD5">
                    <a:alpha val="20000"/>
                  </a:srgbClr>
                </a:solidFill>
                <a:prstDash val="solid"/>
                <a:round/>
                <a:headEnd type="none" w="med" len="med"/>
                <a:tailEnd type="none" w="med" len="med"/>
              </a:ln>
              <a:effectLst>
                <a:outerShdw blurRad="508000" dist="50800" dir="5400000" algn="ctr" rotWithShape="0">
                  <a:srgbClr val="5B9BD5">
                    <a:alpha val="20000"/>
                  </a:srgbClr>
                </a:outerShdw>
              </a:effectLst>
            </p:spPr>
            <p:txBody>
              <a:bodyPr lIns="0" rIns="0" rtlCol="0" anchor="ctr">
                <a:noAutofit/>
              </a:bodyPr>
              <a:p>
                <a:pPr algn="ctr"/>
                <a:endParaRPr lang="zh-CN" altLang="en-US" sz="1600">
                  <a:solidFill>
                    <a:sysClr val="windowText" lastClr="000000"/>
                  </a:solidFill>
                </a:endParaRPr>
              </a:p>
            </p:txBody>
          </p:sp>
          <p:sp>
            <p:nvSpPr>
              <p:cNvPr id="85" name="矩形 84"/>
              <p:cNvSpPr/>
              <p:nvPr>
                <p:custDataLst>
                  <p:tags r:id="rId25"/>
                </p:custDataLst>
              </p:nvPr>
            </p:nvSpPr>
            <p:spPr>
              <a:xfrm>
                <a:off x="16495" y="4040"/>
                <a:ext cx="1895" cy="424"/>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en-US" altLang="zh-CN" sz="1000" b="1" dirty="0">
                    <a:solidFill>
                      <a:sysClr val="windowText" lastClr="000000">
                        <a:lumMod val="85000"/>
                        <a:lumOff val="15000"/>
                      </a:sys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000" b="1" dirty="0">
                  <a:solidFill>
                    <a:sysClr val="windowText" lastClr="000000">
                      <a:lumMod val="85000"/>
                      <a:lumOff val="15000"/>
                    </a:sys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86" name="文本框 85"/>
            <p:cNvSpPr txBox="1"/>
            <p:nvPr/>
          </p:nvSpPr>
          <p:spPr>
            <a:xfrm>
              <a:off x="387" y="2643"/>
              <a:ext cx="1601" cy="427"/>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运营场景</a:t>
              </a:r>
              <a:endParaRPr kumimoji="0" lang="zh-CN" altLang="en-US" sz="14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nvGrpSpPr>
            <p:cNvPr id="223" name="组合 222"/>
            <p:cNvGrpSpPr/>
            <p:nvPr/>
          </p:nvGrpSpPr>
          <p:grpSpPr>
            <a:xfrm rot="0">
              <a:off x="476" y="5867"/>
              <a:ext cx="4521" cy="2537"/>
              <a:chOff x="5541" y="6431"/>
              <a:chExt cx="5283" cy="3270"/>
            </a:xfrm>
          </p:grpSpPr>
          <p:cxnSp>
            <p:nvCxnSpPr>
              <p:cNvPr id="224" name="直接箭头连接符 223"/>
              <p:cNvCxnSpPr/>
              <p:nvPr/>
            </p:nvCxnSpPr>
            <p:spPr>
              <a:xfrm>
                <a:off x="5890" y="9457"/>
                <a:ext cx="4880" cy="0"/>
              </a:xfrm>
              <a:prstGeom prst="straightConnector1">
                <a:avLst/>
              </a:prstGeom>
              <a:ln w="12700">
                <a:solidFill>
                  <a:schemeClr val="accent3"/>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custDataLst>
                  <p:tags r:id="rId26"/>
                </p:custDataLst>
              </p:nvPr>
            </p:nvCxnSpPr>
            <p:spPr>
              <a:xfrm flipV="1">
                <a:off x="5907" y="6431"/>
                <a:ext cx="0" cy="3046"/>
              </a:xfrm>
              <a:prstGeom prst="straightConnector1">
                <a:avLst/>
              </a:prstGeom>
              <a:ln w="12700">
                <a:solidFill>
                  <a:schemeClr val="accent3"/>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33" name="矩形 32"/>
              <p:cNvSpPr/>
              <p:nvPr>
                <p:custDataLst>
                  <p:tags r:id="rId27"/>
                </p:custDataLst>
              </p:nvPr>
            </p:nvSpPr>
            <p:spPr>
              <a:xfrm>
                <a:off x="5541" y="7407"/>
                <a:ext cx="341" cy="1139"/>
              </a:xfrm>
              <a:prstGeom prst="rect">
                <a:avLst/>
              </a:prstGeom>
            </p:spPr>
            <p:txBody>
              <a:bodyPr wrap="square">
                <a:noAutofit/>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9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场景</a:t>
                </a:r>
                <a:r>
                  <a:rPr lang="zh-CN" altLang="en-US" sz="9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维度</a:t>
                </a:r>
                <a:endParaRPr lang="zh-CN" altLang="en-US" sz="9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5" name="矩形 34"/>
              <p:cNvSpPr/>
              <p:nvPr>
                <p:custDataLst>
                  <p:tags r:id="rId28"/>
                </p:custDataLst>
              </p:nvPr>
            </p:nvSpPr>
            <p:spPr>
              <a:xfrm>
                <a:off x="6570" y="9335"/>
                <a:ext cx="3608" cy="366"/>
              </a:xfrm>
              <a:prstGeom prst="rect">
                <a:avLst/>
              </a:prstGeom>
            </p:spPr>
            <p:txBody>
              <a:bodyPr wrap="square">
                <a:noAutofit/>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9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客户生命周期维度</a:t>
                </a:r>
                <a:endParaRPr lang="en-US" altLang="zh-CN" sz="9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6" name="矩形 35"/>
              <p:cNvSpPr/>
              <p:nvPr/>
            </p:nvSpPr>
            <p:spPr>
              <a:xfrm>
                <a:off x="6423" y="7283"/>
                <a:ext cx="3712" cy="1946"/>
              </a:xfrm>
              <a:prstGeom prst="rect">
                <a:avLst/>
              </a:prstGeom>
              <a:noFill/>
              <a:ln>
                <a:solidFill>
                  <a:schemeClr val="accent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37" name="平行四边形 36"/>
              <p:cNvSpPr/>
              <p:nvPr/>
            </p:nvSpPr>
            <p:spPr>
              <a:xfrm>
                <a:off x="6423" y="6660"/>
                <a:ext cx="4303" cy="620"/>
              </a:xfrm>
              <a:prstGeom prst="parallelogram">
                <a:avLst>
                  <a:gd name="adj" fmla="val 104239"/>
                </a:avLst>
              </a:prstGeom>
              <a:noFill/>
              <a:ln>
                <a:solidFill>
                  <a:schemeClr val="accent1">
                    <a:lumMod val="50000"/>
                  </a:schemeClr>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cxnSp>
            <p:nvCxnSpPr>
              <p:cNvPr id="38" name="直接连接符 37"/>
              <p:cNvCxnSpPr/>
              <p:nvPr/>
            </p:nvCxnSpPr>
            <p:spPr>
              <a:xfrm>
                <a:off x="10740" y="6655"/>
                <a:ext cx="0" cy="1940"/>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custDataLst>
                  <p:tags r:id="rId29"/>
                </p:custDataLst>
              </p:nvPr>
            </p:nvCxnSpPr>
            <p:spPr>
              <a:xfrm flipH="1">
                <a:off x="10145" y="8595"/>
                <a:ext cx="606" cy="636"/>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custDataLst>
                  <p:tags r:id="rId30"/>
                </p:custDataLst>
              </p:nvPr>
            </p:nvCxnSpPr>
            <p:spPr>
              <a:xfrm>
                <a:off x="10326" y="7094"/>
                <a:ext cx="0" cy="1937"/>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custDataLst>
                  <p:tags r:id="rId31"/>
                </p:custDataLst>
              </p:nvPr>
            </p:nvCxnSpPr>
            <p:spPr>
              <a:xfrm>
                <a:off x="10526" y="6874"/>
                <a:ext cx="0" cy="1941"/>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234" name="矩形 233"/>
              <p:cNvSpPr/>
              <p:nvPr>
                <p:custDataLst>
                  <p:tags r:id="rId32"/>
                </p:custDataLst>
              </p:nvPr>
            </p:nvSpPr>
            <p:spPr>
              <a:xfrm>
                <a:off x="10055" y="7620"/>
                <a:ext cx="341" cy="1139"/>
              </a:xfrm>
              <a:prstGeom prst="rect">
                <a:avLst/>
              </a:prstGeom>
            </p:spPr>
            <p:txBody>
              <a:bodyPr wrap="square">
                <a:noAutofit/>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学习空间</a:t>
                </a:r>
                <a:endPar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35" name="矩形 234"/>
              <p:cNvSpPr/>
              <p:nvPr>
                <p:custDataLst>
                  <p:tags r:id="rId33"/>
                </p:custDataLst>
              </p:nvPr>
            </p:nvSpPr>
            <p:spPr>
              <a:xfrm>
                <a:off x="10264" y="7481"/>
                <a:ext cx="341" cy="1139"/>
              </a:xfrm>
              <a:prstGeom prst="rect">
                <a:avLst/>
              </a:prstGeom>
            </p:spPr>
            <p:txBody>
              <a:bodyPr wrap="square">
                <a:noAutofit/>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工作空间</a:t>
                </a:r>
                <a:endPar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36" name="矩形 235"/>
              <p:cNvSpPr/>
              <p:nvPr>
                <p:custDataLst>
                  <p:tags r:id="rId34"/>
                </p:custDataLst>
              </p:nvPr>
            </p:nvSpPr>
            <p:spPr>
              <a:xfrm>
                <a:off x="10483" y="7362"/>
                <a:ext cx="341" cy="1139"/>
              </a:xfrm>
              <a:prstGeom prst="rect">
                <a:avLst/>
              </a:prstGeom>
            </p:spPr>
            <p:txBody>
              <a:bodyPr wrap="square">
                <a:noAutofit/>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生活空间</a:t>
                </a:r>
                <a:endPar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37" name="圆角矩形 236"/>
              <p:cNvSpPr/>
              <p:nvPr>
                <p:custDataLst>
                  <p:tags r:id="rId35"/>
                </p:custDataLst>
              </p:nvPr>
            </p:nvSpPr>
            <p:spPr>
              <a:xfrm>
                <a:off x="6570" y="7418"/>
                <a:ext cx="794" cy="283"/>
              </a:xfrm>
              <a:prstGeom prst="roundRect">
                <a:avLst>
                  <a:gd name="adj" fmla="val 10797"/>
                </a:avLst>
              </a:prstGeom>
              <a:solidFill>
                <a:schemeClr val="accent1">
                  <a:lumMod val="75000"/>
                </a:schemeClr>
              </a:solidFill>
              <a:ln>
                <a:noFill/>
              </a:ln>
              <a:effectLst/>
            </p:spPr>
            <p:style>
              <a:lnRef idx="3">
                <a:schemeClr val="lt1"/>
              </a:lnRef>
              <a:fillRef idx="1">
                <a:schemeClr val="accent5"/>
              </a:fillRef>
              <a:effectRef idx="1">
                <a:schemeClr val="accent5"/>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zh-CN" altLang="en-US" sz="700" b="1" dirty="0">
                    <a:solidFill>
                      <a:schemeClr val="bg1"/>
                    </a:solidFill>
                    <a:latin typeface="微软雅黑" panose="020B0503020204020204" pitchFamily="34" charset="-122"/>
                    <a:ea typeface="微软雅黑" panose="020B0503020204020204" pitchFamily="34" charset="-122"/>
                    <a:sym typeface="+mn-ea"/>
                  </a:rPr>
                  <a:t>自然属性</a:t>
                </a:r>
                <a:endParaRPr lang="zh-CN" altLang="en-US" sz="700" b="1" dirty="0">
                  <a:solidFill>
                    <a:schemeClr val="bg1"/>
                  </a:solidFill>
                  <a:latin typeface="微软雅黑" panose="020B0503020204020204" pitchFamily="34" charset="-122"/>
                  <a:ea typeface="微软雅黑" panose="020B0503020204020204" pitchFamily="34" charset="-122"/>
                  <a:sym typeface="+mn-ea"/>
                </a:endParaRPr>
              </a:p>
            </p:txBody>
          </p:sp>
          <p:sp>
            <p:nvSpPr>
              <p:cNvPr id="238" name="圆角矩形 237"/>
              <p:cNvSpPr/>
              <p:nvPr>
                <p:custDataLst>
                  <p:tags r:id="rId36"/>
                </p:custDataLst>
              </p:nvPr>
            </p:nvSpPr>
            <p:spPr>
              <a:xfrm>
                <a:off x="7441" y="7418"/>
                <a:ext cx="794" cy="283"/>
              </a:xfrm>
              <a:prstGeom prst="roundRect">
                <a:avLst>
                  <a:gd name="adj" fmla="val 10797"/>
                </a:avLst>
              </a:prstGeom>
              <a:solidFill>
                <a:schemeClr val="accent1">
                  <a:lumMod val="75000"/>
                </a:schemeClr>
              </a:solidFill>
              <a:ln>
                <a:noFill/>
              </a:ln>
              <a:effectLst/>
            </p:spPr>
            <p:style>
              <a:lnRef idx="3">
                <a:schemeClr val="lt1"/>
              </a:lnRef>
              <a:fillRef idx="1">
                <a:schemeClr val="accent5"/>
              </a:fillRef>
              <a:effectRef idx="1">
                <a:schemeClr val="accent5"/>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zh-CN" altLang="en-US" sz="700" b="1" dirty="0">
                    <a:solidFill>
                      <a:schemeClr val="bg1"/>
                    </a:solidFill>
                    <a:latin typeface="微软雅黑" panose="020B0503020204020204" pitchFamily="34" charset="-122"/>
                    <a:ea typeface="微软雅黑" panose="020B0503020204020204" pitchFamily="34" charset="-122"/>
                    <a:sym typeface="+mn-ea"/>
                  </a:rPr>
                  <a:t>社会属性</a:t>
                </a:r>
                <a:endParaRPr lang="zh-CN" altLang="en-US" sz="700" b="1" dirty="0">
                  <a:solidFill>
                    <a:schemeClr val="bg1"/>
                  </a:solidFill>
                  <a:latin typeface="微软雅黑" panose="020B0503020204020204" pitchFamily="34" charset="-122"/>
                  <a:ea typeface="微软雅黑" panose="020B0503020204020204" pitchFamily="34" charset="-122"/>
                  <a:sym typeface="+mn-ea"/>
                </a:endParaRPr>
              </a:p>
            </p:txBody>
          </p:sp>
          <p:sp>
            <p:nvSpPr>
              <p:cNvPr id="239" name="圆角矩形 238"/>
              <p:cNvSpPr/>
              <p:nvPr>
                <p:custDataLst>
                  <p:tags r:id="rId37"/>
                </p:custDataLst>
              </p:nvPr>
            </p:nvSpPr>
            <p:spPr>
              <a:xfrm>
                <a:off x="8313" y="7418"/>
                <a:ext cx="794" cy="283"/>
              </a:xfrm>
              <a:prstGeom prst="roundRect">
                <a:avLst>
                  <a:gd name="adj" fmla="val 10797"/>
                </a:avLst>
              </a:prstGeom>
              <a:solidFill>
                <a:schemeClr val="accent1">
                  <a:lumMod val="75000"/>
                </a:schemeClr>
              </a:solidFill>
              <a:ln>
                <a:noFill/>
              </a:ln>
              <a:effectLst/>
            </p:spPr>
            <p:style>
              <a:lnRef idx="3">
                <a:schemeClr val="lt1"/>
              </a:lnRef>
              <a:fillRef idx="1">
                <a:schemeClr val="accent5"/>
              </a:fillRef>
              <a:effectRef idx="1">
                <a:schemeClr val="accent5"/>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zh-CN" altLang="en-US" sz="700" b="1" dirty="0">
                    <a:solidFill>
                      <a:schemeClr val="bg1"/>
                    </a:solidFill>
                    <a:latin typeface="微软雅黑" panose="020B0503020204020204" pitchFamily="34" charset="-122"/>
                    <a:ea typeface="微软雅黑" panose="020B0503020204020204" pitchFamily="34" charset="-122"/>
                    <a:sym typeface="+mn-ea"/>
                  </a:rPr>
                  <a:t>行为属性</a:t>
                </a:r>
                <a:endParaRPr lang="zh-CN" altLang="en-US" sz="700" b="1" dirty="0">
                  <a:solidFill>
                    <a:schemeClr val="bg1"/>
                  </a:solidFill>
                  <a:latin typeface="微软雅黑" panose="020B0503020204020204" pitchFamily="34" charset="-122"/>
                  <a:ea typeface="微软雅黑" panose="020B0503020204020204" pitchFamily="34" charset="-122"/>
                  <a:sym typeface="+mn-ea"/>
                </a:endParaRPr>
              </a:p>
            </p:txBody>
          </p:sp>
          <p:sp>
            <p:nvSpPr>
              <p:cNvPr id="240" name="圆角矩形 239"/>
              <p:cNvSpPr/>
              <p:nvPr>
                <p:custDataLst>
                  <p:tags r:id="rId38"/>
                </p:custDataLst>
              </p:nvPr>
            </p:nvSpPr>
            <p:spPr>
              <a:xfrm>
                <a:off x="9184" y="7418"/>
                <a:ext cx="794" cy="283"/>
              </a:xfrm>
              <a:prstGeom prst="roundRect">
                <a:avLst>
                  <a:gd name="adj" fmla="val 10797"/>
                </a:avLst>
              </a:prstGeom>
              <a:solidFill>
                <a:schemeClr val="accent1">
                  <a:lumMod val="75000"/>
                </a:schemeClr>
              </a:solidFill>
              <a:ln>
                <a:noFill/>
              </a:ln>
              <a:effectLst/>
            </p:spPr>
            <p:style>
              <a:lnRef idx="3">
                <a:schemeClr val="lt1"/>
              </a:lnRef>
              <a:fillRef idx="1">
                <a:schemeClr val="accent5"/>
              </a:fillRef>
              <a:effectRef idx="1">
                <a:schemeClr val="accent5"/>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zh-CN" altLang="en-US" sz="700" b="1" dirty="0">
                    <a:solidFill>
                      <a:schemeClr val="bg1"/>
                    </a:solidFill>
                    <a:latin typeface="微软雅黑" panose="020B0503020204020204" pitchFamily="34" charset="-122"/>
                    <a:ea typeface="微软雅黑" panose="020B0503020204020204" pitchFamily="34" charset="-122"/>
                    <a:sym typeface="+mn-ea"/>
                  </a:rPr>
                  <a:t>价值属性</a:t>
                </a:r>
                <a:endParaRPr lang="zh-CN" altLang="en-US" sz="700" b="1" dirty="0">
                  <a:solidFill>
                    <a:schemeClr val="bg1"/>
                  </a:solidFill>
                  <a:latin typeface="微软雅黑" panose="020B0503020204020204" pitchFamily="34" charset="-122"/>
                  <a:ea typeface="微软雅黑" panose="020B0503020204020204" pitchFamily="34" charset="-122"/>
                  <a:sym typeface="+mn-ea"/>
                </a:endParaRPr>
              </a:p>
            </p:txBody>
          </p:sp>
          <p:sp>
            <p:nvSpPr>
              <p:cNvPr id="241" name="圆角矩形 240"/>
              <p:cNvSpPr/>
              <p:nvPr>
                <p:custDataLst>
                  <p:tags r:id="rId39"/>
                </p:custDataLst>
              </p:nvPr>
            </p:nvSpPr>
            <p:spPr>
              <a:xfrm>
                <a:off x="6570" y="7758"/>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基础属性</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42" name="圆角矩形 241"/>
              <p:cNvSpPr/>
              <p:nvPr>
                <p:custDataLst>
                  <p:tags r:id="rId40"/>
                </p:custDataLst>
              </p:nvPr>
            </p:nvSpPr>
            <p:spPr>
              <a:xfrm>
                <a:off x="6570" y="8054"/>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地域属性</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43" name="圆角矩形 242"/>
              <p:cNvSpPr/>
              <p:nvPr>
                <p:custDataLst>
                  <p:tags r:id="rId41"/>
                </p:custDataLst>
              </p:nvPr>
            </p:nvSpPr>
            <p:spPr>
              <a:xfrm>
                <a:off x="6570" y="8350"/>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家庭属性</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44" name="圆角矩形 243"/>
              <p:cNvSpPr/>
              <p:nvPr>
                <p:custDataLst>
                  <p:tags r:id="rId42"/>
                </p:custDataLst>
              </p:nvPr>
            </p:nvSpPr>
            <p:spPr>
              <a:xfrm>
                <a:off x="6570" y="8646"/>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设备</a:t>
                </a: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属性</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45" name="圆角矩形 244"/>
              <p:cNvSpPr/>
              <p:nvPr>
                <p:custDataLst>
                  <p:tags r:id="rId43"/>
                </p:custDataLst>
              </p:nvPr>
            </p:nvSpPr>
            <p:spPr>
              <a:xfrm>
                <a:off x="6570" y="8942"/>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en-US" altLang="zh-CN"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endParaRPr lang="en-US" altLang="zh-CN"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46" name="圆角矩形 245"/>
              <p:cNvSpPr/>
              <p:nvPr>
                <p:custDataLst>
                  <p:tags r:id="rId44"/>
                </p:custDataLst>
              </p:nvPr>
            </p:nvSpPr>
            <p:spPr>
              <a:xfrm>
                <a:off x="7441" y="7758"/>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职业</a:t>
                </a: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属性</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47" name="圆角矩形 246"/>
              <p:cNvSpPr/>
              <p:nvPr>
                <p:custDataLst>
                  <p:tags r:id="rId45"/>
                </p:custDataLst>
              </p:nvPr>
            </p:nvSpPr>
            <p:spPr>
              <a:xfrm>
                <a:off x="7441" y="8054"/>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身份</a:t>
                </a: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属性</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48" name="圆角矩形 247"/>
              <p:cNvSpPr/>
              <p:nvPr>
                <p:custDataLst>
                  <p:tags r:id="rId46"/>
                </p:custDataLst>
              </p:nvPr>
            </p:nvSpPr>
            <p:spPr>
              <a:xfrm>
                <a:off x="7441" y="8350"/>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社交</a:t>
                </a: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属性</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49" name="圆角矩形 248"/>
              <p:cNvSpPr/>
              <p:nvPr>
                <p:custDataLst>
                  <p:tags r:id="rId47"/>
                </p:custDataLst>
              </p:nvPr>
            </p:nvSpPr>
            <p:spPr>
              <a:xfrm>
                <a:off x="7441" y="8646"/>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社会</a:t>
                </a: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特征</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50" name="圆角矩形 249"/>
              <p:cNvSpPr/>
              <p:nvPr>
                <p:custDataLst>
                  <p:tags r:id="rId48"/>
                </p:custDataLst>
              </p:nvPr>
            </p:nvSpPr>
            <p:spPr>
              <a:xfrm>
                <a:off x="7441" y="8942"/>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en-US" altLang="zh-CN"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endParaRPr lang="en-US" altLang="zh-CN"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51" name="圆角矩形 250"/>
              <p:cNvSpPr/>
              <p:nvPr>
                <p:custDataLst>
                  <p:tags r:id="rId49"/>
                </p:custDataLst>
              </p:nvPr>
            </p:nvSpPr>
            <p:spPr>
              <a:xfrm>
                <a:off x="8312" y="7758"/>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消费</a:t>
                </a: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行为</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52" name="圆角矩形 251"/>
              <p:cNvSpPr/>
              <p:nvPr>
                <p:custDataLst>
                  <p:tags r:id="rId50"/>
                </p:custDataLst>
              </p:nvPr>
            </p:nvSpPr>
            <p:spPr>
              <a:xfrm>
                <a:off x="8312" y="8054"/>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通信</a:t>
                </a: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行为</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53" name="圆角矩形 252"/>
              <p:cNvSpPr/>
              <p:nvPr>
                <p:custDataLst>
                  <p:tags r:id="rId51"/>
                </p:custDataLst>
              </p:nvPr>
            </p:nvSpPr>
            <p:spPr>
              <a:xfrm>
                <a:off x="8312" y="8350"/>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线上</a:t>
                </a: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行为</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54" name="圆角矩形 253"/>
              <p:cNvSpPr/>
              <p:nvPr>
                <p:custDataLst>
                  <p:tags r:id="rId52"/>
                </p:custDataLst>
              </p:nvPr>
            </p:nvSpPr>
            <p:spPr>
              <a:xfrm>
                <a:off x="8312" y="8646"/>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投诉</a:t>
                </a: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行为</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55" name="圆角矩形 254"/>
              <p:cNvSpPr/>
              <p:nvPr>
                <p:custDataLst>
                  <p:tags r:id="rId53"/>
                </p:custDataLst>
              </p:nvPr>
            </p:nvSpPr>
            <p:spPr>
              <a:xfrm>
                <a:off x="8312" y="8942"/>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en-US" altLang="zh-CN"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endParaRPr lang="en-US" altLang="zh-CN"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56" name="圆角矩形 255"/>
              <p:cNvSpPr/>
              <p:nvPr>
                <p:custDataLst>
                  <p:tags r:id="rId54"/>
                </p:custDataLst>
              </p:nvPr>
            </p:nvSpPr>
            <p:spPr>
              <a:xfrm>
                <a:off x="9183" y="7758"/>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动机</a:t>
                </a: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属性</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57" name="圆角矩形 256"/>
              <p:cNvSpPr/>
              <p:nvPr>
                <p:custDataLst>
                  <p:tags r:id="rId55"/>
                </p:custDataLst>
              </p:nvPr>
            </p:nvSpPr>
            <p:spPr>
              <a:xfrm>
                <a:off x="9183" y="8054"/>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贡献</a:t>
                </a: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属性</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58" name="圆角矩形 257"/>
              <p:cNvSpPr/>
              <p:nvPr>
                <p:custDataLst>
                  <p:tags r:id="rId56"/>
                </p:custDataLst>
              </p:nvPr>
            </p:nvSpPr>
            <p:spPr>
              <a:xfrm>
                <a:off x="9183" y="8350"/>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潜力</a:t>
                </a: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属性</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50" name="圆角矩形 49"/>
              <p:cNvSpPr/>
              <p:nvPr>
                <p:custDataLst>
                  <p:tags r:id="rId57"/>
                </p:custDataLst>
              </p:nvPr>
            </p:nvSpPr>
            <p:spPr>
              <a:xfrm>
                <a:off x="9183" y="8646"/>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生活特征</a:t>
                </a:r>
                <a:endParaRPr lang="zh-CN" altLang="en-US"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55" name="圆角矩形 54"/>
              <p:cNvSpPr/>
              <p:nvPr>
                <p:custDataLst>
                  <p:tags r:id="rId58"/>
                </p:custDataLst>
              </p:nvPr>
            </p:nvSpPr>
            <p:spPr>
              <a:xfrm>
                <a:off x="9183" y="8942"/>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en-US" altLang="zh-CN" sz="7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endParaRPr lang="en-US" altLang="zh-CN" sz="7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cxnSp>
            <p:nvCxnSpPr>
              <p:cNvPr id="62" name="直接连接符 61"/>
              <p:cNvCxnSpPr/>
              <p:nvPr>
                <p:custDataLst>
                  <p:tags r:id="rId59"/>
                </p:custDataLst>
              </p:nvPr>
            </p:nvCxnSpPr>
            <p:spPr>
              <a:xfrm flipH="1">
                <a:off x="7154" y="6646"/>
                <a:ext cx="606" cy="636"/>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custDataLst>
                  <p:tags r:id="rId60"/>
                </p:custDataLst>
              </p:nvPr>
            </p:nvCxnSpPr>
            <p:spPr>
              <a:xfrm flipH="1">
                <a:off x="7877" y="6653"/>
                <a:ext cx="606" cy="636"/>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custDataLst>
                  <p:tags r:id="rId61"/>
                </p:custDataLst>
              </p:nvPr>
            </p:nvCxnSpPr>
            <p:spPr>
              <a:xfrm flipH="1">
                <a:off x="8600" y="6649"/>
                <a:ext cx="606" cy="636"/>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custDataLst>
                  <p:tags r:id="rId62"/>
                </p:custDataLst>
              </p:nvPr>
            </p:nvCxnSpPr>
            <p:spPr>
              <a:xfrm flipH="1">
                <a:off x="9368" y="6655"/>
                <a:ext cx="606" cy="636"/>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265" name="矩形 264"/>
              <p:cNvSpPr/>
              <p:nvPr>
                <p:custDataLst>
                  <p:tags r:id="rId63"/>
                </p:custDataLst>
              </p:nvPr>
            </p:nvSpPr>
            <p:spPr>
              <a:xfrm>
                <a:off x="6702" y="6745"/>
                <a:ext cx="758" cy="510"/>
              </a:xfrm>
              <a:prstGeom prst="rect">
                <a:avLst/>
              </a:prstGeom>
              <a:scene3d>
                <a:camera prst="orthographicFront">
                  <a:rot lat="0" lon="0" rev="0"/>
                </a:camera>
                <a:lightRig rig="threePt" dir="t"/>
              </a:scene3d>
              <a:sp3d/>
            </p:spPr>
            <p:txBody>
              <a:bodyPr wrap="square">
                <a:noAutofit/>
                <a:scene3d>
                  <a:camera prst="orthographicFront">
                    <a:rot lat="0" lon="3600000" rev="0"/>
                  </a:camera>
                  <a:lightRig rig="threePt" dir="t"/>
                </a:scene3d>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个人</a:t>
                </a:r>
                <a:r>
                  <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客户</a:t>
                </a:r>
                <a:endPar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66" name="矩形 265"/>
              <p:cNvSpPr/>
              <p:nvPr>
                <p:custDataLst>
                  <p:tags r:id="rId64"/>
                </p:custDataLst>
              </p:nvPr>
            </p:nvSpPr>
            <p:spPr>
              <a:xfrm>
                <a:off x="7414" y="6745"/>
                <a:ext cx="758" cy="510"/>
              </a:xfrm>
              <a:prstGeom prst="rect">
                <a:avLst/>
              </a:prstGeom>
              <a:scene3d>
                <a:camera prst="orthographicFront">
                  <a:rot lat="0" lon="0" rev="0"/>
                </a:camera>
                <a:lightRig rig="threePt" dir="t"/>
              </a:scene3d>
              <a:sp3d/>
            </p:spPr>
            <p:txBody>
              <a:bodyPr wrap="square">
                <a:noAutofit/>
                <a:scene3d>
                  <a:camera prst="orthographicFront">
                    <a:rot lat="0" lon="3600000" rev="0"/>
                  </a:camera>
                  <a:lightRig rig="threePt" dir="t"/>
                </a:scene3d>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家庭客户</a:t>
                </a:r>
                <a:endPar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67" name="矩形 266"/>
              <p:cNvSpPr/>
              <p:nvPr>
                <p:custDataLst>
                  <p:tags r:id="rId65"/>
                </p:custDataLst>
              </p:nvPr>
            </p:nvSpPr>
            <p:spPr>
              <a:xfrm>
                <a:off x="8165" y="6745"/>
                <a:ext cx="758" cy="510"/>
              </a:xfrm>
              <a:prstGeom prst="rect">
                <a:avLst/>
              </a:prstGeom>
              <a:scene3d>
                <a:camera prst="orthographicFront">
                  <a:rot lat="0" lon="0" rev="0"/>
                </a:camera>
                <a:lightRig rig="threePt" dir="t"/>
              </a:scene3d>
              <a:sp3d/>
            </p:spPr>
            <p:txBody>
              <a:bodyPr wrap="square">
                <a:noAutofit/>
                <a:scene3d>
                  <a:camera prst="orthographicFront">
                    <a:rot lat="0" lon="3600000" rev="0"/>
                  </a:camera>
                  <a:lightRig rig="threePt" dir="t"/>
                </a:scene3d>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商业客户</a:t>
                </a:r>
                <a:endPar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88" name="矩形 87"/>
              <p:cNvSpPr/>
              <p:nvPr>
                <p:custDataLst>
                  <p:tags r:id="rId66"/>
                </p:custDataLst>
              </p:nvPr>
            </p:nvSpPr>
            <p:spPr>
              <a:xfrm>
                <a:off x="8875" y="6745"/>
                <a:ext cx="758" cy="510"/>
              </a:xfrm>
              <a:prstGeom prst="rect">
                <a:avLst/>
              </a:prstGeom>
              <a:scene3d>
                <a:camera prst="orthographicFront">
                  <a:rot lat="0" lon="0" rev="0"/>
                </a:camera>
                <a:lightRig rig="threePt" dir="t"/>
              </a:scene3d>
              <a:sp3d/>
            </p:spPr>
            <p:txBody>
              <a:bodyPr wrap="square">
                <a:noAutofit/>
                <a:scene3d>
                  <a:camera prst="orthographicFront">
                    <a:rot lat="0" lon="3600000" rev="0"/>
                  </a:camera>
                  <a:lightRig rig="threePt" dir="t"/>
                </a:scene3d>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战略客户</a:t>
                </a:r>
                <a:endPar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89" name="矩形 88"/>
              <p:cNvSpPr/>
              <p:nvPr>
                <p:custDataLst>
                  <p:tags r:id="rId67"/>
                </p:custDataLst>
              </p:nvPr>
            </p:nvSpPr>
            <p:spPr>
              <a:xfrm>
                <a:off x="9650" y="6745"/>
                <a:ext cx="778" cy="471"/>
              </a:xfrm>
              <a:prstGeom prst="rect">
                <a:avLst/>
              </a:prstGeom>
              <a:scene3d>
                <a:camera prst="orthographicFront">
                  <a:rot lat="0" lon="0" rev="0"/>
                </a:camera>
                <a:lightRig rig="threePt" dir="t"/>
              </a:scene3d>
              <a:sp3d/>
            </p:spPr>
            <p:txBody>
              <a:bodyPr wrap="square">
                <a:noAutofit/>
                <a:scene3d>
                  <a:camera prst="orthographicFront">
                    <a:rot lat="0" lon="3600000" rev="0"/>
                  </a:camera>
                  <a:lightRig rig="threePt" dir="t"/>
                </a:scene3d>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国际客户</a:t>
                </a:r>
                <a:endParaRPr lang="zh-CN" altLang="en-US" sz="7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0" name="矩形 89"/>
              <p:cNvSpPr/>
              <p:nvPr>
                <p:custDataLst>
                  <p:tags r:id="rId68"/>
                </p:custDataLst>
              </p:nvPr>
            </p:nvSpPr>
            <p:spPr>
              <a:xfrm>
                <a:off x="5954" y="6607"/>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餐饮</a:t>
                </a:r>
                <a:endPar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6" name="矩形 95"/>
              <p:cNvSpPr/>
              <p:nvPr>
                <p:custDataLst>
                  <p:tags r:id="rId69"/>
                </p:custDataLst>
              </p:nvPr>
            </p:nvSpPr>
            <p:spPr>
              <a:xfrm>
                <a:off x="5954" y="6919"/>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住宿</a:t>
                </a:r>
                <a:endPar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7" name="矩形 96"/>
              <p:cNvSpPr/>
              <p:nvPr>
                <p:custDataLst>
                  <p:tags r:id="rId70"/>
                </p:custDataLst>
              </p:nvPr>
            </p:nvSpPr>
            <p:spPr>
              <a:xfrm>
                <a:off x="5954" y="7543"/>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医疗</a:t>
                </a:r>
                <a:endPar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8" name="矩形 97"/>
              <p:cNvSpPr/>
              <p:nvPr>
                <p:custDataLst>
                  <p:tags r:id="rId71"/>
                </p:custDataLst>
              </p:nvPr>
            </p:nvSpPr>
            <p:spPr>
              <a:xfrm>
                <a:off x="5954" y="7231"/>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出行</a:t>
                </a:r>
                <a:endPar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9" name="矩形 98"/>
              <p:cNvSpPr/>
              <p:nvPr>
                <p:custDataLst>
                  <p:tags r:id="rId72"/>
                </p:custDataLst>
              </p:nvPr>
            </p:nvSpPr>
            <p:spPr>
              <a:xfrm>
                <a:off x="5954" y="7855"/>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办公</a:t>
                </a:r>
                <a:endPar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0" name="矩形 99"/>
              <p:cNvSpPr/>
              <p:nvPr>
                <p:custDataLst>
                  <p:tags r:id="rId73"/>
                </p:custDataLst>
              </p:nvPr>
            </p:nvSpPr>
            <p:spPr>
              <a:xfrm>
                <a:off x="5954" y="8167"/>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旅游</a:t>
                </a:r>
                <a:endPar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76" name="矩形 275"/>
              <p:cNvSpPr/>
              <p:nvPr>
                <p:custDataLst>
                  <p:tags r:id="rId74"/>
                </p:custDataLst>
              </p:nvPr>
            </p:nvSpPr>
            <p:spPr>
              <a:xfrm>
                <a:off x="5954" y="8791"/>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体育</a:t>
                </a:r>
                <a:endPar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2" name="矩形 101"/>
              <p:cNvSpPr/>
              <p:nvPr>
                <p:custDataLst>
                  <p:tags r:id="rId75"/>
                </p:custDataLst>
              </p:nvPr>
            </p:nvSpPr>
            <p:spPr>
              <a:xfrm>
                <a:off x="5954" y="9103"/>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文娱</a:t>
                </a:r>
                <a:endPar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78" name="矩形 277"/>
              <p:cNvSpPr/>
              <p:nvPr>
                <p:custDataLst>
                  <p:tags r:id="rId76"/>
                </p:custDataLst>
              </p:nvPr>
            </p:nvSpPr>
            <p:spPr>
              <a:xfrm>
                <a:off x="5954" y="8479"/>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购物</a:t>
                </a:r>
                <a:endParaRPr lang="zh-CN" altLang="en-US" sz="600" i="0" u="none" strike="noStrike"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sp>
          <p:nvSpPr>
            <p:cNvPr id="106" name="矩形 105"/>
            <p:cNvSpPr/>
            <p:nvPr>
              <p:custDataLst>
                <p:tags r:id="rId77"/>
              </p:custDataLst>
            </p:nvPr>
          </p:nvSpPr>
          <p:spPr>
            <a:xfrm>
              <a:off x="5477" y="6091"/>
              <a:ext cx="1898" cy="435"/>
            </a:xfrm>
            <a:prstGeom prst="rect">
              <a:avLst/>
            </a:prstGeom>
            <a:solidFill>
              <a:srgbClr val="0070C0"/>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模型库</a:t>
              </a:r>
              <a:endPar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7" name="矩形 106"/>
            <p:cNvSpPr/>
            <p:nvPr>
              <p:custDataLst>
                <p:tags r:id="rId78"/>
              </p:custDataLst>
            </p:nvPr>
          </p:nvSpPr>
          <p:spPr>
            <a:xfrm>
              <a:off x="5477" y="6732"/>
              <a:ext cx="1875" cy="435"/>
            </a:xfrm>
            <a:prstGeom prst="rect">
              <a:avLst/>
            </a:prstGeom>
            <a:solidFill>
              <a:srgbClr val="0070C0"/>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标签库</a:t>
              </a:r>
              <a:endPar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3" name="矩形 112"/>
            <p:cNvSpPr/>
            <p:nvPr/>
          </p:nvSpPr>
          <p:spPr bwMode="auto">
            <a:xfrm>
              <a:off x="5412" y="7490"/>
              <a:ext cx="781" cy="614"/>
            </a:xfrm>
            <a:prstGeom prst="rect">
              <a:avLst/>
            </a:prstGeom>
            <a:solidFill>
              <a:srgbClr val="BDD7EE">
                <a:alpha val="80000"/>
              </a:srgbClr>
            </a:solidFill>
            <a:ln>
              <a:noFill/>
            </a:ln>
            <a:effectLst/>
          </p:spPr>
          <p:txBody>
            <a:bodyPr vert="horz" wrap="square" lIns="72000" tIns="60944" rIns="121888" bIns="60944" numCol="1" rtlCol="0" anchor="ctr" anchorCtr="0" compatLnSpc="1">
              <a:noAutofit/>
            </a:bodyPr>
            <a:p>
              <a:pPr lvl="0" algn="r">
                <a:spcBef>
                  <a:spcPts val="0"/>
                </a:spcBef>
                <a:spcAft>
                  <a:spcPts val="0"/>
                </a:spcAft>
                <a:buClr>
                  <a:srgbClr val="CC9900"/>
                </a:buClr>
                <a:buSzTx/>
                <a:buFontTx/>
                <a:defRPr/>
              </a:pPr>
              <a:r>
                <a:rPr lang="zh-CN" altLang="en-US" sz="900" b="1" kern="0" noProof="0" dirty="0">
                  <a:ln>
                    <a:noFill/>
                  </a:ln>
                  <a:solidFill>
                    <a:schemeClr val="accent1">
                      <a:lumMod val="50000"/>
                    </a:schemeClr>
                  </a:solidFill>
                  <a:effectLst/>
                  <a:uLnTx/>
                  <a:uFillTx/>
                  <a:latin typeface="微软雅黑" panose="020B0503020204020204" pitchFamily="34" charset="-122"/>
                  <a:sym typeface="+mn-ea"/>
                </a:rPr>
                <a:t>原子标签</a:t>
              </a:r>
              <a:endParaRPr lang="zh-CN" altLang="en-US" sz="900" b="1" kern="0" noProof="0" dirty="0">
                <a:ln>
                  <a:noFill/>
                </a:ln>
                <a:solidFill>
                  <a:schemeClr val="accent1">
                    <a:lumMod val="50000"/>
                  </a:schemeClr>
                </a:solidFill>
                <a:effectLst/>
                <a:uLnTx/>
                <a:uFillTx/>
                <a:latin typeface="微软雅黑" panose="020B0503020204020204" pitchFamily="34" charset="-122"/>
                <a:sym typeface="+mn-ea"/>
              </a:endParaRPr>
            </a:p>
          </p:txBody>
        </p:sp>
        <p:sp>
          <p:nvSpPr>
            <p:cNvPr id="116" name="矩形 115"/>
            <p:cNvSpPr/>
            <p:nvPr/>
          </p:nvSpPr>
          <p:spPr bwMode="auto">
            <a:xfrm>
              <a:off x="6696" y="7472"/>
              <a:ext cx="721" cy="614"/>
            </a:xfrm>
            <a:prstGeom prst="rect">
              <a:avLst/>
            </a:prstGeom>
            <a:solidFill>
              <a:srgbClr val="BDD7EE">
                <a:alpha val="80000"/>
              </a:srgbClr>
            </a:solidFill>
            <a:ln>
              <a:noFill/>
            </a:ln>
            <a:effectLst/>
          </p:spPr>
          <p:txBody>
            <a:bodyPr vert="horz" wrap="square" lIns="72000" tIns="60944" rIns="121888" bIns="60944" numCol="1" rtlCol="0" anchor="ctr" anchorCtr="0" compatLnSpc="1">
              <a:noAutofit/>
            </a:bodyPr>
            <a:p>
              <a:pPr lvl="0" algn="r">
                <a:spcBef>
                  <a:spcPts val="0"/>
                </a:spcBef>
                <a:spcAft>
                  <a:spcPts val="0"/>
                </a:spcAft>
                <a:buClr>
                  <a:srgbClr val="CC9900"/>
                </a:buClr>
                <a:buSzTx/>
                <a:buFontTx/>
                <a:defRPr/>
              </a:pPr>
              <a:r>
                <a:rPr lang="zh-CN" altLang="en-US" sz="900" b="1" kern="0" noProof="0" dirty="0">
                  <a:ln>
                    <a:noFill/>
                  </a:ln>
                  <a:solidFill>
                    <a:schemeClr val="accent1">
                      <a:lumMod val="50000"/>
                    </a:schemeClr>
                  </a:solidFill>
                  <a:effectLst/>
                  <a:uLnTx/>
                  <a:uFillTx/>
                  <a:latin typeface="微软雅黑" panose="020B0503020204020204" pitchFamily="34" charset="-122"/>
                  <a:sym typeface="+mn-ea"/>
                </a:rPr>
                <a:t>衍生标签</a:t>
              </a:r>
              <a:endParaRPr lang="zh-CN" altLang="en-US" sz="900" b="1" kern="0" noProof="0" dirty="0">
                <a:ln>
                  <a:noFill/>
                </a:ln>
                <a:solidFill>
                  <a:schemeClr val="accent1">
                    <a:lumMod val="50000"/>
                  </a:schemeClr>
                </a:solidFill>
                <a:effectLst/>
                <a:uLnTx/>
                <a:uFillTx/>
                <a:latin typeface="微软雅黑" panose="020B0503020204020204" pitchFamily="34" charset="-122"/>
                <a:sym typeface="+mn-ea"/>
              </a:endParaRPr>
            </a:p>
          </p:txBody>
        </p:sp>
        <p:sp>
          <p:nvSpPr>
            <p:cNvPr id="117" name="箭头: 上 1"/>
            <p:cNvSpPr/>
            <p:nvPr/>
          </p:nvSpPr>
          <p:spPr>
            <a:xfrm rot="5400000">
              <a:off x="6350" y="7509"/>
              <a:ext cx="261" cy="494"/>
            </a:xfrm>
            <a:prstGeom prst="upArrow">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18" name="矩形 117"/>
            <p:cNvSpPr/>
            <p:nvPr>
              <p:custDataLst>
                <p:tags r:id="rId79"/>
              </p:custDataLst>
            </p:nvPr>
          </p:nvSpPr>
          <p:spPr>
            <a:xfrm>
              <a:off x="1706" y="5701"/>
              <a:ext cx="3213" cy="302"/>
            </a:xfrm>
            <a:prstGeom prst="rect">
              <a:avLst/>
            </a:prstGeom>
            <a:solidFill>
              <a:srgbClr val="0070C0"/>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四度三维体系</a:t>
              </a:r>
              <a:endPar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2" name="组合 41"/>
            <p:cNvGrpSpPr/>
            <p:nvPr/>
          </p:nvGrpSpPr>
          <p:grpSpPr>
            <a:xfrm rot="0">
              <a:off x="389" y="3358"/>
              <a:ext cx="18436" cy="921"/>
              <a:chOff x="389" y="3890"/>
              <a:chExt cx="16886" cy="941"/>
            </a:xfrm>
          </p:grpSpPr>
          <p:sp>
            <p:nvSpPr>
              <p:cNvPr id="71" name="矩形 70"/>
              <p:cNvSpPr/>
              <p:nvPr>
                <p:custDataLst>
                  <p:tags r:id="rId80"/>
                </p:custDataLst>
              </p:nvPr>
            </p:nvSpPr>
            <p:spPr>
              <a:xfrm>
                <a:off x="389" y="3890"/>
                <a:ext cx="16886" cy="941"/>
              </a:xfrm>
              <a:prstGeom prst="rect">
                <a:avLst/>
              </a:prstGeom>
              <a:noFill/>
              <a:ln w="12700" cap="flat" cmpd="sng" algn="ctr">
                <a:solidFill>
                  <a:schemeClr val="accent1">
                    <a:shade val="50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pitchFamily="34" charset="-122"/>
                  <a:cs typeface="+mn-cs"/>
                </a:endParaRPr>
              </a:p>
            </p:txBody>
          </p:sp>
          <p:sp>
            <p:nvSpPr>
              <p:cNvPr id="57" name="文本框 56"/>
              <p:cNvSpPr txBox="1"/>
              <p:nvPr/>
            </p:nvSpPr>
            <p:spPr>
              <a:xfrm>
                <a:off x="574" y="4004"/>
                <a:ext cx="1424" cy="552"/>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统一前台</a:t>
                </a:r>
                <a:endPar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200" b="1" noProof="0">
                    <a:ln>
                      <a:noFill/>
                    </a:ln>
                    <a:solidFill>
                      <a:srgbClr val="C00000"/>
                    </a:solidFill>
                    <a:effectLst/>
                    <a:uLnTx/>
                    <a:uFillTx/>
                    <a:latin typeface="微软雅黑" panose="020B0503020204020204" pitchFamily="34" charset="-122"/>
                    <a:ea typeface="微软雅黑" panose="020B0503020204020204" pitchFamily="34" charset="-122"/>
                    <a:sym typeface="+mn-ea"/>
                  </a:rPr>
                  <a:t>3</a:t>
                </a:r>
                <a:r>
                  <a:rPr lang="zh-CN" altLang="en-US" sz="1200" b="1" noProof="0">
                    <a:ln>
                      <a:noFill/>
                    </a:ln>
                    <a:solidFill>
                      <a:srgbClr val="C00000"/>
                    </a:solidFill>
                    <a:effectLst/>
                    <a:uLnTx/>
                    <a:uFillTx/>
                    <a:latin typeface="微软雅黑" panose="020B0503020204020204" pitchFamily="34" charset="-122"/>
                    <a:ea typeface="微软雅黑" panose="020B0503020204020204" pitchFamily="34" charset="-122"/>
                    <a:sym typeface="+mn-ea"/>
                  </a:rPr>
                  <a:t>屏联动</a:t>
                </a:r>
                <a:endPar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60" name="组合 59"/>
              <p:cNvGrpSpPr/>
              <p:nvPr/>
            </p:nvGrpSpPr>
            <p:grpSpPr>
              <a:xfrm rot="0">
                <a:off x="2295" y="4487"/>
                <a:ext cx="14739" cy="236"/>
                <a:chOff x="2272" y="4106"/>
                <a:chExt cx="14789" cy="486"/>
              </a:xfrm>
            </p:grpSpPr>
            <p:sp>
              <p:nvSpPr>
                <p:cNvPr id="74" name="矩形 73"/>
                <p:cNvSpPr/>
                <p:nvPr>
                  <p:custDataLst>
                    <p:tags r:id="rId81"/>
                  </p:custDataLst>
                </p:nvPr>
              </p:nvSpPr>
              <p:spPr>
                <a:xfrm>
                  <a:off x="2272" y="4106"/>
                  <a:ext cx="4161" cy="485"/>
                </a:xfrm>
                <a:prstGeom prst="rect">
                  <a:avLst/>
                </a:prstGeom>
                <a:solidFill>
                  <a:srgbClr val="F0F0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大屏：一屏通看</a:t>
                  </a:r>
                  <a:r>
                    <a:rPr lang="zh-CN" altLang="en-US" sz="1200" b="1" noProof="0">
                      <a:ln>
                        <a:noFill/>
                      </a:ln>
                      <a:solidFill>
                        <a:srgbClr val="0070C0"/>
                      </a:solidFill>
                      <a:effectLst/>
                      <a:uLnTx/>
                      <a:uFillTx/>
                      <a:latin typeface="微软雅黑" panose="020B0503020204020204" pitchFamily="34" charset="-122"/>
                      <a:ea typeface="微软雅黑" panose="020B0503020204020204" pitchFamily="34" charset="-122"/>
                      <a:sym typeface="+mn-ea"/>
                    </a:rPr>
                    <a:t>（智慧运营驾驶舱）</a:t>
                  </a:r>
                  <a:endParaRPr kumimoji="0" lang="zh-CN" altLang="en-US" sz="12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8" name="矩形 57"/>
                <p:cNvSpPr/>
                <p:nvPr>
                  <p:custDataLst>
                    <p:tags r:id="rId82"/>
                  </p:custDataLst>
                </p:nvPr>
              </p:nvSpPr>
              <p:spPr>
                <a:xfrm>
                  <a:off x="6658" y="4106"/>
                  <a:ext cx="6212" cy="486"/>
                </a:xfrm>
                <a:prstGeom prst="rect">
                  <a:avLst/>
                </a:prstGeom>
                <a:solidFill>
                  <a:srgbClr val="F0F0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中屏：一屏通管</a:t>
                  </a:r>
                  <a:endParaRPr kumimoji="0" lang="en-US" altLang="zh-CN" sz="10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9" name="矩形 58"/>
                <p:cNvSpPr/>
                <p:nvPr>
                  <p:custDataLst>
                    <p:tags r:id="rId83"/>
                  </p:custDataLst>
                </p:nvPr>
              </p:nvSpPr>
              <p:spPr>
                <a:xfrm>
                  <a:off x="13063" y="4106"/>
                  <a:ext cx="3998" cy="486"/>
                </a:xfrm>
                <a:prstGeom prst="rect">
                  <a:avLst/>
                </a:prstGeom>
                <a:solidFill>
                  <a:srgbClr val="F0F0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200" b="1" noProof="0">
                      <a:ln>
                        <a:noFill/>
                      </a:ln>
                      <a:solidFill>
                        <a:srgbClr val="000000"/>
                      </a:solidFill>
                      <a:effectLst/>
                      <a:uLnTx/>
                      <a:uFillTx/>
                      <a:latin typeface="微软雅黑" panose="020B0503020204020204" pitchFamily="34" charset="-122"/>
                      <a:ea typeface="微软雅黑" panose="020B0503020204020204" pitchFamily="34" charset="-122"/>
                      <a:sym typeface="+mn-ea"/>
                    </a:rPr>
                    <a:t>小屏：一屏通办</a:t>
                  </a:r>
                  <a:r>
                    <a:rPr lang="zh-CN" altLang="en-US" sz="1200" b="1" noProof="0">
                      <a:ln>
                        <a:noFill/>
                      </a:ln>
                      <a:solidFill>
                        <a:srgbClr val="0070C0"/>
                      </a:solidFill>
                      <a:effectLst/>
                      <a:uLnTx/>
                      <a:uFillTx/>
                      <a:latin typeface="微软雅黑" panose="020B0503020204020204" pitchFamily="34" charset="-122"/>
                      <a:ea typeface="微软雅黑" panose="020B0503020204020204" pitchFamily="34" charset="-122"/>
                      <a:sym typeface="+mn-ea"/>
                    </a:rPr>
                    <a:t>（网格通</a:t>
                  </a:r>
                  <a:r>
                    <a:rPr lang="en-US" altLang="zh-CN" sz="1200" b="1" noProof="0">
                      <a:ln>
                        <a:noFill/>
                      </a:ln>
                      <a:solidFill>
                        <a:srgbClr val="0070C0"/>
                      </a:solidFill>
                      <a:effectLst/>
                      <a:uLnTx/>
                      <a:uFillTx/>
                      <a:latin typeface="微软雅黑" panose="020B0503020204020204" pitchFamily="34" charset="-122"/>
                      <a:ea typeface="微软雅黑" panose="020B0503020204020204" pitchFamily="34" charset="-122"/>
                      <a:sym typeface="+mn-ea"/>
                    </a:rPr>
                    <a:t>APP</a:t>
                  </a:r>
                  <a:r>
                    <a:rPr lang="zh-CN" altLang="en-US" sz="1200" b="1" noProof="0">
                      <a:ln>
                        <a:noFill/>
                      </a:ln>
                      <a:solidFill>
                        <a:srgbClr val="0070C0"/>
                      </a:solidFill>
                      <a:effectLst/>
                      <a:uLnTx/>
                      <a:uFillTx/>
                      <a:latin typeface="微软雅黑" panose="020B0503020204020204" pitchFamily="34" charset="-122"/>
                      <a:ea typeface="微软雅黑" panose="020B0503020204020204" pitchFamily="34" charset="-122"/>
                      <a:sym typeface="+mn-ea"/>
                    </a:rPr>
                    <a:t>）</a:t>
                  </a:r>
                  <a:endParaRPr kumimoji="0" lang="zh-CN" altLang="en-US" sz="12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grpSp>
          <p:sp>
            <p:nvSpPr>
              <p:cNvPr id="43" name="矩形 42"/>
              <p:cNvSpPr/>
              <p:nvPr>
                <p:custDataLst>
                  <p:tags r:id="rId84"/>
                </p:custDataLst>
              </p:nvPr>
            </p:nvSpPr>
            <p:spPr>
              <a:xfrm>
                <a:off x="2296" y="4019"/>
                <a:ext cx="14719" cy="371"/>
              </a:xfrm>
              <a:prstGeom prst="rect">
                <a:avLst/>
              </a:prstGeom>
              <a:solidFill>
                <a:srgbClr val="E6F0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200" b="1" noProof="0">
                    <a:ln>
                      <a:noFill/>
                    </a:ln>
                    <a:solidFill>
                      <a:srgbClr val="0070C0"/>
                    </a:solidFill>
                    <a:effectLst/>
                    <a:uLnTx/>
                    <a:uFillTx/>
                    <a:latin typeface="微软雅黑" panose="020B0503020204020204" pitchFamily="34" charset="-122"/>
                    <a:ea typeface="微软雅黑" panose="020B0503020204020204" pitchFamily="34" charset="-122"/>
                    <a:sym typeface="+mn-ea"/>
                  </a:rPr>
                  <a:t>市场运营工作台（</a:t>
                </a:r>
                <a:r>
                  <a:rPr lang="zh-CN" altLang="en-US" sz="1000" b="1" noProof="0">
                    <a:ln>
                      <a:noFill/>
                    </a:ln>
                    <a:solidFill>
                      <a:srgbClr val="0070C0"/>
                    </a:solidFill>
                    <a:effectLst/>
                    <a:uLnTx/>
                    <a:uFillTx/>
                    <a:latin typeface="微软雅黑" panose="020B0503020204020204" pitchFamily="34" charset="-122"/>
                    <a:ea typeface="微软雅黑" panose="020B0503020204020204" pitchFamily="34" charset="-122"/>
                    <a:sym typeface="+mn-ea"/>
                  </a:rPr>
                  <a:t>存量、家庭、产品运营</a:t>
                </a:r>
                <a:r>
                  <a:rPr lang="en-US" altLang="zh-CN" sz="1000" b="1" noProof="0">
                    <a:ln>
                      <a:noFill/>
                    </a:ln>
                    <a:solidFill>
                      <a:srgbClr val="0070C0"/>
                    </a:solidFill>
                    <a:effectLst/>
                    <a:uLnTx/>
                    <a:uFillTx/>
                    <a:latin typeface="微软雅黑" panose="020B0503020204020204" pitchFamily="34" charset="-122"/>
                    <a:ea typeface="微软雅黑" panose="020B0503020204020204" pitchFamily="34" charset="-122"/>
                    <a:sym typeface="+mn-ea"/>
                  </a:rPr>
                  <a:t>...</a:t>
                </a:r>
                <a:r>
                  <a:rPr lang="en-US" altLang="zh-CN" sz="1000" noProof="0">
                    <a:ln>
                      <a:noFill/>
                    </a:ln>
                    <a:solidFill>
                      <a:srgbClr val="0070C0"/>
                    </a:solidFill>
                    <a:effectLst/>
                    <a:uLnTx/>
                    <a:uFillTx/>
                    <a:latin typeface="微软雅黑" panose="020B0503020204020204" pitchFamily="34" charset="-122"/>
                    <a:ea typeface="微软雅黑" panose="020B0503020204020204" pitchFamily="34" charset="-122"/>
                    <a:sym typeface="+mn-ea"/>
                  </a:rPr>
                  <a:t>)</a:t>
                </a:r>
                <a:endParaRPr kumimoji="0" lang="en-US" altLang="zh-CN" sz="10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sym typeface="+mn-ea"/>
                </a:endParaRPr>
              </a:p>
            </p:txBody>
          </p:sp>
        </p:gr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矩形 261"/>
          <p:cNvSpPr/>
          <p:nvPr/>
        </p:nvSpPr>
        <p:spPr>
          <a:xfrm>
            <a:off x="628015" y="2633980"/>
            <a:ext cx="11332845" cy="3990975"/>
          </a:xfrm>
          <a:prstGeom prst="rect">
            <a:avLst/>
          </a:prstGeom>
          <a:solidFill>
            <a:srgbClr val="F2F2F2"/>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60" name="圆角矩形 16"/>
          <p:cNvSpPr/>
          <p:nvPr/>
        </p:nvSpPr>
        <p:spPr>
          <a:xfrm>
            <a:off x="782320" y="6065520"/>
            <a:ext cx="8546465" cy="484505"/>
          </a:xfrm>
          <a:prstGeom prst="roundRect">
            <a:avLst>
              <a:gd name="adj" fmla="val 778"/>
            </a:avLst>
          </a:prstGeom>
          <a:solidFill>
            <a:schemeClr val="bg1"/>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标题 1"/>
          <p:cNvSpPr>
            <a:spLocks noGrp="1"/>
          </p:cNvSpPr>
          <p:nvPr>
            <p:ph type="title"/>
          </p:nvPr>
        </p:nvSpPr>
        <p:spPr>
          <a:xfrm>
            <a:off x="151130" y="274320"/>
            <a:ext cx="10165080" cy="486410"/>
          </a:xfrm>
        </p:spPr>
        <p:txBody>
          <a:bodyPr>
            <a:noAutofit/>
          </a:bodyPr>
          <a:lstStyle/>
          <a:p>
            <a:pPr algn="l">
              <a:spcAft>
                <a:spcPts val="0"/>
              </a:spcAft>
              <a:buClrTx/>
              <a:buSzTx/>
              <a:buFontTx/>
              <a:defRPr/>
            </a:pPr>
            <a:r>
              <a:rPr lang="zh-CN" altLang="en-US">
                <a:solidFill>
                  <a:srgbClr val="C00000"/>
                </a:solidFill>
                <a:sym typeface="+mn-ea"/>
              </a:rPr>
              <a:t>规划图</a:t>
            </a: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sym typeface="+mn-ea"/>
              </a:rPr>
              <a:t>构建</a:t>
            </a:r>
            <a:r>
              <a:rPr>
                <a:sym typeface="+mn-ea"/>
              </a:rPr>
              <a:t>“</a:t>
            </a:r>
            <a:r>
              <a:rPr lang="zh-CN" altLang="en-US">
                <a:sym typeface="+mn-ea"/>
              </a:rPr>
              <a:t>能力贯通</a:t>
            </a:r>
            <a:r>
              <a:rPr>
                <a:sym typeface="+mn-ea"/>
              </a:rPr>
              <a:t>、</a:t>
            </a:r>
            <a:r>
              <a:rPr lang="zh-CN" altLang="en-US">
                <a:sym typeface="+mn-ea"/>
              </a:rPr>
              <a:t>前台统一、多场景赋能</a:t>
            </a:r>
            <a:r>
              <a:rPr>
                <a:sym typeface="+mn-ea"/>
              </a:rPr>
              <a:t>”</a:t>
            </a:r>
            <a:r>
              <a:rPr lang="zh-CN" altLang="en-US">
                <a:sym typeface="+mn-ea"/>
              </a:rPr>
              <a:t>的转型体系</a:t>
            </a:r>
            <a:endParaRPr lang="zh-CN" altLang="en-US" kern="0" noProof="0" dirty="0">
              <a:ln>
                <a:noFill/>
              </a:ln>
              <a:solidFill>
                <a:srgbClr val="0070C0"/>
              </a:solidFill>
              <a:effectLst/>
              <a:uLn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24" name="圆角矩形 16"/>
          <p:cNvSpPr/>
          <p:nvPr/>
        </p:nvSpPr>
        <p:spPr>
          <a:xfrm>
            <a:off x="9460230" y="2709545"/>
            <a:ext cx="1144905" cy="3839845"/>
          </a:xfrm>
          <a:prstGeom prst="roundRect">
            <a:avLst>
              <a:gd name="adj" fmla="val 778"/>
            </a:avLst>
          </a:prstGeom>
          <a:solidFill>
            <a:schemeClr val="bg1"/>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25" name="圆角矩形 16"/>
          <p:cNvSpPr/>
          <p:nvPr/>
        </p:nvSpPr>
        <p:spPr>
          <a:xfrm>
            <a:off x="10716895" y="2709545"/>
            <a:ext cx="1095375" cy="3820160"/>
          </a:xfrm>
          <a:prstGeom prst="roundRect">
            <a:avLst>
              <a:gd name="adj" fmla="val 778"/>
            </a:avLst>
          </a:prstGeom>
          <a:solidFill>
            <a:schemeClr val="bg1"/>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29" name="文本框 328"/>
          <p:cNvSpPr txBox="1"/>
          <p:nvPr/>
        </p:nvSpPr>
        <p:spPr>
          <a:xfrm>
            <a:off x="9570720" y="4855845"/>
            <a:ext cx="942975" cy="1433195"/>
          </a:xfrm>
          <a:prstGeom prst="rect">
            <a:avLst/>
          </a:prstGeom>
          <a:noFill/>
        </p:spPr>
        <p:txBody>
          <a:bodyPr wrap="square" rtlCol="0" anchor="t">
            <a:noAutofit/>
          </a:bodyPr>
          <a:p>
            <a:pPr lvl="0" algn="l" latinLnBrk="1" hangingPunct="0">
              <a:spcBef>
                <a:spcPts val="0"/>
              </a:spcBef>
              <a:spcAft>
                <a:spcPts val="0"/>
              </a:spcAft>
              <a:buClrTx/>
              <a:buSzTx/>
              <a:buFontTx/>
            </a:pPr>
            <a:r>
              <a:rPr lang="zh-CN" sz="900" b="1">
                <a:solidFill>
                  <a:srgbClr val="0070BF"/>
                </a:solidFill>
                <a:latin typeface="微软雅黑" panose="020B0503020204020204" pitchFamily="34" charset="-122"/>
                <a:ea typeface="微软雅黑" panose="020B0503020204020204" pitchFamily="34" charset="-122"/>
                <a:sym typeface="+mn-ea"/>
              </a:rPr>
              <a:t>以</a:t>
            </a:r>
            <a:r>
              <a:rPr lang="zh-CN" sz="900" b="1">
                <a:solidFill>
                  <a:srgbClr val="C00000"/>
                </a:solidFill>
                <a:latin typeface="微软雅黑" panose="020B0503020204020204" pitchFamily="34" charset="-122"/>
                <a:ea typeface="微软雅黑" panose="020B0503020204020204" pitchFamily="34" charset="-122"/>
                <a:sym typeface="+mn-ea"/>
              </a:rPr>
              <a:t>流程治理平台为工具</a:t>
            </a:r>
            <a:r>
              <a:rPr lang="zh-CN" sz="900" b="1">
                <a:solidFill>
                  <a:srgbClr val="0070BF"/>
                </a:solidFill>
                <a:latin typeface="微软雅黑" panose="020B0503020204020204" pitchFamily="34" charset="-122"/>
                <a:ea typeface="微软雅黑" panose="020B0503020204020204" pitchFamily="34" charset="-122"/>
                <a:sym typeface="+mn-ea"/>
              </a:rPr>
              <a:t>，优先治理</a:t>
            </a:r>
            <a:r>
              <a:rPr lang="zh-CN" sz="900" b="1">
                <a:solidFill>
                  <a:srgbClr val="C00000"/>
                </a:solidFill>
                <a:latin typeface="微软雅黑" panose="020B0503020204020204" pitchFamily="34" charset="-122"/>
                <a:ea typeface="微软雅黑" panose="020B0503020204020204" pitchFamily="34" charset="-122"/>
                <a:sym typeface="+mn-ea"/>
              </a:rPr>
              <a:t>跨域、跨系统</a:t>
            </a:r>
            <a:r>
              <a:rPr lang="zh-CN" sz="900" b="1">
                <a:solidFill>
                  <a:srgbClr val="0070BF"/>
                </a:solidFill>
                <a:latin typeface="微软雅黑" panose="020B0503020204020204" pitchFamily="34" charset="-122"/>
                <a:ea typeface="微软雅黑" panose="020B0503020204020204" pitchFamily="34" charset="-122"/>
                <a:sym typeface="+mn-ea"/>
              </a:rPr>
              <a:t>的复杂流程，推动业务自助完成流程治理、监控</a:t>
            </a:r>
            <a:endParaRPr lang="zh-CN" sz="900" b="1">
              <a:solidFill>
                <a:srgbClr val="0070BF"/>
              </a:solidFill>
              <a:latin typeface="微软雅黑" panose="020B0503020204020204" pitchFamily="34" charset="-122"/>
              <a:ea typeface="微软雅黑" panose="020B0503020204020204" pitchFamily="34" charset="-122"/>
              <a:sym typeface="+mn-ea"/>
            </a:endParaRPr>
          </a:p>
        </p:txBody>
      </p:sp>
      <p:sp>
        <p:nvSpPr>
          <p:cNvPr id="179" name="圆角矩形 1"/>
          <p:cNvSpPr/>
          <p:nvPr/>
        </p:nvSpPr>
        <p:spPr>
          <a:xfrm>
            <a:off x="1922780" y="6319520"/>
            <a:ext cx="6647815" cy="193675"/>
          </a:xfrm>
          <a:prstGeom prst="roundRect">
            <a:avLst>
              <a:gd name="adj" fmla="val 4671"/>
            </a:avLst>
          </a:prstGeom>
          <a:solidFill>
            <a:srgbClr val="D9D9D9"/>
          </a:solid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统一技术栈的云、数、智技术底座</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7" name="文本框 56"/>
          <p:cNvSpPr txBox="1"/>
          <p:nvPr/>
        </p:nvSpPr>
        <p:spPr>
          <a:xfrm>
            <a:off x="689610" y="6269355"/>
            <a:ext cx="1208405" cy="260350"/>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defRPr kumimoji="1" sz="1200" b="1" i="0" u="none" strike="noStrike" cap="none" spc="0" normalizeH="0" baseline="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统一数智底座</a:t>
            </a:r>
            <a:endPar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nvGrpSpPr>
          <p:cNvPr id="68" name="组合 67"/>
          <p:cNvGrpSpPr/>
          <p:nvPr/>
        </p:nvGrpSpPr>
        <p:grpSpPr>
          <a:xfrm>
            <a:off x="8255" y="1052195"/>
            <a:ext cx="11981180" cy="4933950"/>
            <a:chOff x="13" y="2102"/>
            <a:chExt cx="18868" cy="7743"/>
          </a:xfrm>
        </p:grpSpPr>
        <p:grpSp>
          <p:nvGrpSpPr>
            <p:cNvPr id="6" name="组合 5"/>
            <p:cNvGrpSpPr/>
            <p:nvPr/>
          </p:nvGrpSpPr>
          <p:grpSpPr>
            <a:xfrm rot="0">
              <a:off x="1038" y="2102"/>
              <a:ext cx="17843" cy="2366"/>
              <a:chOff x="1038" y="2291"/>
              <a:chExt cx="17843" cy="2287"/>
            </a:xfrm>
          </p:grpSpPr>
          <p:grpSp>
            <p:nvGrpSpPr>
              <p:cNvPr id="4" name="组合 3"/>
              <p:cNvGrpSpPr/>
              <p:nvPr/>
            </p:nvGrpSpPr>
            <p:grpSpPr>
              <a:xfrm>
                <a:off x="1038" y="3091"/>
                <a:ext cx="17843" cy="1487"/>
                <a:chOff x="1038" y="3091"/>
                <a:chExt cx="17843" cy="1487"/>
              </a:xfrm>
            </p:grpSpPr>
            <p:sp>
              <p:nvSpPr>
                <p:cNvPr id="225" name="矩形 224"/>
                <p:cNvSpPr/>
                <p:nvPr>
                  <p:custDataLst>
                    <p:tags r:id="rId1"/>
                  </p:custDataLst>
                </p:nvPr>
              </p:nvSpPr>
              <p:spPr>
                <a:xfrm>
                  <a:off x="1038" y="3099"/>
                  <a:ext cx="8481" cy="373"/>
                </a:xfrm>
                <a:prstGeom prst="rect">
                  <a:avLst/>
                </a:prstGeom>
                <a:solidFill>
                  <a:srgbClr val="40B0FF"/>
                </a:solidFill>
                <a:ln w="6350">
                  <a:noFill/>
                </a:ln>
              </p:spPr>
              <p:style>
                <a:lnRef idx="2">
                  <a:schemeClr val="accent6">
                    <a:shade val="50000"/>
                  </a:schemeClr>
                </a:lnRef>
                <a:fillRef idx="1">
                  <a:schemeClr val="accent6"/>
                </a:fillRef>
                <a:effectRef idx="0">
                  <a:schemeClr val="accent6"/>
                </a:effectRef>
                <a:fontRef idx="minor">
                  <a:schemeClr val="lt1"/>
                </a:fontRef>
              </p:style>
              <p:txBody>
                <a:bodyPr rot="0" vertOverflow="overflow" horzOverflow="overflow" vert="horz" wrap="square" lIns="45719" tIns="45719" rIns="45719" bIns="45719" numCol="1" spcCol="38100" rtlCol="0" fromWordArt="0" anchor="ctr" anchorCtr="0" forceAA="0" compatLnSpc="1">
                  <a:noAutofit/>
                </a:bodyPr>
                <a:p>
                  <a:pPr lvl="0" algn="ctr" defTabSz="544195" latinLnBrk="1" hangingPunct="0">
                    <a:spcBef>
                      <a:spcPts val="0"/>
                    </a:spcBef>
                    <a:spcAft>
                      <a:spcPts val="0"/>
                    </a:spcAft>
                    <a:buClrTx/>
                    <a:buSzTx/>
                    <a:buFontTx/>
                  </a:pPr>
                  <a:r>
                    <a:rPr lang="zh-CN" sz="1200" b="1" dirty="0">
                      <a:solidFill>
                        <a:schemeClr val="bg1"/>
                      </a:solidFill>
                      <a:latin typeface="微软雅黑" panose="020B0503020204020204" pitchFamily="34" charset="-122"/>
                      <a:ea typeface="微软雅黑" panose="020B0503020204020204" pitchFamily="34" charset="-122"/>
                      <a:sym typeface="+mn-ea"/>
                    </a:rPr>
                    <a:t>面向客户，实现全生命周期价值经营</a:t>
                  </a:r>
                  <a:endParaRPr lang="zh-CN" sz="1200" b="1" dirty="0">
                    <a:solidFill>
                      <a:schemeClr val="bg1"/>
                    </a:solidFill>
                    <a:latin typeface="微软雅黑" panose="020B0503020204020204" pitchFamily="34" charset="-122"/>
                    <a:ea typeface="微软雅黑" panose="020B0503020204020204" pitchFamily="34" charset="-122"/>
                    <a:sym typeface="+mn-ea"/>
                  </a:endParaRPr>
                </a:p>
              </p:txBody>
            </p:sp>
            <p:sp>
              <p:nvSpPr>
                <p:cNvPr id="232" name="矩形 231"/>
                <p:cNvSpPr/>
                <p:nvPr>
                  <p:custDataLst>
                    <p:tags r:id="rId2"/>
                  </p:custDataLst>
                </p:nvPr>
              </p:nvSpPr>
              <p:spPr>
                <a:xfrm>
                  <a:off x="1038" y="3398"/>
                  <a:ext cx="8481" cy="1180"/>
                </a:xfrm>
                <a:prstGeom prst="rect">
                  <a:avLst/>
                </a:prstGeom>
                <a:solidFill>
                  <a:schemeClr val="accent1">
                    <a:lumMod val="20000"/>
                    <a:lumOff val="80000"/>
                  </a:schemeClr>
                </a:solidFill>
                <a:ln w="6350">
                  <a:noFill/>
                  <a:prstDash val="solid"/>
                </a:ln>
                <a:extLst>
                  <a:ext uri="{909E8E84-426E-40DD-AFC4-6F175D3DCCD1}">
                    <a14:hiddenFill xmlns:a14="http://schemas.microsoft.com/office/drawing/2010/main">
                      <a:solidFill>
                        <a:schemeClr val="accent5">
                          <a:lumMod val="40000"/>
                          <a:lumOff val="60000"/>
                        </a:schemeClr>
                      </a:solidFill>
                    </a14:hiddenFill>
                  </a:ext>
                </a:extLst>
              </p:spPr>
              <p:style>
                <a:lnRef idx="2">
                  <a:schemeClr val="accent6">
                    <a:shade val="50000"/>
                  </a:schemeClr>
                </a:lnRef>
                <a:fillRef idx="1">
                  <a:schemeClr val="accent6"/>
                </a:fillRef>
                <a:effectRef idx="0">
                  <a:schemeClr val="accent6"/>
                </a:effectRef>
                <a:fontRef idx="minor">
                  <a:schemeClr val="lt1"/>
                </a:fontRef>
              </p:style>
              <p:txBody>
                <a:bodyPr rot="0" vertOverflow="overflow" horzOverflow="overflow" vert="horz" wrap="square" lIns="45719" tIns="45719" rIns="45719" bIns="45719" numCol="1" spcCol="38100" rtlCol="0" anchor="ctr" forceAA="0">
                  <a:noAutofit/>
                </a:bodyPr>
                <a:p>
                  <a:pPr marL="0" marR="0" indent="0" algn="ctr" defTabSz="544195" rtl="0" fontAlgn="auto" latinLnBrk="1" hangingPunct="0">
                    <a:lnSpc>
                      <a:spcPct val="100000"/>
                    </a:lnSpc>
                    <a:spcBef>
                      <a:spcPts val="0"/>
                    </a:spcBef>
                    <a:spcAft>
                      <a:spcPts val="0"/>
                    </a:spcAft>
                    <a:buClrTx/>
                    <a:buSzTx/>
                    <a:buFontTx/>
                    <a:buNone/>
                  </a:pPr>
                  <a:endParaRPr kumimoji="0" lang="zh-CN" altLang="en-US" sz="9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35" name="矩形 234"/>
                <p:cNvSpPr/>
                <p:nvPr>
                  <p:custDataLst>
                    <p:tags r:id="rId3"/>
                  </p:custDataLst>
                </p:nvPr>
              </p:nvSpPr>
              <p:spPr>
                <a:xfrm>
                  <a:off x="10000" y="3091"/>
                  <a:ext cx="8881" cy="298"/>
                </a:xfrm>
                <a:prstGeom prst="rect">
                  <a:avLst/>
                </a:prstGeom>
                <a:solidFill>
                  <a:srgbClr val="40B0FF"/>
                </a:solidFill>
                <a:ln w="6350">
                  <a:noFill/>
                </a:ln>
              </p:spPr>
              <p:style>
                <a:lnRef idx="2">
                  <a:schemeClr val="accent6">
                    <a:shade val="50000"/>
                  </a:schemeClr>
                </a:lnRef>
                <a:fillRef idx="1">
                  <a:schemeClr val="accent6"/>
                </a:fillRef>
                <a:effectRef idx="0">
                  <a:schemeClr val="accent6"/>
                </a:effectRef>
                <a:fontRef idx="minor">
                  <a:schemeClr val="lt1"/>
                </a:fontRef>
              </p:style>
              <p:txBody>
                <a:bodyPr rot="0" vertOverflow="overflow" horzOverflow="overflow" vert="horz" wrap="square" lIns="45719" tIns="45719" rIns="45719" bIns="45719" numCol="1" spcCol="38100" rtlCol="0" fromWordArt="0" anchor="ctr" anchorCtr="0" forceAA="0" compatLnSpc="1">
                  <a:noAutofit/>
                </a:bodyPr>
                <a:p>
                  <a:pPr lvl="0" algn="ctr" defTabSz="544195" latinLnBrk="1" hangingPunct="0">
                    <a:spcBef>
                      <a:spcPts val="0"/>
                    </a:spcBef>
                    <a:spcAft>
                      <a:spcPts val="0"/>
                    </a:spcAft>
                    <a:buClrTx/>
                    <a:buSzTx/>
                    <a:buFontTx/>
                  </a:pPr>
                  <a:r>
                    <a:rPr lang="zh-CN" sz="1200" b="1" dirty="0">
                      <a:solidFill>
                        <a:schemeClr val="bg1"/>
                      </a:solidFill>
                      <a:latin typeface="微软雅黑" panose="020B0503020204020204" pitchFamily="34" charset="-122"/>
                      <a:ea typeface="微软雅黑" panose="020B0503020204020204" pitchFamily="34" charset="-122"/>
                      <a:sym typeface="+mn-ea"/>
                    </a:rPr>
                    <a:t>面向内部，增强一体化运营能力</a:t>
                  </a:r>
                  <a:endParaRPr lang="zh-CN" sz="1200" b="1" dirty="0">
                    <a:solidFill>
                      <a:schemeClr val="bg1"/>
                    </a:solidFill>
                    <a:latin typeface="微软雅黑" panose="020B0503020204020204" pitchFamily="34" charset="-122"/>
                    <a:ea typeface="微软雅黑" panose="020B0503020204020204" pitchFamily="34" charset="-122"/>
                    <a:sym typeface="+mn-ea"/>
                  </a:endParaRPr>
                </a:p>
              </p:txBody>
            </p:sp>
            <p:sp>
              <p:nvSpPr>
                <p:cNvPr id="246" name="矩形 245"/>
                <p:cNvSpPr/>
                <p:nvPr>
                  <p:custDataLst>
                    <p:tags r:id="rId4"/>
                  </p:custDataLst>
                </p:nvPr>
              </p:nvSpPr>
              <p:spPr>
                <a:xfrm>
                  <a:off x="10000" y="3394"/>
                  <a:ext cx="8881" cy="1184"/>
                </a:xfrm>
                <a:prstGeom prst="rect">
                  <a:avLst/>
                </a:prstGeom>
                <a:solidFill>
                  <a:schemeClr val="accent1">
                    <a:lumMod val="20000"/>
                    <a:lumOff val="80000"/>
                  </a:schemeClr>
                </a:solidFill>
                <a:ln w="6350">
                  <a:noFill/>
                  <a:prstDash val="solid"/>
                </a:ln>
                <a:extLst>
                  <a:ext uri="{909E8E84-426E-40DD-AFC4-6F175D3DCCD1}">
                    <a14:hiddenFill xmlns:a14="http://schemas.microsoft.com/office/drawing/2010/main">
                      <a:solidFill>
                        <a:schemeClr val="accent5">
                          <a:lumMod val="40000"/>
                          <a:lumOff val="60000"/>
                        </a:schemeClr>
                      </a:solidFill>
                    </a14:hiddenFill>
                  </a:ext>
                </a:extLst>
              </p:spPr>
              <p:style>
                <a:lnRef idx="2">
                  <a:schemeClr val="accent6">
                    <a:shade val="50000"/>
                  </a:schemeClr>
                </a:lnRef>
                <a:fillRef idx="1">
                  <a:schemeClr val="accent6"/>
                </a:fillRef>
                <a:effectRef idx="0">
                  <a:schemeClr val="accent6"/>
                </a:effectRef>
                <a:fontRef idx="minor">
                  <a:schemeClr val="lt1"/>
                </a:fontRef>
              </p:style>
              <p:txBody>
                <a:bodyPr rot="0" vertOverflow="overflow" horzOverflow="overflow" vert="horz" wrap="square" lIns="45719" tIns="45719" rIns="45719" bIns="45719" numCol="1" spcCol="38100" rtlCol="0" anchor="ctr" forceAA="0">
                  <a:noAutofit/>
                </a:bodyPr>
                <a:p>
                  <a:pPr marL="0" marR="0" indent="0" algn="ctr" defTabSz="544195" rtl="0" fontAlgn="auto" latinLnBrk="1" hangingPunct="0">
                    <a:lnSpc>
                      <a:spcPct val="100000"/>
                    </a:lnSpc>
                    <a:spcBef>
                      <a:spcPts val="0"/>
                    </a:spcBef>
                    <a:spcAft>
                      <a:spcPts val="0"/>
                    </a:spcAft>
                    <a:buClrTx/>
                    <a:buSzTx/>
                    <a:buFontTx/>
                    <a:buNone/>
                  </a:pPr>
                  <a:endParaRPr kumimoji="0" lang="zh-CN" altLang="en-US" sz="9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261" name="文本框 260"/>
              <p:cNvSpPr txBox="1"/>
              <p:nvPr/>
            </p:nvSpPr>
            <p:spPr>
              <a:xfrm>
                <a:off x="7548" y="2291"/>
                <a:ext cx="513" cy="519"/>
              </a:xfrm>
              <a:prstGeom prst="rect">
                <a:avLst/>
              </a:prstGeom>
              <a:noFill/>
            </p:spPr>
            <p:txBody>
              <a:bodyPr wrap="square" rtlCol="0" anchor="t">
                <a:spAutoFit/>
              </a:bodyPr>
              <a:p>
                <a:endParaRPr lang="zh-CN" sz="1400" b="1">
                  <a:solidFill>
                    <a:srgbClr val="0070C0"/>
                  </a:solidFill>
                  <a:latin typeface="微软雅黑" panose="020B0503020204020204" pitchFamily="34" charset="-122"/>
                  <a:ea typeface="微软雅黑" panose="020B0503020204020204" pitchFamily="34" charset="-122"/>
                  <a:sym typeface="+mn-ea"/>
                </a:endParaRPr>
              </a:p>
            </p:txBody>
          </p:sp>
        </p:grpSp>
        <p:grpSp>
          <p:nvGrpSpPr>
            <p:cNvPr id="67" name="组合 66"/>
            <p:cNvGrpSpPr/>
            <p:nvPr/>
          </p:nvGrpSpPr>
          <p:grpSpPr>
            <a:xfrm>
              <a:off x="13" y="3308"/>
              <a:ext cx="18656" cy="6537"/>
              <a:chOff x="13" y="3308"/>
              <a:chExt cx="18656" cy="6537"/>
            </a:xfrm>
          </p:grpSpPr>
          <p:sp>
            <p:nvSpPr>
              <p:cNvPr id="5" name="文本框 4"/>
              <p:cNvSpPr txBox="1"/>
              <p:nvPr/>
            </p:nvSpPr>
            <p:spPr>
              <a:xfrm>
                <a:off x="13" y="6421"/>
                <a:ext cx="964" cy="819"/>
              </a:xfrm>
              <a:prstGeom prst="rect">
                <a:avLst/>
              </a:prstGeom>
              <a:noFill/>
            </p:spPr>
            <p:txBody>
              <a:bodyPr wrap="square" rtlCol="0">
                <a:spAutoFit/>
              </a:bodyPr>
              <a:p>
                <a:pPr marL="0" marR="0" lvl="0" indent="0" algn="ctr" defTabSz="457200" rtl="0" eaLnBrk="1" fontAlgn="auto" latinLnBrk="0" hangingPunct="1">
                  <a:lnSpc>
                    <a:spcPct val="100000"/>
                  </a:lnSpc>
                  <a:spcBef>
                    <a:spcPts val="0"/>
                  </a:spcBef>
                  <a:spcAft>
                    <a:spcPts val="0"/>
                  </a:spcAft>
                  <a:buClrTx/>
                  <a:buSzTx/>
                  <a:buFontTx/>
                  <a:buNone/>
                  <a:defRPr/>
                </a:pPr>
                <a:r>
                  <a:rPr kumimoji="1" lang="zh-CN" sz="1400" b="1" dirty="0">
                    <a:solidFill>
                      <a:schemeClr val="tx1"/>
                    </a:solidFill>
                    <a:latin typeface="微软雅黑" panose="020B0503020204020204" pitchFamily="34" charset="-122"/>
                    <a:ea typeface="微软雅黑" panose="020B0503020204020204" pitchFamily="34" charset="-122"/>
                  </a:rPr>
                  <a:t>统一</a:t>
                </a:r>
                <a:r>
                  <a:rPr kumimoji="1" lang="zh-CN" sz="1400" b="1" dirty="0">
                    <a:solidFill>
                      <a:srgbClr val="FF0000"/>
                    </a:solidFill>
                    <a:latin typeface="微软雅黑" panose="020B0503020204020204" pitchFamily="34" charset="-122"/>
                    <a:ea typeface="微软雅黑" panose="020B0503020204020204" pitchFamily="34" charset="-122"/>
                  </a:rPr>
                  <a:t>前台</a:t>
                </a:r>
                <a:endParaRPr kumimoji="1"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57" name="圆角矩形 256"/>
              <p:cNvSpPr/>
              <p:nvPr>
                <p:custDataLst>
                  <p:tags r:id="rId5"/>
                </p:custDataLst>
              </p:nvPr>
            </p:nvSpPr>
            <p:spPr>
              <a:xfrm>
                <a:off x="38" y="3340"/>
                <a:ext cx="1000" cy="768"/>
              </a:xfrm>
              <a:prstGeom prst="roundRect">
                <a:avLst>
                  <a:gd name="adj" fmla="val 5303"/>
                </a:avLst>
              </a:prstGeom>
              <a:noFill/>
            </p:spPr>
            <p:style>
              <a:lnRef idx="0">
                <a:srgbClr val="FFFFFF"/>
              </a:lnRef>
              <a:fillRef idx="1">
                <a:schemeClr val="accent1"/>
              </a:fillRef>
              <a:effectRef idx="0">
                <a:srgbClr val="FFFFFF"/>
              </a:effectRef>
              <a:fontRef idx="minor">
                <a:schemeClr val="lt1"/>
              </a:fontRef>
            </p:style>
            <p:txBody>
              <a:bodyPr rot="0" spcFirstLastPara="1" vertOverflow="overflow" horzOverflow="overflow" vert="horz" wrap="square" lIns="46800" tIns="45719" rIns="45719" bIns="45719" numCol="1" spcCol="38100" rtlCol="0" fromWordArt="0" anchor="ctr" anchorCtr="0" forceAA="0" compatLnSpc="1">
                <a:noAutofit/>
              </a:bodyPr>
              <a:p>
                <a:pPr lvl="0" algn="ctr" latinLnBrk="1" hangingPunct="0">
                  <a:spcBef>
                    <a:spcPts val="0"/>
                  </a:spcBef>
                  <a:spcAft>
                    <a:spcPts val="0"/>
                  </a:spcAft>
                  <a:buClrTx/>
                  <a:buSzTx/>
                  <a:buFontTx/>
                </a:pPr>
                <a:r>
                  <a:rPr lang="en-US" altLang="zh-CN" sz="1400" b="1" dirty="0">
                    <a:ln>
                      <a:noFill/>
                    </a:ln>
                    <a:solidFill>
                      <a:srgbClr val="FF0000"/>
                    </a:solidFill>
                    <a:effectLst/>
                    <a:uFillTx/>
                    <a:latin typeface="微软雅黑" panose="020B0503020204020204" pitchFamily="34" charset="-122"/>
                    <a:ea typeface="微软雅黑" panose="020B0503020204020204" pitchFamily="34" charset="-122"/>
                    <a:sym typeface="Calibri" panose="020F0502020204030204"/>
                  </a:rPr>
                  <a:t>N</a:t>
                </a:r>
                <a:r>
                  <a:rPr lang="zh-CN" altLang="en-US" sz="1400" b="1" dirty="0">
                    <a:ln>
                      <a:noFill/>
                    </a:ln>
                    <a:solidFill>
                      <a:srgbClr val="FF0000"/>
                    </a:solidFill>
                    <a:effectLst/>
                    <a:uFillTx/>
                    <a:latin typeface="微软雅黑" panose="020B0503020204020204" pitchFamily="34" charset="-122"/>
                    <a:ea typeface="微软雅黑" panose="020B0503020204020204" pitchFamily="34" charset="-122"/>
                    <a:sym typeface="Calibri" panose="020F0502020204030204"/>
                  </a:rPr>
                  <a:t>个</a:t>
                </a:r>
                <a:endParaRPr lang="zh-CN" altLang="en-US" sz="1400" b="1" dirty="0">
                  <a:ln>
                    <a:noFill/>
                  </a:ln>
                  <a:solidFill>
                    <a:srgbClr val="FF0000"/>
                  </a:solidFill>
                  <a:effectLst/>
                  <a:uFillTx/>
                  <a:latin typeface="微软雅黑" panose="020B0503020204020204" pitchFamily="34" charset="-122"/>
                  <a:ea typeface="微软雅黑" panose="020B0503020204020204" pitchFamily="34" charset="-122"/>
                  <a:sym typeface="Calibri" panose="020F0502020204030204"/>
                </a:endParaRPr>
              </a:p>
              <a:p>
                <a:pPr lvl="0" algn="ctr" latinLnBrk="1" hangingPunct="0">
                  <a:spcBef>
                    <a:spcPts val="0"/>
                  </a:spcBef>
                  <a:spcAft>
                    <a:spcPts val="0"/>
                  </a:spcAft>
                  <a:buClrTx/>
                  <a:buSzTx/>
                  <a:buFontTx/>
                </a:pPr>
                <a:r>
                  <a:rPr lang="zh-CN" altLang="en-US" sz="1400" b="1" dirty="0">
                    <a:ln>
                      <a:noFill/>
                    </a:ln>
                    <a:solidFill>
                      <a:schemeClr val="tx1"/>
                    </a:solidFill>
                    <a:effectLst/>
                    <a:uFillTx/>
                    <a:latin typeface="微软雅黑" panose="020B0503020204020204" pitchFamily="34" charset="-122"/>
                    <a:ea typeface="微软雅黑" panose="020B0503020204020204" pitchFamily="34" charset="-122"/>
                    <a:sym typeface="Calibri" panose="020F0502020204030204"/>
                  </a:rPr>
                  <a:t>场景</a:t>
                </a:r>
                <a:endParaRPr lang="zh-CN" altLang="en-US" sz="1400" b="1" dirty="0">
                  <a:ln>
                    <a:noFill/>
                  </a:ln>
                  <a:solidFill>
                    <a:schemeClr val="tx1"/>
                  </a:solidFill>
                  <a:effectLst/>
                  <a:uFillTx/>
                  <a:latin typeface="微软雅黑" panose="020B0503020204020204" pitchFamily="34" charset="-122"/>
                  <a:ea typeface="微软雅黑" panose="020B0503020204020204" pitchFamily="34" charset="-122"/>
                  <a:sym typeface="Calibri" panose="020F0502020204030204"/>
                </a:endParaRPr>
              </a:p>
            </p:txBody>
          </p:sp>
          <p:sp>
            <p:nvSpPr>
              <p:cNvPr id="263" name="圆角矩形 16"/>
              <p:cNvSpPr/>
              <p:nvPr/>
            </p:nvSpPr>
            <p:spPr>
              <a:xfrm>
                <a:off x="1218" y="4703"/>
                <a:ext cx="13459" cy="909"/>
              </a:xfrm>
              <a:prstGeom prst="roundRect">
                <a:avLst>
                  <a:gd name="adj" fmla="val 778"/>
                </a:avLst>
              </a:prstGeom>
              <a:solidFill>
                <a:schemeClr val="bg1"/>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70" name="圆角矩形 16"/>
              <p:cNvSpPr/>
              <p:nvPr/>
            </p:nvSpPr>
            <p:spPr>
              <a:xfrm>
                <a:off x="1180" y="5914"/>
                <a:ext cx="13459" cy="2818"/>
              </a:xfrm>
              <a:prstGeom prst="roundRect">
                <a:avLst>
                  <a:gd name="adj" fmla="val 778"/>
                </a:avLst>
              </a:prstGeom>
              <a:solidFill>
                <a:schemeClr val="bg1"/>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71" name="圆角矩形 16"/>
              <p:cNvSpPr/>
              <p:nvPr/>
            </p:nvSpPr>
            <p:spPr>
              <a:xfrm>
                <a:off x="1218" y="8637"/>
                <a:ext cx="13459" cy="1208"/>
              </a:xfrm>
              <a:prstGeom prst="roundRect">
                <a:avLst>
                  <a:gd name="adj" fmla="val 778"/>
                </a:avLst>
              </a:prstGeom>
              <a:solidFill>
                <a:schemeClr val="bg1"/>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33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72" name="矩形 271"/>
              <p:cNvSpPr/>
              <p:nvPr/>
            </p:nvSpPr>
            <p:spPr>
              <a:xfrm>
                <a:off x="1232" y="4662"/>
                <a:ext cx="1696" cy="928"/>
              </a:xfrm>
              <a:prstGeom prst="rect">
                <a:avLst/>
              </a:prstGeom>
            </p:spPr>
            <p:txBody>
              <a:bodyPr wrap="square">
                <a:spAutoFit/>
              </a:bodyPr>
              <a:p>
                <a:pPr marL="0" marR="0" lvl="0" indent="0" algn="ctr" defTabSz="457200" rtl="0" fontAlgn="auto">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决策管理人员</a:t>
                </a:r>
                <a:endParaRPr kumimoji="0"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457200" rtl="0" fontAlgn="auto">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大屏</a:t>
                </a:r>
                <a:endParaRPr kumimoji="0" lang="zh-CN" altLang="en-US" sz="105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457200" rtl="0" fontAlgn="auto">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一屏通看</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273" name="组合 272"/>
              <p:cNvGrpSpPr/>
              <p:nvPr/>
            </p:nvGrpSpPr>
            <p:grpSpPr>
              <a:xfrm rot="0">
                <a:off x="3892" y="4769"/>
                <a:ext cx="9414" cy="714"/>
                <a:chOff x="3339" y="4685"/>
                <a:chExt cx="8866" cy="690"/>
              </a:xfrm>
            </p:grpSpPr>
            <p:sp>
              <p:nvSpPr>
                <p:cNvPr id="274" name="矩形: 圆角 209"/>
                <p:cNvSpPr/>
                <p:nvPr/>
              </p:nvSpPr>
              <p:spPr>
                <a:xfrm>
                  <a:off x="3339" y="4685"/>
                  <a:ext cx="8866" cy="322"/>
                </a:xfrm>
                <a:prstGeom prst="rect">
                  <a:avLst/>
                </a:prstGeom>
                <a:solidFill>
                  <a:srgbClr val="BFE5FF"/>
                </a:solidFill>
                <a:ln w="6350">
                  <a:solidFill>
                    <a:srgbClr val="BFE5FF"/>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市场智慧运营驾驶舱</a:t>
                  </a:r>
                  <a:endParaRPr kumimoji="1" lang="zh-CN"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75" name="矩形 274"/>
                <p:cNvSpPr/>
                <p:nvPr/>
              </p:nvSpPr>
              <p:spPr>
                <a:xfrm>
                  <a:off x="3339" y="5007"/>
                  <a:ext cx="8865" cy="368"/>
                </a:xfrm>
                <a:prstGeom prst="rect">
                  <a:avLst/>
                </a:prstGeom>
                <a:solidFill>
                  <a:sysClr val="window" lastClr="FFFFFF"/>
                </a:solidFill>
                <a:ln w="3175" cap="flat" cmpd="sng" algn="ctr">
                  <a:solidFill>
                    <a:srgbClr val="BFE5FF"/>
                  </a:solidFill>
                  <a:prstDash val="solid"/>
                </a:ln>
                <a:effectLst/>
              </p:spPr>
              <p:txBody>
                <a:bodyPr lIns="48000" tIns="0" rIns="48000" bIns="0"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rPr>
                    <a:t>打造智能驾驶舱，决策指挥、动态监控</a:t>
                  </a:r>
                  <a:r>
                    <a:rPr kumimoji="1" lang="en-US" altLang="zh-CN" sz="11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rPr>
                    <a:t>……</a:t>
                  </a:r>
                  <a:r>
                    <a:rPr kumimoji="1" lang="zh-CN" altLang="en-US" sz="11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rPr>
                    <a:t> </a:t>
                  </a:r>
                  <a:endParaRPr kumimoji="1" lang="zh-CN" altLang="en-US" sz="11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endParaRPr>
                </a:p>
              </p:txBody>
            </p:sp>
          </p:grpSp>
          <p:sp>
            <p:nvSpPr>
              <p:cNvPr id="303" name="虚尾箭头 302"/>
              <p:cNvSpPr/>
              <p:nvPr/>
            </p:nvSpPr>
            <p:spPr>
              <a:xfrm rot="5400000">
                <a:off x="2771" y="5504"/>
                <a:ext cx="359" cy="547"/>
              </a:xfrm>
              <a:prstGeom prst="stripedRightArrow">
                <a:avLst>
                  <a:gd name="adj1" fmla="val 50000"/>
                  <a:gd name="adj2" fmla="val 49855"/>
                </a:avLst>
              </a:prstGeom>
              <a:solidFill>
                <a:srgbClr val="00B0F0"/>
              </a:solidFill>
              <a:ln>
                <a:solidFill>
                  <a:srgbClr val="00B0F0"/>
                </a:solidFill>
              </a:ln>
            </p:spPr>
            <p:txBody>
              <a:bodyPr wrap="square" lIns="162592" tIns="81296" rIns="162592" bIns="81296" rtlCol="0" anchor="ctr">
                <a:noAutofit/>
              </a:bodyPr>
              <a:p>
                <a:pPr algn="ctr"/>
                <a:endParaRPr kumimoji="1" lang="zh-CN" altLang="en-US" sz="16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05" name="虚尾箭头 57"/>
              <p:cNvSpPr/>
              <p:nvPr/>
            </p:nvSpPr>
            <p:spPr>
              <a:xfrm rot="16200000">
                <a:off x="13882" y="5661"/>
                <a:ext cx="420" cy="470"/>
              </a:xfrm>
              <a:prstGeom prst="stripedRightArrow">
                <a:avLst/>
              </a:prstGeom>
              <a:solidFill>
                <a:schemeClr val="accent1">
                  <a:lumMod val="60000"/>
                  <a:lumOff val="40000"/>
                </a:schemeClr>
              </a:solidFill>
              <a:ln>
                <a:solidFill>
                  <a:schemeClr val="accent1">
                    <a:lumMod val="60000"/>
                    <a:lumOff val="40000"/>
                  </a:schemeClr>
                </a:solidFill>
              </a:ln>
            </p:spPr>
            <p:txBody>
              <a:bodyPr wrap="square" lIns="162592" tIns="81296" rIns="162592" bIns="81296" rtlCol="0" anchor="ctr">
                <a:noAutofit/>
              </a:bodyPr>
              <a:p>
                <a:pPr algn="ctr"/>
                <a:endParaRPr kumimoji="1" lang="zh-CN" altLang="en-US" sz="16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07" name="文本框 306"/>
              <p:cNvSpPr txBox="1"/>
              <p:nvPr/>
            </p:nvSpPr>
            <p:spPr>
              <a:xfrm>
                <a:off x="2801" y="5085"/>
                <a:ext cx="1247" cy="578"/>
              </a:xfrm>
              <a:prstGeom prst="rect">
                <a:avLst/>
              </a:prstGeom>
              <a:noFill/>
            </p:spPr>
            <p:txBody>
              <a:bodyPr wrap="square" rtlCol="0">
                <a:spAutoFit/>
              </a:bodyPr>
              <a:p>
                <a:pPr algn="ctr"/>
                <a:r>
                  <a:rPr kumimoji="1" lang="zh-CN" sz="900" b="1" dirty="0">
                    <a:solidFill>
                      <a:srgbClr val="0070BF"/>
                    </a:solidFill>
                    <a:latin typeface="微软雅黑" panose="020B0503020204020204" pitchFamily="34" charset="-122"/>
                    <a:ea typeface="微软雅黑" panose="020B0503020204020204" pitchFamily="34" charset="-122"/>
                    <a:cs typeface="微软雅黑" panose="020B0503020204020204" pitchFamily="34" charset="-122"/>
                  </a:rPr>
                  <a:t>经营决策</a:t>
                </a:r>
                <a:endParaRPr kumimoji="1" lang="zh-CN" sz="900" b="1" dirty="0">
                  <a:solidFill>
                    <a:srgbClr val="0070BF"/>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kumimoji="1" lang="zh-CN" sz="900" b="1" dirty="0">
                    <a:solidFill>
                      <a:srgbClr val="0070BF"/>
                    </a:solidFill>
                    <a:latin typeface="微软雅黑" panose="020B0503020204020204" pitchFamily="34" charset="-122"/>
                    <a:ea typeface="微软雅黑" panose="020B0503020204020204" pitchFamily="34" charset="-122"/>
                    <a:cs typeface="微软雅黑" panose="020B0503020204020204" pitchFamily="34" charset="-122"/>
                  </a:rPr>
                  <a:t>目标制定</a:t>
                </a:r>
                <a:endParaRPr kumimoji="1" lang="zh-CN" sz="900" b="1" dirty="0">
                  <a:solidFill>
                    <a:srgbClr val="0070B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0" name="文本框 309"/>
              <p:cNvSpPr txBox="1"/>
              <p:nvPr/>
            </p:nvSpPr>
            <p:spPr>
              <a:xfrm>
                <a:off x="13497" y="5018"/>
                <a:ext cx="1180" cy="578"/>
              </a:xfrm>
              <a:prstGeom prst="rect">
                <a:avLst/>
              </a:prstGeom>
              <a:noFill/>
            </p:spPr>
            <p:txBody>
              <a:bodyPr wrap="square" rtlCol="0">
                <a:spAutoFit/>
              </a:bodyPr>
              <a:p>
                <a:pPr algn="ctr"/>
                <a:r>
                  <a:rPr kumimoji="1" lang="zh-CN" sz="900" b="1" dirty="0">
                    <a:solidFill>
                      <a:srgbClr val="0070BF"/>
                    </a:solidFill>
                    <a:latin typeface="微软雅黑" panose="020B0503020204020204" pitchFamily="34" charset="-122"/>
                    <a:ea typeface="微软雅黑" panose="020B0503020204020204" pitchFamily="34" charset="-122"/>
                    <a:cs typeface="微软雅黑" panose="020B0503020204020204" pitchFamily="34" charset="-122"/>
                  </a:rPr>
                  <a:t>监控调度</a:t>
                </a:r>
                <a:endParaRPr kumimoji="1" lang="zh-CN" sz="900" b="1" dirty="0">
                  <a:solidFill>
                    <a:srgbClr val="0070BF"/>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kumimoji="1" lang="zh-CN" sz="900" b="1" dirty="0">
                    <a:solidFill>
                      <a:srgbClr val="0070BF"/>
                    </a:solidFill>
                    <a:latin typeface="微软雅黑" panose="020B0503020204020204" pitchFamily="34" charset="-122"/>
                    <a:ea typeface="微软雅黑" panose="020B0503020204020204" pitchFamily="34" charset="-122"/>
                    <a:cs typeface="微软雅黑" panose="020B0503020204020204" pitchFamily="34" charset="-122"/>
                  </a:rPr>
                  <a:t>效果评估</a:t>
                </a:r>
                <a:endParaRPr kumimoji="1" lang="zh-CN" sz="900" b="1" dirty="0">
                  <a:solidFill>
                    <a:srgbClr val="0070B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6" name="文本框 325"/>
              <p:cNvSpPr txBox="1"/>
              <p:nvPr/>
            </p:nvSpPr>
            <p:spPr>
              <a:xfrm>
                <a:off x="15055" y="4859"/>
                <a:ext cx="1511" cy="432"/>
              </a:xfrm>
              <a:prstGeom prst="rect">
                <a:avLst/>
              </a:prstGeom>
              <a:noFill/>
            </p:spPr>
            <p:txBody>
              <a:bodyPr wrap="square" rtlCol="0" anchor="t">
                <a:spAutoFit/>
              </a:bodyPr>
              <a:p>
                <a:pPr algn="l"/>
                <a:r>
                  <a:rPr lang="zh-CN" sz="1200" b="1">
                    <a:solidFill>
                      <a:srgbClr val="C00000"/>
                    </a:solidFill>
                    <a:latin typeface="微软雅黑" panose="020B0503020204020204" pitchFamily="34" charset="-122"/>
                    <a:ea typeface="微软雅黑" panose="020B0503020204020204" pitchFamily="34" charset="-122"/>
                    <a:sym typeface="+mn-ea"/>
                  </a:rPr>
                  <a:t>②</a:t>
                </a:r>
                <a:r>
                  <a:rPr lang="zh-CN" sz="1200" b="1">
                    <a:solidFill>
                      <a:srgbClr val="0070BF"/>
                    </a:solidFill>
                    <a:latin typeface="微软雅黑" panose="020B0503020204020204" pitchFamily="34" charset="-122"/>
                    <a:ea typeface="微软雅黑" panose="020B0503020204020204" pitchFamily="34" charset="-122"/>
                    <a:sym typeface="+mn-ea"/>
                  </a:rPr>
                  <a:t>数据贯通</a:t>
                </a:r>
                <a:endParaRPr kumimoji="1" lang="zh-CN" altLang="en-US" sz="1200" b="1" dirty="0" smtClean="0">
                  <a:solidFill>
                    <a:srgbClr val="0070BF"/>
                  </a:solidFill>
                  <a:latin typeface="微软雅黑" panose="020B0503020204020204" pitchFamily="34" charset="-122"/>
                  <a:ea typeface="微软雅黑" panose="020B0503020204020204" pitchFamily="34" charset="-122"/>
                  <a:sym typeface="+mn-ea"/>
                </a:endParaRPr>
              </a:p>
            </p:txBody>
          </p:sp>
          <p:sp>
            <p:nvSpPr>
              <p:cNvPr id="327" name="文本框 326"/>
              <p:cNvSpPr txBox="1"/>
              <p:nvPr/>
            </p:nvSpPr>
            <p:spPr>
              <a:xfrm>
                <a:off x="15054" y="5313"/>
                <a:ext cx="1599" cy="1830"/>
              </a:xfrm>
              <a:prstGeom prst="rect">
                <a:avLst/>
              </a:prstGeom>
              <a:noFill/>
            </p:spPr>
            <p:txBody>
              <a:bodyPr wrap="square" rtlCol="0" anchor="t">
                <a:noAutofit/>
              </a:bodyPr>
              <a:p>
                <a:pPr lvl="0" algn="l" latinLnBrk="1" hangingPunct="0">
                  <a:spcBef>
                    <a:spcPts val="0"/>
                  </a:spcBef>
                  <a:spcAft>
                    <a:spcPts val="0"/>
                  </a:spcAft>
                  <a:buClrTx/>
                  <a:buSzTx/>
                  <a:buFontTx/>
                </a:pPr>
                <a:r>
                  <a:rPr lang="zh-CN" sz="900" b="1">
                    <a:solidFill>
                      <a:schemeClr val="accent1"/>
                    </a:solidFill>
                    <a:latin typeface="微软雅黑" panose="020B0503020204020204" pitchFamily="34" charset="-122"/>
                    <a:ea typeface="微软雅黑" panose="020B0503020204020204" pitchFamily="34" charset="-122"/>
                    <a:sym typeface="+mn-ea"/>
                  </a:rPr>
                  <a:t>以</a:t>
                </a:r>
                <a:r>
                  <a:rPr lang="zh-CN" sz="900" b="1">
                    <a:solidFill>
                      <a:srgbClr val="C00000"/>
                    </a:solidFill>
                    <a:latin typeface="微软雅黑" panose="020B0503020204020204" pitchFamily="34" charset="-122"/>
                    <a:ea typeface="微软雅黑" panose="020B0503020204020204" pitchFamily="34" charset="-122"/>
                    <a:sym typeface="+mn-ea"/>
                  </a:rPr>
                  <a:t>数源治理、数融治理、数运治理</a:t>
                </a:r>
                <a:r>
                  <a:rPr lang="zh-CN" sz="900" b="1">
                    <a:solidFill>
                      <a:schemeClr val="accent1"/>
                    </a:solidFill>
                    <a:latin typeface="微软雅黑" panose="020B0503020204020204" pitchFamily="34" charset="-122"/>
                    <a:ea typeface="微软雅黑" panose="020B0503020204020204" pitchFamily="34" charset="-122"/>
                    <a:sym typeface="+mn-ea"/>
                  </a:rPr>
                  <a:t>为方向，实现生产与分析数据互融互通，共筑一张数据地图</a:t>
                </a:r>
                <a:endParaRPr lang="zh-CN" sz="900" b="1">
                  <a:solidFill>
                    <a:schemeClr val="accent1"/>
                  </a:solidFill>
                  <a:latin typeface="微软雅黑" panose="020B0503020204020204" pitchFamily="34" charset="-122"/>
                  <a:ea typeface="微软雅黑" panose="020B0503020204020204" pitchFamily="34" charset="-122"/>
                  <a:sym typeface="+mn-ea"/>
                </a:endParaRPr>
              </a:p>
            </p:txBody>
          </p:sp>
          <p:sp>
            <p:nvSpPr>
              <p:cNvPr id="328" name="文本框 327"/>
              <p:cNvSpPr txBox="1"/>
              <p:nvPr/>
            </p:nvSpPr>
            <p:spPr>
              <a:xfrm>
                <a:off x="15022" y="7304"/>
                <a:ext cx="1631" cy="432"/>
              </a:xfrm>
              <a:prstGeom prst="rect">
                <a:avLst/>
              </a:prstGeom>
              <a:noFill/>
            </p:spPr>
            <p:txBody>
              <a:bodyPr wrap="square" rtlCol="0" anchor="t">
                <a:spAutoFit/>
              </a:bodyPr>
              <a:p>
                <a:pPr algn="l"/>
                <a:r>
                  <a:rPr lang="zh-CN" sz="1200" b="1">
                    <a:solidFill>
                      <a:srgbClr val="C00000"/>
                    </a:solidFill>
                    <a:latin typeface="微软雅黑" panose="020B0503020204020204" pitchFamily="34" charset="-122"/>
                    <a:ea typeface="微软雅黑" panose="020B0503020204020204" pitchFamily="34" charset="-122"/>
                    <a:sym typeface="+mn-ea"/>
                  </a:rPr>
                  <a:t>③</a:t>
                </a:r>
                <a:r>
                  <a:rPr lang="zh-CN" sz="1200" b="1">
                    <a:solidFill>
                      <a:srgbClr val="0070BF"/>
                    </a:solidFill>
                    <a:latin typeface="微软雅黑" panose="020B0503020204020204" pitchFamily="34" charset="-122"/>
                    <a:ea typeface="微软雅黑" panose="020B0503020204020204" pitchFamily="34" charset="-122"/>
                    <a:sym typeface="+mn-ea"/>
                  </a:rPr>
                  <a:t>流程治理</a:t>
                </a:r>
                <a:endParaRPr kumimoji="1" lang="zh-CN" altLang="en-US" sz="1200" b="1" dirty="0" smtClean="0">
                  <a:solidFill>
                    <a:srgbClr val="0070BF"/>
                  </a:solidFill>
                  <a:latin typeface="微软雅黑" panose="020B0503020204020204" pitchFamily="34" charset="-122"/>
                  <a:ea typeface="微软雅黑" panose="020B0503020204020204" pitchFamily="34" charset="-122"/>
                  <a:sym typeface="+mn-ea"/>
                </a:endParaRPr>
              </a:p>
            </p:txBody>
          </p:sp>
          <p:sp>
            <p:nvSpPr>
              <p:cNvPr id="330" name="文本框 329"/>
              <p:cNvSpPr txBox="1"/>
              <p:nvPr/>
            </p:nvSpPr>
            <p:spPr>
              <a:xfrm>
                <a:off x="17028" y="4869"/>
                <a:ext cx="1401" cy="432"/>
              </a:xfrm>
              <a:prstGeom prst="rect">
                <a:avLst/>
              </a:prstGeom>
              <a:noFill/>
            </p:spPr>
            <p:txBody>
              <a:bodyPr wrap="square" rtlCol="0" anchor="t">
                <a:spAutoFit/>
              </a:bodyPr>
              <a:p>
                <a:pPr algn="l"/>
                <a:r>
                  <a:rPr lang="zh-CN" altLang="en-US" sz="1200" b="1">
                    <a:solidFill>
                      <a:srgbClr val="C00000"/>
                    </a:solidFill>
                    <a:latin typeface="微软雅黑" panose="020B0503020204020204" pitchFamily="34" charset="-122"/>
                    <a:ea typeface="微软雅黑" panose="020B0503020204020204" pitchFamily="34" charset="-122"/>
                    <a:sym typeface="+mn-ea"/>
                  </a:rPr>
                  <a:t>④</a:t>
                </a:r>
                <a:r>
                  <a:rPr lang="en-US" altLang="zh-CN" sz="1200" b="1">
                    <a:solidFill>
                      <a:srgbClr val="0070BF"/>
                    </a:solidFill>
                    <a:latin typeface="微软雅黑" panose="020B0503020204020204" pitchFamily="34" charset="-122"/>
                    <a:ea typeface="微软雅黑" panose="020B0503020204020204" pitchFamily="34" charset="-122"/>
                    <a:sym typeface="+mn-ea"/>
                  </a:rPr>
                  <a:t>AI</a:t>
                </a:r>
                <a:r>
                  <a:rPr lang="zh-CN" altLang="en-US" sz="1200" b="1">
                    <a:solidFill>
                      <a:srgbClr val="0070BF"/>
                    </a:solidFill>
                    <a:latin typeface="微软雅黑" panose="020B0503020204020204" pitchFamily="34" charset="-122"/>
                    <a:ea typeface="微软雅黑" panose="020B0503020204020204" pitchFamily="34" charset="-122"/>
                    <a:sym typeface="+mn-ea"/>
                  </a:rPr>
                  <a:t>赋能</a:t>
                </a:r>
                <a:endParaRPr kumimoji="1" lang="zh-CN" altLang="en-US" sz="1200" b="1" dirty="0" smtClean="0">
                  <a:solidFill>
                    <a:srgbClr val="0070BF"/>
                  </a:solidFill>
                  <a:latin typeface="微软雅黑" panose="020B0503020204020204" pitchFamily="34" charset="-122"/>
                  <a:ea typeface="微软雅黑" panose="020B0503020204020204" pitchFamily="34" charset="-122"/>
                  <a:sym typeface="+mn-ea"/>
                </a:endParaRPr>
              </a:p>
            </p:txBody>
          </p:sp>
          <p:sp>
            <p:nvSpPr>
              <p:cNvPr id="336" name="矩形 335"/>
              <p:cNvSpPr/>
              <p:nvPr/>
            </p:nvSpPr>
            <p:spPr>
              <a:xfrm>
                <a:off x="1172" y="6308"/>
                <a:ext cx="1695" cy="928"/>
              </a:xfrm>
              <a:prstGeom prst="rect">
                <a:avLst/>
              </a:prstGeom>
            </p:spPr>
            <p:txBody>
              <a:bodyPr wrap="square">
                <a:spAutoFit/>
              </a:bodyPr>
              <a:p>
                <a:pPr marL="0" marR="0" lvl="0" indent="0" algn="ctr" defTabSz="457200" rtl="0" fontAlgn="auto">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运营支撑人员</a:t>
                </a:r>
                <a:endParaRPr kumimoji="0"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457200" rtl="0" fontAlgn="auto">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中屏</a:t>
                </a:r>
                <a:endParaRPr kumimoji="0" lang="zh-CN" altLang="en-US" sz="105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457200" rtl="0" fontAlgn="auto">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一屏通管</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47" name="组合 46"/>
              <p:cNvGrpSpPr/>
              <p:nvPr/>
            </p:nvGrpSpPr>
            <p:grpSpPr>
              <a:xfrm>
                <a:off x="1104" y="3308"/>
                <a:ext cx="2660" cy="1247"/>
                <a:chOff x="844" y="3308"/>
                <a:chExt cx="2660" cy="1247"/>
              </a:xfrm>
            </p:grpSpPr>
            <p:sp>
              <p:nvSpPr>
                <p:cNvPr id="36" name="文本框 35"/>
                <p:cNvSpPr txBox="1"/>
                <p:nvPr/>
              </p:nvSpPr>
              <p:spPr>
                <a:xfrm>
                  <a:off x="844" y="3543"/>
                  <a:ext cx="1553" cy="1012"/>
                </a:xfrm>
                <a:prstGeom prst="rect">
                  <a:avLst/>
                </a:prstGeom>
                <a:noFill/>
              </p:spPr>
              <p:txBody>
                <a:bodyPr wrap="square" rtlCol="0" anchor="t">
                  <a:spAutoFit/>
                </a:bodyPr>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产品</a:t>
                  </a:r>
                  <a:r>
                    <a:rPr kumimoji="1" lang="en-US" altLang="zh-CN" sz="900" dirty="0" smtClean="0">
                      <a:latin typeface="微软雅黑" panose="020B0503020204020204" pitchFamily="34" charset="-122"/>
                      <a:ea typeface="微软雅黑" panose="020B0503020204020204" pitchFamily="34" charset="-122"/>
                      <a:sym typeface="+mn-ea"/>
                    </a:rPr>
                    <a:t>AI</a:t>
                  </a:r>
                  <a:r>
                    <a:rPr kumimoji="1" lang="zh-CN" altLang="en-US" sz="900" dirty="0" smtClean="0">
                      <a:latin typeface="微软雅黑" panose="020B0503020204020204" pitchFamily="34" charset="-122"/>
                      <a:ea typeface="微软雅黑" panose="020B0503020204020204" pitchFamily="34" charset="-122"/>
                      <a:sym typeface="+mn-ea"/>
                    </a:rPr>
                    <a:t>化</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细分原子产品库</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产品科学定价</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en-US" altLang="zh-CN" sz="900" dirty="0" smtClean="0">
                      <a:latin typeface="微软雅黑" panose="020B0503020204020204" pitchFamily="34" charset="-122"/>
                      <a:ea typeface="微软雅黑" panose="020B0503020204020204" pitchFamily="34" charset="-122"/>
                      <a:sym typeface="+mn-ea"/>
                    </a:rPr>
                    <a:t>......</a:t>
                  </a:r>
                  <a:endParaRPr kumimoji="1" lang="en-US" altLang="zh-CN" sz="900" dirty="0" smtClean="0">
                    <a:latin typeface="微软雅黑" panose="020B0503020204020204" pitchFamily="34" charset="-122"/>
                    <a:ea typeface="微软雅黑" panose="020B0503020204020204" pitchFamily="34" charset="-122"/>
                    <a:sym typeface="+mn-ea"/>
                  </a:endParaRPr>
                </a:p>
              </p:txBody>
            </p:sp>
            <p:grpSp>
              <p:nvGrpSpPr>
                <p:cNvPr id="46" name="组合 45"/>
                <p:cNvGrpSpPr/>
                <p:nvPr/>
              </p:nvGrpSpPr>
              <p:grpSpPr>
                <a:xfrm>
                  <a:off x="956" y="3308"/>
                  <a:ext cx="2548" cy="826"/>
                  <a:chOff x="956" y="3308"/>
                  <a:chExt cx="2548" cy="826"/>
                </a:xfrm>
              </p:grpSpPr>
              <p:sp>
                <p:nvSpPr>
                  <p:cNvPr id="160" name="圆角矩形 16"/>
                  <p:cNvSpPr/>
                  <p:nvPr>
                    <p:custDataLst>
                      <p:tags r:id="rId6"/>
                    </p:custDataLst>
                  </p:nvPr>
                </p:nvSpPr>
                <p:spPr>
                  <a:xfrm>
                    <a:off x="956" y="3308"/>
                    <a:ext cx="2548" cy="267"/>
                  </a:xfrm>
                  <a:prstGeom prst="roundRect">
                    <a:avLst>
                      <a:gd name="adj" fmla="val 778"/>
                    </a:avLst>
                  </a:prstGeom>
                  <a:solidFill>
                    <a:schemeClr val="bg1">
                      <a:alpha val="70000"/>
                    </a:schemeClr>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功能价值提升</a:t>
                    </a:r>
                    <a:endPar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7" name="文本框 36"/>
                  <p:cNvSpPr txBox="1"/>
                  <p:nvPr/>
                </p:nvSpPr>
                <p:spPr>
                  <a:xfrm>
                    <a:off x="1081" y="3773"/>
                    <a:ext cx="1778" cy="361"/>
                  </a:xfrm>
                  <a:prstGeom prst="rect">
                    <a:avLst/>
                  </a:prstGeom>
                  <a:noFill/>
                </p:spPr>
                <p:txBody>
                  <a:bodyPr wrap="square" rtlCol="0" anchor="t">
                    <a:spAutoFit/>
                  </a:bodyPr>
                  <a:p>
                    <a:pPr lvl="0" algn="ctr">
                      <a:buClrTx/>
                      <a:buSzTx/>
                      <a:buFontTx/>
                    </a:pPr>
                    <a:r>
                      <a:rPr kumimoji="1" lang="en-US" altLang="zh-CN" sz="900" dirty="0" smtClean="0">
                        <a:latin typeface="微软雅黑" panose="020B0503020204020204" pitchFamily="34" charset="-122"/>
                        <a:ea typeface="微软雅黑" panose="020B0503020204020204" pitchFamily="34" charset="-122"/>
                        <a:sym typeface="+mn-ea"/>
                      </a:rPr>
                      <a:t>......</a:t>
                    </a:r>
                    <a:endParaRPr kumimoji="1" lang="en-US" altLang="zh-CN" sz="900" dirty="0" smtClean="0">
                      <a:latin typeface="微软雅黑" panose="020B0503020204020204" pitchFamily="34" charset="-122"/>
                      <a:ea typeface="微软雅黑" panose="020B0503020204020204" pitchFamily="34" charset="-122"/>
                      <a:sym typeface="+mn-ea"/>
                    </a:endParaRPr>
                  </a:p>
                </p:txBody>
              </p:sp>
            </p:grpSp>
          </p:grpSp>
          <p:grpSp>
            <p:nvGrpSpPr>
              <p:cNvPr id="44" name="组合 43"/>
              <p:cNvGrpSpPr/>
              <p:nvPr/>
            </p:nvGrpSpPr>
            <p:grpSpPr>
              <a:xfrm>
                <a:off x="4048" y="3324"/>
                <a:ext cx="3935" cy="1279"/>
                <a:chOff x="3554" y="3324"/>
                <a:chExt cx="3935" cy="1279"/>
              </a:xfrm>
            </p:grpSpPr>
            <p:sp>
              <p:nvSpPr>
                <p:cNvPr id="38" name="圆角矩形 16"/>
                <p:cNvSpPr/>
                <p:nvPr>
                  <p:custDataLst>
                    <p:tags r:id="rId7"/>
                  </p:custDataLst>
                </p:nvPr>
              </p:nvSpPr>
              <p:spPr>
                <a:xfrm>
                  <a:off x="3554" y="3324"/>
                  <a:ext cx="2245" cy="219"/>
                </a:xfrm>
                <a:prstGeom prst="roundRect">
                  <a:avLst>
                    <a:gd name="adj" fmla="val 778"/>
                  </a:avLst>
                </a:prstGeom>
                <a:solidFill>
                  <a:schemeClr val="bg1">
                    <a:alpha val="70000"/>
                  </a:schemeClr>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体验价值提升</a:t>
                  </a:r>
                  <a:endPar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9" name="文本框 38"/>
                <p:cNvSpPr txBox="1"/>
                <p:nvPr/>
              </p:nvSpPr>
              <p:spPr>
                <a:xfrm>
                  <a:off x="5860" y="3591"/>
                  <a:ext cx="1629" cy="1012"/>
                </a:xfrm>
                <a:prstGeom prst="rect">
                  <a:avLst/>
                </a:prstGeom>
                <a:noFill/>
              </p:spPr>
              <p:txBody>
                <a:bodyPr wrap="square" rtlCol="0" anchor="t">
                  <a:spAutoFit/>
                </a:bodyPr>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全球通升级行动</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网龄回馈行动</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爱家融合行动</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en-US" altLang="zh-CN" sz="900" dirty="0" smtClean="0">
                      <a:latin typeface="微软雅黑" panose="020B0503020204020204" pitchFamily="34" charset="-122"/>
                      <a:ea typeface="微软雅黑" panose="020B0503020204020204" pitchFamily="34" charset="-122"/>
                      <a:sym typeface="+mn-ea"/>
                    </a:rPr>
                    <a:t>.....</a:t>
                  </a:r>
                  <a:endParaRPr kumimoji="1" lang="en-US" altLang="zh-CN" sz="900" dirty="0" smtClean="0">
                    <a:latin typeface="微软雅黑" panose="020B0503020204020204" pitchFamily="34" charset="-122"/>
                    <a:ea typeface="微软雅黑" panose="020B0503020204020204" pitchFamily="34" charset="-122"/>
                    <a:sym typeface="+mn-ea"/>
                  </a:endParaRPr>
                </a:p>
              </p:txBody>
            </p:sp>
          </p:grpSp>
          <p:sp>
            <p:nvSpPr>
              <p:cNvPr id="40" name="圆角矩形 16"/>
              <p:cNvSpPr/>
              <p:nvPr>
                <p:custDataLst>
                  <p:tags r:id="rId8"/>
                </p:custDataLst>
              </p:nvPr>
            </p:nvSpPr>
            <p:spPr>
              <a:xfrm>
                <a:off x="6614" y="3331"/>
                <a:ext cx="2660" cy="241"/>
              </a:xfrm>
              <a:prstGeom prst="roundRect">
                <a:avLst>
                  <a:gd name="adj" fmla="val 778"/>
                </a:avLst>
              </a:prstGeom>
              <a:solidFill>
                <a:schemeClr val="bg1">
                  <a:alpha val="70000"/>
                </a:schemeClr>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情绪价值提升</a:t>
                </a:r>
                <a:endPar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0" name="文本框 49"/>
              <p:cNvSpPr txBox="1"/>
              <p:nvPr/>
            </p:nvSpPr>
            <p:spPr>
              <a:xfrm>
                <a:off x="7913" y="3572"/>
                <a:ext cx="1393" cy="1012"/>
              </a:xfrm>
              <a:prstGeom prst="rect">
                <a:avLst/>
              </a:prstGeom>
              <a:noFill/>
            </p:spPr>
            <p:txBody>
              <a:bodyPr wrap="square" rtlCol="0" anchor="t">
                <a:spAutoFit/>
              </a:bodyPr>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家庭融合运营国际市场拓展</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大湾区一体化</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en-US" altLang="zh-CN" sz="900" dirty="0" smtClean="0">
                    <a:latin typeface="微软雅黑" panose="020B0503020204020204" pitchFamily="34" charset="-122"/>
                    <a:ea typeface="微软雅黑" panose="020B0503020204020204" pitchFamily="34" charset="-122"/>
                    <a:sym typeface="+mn-ea"/>
                  </a:rPr>
                  <a:t>.....</a:t>
                </a:r>
                <a:endParaRPr kumimoji="1" lang="en-US" altLang="zh-CN" sz="900" dirty="0" smtClean="0">
                  <a:latin typeface="微软雅黑" panose="020B0503020204020204" pitchFamily="34" charset="-122"/>
                  <a:ea typeface="微软雅黑" panose="020B0503020204020204" pitchFamily="34" charset="-122"/>
                  <a:sym typeface="+mn-ea"/>
                </a:endParaRPr>
              </a:p>
            </p:txBody>
          </p:sp>
          <p:sp>
            <p:nvSpPr>
              <p:cNvPr id="53" name="圆角矩形 16"/>
              <p:cNvSpPr/>
              <p:nvPr>
                <p:custDataLst>
                  <p:tags r:id="rId9"/>
                </p:custDataLst>
              </p:nvPr>
            </p:nvSpPr>
            <p:spPr>
              <a:xfrm>
                <a:off x="10254" y="3330"/>
                <a:ext cx="1883" cy="241"/>
              </a:xfrm>
              <a:prstGeom prst="roundRect">
                <a:avLst>
                  <a:gd name="adj" fmla="val 778"/>
                </a:avLst>
              </a:prstGeom>
              <a:solidFill>
                <a:schemeClr val="bg1">
                  <a:alpha val="70000"/>
                </a:schemeClr>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智能决策</a:t>
                </a:r>
                <a:endParaRPr kumimoji="0" 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5" name="文本框 54"/>
              <p:cNvSpPr txBox="1"/>
              <p:nvPr/>
            </p:nvSpPr>
            <p:spPr>
              <a:xfrm>
                <a:off x="3796" y="3527"/>
                <a:ext cx="1387" cy="1012"/>
              </a:xfrm>
              <a:prstGeom prst="rect">
                <a:avLst/>
              </a:prstGeom>
              <a:noFill/>
            </p:spPr>
            <p:txBody>
              <a:bodyPr wrap="square" rtlCol="0" anchor="t">
                <a:spAutoFit/>
              </a:bodyPr>
              <a:p>
                <a:pPr lvl="0" algn="ctr">
                  <a:buClrTx/>
                  <a:buSzTx/>
                  <a:buFontTx/>
                </a:pPr>
                <a:r>
                  <a:rPr kumimoji="1" lang="zh-CN" sz="900" dirty="0" smtClean="0">
                    <a:latin typeface="微软雅黑" panose="020B0503020204020204" pitchFamily="34" charset="-122"/>
                    <a:ea typeface="微软雅黑" panose="020B0503020204020204" pitchFamily="34" charset="-122"/>
                    <a:sym typeface="+mn-ea"/>
                  </a:rPr>
                  <a:t>三大入驻</a:t>
                </a:r>
                <a:endParaRPr kumimoji="1" lang="zh-CN"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en-US" altLang="zh-CN" sz="900" dirty="0" smtClean="0">
                    <a:latin typeface="微软雅黑" panose="020B0503020204020204" pitchFamily="34" charset="-122"/>
                    <a:ea typeface="微软雅黑" panose="020B0503020204020204" pitchFamily="34" charset="-122"/>
                    <a:sym typeface="+mn-ea"/>
                  </a:rPr>
                  <a:t>1+N</a:t>
                </a:r>
                <a:r>
                  <a:rPr kumimoji="1" lang="zh-CN" altLang="en-US" sz="900" dirty="0" smtClean="0">
                    <a:latin typeface="微软雅黑" panose="020B0503020204020204" pitchFamily="34" charset="-122"/>
                    <a:ea typeface="微软雅黑" panose="020B0503020204020204" pitchFamily="34" charset="-122"/>
                    <a:sym typeface="+mn-ea"/>
                  </a:rPr>
                  <a:t>引流</a:t>
                </a:r>
                <a:endParaRPr kumimoji="1" lang="zh-CN"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sz="900" dirty="0" smtClean="0">
                    <a:latin typeface="微软雅黑" panose="020B0503020204020204" pitchFamily="34" charset="-122"/>
                    <a:ea typeface="微软雅黑" panose="020B0503020204020204" pitchFamily="34" charset="-122"/>
                    <a:sym typeface="+mn-ea"/>
                  </a:rPr>
                  <a:t>灵犀智能体</a:t>
                </a:r>
                <a:endParaRPr kumimoji="1" lang="zh-CN"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en-US" altLang="zh-CN" sz="900" dirty="0" smtClean="0">
                    <a:latin typeface="微软雅黑" panose="020B0503020204020204" pitchFamily="34" charset="-122"/>
                    <a:ea typeface="微软雅黑" panose="020B0503020204020204" pitchFamily="34" charset="-122"/>
                    <a:sym typeface="+mn-ea"/>
                  </a:rPr>
                  <a:t>.....</a:t>
                </a:r>
                <a:endParaRPr kumimoji="1" lang="en-US" altLang="zh-CN" sz="900" dirty="0" smtClean="0">
                  <a:latin typeface="微软雅黑" panose="020B0503020204020204" pitchFamily="34" charset="-122"/>
                  <a:ea typeface="微软雅黑" panose="020B0503020204020204" pitchFamily="34" charset="-122"/>
                  <a:sym typeface="+mn-ea"/>
                </a:endParaRPr>
              </a:p>
            </p:txBody>
          </p:sp>
          <p:sp>
            <p:nvSpPr>
              <p:cNvPr id="58" name="文本框 57"/>
              <p:cNvSpPr txBox="1"/>
              <p:nvPr/>
            </p:nvSpPr>
            <p:spPr>
              <a:xfrm>
                <a:off x="4895" y="3527"/>
                <a:ext cx="1587" cy="1012"/>
              </a:xfrm>
              <a:prstGeom prst="rect">
                <a:avLst/>
              </a:prstGeom>
              <a:noFill/>
            </p:spPr>
            <p:txBody>
              <a:bodyPr wrap="square" rtlCol="0" anchor="t">
                <a:spAutoFit/>
              </a:bodyPr>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泛全联盟运营</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企微引流</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网格通结对</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en-US" altLang="zh-CN" sz="900" dirty="0" smtClean="0">
                    <a:latin typeface="微软雅黑" panose="020B0503020204020204" pitchFamily="34" charset="-122"/>
                    <a:ea typeface="微软雅黑" panose="020B0503020204020204" pitchFamily="34" charset="-122"/>
                    <a:sym typeface="+mn-ea"/>
                  </a:rPr>
                  <a:t>.....</a:t>
                </a:r>
                <a:endParaRPr kumimoji="1" lang="en-US" altLang="zh-CN" sz="900" dirty="0" smtClean="0">
                  <a:latin typeface="微软雅黑" panose="020B0503020204020204" pitchFamily="34" charset="-122"/>
                  <a:ea typeface="微软雅黑" panose="020B0503020204020204" pitchFamily="34" charset="-122"/>
                  <a:sym typeface="+mn-ea"/>
                </a:endParaRPr>
              </a:p>
            </p:txBody>
          </p:sp>
          <p:grpSp>
            <p:nvGrpSpPr>
              <p:cNvPr id="62" name="组合 61"/>
              <p:cNvGrpSpPr/>
              <p:nvPr/>
            </p:nvGrpSpPr>
            <p:grpSpPr>
              <a:xfrm>
                <a:off x="16679" y="3336"/>
                <a:ext cx="1990" cy="1231"/>
                <a:chOff x="3002" y="3524"/>
                <a:chExt cx="1844" cy="1231"/>
              </a:xfrm>
            </p:grpSpPr>
            <p:sp>
              <p:nvSpPr>
                <p:cNvPr id="63" name="圆角矩形 16"/>
                <p:cNvSpPr/>
                <p:nvPr>
                  <p:custDataLst>
                    <p:tags r:id="rId10"/>
                  </p:custDataLst>
                </p:nvPr>
              </p:nvSpPr>
              <p:spPr>
                <a:xfrm>
                  <a:off x="3128" y="3524"/>
                  <a:ext cx="1718" cy="219"/>
                </a:xfrm>
                <a:prstGeom prst="roundRect">
                  <a:avLst>
                    <a:gd name="adj" fmla="val 778"/>
                  </a:avLst>
                </a:prstGeom>
                <a:solidFill>
                  <a:schemeClr val="bg1">
                    <a:alpha val="70000"/>
                  </a:schemeClr>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渠道智能运营</a:t>
                  </a:r>
                  <a:endParaRPr kumimoji="1"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64" name="文本框 63"/>
                <p:cNvSpPr txBox="1"/>
                <p:nvPr/>
              </p:nvSpPr>
              <p:spPr>
                <a:xfrm>
                  <a:off x="3002" y="3743"/>
                  <a:ext cx="1778" cy="1012"/>
                </a:xfrm>
                <a:prstGeom prst="rect">
                  <a:avLst/>
                </a:prstGeom>
                <a:noFill/>
              </p:spPr>
              <p:txBody>
                <a:bodyPr wrap="square" rtlCol="0" anchor="t">
                  <a:spAutoFit/>
                </a:bodyPr>
                <a:p>
                  <a:pPr lvl="0" algn="ctr">
                    <a:buClrTx/>
                    <a:buSzTx/>
                    <a:buFontTx/>
                  </a:pPr>
                  <a:r>
                    <a:rPr kumimoji="1" lang="zh-CN" sz="900" dirty="0" smtClean="0">
                      <a:latin typeface="微软雅黑" panose="020B0503020204020204" pitchFamily="34" charset="-122"/>
                      <a:ea typeface="微软雅黑" panose="020B0503020204020204" pitchFamily="34" charset="-122"/>
                      <a:sym typeface="+mn-ea"/>
                    </a:rPr>
                    <a:t>触点统一管理</a:t>
                  </a:r>
                  <a:endParaRPr kumimoji="1" lang="zh-CN"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en-US" altLang="zh-CN" sz="900" dirty="0" smtClean="0">
                      <a:latin typeface="微软雅黑" panose="020B0503020204020204" pitchFamily="34" charset="-122"/>
                      <a:ea typeface="微软雅黑" panose="020B0503020204020204" pitchFamily="34" charset="-122"/>
                      <a:sym typeface="+mn-ea"/>
                    </a:rPr>
                    <a:t>1+N</a:t>
                  </a:r>
                  <a:r>
                    <a:rPr kumimoji="1" lang="zh-CN" altLang="en-US" sz="900" dirty="0" smtClean="0">
                      <a:latin typeface="微软雅黑" panose="020B0503020204020204" pitchFamily="34" charset="-122"/>
                      <a:ea typeface="微软雅黑" panose="020B0503020204020204" pitchFamily="34" charset="-122"/>
                      <a:sym typeface="+mn-ea"/>
                    </a:rPr>
                    <a:t>统一调度</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全网智能触达</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en-US" altLang="zh-CN" sz="900" dirty="0" smtClean="0">
                      <a:latin typeface="微软雅黑" panose="020B0503020204020204" pitchFamily="34" charset="-122"/>
                      <a:ea typeface="微软雅黑" panose="020B0503020204020204" pitchFamily="34" charset="-122"/>
                      <a:sym typeface="+mn-ea"/>
                    </a:rPr>
                    <a:t>.....</a:t>
                  </a:r>
                  <a:endParaRPr kumimoji="1" lang="en-US" altLang="zh-CN" sz="900" dirty="0" smtClean="0">
                    <a:latin typeface="微软雅黑" panose="020B0503020204020204" pitchFamily="34" charset="-122"/>
                    <a:ea typeface="微软雅黑" panose="020B0503020204020204" pitchFamily="34" charset="-122"/>
                    <a:sym typeface="+mn-ea"/>
                  </a:endParaRPr>
                </a:p>
              </p:txBody>
            </p:sp>
          </p:grpSp>
          <p:sp>
            <p:nvSpPr>
              <p:cNvPr id="8" name="文本框 7"/>
              <p:cNvSpPr txBox="1"/>
              <p:nvPr/>
            </p:nvSpPr>
            <p:spPr>
              <a:xfrm>
                <a:off x="16993" y="5330"/>
                <a:ext cx="1469" cy="1405"/>
              </a:xfrm>
              <a:prstGeom prst="rect">
                <a:avLst/>
              </a:prstGeom>
              <a:noFill/>
            </p:spPr>
            <p:txBody>
              <a:bodyPr wrap="square" rtlCol="0" anchor="t">
                <a:noAutofit/>
              </a:bodyPr>
              <a:p>
                <a:pPr lvl="0" algn="l" latinLnBrk="1" hangingPunct="0">
                  <a:spcBef>
                    <a:spcPts val="0"/>
                  </a:spcBef>
                  <a:spcAft>
                    <a:spcPts val="0"/>
                  </a:spcAft>
                  <a:buClrTx/>
                  <a:buSzTx/>
                  <a:buFontTx/>
                </a:pPr>
                <a:r>
                  <a:rPr lang="zh-CN" sz="900" b="1">
                    <a:solidFill>
                      <a:schemeClr val="accent1"/>
                    </a:solidFill>
                    <a:latin typeface="微软雅黑" panose="020B0503020204020204" pitchFamily="34" charset="-122"/>
                    <a:ea typeface="微软雅黑" panose="020B0503020204020204" pitchFamily="34" charset="-122"/>
                    <a:sym typeface="+mn-ea"/>
                  </a:rPr>
                  <a:t>打造</a:t>
                </a:r>
                <a:r>
                  <a:rPr lang="zh-CN" sz="900" b="1">
                    <a:solidFill>
                      <a:srgbClr val="C00000"/>
                    </a:solidFill>
                    <a:latin typeface="微软雅黑" panose="020B0503020204020204" pitchFamily="34" charset="-122"/>
                    <a:ea typeface="微软雅黑" panose="020B0503020204020204" pitchFamily="34" charset="-122"/>
                    <a:sym typeface="+mn-ea"/>
                  </a:rPr>
                  <a:t>智慧大脑</a:t>
                </a:r>
                <a:r>
                  <a:rPr lang="zh-CN" sz="900" b="1">
                    <a:solidFill>
                      <a:schemeClr val="accent1"/>
                    </a:solidFill>
                    <a:latin typeface="微软雅黑" panose="020B0503020204020204" pitchFamily="34" charset="-122"/>
                    <a:ea typeface="微软雅黑" panose="020B0503020204020204" pitchFamily="34" charset="-122"/>
                    <a:sym typeface="+mn-ea"/>
                  </a:rPr>
                  <a:t>，深度整合AI工具与智能体，创新开发多元化AI+应用</a:t>
                </a:r>
                <a:endParaRPr lang="zh-CN" sz="900" b="1">
                  <a:solidFill>
                    <a:schemeClr val="accent1"/>
                  </a:solidFill>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16939" y="7312"/>
                <a:ext cx="1543" cy="432"/>
              </a:xfrm>
              <a:prstGeom prst="rect">
                <a:avLst/>
              </a:prstGeom>
              <a:noFill/>
            </p:spPr>
            <p:txBody>
              <a:bodyPr wrap="square" rtlCol="0" anchor="t">
                <a:spAutoFit/>
              </a:bodyPr>
              <a:p>
                <a:pPr algn="l"/>
                <a:r>
                  <a:rPr lang="zh-CN" sz="1200" b="1">
                    <a:solidFill>
                      <a:srgbClr val="C00000"/>
                    </a:solidFill>
                    <a:latin typeface="微软雅黑" panose="020B0503020204020204" pitchFamily="34" charset="-122"/>
                    <a:ea typeface="微软雅黑" panose="020B0503020204020204" pitchFamily="34" charset="-122"/>
                    <a:sym typeface="+mn-ea"/>
                  </a:rPr>
                  <a:t>⑤</a:t>
                </a:r>
                <a:r>
                  <a:rPr lang="zh-CN" sz="1200" b="1">
                    <a:solidFill>
                      <a:srgbClr val="0070BF"/>
                    </a:solidFill>
                    <a:latin typeface="微软雅黑" panose="020B0503020204020204" pitchFamily="34" charset="-122"/>
                    <a:ea typeface="微软雅黑" panose="020B0503020204020204" pitchFamily="34" charset="-122"/>
                    <a:sym typeface="+mn-ea"/>
                  </a:rPr>
                  <a:t>保障机制</a:t>
                </a:r>
                <a:endParaRPr kumimoji="1" lang="zh-CN" sz="1200" b="1" dirty="0" smtClean="0">
                  <a:solidFill>
                    <a:srgbClr val="0070BF"/>
                  </a:solidFill>
                  <a:latin typeface="微软雅黑" panose="020B0503020204020204" pitchFamily="34" charset="-122"/>
                  <a:ea typeface="微软雅黑" panose="020B0503020204020204" pitchFamily="34" charset="-122"/>
                  <a:sym typeface="+mn-ea"/>
                </a:endParaRPr>
              </a:p>
            </p:txBody>
          </p:sp>
          <p:grpSp>
            <p:nvGrpSpPr>
              <p:cNvPr id="32" name="组合 31"/>
              <p:cNvGrpSpPr/>
              <p:nvPr/>
            </p:nvGrpSpPr>
            <p:grpSpPr>
              <a:xfrm>
                <a:off x="3020" y="5913"/>
                <a:ext cx="10563" cy="1463"/>
                <a:chOff x="3020" y="5804"/>
                <a:chExt cx="10563" cy="1692"/>
              </a:xfrm>
            </p:grpSpPr>
            <p:grpSp>
              <p:nvGrpSpPr>
                <p:cNvPr id="281" name="组合 280"/>
                <p:cNvGrpSpPr/>
                <p:nvPr/>
              </p:nvGrpSpPr>
              <p:grpSpPr>
                <a:xfrm rot="0">
                  <a:off x="3020" y="5804"/>
                  <a:ext cx="10563" cy="1692"/>
                  <a:chOff x="5090" y="6004"/>
                  <a:chExt cx="11440" cy="1635"/>
                </a:xfrm>
              </p:grpSpPr>
              <p:sp>
                <p:nvSpPr>
                  <p:cNvPr id="282" name="椭圆 281"/>
                  <p:cNvSpPr/>
                  <p:nvPr/>
                </p:nvSpPr>
                <p:spPr>
                  <a:xfrm>
                    <a:off x="5090" y="6190"/>
                    <a:ext cx="11440" cy="1449"/>
                  </a:xfrm>
                  <a:prstGeom prst="ellipse">
                    <a:avLst/>
                  </a:prstGeom>
                  <a:noFill/>
                  <a:ln w="12700">
                    <a:solidFill>
                      <a:srgbClr val="0070BF"/>
                    </a:solidFill>
                    <a:prstDash val="solid"/>
                  </a:ln>
                  <a:effectLst>
                    <a:glow rad="38100">
                      <a:srgbClr val="FFD5D5">
                        <a:alpha val="35686"/>
                      </a:srgbClr>
                    </a:glow>
                    <a:outerShdw blurRad="152400" dir="5400000" sx="90000" sy="-19000" rotWithShape="0">
                      <a:schemeClr val="accent1">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600"/>
                      </a:spcAft>
                      <a:buClrTx/>
                      <a:buSzTx/>
                      <a:buFontTx/>
                      <a:buNone/>
                      <a:defRPr/>
                    </a:pPr>
                    <a:endParaRPr kumimoji="0" lang="en-US" altLang="zh-CN" sz="1000" b="1" i="0" u="none" strike="noStrike" kern="1200" cap="none" spc="0" normalizeH="0" baseline="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85" name="椭圆 284"/>
                  <p:cNvSpPr/>
                  <p:nvPr/>
                </p:nvSpPr>
                <p:spPr>
                  <a:xfrm>
                    <a:off x="8701" y="6922"/>
                    <a:ext cx="4292" cy="386"/>
                  </a:xfrm>
                  <a:prstGeom prst="ellipse">
                    <a:avLst/>
                  </a:prstGeom>
                  <a:noFill/>
                  <a:ln>
                    <a:noFill/>
                  </a:ln>
                  <a:extLst>
                    <a:ext uri="{909E8E84-426E-40DD-AFC4-6F175D3DCCD1}">
                      <a14:hiddenFill xmlns:a14="http://schemas.microsoft.com/office/drawing/2010/main">
                        <a:solidFill>
                          <a:srgbClr val="D4EE9E"/>
                        </a:solidFill>
                      </a14:hiddenFill>
                    </a:ext>
                  </a:extLst>
                </p:spPr>
                <p:txBody>
                  <a:bodyPr wrap="none" lIns="162592" tIns="0" rIns="162592" bIns="0" rtlCol="0" anchor="ctr">
                    <a:noAutofit/>
                  </a:bodyPr>
                  <a:p>
                    <a:pPr algn="ctr"/>
                    <a:r>
                      <a:rPr lang="zh-CN" altLang="en-US" sz="1200" b="1" dirty="0">
                        <a:solidFill>
                          <a:srgbClr val="C00000"/>
                        </a:solidFill>
                        <a:sym typeface="+mn-ea"/>
                      </a:rPr>
                      <a:t>①</a:t>
                    </a:r>
                    <a:r>
                      <a:rPr lang="zh-CN" altLang="en-US" sz="1400" b="1" dirty="0">
                        <a:solidFill>
                          <a:schemeClr val="accent1"/>
                        </a:solidFill>
                        <a:sym typeface="+mn-ea"/>
                      </a:rPr>
                      <a:t>平台智瞰：构建一站式的市场运营工作台</a:t>
                    </a:r>
                    <a:endParaRPr lang="zh-CN" altLang="en-US" sz="1400" b="1" dirty="0">
                      <a:solidFill>
                        <a:schemeClr val="accent1"/>
                      </a:solidFill>
                      <a:sym typeface="+mn-ea"/>
                    </a:endParaRPr>
                  </a:p>
                </p:txBody>
              </p:sp>
              <p:sp>
                <p:nvSpPr>
                  <p:cNvPr id="286" name="Rectangle 12"/>
                  <p:cNvSpPr>
                    <a:spLocks noChangeArrowheads="1"/>
                  </p:cNvSpPr>
                  <p:nvPr/>
                </p:nvSpPr>
                <p:spPr bwMode="auto">
                  <a:xfrm>
                    <a:off x="5499" y="6145"/>
                    <a:ext cx="1946" cy="502"/>
                  </a:xfrm>
                  <a:prstGeom prst="roundRect">
                    <a:avLst/>
                  </a:prstGeom>
                  <a:solidFill>
                    <a:srgbClr val="BFE5FF"/>
                  </a:solidFill>
                  <a:ln w="12700">
                    <a:noFill/>
                  </a:ln>
                  <a:effectLst/>
                </p:spPr>
                <p:txBody>
                  <a:bodyPr vert="horz" wrap="square" lIns="0" tIns="0" rIns="0" bIns="0" numCol="1" anchor="ctr" anchorCtr="0" compatLnSpc="1">
                    <a:noAutofit/>
                  </a:bodyPr>
                  <a:p>
                    <a:pPr lvl="0" algn="ctr">
                      <a:spcBef>
                        <a:spcPts val="0"/>
                      </a:spcBef>
                      <a:spcAft>
                        <a:spcPts val="0"/>
                      </a:spcAft>
                      <a:buClrTx/>
                      <a:buSzTx/>
                      <a:buFontTx/>
                      <a:defRPr/>
                    </a:pPr>
                    <a:r>
                      <a:rPr lang="zh-CN" altLang="en-US" sz="1000" b="1" noProof="0" dirty="0">
                        <a:ln>
                          <a:noFill/>
                        </a:ln>
                        <a:effectLst/>
                        <a:uLnTx/>
                        <a:uFillTx/>
                        <a:latin typeface="微软雅黑" panose="020B0503020204020204" pitchFamily="34" charset="-122"/>
                        <a:ea typeface="微软雅黑" panose="020B0503020204020204" pitchFamily="34" charset="-122"/>
                        <a:sym typeface="思源黑体" panose="020B0500000000000000" pitchFamily="34" charset="-122"/>
                      </a:rPr>
                      <a:t>客户洞察</a:t>
                    </a:r>
                    <a:endParaRPr lang="zh-CN" altLang="en-US" sz="1000" b="1" noProof="0" dirty="0">
                      <a:ln>
                        <a:noFill/>
                      </a:ln>
                      <a:effectLst/>
                      <a:uLnTx/>
                      <a:uFillTx/>
                      <a:latin typeface="微软雅黑" panose="020B0503020204020204" pitchFamily="34" charset="-122"/>
                      <a:ea typeface="微软雅黑" panose="020B0503020204020204" pitchFamily="34" charset="-122"/>
                      <a:sym typeface="思源黑体" panose="020B0500000000000000" pitchFamily="34" charset="-122"/>
                    </a:endParaRPr>
                  </a:p>
                  <a:p>
                    <a:pPr lvl="0" algn="ctr">
                      <a:spcBef>
                        <a:spcPts val="0"/>
                      </a:spcBef>
                      <a:spcAft>
                        <a:spcPts val="0"/>
                      </a:spcAft>
                      <a:buClrTx/>
                      <a:buSzTx/>
                      <a:buFontTx/>
                      <a:defRPr/>
                    </a:pPr>
                    <a:r>
                      <a:rPr lang="zh-CN" altLang="en-US" sz="800" b="1" noProof="0" dirty="0">
                        <a:ln>
                          <a:noFill/>
                        </a:ln>
                        <a:solidFill>
                          <a:srgbClr val="0070BF"/>
                        </a:solidFill>
                        <a:effectLst/>
                        <a:uLnTx/>
                        <a:uFillTx/>
                        <a:latin typeface="微软雅黑" panose="020B0503020204020204" pitchFamily="34" charset="-122"/>
                        <a:ea typeface="微软雅黑" panose="020B0503020204020204" pitchFamily="34" charset="-122"/>
                        <a:sym typeface="思源黑体" panose="020B0500000000000000" pitchFamily="34" charset="-122"/>
                      </a:rPr>
                      <a:t>数据拉通，智慧大脑</a:t>
                    </a:r>
                    <a:endParaRPr lang="zh-CN" altLang="en-US" sz="800" b="1" noProof="0" dirty="0">
                      <a:ln>
                        <a:noFill/>
                      </a:ln>
                      <a:solidFill>
                        <a:srgbClr val="0070BF"/>
                      </a:solidFill>
                      <a:effectLst/>
                      <a:uLnTx/>
                      <a:uFillTx/>
                      <a:latin typeface="微软雅黑" panose="020B0503020204020204" pitchFamily="34" charset="-122"/>
                      <a:ea typeface="微软雅黑" panose="020B0503020204020204" pitchFamily="34" charset="-122"/>
                      <a:sym typeface="思源黑体" panose="020B0500000000000000" pitchFamily="34" charset="-122"/>
                    </a:endParaRPr>
                  </a:p>
                </p:txBody>
              </p:sp>
              <p:sp>
                <p:nvSpPr>
                  <p:cNvPr id="287" name="Rectangle 12"/>
                  <p:cNvSpPr>
                    <a:spLocks noChangeArrowheads="1"/>
                  </p:cNvSpPr>
                  <p:nvPr/>
                </p:nvSpPr>
                <p:spPr bwMode="auto">
                  <a:xfrm>
                    <a:off x="7677" y="6024"/>
                    <a:ext cx="1946" cy="522"/>
                  </a:xfrm>
                  <a:prstGeom prst="roundRect">
                    <a:avLst/>
                  </a:prstGeom>
                  <a:solidFill>
                    <a:srgbClr val="BFE5FF"/>
                  </a:solidFill>
                  <a:ln w="12700">
                    <a:noFill/>
                  </a:ln>
                  <a:effectLst/>
                </p:spPr>
                <p:txBody>
                  <a:bodyPr vert="horz" wrap="square" lIns="0" tIns="0" rIns="0" bIns="0" numCol="1" anchor="ctr" anchorCtr="0" compatLnSpc="1"/>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noProof="0" dirty="0">
                        <a:ln>
                          <a:noFill/>
                        </a:ln>
                        <a:effectLst/>
                        <a:uLnTx/>
                        <a:uFillTx/>
                        <a:latin typeface="微软雅黑" panose="020B0503020204020204" pitchFamily="34" charset="-122"/>
                        <a:ea typeface="微软雅黑" panose="020B0503020204020204" pitchFamily="34" charset="-122"/>
                        <a:sym typeface="思源黑体" panose="020B0500000000000000" pitchFamily="34" charset="-122"/>
                      </a:rPr>
                      <a:t>产品供给</a:t>
                    </a:r>
                    <a:endParaRPr lang="zh-CN" altLang="en-US" sz="1000" b="1" noProof="0" dirty="0">
                      <a:ln>
                        <a:noFill/>
                      </a:ln>
                      <a:effectLst/>
                      <a:uLnTx/>
                      <a:uFillTx/>
                      <a:latin typeface="微软雅黑" panose="020B0503020204020204" pitchFamily="34" charset="-122"/>
                      <a:ea typeface="微软雅黑" panose="020B0503020204020204" pitchFamily="34" charset="-122"/>
                      <a:sym typeface="思源黑体" panose="020B0500000000000000" pitchFamily="34" charset="-122"/>
                    </a:endParaRPr>
                  </a:p>
                  <a:p>
                    <a:pPr marL="0" marR="0" lvl="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思源黑体" panose="020B0500000000000000" pitchFamily="34" charset="-122"/>
                      </a:rPr>
                      <a:t>灵活封装、智能算费</a:t>
                    </a:r>
                    <a:endParaRPr kumimoji="0" lang="zh-CN" altLang="en-US" sz="8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思源黑体" panose="020B0500000000000000" pitchFamily="34" charset="-122"/>
                    </a:endParaRPr>
                  </a:p>
                </p:txBody>
              </p:sp>
              <p:sp>
                <p:nvSpPr>
                  <p:cNvPr id="288" name="Rectangle 12"/>
                  <p:cNvSpPr>
                    <a:spLocks noChangeArrowheads="1"/>
                  </p:cNvSpPr>
                  <p:nvPr/>
                </p:nvSpPr>
                <p:spPr bwMode="auto">
                  <a:xfrm>
                    <a:off x="9945" y="6004"/>
                    <a:ext cx="1946" cy="466"/>
                  </a:xfrm>
                  <a:prstGeom prst="roundRect">
                    <a:avLst/>
                  </a:prstGeom>
                  <a:solidFill>
                    <a:srgbClr val="BFE5FF"/>
                  </a:solidFill>
                  <a:ln w="12700">
                    <a:noFill/>
                  </a:ln>
                  <a:effectLst/>
                </p:spPr>
                <p:txBody>
                  <a:bodyPr vert="horz" wrap="square" lIns="0" tIns="0" rIns="0" bIns="0" numCol="1" anchor="ctr" anchorCtr="0" compatLnSpc="1"/>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思源黑体" panose="020B0500000000000000" pitchFamily="34" charset="-122"/>
                      </a:rPr>
                      <a:t>渠道融通</a:t>
                    </a:r>
                    <a:endParaRPr kumimoji="0" lang="zh-CN" altLang="en-US" sz="10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思源黑体" panose="020B0500000000000000" pitchFamily="34" charset="-122"/>
                    </a:endParaRPr>
                  </a:p>
                  <a:p>
                    <a:pPr marL="0" marR="0" lvl="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思源黑体" panose="020B0500000000000000" pitchFamily="34" charset="-122"/>
                      </a:rPr>
                      <a:t>一点管理，动态触达</a:t>
                    </a:r>
                    <a:endParaRPr kumimoji="0" lang="zh-CN" altLang="en-US" sz="8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思源黑体" panose="020B0500000000000000" pitchFamily="34" charset="-122"/>
                    </a:endParaRPr>
                  </a:p>
                </p:txBody>
              </p:sp>
              <p:sp>
                <p:nvSpPr>
                  <p:cNvPr id="289" name="Rectangle 12"/>
                  <p:cNvSpPr>
                    <a:spLocks noChangeArrowheads="1"/>
                  </p:cNvSpPr>
                  <p:nvPr/>
                </p:nvSpPr>
                <p:spPr bwMode="auto">
                  <a:xfrm>
                    <a:off x="12120" y="6060"/>
                    <a:ext cx="1946" cy="467"/>
                  </a:xfrm>
                  <a:prstGeom prst="roundRect">
                    <a:avLst/>
                  </a:prstGeom>
                  <a:solidFill>
                    <a:srgbClr val="BFE5FF"/>
                  </a:solidFill>
                  <a:ln w="12700">
                    <a:noFill/>
                  </a:ln>
                  <a:effectLst/>
                </p:spPr>
                <p:txBody>
                  <a:bodyPr vert="horz" wrap="square" lIns="0" tIns="0" rIns="0" bIns="0" numCol="1" anchor="ctr" anchorCtr="0" compatLnSpc="1"/>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panose="020B0500000000000000" pitchFamily="34" charset="-122"/>
                      </a:rPr>
                      <a:t>指挥调度</a:t>
                    </a:r>
                    <a:endParaRPr kumimoji="0" lang="zh-CN" altLang="en-US" sz="10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panose="020B05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 b="1" noProof="0" dirty="0">
                        <a:ln>
                          <a:noFill/>
                        </a:ln>
                        <a:solidFill>
                          <a:srgbClr val="0070BF"/>
                        </a:solidFill>
                        <a:effectLst/>
                        <a:uLnTx/>
                        <a:uFillTx/>
                        <a:latin typeface="微软雅黑" panose="020B0503020204020204" pitchFamily="34" charset="-122"/>
                        <a:ea typeface="微软雅黑" panose="020B0503020204020204" pitchFamily="34" charset="-122"/>
                        <a:sym typeface="思源黑体" panose="020B0500000000000000" pitchFamily="34" charset="-122"/>
                      </a:rPr>
                      <a:t>智慧决策，高效调</a:t>
                    </a:r>
                    <a:endParaRPr kumimoji="0" lang="zh-CN" altLang="en-US" sz="8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panose="020B0500000000000000" pitchFamily="34" charset="-122"/>
                    </a:endParaRPr>
                  </a:p>
                </p:txBody>
              </p:sp>
            </p:grpSp>
            <p:sp>
              <p:nvSpPr>
                <p:cNvPr id="12" name="Rectangle 12"/>
                <p:cNvSpPr>
                  <a:spLocks noChangeArrowheads="1"/>
                </p:cNvSpPr>
                <p:nvPr/>
              </p:nvSpPr>
              <p:spPr bwMode="auto">
                <a:xfrm>
                  <a:off x="11557" y="6027"/>
                  <a:ext cx="1797" cy="531"/>
                </a:xfrm>
                <a:prstGeom prst="roundRect">
                  <a:avLst/>
                </a:prstGeom>
                <a:solidFill>
                  <a:srgbClr val="BFE5FF"/>
                </a:solidFill>
                <a:ln w="12700">
                  <a:noFill/>
                </a:ln>
                <a:effectLst/>
              </p:spPr>
              <p:txBody>
                <a:bodyPr vert="horz" wrap="square" lIns="0" tIns="0" rIns="0" bIns="0" numCol="1" anchor="ctr" anchorCtr="0" compatLnSpc="1"/>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panose="020B0500000000000000" pitchFamily="34" charset="-122"/>
                    </a:rPr>
                    <a:t>生态合作</a:t>
                  </a:r>
                  <a:endParaRPr lang="zh-CN" altLang="en-US" sz="10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panose="020B05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 b="1" noProof="0" dirty="0">
                      <a:ln>
                        <a:noFill/>
                      </a:ln>
                      <a:solidFill>
                        <a:srgbClr val="0070BF"/>
                      </a:solidFill>
                      <a:effectLst/>
                      <a:uLnTx/>
                      <a:uFillTx/>
                      <a:latin typeface="微软雅黑" panose="020B0503020204020204" pitchFamily="34" charset="-122"/>
                      <a:ea typeface="微软雅黑" panose="020B0503020204020204" pitchFamily="34" charset="-122"/>
                      <a:sym typeface="思源黑体" panose="020B0500000000000000" pitchFamily="34" charset="-122"/>
                    </a:rPr>
                    <a:t>“AIX5G”应用货架</a:t>
                  </a:r>
                  <a:endParaRPr lang="zh-CN" altLang="en-US" sz="800" b="1" noProof="0" dirty="0">
                    <a:ln>
                      <a:noFill/>
                    </a:ln>
                    <a:solidFill>
                      <a:srgbClr val="0070BF"/>
                    </a:solidFill>
                    <a:effectLst/>
                    <a:uLnTx/>
                    <a:uFillTx/>
                    <a:latin typeface="微软雅黑" panose="020B0503020204020204" pitchFamily="34" charset="-122"/>
                    <a:ea typeface="微软雅黑" panose="020B0503020204020204" pitchFamily="34" charset="-122"/>
                    <a:sym typeface="思源黑体" panose="020B0500000000000000" pitchFamily="34" charset="-122"/>
                  </a:endParaRPr>
                </a:p>
              </p:txBody>
            </p:sp>
          </p:grpSp>
          <p:sp>
            <p:nvSpPr>
              <p:cNvPr id="13" name="文本框 12"/>
              <p:cNvSpPr txBox="1"/>
              <p:nvPr/>
            </p:nvSpPr>
            <p:spPr>
              <a:xfrm>
                <a:off x="2290" y="3543"/>
                <a:ext cx="1778" cy="795"/>
              </a:xfrm>
              <a:prstGeom prst="rect">
                <a:avLst/>
              </a:prstGeom>
              <a:noFill/>
            </p:spPr>
            <p:txBody>
              <a:bodyPr wrap="square" rtlCol="0" anchor="t">
                <a:spAutoFit/>
              </a:bodyPr>
              <a:p>
                <a:pPr lvl="0" algn="ctr">
                  <a:buClrTx/>
                  <a:buSzTx/>
                  <a:buFontTx/>
                </a:pPr>
                <a:r>
                  <a:rPr kumimoji="1" lang="zh-CN" sz="900" dirty="0" smtClean="0">
                    <a:latin typeface="微软雅黑" panose="020B0503020204020204" pitchFamily="34" charset="-122"/>
                    <a:ea typeface="微软雅黑" panose="020B0503020204020204" pitchFamily="34" charset="-122"/>
                    <a:sym typeface="+mn-ea"/>
                  </a:rPr>
                  <a:t>生态合作</a:t>
                </a:r>
                <a:endParaRPr kumimoji="1" lang="zh-CN"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建圈强链</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en-US" altLang="zh-CN" sz="900" dirty="0" smtClean="0">
                    <a:latin typeface="微软雅黑" panose="020B0503020204020204" pitchFamily="34" charset="-122"/>
                    <a:ea typeface="微软雅黑" panose="020B0503020204020204" pitchFamily="34" charset="-122"/>
                    <a:sym typeface="+mn-ea"/>
                  </a:rPr>
                  <a:t>......</a:t>
                </a:r>
                <a:endParaRPr kumimoji="1" lang="en-US" altLang="zh-CN" sz="900" dirty="0" smtClean="0">
                  <a:latin typeface="微软雅黑" panose="020B0503020204020204" pitchFamily="34" charset="-122"/>
                  <a:ea typeface="微软雅黑" panose="020B0503020204020204" pitchFamily="34" charset="-122"/>
                  <a:sym typeface="+mn-ea"/>
                </a:endParaRPr>
              </a:p>
            </p:txBody>
          </p:sp>
          <p:sp>
            <p:nvSpPr>
              <p:cNvPr id="14" name="文本框 13"/>
              <p:cNvSpPr txBox="1"/>
              <p:nvPr/>
            </p:nvSpPr>
            <p:spPr>
              <a:xfrm>
                <a:off x="10278" y="3588"/>
                <a:ext cx="1683" cy="1012"/>
              </a:xfrm>
              <a:prstGeom prst="rect">
                <a:avLst/>
              </a:prstGeom>
              <a:noFill/>
            </p:spPr>
            <p:txBody>
              <a:bodyPr wrap="square" rtlCol="0" anchor="t">
                <a:spAutoFit/>
              </a:bodyPr>
              <a:p>
                <a:pPr lvl="0" algn="ctr">
                  <a:buClrTx/>
                  <a:buSzTx/>
                  <a:buFontTx/>
                </a:pPr>
                <a:r>
                  <a:rPr kumimoji="1" lang="zh-CN" sz="900" dirty="0" smtClean="0">
                    <a:latin typeface="微软雅黑" panose="020B0503020204020204" pitchFamily="34" charset="-122"/>
                    <a:ea typeface="微软雅黑" panose="020B0503020204020204" pitchFamily="34" charset="-122"/>
                    <a:sym typeface="+mn-ea"/>
                  </a:rPr>
                  <a:t>智能驾驶舱</a:t>
                </a:r>
                <a:endParaRPr kumimoji="1" lang="zh-CN"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智慧分析</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en-US" altLang="zh-CN" sz="900" dirty="0" smtClean="0">
                    <a:latin typeface="微软雅黑" panose="020B0503020204020204" pitchFamily="34" charset="-122"/>
                    <a:ea typeface="微软雅黑" panose="020B0503020204020204" pitchFamily="34" charset="-122"/>
                    <a:sym typeface="+mn-ea"/>
                  </a:rPr>
                  <a:t>AI</a:t>
                </a:r>
                <a:r>
                  <a:rPr kumimoji="1" lang="zh-CN" altLang="en-US" sz="900" dirty="0" smtClean="0">
                    <a:latin typeface="微软雅黑" panose="020B0503020204020204" pitchFamily="34" charset="-122"/>
                    <a:ea typeface="微软雅黑" panose="020B0503020204020204" pitchFamily="34" charset="-122"/>
                    <a:sym typeface="+mn-ea"/>
                  </a:rPr>
                  <a:t>业务预警</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en-US" altLang="zh-CN" sz="900" dirty="0" smtClean="0">
                    <a:latin typeface="微软雅黑" panose="020B0503020204020204" pitchFamily="34" charset="-122"/>
                    <a:ea typeface="微软雅黑" panose="020B0503020204020204" pitchFamily="34" charset="-122"/>
                    <a:sym typeface="+mn-ea"/>
                  </a:rPr>
                  <a:t>.....</a:t>
                </a:r>
                <a:endParaRPr kumimoji="1" lang="en-US" altLang="zh-CN" sz="900" dirty="0" smtClean="0">
                  <a:latin typeface="微软雅黑" panose="020B0503020204020204" pitchFamily="34" charset="-122"/>
                  <a:ea typeface="微软雅黑" panose="020B0503020204020204" pitchFamily="34" charset="-122"/>
                  <a:sym typeface="+mn-ea"/>
                </a:endParaRPr>
              </a:p>
            </p:txBody>
          </p:sp>
          <p:grpSp>
            <p:nvGrpSpPr>
              <p:cNvPr id="17" name="组合 16"/>
              <p:cNvGrpSpPr/>
              <p:nvPr/>
            </p:nvGrpSpPr>
            <p:grpSpPr>
              <a:xfrm>
                <a:off x="12332" y="3333"/>
                <a:ext cx="2065" cy="1270"/>
                <a:chOff x="10454" y="3530"/>
                <a:chExt cx="2198" cy="1270"/>
              </a:xfrm>
            </p:grpSpPr>
            <p:sp>
              <p:nvSpPr>
                <p:cNvPr id="15" name="圆角矩形 16"/>
                <p:cNvSpPr/>
                <p:nvPr>
                  <p:custDataLst>
                    <p:tags r:id="rId11"/>
                  </p:custDataLst>
                </p:nvPr>
              </p:nvSpPr>
              <p:spPr>
                <a:xfrm>
                  <a:off x="10454" y="3530"/>
                  <a:ext cx="2198" cy="241"/>
                </a:xfrm>
                <a:prstGeom prst="roundRect">
                  <a:avLst>
                    <a:gd name="adj" fmla="val 778"/>
                  </a:avLst>
                </a:prstGeom>
                <a:solidFill>
                  <a:schemeClr val="bg1">
                    <a:alpha val="70000"/>
                  </a:schemeClr>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自动化运营</a:t>
                  </a:r>
                  <a:endParaRPr kumimoji="0" 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6" name="文本框 15"/>
                <p:cNvSpPr txBox="1"/>
                <p:nvPr/>
              </p:nvSpPr>
              <p:spPr>
                <a:xfrm>
                  <a:off x="10455" y="3788"/>
                  <a:ext cx="2041" cy="1012"/>
                </a:xfrm>
                <a:prstGeom prst="rect">
                  <a:avLst/>
                </a:prstGeom>
                <a:noFill/>
              </p:spPr>
              <p:txBody>
                <a:bodyPr wrap="square" rtlCol="0" anchor="t">
                  <a:spAutoFit/>
                </a:bodyPr>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全领域统一账号</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全时空客户洞察</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sz="900" dirty="0" smtClean="0">
                      <a:latin typeface="微软雅黑" panose="020B0503020204020204" pitchFamily="34" charset="-122"/>
                      <a:ea typeface="微软雅黑" panose="020B0503020204020204" pitchFamily="34" charset="-122"/>
                      <a:sym typeface="+mn-ea"/>
                    </a:rPr>
                    <a:t>全产品灵活封装</a:t>
                  </a:r>
                  <a:endParaRPr kumimoji="1" lang="zh-CN"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全触点联动交互</a:t>
                  </a:r>
                  <a:endParaRPr kumimoji="1" lang="en-US" altLang="zh-CN" sz="900" dirty="0" smtClean="0">
                    <a:latin typeface="微软雅黑" panose="020B0503020204020204" pitchFamily="34" charset="-122"/>
                    <a:ea typeface="微软雅黑" panose="020B0503020204020204" pitchFamily="34" charset="-122"/>
                    <a:sym typeface="+mn-ea"/>
                  </a:endParaRPr>
                </a:p>
              </p:txBody>
            </p:sp>
          </p:grpSp>
          <p:grpSp>
            <p:nvGrpSpPr>
              <p:cNvPr id="18" name="组合 17"/>
              <p:cNvGrpSpPr/>
              <p:nvPr/>
            </p:nvGrpSpPr>
            <p:grpSpPr>
              <a:xfrm>
                <a:off x="14657" y="3333"/>
                <a:ext cx="1979" cy="1053"/>
                <a:chOff x="10454" y="3530"/>
                <a:chExt cx="2198" cy="1053"/>
              </a:xfrm>
            </p:grpSpPr>
            <p:sp>
              <p:nvSpPr>
                <p:cNvPr id="19" name="圆角矩形 16"/>
                <p:cNvSpPr/>
                <p:nvPr>
                  <p:custDataLst>
                    <p:tags r:id="rId12"/>
                  </p:custDataLst>
                </p:nvPr>
              </p:nvSpPr>
              <p:spPr>
                <a:xfrm>
                  <a:off x="10454" y="3530"/>
                  <a:ext cx="2198" cy="241"/>
                </a:xfrm>
                <a:prstGeom prst="roundRect">
                  <a:avLst>
                    <a:gd name="adj" fmla="val 778"/>
                  </a:avLst>
                </a:prstGeom>
                <a:solidFill>
                  <a:schemeClr val="bg1">
                    <a:alpha val="70000"/>
                  </a:schemeClr>
                </a:solidFill>
                <a:ln>
                  <a:noFill/>
                </a:ln>
              </p:spPr>
              <p:txBody>
                <a:bodyPr wrap="square" lIns="162592" tIns="81296" rIns="162592" bIns="81296" rtlCol="0" anchor="ctr">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产品端到端运营</a:t>
                  </a:r>
                  <a:endParaRPr kumimoji="0" 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1" name="文本框 20"/>
                <p:cNvSpPr txBox="1"/>
                <p:nvPr/>
              </p:nvSpPr>
              <p:spPr>
                <a:xfrm>
                  <a:off x="10455" y="3788"/>
                  <a:ext cx="2041" cy="795"/>
                </a:xfrm>
                <a:prstGeom prst="rect">
                  <a:avLst/>
                </a:prstGeom>
                <a:noFill/>
              </p:spPr>
              <p:txBody>
                <a:bodyPr wrap="square" rtlCol="0" anchor="t">
                  <a:spAutoFit/>
                </a:bodyPr>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产品智慧运营</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智能质量管理</a:t>
                  </a:r>
                  <a:endParaRPr kumimoji="1" lang="zh-CN" altLang="en-US" sz="900" dirty="0" smtClean="0">
                    <a:latin typeface="微软雅黑" panose="020B0503020204020204" pitchFamily="34" charset="-122"/>
                    <a:ea typeface="微软雅黑" panose="020B0503020204020204" pitchFamily="34" charset="-122"/>
                    <a:sym typeface="+mn-ea"/>
                  </a:endParaRPr>
                </a:p>
                <a:p>
                  <a:pPr lvl="0" algn="ctr">
                    <a:buClrTx/>
                    <a:buSzTx/>
                    <a:buFontTx/>
                  </a:pPr>
                  <a:r>
                    <a:rPr kumimoji="1" lang="zh-CN" altLang="en-US" sz="900" dirty="0" smtClean="0">
                      <a:latin typeface="微软雅黑" panose="020B0503020204020204" pitchFamily="34" charset="-122"/>
                      <a:ea typeface="微软雅黑" panose="020B0503020204020204" pitchFamily="34" charset="-122"/>
                      <a:sym typeface="+mn-ea"/>
                    </a:rPr>
                    <a:t>产品创新设计</a:t>
                  </a:r>
                  <a:endParaRPr kumimoji="1" lang="en-US" altLang="zh-CN" sz="900" dirty="0" smtClean="0">
                    <a:latin typeface="微软雅黑" panose="020B0503020204020204" pitchFamily="34" charset="-122"/>
                    <a:ea typeface="微软雅黑" panose="020B0503020204020204" pitchFamily="34" charset="-122"/>
                    <a:sym typeface="+mn-ea"/>
                  </a:endParaRPr>
                </a:p>
              </p:txBody>
            </p:sp>
          </p:grpSp>
          <p:grpSp>
            <p:nvGrpSpPr>
              <p:cNvPr id="27" name="组合 26"/>
              <p:cNvGrpSpPr/>
              <p:nvPr/>
            </p:nvGrpSpPr>
            <p:grpSpPr>
              <a:xfrm>
                <a:off x="3070" y="7478"/>
                <a:ext cx="11056" cy="667"/>
                <a:chOff x="3149" y="10705"/>
                <a:chExt cx="10771" cy="667"/>
              </a:xfrm>
            </p:grpSpPr>
            <p:sp>
              <p:nvSpPr>
                <p:cNvPr id="25" name="右箭头 24"/>
                <p:cNvSpPr/>
                <p:nvPr/>
              </p:nvSpPr>
              <p:spPr>
                <a:xfrm>
                  <a:off x="3149" y="10705"/>
                  <a:ext cx="10771" cy="667"/>
                </a:xfrm>
                <a:prstGeom prst="rightArrow">
                  <a:avLst/>
                </a:prstGeom>
                <a:solidFill>
                  <a:srgbClr val="BFE5FF">
                    <a:alpha val="68000"/>
                  </a:srgbClr>
                </a:solidFill>
                <a:ln>
                  <a:solidFill>
                    <a:srgbClr val="BFE5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文本框 25"/>
                <p:cNvSpPr txBox="1"/>
                <p:nvPr/>
              </p:nvSpPr>
              <p:spPr>
                <a:xfrm>
                  <a:off x="3722" y="10806"/>
                  <a:ext cx="8449" cy="432"/>
                </a:xfrm>
                <a:prstGeom prst="rect">
                  <a:avLst/>
                </a:prstGeom>
                <a:noFill/>
              </p:spPr>
              <p:txBody>
                <a:bodyPr wrap="square" rtlCol="0">
                  <a:spAutoFit/>
                </a:bodyPr>
                <a:p>
                  <a:pPr algn="ctr"/>
                  <a:r>
                    <a:rPr kumimoji="1" lang="zh-CN" altLang="en-US" sz="1200" b="1" dirty="0">
                      <a:solidFill>
                        <a:srgbClr val="C00000"/>
                      </a:solidFill>
                      <a:latin typeface="微软雅黑" panose="020B0503020204020204" pitchFamily="34" charset="-122"/>
                      <a:ea typeface="微软雅黑" panose="020B0503020204020204" pitchFamily="34" charset="-122"/>
                      <a:cs typeface="+mn-ea"/>
                      <a:sym typeface="+mn-lt"/>
                    </a:rPr>
                    <a:t>横向拉通能力、收敛运营入口，构建市场运营工作台</a:t>
                  </a:r>
                  <a:endParaRPr kumimoji="1" lang="zh-CN" altLang="en-US" sz="1000" b="1" dirty="0">
                    <a:solidFill>
                      <a:schemeClr val="tx1"/>
                    </a:solidFill>
                    <a:latin typeface="微软雅黑" panose="020B0503020204020204" pitchFamily="34" charset="-122"/>
                    <a:ea typeface="微软雅黑" panose="020B0503020204020204" pitchFamily="34" charset="-122"/>
                    <a:cs typeface="+mn-ea"/>
                    <a:sym typeface="+mn-lt"/>
                  </a:endParaRPr>
                </a:p>
              </p:txBody>
            </p:sp>
          </p:grpSp>
          <p:grpSp>
            <p:nvGrpSpPr>
              <p:cNvPr id="56" name="组合 55"/>
              <p:cNvGrpSpPr/>
              <p:nvPr/>
            </p:nvGrpSpPr>
            <p:grpSpPr>
              <a:xfrm>
                <a:off x="1084" y="8277"/>
                <a:ext cx="13755" cy="1536"/>
                <a:chOff x="1084" y="7781"/>
                <a:chExt cx="13755" cy="1536"/>
              </a:xfrm>
            </p:grpSpPr>
            <p:grpSp>
              <p:nvGrpSpPr>
                <p:cNvPr id="293" name="组合 292"/>
                <p:cNvGrpSpPr/>
                <p:nvPr/>
              </p:nvGrpSpPr>
              <p:grpSpPr>
                <a:xfrm rot="0">
                  <a:off x="7203" y="8418"/>
                  <a:ext cx="5832" cy="580"/>
                  <a:chOff x="6538" y="8378"/>
                  <a:chExt cx="3641" cy="1092"/>
                </a:xfrm>
              </p:grpSpPr>
              <p:sp>
                <p:nvSpPr>
                  <p:cNvPr id="294" name="矩形: 圆角 209"/>
                  <p:cNvSpPr/>
                  <p:nvPr/>
                </p:nvSpPr>
                <p:spPr>
                  <a:xfrm>
                    <a:off x="8079" y="8382"/>
                    <a:ext cx="743" cy="387"/>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咪咕</a:t>
                    </a:r>
                    <a:endParaRPr kumimoji="1" lang="zh-CN" altLang="en-US"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95" name="矩形 294"/>
                  <p:cNvSpPr/>
                  <p:nvPr/>
                </p:nvSpPr>
                <p:spPr>
                  <a:xfrm>
                    <a:off x="8078" y="8760"/>
                    <a:ext cx="743" cy="649"/>
                  </a:xfrm>
                  <a:prstGeom prst="rect">
                    <a:avLst/>
                  </a:prstGeom>
                  <a:solidFill>
                    <a:sysClr val="window" lastClr="FFFFFF"/>
                  </a:solidFill>
                  <a:ln w="3175" cap="flat" cmpd="sng" algn="ctr">
                    <a:solidFill>
                      <a:srgbClr val="ABD4F8"/>
                    </a:solidFill>
                    <a:prstDash val="solid"/>
                  </a:ln>
                  <a:effectLst/>
                </p:spPr>
                <p:txBody>
                  <a:bodyPr lIns="48000" tIns="0" rIns="48000" bIns="0"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rPr>
                      <a:t>视频、音乐</a:t>
                    </a:r>
                    <a:endParaRPr kumimoji="1" lang="zh-CN" altLang="en-US" sz="9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296" name="矩形: 圆角 209"/>
                  <p:cNvSpPr/>
                  <p:nvPr/>
                </p:nvSpPr>
                <p:spPr>
                  <a:xfrm>
                    <a:off x="6538" y="8382"/>
                    <a:ext cx="1343" cy="387"/>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中国移动</a:t>
                    </a:r>
                    <a:r>
                      <a:rPr kumimoji="1" lang="en-US" altLang="zh-CN"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App</a:t>
                    </a:r>
                    <a:endParaRPr kumimoji="1" lang="zh-CN" altLang="en-US"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97" name="矩形 296"/>
                  <p:cNvSpPr/>
                  <p:nvPr/>
                </p:nvSpPr>
                <p:spPr>
                  <a:xfrm>
                    <a:off x="6538" y="8769"/>
                    <a:ext cx="1343" cy="649"/>
                  </a:xfrm>
                  <a:prstGeom prst="rect">
                    <a:avLst/>
                  </a:prstGeom>
                  <a:solidFill>
                    <a:sysClr val="window" lastClr="FFFFFF"/>
                  </a:solidFill>
                  <a:ln w="3175" cap="flat" cmpd="sng" algn="ctr">
                    <a:solidFill>
                      <a:srgbClr val="ABD4F8"/>
                    </a:solidFill>
                    <a:prstDash val="solid"/>
                  </a:ln>
                  <a:effectLst/>
                </p:spPr>
                <p:txBody>
                  <a:bodyPr lIns="48000" tIns="0" rIns="48000" bIns="0"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rPr>
                      <a:t>营销、订购、咨询 </a:t>
                    </a:r>
                    <a:r>
                      <a:rPr kumimoji="1" lang="en-US" altLang="zh-CN" sz="9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rPr>
                      <a:t>…</a:t>
                    </a:r>
                    <a:endParaRPr kumimoji="1" lang="zh-CN" altLang="en-US" sz="9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298" name="矩形: 圆角 209"/>
                  <p:cNvSpPr/>
                  <p:nvPr/>
                </p:nvSpPr>
                <p:spPr>
                  <a:xfrm>
                    <a:off x="9668" y="8382"/>
                    <a:ext cx="511" cy="376"/>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endParaRPr kumimoji="1" lang="en-US" altLang="zh-CN"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99" name="矩形 298"/>
                  <p:cNvSpPr/>
                  <p:nvPr/>
                </p:nvSpPr>
                <p:spPr>
                  <a:xfrm>
                    <a:off x="9668" y="8761"/>
                    <a:ext cx="510" cy="650"/>
                  </a:xfrm>
                  <a:prstGeom prst="rect">
                    <a:avLst/>
                  </a:prstGeom>
                  <a:solidFill>
                    <a:sysClr val="window" lastClr="FFFFFF"/>
                  </a:solidFill>
                  <a:ln w="3175" cap="flat" cmpd="sng" algn="ctr">
                    <a:solidFill>
                      <a:srgbClr val="ABD4F8"/>
                    </a:solidFill>
                    <a:prstDash val="solid"/>
                  </a:ln>
                  <a:effectLst/>
                </p:spPr>
                <p:txBody>
                  <a:bodyPr lIns="48000" tIns="0" rIns="48000" bIns="0"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9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rPr>
                      <a:t>…</a:t>
                    </a:r>
                    <a:endParaRPr kumimoji="1" lang="zh-CN" altLang="en-US" sz="9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300" name="矩形: 圆角 209"/>
                  <p:cNvSpPr/>
                  <p:nvPr/>
                </p:nvSpPr>
                <p:spPr>
                  <a:xfrm>
                    <a:off x="8876" y="8378"/>
                    <a:ext cx="743" cy="387"/>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爱家</a:t>
                    </a:r>
                    <a:endParaRPr kumimoji="1" lang="zh-CN" altLang="en-US"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01" name="矩形 300"/>
                  <p:cNvSpPr/>
                  <p:nvPr/>
                </p:nvSpPr>
                <p:spPr>
                  <a:xfrm>
                    <a:off x="8876" y="8756"/>
                    <a:ext cx="743" cy="649"/>
                  </a:xfrm>
                  <a:prstGeom prst="rect">
                    <a:avLst/>
                  </a:prstGeom>
                  <a:solidFill>
                    <a:sysClr val="window" lastClr="FFFFFF"/>
                  </a:solidFill>
                  <a:ln w="3175" cap="flat" cmpd="sng" algn="ctr">
                    <a:solidFill>
                      <a:srgbClr val="ABD4F8"/>
                    </a:solidFill>
                    <a:prstDash val="solid"/>
                  </a:ln>
                  <a:effectLst/>
                </p:spPr>
                <p:txBody>
                  <a:bodyPr lIns="48000" tIns="0" rIns="48000" bIns="0"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智慧家庭</a:t>
                    </a:r>
                    <a:r>
                      <a:rPr kumimoji="1" lang="en-US" altLang="zh-CN" sz="9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rPr>
                      <a:t>…</a:t>
                    </a:r>
                    <a:endParaRPr kumimoji="1" lang="zh-CN" altLang="en-US" sz="9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302" name="文本框 301"/>
                  <p:cNvSpPr txBox="1"/>
                  <p:nvPr/>
                </p:nvSpPr>
                <p:spPr>
                  <a:xfrm>
                    <a:off x="7839" y="8382"/>
                    <a:ext cx="307" cy="1088"/>
                  </a:xfrm>
                  <a:prstGeom prst="rect">
                    <a:avLst/>
                  </a:prstGeom>
                  <a:noFill/>
                </p:spPr>
                <p:txBody>
                  <a:bodyPr wrap="square">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endParaRPr kumimoji="1" lang="en-US" altLang="zh-CN" sz="18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grpSp>
            <p:sp>
              <p:nvSpPr>
                <p:cNvPr id="306" name="虚尾箭头 57"/>
                <p:cNvSpPr/>
                <p:nvPr/>
              </p:nvSpPr>
              <p:spPr>
                <a:xfrm rot="16200000">
                  <a:off x="13872" y="7735"/>
                  <a:ext cx="455" cy="547"/>
                </a:xfrm>
                <a:prstGeom prst="stripedRightArrow">
                  <a:avLst/>
                </a:prstGeom>
                <a:solidFill>
                  <a:schemeClr val="accent1">
                    <a:lumMod val="60000"/>
                    <a:lumOff val="40000"/>
                  </a:schemeClr>
                </a:solidFill>
                <a:ln>
                  <a:solidFill>
                    <a:schemeClr val="accent1">
                      <a:lumMod val="60000"/>
                      <a:lumOff val="40000"/>
                    </a:schemeClr>
                  </a:solidFill>
                </a:ln>
              </p:spPr>
              <p:txBody>
                <a:bodyPr wrap="square" lIns="162592" tIns="81296" rIns="162592" bIns="81296" rtlCol="0" anchor="ctr">
                  <a:noAutofit/>
                </a:bodyPr>
                <a:p>
                  <a:pPr algn="ctr"/>
                  <a:endParaRPr kumimoji="1" lang="zh-CN" altLang="en-US" sz="16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09" name="文本框 308"/>
                <p:cNvSpPr txBox="1"/>
                <p:nvPr/>
              </p:nvSpPr>
              <p:spPr>
                <a:xfrm>
                  <a:off x="13279" y="8364"/>
                  <a:ext cx="1560" cy="578"/>
                </a:xfrm>
                <a:prstGeom prst="rect">
                  <a:avLst/>
                </a:prstGeom>
                <a:noFill/>
              </p:spPr>
              <p:txBody>
                <a:bodyPr wrap="square" rtlCol="0">
                  <a:spAutoFit/>
                </a:bodyPr>
                <a:p>
                  <a:pPr algn="ctr"/>
                  <a:r>
                    <a:rPr kumimoji="1" lang="zh-CN" sz="900" b="1" dirty="0">
                      <a:solidFill>
                        <a:srgbClr val="0070BF"/>
                      </a:solidFill>
                      <a:latin typeface="微软雅黑" panose="020B0503020204020204" pitchFamily="34" charset="-122"/>
                      <a:ea typeface="微软雅黑" panose="020B0503020204020204" pitchFamily="34" charset="-122"/>
                      <a:cs typeface="微软雅黑" panose="020B0503020204020204" pitchFamily="34" charset="-122"/>
                    </a:rPr>
                    <a:t>执行效果评价</a:t>
                  </a:r>
                  <a:endParaRPr kumimoji="1" lang="zh-CN" sz="900" b="1" dirty="0">
                    <a:solidFill>
                      <a:srgbClr val="0070BF"/>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kumimoji="1" lang="zh-CN" sz="900" b="1" dirty="0">
                      <a:solidFill>
                        <a:srgbClr val="0070BF"/>
                      </a:solidFill>
                      <a:latin typeface="微软雅黑" panose="020B0503020204020204" pitchFamily="34" charset="-122"/>
                      <a:ea typeface="微软雅黑" panose="020B0503020204020204" pitchFamily="34" charset="-122"/>
                      <a:cs typeface="微软雅黑" panose="020B0503020204020204" pitchFamily="34" charset="-122"/>
                    </a:rPr>
                    <a:t>全流程闭环可视</a:t>
                  </a:r>
                  <a:endParaRPr kumimoji="1" lang="zh-CN" sz="900" b="1" dirty="0">
                    <a:solidFill>
                      <a:srgbClr val="0070B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2" name="文本框 311"/>
                <p:cNvSpPr txBox="1"/>
                <p:nvPr/>
              </p:nvSpPr>
              <p:spPr>
                <a:xfrm>
                  <a:off x="8826" y="8052"/>
                  <a:ext cx="2247" cy="355"/>
                </a:xfrm>
                <a:prstGeom prst="rect">
                  <a:avLst/>
                </a:prstGeom>
                <a:noFill/>
              </p:spPr>
              <p:txBody>
                <a:bodyPr wrap="square" tIns="36195" bIns="36195" rtlCol="0">
                  <a:spAutoFit/>
                </a:bodyPr>
                <a:p>
                  <a:pPr algn="ctr">
                    <a:lnSpc>
                      <a:spcPct val="100000"/>
                    </a:lnSpc>
                  </a:pPr>
                  <a:r>
                    <a:rPr kumimoji="1" lang="zh-CN" altLang="en-US" sz="1000" dirty="0">
                      <a:latin typeface="微软雅黑" panose="020B0503020204020204" pitchFamily="34" charset="-122"/>
                      <a:ea typeface="微软雅黑" panose="020B0503020204020204" pitchFamily="34" charset="-122"/>
                      <a:cs typeface="微软雅黑" panose="020B0503020204020204" pitchFamily="34" charset="-122"/>
                    </a:rPr>
                    <a:t>面向客户</a:t>
                  </a:r>
                  <a:endParaRPr kumimoji="1" lang="zh-CN" altLang="en-US" sz="1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7" name="矩形 336"/>
                <p:cNvSpPr/>
                <p:nvPr/>
              </p:nvSpPr>
              <p:spPr>
                <a:xfrm>
                  <a:off x="1084" y="8167"/>
                  <a:ext cx="1896" cy="928"/>
                </a:xfrm>
                <a:prstGeom prst="rect">
                  <a:avLst/>
                </a:prstGeom>
              </p:spPr>
              <p:txBody>
                <a:bodyPr wrap="square">
                  <a:spAutoFit/>
                </a:bodyPr>
                <a:p>
                  <a:pPr marL="0" marR="0" lvl="0" indent="0" algn="ctr" defTabSz="457200" rtl="0" fontAlgn="auto">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客户</a:t>
                  </a:r>
                  <a:r>
                    <a:rPr kumimoji="0"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一线人员</a:t>
                  </a:r>
                  <a:endParaRPr kumimoji="0"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457200" rtl="0" fontAlgn="auto">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小屏</a:t>
                  </a:r>
                  <a:endParaRPr kumimoji="0" lang="zh-CN" altLang="en-US" sz="105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457200" rtl="0" fontAlgn="auto">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一屏通办</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42" name="组合 41"/>
                <p:cNvGrpSpPr/>
                <p:nvPr/>
              </p:nvGrpSpPr>
              <p:grpSpPr>
                <a:xfrm>
                  <a:off x="4351" y="8052"/>
                  <a:ext cx="2276" cy="1265"/>
                  <a:chOff x="4351" y="8052"/>
                  <a:chExt cx="2276" cy="1265"/>
                </a:xfrm>
              </p:grpSpPr>
              <p:grpSp>
                <p:nvGrpSpPr>
                  <p:cNvPr id="290" name="组合 289"/>
                  <p:cNvGrpSpPr/>
                  <p:nvPr/>
                </p:nvGrpSpPr>
                <p:grpSpPr>
                  <a:xfrm rot="0">
                    <a:off x="4351" y="8419"/>
                    <a:ext cx="2262" cy="585"/>
                    <a:chOff x="2150" y="8360"/>
                    <a:chExt cx="4012" cy="1013"/>
                  </a:xfrm>
                </p:grpSpPr>
                <p:sp>
                  <p:nvSpPr>
                    <p:cNvPr id="291" name="矩形: 圆角 209"/>
                    <p:cNvSpPr/>
                    <p:nvPr/>
                  </p:nvSpPr>
                  <p:spPr>
                    <a:xfrm>
                      <a:off x="2150" y="8360"/>
                      <a:ext cx="4013" cy="445"/>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网格通</a:t>
                      </a:r>
                      <a:r>
                        <a:rPr kumimoji="1" lang="en-US" altLang="zh-CN"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App</a:t>
                      </a:r>
                      <a:endParaRPr kumimoji="1" lang="zh-CN" altLang="en-US"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92" name="矩形 291"/>
                    <p:cNvSpPr/>
                    <p:nvPr/>
                  </p:nvSpPr>
                  <p:spPr>
                    <a:xfrm>
                      <a:off x="2150" y="8815"/>
                      <a:ext cx="4013" cy="559"/>
                    </a:xfrm>
                    <a:prstGeom prst="rect">
                      <a:avLst/>
                    </a:prstGeom>
                    <a:solidFill>
                      <a:sysClr val="window" lastClr="FFFFFF"/>
                    </a:solidFill>
                    <a:ln w="3175" cap="flat" cmpd="sng" algn="ctr">
                      <a:solidFill>
                        <a:srgbClr val="ABD4F8"/>
                      </a:solidFill>
                      <a:prstDash val="solid"/>
                    </a:ln>
                    <a:effectLst/>
                  </p:spPr>
                  <p:txBody>
                    <a:bodyPr lIns="48000" tIns="0" rIns="48000" bIns="0"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rPr>
                        <a:t>营销、订购、装维 </a:t>
                      </a:r>
                      <a:r>
                        <a:rPr kumimoji="1" lang="en-US" altLang="zh-CN" sz="10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rPr>
                        <a:t>…</a:t>
                      </a:r>
                      <a:endParaRPr kumimoji="1" lang="zh-CN" altLang="en-US" sz="1000" b="0" i="0" u="none" strike="noStrike" kern="0" cap="none" spc="0" normalizeH="0" baseline="0" noProof="0" dirty="0">
                        <a:ln>
                          <a:noFill/>
                        </a:ln>
                        <a:solidFill>
                          <a:srgbClr val="8064A2">
                            <a:lumMod val="75000"/>
                          </a:srgbClr>
                        </a:solidFill>
                        <a:effectLst/>
                        <a:uLnTx/>
                        <a:uFillTx/>
                        <a:latin typeface="微软雅黑" panose="020B0503020204020204" pitchFamily="34" charset="-122"/>
                        <a:ea typeface="微软雅黑" panose="020B0503020204020204" pitchFamily="34" charset="-122"/>
                        <a:cs typeface="+mn-cs"/>
                      </a:endParaRPr>
                    </a:p>
                  </p:txBody>
                </p:sp>
              </p:grpSp>
              <p:sp>
                <p:nvSpPr>
                  <p:cNvPr id="311" name="文本框 310"/>
                  <p:cNvSpPr txBox="1"/>
                  <p:nvPr/>
                </p:nvSpPr>
                <p:spPr>
                  <a:xfrm>
                    <a:off x="4367" y="8052"/>
                    <a:ext cx="2247" cy="355"/>
                  </a:xfrm>
                  <a:prstGeom prst="rect">
                    <a:avLst/>
                  </a:prstGeom>
                  <a:noFill/>
                </p:spPr>
                <p:txBody>
                  <a:bodyPr wrap="square" tIns="36195" bIns="36195" rtlCol="0">
                    <a:spAutoFit/>
                  </a:bodyPr>
                  <a:p>
                    <a:pPr algn="ctr">
                      <a:lnSpc>
                        <a:spcPct val="100000"/>
                      </a:lnSpc>
                    </a:pPr>
                    <a:r>
                      <a:rPr kumimoji="1" lang="zh-CN" altLang="en-US" sz="1000" dirty="0">
                        <a:latin typeface="微软雅黑" panose="020B0503020204020204" pitchFamily="34" charset="-122"/>
                        <a:ea typeface="微软雅黑" panose="020B0503020204020204" pitchFamily="34" charset="-122"/>
                        <a:cs typeface="微软雅黑" panose="020B0503020204020204" pitchFamily="34" charset="-122"/>
                      </a:rPr>
                      <a:t>面向一线</a:t>
                    </a:r>
                    <a:endParaRPr kumimoji="1" lang="zh-CN" altLang="en-US" sz="1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2" name="矩形: 圆角 212"/>
                  <p:cNvSpPr/>
                  <p:nvPr>
                    <p:custDataLst>
                      <p:tags r:id="rId13"/>
                    </p:custDataLst>
                  </p:nvPr>
                </p:nvSpPr>
                <p:spPr>
                  <a:xfrm>
                    <a:off x="4364" y="9027"/>
                    <a:ext cx="2263" cy="290"/>
                  </a:xfrm>
                  <a:prstGeom prst="roundRect">
                    <a:avLst/>
                  </a:prstGeom>
                  <a:solidFill>
                    <a:srgbClr val="5BA4EB"/>
                  </a:solidFill>
                  <a:ln>
                    <a:no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 </a:t>
                    </a:r>
                    <a:r>
                      <a:rPr kumimoji="1" lang="zh-CN" altLang="en-US" sz="9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灵犀</a:t>
                    </a:r>
                    <a:r>
                      <a:rPr kumimoji="1" lang="en-US" altLang="zh-CN" sz="9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a:t>
                    </a:r>
                    <a:r>
                      <a:rPr kumimoji="1" lang="zh-CN" altLang="en-US" sz="9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网格通智能体</a:t>
                    </a:r>
                    <a:endParaRPr kumimoji="1" lang="zh-CN" altLang="en-US" sz="9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35" name="矩形: 圆角 212"/>
                <p:cNvSpPr/>
                <p:nvPr>
                  <p:custDataLst>
                    <p:tags r:id="rId14"/>
                  </p:custDataLst>
                </p:nvPr>
              </p:nvSpPr>
              <p:spPr>
                <a:xfrm>
                  <a:off x="7191" y="9014"/>
                  <a:ext cx="5844" cy="290"/>
                </a:xfrm>
                <a:prstGeom prst="roundRect">
                  <a:avLst/>
                </a:prstGeom>
                <a:solidFill>
                  <a:srgbClr val="5BA4EB"/>
                </a:solidFill>
                <a:ln>
                  <a:no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 </a:t>
                  </a:r>
                  <a:r>
                    <a:rPr kumimoji="1" lang="zh-CN" altLang="en-US" sz="9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灵犀</a:t>
                  </a:r>
                  <a:r>
                    <a:rPr kumimoji="1" lang="zh-CN" sz="9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智能体</a:t>
                  </a:r>
                  <a:endParaRPr kumimoji="1" lang="zh-CN" sz="9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8" name="文本框 47"/>
                <p:cNvSpPr txBox="1"/>
                <p:nvPr/>
              </p:nvSpPr>
              <p:spPr>
                <a:xfrm>
                  <a:off x="2757" y="8405"/>
                  <a:ext cx="1560" cy="578"/>
                </a:xfrm>
                <a:prstGeom prst="rect">
                  <a:avLst/>
                </a:prstGeom>
                <a:noFill/>
              </p:spPr>
              <p:txBody>
                <a:bodyPr wrap="square" rtlCol="0">
                  <a:spAutoFit/>
                </a:bodyPr>
                <a:p>
                  <a:pPr algn="ctr"/>
                  <a:r>
                    <a:rPr kumimoji="1" lang="zh-CN" sz="9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集约化策略下发</a:t>
                  </a:r>
                  <a:endParaRPr kumimoji="1" lang="zh-CN" sz="9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kumimoji="1" lang="zh-CN" sz="9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工单调度派单</a:t>
                  </a:r>
                  <a:endParaRPr kumimoji="1" lang="zh-CN" sz="9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51" name="文本框 50"/>
              <p:cNvSpPr txBox="1"/>
              <p:nvPr>
                <p:custDataLst>
                  <p:tags r:id="rId15"/>
                </p:custDataLst>
              </p:nvPr>
            </p:nvSpPr>
            <p:spPr>
              <a:xfrm>
                <a:off x="17028" y="8134"/>
                <a:ext cx="1401" cy="758"/>
              </a:xfrm>
              <a:prstGeom prst="rect">
                <a:avLst/>
              </a:prstGeom>
              <a:solidFill>
                <a:schemeClr val="bg1">
                  <a:lumMod val="65000"/>
                </a:schemeClr>
              </a:solidFill>
              <a:ln w="12700" cap="flat" cmpd="sng" algn="ctr">
                <a:noFill/>
                <a:prstDash val="solid"/>
                <a:miter lim="800000"/>
              </a:ln>
              <a:effectLst/>
            </p:spPr>
            <p:txBody>
              <a:bodyPr rtlCol="0" anchor="ctr"/>
              <a:lstStyle>
                <a:defPPr>
                  <a:defRPr lang="zh-CN"/>
                </a:defPPr>
                <a:lvl1pPr marR="0" lvl="0" indent="0" algn="ctr" defTabSz="457200" fontAlgn="auto">
                  <a:lnSpc>
                    <a:spcPct val="100000"/>
                  </a:lnSpc>
                  <a:spcBef>
                    <a:spcPts val="0"/>
                  </a:spcBef>
                  <a:spcAft>
                    <a:spcPts val="0"/>
                  </a:spcAft>
                  <a:buClrTx/>
                  <a:buSzTx/>
                  <a:buFontTx/>
                  <a:buNone/>
                  <a:defRPr kumimoji="0" sz="1200" b="1" i="0" u="none" strike="noStrike" cap="none" spc="0" normalizeH="0" baseline="0">
                    <a:ln>
                      <a:noFill/>
                    </a:ln>
                    <a:solidFill>
                      <a:srgbClr val="FFFFFF"/>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建立</a:t>
                </a:r>
                <a:r>
                  <a:rPr kumimoji="0" lang="en-US" altLang="zh-CN"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1+N+1</a:t>
                </a:r>
                <a:r>
                  <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的保障体系</a:t>
                </a:r>
                <a:endPar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52" name="文本框 51"/>
              <p:cNvSpPr txBox="1"/>
              <p:nvPr>
                <p:custDataLst>
                  <p:tags r:id="rId16"/>
                </p:custDataLst>
              </p:nvPr>
            </p:nvSpPr>
            <p:spPr>
              <a:xfrm>
                <a:off x="17028" y="9148"/>
                <a:ext cx="1402" cy="581"/>
              </a:xfrm>
              <a:prstGeom prst="rect">
                <a:avLst/>
              </a:prstGeom>
              <a:solidFill>
                <a:schemeClr val="bg1">
                  <a:lumMod val="65000"/>
                </a:schemeClr>
              </a:solidFill>
              <a:ln w="12700" cap="flat" cmpd="sng" algn="ctr">
                <a:noFill/>
                <a:prstDash val="solid"/>
                <a:miter lim="800000"/>
              </a:ln>
              <a:effectLst/>
            </p:spPr>
            <p:txBody>
              <a:bodyPr rtlCol="0" anchor="ctr"/>
              <a:lstStyle>
                <a:defPPr>
                  <a:defRPr lang="zh-CN"/>
                </a:defPPr>
                <a:lvl1pPr marR="0" lvl="0" indent="0" algn="ctr" defTabSz="457200" fontAlgn="auto">
                  <a:lnSpc>
                    <a:spcPct val="100000"/>
                  </a:lnSpc>
                  <a:spcBef>
                    <a:spcPts val="0"/>
                  </a:spcBef>
                  <a:spcAft>
                    <a:spcPts val="0"/>
                  </a:spcAft>
                  <a:buClrTx/>
                  <a:buSzTx/>
                  <a:buFontTx/>
                  <a:buNone/>
                  <a:defRPr kumimoji="0" sz="1200" b="1" i="0" u="none" strike="noStrike" cap="none" spc="0" normalizeH="0" baseline="0">
                    <a:ln>
                      <a:noFill/>
                    </a:ln>
                    <a:solidFill>
                      <a:srgbClr val="FFFFFF"/>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数智</a:t>
                </a:r>
                <a:r>
                  <a:rPr kumimoji="0" lang="zh-CN"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人才</a:t>
                </a:r>
                <a:endParaRPr kumimoji="0" lang="zh-CN"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保障</a:t>
                </a:r>
                <a:endParaRPr kumimoji="0" lang="zh-CN"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2" name="下箭头 21"/>
              <p:cNvSpPr/>
              <p:nvPr/>
            </p:nvSpPr>
            <p:spPr>
              <a:xfrm>
                <a:off x="2635" y="6458"/>
                <a:ext cx="589" cy="2012"/>
              </a:xfrm>
              <a:prstGeom prst="downArrow">
                <a:avLst/>
              </a:prstGeom>
              <a:solidFill>
                <a:srgbClr val="BFE5FF">
                  <a:alpha val="50000"/>
                </a:srgbClr>
              </a:solidFill>
              <a:ln>
                <a:solidFill>
                  <a:srgbClr val="BFE5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文本框 27"/>
              <p:cNvSpPr txBox="1"/>
              <p:nvPr/>
            </p:nvSpPr>
            <p:spPr>
              <a:xfrm>
                <a:off x="2613" y="5915"/>
                <a:ext cx="675" cy="2342"/>
              </a:xfrm>
              <a:prstGeom prst="rect">
                <a:avLst/>
              </a:prstGeom>
              <a:noFill/>
            </p:spPr>
            <p:txBody>
              <a:bodyPr wrap="square" rtlCol="0">
                <a:noAutofit/>
              </a:bodyPr>
              <a:p>
                <a:pPr algn="ctr"/>
                <a:r>
                  <a:rPr kumimoji="1" lang="zh-CN" altLang="en-US" sz="1200" b="1" dirty="0">
                    <a:solidFill>
                      <a:srgbClr val="C00000"/>
                    </a:solidFill>
                    <a:latin typeface="微软雅黑" panose="020B0503020204020204" pitchFamily="34" charset="-122"/>
                    <a:ea typeface="微软雅黑" panose="020B0503020204020204" pitchFamily="34" charset="-122"/>
                    <a:cs typeface="+mn-ea"/>
                    <a:sym typeface="+mn-lt"/>
                  </a:rPr>
                  <a:t>纵向</a:t>
                </a:r>
                <a:endParaRPr kumimoji="1" lang="zh-CN" altLang="en-US" sz="1200" b="1" dirty="0">
                  <a:solidFill>
                    <a:srgbClr val="C00000"/>
                  </a:solidFill>
                  <a:latin typeface="微软雅黑" panose="020B0503020204020204" pitchFamily="34" charset="-122"/>
                  <a:ea typeface="微软雅黑" panose="020B0503020204020204" pitchFamily="34" charset="-122"/>
                  <a:cs typeface="+mn-ea"/>
                  <a:sym typeface="+mn-lt"/>
                </a:endParaRPr>
              </a:p>
              <a:p>
                <a:pPr algn="ctr"/>
                <a:r>
                  <a:rPr kumimoji="1" lang="zh-CN" altLang="en-US" sz="1200" b="1" dirty="0">
                    <a:solidFill>
                      <a:srgbClr val="C00000"/>
                    </a:solidFill>
                    <a:latin typeface="微软雅黑" panose="020B0503020204020204" pitchFamily="34" charset="-122"/>
                    <a:ea typeface="微软雅黑" panose="020B0503020204020204" pitchFamily="34" charset="-122"/>
                    <a:cs typeface="+mn-ea"/>
                    <a:sym typeface="+mn-lt"/>
                  </a:rPr>
                  <a:t>做深</a:t>
                </a:r>
                <a:endParaRPr kumimoji="1" lang="zh-CN" altLang="en-US" sz="1200" b="1" dirty="0">
                  <a:solidFill>
                    <a:srgbClr val="C00000"/>
                  </a:solidFill>
                  <a:latin typeface="微软雅黑" panose="020B0503020204020204" pitchFamily="34" charset="-122"/>
                  <a:ea typeface="微软雅黑" panose="020B0503020204020204" pitchFamily="34" charset="-122"/>
                  <a:cs typeface="+mn-ea"/>
                  <a:sym typeface="+mn-lt"/>
                </a:endParaRPr>
              </a:p>
              <a:p>
                <a:pPr algn="ctr"/>
                <a:r>
                  <a:rPr kumimoji="1" lang="zh-CN" altLang="en-US" sz="1200" b="1" dirty="0">
                    <a:solidFill>
                      <a:srgbClr val="C00000"/>
                    </a:solidFill>
                    <a:latin typeface="微软雅黑" panose="020B0503020204020204" pitchFamily="34" charset="-122"/>
                    <a:ea typeface="微软雅黑" panose="020B0503020204020204" pitchFamily="34" charset="-122"/>
                    <a:cs typeface="+mn-ea"/>
                    <a:sym typeface="+mn-lt"/>
                  </a:rPr>
                  <a:t>运营</a:t>
                </a:r>
                <a:endParaRPr kumimoji="1" lang="zh-CN" altLang="en-US" sz="1200" b="1" dirty="0">
                  <a:solidFill>
                    <a:srgbClr val="C00000"/>
                  </a:solidFill>
                  <a:latin typeface="微软雅黑" panose="020B0503020204020204" pitchFamily="34" charset="-122"/>
                  <a:ea typeface="微软雅黑" panose="020B0503020204020204" pitchFamily="34" charset="-122"/>
                  <a:cs typeface="+mn-ea"/>
                  <a:sym typeface="+mn-lt"/>
                </a:endParaRPr>
              </a:p>
              <a:p>
                <a:pPr algn="ctr"/>
                <a:r>
                  <a:rPr kumimoji="1" lang="zh-CN" altLang="en-US" sz="1200" b="1" dirty="0">
                    <a:solidFill>
                      <a:srgbClr val="C00000"/>
                    </a:solidFill>
                    <a:latin typeface="微软雅黑" panose="020B0503020204020204" pitchFamily="34" charset="-122"/>
                    <a:ea typeface="微软雅黑" panose="020B0503020204020204" pitchFamily="34" charset="-122"/>
                    <a:cs typeface="+mn-ea"/>
                    <a:sym typeface="+mn-lt"/>
                  </a:rPr>
                  <a:t>能力</a:t>
                </a:r>
                <a:endParaRPr kumimoji="1" lang="zh-CN" altLang="en-US" sz="1200" b="1" dirty="0">
                  <a:solidFill>
                    <a:srgbClr val="C00000"/>
                  </a:solidFill>
                  <a:latin typeface="微软雅黑" panose="020B0503020204020204" pitchFamily="34" charset="-122"/>
                  <a:ea typeface="微软雅黑" panose="020B0503020204020204" pitchFamily="34" charset="-122"/>
                  <a:cs typeface="+mn-ea"/>
                  <a:sym typeface="+mn-lt"/>
                </a:endParaRPr>
              </a:p>
            </p:txBody>
          </p:sp>
          <p:sp>
            <p:nvSpPr>
              <p:cNvPr id="54" name="虚尾箭头 53"/>
              <p:cNvSpPr/>
              <p:nvPr/>
            </p:nvSpPr>
            <p:spPr>
              <a:xfrm rot="5400000">
                <a:off x="2783" y="8359"/>
                <a:ext cx="359" cy="547"/>
              </a:xfrm>
              <a:prstGeom prst="stripedRightArrow">
                <a:avLst>
                  <a:gd name="adj1" fmla="val 50000"/>
                  <a:gd name="adj2" fmla="val 49855"/>
                </a:avLst>
              </a:prstGeom>
              <a:solidFill>
                <a:srgbClr val="00B0F0"/>
              </a:solidFill>
              <a:ln>
                <a:solidFill>
                  <a:srgbClr val="00B0F0"/>
                </a:solidFill>
              </a:ln>
            </p:spPr>
            <p:txBody>
              <a:bodyPr wrap="square" lIns="162592" tIns="81296" rIns="162592" bIns="81296" rtlCol="0" anchor="ctr">
                <a:noAutofit/>
              </a:bodyPr>
              <a:p>
                <a:pPr algn="ctr"/>
                <a:endParaRPr kumimoji="1" lang="zh-CN" altLang="en-US" sz="16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61" name="文本框 60"/>
              <p:cNvSpPr txBox="1"/>
              <p:nvPr/>
            </p:nvSpPr>
            <p:spPr>
              <a:xfrm>
                <a:off x="13" y="8865"/>
                <a:ext cx="964" cy="819"/>
              </a:xfrm>
              <a:prstGeom prst="rect">
                <a:avLst/>
              </a:prstGeom>
              <a:noFill/>
            </p:spPr>
            <p:txBody>
              <a:bodyPr wrap="square" rtlCol="0">
                <a:spAutoFit/>
              </a:bodyPr>
              <a:p>
                <a:pPr marL="0" marR="0" lvl="0" indent="0" algn="ctr" defTabSz="457200" rtl="0" eaLnBrk="1" fontAlgn="auto" latinLnBrk="0" hangingPunct="1">
                  <a:lnSpc>
                    <a:spcPct val="100000"/>
                  </a:lnSpc>
                  <a:spcBef>
                    <a:spcPts val="0"/>
                  </a:spcBef>
                  <a:spcAft>
                    <a:spcPts val="0"/>
                  </a:spcAft>
                  <a:buClrTx/>
                  <a:buSzTx/>
                  <a:buFontTx/>
                  <a:buNone/>
                  <a:defRPr/>
                </a:pPr>
                <a:r>
                  <a:rPr kumimoji="1" lang="zh-CN" sz="1400" b="1" dirty="0">
                    <a:solidFill>
                      <a:schemeClr val="tx1"/>
                    </a:solidFill>
                    <a:latin typeface="微软雅黑" panose="020B0503020204020204" pitchFamily="34" charset="-122"/>
                    <a:ea typeface="微软雅黑" panose="020B0503020204020204" pitchFamily="34" charset="-122"/>
                  </a:rPr>
                  <a:t>能力</a:t>
                </a:r>
                <a:r>
                  <a:rPr kumimoji="1" lang="zh-CN" sz="1400" b="1" dirty="0">
                    <a:solidFill>
                      <a:srgbClr val="FF0000"/>
                    </a:solidFill>
                    <a:latin typeface="微软雅黑" panose="020B0503020204020204" pitchFamily="34" charset="-122"/>
                    <a:ea typeface="微软雅黑" panose="020B0503020204020204" pitchFamily="34" charset="-122"/>
                  </a:rPr>
                  <a:t>贯通</a:t>
                </a:r>
                <a:endParaRPr kumimoji="1" lang="zh-CN" altLang="en-US" sz="1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grpSp>
      <p:sp>
        <p:nvSpPr>
          <p:cNvPr id="65" name="圆角矩形 1"/>
          <p:cNvSpPr/>
          <p:nvPr/>
        </p:nvSpPr>
        <p:spPr>
          <a:xfrm>
            <a:off x="1917700" y="6080760"/>
            <a:ext cx="6647815" cy="193675"/>
          </a:xfrm>
          <a:prstGeom prst="roundRect">
            <a:avLst>
              <a:gd name="adj" fmla="val 4671"/>
            </a:avLst>
          </a:prstGeom>
          <a:solidFill>
            <a:srgbClr val="D9D9D9"/>
          </a:solidFill>
          <a:ln>
            <a:no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建强业务支撑能力，强化中台能力赋能</a:t>
            </a:r>
            <a:endParaRPr kumimoji="1" lang="zh-CN" altLang="en-US" sz="900" b="1" i="0" u="none" strike="noStrike" kern="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6" name="文本框 65"/>
          <p:cNvSpPr txBox="1"/>
          <p:nvPr/>
        </p:nvSpPr>
        <p:spPr>
          <a:xfrm>
            <a:off x="694690" y="6040755"/>
            <a:ext cx="1208405" cy="260350"/>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defRPr kumimoji="1" sz="1200" b="1" i="0" u="none" strike="noStrike" cap="none" spc="0" normalizeH="0" baseline="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集约能力建设</a:t>
            </a:r>
            <a:endParaRPr kumimoji="1"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048724" name="文本占位符 2"/>
          <p:cNvSpPr>
            <a:spLocks noGrp="1"/>
          </p:cNvSpPr>
          <p:nvPr>
            <p:ph type="body" sz="quarter" idx="10"/>
          </p:nvPr>
        </p:nvSpPr>
        <p:spPr>
          <a:xfrm>
            <a:off x="151130" y="915035"/>
            <a:ext cx="12178665" cy="657860"/>
          </a:xfrm>
        </p:spPr>
        <p:txBody>
          <a:bodyPr/>
          <a:p>
            <a:r>
              <a:rPr>
                <a:solidFill>
                  <a:prstClr val="black"/>
                </a:solidFill>
                <a:sym typeface="+mn-ea"/>
              </a:rPr>
              <a:t>承接中国移动数字化转型规划总册，聚焦市场领域重点工作，</a:t>
            </a:r>
            <a:r>
              <a:rPr lang="zh-CN" altLang="en-US" dirty="0"/>
              <a:t>从客户、产品、触点、指挥调度等维度切入，拉通数据、平台、工具、流程、机制等运营要素，收敛集中化运营平台，细化形成</a:t>
            </a:r>
            <a:r>
              <a:rPr lang="zh-CN" altLang="en-US" dirty="0">
                <a:solidFill>
                  <a:srgbClr val="C00000">
                    <a:alpha val="100000"/>
                  </a:srgbClr>
                </a:solidFill>
              </a:rPr>
              <a:t>“能力贯通、前台统一、多场景赋能”的市场数智转型体系</a:t>
            </a:r>
            <a:r>
              <a:rPr lang="zh-CN" altLang="en-US" dirty="0"/>
              <a:t>，实现大中小屏高效联动。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路径图|</a:t>
            </a:r>
            <a:r>
              <a:rPr lang="zh-CN" altLang="en-US" dirty="0">
                <a:sym typeface="+mn-ea"/>
              </a:rPr>
              <a:t>夯实数智支撑底座，强化数智化运营升级</a:t>
            </a:r>
            <a:endParaRPr lang="zh-CN" altLang="en-US" dirty="0">
              <a:sym typeface="+mn-ea"/>
            </a:endParaRPr>
          </a:p>
        </p:txBody>
      </p:sp>
      <p:sp>
        <p:nvSpPr>
          <p:cNvPr id="12" name="文本占位符 11"/>
          <p:cNvSpPr>
            <a:spLocks noGrp="1"/>
          </p:cNvSpPr>
          <p:nvPr>
            <p:ph type="body" sz="quarter" idx="10"/>
          </p:nvPr>
        </p:nvSpPr>
        <p:spPr/>
        <p:txBody>
          <a:bodyPr/>
          <a:lstStyle/>
          <a:p>
            <a:r>
              <a:rPr lang="zh-CN" altLang="en-US" dirty="0">
                <a:solidFill>
                  <a:schemeClr val="tx2">
                    <a:lumMod val="75000"/>
                  </a:schemeClr>
                </a:solidFill>
                <a:sym typeface="+mn-ea"/>
              </a:rPr>
              <a:t>以客户全生命周期运营为导向，聚焦</a:t>
            </a:r>
            <a:r>
              <a:rPr lang="en-US" altLang="zh-CN" dirty="0">
                <a:solidFill>
                  <a:srgbClr val="C00000"/>
                </a:solidFill>
                <a:sym typeface="+mn-ea"/>
              </a:rPr>
              <a:t>“</a:t>
            </a:r>
            <a:r>
              <a:rPr dirty="0">
                <a:solidFill>
                  <a:srgbClr val="C00000"/>
                </a:solidFill>
                <a:sym typeface="+mn-ea"/>
              </a:rPr>
              <a:t>数据采集、数据共享、智能用数</a:t>
            </a:r>
            <a:r>
              <a:rPr lang="en-US" altLang="zh-CN" dirty="0">
                <a:solidFill>
                  <a:srgbClr val="C00000"/>
                </a:solidFill>
                <a:sym typeface="+mn-ea"/>
              </a:rPr>
              <a:t>”</a:t>
            </a:r>
            <a:r>
              <a:rPr dirty="0">
                <a:solidFill>
                  <a:schemeClr val="tx2">
                    <a:lumMod val="75000"/>
                  </a:schemeClr>
                </a:solidFill>
                <a:sym typeface="+mn-ea"/>
              </a:rPr>
              <a:t>，强化数据汇聚和开放共享，挖掘数据价值，支撑业务指标实时监控、异动和客户需求精准洞察，夯实数智支撑底座</a:t>
            </a:r>
            <a:r>
              <a:rPr lang="zh-CN" altLang="en-US" dirty="0">
                <a:solidFill>
                  <a:schemeClr val="tx2">
                    <a:lumMod val="75000"/>
                  </a:schemeClr>
                </a:solidFill>
                <a:sym typeface="+mn-ea"/>
              </a:rPr>
              <a:t>。</a:t>
            </a:r>
            <a:endParaRPr lang="zh-CN" altLang="en-US" dirty="0">
              <a:solidFill>
                <a:schemeClr val="tx2">
                  <a:lumMod val="75000"/>
                </a:schemeClr>
              </a:solidFill>
              <a:sym typeface="+mn-ea"/>
            </a:endParaRPr>
          </a:p>
        </p:txBody>
      </p:sp>
      <p:grpSp>
        <p:nvGrpSpPr>
          <p:cNvPr id="490" name="组合 489"/>
          <p:cNvGrpSpPr/>
          <p:nvPr/>
        </p:nvGrpSpPr>
        <p:grpSpPr>
          <a:xfrm>
            <a:off x="488950" y="2647315"/>
            <a:ext cx="11452225" cy="2894965"/>
            <a:chOff x="378" y="3074"/>
            <a:chExt cx="18547" cy="4559"/>
          </a:xfrm>
        </p:grpSpPr>
        <p:sp>
          <p:nvSpPr>
            <p:cNvPr id="39" name="文本框 38"/>
            <p:cNvSpPr txBox="1"/>
            <p:nvPr/>
          </p:nvSpPr>
          <p:spPr>
            <a:xfrm>
              <a:off x="567" y="4087"/>
              <a:ext cx="5780" cy="1101"/>
            </a:xfrm>
            <a:prstGeom prst="rect">
              <a:avLst/>
            </a:prstGeom>
            <a:noFill/>
            <a:ln>
              <a:noFill/>
            </a:ln>
          </p:spPr>
          <p:txBody>
            <a:bodyPr wrap="square" rtlCol="0">
              <a:spAutoFit/>
            </a:bodyPr>
            <a:p>
              <a:pPr marR="0" lvl="0" indent="0" algn="just" defTabSz="914400" rtl="0" fontAlgn="auto">
                <a:lnSpc>
                  <a:spcPct val="120000"/>
                </a:lnSpc>
                <a:spcBef>
                  <a:spcPts val="0"/>
                </a:spcBef>
                <a:spcAft>
                  <a:spcPts val="0"/>
                </a:spcAft>
                <a:buClrTx/>
                <a:buSzTx/>
                <a:buFontTx/>
                <a:buNone/>
                <a:defRPr/>
              </a:pPr>
              <a:r>
                <a:rPr kumimoji="0" lang="zh-CN" altLang="en-US" sz="1100" b="0" i="0" u="none" strike="noStrike"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贯通31省BOSS系统及多渠道触客数据采集通道，实现数据标准化处理、计算，准实时看全个人市场、家庭市场、触客等重点经营指标，助力业务运营</a:t>
              </a:r>
              <a:r>
                <a:rPr kumimoji="0" lang="zh-CN" altLang="en-US" sz="11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a:t>
              </a:r>
              <a:endParaRPr kumimoji="0" lang="zh-CN" altLang="en-US" sz="11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42" name="矩形 41"/>
            <p:cNvSpPr/>
            <p:nvPr>
              <p:custDataLst>
                <p:tags r:id="rId1"/>
              </p:custDataLst>
            </p:nvPr>
          </p:nvSpPr>
          <p:spPr>
            <a:xfrm>
              <a:off x="379" y="3089"/>
              <a:ext cx="6093" cy="485"/>
            </a:xfrm>
            <a:prstGeom prst="rect">
              <a:avLst/>
            </a:prstGeom>
            <a:noFill/>
            <a:ln>
              <a:solidFill>
                <a:schemeClr val="accent1">
                  <a:lumMod val="20000"/>
                  <a:lumOff val="80000"/>
                </a:schemeClr>
              </a:solidFill>
            </a:ln>
            <a:extLst>
              <a:ext uri="{909E8E84-426E-40DD-AFC4-6F175D3DCCD1}">
                <a14:hiddenFill xmlns:a14="http://schemas.microsoft.com/office/drawing/2010/main">
                  <a:solidFill>
                    <a:srgbClr val="E6F0F8"/>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重点数据实时采集</a:t>
              </a:r>
              <a:endPar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15" name="Rectangle 45"/>
            <p:cNvSpPr/>
            <p:nvPr/>
          </p:nvSpPr>
          <p:spPr>
            <a:xfrm>
              <a:off x="499" y="3733"/>
              <a:ext cx="5299" cy="354"/>
            </a:xfrm>
            <a:prstGeom prst="rect">
              <a:avLst/>
            </a:prstGeom>
            <a:noFill/>
            <a:ln w="9525" cap="flat" cmpd="sng" algn="ctr">
              <a:noFill/>
              <a:prstDash val="solid"/>
              <a:miter lim="800000"/>
            </a:ln>
            <a:effectLst/>
          </p:spPr>
          <p:txBody>
            <a:bodyPr rtlCol="0" anchor="t"/>
            <a:p>
              <a:pPr marL="142875" indent="-142875" defTabSz="762000" fontAlgn="auto">
                <a:spcBef>
                  <a:spcPts val="0"/>
                </a:spcBef>
                <a:spcAft>
                  <a:spcPts val="0"/>
                </a:spcAft>
                <a:buFont typeface="Wingdings" panose="05000000000000000000" pitchFamily="2" charset="2"/>
                <a:buChar char="n"/>
                <a:defRPr/>
              </a:pPr>
              <a:r>
                <a:rPr kumimoji="1" lang="zh-CN" altLang="en-US" sz="1200" b="1" dirty="0">
                  <a:solidFill>
                    <a:srgbClr val="0070C0"/>
                  </a:solidFill>
                  <a:latin typeface="微软雅黑" panose="020B0503020204020204" pitchFamily="34" charset="-122"/>
                  <a:ea typeface="微软雅黑" panose="020B0503020204020204" pitchFamily="34" charset="-122"/>
                  <a:cs typeface="+mn-ea"/>
                  <a:sym typeface="+mn-ea"/>
                </a:rPr>
                <a:t>  构建直采通路，提升数据采集实时性</a:t>
              </a:r>
              <a:endParaRPr kumimoji="1" lang="zh-CN" altLang="en-US" sz="1200" b="1" dirty="0">
                <a:solidFill>
                  <a:srgbClr val="0070C0"/>
                </a:solidFill>
                <a:latin typeface="微软雅黑" panose="020B0503020204020204" pitchFamily="34" charset="-122"/>
                <a:ea typeface="微软雅黑" panose="020B0503020204020204" pitchFamily="34" charset="-122"/>
                <a:cs typeface="+mn-ea"/>
                <a:sym typeface="+mn-ea"/>
              </a:endParaRPr>
            </a:p>
          </p:txBody>
        </p:sp>
        <p:sp>
          <p:nvSpPr>
            <p:cNvPr id="116" name="矩形 115"/>
            <p:cNvSpPr/>
            <p:nvPr/>
          </p:nvSpPr>
          <p:spPr>
            <a:xfrm>
              <a:off x="378" y="3559"/>
              <a:ext cx="6094" cy="4074"/>
            </a:xfrm>
            <a:prstGeom prst="rect">
              <a:avLst/>
            </a:prstGeom>
            <a:noFill/>
            <a:ln>
              <a:solidFill>
                <a:schemeClr val="accent1">
                  <a:lumMod val="20000"/>
                  <a:lumOff val="8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3" name="矩形 272"/>
            <p:cNvSpPr/>
            <p:nvPr>
              <p:custDataLst>
                <p:tags r:id="rId2"/>
              </p:custDataLst>
            </p:nvPr>
          </p:nvSpPr>
          <p:spPr>
            <a:xfrm>
              <a:off x="6650" y="3089"/>
              <a:ext cx="6093" cy="485"/>
            </a:xfrm>
            <a:prstGeom prst="rect">
              <a:avLst/>
            </a:prstGeom>
            <a:noFill/>
            <a:ln>
              <a:solidFill>
                <a:schemeClr val="accent1">
                  <a:lumMod val="20000"/>
                  <a:lumOff val="80000"/>
                </a:schemeClr>
              </a:solidFill>
            </a:ln>
            <a:extLst>
              <a:ext uri="{909E8E84-426E-40DD-AFC4-6F175D3DCCD1}">
                <a14:hiddenFill xmlns:a14="http://schemas.microsoft.com/office/drawing/2010/main">
                  <a:solidFill>
                    <a:srgbClr val="E6F0F8"/>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加快数据开放共享</a:t>
              </a:r>
              <a:endPar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85" name="矩形 384"/>
            <p:cNvSpPr/>
            <p:nvPr/>
          </p:nvSpPr>
          <p:spPr>
            <a:xfrm>
              <a:off x="6649" y="3559"/>
              <a:ext cx="6094" cy="4074"/>
            </a:xfrm>
            <a:prstGeom prst="rect">
              <a:avLst/>
            </a:prstGeom>
            <a:noFill/>
            <a:ln>
              <a:solidFill>
                <a:schemeClr val="accent1">
                  <a:lumMod val="20000"/>
                  <a:lumOff val="8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396" name="组合 395"/>
            <p:cNvGrpSpPr/>
            <p:nvPr/>
          </p:nvGrpSpPr>
          <p:grpSpPr>
            <a:xfrm>
              <a:off x="565" y="5267"/>
              <a:ext cx="5708" cy="2068"/>
              <a:chOff x="11822" y="6028"/>
              <a:chExt cx="5707" cy="2046"/>
            </a:xfrm>
          </p:grpSpPr>
          <p:grpSp>
            <p:nvGrpSpPr>
              <p:cNvPr id="104" name="组合 103"/>
              <p:cNvGrpSpPr/>
              <p:nvPr/>
            </p:nvGrpSpPr>
            <p:grpSpPr>
              <a:xfrm rot="0">
                <a:off x="11822" y="6028"/>
                <a:ext cx="5707" cy="2046"/>
                <a:chOff x="685" y="6839"/>
                <a:chExt cx="6175" cy="2046"/>
              </a:xfrm>
            </p:grpSpPr>
            <p:grpSp>
              <p:nvGrpSpPr>
                <p:cNvPr id="48" name="组合 47"/>
                <p:cNvGrpSpPr/>
                <p:nvPr/>
              </p:nvGrpSpPr>
              <p:grpSpPr>
                <a:xfrm>
                  <a:off x="685" y="7137"/>
                  <a:ext cx="6175" cy="1748"/>
                  <a:chOff x="514" y="7567"/>
                  <a:chExt cx="7862" cy="2077"/>
                </a:xfrm>
              </p:grpSpPr>
              <p:sp>
                <p:nvSpPr>
                  <p:cNvPr id="50" name="矩形 49"/>
                  <p:cNvSpPr/>
                  <p:nvPr/>
                </p:nvSpPr>
                <p:spPr>
                  <a:xfrm>
                    <a:off x="586" y="9128"/>
                    <a:ext cx="7778" cy="516"/>
                  </a:xfrm>
                  <a:prstGeom prst="rect">
                    <a:avLst/>
                  </a:prstGeom>
                  <a:solidFill>
                    <a:schemeClr val="bg1"/>
                  </a:solidFill>
                  <a:ln w="9525">
                    <a:gradFill>
                      <a:gsLst>
                        <a:gs pos="0">
                          <a:schemeClr val="bg1"/>
                        </a:gs>
                        <a:gs pos="95000">
                          <a:srgbClr val="42BBF0">
                            <a:lumMod val="60000"/>
                            <a:lumOff val="40000"/>
                          </a:srgbClr>
                        </a:gs>
                      </a:gsLst>
                      <a:lin ang="5400000" scaled="1"/>
                    </a:gradFill>
                  </a:ln>
                  <a:effectLst>
                    <a:outerShdw blurRad="177800" dist="38100" dir="10800000" algn="r" rotWithShape="0">
                      <a:schemeClr val="accent1">
                        <a:lumMod val="60000"/>
                        <a:lumOff val="4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514" y="9168"/>
                    <a:ext cx="1428" cy="454"/>
                  </a:xfrm>
                  <a:prstGeom prst="rect">
                    <a:avLst/>
                  </a:prstGeom>
                  <a:noFill/>
                </p:spPr>
                <p:txBody>
                  <a:bodyPr wrap="square" lIns="91440" tIns="45720" rIns="91440" bIns="45720">
                    <a:spAutoFit/>
                  </a:bodyPr>
                  <a:lstStyle/>
                  <a:p>
                    <a:pPr algn="ctr"/>
                    <a:r>
                      <a:rPr lang="zh-CN" altLang="en-US" sz="1000" b="1" dirty="0">
                        <a:ln w="0"/>
                        <a:solidFill>
                          <a:srgbClr val="0070C0"/>
                        </a:solidFill>
                        <a:effectLst>
                          <a:outerShdw blurRad="60007" dist="310007" dir="7680000" sy="30000" kx="1300200" algn="ctr" rotWithShape="0">
                            <a:prstClr val="black">
                              <a:alpha val="32000"/>
                            </a:prstClr>
                          </a:outerShdw>
                        </a:effectLst>
                        <a:latin typeface="微软雅黑" panose="020B0503020204020204" pitchFamily="34" charset="-122"/>
                        <a:ea typeface="微软雅黑" panose="020B0503020204020204" pitchFamily="34" charset="-122"/>
                      </a:rPr>
                      <a:t>数据源</a:t>
                    </a:r>
                    <a:endParaRPr lang="zh-CN" altLang="en-US" sz="1000" b="1" dirty="0">
                      <a:ln w="0"/>
                      <a:solidFill>
                        <a:srgbClr val="0070C0"/>
                      </a:solidFill>
                      <a:effectLst>
                        <a:outerShdw blurRad="60007" dist="310007" dir="7680000" sy="30000" kx="1300200" algn="ctr" rotWithShape="0">
                          <a:prstClr val="black">
                            <a:alpha val="32000"/>
                          </a:prstClr>
                        </a:outerShdw>
                      </a:effectLst>
                      <a:latin typeface="微软雅黑" panose="020B0503020204020204" pitchFamily="34" charset="-122"/>
                      <a:ea typeface="微软雅黑" panose="020B0503020204020204" pitchFamily="34" charset="-122"/>
                    </a:endParaRPr>
                  </a:p>
                </p:txBody>
              </p:sp>
              <p:sp>
                <p:nvSpPr>
                  <p:cNvPr id="53" name="文本框 52"/>
                  <p:cNvSpPr txBox="1"/>
                  <p:nvPr/>
                </p:nvSpPr>
                <p:spPr>
                  <a:xfrm>
                    <a:off x="1742" y="9215"/>
                    <a:ext cx="2709" cy="426"/>
                  </a:xfrm>
                  <a:prstGeom prst="rect">
                    <a:avLst/>
                  </a:prstGeom>
                  <a:noFill/>
                </p:spPr>
                <p:txBody>
                  <a:bodyPr wrap="square" rtlCol="0">
                    <a:spAutoFit/>
                  </a:bodyPr>
                  <a:lstStyle/>
                  <a:p>
                    <a:r>
                      <a:rPr lang="en-US" altLang="zh-CN" sz="900" b="1" dirty="0">
                        <a:latin typeface="微软雅黑" panose="020B0503020204020204" pitchFamily="34" charset="-122"/>
                        <a:ea typeface="微软雅黑" panose="020B0503020204020204" pitchFamily="34" charset="-122"/>
                      </a:rPr>
                      <a:t>31</a:t>
                    </a:r>
                    <a:r>
                      <a:rPr lang="zh-CN" altLang="en-US" sz="900" b="1" dirty="0">
                        <a:latin typeface="微软雅黑" panose="020B0503020204020204" pitchFamily="34" charset="-122"/>
                        <a:ea typeface="微软雅黑" panose="020B0503020204020204" pitchFamily="34" charset="-122"/>
                      </a:rPr>
                      <a:t>省</a:t>
                    </a:r>
                    <a:r>
                      <a:rPr lang="en-US" altLang="zh-CN" sz="900" b="1" dirty="0">
                        <a:latin typeface="微软雅黑" panose="020B0503020204020204" pitchFamily="34" charset="-122"/>
                        <a:ea typeface="微软雅黑" panose="020B0503020204020204" pitchFamily="34" charset="-122"/>
                      </a:rPr>
                      <a:t>BOSS</a:t>
                    </a:r>
                    <a:r>
                      <a:rPr lang="zh-CN" altLang="en-US" sz="900" b="1" dirty="0">
                        <a:latin typeface="微软雅黑" panose="020B0503020204020204" pitchFamily="34" charset="-122"/>
                        <a:ea typeface="微软雅黑" panose="020B0503020204020204" pitchFamily="34" charset="-122"/>
                      </a:rPr>
                      <a:t>系统数据</a:t>
                    </a:r>
                    <a:endParaRPr lang="zh-CN" altLang="en-US" sz="900" b="1" dirty="0">
                      <a:latin typeface="微软雅黑" panose="020B0503020204020204" pitchFamily="34" charset="-122"/>
                      <a:ea typeface="微软雅黑" panose="020B0503020204020204" pitchFamily="34" charset="-122"/>
                    </a:endParaRPr>
                  </a:p>
                </p:txBody>
              </p:sp>
              <p:sp>
                <p:nvSpPr>
                  <p:cNvPr id="54" name="加号 53"/>
                  <p:cNvSpPr/>
                  <p:nvPr/>
                </p:nvSpPr>
                <p:spPr>
                  <a:xfrm>
                    <a:off x="4736" y="9301"/>
                    <a:ext cx="341" cy="334"/>
                  </a:xfrm>
                  <a:prstGeom prst="mathPlus">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5623" y="9184"/>
                    <a:ext cx="2309" cy="423"/>
                  </a:xfrm>
                  <a:prstGeom prst="rect">
                    <a:avLst/>
                  </a:prstGeom>
                  <a:noFill/>
                </p:spPr>
                <p:txBody>
                  <a:bodyPr wrap="square" rtlCol="0">
                    <a:spAutoFit/>
                  </a:bodyPr>
                  <a:lstStyle>
                    <a:defPPr>
                      <a:defRPr lang="zh-CN"/>
                    </a:defPPr>
                    <a:lvl1pPr>
                      <a:defRPr sz="1000">
                        <a:latin typeface="微软雅黑" panose="020B0503020204020204" pitchFamily="34" charset="-122"/>
                        <a:ea typeface="微软雅黑" panose="020B0503020204020204" pitchFamily="34" charset="-122"/>
                      </a:defRPr>
                    </a:lvl1pPr>
                  </a:lstStyle>
                  <a:p>
                    <a:r>
                      <a:rPr lang="zh-CN" altLang="en-US" sz="900" b="1" dirty="0"/>
                      <a:t>多渠道触客数据</a:t>
                    </a:r>
                    <a:endParaRPr lang="zh-CN" altLang="en-US" sz="900" b="1" dirty="0"/>
                  </a:p>
                </p:txBody>
              </p:sp>
              <p:sp>
                <p:nvSpPr>
                  <p:cNvPr id="160" name="等腰三角形 24"/>
                  <p:cNvSpPr/>
                  <p:nvPr>
                    <p:custDataLst>
                      <p:tags r:id="rId3"/>
                    </p:custDataLst>
                  </p:nvPr>
                </p:nvSpPr>
                <p:spPr>
                  <a:xfrm rot="10800000" flipV="1">
                    <a:off x="2643" y="8738"/>
                    <a:ext cx="3979" cy="384"/>
                  </a:xfrm>
                  <a:custGeom>
                    <a:avLst/>
                    <a:gdLst>
                      <a:gd name="connsiteX0" fmla="*/ 0 w 578876"/>
                      <a:gd name="connsiteY0" fmla="*/ 4648025 h 4648025"/>
                      <a:gd name="connsiteX1" fmla="*/ 289438 w 578876"/>
                      <a:gd name="connsiteY1" fmla="*/ 0 h 4648025"/>
                      <a:gd name="connsiteX2" fmla="*/ 578876 w 578876"/>
                      <a:gd name="connsiteY2" fmla="*/ 4648025 h 4648025"/>
                      <a:gd name="connsiteX3" fmla="*/ 0 w 578876"/>
                      <a:gd name="connsiteY3" fmla="*/ 4648025 h 4648025"/>
                      <a:gd name="connsiteX0-1" fmla="*/ 0 w 578876"/>
                      <a:gd name="connsiteY0-2" fmla="*/ 4648025 h 4648025"/>
                      <a:gd name="connsiteX1-3" fmla="*/ 289438 w 578876"/>
                      <a:gd name="connsiteY1-4" fmla="*/ 0 h 4648025"/>
                      <a:gd name="connsiteX2-5" fmla="*/ 578876 w 578876"/>
                      <a:gd name="connsiteY2-6" fmla="*/ 4648025 h 4648025"/>
                      <a:gd name="connsiteX3-7" fmla="*/ 0 w 578876"/>
                      <a:gd name="connsiteY3-8" fmla="*/ 4648025 h 4648025"/>
                      <a:gd name="connsiteX0-9" fmla="*/ 0 w 578876"/>
                      <a:gd name="connsiteY0-10" fmla="*/ 4648025 h 4648025"/>
                      <a:gd name="connsiteX1-11" fmla="*/ 289438 w 578876"/>
                      <a:gd name="connsiteY1-12" fmla="*/ 0 h 4648025"/>
                      <a:gd name="connsiteX2-13" fmla="*/ 578876 w 578876"/>
                      <a:gd name="connsiteY2-14" fmla="*/ 4648025 h 4648025"/>
                      <a:gd name="connsiteX3-15" fmla="*/ 0 w 578876"/>
                      <a:gd name="connsiteY3-16" fmla="*/ 4648025 h 4648025"/>
                      <a:gd name="connsiteX0-17" fmla="*/ 0 w 578876"/>
                      <a:gd name="connsiteY0-18" fmla="*/ 4648025 h 4648025"/>
                      <a:gd name="connsiteX1-19" fmla="*/ 289438 w 578876"/>
                      <a:gd name="connsiteY1-20" fmla="*/ 0 h 4648025"/>
                      <a:gd name="connsiteX2-21" fmla="*/ 578876 w 578876"/>
                      <a:gd name="connsiteY2-22" fmla="*/ 4648025 h 4648025"/>
                      <a:gd name="connsiteX3-23" fmla="*/ 0 w 578876"/>
                      <a:gd name="connsiteY3-24" fmla="*/ 4648025 h 4648025"/>
                      <a:gd name="connsiteX0-25" fmla="*/ 0 w 578876"/>
                      <a:gd name="connsiteY0-26" fmla="*/ 4648025 h 4648025"/>
                      <a:gd name="connsiteX1-27" fmla="*/ 289438 w 578876"/>
                      <a:gd name="connsiteY1-28" fmla="*/ 0 h 4648025"/>
                      <a:gd name="connsiteX2-29" fmla="*/ 578876 w 578876"/>
                      <a:gd name="connsiteY2-30" fmla="*/ 4648025 h 4648025"/>
                      <a:gd name="connsiteX3-31" fmla="*/ 0 w 578876"/>
                      <a:gd name="connsiteY3-32" fmla="*/ 4648025 h 4648025"/>
                      <a:gd name="connsiteX0-33" fmla="*/ 0 w 578876"/>
                      <a:gd name="connsiteY0-34" fmla="*/ 4648025 h 4648025"/>
                      <a:gd name="connsiteX1-35" fmla="*/ 289438 w 578876"/>
                      <a:gd name="connsiteY1-36" fmla="*/ 0 h 4648025"/>
                      <a:gd name="connsiteX2-37" fmla="*/ 578876 w 578876"/>
                      <a:gd name="connsiteY2-38" fmla="*/ 4648025 h 4648025"/>
                      <a:gd name="connsiteX3-39" fmla="*/ 0 w 578876"/>
                      <a:gd name="connsiteY3-40" fmla="*/ 4648025 h 4648025"/>
                      <a:gd name="connsiteX0-41" fmla="*/ 0 w 578876"/>
                      <a:gd name="connsiteY0-42" fmla="*/ 4648025 h 4648025"/>
                      <a:gd name="connsiteX1-43" fmla="*/ 289438 w 578876"/>
                      <a:gd name="connsiteY1-44" fmla="*/ 0 h 4648025"/>
                      <a:gd name="connsiteX2-45" fmla="*/ 578876 w 578876"/>
                      <a:gd name="connsiteY2-46" fmla="*/ 4648025 h 4648025"/>
                      <a:gd name="connsiteX3-47" fmla="*/ 0 w 578876"/>
                      <a:gd name="connsiteY3-48" fmla="*/ 4648025 h 4648025"/>
                      <a:gd name="connsiteX0-49" fmla="*/ 0 w 578876"/>
                      <a:gd name="connsiteY0-50" fmla="*/ 4648025 h 4648025"/>
                      <a:gd name="connsiteX1-51" fmla="*/ 289438 w 578876"/>
                      <a:gd name="connsiteY1-52" fmla="*/ 0 h 4648025"/>
                      <a:gd name="connsiteX2-53" fmla="*/ 578876 w 578876"/>
                      <a:gd name="connsiteY2-54" fmla="*/ 4648025 h 4648025"/>
                      <a:gd name="connsiteX3-55" fmla="*/ 0 w 578876"/>
                      <a:gd name="connsiteY3-56" fmla="*/ 4648025 h 4648025"/>
                      <a:gd name="connsiteX0-57" fmla="*/ 0 w 578876"/>
                      <a:gd name="connsiteY0-58" fmla="*/ 4648025 h 4648025"/>
                      <a:gd name="connsiteX1-59" fmla="*/ 289438 w 578876"/>
                      <a:gd name="connsiteY1-60" fmla="*/ 0 h 4648025"/>
                      <a:gd name="connsiteX2-61" fmla="*/ 578876 w 578876"/>
                      <a:gd name="connsiteY2-62" fmla="*/ 4648025 h 4648025"/>
                      <a:gd name="connsiteX3-63" fmla="*/ 0 w 578876"/>
                      <a:gd name="connsiteY3-64" fmla="*/ 4648025 h 4648025"/>
                      <a:gd name="connsiteX0-65" fmla="*/ 0 w 578876"/>
                      <a:gd name="connsiteY0-66" fmla="*/ 4648025 h 4648025"/>
                      <a:gd name="connsiteX1-67" fmla="*/ 289438 w 578876"/>
                      <a:gd name="connsiteY1-68" fmla="*/ 0 h 4648025"/>
                      <a:gd name="connsiteX2-69" fmla="*/ 578876 w 578876"/>
                      <a:gd name="connsiteY2-70" fmla="*/ 4648025 h 4648025"/>
                      <a:gd name="connsiteX3-71" fmla="*/ 0 w 578876"/>
                      <a:gd name="connsiteY3-72" fmla="*/ 4648025 h 4648025"/>
                      <a:gd name="connsiteX0-73" fmla="*/ 0 w 578876"/>
                      <a:gd name="connsiteY0-74" fmla="*/ 4648025 h 4648025"/>
                      <a:gd name="connsiteX1-75" fmla="*/ 289438 w 578876"/>
                      <a:gd name="connsiteY1-76" fmla="*/ 0 h 4648025"/>
                      <a:gd name="connsiteX2-77" fmla="*/ 578876 w 578876"/>
                      <a:gd name="connsiteY2-78" fmla="*/ 4648025 h 4648025"/>
                      <a:gd name="connsiteX3-79" fmla="*/ 0 w 578876"/>
                      <a:gd name="connsiteY3-80" fmla="*/ 4648025 h 4648025"/>
                      <a:gd name="connsiteX0-81" fmla="*/ 0 w 578876"/>
                      <a:gd name="connsiteY0-82" fmla="*/ 4648025 h 4648025"/>
                      <a:gd name="connsiteX1-83" fmla="*/ 289438 w 578876"/>
                      <a:gd name="connsiteY1-84" fmla="*/ 0 h 4648025"/>
                      <a:gd name="connsiteX2-85" fmla="*/ 578876 w 578876"/>
                      <a:gd name="connsiteY2-86" fmla="*/ 4648025 h 4648025"/>
                      <a:gd name="connsiteX3-87" fmla="*/ 0 w 578876"/>
                      <a:gd name="connsiteY3-88" fmla="*/ 4648025 h 4648025"/>
                      <a:gd name="connsiteX0-89" fmla="*/ 0 w 578876"/>
                      <a:gd name="connsiteY0-90" fmla="*/ 4648025 h 4648025"/>
                      <a:gd name="connsiteX1-91" fmla="*/ 289438 w 578876"/>
                      <a:gd name="connsiteY1-92" fmla="*/ 0 h 4648025"/>
                      <a:gd name="connsiteX2-93" fmla="*/ 578876 w 578876"/>
                      <a:gd name="connsiteY2-94" fmla="*/ 4648025 h 4648025"/>
                      <a:gd name="connsiteX3-95" fmla="*/ 0 w 578876"/>
                      <a:gd name="connsiteY3-96" fmla="*/ 4648025 h 4648025"/>
                      <a:gd name="connsiteX0-97" fmla="*/ 0 w 578876"/>
                      <a:gd name="connsiteY0-98" fmla="*/ 4648025 h 4648025"/>
                      <a:gd name="connsiteX1-99" fmla="*/ 289438 w 578876"/>
                      <a:gd name="connsiteY1-100" fmla="*/ 0 h 4648025"/>
                      <a:gd name="connsiteX2-101" fmla="*/ 578876 w 578876"/>
                      <a:gd name="connsiteY2-102" fmla="*/ 4648025 h 4648025"/>
                      <a:gd name="connsiteX3-103" fmla="*/ 0 w 578876"/>
                      <a:gd name="connsiteY3-104" fmla="*/ 4648025 h 4648025"/>
                      <a:gd name="connsiteX0-105" fmla="*/ 0 w 578876"/>
                      <a:gd name="connsiteY0-106" fmla="*/ 4648025 h 4648025"/>
                      <a:gd name="connsiteX1-107" fmla="*/ 289438 w 578876"/>
                      <a:gd name="connsiteY1-108" fmla="*/ 0 h 4648025"/>
                      <a:gd name="connsiteX2-109" fmla="*/ 578876 w 578876"/>
                      <a:gd name="connsiteY2-110" fmla="*/ 4648025 h 4648025"/>
                      <a:gd name="connsiteX3-111" fmla="*/ 0 w 578876"/>
                      <a:gd name="connsiteY3-112" fmla="*/ 4648025 h 4648025"/>
                    </a:gdLst>
                    <a:ahLst/>
                    <a:cxnLst>
                      <a:cxn ang="0">
                        <a:pos x="connsiteX0-1" y="connsiteY0-2"/>
                      </a:cxn>
                      <a:cxn ang="0">
                        <a:pos x="connsiteX1-3" y="connsiteY1-4"/>
                      </a:cxn>
                      <a:cxn ang="0">
                        <a:pos x="connsiteX2-5" y="connsiteY2-6"/>
                      </a:cxn>
                      <a:cxn ang="0">
                        <a:pos x="connsiteX3-7" y="connsiteY3-8"/>
                      </a:cxn>
                    </a:cxnLst>
                    <a:rect l="l" t="t" r="r" b="b"/>
                    <a:pathLst>
                      <a:path w="578876" h="4648025">
                        <a:moveTo>
                          <a:pt x="0" y="4648025"/>
                        </a:moveTo>
                        <a:cubicBezTo>
                          <a:pt x="162866" y="3047883"/>
                          <a:pt x="238853" y="1866842"/>
                          <a:pt x="289438" y="0"/>
                        </a:cubicBezTo>
                        <a:cubicBezTo>
                          <a:pt x="343197" y="1879542"/>
                          <a:pt x="403887" y="3035183"/>
                          <a:pt x="578876" y="4648025"/>
                        </a:cubicBezTo>
                        <a:lnTo>
                          <a:pt x="0" y="4648025"/>
                        </a:lnTo>
                        <a:close/>
                      </a:path>
                    </a:pathLst>
                  </a:custGeom>
                  <a:gradFill flip="none" rotWithShape="1">
                    <a:gsLst>
                      <a:gs pos="50000">
                        <a:srgbClr val="80B8E0"/>
                      </a:gs>
                      <a:gs pos="0">
                        <a:schemeClr val="bg1"/>
                      </a:gs>
                      <a:gs pos="100000">
                        <a:srgbClr val="0070C0"/>
                      </a:gs>
                    </a:gsLst>
                    <a:lin ang="16200000" scaled="1"/>
                  </a:gradFill>
                  <a:ln w="25400" cap="flat" cmpd="sng" algn="ctr">
                    <a:noFill/>
                    <a:prstDash val="solid"/>
                  </a:ln>
                  <a:effectLst/>
                </p:spPr>
                <p:txBody>
                  <a:bodyPr anchor="ctr"/>
                  <a:lstStyle/>
                  <a:p>
                    <a:pPr marL="0" marR="0" lvl="0" indent="0" algn="ctr" defTabSz="910590" rtl="0" eaLnBrk="1" fontAlgn="base" latinLnBrk="0" hangingPunct="1">
                      <a:lnSpc>
                        <a:spcPct val="100000"/>
                      </a:lnSpc>
                      <a:spcBef>
                        <a:spcPct val="0"/>
                      </a:spcBef>
                      <a:spcAft>
                        <a:spcPct val="0"/>
                      </a:spcAft>
                      <a:buClrTx/>
                      <a:buSzTx/>
                      <a:buFontTx/>
                      <a:buNone/>
                      <a:defRPr/>
                    </a:pPr>
                    <a:endPar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2" name="文本框 61"/>
                  <p:cNvSpPr txBox="1"/>
                  <p:nvPr/>
                </p:nvSpPr>
                <p:spPr>
                  <a:xfrm>
                    <a:off x="3986" y="8871"/>
                    <a:ext cx="2250" cy="411"/>
                  </a:xfrm>
                  <a:prstGeom prst="rect">
                    <a:avLst/>
                  </a:prstGeom>
                  <a:noFill/>
                </p:spPr>
                <p:txBody>
                  <a:bodyPr wrap="square" rtlCol="0">
                    <a:spAutoFit/>
                  </a:bodyPr>
                  <a:lstStyle/>
                  <a:p>
                    <a:r>
                      <a:rPr lang="zh-CN" altLang="en-US" sz="900" b="1" dirty="0">
                        <a:solidFill>
                          <a:srgbClr val="C00000"/>
                        </a:solidFill>
                        <a:latin typeface="微软雅黑" panose="020B0503020204020204" pitchFamily="34" charset="-122"/>
                        <a:ea typeface="微软雅黑" panose="020B0503020204020204" pitchFamily="34" charset="-122"/>
                      </a:rPr>
                      <a:t>实时直采</a:t>
                    </a:r>
                    <a:endParaRPr lang="zh-CN" altLang="en-US" sz="900" b="1" dirty="0">
                      <a:solidFill>
                        <a:srgbClr val="C00000"/>
                      </a:solidFill>
                      <a:latin typeface="微软雅黑" panose="020B0503020204020204" pitchFamily="34" charset="-122"/>
                      <a:ea typeface="微软雅黑" panose="020B0503020204020204" pitchFamily="34" charset="-122"/>
                    </a:endParaRPr>
                  </a:p>
                </p:txBody>
              </p:sp>
              <p:sp>
                <p:nvSpPr>
                  <p:cNvPr id="213" name="等腰三角形 24"/>
                  <p:cNvSpPr/>
                  <p:nvPr>
                    <p:custDataLst>
                      <p:tags r:id="rId4"/>
                    </p:custDataLst>
                  </p:nvPr>
                </p:nvSpPr>
                <p:spPr>
                  <a:xfrm rot="10800000" flipV="1">
                    <a:off x="2643" y="7567"/>
                    <a:ext cx="3979" cy="384"/>
                  </a:xfrm>
                  <a:custGeom>
                    <a:avLst/>
                    <a:gdLst>
                      <a:gd name="connsiteX0" fmla="*/ 0 w 578876"/>
                      <a:gd name="connsiteY0" fmla="*/ 4648025 h 4648025"/>
                      <a:gd name="connsiteX1" fmla="*/ 289438 w 578876"/>
                      <a:gd name="connsiteY1" fmla="*/ 0 h 4648025"/>
                      <a:gd name="connsiteX2" fmla="*/ 578876 w 578876"/>
                      <a:gd name="connsiteY2" fmla="*/ 4648025 h 4648025"/>
                      <a:gd name="connsiteX3" fmla="*/ 0 w 578876"/>
                      <a:gd name="connsiteY3" fmla="*/ 4648025 h 4648025"/>
                      <a:gd name="connsiteX0-1" fmla="*/ 0 w 578876"/>
                      <a:gd name="connsiteY0-2" fmla="*/ 4648025 h 4648025"/>
                      <a:gd name="connsiteX1-3" fmla="*/ 289438 w 578876"/>
                      <a:gd name="connsiteY1-4" fmla="*/ 0 h 4648025"/>
                      <a:gd name="connsiteX2-5" fmla="*/ 578876 w 578876"/>
                      <a:gd name="connsiteY2-6" fmla="*/ 4648025 h 4648025"/>
                      <a:gd name="connsiteX3-7" fmla="*/ 0 w 578876"/>
                      <a:gd name="connsiteY3-8" fmla="*/ 4648025 h 4648025"/>
                      <a:gd name="connsiteX0-9" fmla="*/ 0 w 578876"/>
                      <a:gd name="connsiteY0-10" fmla="*/ 4648025 h 4648025"/>
                      <a:gd name="connsiteX1-11" fmla="*/ 289438 w 578876"/>
                      <a:gd name="connsiteY1-12" fmla="*/ 0 h 4648025"/>
                      <a:gd name="connsiteX2-13" fmla="*/ 578876 w 578876"/>
                      <a:gd name="connsiteY2-14" fmla="*/ 4648025 h 4648025"/>
                      <a:gd name="connsiteX3-15" fmla="*/ 0 w 578876"/>
                      <a:gd name="connsiteY3-16" fmla="*/ 4648025 h 4648025"/>
                      <a:gd name="connsiteX0-17" fmla="*/ 0 w 578876"/>
                      <a:gd name="connsiteY0-18" fmla="*/ 4648025 h 4648025"/>
                      <a:gd name="connsiteX1-19" fmla="*/ 289438 w 578876"/>
                      <a:gd name="connsiteY1-20" fmla="*/ 0 h 4648025"/>
                      <a:gd name="connsiteX2-21" fmla="*/ 578876 w 578876"/>
                      <a:gd name="connsiteY2-22" fmla="*/ 4648025 h 4648025"/>
                      <a:gd name="connsiteX3-23" fmla="*/ 0 w 578876"/>
                      <a:gd name="connsiteY3-24" fmla="*/ 4648025 h 4648025"/>
                      <a:gd name="connsiteX0-25" fmla="*/ 0 w 578876"/>
                      <a:gd name="connsiteY0-26" fmla="*/ 4648025 h 4648025"/>
                      <a:gd name="connsiteX1-27" fmla="*/ 289438 w 578876"/>
                      <a:gd name="connsiteY1-28" fmla="*/ 0 h 4648025"/>
                      <a:gd name="connsiteX2-29" fmla="*/ 578876 w 578876"/>
                      <a:gd name="connsiteY2-30" fmla="*/ 4648025 h 4648025"/>
                      <a:gd name="connsiteX3-31" fmla="*/ 0 w 578876"/>
                      <a:gd name="connsiteY3-32" fmla="*/ 4648025 h 4648025"/>
                      <a:gd name="connsiteX0-33" fmla="*/ 0 w 578876"/>
                      <a:gd name="connsiteY0-34" fmla="*/ 4648025 h 4648025"/>
                      <a:gd name="connsiteX1-35" fmla="*/ 289438 w 578876"/>
                      <a:gd name="connsiteY1-36" fmla="*/ 0 h 4648025"/>
                      <a:gd name="connsiteX2-37" fmla="*/ 578876 w 578876"/>
                      <a:gd name="connsiteY2-38" fmla="*/ 4648025 h 4648025"/>
                      <a:gd name="connsiteX3-39" fmla="*/ 0 w 578876"/>
                      <a:gd name="connsiteY3-40" fmla="*/ 4648025 h 4648025"/>
                      <a:gd name="connsiteX0-41" fmla="*/ 0 w 578876"/>
                      <a:gd name="connsiteY0-42" fmla="*/ 4648025 h 4648025"/>
                      <a:gd name="connsiteX1-43" fmla="*/ 289438 w 578876"/>
                      <a:gd name="connsiteY1-44" fmla="*/ 0 h 4648025"/>
                      <a:gd name="connsiteX2-45" fmla="*/ 578876 w 578876"/>
                      <a:gd name="connsiteY2-46" fmla="*/ 4648025 h 4648025"/>
                      <a:gd name="connsiteX3-47" fmla="*/ 0 w 578876"/>
                      <a:gd name="connsiteY3-48" fmla="*/ 4648025 h 4648025"/>
                      <a:gd name="connsiteX0-49" fmla="*/ 0 w 578876"/>
                      <a:gd name="connsiteY0-50" fmla="*/ 4648025 h 4648025"/>
                      <a:gd name="connsiteX1-51" fmla="*/ 289438 w 578876"/>
                      <a:gd name="connsiteY1-52" fmla="*/ 0 h 4648025"/>
                      <a:gd name="connsiteX2-53" fmla="*/ 578876 w 578876"/>
                      <a:gd name="connsiteY2-54" fmla="*/ 4648025 h 4648025"/>
                      <a:gd name="connsiteX3-55" fmla="*/ 0 w 578876"/>
                      <a:gd name="connsiteY3-56" fmla="*/ 4648025 h 4648025"/>
                      <a:gd name="connsiteX0-57" fmla="*/ 0 w 578876"/>
                      <a:gd name="connsiteY0-58" fmla="*/ 4648025 h 4648025"/>
                      <a:gd name="connsiteX1-59" fmla="*/ 289438 w 578876"/>
                      <a:gd name="connsiteY1-60" fmla="*/ 0 h 4648025"/>
                      <a:gd name="connsiteX2-61" fmla="*/ 578876 w 578876"/>
                      <a:gd name="connsiteY2-62" fmla="*/ 4648025 h 4648025"/>
                      <a:gd name="connsiteX3-63" fmla="*/ 0 w 578876"/>
                      <a:gd name="connsiteY3-64" fmla="*/ 4648025 h 4648025"/>
                      <a:gd name="connsiteX0-65" fmla="*/ 0 w 578876"/>
                      <a:gd name="connsiteY0-66" fmla="*/ 4648025 h 4648025"/>
                      <a:gd name="connsiteX1-67" fmla="*/ 289438 w 578876"/>
                      <a:gd name="connsiteY1-68" fmla="*/ 0 h 4648025"/>
                      <a:gd name="connsiteX2-69" fmla="*/ 578876 w 578876"/>
                      <a:gd name="connsiteY2-70" fmla="*/ 4648025 h 4648025"/>
                      <a:gd name="connsiteX3-71" fmla="*/ 0 w 578876"/>
                      <a:gd name="connsiteY3-72" fmla="*/ 4648025 h 4648025"/>
                      <a:gd name="connsiteX0-73" fmla="*/ 0 w 578876"/>
                      <a:gd name="connsiteY0-74" fmla="*/ 4648025 h 4648025"/>
                      <a:gd name="connsiteX1-75" fmla="*/ 289438 w 578876"/>
                      <a:gd name="connsiteY1-76" fmla="*/ 0 h 4648025"/>
                      <a:gd name="connsiteX2-77" fmla="*/ 578876 w 578876"/>
                      <a:gd name="connsiteY2-78" fmla="*/ 4648025 h 4648025"/>
                      <a:gd name="connsiteX3-79" fmla="*/ 0 w 578876"/>
                      <a:gd name="connsiteY3-80" fmla="*/ 4648025 h 4648025"/>
                      <a:gd name="connsiteX0-81" fmla="*/ 0 w 578876"/>
                      <a:gd name="connsiteY0-82" fmla="*/ 4648025 h 4648025"/>
                      <a:gd name="connsiteX1-83" fmla="*/ 289438 w 578876"/>
                      <a:gd name="connsiteY1-84" fmla="*/ 0 h 4648025"/>
                      <a:gd name="connsiteX2-85" fmla="*/ 578876 w 578876"/>
                      <a:gd name="connsiteY2-86" fmla="*/ 4648025 h 4648025"/>
                      <a:gd name="connsiteX3-87" fmla="*/ 0 w 578876"/>
                      <a:gd name="connsiteY3-88" fmla="*/ 4648025 h 4648025"/>
                      <a:gd name="connsiteX0-89" fmla="*/ 0 w 578876"/>
                      <a:gd name="connsiteY0-90" fmla="*/ 4648025 h 4648025"/>
                      <a:gd name="connsiteX1-91" fmla="*/ 289438 w 578876"/>
                      <a:gd name="connsiteY1-92" fmla="*/ 0 h 4648025"/>
                      <a:gd name="connsiteX2-93" fmla="*/ 578876 w 578876"/>
                      <a:gd name="connsiteY2-94" fmla="*/ 4648025 h 4648025"/>
                      <a:gd name="connsiteX3-95" fmla="*/ 0 w 578876"/>
                      <a:gd name="connsiteY3-96" fmla="*/ 4648025 h 4648025"/>
                      <a:gd name="connsiteX0-97" fmla="*/ 0 w 578876"/>
                      <a:gd name="connsiteY0-98" fmla="*/ 4648025 h 4648025"/>
                      <a:gd name="connsiteX1-99" fmla="*/ 289438 w 578876"/>
                      <a:gd name="connsiteY1-100" fmla="*/ 0 h 4648025"/>
                      <a:gd name="connsiteX2-101" fmla="*/ 578876 w 578876"/>
                      <a:gd name="connsiteY2-102" fmla="*/ 4648025 h 4648025"/>
                      <a:gd name="connsiteX3-103" fmla="*/ 0 w 578876"/>
                      <a:gd name="connsiteY3-104" fmla="*/ 4648025 h 4648025"/>
                      <a:gd name="connsiteX0-105" fmla="*/ 0 w 578876"/>
                      <a:gd name="connsiteY0-106" fmla="*/ 4648025 h 4648025"/>
                      <a:gd name="connsiteX1-107" fmla="*/ 289438 w 578876"/>
                      <a:gd name="connsiteY1-108" fmla="*/ 0 h 4648025"/>
                      <a:gd name="connsiteX2-109" fmla="*/ 578876 w 578876"/>
                      <a:gd name="connsiteY2-110" fmla="*/ 4648025 h 4648025"/>
                      <a:gd name="connsiteX3-111" fmla="*/ 0 w 578876"/>
                      <a:gd name="connsiteY3-112" fmla="*/ 4648025 h 4648025"/>
                    </a:gdLst>
                    <a:ahLst/>
                    <a:cxnLst>
                      <a:cxn ang="0">
                        <a:pos x="connsiteX0-1" y="connsiteY0-2"/>
                      </a:cxn>
                      <a:cxn ang="0">
                        <a:pos x="connsiteX1-3" y="connsiteY1-4"/>
                      </a:cxn>
                      <a:cxn ang="0">
                        <a:pos x="connsiteX2-5" y="connsiteY2-6"/>
                      </a:cxn>
                      <a:cxn ang="0">
                        <a:pos x="connsiteX3-7" y="connsiteY3-8"/>
                      </a:cxn>
                    </a:cxnLst>
                    <a:rect l="l" t="t" r="r" b="b"/>
                    <a:pathLst>
                      <a:path w="578876" h="4648025">
                        <a:moveTo>
                          <a:pt x="0" y="4648025"/>
                        </a:moveTo>
                        <a:cubicBezTo>
                          <a:pt x="162866" y="3047883"/>
                          <a:pt x="238853" y="1866842"/>
                          <a:pt x="289438" y="0"/>
                        </a:cubicBezTo>
                        <a:cubicBezTo>
                          <a:pt x="343197" y="1879542"/>
                          <a:pt x="403887" y="3035183"/>
                          <a:pt x="578876" y="4648025"/>
                        </a:cubicBezTo>
                        <a:lnTo>
                          <a:pt x="0" y="4648025"/>
                        </a:lnTo>
                        <a:close/>
                      </a:path>
                    </a:pathLst>
                  </a:custGeom>
                  <a:gradFill flip="none" rotWithShape="1">
                    <a:gsLst>
                      <a:gs pos="50000">
                        <a:srgbClr val="80B8E0"/>
                      </a:gs>
                      <a:gs pos="0">
                        <a:schemeClr val="bg1"/>
                      </a:gs>
                      <a:gs pos="100000">
                        <a:srgbClr val="0070C0"/>
                      </a:gs>
                    </a:gsLst>
                    <a:lin ang="16200000" scaled="1"/>
                  </a:gradFill>
                  <a:ln w="25400" cap="flat" cmpd="sng" algn="ctr">
                    <a:noFill/>
                    <a:prstDash val="solid"/>
                  </a:ln>
                  <a:effectLst/>
                </p:spPr>
                <p:txBody>
                  <a:bodyPr anchor="ctr"/>
                  <a:lstStyle/>
                  <a:p>
                    <a:pPr marL="0" marR="0" lvl="0" indent="0" algn="ctr" defTabSz="910590" rtl="0" eaLnBrk="1" fontAlgn="base" latinLnBrk="0" hangingPunct="1">
                      <a:lnSpc>
                        <a:spcPct val="100000"/>
                      </a:lnSpc>
                      <a:spcBef>
                        <a:spcPct val="0"/>
                      </a:spcBef>
                      <a:spcAft>
                        <a:spcPct val="0"/>
                      </a:spcAft>
                      <a:buClrTx/>
                      <a:buSzTx/>
                      <a:buFontTx/>
                      <a:buNone/>
                      <a:defRPr/>
                    </a:pPr>
                    <a:endPar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14" name="文本框 213"/>
                  <p:cNvSpPr txBox="1"/>
                  <p:nvPr/>
                </p:nvSpPr>
                <p:spPr>
                  <a:xfrm>
                    <a:off x="3973" y="7600"/>
                    <a:ext cx="1642" cy="658"/>
                  </a:xfrm>
                  <a:prstGeom prst="rect">
                    <a:avLst/>
                  </a:prstGeom>
                  <a:noFill/>
                </p:spPr>
                <p:txBody>
                  <a:bodyPr wrap="square" rtlCol="0">
                    <a:spAutoFit/>
                  </a:bodyPr>
                  <a:lstStyle/>
                  <a:p>
                    <a:r>
                      <a:rPr lang="zh-CN" altLang="en-US" sz="900" b="1" dirty="0">
                        <a:solidFill>
                          <a:srgbClr val="C00000"/>
                        </a:solidFill>
                        <a:latin typeface="微软雅黑" panose="020B0503020204020204" pitchFamily="34" charset="-122"/>
                        <a:ea typeface="微软雅黑" panose="020B0503020204020204" pitchFamily="34" charset="-122"/>
                      </a:rPr>
                      <a:t>标准级转换</a:t>
                    </a:r>
                    <a:endParaRPr lang="zh-CN" altLang="en-US" sz="900" b="1" dirty="0">
                      <a:solidFill>
                        <a:srgbClr val="C00000"/>
                      </a:solidFill>
                      <a:latin typeface="微软雅黑" panose="020B0503020204020204" pitchFamily="34" charset="-122"/>
                      <a:ea typeface="微软雅黑" panose="020B0503020204020204" pitchFamily="34" charset="-122"/>
                    </a:endParaRPr>
                  </a:p>
                </p:txBody>
              </p:sp>
              <p:sp>
                <p:nvSpPr>
                  <p:cNvPr id="161" name="矩形 160"/>
                  <p:cNvSpPr/>
                  <p:nvPr/>
                </p:nvSpPr>
                <p:spPr>
                  <a:xfrm>
                    <a:off x="598" y="7972"/>
                    <a:ext cx="7778" cy="697"/>
                  </a:xfrm>
                  <a:prstGeom prst="rect">
                    <a:avLst/>
                  </a:prstGeom>
                  <a:solidFill>
                    <a:schemeClr val="bg1"/>
                  </a:solidFill>
                  <a:ln w="9525">
                    <a:gradFill>
                      <a:gsLst>
                        <a:gs pos="0">
                          <a:schemeClr val="bg1"/>
                        </a:gs>
                        <a:gs pos="95000">
                          <a:srgbClr val="42BBF0">
                            <a:lumMod val="60000"/>
                            <a:lumOff val="40000"/>
                          </a:srgbClr>
                        </a:gs>
                      </a:gsLst>
                      <a:lin ang="5400000" scaled="1"/>
                    </a:gradFill>
                  </a:ln>
                  <a:effectLst>
                    <a:outerShdw blurRad="177800" dist="38100" dir="10800000" algn="r" rotWithShape="0">
                      <a:schemeClr val="accent1">
                        <a:lumMod val="60000"/>
                        <a:lumOff val="4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矩形 183"/>
                  <p:cNvSpPr/>
                  <p:nvPr/>
                </p:nvSpPr>
                <p:spPr>
                  <a:xfrm>
                    <a:off x="533" y="8182"/>
                    <a:ext cx="1425" cy="438"/>
                  </a:xfrm>
                  <a:prstGeom prst="rect">
                    <a:avLst/>
                  </a:prstGeom>
                  <a:noFill/>
                </p:spPr>
                <p:txBody>
                  <a:bodyPr wrap="square" lIns="91440" tIns="45720" rIns="91440" bIns="45720">
                    <a:spAutoFit/>
                  </a:bodyPr>
                  <a:lstStyle/>
                  <a:p>
                    <a:pPr algn="ctr"/>
                    <a:r>
                      <a:rPr lang="zh-CN" altLang="en-US" sz="1000" b="1" dirty="0">
                        <a:ln w="0"/>
                        <a:solidFill>
                          <a:srgbClr val="0070C0"/>
                        </a:solidFill>
                        <a:effectLst>
                          <a:outerShdw blurRad="60007" dist="310007" dir="7680000" sy="30000" kx="1300200" algn="ctr" rotWithShape="0">
                            <a:prstClr val="black">
                              <a:alpha val="32000"/>
                            </a:prstClr>
                          </a:outerShdw>
                        </a:effectLst>
                        <a:latin typeface="微软雅黑" panose="020B0503020204020204" pitchFamily="34" charset="-122"/>
                        <a:ea typeface="微软雅黑" panose="020B0503020204020204" pitchFamily="34" charset="-122"/>
                      </a:rPr>
                      <a:t>分析层</a:t>
                    </a:r>
                    <a:endParaRPr lang="zh-CN" altLang="en-US" sz="1000" b="1" dirty="0">
                      <a:ln w="0"/>
                      <a:solidFill>
                        <a:srgbClr val="0070C0"/>
                      </a:solidFill>
                      <a:effectLst>
                        <a:outerShdw blurRad="60007" dist="310007" dir="7680000" sy="30000" kx="1300200" algn="ctr" rotWithShape="0">
                          <a:prstClr val="black">
                            <a:alpha val="32000"/>
                          </a:prstClr>
                        </a:outerShdw>
                      </a:effectLst>
                      <a:latin typeface="微软雅黑" panose="020B0503020204020204" pitchFamily="34" charset="-122"/>
                      <a:ea typeface="微软雅黑" panose="020B0503020204020204" pitchFamily="34" charset="-122"/>
                    </a:endParaRPr>
                  </a:p>
                </p:txBody>
              </p:sp>
            </p:grpSp>
            <p:sp>
              <p:nvSpPr>
                <p:cNvPr id="102" name="矩形 101"/>
                <p:cNvSpPr/>
                <p:nvPr/>
              </p:nvSpPr>
              <p:spPr>
                <a:xfrm>
                  <a:off x="2197" y="6839"/>
                  <a:ext cx="3446" cy="281"/>
                </a:xfrm>
                <a:prstGeom prst="rect">
                  <a:avLst/>
                </a:prstGeom>
                <a:solidFill>
                  <a:srgbClr val="40B0FF"/>
                </a:solidFill>
                <a:ln w="12700" cap="flat" cmpd="sng" algn="ctr">
                  <a:noFill/>
                  <a:prstDash val="solid"/>
                  <a:miter lim="800000"/>
                </a:ln>
                <a:effectLst/>
              </p:spPr>
              <p:txBody>
                <a:bodyPr rtlCol="0" anchor="ctr"/>
                <a:p>
                  <a:pPr lvl="0" algn="ctr" defTabSz="914400">
                    <a:defRPr/>
                  </a:pPr>
                  <a:r>
                    <a:rPr lang="zh-CN" sz="1100" b="1" kern="0" dirty="0">
                      <a:solidFill>
                        <a:schemeClr val="bg1"/>
                      </a:solidFill>
                      <a:latin typeface="微软雅黑" panose="020B0503020204020204" pitchFamily="34" charset="-122"/>
                      <a:ea typeface="微软雅黑" panose="020B0503020204020204" pitchFamily="34" charset="-122"/>
                    </a:rPr>
                    <a:t>重点指标</a:t>
                  </a:r>
                  <a:r>
                    <a:rPr lang="en-US" altLang="zh-CN" sz="1100" b="1" kern="0" dirty="0">
                      <a:solidFill>
                        <a:schemeClr val="bg1"/>
                      </a:solidFill>
                      <a:latin typeface="微软雅黑" panose="020B0503020204020204" pitchFamily="34" charset="-122"/>
                      <a:ea typeface="微软雅黑" panose="020B0503020204020204" pitchFamily="34" charset="-122"/>
                    </a:rPr>
                    <a:t> </a:t>
                  </a:r>
                  <a:r>
                    <a:rPr lang="zh-CN" sz="1100" b="1" kern="0" dirty="0">
                      <a:solidFill>
                        <a:schemeClr val="bg1"/>
                      </a:solidFill>
                      <a:latin typeface="微软雅黑" panose="020B0503020204020204" pitchFamily="34" charset="-122"/>
                      <a:ea typeface="微软雅黑" panose="020B0503020204020204" pitchFamily="34" charset="-122"/>
                    </a:rPr>
                    <a:t>实时监控</a:t>
                  </a:r>
                  <a:endParaRPr lang="zh-CN" sz="1100" b="1" kern="0" dirty="0">
                    <a:solidFill>
                      <a:schemeClr val="bg1"/>
                    </a:solidFill>
                    <a:latin typeface="微软雅黑" panose="020B0503020204020204" pitchFamily="34" charset="-122"/>
                    <a:ea typeface="微软雅黑" panose="020B0503020204020204" pitchFamily="34" charset="-122"/>
                  </a:endParaRPr>
                </a:p>
              </p:txBody>
            </p:sp>
          </p:grpSp>
          <p:grpSp>
            <p:nvGrpSpPr>
              <p:cNvPr id="388" name="组合 387"/>
              <p:cNvGrpSpPr/>
              <p:nvPr/>
            </p:nvGrpSpPr>
            <p:grpSpPr>
              <a:xfrm>
                <a:off x="12698" y="6770"/>
                <a:ext cx="1336" cy="312"/>
                <a:chOff x="16022" y="6019"/>
                <a:chExt cx="1804" cy="312"/>
              </a:xfrm>
            </p:grpSpPr>
            <p:sp>
              <p:nvSpPr>
                <p:cNvPr id="386" name="文本框 385"/>
                <p:cNvSpPr txBox="1"/>
                <p:nvPr/>
              </p:nvSpPr>
              <p:spPr>
                <a:xfrm>
                  <a:off x="16107" y="6019"/>
                  <a:ext cx="1719" cy="311"/>
                </a:xfrm>
                <a:prstGeom prst="rect">
                  <a:avLst/>
                </a:prstGeom>
                <a:noFill/>
                <a:ln w="3175">
                  <a:noFill/>
                </a:ln>
              </p:spPr>
              <p:txBody>
                <a:bodyPr wrap="square" rtlCol="0">
                  <a:noAutofit/>
                </a:bodyPr>
                <a:p>
                  <a:pPr algn="l"/>
                  <a:r>
                    <a:rPr kumimoji="1" lang="zh-CN" altLang="en-US" sz="800" dirty="0">
                      <a:latin typeface="微软雅黑" panose="020B0503020204020204" pitchFamily="34" charset="-122"/>
                      <a:ea typeface="微软雅黑" panose="020B0503020204020204" pitchFamily="34" charset="-122"/>
                    </a:rPr>
                    <a:t>信息标准转换</a:t>
                  </a:r>
                  <a:endParaRPr kumimoji="1" lang="zh-CN" altLang="en-US" sz="800" dirty="0">
                    <a:latin typeface="微软雅黑" panose="020B0503020204020204" pitchFamily="34" charset="-122"/>
                    <a:ea typeface="微软雅黑" panose="020B0503020204020204" pitchFamily="34" charset="-122"/>
                  </a:endParaRPr>
                </a:p>
              </p:txBody>
            </p:sp>
            <p:sp>
              <p:nvSpPr>
                <p:cNvPr id="387" name="矩形 386"/>
                <p:cNvSpPr/>
                <p:nvPr/>
              </p:nvSpPr>
              <p:spPr>
                <a:xfrm>
                  <a:off x="16022" y="6053"/>
                  <a:ext cx="1593" cy="278"/>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p>
              </p:txBody>
            </p:sp>
          </p:grpSp>
          <p:grpSp>
            <p:nvGrpSpPr>
              <p:cNvPr id="392" name="组合 391"/>
              <p:cNvGrpSpPr/>
              <p:nvPr/>
            </p:nvGrpSpPr>
            <p:grpSpPr>
              <a:xfrm>
                <a:off x="14017" y="6748"/>
                <a:ext cx="2099" cy="332"/>
                <a:chOff x="12874" y="6001"/>
                <a:chExt cx="2347" cy="332"/>
              </a:xfrm>
            </p:grpSpPr>
            <p:sp>
              <p:nvSpPr>
                <p:cNvPr id="390" name="文本框 389"/>
                <p:cNvSpPr txBox="1"/>
                <p:nvPr/>
              </p:nvSpPr>
              <p:spPr>
                <a:xfrm>
                  <a:off x="12884" y="6001"/>
                  <a:ext cx="2337" cy="308"/>
                </a:xfrm>
                <a:prstGeom prst="rect">
                  <a:avLst/>
                </a:prstGeom>
                <a:noFill/>
                <a:ln w="3175">
                  <a:noFill/>
                </a:ln>
              </p:spPr>
              <p:txBody>
                <a:bodyPr wrap="square" rtlCol="0">
                  <a:noAutofit/>
                </a:bodyPr>
                <a:p>
                  <a:pPr algn="l"/>
                  <a:r>
                    <a:rPr kumimoji="1" lang="zh-CN" altLang="en-US" sz="800" dirty="0">
                      <a:latin typeface="微软雅黑" panose="020B0503020204020204" pitchFamily="34" charset="-122"/>
                      <a:ea typeface="微软雅黑" panose="020B0503020204020204" pitchFamily="34" charset="-122"/>
                    </a:rPr>
                    <a:t>产品业务、码表映射管理</a:t>
                  </a:r>
                  <a:endParaRPr kumimoji="1" lang="zh-CN" altLang="en-US" sz="800" dirty="0">
                    <a:latin typeface="微软雅黑" panose="020B0503020204020204" pitchFamily="34" charset="-122"/>
                    <a:ea typeface="微软雅黑" panose="020B0503020204020204" pitchFamily="34" charset="-122"/>
                  </a:endParaRPr>
                </a:p>
              </p:txBody>
            </p:sp>
            <p:sp>
              <p:nvSpPr>
                <p:cNvPr id="391" name="矩形 390"/>
                <p:cNvSpPr/>
                <p:nvPr/>
              </p:nvSpPr>
              <p:spPr>
                <a:xfrm>
                  <a:off x="12874" y="6053"/>
                  <a:ext cx="2347" cy="28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p>
              </p:txBody>
            </p:sp>
          </p:grpSp>
          <p:grpSp>
            <p:nvGrpSpPr>
              <p:cNvPr id="393" name="组合 392"/>
              <p:cNvGrpSpPr/>
              <p:nvPr/>
            </p:nvGrpSpPr>
            <p:grpSpPr>
              <a:xfrm>
                <a:off x="16318" y="6757"/>
                <a:ext cx="974" cy="311"/>
                <a:chOff x="15348" y="6019"/>
                <a:chExt cx="1744" cy="311"/>
              </a:xfrm>
            </p:grpSpPr>
            <p:sp>
              <p:nvSpPr>
                <p:cNvPr id="394" name="文本框 393"/>
                <p:cNvSpPr txBox="1"/>
                <p:nvPr/>
              </p:nvSpPr>
              <p:spPr>
                <a:xfrm>
                  <a:off x="15373" y="6019"/>
                  <a:ext cx="1719" cy="311"/>
                </a:xfrm>
                <a:prstGeom prst="rect">
                  <a:avLst/>
                </a:prstGeom>
                <a:noFill/>
                <a:ln w="3175">
                  <a:noFill/>
                </a:ln>
              </p:spPr>
              <p:txBody>
                <a:bodyPr wrap="square" rtlCol="0">
                  <a:noAutofit/>
                </a:bodyPr>
                <a:p>
                  <a:pPr algn="l"/>
                  <a:r>
                    <a:rPr kumimoji="1" lang="zh-CN" altLang="en-US" sz="800" dirty="0">
                      <a:latin typeface="微软雅黑" panose="020B0503020204020204" pitchFamily="34" charset="-122"/>
                      <a:ea typeface="微软雅黑" panose="020B0503020204020204" pitchFamily="34" charset="-122"/>
                    </a:rPr>
                    <a:t>指标统计</a:t>
                  </a:r>
                  <a:endParaRPr kumimoji="1" lang="zh-CN" altLang="en-US" sz="800" dirty="0">
                    <a:latin typeface="微软雅黑" panose="020B0503020204020204" pitchFamily="34" charset="-122"/>
                    <a:ea typeface="微软雅黑" panose="020B0503020204020204" pitchFamily="34" charset="-122"/>
                  </a:endParaRPr>
                </a:p>
              </p:txBody>
            </p:sp>
            <p:sp>
              <p:nvSpPr>
                <p:cNvPr id="395" name="矩形 394"/>
                <p:cNvSpPr/>
                <p:nvPr/>
              </p:nvSpPr>
              <p:spPr>
                <a:xfrm>
                  <a:off x="15348" y="6050"/>
                  <a:ext cx="1593" cy="278"/>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p>
              </p:txBody>
            </p:sp>
          </p:grpSp>
        </p:grpSp>
        <p:pic>
          <p:nvPicPr>
            <p:cNvPr id="397" name="图片 396"/>
            <p:cNvPicPr>
              <a:picLocks noChangeAspect="1"/>
            </p:cNvPicPr>
            <p:nvPr/>
          </p:nvPicPr>
          <p:blipFill>
            <a:blip r:embed="rId5"/>
            <a:stretch>
              <a:fillRect/>
            </a:stretch>
          </p:blipFill>
          <p:spPr>
            <a:xfrm>
              <a:off x="7019" y="4610"/>
              <a:ext cx="5388" cy="979"/>
            </a:xfrm>
            <a:prstGeom prst="rect">
              <a:avLst/>
            </a:prstGeom>
          </p:spPr>
        </p:pic>
        <p:sp>
          <p:nvSpPr>
            <p:cNvPr id="412" name="Rectangle 45"/>
            <p:cNvSpPr/>
            <p:nvPr/>
          </p:nvSpPr>
          <p:spPr>
            <a:xfrm>
              <a:off x="6791" y="3793"/>
              <a:ext cx="5299" cy="354"/>
            </a:xfrm>
            <a:prstGeom prst="rect">
              <a:avLst/>
            </a:prstGeom>
            <a:noFill/>
            <a:ln w="9525" cap="flat" cmpd="sng" algn="ctr">
              <a:noFill/>
              <a:prstDash val="solid"/>
              <a:miter lim="800000"/>
            </a:ln>
            <a:effectLst/>
          </p:spPr>
          <p:txBody>
            <a:bodyPr rtlCol="0" anchor="t"/>
            <a:p>
              <a:pPr marL="142875" indent="-142875" defTabSz="762000" fontAlgn="auto">
                <a:spcBef>
                  <a:spcPts val="0"/>
                </a:spcBef>
                <a:spcAft>
                  <a:spcPts val="0"/>
                </a:spcAft>
                <a:buFont typeface="Wingdings" panose="05000000000000000000" pitchFamily="2" charset="2"/>
                <a:buChar char="n"/>
                <a:defRPr/>
              </a:pPr>
              <a:r>
                <a:rPr kumimoji="1" lang="zh-CN" altLang="en-US" sz="1200" b="1" dirty="0">
                  <a:solidFill>
                    <a:srgbClr val="0070C0"/>
                  </a:solidFill>
                  <a:latin typeface="微软雅黑" panose="020B0503020204020204" pitchFamily="34" charset="-122"/>
                  <a:ea typeface="微软雅黑" panose="020B0503020204020204" pitchFamily="34" charset="-122"/>
                  <a:cs typeface="+mn-ea"/>
                  <a:sym typeface="+mn-ea"/>
                </a:rPr>
                <a:t>  畅通全域市场领域数据融通路径</a:t>
              </a:r>
              <a:endParaRPr kumimoji="1" lang="zh-CN" altLang="en-US" sz="1200" b="1" dirty="0">
                <a:solidFill>
                  <a:srgbClr val="0070C0"/>
                </a:solidFill>
                <a:latin typeface="微软雅黑" panose="020B0503020204020204" pitchFamily="34" charset="-122"/>
                <a:ea typeface="微软雅黑" panose="020B0503020204020204" pitchFamily="34" charset="-122"/>
                <a:cs typeface="+mn-ea"/>
                <a:sym typeface="+mn-ea"/>
              </a:endParaRPr>
            </a:p>
          </p:txBody>
        </p:sp>
        <p:sp>
          <p:nvSpPr>
            <p:cNvPr id="413" name="文本框 412"/>
            <p:cNvSpPr txBox="1"/>
            <p:nvPr/>
          </p:nvSpPr>
          <p:spPr>
            <a:xfrm>
              <a:off x="6729" y="4191"/>
              <a:ext cx="5780" cy="463"/>
            </a:xfrm>
            <a:prstGeom prst="rect">
              <a:avLst/>
            </a:prstGeom>
            <a:noFill/>
            <a:ln>
              <a:noFill/>
            </a:ln>
          </p:spPr>
          <p:txBody>
            <a:bodyPr wrap="square" rtlCol="0">
              <a:spAutoFit/>
            </a:bodyPr>
            <a:p>
              <a:pPr marR="0" lvl="0" indent="0" algn="just" defTabSz="914400" rtl="0" fontAlgn="auto">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开展省省、省专、专专数据融通结对子专项行动</a:t>
              </a:r>
              <a:endParaRPr kumimoji="0" lang="zh-CN" altLang="en-US" sz="11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grpSp>
          <p:nvGrpSpPr>
            <p:cNvPr id="416" name="组合 415"/>
            <p:cNvGrpSpPr/>
            <p:nvPr/>
          </p:nvGrpSpPr>
          <p:grpSpPr>
            <a:xfrm>
              <a:off x="12831" y="3074"/>
              <a:ext cx="6094" cy="4558"/>
              <a:chOff x="6849" y="3289"/>
              <a:chExt cx="6094" cy="4558"/>
            </a:xfrm>
          </p:grpSpPr>
          <p:sp>
            <p:nvSpPr>
              <p:cNvPr id="414" name="矩形 413"/>
              <p:cNvSpPr/>
              <p:nvPr>
                <p:custDataLst>
                  <p:tags r:id="rId6"/>
                </p:custDataLst>
              </p:nvPr>
            </p:nvSpPr>
            <p:spPr>
              <a:xfrm>
                <a:off x="6850" y="3289"/>
                <a:ext cx="6093" cy="485"/>
              </a:xfrm>
              <a:prstGeom prst="rect">
                <a:avLst/>
              </a:prstGeom>
              <a:noFill/>
              <a:ln>
                <a:solidFill>
                  <a:schemeClr val="accent1">
                    <a:lumMod val="20000"/>
                    <a:lumOff val="80000"/>
                  </a:schemeClr>
                </a:solidFill>
              </a:ln>
              <a:extLst>
                <a:ext uri="{909E8E84-426E-40DD-AFC4-6F175D3DCCD1}">
                  <a14:hiddenFill xmlns:a14="http://schemas.microsoft.com/office/drawing/2010/main">
                    <a:solidFill>
                      <a:srgbClr val="E6F0F8"/>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多维分析智能用数</a:t>
                </a:r>
                <a:endPar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415" name="矩形 414"/>
              <p:cNvSpPr/>
              <p:nvPr/>
            </p:nvSpPr>
            <p:spPr>
              <a:xfrm>
                <a:off x="6849" y="3759"/>
                <a:ext cx="6094" cy="4088"/>
              </a:xfrm>
              <a:prstGeom prst="rect">
                <a:avLst/>
              </a:prstGeom>
              <a:noFill/>
              <a:ln>
                <a:solidFill>
                  <a:schemeClr val="accent1">
                    <a:lumMod val="20000"/>
                    <a:lumOff val="8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417" name="Rectangle 45"/>
            <p:cNvSpPr/>
            <p:nvPr/>
          </p:nvSpPr>
          <p:spPr>
            <a:xfrm>
              <a:off x="6830" y="5593"/>
              <a:ext cx="5299" cy="354"/>
            </a:xfrm>
            <a:prstGeom prst="rect">
              <a:avLst/>
            </a:prstGeom>
            <a:noFill/>
            <a:ln w="9525" cap="flat" cmpd="sng" algn="ctr">
              <a:noFill/>
              <a:prstDash val="solid"/>
              <a:miter lim="800000"/>
            </a:ln>
            <a:effectLst/>
          </p:spPr>
          <p:txBody>
            <a:bodyPr rtlCol="0" anchor="t"/>
            <a:p>
              <a:pPr marL="142875" indent="-142875" defTabSz="762000" fontAlgn="auto">
                <a:spcBef>
                  <a:spcPts val="0"/>
                </a:spcBef>
                <a:spcAft>
                  <a:spcPts val="0"/>
                </a:spcAft>
                <a:buFont typeface="Wingdings" panose="05000000000000000000" pitchFamily="2" charset="2"/>
                <a:buChar char="n"/>
                <a:defRPr/>
              </a:pPr>
              <a:r>
                <a:rPr kumimoji="1" lang="zh-CN" altLang="en-US" sz="1200" b="1" dirty="0">
                  <a:solidFill>
                    <a:srgbClr val="0070C0"/>
                  </a:solidFill>
                  <a:latin typeface="微软雅黑" panose="020B0503020204020204" pitchFamily="34" charset="-122"/>
                  <a:ea typeface="微软雅黑" panose="020B0503020204020204" pitchFamily="34" charset="-122"/>
                  <a:cs typeface="+mn-ea"/>
                  <a:sym typeface="+mn-ea"/>
                </a:rPr>
                <a:t>  开展市场领域数据治理</a:t>
              </a:r>
              <a:endParaRPr kumimoji="1" lang="zh-CN" altLang="en-US" sz="1200" b="1" dirty="0">
                <a:solidFill>
                  <a:srgbClr val="0070C0"/>
                </a:solidFill>
                <a:latin typeface="微软雅黑" panose="020B0503020204020204" pitchFamily="34" charset="-122"/>
                <a:ea typeface="微软雅黑" panose="020B0503020204020204" pitchFamily="34" charset="-122"/>
                <a:cs typeface="+mn-ea"/>
                <a:sym typeface="+mn-ea"/>
              </a:endParaRPr>
            </a:p>
          </p:txBody>
        </p:sp>
        <p:grpSp>
          <p:nvGrpSpPr>
            <p:cNvPr id="448" name="组合 447"/>
            <p:cNvGrpSpPr/>
            <p:nvPr/>
          </p:nvGrpSpPr>
          <p:grpSpPr>
            <a:xfrm>
              <a:off x="7125" y="6422"/>
              <a:ext cx="5282" cy="793"/>
              <a:chOff x="7125" y="8072"/>
              <a:chExt cx="5282" cy="1066"/>
            </a:xfrm>
          </p:grpSpPr>
          <p:sp>
            <p:nvSpPr>
              <p:cNvPr id="422" name="文本框 421"/>
              <p:cNvSpPr txBox="1"/>
              <p:nvPr/>
            </p:nvSpPr>
            <p:spPr>
              <a:xfrm>
                <a:off x="7125" y="8072"/>
                <a:ext cx="1650" cy="495"/>
              </a:xfrm>
              <a:prstGeom prst="rect">
                <a:avLst/>
              </a:prstGeom>
              <a:solidFill>
                <a:srgbClr val="40B0FF"/>
              </a:solidFill>
            </p:spPr>
            <p:txBody>
              <a:bodyPr wrap="square" rtlCol="0" anchor="ctr" anchorCtr="0">
                <a:noAutofit/>
              </a:bodyPr>
              <a:p>
                <a:pPr algn="ctr"/>
                <a:r>
                  <a:rPr lang="zh-CN" sz="1000" b="1">
                    <a:solidFill>
                      <a:schemeClr val="bg1"/>
                    </a:solidFill>
                    <a:latin typeface="微软雅黑" panose="020B0503020204020204" pitchFamily="34" charset="-122"/>
                    <a:ea typeface="微软雅黑" panose="020B0503020204020204" pitchFamily="34" charset="-122"/>
                    <a:sym typeface="+mn-ea"/>
                  </a:rPr>
                  <a:t>一套数据地图</a:t>
                </a:r>
                <a:endParaRPr lang="zh-CN" altLang="en-US" sz="1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44" name="文本框 443"/>
              <p:cNvSpPr txBox="1"/>
              <p:nvPr/>
            </p:nvSpPr>
            <p:spPr>
              <a:xfrm>
                <a:off x="8903" y="8072"/>
                <a:ext cx="1650" cy="495"/>
              </a:xfrm>
              <a:prstGeom prst="rect">
                <a:avLst/>
              </a:prstGeom>
              <a:solidFill>
                <a:srgbClr val="40B0FF"/>
              </a:solidFill>
            </p:spPr>
            <p:txBody>
              <a:bodyPr wrap="square" rtlCol="0" anchor="ctr" anchorCtr="0">
                <a:noAutofit/>
              </a:bodyPr>
              <a:p>
                <a:pPr algn="ctr"/>
                <a:r>
                  <a:rPr lang="zh-CN" sz="1000" b="1">
                    <a:solidFill>
                      <a:schemeClr val="bg1"/>
                    </a:solidFill>
                    <a:latin typeface="微软雅黑" panose="020B0503020204020204" pitchFamily="34" charset="-122"/>
                    <a:ea typeface="微软雅黑" panose="020B0503020204020204" pitchFamily="34" charset="-122"/>
                    <a:sym typeface="+mn-ea"/>
                  </a:rPr>
                  <a:t>一套管理流程</a:t>
                </a:r>
                <a:endParaRPr lang="zh-CN" altLang="en-US" sz="1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45" name="文本框 444"/>
              <p:cNvSpPr txBox="1"/>
              <p:nvPr/>
            </p:nvSpPr>
            <p:spPr>
              <a:xfrm>
                <a:off x="10757" y="8072"/>
                <a:ext cx="1650" cy="495"/>
              </a:xfrm>
              <a:prstGeom prst="rect">
                <a:avLst/>
              </a:prstGeom>
              <a:solidFill>
                <a:srgbClr val="40B0FF"/>
              </a:solidFill>
            </p:spPr>
            <p:txBody>
              <a:bodyPr wrap="square" rtlCol="0" anchor="ctr" anchorCtr="0">
                <a:noAutofit/>
              </a:bodyPr>
              <a:p>
                <a:pPr algn="ctr"/>
                <a:r>
                  <a:rPr lang="zh-CN" sz="1000" b="1">
                    <a:solidFill>
                      <a:schemeClr val="bg1"/>
                    </a:solidFill>
                    <a:latin typeface="微软雅黑" panose="020B0503020204020204" pitchFamily="34" charset="-122"/>
                    <a:ea typeface="微软雅黑" panose="020B0503020204020204" pitchFamily="34" charset="-122"/>
                    <a:sym typeface="+mn-ea"/>
                  </a:rPr>
                  <a:t>一个用数平台</a:t>
                </a:r>
                <a:endParaRPr lang="zh-CN" altLang="en-US" sz="1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46" name="文本框 445"/>
              <p:cNvSpPr txBox="1"/>
              <p:nvPr/>
            </p:nvSpPr>
            <p:spPr>
              <a:xfrm>
                <a:off x="7855" y="8644"/>
                <a:ext cx="1650" cy="495"/>
              </a:xfrm>
              <a:prstGeom prst="rect">
                <a:avLst/>
              </a:prstGeom>
              <a:solidFill>
                <a:srgbClr val="40B0FF"/>
              </a:solidFill>
            </p:spPr>
            <p:txBody>
              <a:bodyPr wrap="square" rtlCol="0" anchor="ctr" anchorCtr="0">
                <a:noAutofit/>
              </a:bodyPr>
              <a:p>
                <a:pPr algn="ctr"/>
                <a:r>
                  <a:rPr lang="zh-CN" sz="1000" b="1">
                    <a:solidFill>
                      <a:schemeClr val="bg1"/>
                    </a:solidFill>
                    <a:latin typeface="微软雅黑" panose="020B0503020204020204" pitchFamily="34" charset="-122"/>
                    <a:ea typeface="微软雅黑" panose="020B0503020204020204" pitchFamily="34" charset="-122"/>
                    <a:sym typeface="+mn-ea"/>
                  </a:rPr>
                  <a:t>一套组织保障</a:t>
                </a:r>
                <a:endParaRPr lang="zh-CN" altLang="en-US" sz="1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47" name="文本框 446"/>
              <p:cNvSpPr txBox="1"/>
              <p:nvPr/>
            </p:nvSpPr>
            <p:spPr>
              <a:xfrm>
                <a:off x="9854" y="8644"/>
                <a:ext cx="1650" cy="495"/>
              </a:xfrm>
              <a:prstGeom prst="rect">
                <a:avLst/>
              </a:prstGeom>
              <a:solidFill>
                <a:srgbClr val="40B0FF"/>
              </a:solidFill>
            </p:spPr>
            <p:txBody>
              <a:bodyPr wrap="square" rtlCol="0" anchor="ctr" anchorCtr="0">
                <a:noAutofit/>
              </a:bodyPr>
              <a:p>
                <a:pPr algn="ctr"/>
                <a:r>
                  <a:rPr lang="zh-CN" sz="1000" b="1">
                    <a:solidFill>
                      <a:schemeClr val="bg1"/>
                    </a:solidFill>
                    <a:latin typeface="微软雅黑" panose="020B0503020204020204" pitchFamily="34" charset="-122"/>
                    <a:ea typeface="微软雅黑" panose="020B0503020204020204" pitchFamily="34" charset="-122"/>
                    <a:sym typeface="+mn-ea"/>
                  </a:rPr>
                  <a:t>一套考核激励</a:t>
                </a:r>
                <a:endParaRPr lang="zh-CN" altLang="en-US" sz="1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449" name="文本框 448"/>
            <p:cNvSpPr txBox="1"/>
            <p:nvPr/>
          </p:nvSpPr>
          <p:spPr>
            <a:xfrm>
              <a:off x="6838" y="5927"/>
              <a:ext cx="5780" cy="463"/>
            </a:xfrm>
            <a:prstGeom prst="rect">
              <a:avLst/>
            </a:prstGeom>
            <a:noFill/>
            <a:ln>
              <a:noFill/>
            </a:ln>
          </p:spPr>
          <p:txBody>
            <a:bodyPr wrap="square" rtlCol="0">
              <a:spAutoFit/>
            </a:bodyPr>
            <a:p>
              <a:pPr marR="0" lvl="0" indent="0" algn="just" defTabSz="914400" rtl="0" fontAlgn="auto">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开展市场领域数据专项治理，形成全网一张数据地图</a:t>
              </a:r>
              <a:endParaRPr kumimoji="0" lang="zh-CN" altLang="en-US" sz="11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grpSp>
          <p:nvGrpSpPr>
            <p:cNvPr id="452" name="组合 451"/>
            <p:cNvGrpSpPr/>
            <p:nvPr/>
          </p:nvGrpSpPr>
          <p:grpSpPr>
            <a:xfrm>
              <a:off x="12958" y="3733"/>
              <a:ext cx="5848" cy="1774"/>
              <a:chOff x="6970" y="3933"/>
              <a:chExt cx="5848" cy="1774"/>
            </a:xfrm>
          </p:grpSpPr>
          <p:sp>
            <p:nvSpPr>
              <p:cNvPr id="450" name="文本框 449"/>
              <p:cNvSpPr txBox="1"/>
              <p:nvPr/>
            </p:nvSpPr>
            <p:spPr>
              <a:xfrm>
                <a:off x="7038" y="4287"/>
                <a:ext cx="5780" cy="1420"/>
              </a:xfrm>
              <a:prstGeom prst="rect">
                <a:avLst/>
              </a:prstGeom>
              <a:noFill/>
              <a:ln>
                <a:noFill/>
              </a:ln>
            </p:spPr>
            <p:txBody>
              <a:bodyPr wrap="square" rtlCol="0">
                <a:spAutoFit/>
              </a:bodyPr>
              <a:p>
                <a:pPr marR="0" lvl="0" indent="0" algn="just" defTabSz="914400" rtl="0" fontAlgn="auto">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通过深度数据挖掘算法和智能推荐模型，准确把握客户需求和意愿，自动生成个性化营销策略，深化存量客户进行价值经营，实现以客户生命周期为基础、数据内生驱动的自动化运营体系，赋能一级集中化运营支撑</a:t>
                </a:r>
                <a:endParaRPr kumimoji="0" lang="zh-CN" altLang="en-US" sz="11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451" name="Rectangle 45"/>
              <p:cNvSpPr/>
              <p:nvPr/>
            </p:nvSpPr>
            <p:spPr>
              <a:xfrm>
                <a:off x="6970" y="3933"/>
                <a:ext cx="5299" cy="354"/>
              </a:xfrm>
              <a:prstGeom prst="rect">
                <a:avLst/>
              </a:prstGeom>
              <a:noFill/>
              <a:ln w="9525" cap="flat" cmpd="sng" algn="ctr">
                <a:noFill/>
                <a:prstDash val="solid"/>
                <a:miter lim="800000"/>
              </a:ln>
              <a:effectLst/>
            </p:spPr>
            <p:txBody>
              <a:bodyPr rtlCol="0" anchor="t"/>
              <a:p>
                <a:pPr marL="142875" indent="-142875" defTabSz="762000" fontAlgn="auto">
                  <a:spcBef>
                    <a:spcPts val="0"/>
                  </a:spcBef>
                  <a:spcAft>
                    <a:spcPts val="0"/>
                  </a:spcAft>
                  <a:buFont typeface="Wingdings" panose="05000000000000000000" pitchFamily="2" charset="2"/>
                  <a:buChar char="n"/>
                  <a:defRPr/>
                </a:pPr>
                <a:r>
                  <a:rPr kumimoji="1" lang="zh-CN" altLang="en-US" sz="1200" b="1" dirty="0">
                    <a:solidFill>
                      <a:srgbClr val="0070C0"/>
                    </a:solidFill>
                    <a:latin typeface="微软雅黑" panose="020B0503020204020204" pitchFamily="34" charset="-122"/>
                    <a:ea typeface="微软雅黑" panose="020B0503020204020204" pitchFamily="34" charset="-122"/>
                    <a:cs typeface="+mn-ea"/>
                    <a:sym typeface="+mn-ea"/>
                  </a:rPr>
                  <a:t>  构建</a:t>
                </a:r>
                <a:r>
                  <a:rPr kumimoji="1" lang="en-US" altLang="zh-CN" sz="1200" b="1" dirty="0">
                    <a:solidFill>
                      <a:srgbClr val="0070C0"/>
                    </a:solidFill>
                    <a:latin typeface="微软雅黑" panose="020B0503020204020204" pitchFamily="34" charset="-122"/>
                    <a:ea typeface="微软雅黑" panose="020B0503020204020204" pitchFamily="34" charset="-122"/>
                    <a:cs typeface="+mn-ea"/>
                    <a:sym typeface="+mn-ea"/>
                  </a:rPr>
                  <a:t>AI</a:t>
                </a:r>
                <a:r>
                  <a:rPr kumimoji="1" lang="zh-CN" altLang="en-US" sz="1200" b="1" dirty="0">
                    <a:solidFill>
                      <a:srgbClr val="0070C0"/>
                    </a:solidFill>
                    <a:latin typeface="微软雅黑" panose="020B0503020204020204" pitchFamily="34" charset="-122"/>
                    <a:ea typeface="微软雅黑" panose="020B0503020204020204" pitchFamily="34" charset="-122"/>
                    <a:cs typeface="+mn-ea"/>
                    <a:sym typeface="+mn-ea"/>
                  </a:rPr>
                  <a:t>智慧大脑</a:t>
                </a:r>
                <a:endParaRPr kumimoji="1" lang="zh-CN" altLang="en-US" sz="1200" b="1" dirty="0">
                  <a:solidFill>
                    <a:srgbClr val="0070C0"/>
                  </a:solidFill>
                  <a:latin typeface="微软雅黑" panose="020B0503020204020204" pitchFamily="34" charset="-122"/>
                  <a:ea typeface="微软雅黑" panose="020B0503020204020204" pitchFamily="34" charset="-122"/>
                  <a:cs typeface="+mn-ea"/>
                  <a:sym typeface="+mn-ea"/>
                </a:endParaRPr>
              </a:p>
            </p:txBody>
          </p:sp>
        </p:grpSp>
        <p:grpSp>
          <p:nvGrpSpPr>
            <p:cNvPr id="453" name="组合 452"/>
            <p:cNvGrpSpPr/>
            <p:nvPr/>
          </p:nvGrpSpPr>
          <p:grpSpPr>
            <a:xfrm>
              <a:off x="13087" y="5616"/>
              <a:ext cx="5491" cy="1634"/>
              <a:chOff x="1772" y="3840"/>
              <a:chExt cx="7600" cy="1304"/>
            </a:xfrm>
          </p:grpSpPr>
          <p:sp>
            <p:nvSpPr>
              <p:cNvPr id="454" name="矩形 453"/>
              <p:cNvSpPr/>
              <p:nvPr>
                <p:custDataLst>
                  <p:tags r:id="rId7"/>
                </p:custDataLst>
              </p:nvPr>
            </p:nvSpPr>
            <p:spPr>
              <a:xfrm>
                <a:off x="1772" y="3840"/>
                <a:ext cx="7601" cy="1304"/>
              </a:xfrm>
              <a:prstGeom prst="rect">
                <a:avLst/>
              </a:prstGeom>
              <a:solidFill>
                <a:schemeClr val="bg1">
                  <a:alpha val="30000"/>
                </a:schemeClr>
              </a:solidFill>
              <a:ln w="12700">
                <a:solidFill>
                  <a:schemeClr val="accent4">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mongolianVert" rtlCol="0" anchor="t" anchorCtr="0"/>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000" b="1" i="0" u="none" strike="noStrike" kern="1200" cap="none" spc="30" normalizeH="0" baseline="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客户营销</a:t>
                </a:r>
                <a:endParaRPr kumimoji="1" lang="zh-CN" altLang="en-US" sz="1000" b="1" i="0" u="none" strike="noStrike" kern="1200" cap="none" spc="3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455" name="矩形: 圆角 92"/>
              <p:cNvSpPr/>
              <p:nvPr>
                <p:custDataLst>
                  <p:tags r:id="rId8"/>
                </p:custDataLst>
              </p:nvPr>
            </p:nvSpPr>
            <p:spPr>
              <a:xfrm>
                <a:off x="2313" y="3953"/>
                <a:ext cx="1746" cy="1077"/>
              </a:xfrm>
              <a:prstGeom prst="roundRect">
                <a:avLst>
                  <a:gd name="adj" fmla="val 5598"/>
                </a:avLst>
              </a:prstGeom>
              <a:ln w="6350">
                <a:solidFill>
                  <a:schemeClr val="accent1"/>
                </a:solidFill>
              </a:ln>
            </p:spPr>
            <p:style>
              <a:lnRef idx="2">
                <a:schemeClr val="accent1"/>
              </a:lnRef>
              <a:fillRef idx="0">
                <a:srgbClr val="FFFFFF"/>
              </a:fillRef>
              <a:effectRef idx="0">
                <a:srgbClr val="FFFFFF"/>
              </a:effectRef>
              <a:fontRef idx="minor">
                <a:schemeClr val="tx1"/>
              </a:fontRef>
            </p:style>
            <p:txBody>
              <a:bodyPr tIns="0" rtlCol="0" anchor="t" anchorCtr="0"/>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sym typeface="Arial" panose="020B0604020202020204" pitchFamily="34" charset="0"/>
                  </a:rPr>
                  <a:t>客户洞察</a:t>
                </a:r>
                <a:endParaRPr kumimoji="0" lang="zh-CN" altLang="en-US" sz="1000" b="1" i="0" u="none" strike="noStrike" kern="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456" name="矩形: 圆角 148"/>
              <p:cNvSpPr/>
              <p:nvPr>
                <p:custDataLst>
                  <p:tags r:id="rId9"/>
                </p:custDataLst>
              </p:nvPr>
            </p:nvSpPr>
            <p:spPr>
              <a:xfrm>
                <a:off x="2382" y="4259"/>
                <a:ext cx="1514" cy="340"/>
              </a:xfrm>
              <a:prstGeom prst="roundRect">
                <a:avLst>
                  <a:gd name="adj" fmla="val 5598"/>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rPr>
                  <a:t>细分客户</a:t>
                </a:r>
                <a:endPar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457" name="矩形: 圆角 148"/>
              <p:cNvSpPr/>
              <p:nvPr>
                <p:custDataLst>
                  <p:tags r:id="rId10"/>
                </p:custDataLst>
              </p:nvPr>
            </p:nvSpPr>
            <p:spPr>
              <a:xfrm>
                <a:off x="2382" y="4641"/>
                <a:ext cx="1514" cy="340"/>
              </a:xfrm>
              <a:prstGeom prst="roundRect">
                <a:avLst>
                  <a:gd name="adj" fmla="val 5598"/>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rPr>
                  <a:t>意向</a:t>
                </a:r>
                <a:r>
                  <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rPr>
                  <a:t>识别</a:t>
                </a:r>
                <a:endPar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458" name="组合 457"/>
              <p:cNvGrpSpPr/>
              <p:nvPr/>
            </p:nvGrpSpPr>
            <p:grpSpPr>
              <a:xfrm>
                <a:off x="4167" y="3953"/>
                <a:ext cx="3208" cy="1076"/>
                <a:chOff x="5641" y="3953"/>
                <a:chExt cx="3208" cy="1076"/>
              </a:xfrm>
            </p:grpSpPr>
            <p:sp>
              <p:nvSpPr>
                <p:cNvPr id="459" name="矩形: 圆角 92"/>
                <p:cNvSpPr/>
                <p:nvPr>
                  <p:custDataLst>
                    <p:tags r:id="rId11"/>
                  </p:custDataLst>
                </p:nvPr>
              </p:nvSpPr>
              <p:spPr>
                <a:xfrm>
                  <a:off x="5641" y="3953"/>
                  <a:ext cx="3209" cy="1077"/>
                </a:xfrm>
                <a:prstGeom prst="roundRect">
                  <a:avLst>
                    <a:gd name="adj" fmla="val 5598"/>
                  </a:avLst>
                </a:prstGeom>
                <a:ln w="6350">
                  <a:solidFill>
                    <a:schemeClr val="accent1"/>
                  </a:solidFill>
                </a:ln>
              </p:spPr>
              <p:style>
                <a:lnRef idx="2">
                  <a:schemeClr val="accent1"/>
                </a:lnRef>
                <a:fillRef idx="0">
                  <a:srgbClr val="FFFFFF"/>
                </a:fillRef>
                <a:effectRef idx="0">
                  <a:srgbClr val="FFFFFF"/>
                </a:effectRef>
                <a:fontRef idx="minor">
                  <a:schemeClr val="tx1"/>
                </a:fontRef>
              </p:style>
              <p:txBody>
                <a:bodyPr tIns="0" rtlCol="0" anchor="t" anchorCtr="0"/>
                <a:p>
                  <a:pPr marL="0" marR="0" lvl="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sym typeface="Arial" panose="020B0604020202020204" pitchFamily="34" charset="0"/>
                    </a:rPr>
                    <a:t>策略制定</a:t>
                  </a:r>
                  <a:endParaRPr kumimoji="0" lang="zh-CN" altLang="en-US" sz="1000" b="1" i="0" u="none" strike="noStrike" kern="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460" name="矩形: 圆角 148"/>
                <p:cNvSpPr/>
                <p:nvPr>
                  <p:custDataLst>
                    <p:tags r:id="rId12"/>
                  </p:custDataLst>
                </p:nvPr>
              </p:nvSpPr>
              <p:spPr>
                <a:xfrm>
                  <a:off x="5705" y="4259"/>
                  <a:ext cx="1514" cy="340"/>
                </a:xfrm>
                <a:prstGeom prst="roundRect">
                  <a:avLst>
                    <a:gd name="adj" fmla="val 5598"/>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rPr>
                    <a:t>策略</a:t>
                  </a:r>
                  <a:r>
                    <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rPr>
                    <a:t>匹配</a:t>
                  </a:r>
                  <a:endPar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461" name="矩形: 圆角 148"/>
                <p:cNvSpPr/>
                <p:nvPr>
                  <p:custDataLst>
                    <p:tags r:id="rId13"/>
                  </p:custDataLst>
                </p:nvPr>
              </p:nvSpPr>
              <p:spPr>
                <a:xfrm>
                  <a:off x="7261" y="4259"/>
                  <a:ext cx="1514" cy="340"/>
                </a:xfrm>
                <a:prstGeom prst="roundRect">
                  <a:avLst>
                    <a:gd name="adj" fmla="val 5598"/>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rPr>
                    <a:t>产品组合</a:t>
                  </a:r>
                  <a:endPar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462" name="矩形: 圆角 148"/>
                <p:cNvSpPr/>
                <p:nvPr>
                  <p:custDataLst>
                    <p:tags r:id="rId14"/>
                  </p:custDataLst>
                </p:nvPr>
              </p:nvSpPr>
              <p:spPr>
                <a:xfrm>
                  <a:off x="5705" y="4641"/>
                  <a:ext cx="1514" cy="340"/>
                </a:xfrm>
                <a:prstGeom prst="roundRect">
                  <a:avLst>
                    <a:gd name="adj" fmla="val 5598"/>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rPr>
                    <a:t>话术</a:t>
                  </a:r>
                  <a:r>
                    <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rPr>
                    <a:t>生成</a:t>
                  </a:r>
                  <a:endPar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463" name="矩形: 圆角 148"/>
                <p:cNvSpPr/>
                <p:nvPr>
                  <p:custDataLst>
                    <p:tags r:id="rId15"/>
                  </p:custDataLst>
                </p:nvPr>
              </p:nvSpPr>
              <p:spPr>
                <a:xfrm>
                  <a:off x="7261" y="4641"/>
                  <a:ext cx="1514" cy="340"/>
                </a:xfrm>
                <a:prstGeom prst="roundRect">
                  <a:avLst>
                    <a:gd name="adj" fmla="val 5598"/>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rPr>
                    <a:t>渠道适配</a:t>
                  </a:r>
                  <a:endPar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464" name="组合 463"/>
              <p:cNvGrpSpPr/>
              <p:nvPr/>
            </p:nvGrpSpPr>
            <p:grpSpPr>
              <a:xfrm>
                <a:off x="7464" y="3953"/>
                <a:ext cx="1754" cy="1076"/>
                <a:chOff x="7449" y="5438"/>
                <a:chExt cx="1754" cy="1076"/>
              </a:xfrm>
            </p:grpSpPr>
            <p:sp>
              <p:nvSpPr>
                <p:cNvPr id="465" name="矩形: 圆角 92"/>
                <p:cNvSpPr/>
                <p:nvPr>
                  <p:custDataLst>
                    <p:tags r:id="rId16"/>
                  </p:custDataLst>
                </p:nvPr>
              </p:nvSpPr>
              <p:spPr>
                <a:xfrm>
                  <a:off x="7449" y="5438"/>
                  <a:ext cx="1755" cy="1077"/>
                </a:xfrm>
                <a:prstGeom prst="roundRect">
                  <a:avLst>
                    <a:gd name="adj" fmla="val 5598"/>
                  </a:avLst>
                </a:prstGeom>
                <a:ln w="6350">
                  <a:solidFill>
                    <a:schemeClr val="accent1"/>
                  </a:solidFill>
                </a:ln>
              </p:spPr>
              <p:style>
                <a:lnRef idx="2">
                  <a:schemeClr val="accent1"/>
                </a:lnRef>
                <a:fillRef idx="0">
                  <a:srgbClr val="FFFFFF"/>
                </a:fillRef>
                <a:effectRef idx="0">
                  <a:srgbClr val="FFFFFF"/>
                </a:effectRef>
                <a:fontRef idx="minor">
                  <a:schemeClr val="tx1"/>
                </a:fontRef>
              </p:style>
              <p:txBody>
                <a:bodyPr tIns="0" rtlCol="0" anchor="t" anchorCtr="0"/>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sym typeface="Arial" panose="020B0604020202020204" pitchFamily="34" charset="0"/>
                    </a:rPr>
                    <a:t>智能</a:t>
                  </a:r>
                  <a:r>
                    <a:rPr kumimoji="0" lang="zh-CN" altLang="en-US" sz="1000" b="1" i="0" u="none" strike="noStrike" kern="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sym typeface="Arial" panose="020B0604020202020204" pitchFamily="34" charset="0"/>
                    </a:rPr>
                    <a:t>评估</a:t>
                  </a:r>
                  <a:endParaRPr kumimoji="0" lang="zh-CN" altLang="en-US" sz="1000" b="1" i="0" u="none" strike="noStrike" kern="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grpSp>
              <p:nvGrpSpPr>
                <p:cNvPr id="466" name="组合 465"/>
                <p:cNvGrpSpPr/>
                <p:nvPr/>
              </p:nvGrpSpPr>
              <p:grpSpPr>
                <a:xfrm>
                  <a:off x="7545" y="5724"/>
                  <a:ext cx="1514" cy="722"/>
                  <a:chOff x="2582" y="4459"/>
                  <a:chExt cx="1514" cy="722"/>
                </a:xfrm>
              </p:grpSpPr>
              <p:sp>
                <p:nvSpPr>
                  <p:cNvPr id="467" name="矩形: 圆角 148"/>
                  <p:cNvSpPr/>
                  <p:nvPr>
                    <p:custDataLst>
                      <p:tags r:id="rId17"/>
                    </p:custDataLst>
                  </p:nvPr>
                </p:nvSpPr>
                <p:spPr>
                  <a:xfrm>
                    <a:off x="2582" y="4459"/>
                    <a:ext cx="1514" cy="340"/>
                  </a:xfrm>
                  <a:prstGeom prst="roundRect">
                    <a:avLst>
                      <a:gd name="adj" fmla="val 5598"/>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rPr>
                      <a:t>营销预演</a:t>
                    </a:r>
                    <a:endPar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468" name="矩形: 圆角 148"/>
                  <p:cNvSpPr/>
                  <p:nvPr>
                    <p:custDataLst>
                      <p:tags r:id="rId18"/>
                    </p:custDataLst>
                  </p:nvPr>
                </p:nvSpPr>
                <p:spPr>
                  <a:xfrm>
                    <a:off x="2582" y="4841"/>
                    <a:ext cx="1514" cy="340"/>
                  </a:xfrm>
                  <a:prstGeom prst="roundRect">
                    <a:avLst>
                      <a:gd name="adj" fmla="val 5598"/>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80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rPr>
                      <a:t>动态策略调优</a:t>
                    </a:r>
                    <a:endParaRPr kumimoji="1" lang="zh-CN" altLang="en-US" sz="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grpSp>
          </p:grpSp>
        </p:grpSp>
      </p:grpSp>
      <p:grpSp>
        <p:nvGrpSpPr>
          <p:cNvPr id="469" name="组合 468"/>
          <p:cNvGrpSpPr/>
          <p:nvPr/>
        </p:nvGrpSpPr>
        <p:grpSpPr>
          <a:xfrm>
            <a:off x="239395" y="5692775"/>
            <a:ext cx="11777890" cy="844550"/>
            <a:chOff x="235" y="9295"/>
            <a:chExt cx="18691" cy="1330"/>
          </a:xfrm>
        </p:grpSpPr>
        <p:sp>
          <p:nvSpPr>
            <p:cNvPr id="470" name="文本框 469"/>
            <p:cNvSpPr txBox="1"/>
            <p:nvPr/>
          </p:nvSpPr>
          <p:spPr>
            <a:xfrm>
              <a:off x="235" y="9578"/>
              <a:ext cx="1098" cy="764"/>
            </a:xfrm>
            <a:prstGeom prst="rect">
              <a:avLst/>
            </a:prstGeom>
            <a:noFill/>
          </p:spPr>
          <p:txBody>
            <a:bodyPr wrap="square">
              <a:noAutofit/>
            </a:bodyPr>
            <a:p>
              <a:pPr algn="ctr"/>
              <a:r>
                <a:rPr kumimoji="1" lang="zh-CN" altLang="en-US" sz="1600" b="1" dirty="0"/>
                <a:t>提升举措</a:t>
              </a:r>
              <a:endParaRPr kumimoji="1" lang="zh-CN" altLang="en-US" sz="1600" b="1" dirty="0"/>
            </a:p>
          </p:txBody>
        </p:sp>
        <p:sp>
          <p:nvSpPr>
            <p:cNvPr id="473" name="文本框 472"/>
            <p:cNvSpPr txBox="1"/>
            <p:nvPr/>
          </p:nvSpPr>
          <p:spPr>
            <a:xfrm>
              <a:off x="4255" y="9578"/>
              <a:ext cx="2299" cy="313"/>
            </a:xfrm>
            <a:prstGeom prst="rect">
              <a:avLst/>
            </a:prstGeom>
            <a:noFill/>
          </p:spPr>
          <p:txBody>
            <a:bodyPr wrap="square" rtlCol="0">
              <a:noAutofit/>
            </a:bodyPr>
            <a:p>
              <a:pPr algn="l"/>
              <a:endParaRPr kumimoji="1" lang="zh-CN" altLang="en-US" sz="10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475" name="文本框 474"/>
            <p:cNvSpPr txBox="1"/>
            <p:nvPr/>
          </p:nvSpPr>
          <p:spPr>
            <a:xfrm>
              <a:off x="12784" y="9295"/>
              <a:ext cx="6142" cy="1330"/>
            </a:xfrm>
            <a:prstGeom prst="rect">
              <a:avLst/>
            </a:prstGeom>
            <a:solidFill>
              <a:srgbClr val="BFE5FF"/>
            </a:solidFill>
            <a:ln w="6350">
              <a:solidFill>
                <a:srgbClr val="F2F2F2"/>
              </a:solidFill>
            </a:ln>
          </p:spPr>
          <p:txBody>
            <a:bodyPr wrap="square" rtlCol="0" anchor="ctr" anchorCtr="0">
              <a:noAutofit/>
            </a:bodyPr>
            <a:p>
              <a:pPr algn="ctr">
                <a:lnSpc>
                  <a:spcPct val="120000"/>
                </a:lnSpc>
              </a:pPr>
              <a:r>
                <a:rPr kumimoji="1" lang="zh-CN" altLang="en-US" sz="1050" b="1" dirty="0">
                  <a:latin typeface="微软雅黑" panose="020B0503020204020204" pitchFamily="34" charset="-122"/>
                  <a:ea typeface="微软雅黑" panose="020B0503020204020204" pitchFamily="34" charset="-122"/>
                </a:rPr>
                <a:t>多维分析智能用数</a:t>
              </a:r>
              <a:endParaRPr kumimoji="1" lang="en-US" altLang="zh-CN" sz="1050" b="1" dirty="0">
                <a:latin typeface="微软雅黑" panose="020B0503020204020204" pitchFamily="34" charset="-122"/>
                <a:ea typeface="微软雅黑" panose="020B0503020204020204" pitchFamily="34" charset="-122"/>
              </a:endParaRPr>
            </a:p>
            <a:p>
              <a:pPr>
                <a:lnSpc>
                  <a:spcPct val="120000"/>
                </a:lnSpc>
              </a:pPr>
              <a:r>
                <a:rPr lang="zh-CN" altLang="en-US" sz="1050" dirty="0">
                  <a:latin typeface="微软雅黑" panose="020B0503020204020204" pitchFamily="34" charset="-122"/>
                  <a:ea typeface="微软雅黑" panose="020B0503020204020204" pitchFamily="34" charset="-122"/>
                </a:rPr>
                <a:t>构建</a:t>
              </a:r>
              <a:r>
                <a:rPr lang="zh-CN" altLang="en-US" sz="1050" kern="1200" dirty="0">
                  <a:solidFill>
                    <a:schemeClr val="tx1"/>
                  </a:solidFill>
                  <a:latin typeface="微软雅黑" panose="020B0503020204020204" pitchFamily="34" charset="-122"/>
                  <a:ea typeface="微软雅黑" panose="020B0503020204020204" pitchFamily="34" charset="-122"/>
                  <a:cs typeface="+mn-cs"/>
                </a:rPr>
                <a:t>智慧大脑，通过</a:t>
              </a:r>
              <a:r>
                <a:rPr lang="en-US" altLang="zh-CN" sz="1050" kern="1200" dirty="0">
                  <a:solidFill>
                    <a:schemeClr val="tx1"/>
                  </a:solidFill>
                  <a:latin typeface="微软雅黑" panose="020B0503020204020204" pitchFamily="34" charset="-122"/>
                  <a:ea typeface="微软雅黑" panose="020B0503020204020204" pitchFamily="34" charset="-122"/>
                  <a:cs typeface="+mn-cs"/>
                </a:rPr>
                <a:t>AI</a:t>
              </a:r>
              <a:r>
                <a:rPr lang="zh-CN" altLang="en-US" sz="1050" kern="1200" dirty="0">
                  <a:solidFill>
                    <a:schemeClr val="tx1"/>
                  </a:solidFill>
                  <a:latin typeface="微软雅黑" panose="020B0503020204020204" pitchFamily="34" charset="-122"/>
                  <a:ea typeface="微软雅黑" panose="020B0503020204020204" pitchFamily="34" charset="-122"/>
                  <a:cs typeface="+mn-cs"/>
                </a:rPr>
                <a:t>技术融入，准确把握客户需求和意愿，自动生成个性化营销策略，</a:t>
              </a:r>
              <a:r>
                <a:rPr kumimoji="1" lang="zh-CN" altLang="en-US" sz="1050" dirty="0">
                  <a:latin typeface="微软雅黑" panose="020B0503020204020204" pitchFamily="34" charset="-122"/>
                  <a:ea typeface="微软雅黑" panose="020B0503020204020204" pitchFamily="34" charset="-122"/>
                </a:rPr>
                <a:t>深化存量客户进行价值经营</a:t>
              </a:r>
              <a:endParaRPr lang="zh-CN" altLang="en-US" sz="1050" dirty="0"/>
            </a:p>
          </p:txBody>
        </p:sp>
        <p:sp>
          <p:nvSpPr>
            <p:cNvPr id="476" name="文本框 475"/>
            <p:cNvSpPr txBox="1"/>
            <p:nvPr/>
          </p:nvSpPr>
          <p:spPr>
            <a:xfrm>
              <a:off x="1333" y="9295"/>
              <a:ext cx="5412" cy="1330"/>
            </a:xfrm>
            <a:prstGeom prst="rect">
              <a:avLst/>
            </a:prstGeom>
            <a:solidFill>
              <a:srgbClr val="BFE5FF"/>
            </a:solidFill>
            <a:ln w="6350">
              <a:solidFill>
                <a:srgbClr val="F2F2F2"/>
              </a:solidFill>
            </a:ln>
          </p:spPr>
          <p:txBody>
            <a:bodyPr wrap="square" rtlCol="0" anchor="ctr" anchorCtr="0">
              <a:noAutofit/>
            </a:bodyPr>
            <a:p>
              <a:pPr algn="ctr">
                <a:lnSpc>
                  <a:spcPct val="120000"/>
                </a:lnSpc>
              </a:pPr>
              <a:r>
                <a:rPr kumimoji="1" lang="zh-CN" altLang="en-US" sz="1050" b="1" dirty="0">
                  <a:latin typeface="微软雅黑" panose="020B0503020204020204" pitchFamily="34" charset="-122"/>
                  <a:ea typeface="微软雅黑" panose="020B0503020204020204" pitchFamily="34" charset="-122"/>
                </a:rPr>
                <a:t>重点数据实时采集</a:t>
              </a:r>
              <a:endParaRPr kumimoji="1" lang="en-US" altLang="zh-CN" sz="1050" b="1" dirty="0">
                <a:latin typeface="微软雅黑" panose="020B0503020204020204" pitchFamily="34" charset="-122"/>
                <a:ea typeface="微软雅黑" panose="020B0503020204020204" pitchFamily="34" charset="-122"/>
              </a:endParaRPr>
            </a:p>
            <a:p>
              <a:pPr>
                <a:lnSpc>
                  <a:spcPct val="120000"/>
                </a:lnSpc>
              </a:pPr>
              <a:r>
                <a:rPr lang="zh-CN" sz="1050" dirty="0">
                  <a:latin typeface="微软雅黑" panose="020B0503020204020204" pitchFamily="34" charset="-122"/>
                  <a:ea typeface="微软雅黑" panose="020B0503020204020204" pitchFamily="34" charset="-122"/>
                  <a:sym typeface="+mn-ea"/>
                </a:rPr>
                <a:t>①构建直采通路，提升数据采集实时性</a:t>
              </a:r>
              <a:endParaRPr lang="zh-CN" sz="1050" dirty="0">
                <a:latin typeface="微软雅黑" panose="020B0503020204020204" pitchFamily="34" charset="-122"/>
                <a:ea typeface="微软雅黑" panose="020B0503020204020204" pitchFamily="34" charset="-122"/>
                <a:sym typeface="+mn-ea"/>
              </a:endParaRPr>
            </a:p>
            <a:p>
              <a:pPr>
                <a:lnSpc>
                  <a:spcPct val="120000"/>
                </a:lnSpc>
              </a:pPr>
              <a:r>
                <a:rPr lang="zh-CN" sz="1050" dirty="0">
                  <a:latin typeface="微软雅黑" panose="020B0503020204020204" pitchFamily="34" charset="-122"/>
                  <a:ea typeface="微软雅黑" panose="020B0503020204020204" pitchFamily="34" charset="-122"/>
                  <a:sym typeface="+mn-ea"/>
                </a:rPr>
                <a:t>②实时汇聚触客数据</a:t>
              </a:r>
              <a:endParaRPr lang="zh-CN" sz="1050" dirty="0">
                <a:latin typeface="微软雅黑" panose="020B0503020204020204" pitchFamily="34" charset="-122"/>
                <a:ea typeface="微软雅黑" panose="020B0503020204020204" pitchFamily="34" charset="-122"/>
                <a:sym typeface="+mn-ea"/>
              </a:endParaRPr>
            </a:p>
          </p:txBody>
        </p:sp>
      </p:grpSp>
      <p:sp>
        <p:nvSpPr>
          <p:cNvPr id="486" name="文本框 485"/>
          <p:cNvSpPr txBox="1"/>
          <p:nvPr/>
        </p:nvSpPr>
        <p:spPr>
          <a:xfrm>
            <a:off x="4419600" y="5692775"/>
            <a:ext cx="3633470" cy="844550"/>
          </a:xfrm>
          <a:prstGeom prst="rect">
            <a:avLst/>
          </a:prstGeom>
          <a:solidFill>
            <a:srgbClr val="BFE5FF"/>
          </a:solidFill>
          <a:ln w="6350">
            <a:solidFill>
              <a:srgbClr val="F2F2F2"/>
            </a:solidFill>
          </a:ln>
        </p:spPr>
        <p:txBody>
          <a:bodyPr wrap="square" rtlCol="0" anchor="ctr" anchorCtr="0">
            <a:noAutofit/>
          </a:bodyPr>
          <a:p>
            <a:pPr algn="ctr">
              <a:lnSpc>
                <a:spcPct val="120000"/>
              </a:lnSpc>
            </a:pPr>
            <a:r>
              <a:rPr kumimoji="1" lang="zh-CN" altLang="en-US" sz="1050" b="1" dirty="0">
                <a:latin typeface="微软雅黑" panose="020B0503020204020204" pitchFamily="34" charset="-122"/>
                <a:ea typeface="微软雅黑" panose="020B0503020204020204" pitchFamily="34" charset="-122"/>
              </a:rPr>
              <a:t>加快数据开放共享</a:t>
            </a:r>
            <a:endParaRPr kumimoji="1" lang="en-US" altLang="zh-CN" sz="1050" b="1" dirty="0">
              <a:latin typeface="微软雅黑" panose="020B0503020204020204" pitchFamily="34" charset="-122"/>
              <a:ea typeface="微软雅黑" panose="020B0503020204020204" pitchFamily="34" charset="-122"/>
            </a:endParaRPr>
          </a:p>
          <a:p>
            <a:pPr>
              <a:lnSpc>
                <a:spcPct val="120000"/>
              </a:lnSpc>
            </a:pPr>
            <a:r>
              <a:rPr lang="zh-CN" sz="1050" dirty="0">
                <a:latin typeface="微软雅黑" panose="020B0503020204020204" pitchFamily="34" charset="-122"/>
                <a:ea typeface="微软雅黑" panose="020B0503020204020204" pitchFamily="34" charset="-122"/>
                <a:sym typeface="+mn-ea"/>
              </a:rPr>
              <a:t>①新业务产品数据共享</a:t>
            </a:r>
            <a:endParaRPr lang="zh-CN" sz="1050" dirty="0">
              <a:latin typeface="微软雅黑" panose="020B0503020204020204" pitchFamily="34" charset="-122"/>
              <a:ea typeface="微软雅黑" panose="020B0503020204020204" pitchFamily="34" charset="-122"/>
              <a:sym typeface="+mn-ea"/>
            </a:endParaRPr>
          </a:p>
          <a:p>
            <a:pPr>
              <a:lnSpc>
                <a:spcPct val="120000"/>
              </a:lnSpc>
            </a:pPr>
            <a:r>
              <a:rPr lang="zh-CN" sz="1050" dirty="0">
                <a:latin typeface="微软雅黑" panose="020B0503020204020204" pitchFamily="34" charset="-122"/>
                <a:ea typeface="微软雅黑" panose="020B0503020204020204" pitchFamily="34" charset="-122"/>
                <a:sym typeface="+mn-ea"/>
              </a:rPr>
              <a:t>②畅通全域市场领域数据融通路径</a:t>
            </a:r>
            <a:endParaRPr lang="zh-CN" sz="1050" dirty="0">
              <a:latin typeface="微软雅黑" panose="020B0503020204020204" pitchFamily="34" charset="-122"/>
              <a:ea typeface="微软雅黑" panose="020B0503020204020204" pitchFamily="34" charset="-122"/>
              <a:sym typeface="+mn-ea"/>
            </a:endParaRPr>
          </a:p>
          <a:p>
            <a:pPr>
              <a:lnSpc>
                <a:spcPct val="120000"/>
              </a:lnSpc>
            </a:pPr>
            <a:r>
              <a:rPr lang="zh-CN" sz="1050" dirty="0">
                <a:latin typeface="微软雅黑" panose="020B0503020204020204" pitchFamily="34" charset="-122"/>
                <a:ea typeface="微软雅黑" panose="020B0503020204020204" pitchFamily="34" charset="-122"/>
                <a:sym typeface="+mn-ea"/>
              </a:rPr>
              <a:t>③开展市场领域数据治理</a:t>
            </a:r>
            <a:endParaRPr lang="zh-CN" sz="1050" dirty="0">
              <a:latin typeface="微软雅黑" panose="020B0503020204020204" pitchFamily="34" charset="-122"/>
              <a:ea typeface="微软雅黑" panose="020B0503020204020204" pitchFamily="34" charset="-122"/>
              <a:sym typeface="+mn-ea"/>
            </a:endParaRPr>
          </a:p>
        </p:txBody>
      </p:sp>
      <p:sp>
        <p:nvSpPr>
          <p:cNvPr id="487" name="等腰三角形 24"/>
          <p:cNvSpPr/>
          <p:nvPr>
            <p:custDataLst>
              <p:tags r:id="rId19"/>
            </p:custDataLst>
          </p:nvPr>
        </p:nvSpPr>
        <p:spPr>
          <a:xfrm rot="10800000" flipV="1">
            <a:off x="489585" y="2388870"/>
            <a:ext cx="11532870" cy="248285"/>
          </a:xfrm>
          <a:custGeom>
            <a:avLst/>
            <a:gdLst>
              <a:gd name="connsiteX0" fmla="*/ 0 w 578876"/>
              <a:gd name="connsiteY0" fmla="*/ 4648025 h 4648025"/>
              <a:gd name="connsiteX1" fmla="*/ 289438 w 578876"/>
              <a:gd name="connsiteY1" fmla="*/ 0 h 4648025"/>
              <a:gd name="connsiteX2" fmla="*/ 578876 w 578876"/>
              <a:gd name="connsiteY2" fmla="*/ 4648025 h 4648025"/>
              <a:gd name="connsiteX3" fmla="*/ 0 w 578876"/>
              <a:gd name="connsiteY3" fmla="*/ 4648025 h 4648025"/>
              <a:gd name="connsiteX0-1" fmla="*/ 0 w 578876"/>
              <a:gd name="connsiteY0-2" fmla="*/ 4648025 h 4648025"/>
              <a:gd name="connsiteX1-3" fmla="*/ 289438 w 578876"/>
              <a:gd name="connsiteY1-4" fmla="*/ 0 h 4648025"/>
              <a:gd name="connsiteX2-5" fmla="*/ 578876 w 578876"/>
              <a:gd name="connsiteY2-6" fmla="*/ 4648025 h 4648025"/>
              <a:gd name="connsiteX3-7" fmla="*/ 0 w 578876"/>
              <a:gd name="connsiteY3-8" fmla="*/ 4648025 h 4648025"/>
              <a:gd name="connsiteX0-9" fmla="*/ 0 w 578876"/>
              <a:gd name="connsiteY0-10" fmla="*/ 4648025 h 4648025"/>
              <a:gd name="connsiteX1-11" fmla="*/ 289438 w 578876"/>
              <a:gd name="connsiteY1-12" fmla="*/ 0 h 4648025"/>
              <a:gd name="connsiteX2-13" fmla="*/ 578876 w 578876"/>
              <a:gd name="connsiteY2-14" fmla="*/ 4648025 h 4648025"/>
              <a:gd name="connsiteX3-15" fmla="*/ 0 w 578876"/>
              <a:gd name="connsiteY3-16" fmla="*/ 4648025 h 4648025"/>
              <a:gd name="connsiteX0-17" fmla="*/ 0 w 578876"/>
              <a:gd name="connsiteY0-18" fmla="*/ 4648025 h 4648025"/>
              <a:gd name="connsiteX1-19" fmla="*/ 289438 w 578876"/>
              <a:gd name="connsiteY1-20" fmla="*/ 0 h 4648025"/>
              <a:gd name="connsiteX2-21" fmla="*/ 578876 w 578876"/>
              <a:gd name="connsiteY2-22" fmla="*/ 4648025 h 4648025"/>
              <a:gd name="connsiteX3-23" fmla="*/ 0 w 578876"/>
              <a:gd name="connsiteY3-24" fmla="*/ 4648025 h 4648025"/>
              <a:gd name="connsiteX0-25" fmla="*/ 0 w 578876"/>
              <a:gd name="connsiteY0-26" fmla="*/ 4648025 h 4648025"/>
              <a:gd name="connsiteX1-27" fmla="*/ 289438 w 578876"/>
              <a:gd name="connsiteY1-28" fmla="*/ 0 h 4648025"/>
              <a:gd name="connsiteX2-29" fmla="*/ 578876 w 578876"/>
              <a:gd name="connsiteY2-30" fmla="*/ 4648025 h 4648025"/>
              <a:gd name="connsiteX3-31" fmla="*/ 0 w 578876"/>
              <a:gd name="connsiteY3-32" fmla="*/ 4648025 h 4648025"/>
              <a:gd name="connsiteX0-33" fmla="*/ 0 w 578876"/>
              <a:gd name="connsiteY0-34" fmla="*/ 4648025 h 4648025"/>
              <a:gd name="connsiteX1-35" fmla="*/ 289438 w 578876"/>
              <a:gd name="connsiteY1-36" fmla="*/ 0 h 4648025"/>
              <a:gd name="connsiteX2-37" fmla="*/ 578876 w 578876"/>
              <a:gd name="connsiteY2-38" fmla="*/ 4648025 h 4648025"/>
              <a:gd name="connsiteX3-39" fmla="*/ 0 w 578876"/>
              <a:gd name="connsiteY3-40" fmla="*/ 4648025 h 4648025"/>
              <a:gd name="connsiteX0-41" fmla="*/ 0 w 578876"/>
              <a:gd name="connsiteY0-42" fmla="*/ 4648025 h 4648025"/>
              <a:gd name="connsiteX1-43" fmla="*/ 289438 w 578876"/>
              <a:gd name="connsiteY1-44" fmla="*/ 0 h 4648025"/>
              <a:gd name="connsiteX2-45" fmla="*/ 578876 w 578876"/>
              <a:gd name="connsiteY2-46" fmla="*/ 4648025 h 4648025"/>
              <a:gd name="connsiteX3-47" fmla="*/ 0 w 578876"/>
              <a:gd name="connsiteY3-48" fmla="*/ 4648025 h 4648025"/>
              <a:gd name="connsiteX0-49" fmla="*/ 0 w 578876"/>
              <a:gd name="connsiteY0-50" fmla="*/ 4648025 h 4648025"/>
              <a:gd name="connsiteX1-51" fmla="*/ 289438 w 578876"/>
              <a:gd name="connsiteY1-52" fmla="*/ 0 h 4648025"/>
              <a:gd name="connsiteX2-53" fmla="*/ 578876 w 578876"/>
              <a:gd name="connsiteY2-54" fmla="*/ 4648025 h 4648025"/>
              <a:gd name="connsiteX3-55" fmla="*/ 0 w 578876"/>
              <a:gd name="connsiteY3-56" fmla="*/ 4648025 h 4648025"/>
              <a:gd name="connsiteX0-57" fmla="*/ 0 w 578876"/>
              <a:gd name="connsiteY0-58" fmla="*/ 4648025 h 4648025"/>
              <a:gd name="connsiteX1-59" fmla="*/ 289438 w 578876"/>
              <a:gd name="connsiteY1-60" fmla="*/ 0 h 4648025"/>
              <a:gd name="connsiteX2-61" fmla="*/ 578876 w 578876"/>
              <a:gd name="connsiteY2-62" fmla="*/ 4648025 h 4648025"/>
              <a:gd name="connsiteX3-63" fmla="*/ 0 w 578876"/>
              <a:gd name="connsiteY3-64" fmla="*/ 4648025 h 4648025"/>
              <a:gd name="connsiteX0-65" fmla="*/ 0 w 578876"/>
              <a:gd name="connsiteY0-66" fmla="*/ 4648025 h 4648025"/>
              <a:gd name="connsiteX1-67" fmla="*/ 289438 w 578876"/>
              <a:gd name="connsiteY1-68" fmla="*/ 0 h 4648025"/>
              <a:gd name="connsiteX2-69" fmla="*/ 578876 w 578876"/>
              <a:gd name="connsiteY2-70" fmla="*/ 4648025 h 4648025"/>
              <a:gd name="connsiteX3-71" fmla="*/ 0 w 578876"/>
              <a:gd name="connsiteY3-72" fmla="*/ 4648025 h 4648025"/>
              <a:gd name="connsiteX0-73" fmla="*/ 0 w 578876"/>
              <a:gd name="connsiteY0-74" fmla="*/ 4648025 h 4648025"/>
              <a:gd name="connsiteX1-75" fmla="*/ 289438 w 578876"/>
              <a:gd name="connsiteY1-76" fmla="*/ 0 h 4648025"/>
              <a:gd name="connsiteX2-77" fmla="*/ 578876 w 578876"/>
              <a:gd name="connsiteY2-78" fmla="*/ 4648025 h 4648025"/>
              <a:gd name="connsiteX3-79" fmla="*/ 0 w 578876"/>
              <a:gd name="connsiteY3-80" fmla="*/ 4648025 h 4648025"/>
              <a:gd name="connsiteX0-81" fmla="*/ 0 w 578876"/>
              <a:gd name="connsiteY0-82" fmla="*/ 4648025 h 4648025"/>
              <a:gd name="connsiteX1-83" fmla="*/ 289438 w 578876"/>
              <a:gd name="connsiteY1-84" fmla="*/ 0 h 4648025"/>
              <a:gd name="connsiteX2-85" fmla="*/ 578876 w 578876"/>
              <a:gd name="connsiteY2-86" fmla="*/ 4648025 h 4648025"/>
              <a:gd name="connsiteX3-87" fmla="*/ 0 w 578876"/>
              <a:gd name="connsiteY3-88" fmla="*/ 4648025 h 4648025"/>
              <a:gd name="connsiteX0-89" fmla="*/ 0 w 578876"/>
              <a:gd name="connsiteY0-90" fmla="*/ 4648025 h 4648025"/>
              <a:gd name="connsiteX1-91" fmla="*/ 289438 w 578876"/>
              <a:gd name="connsiteY1-92" fmla="*/ 0 h 4648025"/>
              <a:gd name="connsiteX2-93" fmla="*/ 578876 w 578876"/>
              <a:gd name="connsiteY2-94" fmla="*/ 4648025 h 4648025"/>
              <a:gd name="connsiteX3-95" fmla="*/ 0 w 578876"/>
              <a:gd name="connsiteY3-96" fmla="*/ 4648025 h 4648025"/>
              <a:gd name="connsiteX0-97" fmla="*/ 0 w 578876"/>
              <a:gd name="connsiteY0-98" fmla="*/ 4648025 h 4648025"/>
              <a:gd name="connsiteX1-99" fmla="*/ 289438 w 578876"/>
              <a:gd name="connsiteY1-100" fmla="*/ 0 h 4648025"/>
              <a:gd name="connsiteX2-101" fmla="*/ 578876 w 578876"/>
              <a:gd name="connsiteY2-102" fmla="*/ 4648025 h 4648025"/>
              <a:gd name="connsiteX3-103" fmla="*/ 0 w 578876"/>
              <a:gd name="connsiteY3-104" fmla="*/ 4648025 h 4648025"/>
              <a:gd name="connsiteX0-105" fmla="*/ 0 w 578876"/>
              <a:gd name="connsiteY0-106" fmla="*/ 4648025 h 4648025"/>
              <a:gd name="connsiteX1-107" fmla="*/ 289438 w 578876"/>
              <a:gd name="connsiteY1-108" fmla="*/ 0 h 4648025"/>
              <a:gd name="connsiteX2-109" fmla="*/ 578876 w 578876"/>
              <a:gd name="connsiteY2-110" fmla="*/ 4648025 h 4648025"/>
              <a:gd name="connsiteX3-111" fmla="*/ 0 w 578876"/>
              <a:gd name="connsiteY3-112" fmla="*/ 4648025 h 4648025"/>
            </a:gdLst>
            <a:ahLst/>
            <a:cxnLst>
              <a:cxn ang="0">
                <a:pos x="connsiteX0-1" y="connsiteY0-2"/>
              </a:cxn>
              <a:cxn ang="0">
                <a:pos x="connsiteX1-3" y="connsiteY1-4"/>
              </a:cxn>
              <a:cxn ang="0">
                <a:pos x="connsiteX2-5" y="connsiteY2-6"/>
              </a:cxn>
              <a:cxn ang="0">
                <a:pos x="connsiteX3-7" y="connsiteY3-8"/>
              </a:cxn>
            </a:cxnLst>
            <a:rect l="l" t="t" r="r" b="b"/>
            <a:pathLst>
              <a:path w="578876" h="4648025">
                <a:moveTo>
                  <a:pt x="0" y="4648025"/>
                </a:moveTo>
                <a:cubicBezTo>
                  <a:pt x="162866" y="3047883"/>
                  <a:pt x="238853" y="1866842"/>
                  <a:pt x="289438" y="0"/>
                </a:cubicBezTo>
                <a:cubicBezTo>
                  <a:pt x="343197" y="1879542"/>
                  <a:pt x="403887" y="3035183"/>
                  <a:pt x="578876" y="4648025"/>
                </a:cubicBezTo>
                <a:lnTo>
                  <a:pt x="0" y="4648025"/>
                </a:lnTo>
                <a:close/>
              </a:path>
            </a:pathLst>
          </a:custGeom>
          <a:gradFill flip="none" rotWithShape="1">
            <a:gsLst>
              <a:gs pos="0">
                <a:srgbClr val="0070C0">
                  <a:alpha val="0"/>
                </a:srgbClr>
              </a:gs>
              <a:gs pos="100000">
                <a:srgbClr val="0070C0">
                  <a:alpha val="70000"/>
                </a:srgbClr>
              </a:gs>
              <a:gs pos="46000">
                <a:srgbClr val="00B0F0">
                  <a:alpha val="43000"/>
                </a:srgbClr>
              </a:gs>
            </a:gsLst>
            <a:lin ang="16200000" scaled="1"/>
            <a:tileRect/>
          </a:gradFill>
          <a:ln w="12700" cap="flat" cmpd="sng" algn="ctr">
            <a:noFill/>
            <a:prstDash val="solid"/>
            <a:miter lim="800000"/>
          </a:ln>
          <a:effectLst/>
        </p:spPr>
        <p:txBody>
          <a:bodyPr rtlCol="0" anchor="ctr"/>
          <a:p>
            <a:pPr marL="0" marR="0" lvl="0" indent="0" algn="ctr" defTabSz="1820545"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dirty="0">
              <a:ln>
                <a:noFill/>
              </a:ln>
              <a:solidFill>
                <a:srgbClr val="000000"/>
              </a:solidFill>
              <a:effectLst/>
              <a:uLnTx/>
              <a:uFillTx/>
              <a:latin typeface="Arial" panose="020B0604020202020204"/>
              <a:ea typeface="微软雅黑" panose="020B0503020204020204" pitchFamily="34" charset="-122"/>
              <a:cs typeface="+mn-ea"/>
            </a:endParaRPr>
          </a:p>
        </p:txBody>
      </p:sp>
      <p:grpSp>
        <p:nvGrpSpPr>
          <p:cNvPr id="503" name="组合 502"/>
          <p:cNvGrpSpPr/>
          <p:nvPr/>
        </p:nvGrpSpPr>
        <p:grpSpPr>
          <a:xfrm>
            <a:off x="507365" y="1493520"/>
            <a:ext cx="11433810" cy="836930"/>
            <a:chOff x="800" y="2402"/>
            <a:chExt cx="11668" cy="1318"/>
          </a:xfrm>
        </p:grpSpPr>
        <p:sp>
          <p:nvSpPr>
            <p:cNvPr id="492" name="圆角矩形 124"/>
            <p:cNvSpPr/>
            <p:nvPr/>
          </p:nvSpPr>
          <p:spPr>
            <a:xfrm>
              <a:off x="800" y="2402"/>
              <a:ext cx="11668" cy="1318"/>
            </a:xfrm>
            <a:prstGeom prst="roundRect">
              <a:avLst>
                <a:gd name="adj" fmla="val 5504"/>
              </a:avLst>
            </a:prstGeom>
            <a:solidFill>
              <a:srgbClr val="FFFFFF"/>
            </a:solidFill>
            <a:ln w="15875">
              <a:solidFill>
                <a:srgbClr val="4472C4">
                  <a:lumMod val="20000"/>
                  <a:lumOff val="80000"/>
                </a:srgbClr>
              </a:solidFill>
            </a:ln>
            <a:effectLst>
              <a:outerShdw blurRad="165100" dist="76200" dir="5400000" algn="t" rotWithShape="0">
                <a:srgbClr val="1C66C4">
                  <a:alpha val="40000"/>
                </a:srgbClr>
              </a:outerShdw>
            </a:effectLst>
          </p:spPr>
          <p:style>
            <a:lnRef idx="2">
              <a:srgbClr val="1C66C4">
                <a:shade val="50000"/>
              </a:srgbClr>
            </a:lnRef>
            <a:fillRef idx="1">
              <a:srgbClr val="1C66C4"/>
            </a:fillRef>
            <a:effectRef idx="0">
              <a:srgbClr val="1C66C4"/>
            </a:effectRef>
            <a:fontRef idx="minor">
              <a:srgbClr val="FFFFFF"/>
            </a:fontRef>
          </p:style>
          <p:txBody>
            <a:bodyPr vertOverflow="overflow" horzOverflow="overflow" vert="horz" wrap="none" numCol="1" spcCol="0" rtlCol="0" fromWordArt="0" anchor="ctr" anchorCtr="0" forceAA="0" compatLnSpc="1">
              <a:noAutofit/>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endParaRPr>
            </a:p>
          </p:txBody>
        </p:sp>
        <p:sp>
          <p:nvSpPr>
            <p:cNvPr id="499" name="五边形 229"/>
            <p:cNvSpPr/>
            <p:nvPr/>
          </p:nvSpPr>
          <p:spPr>
            <a:xfrm>
              <a:off x="977" y="2489"/>
              <a:ext cx="5500" cy="358"/>
            </a:xfrm>
            <a:prstGeom prst="homePlate">
              <a:avLst>
                <a:gd name="adj" fmla="val 0"/>
              </a:avLst>
            </a:prstGeom>
            <a:solidFill>
              <a:srgbClr val="5CACEF"/>
            </a:solidFill>
            <a:ln w="19050">
              <a:solidFill>
                <a:sysClr val="window" lastClr="FFFFFF"/>
              </a:solidFill>
            </a:ln>
          </p:spPr>
          <p:style>
            <a:lnRef idx="2">
              <a:srgbClr val="4472C4">
                <a:shade val="15000"/>
              </a:srgbClr>
            </a:lnRef>
            <a:fillRef idx="1">
              <a:srgbClr val="4472C4"/>
            </a:fillRef>
            <a:effectRef idx="0">
              <a:srgbClr val="4472C4"/>
            </a:effectRef>
            <a:fontRef idx="minor">
              <a:sysClr val="window" lastClr="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rPr>
                <a:t> </a:t>
              </a:r>
              <a:r>
                <a:rPr kumimoji="1" lang="zh-CN" altLang="en-US"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rPr>
                <a:t>实时监控</a:t>
              </a:r>
              <a:endParaRPr kumimoji="1" lang="zh-CN" altLang="en-US"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endParaRPr>
            </a:p>
          </p:txBody>
        </p:sp>
        <p:grpSp>
          <p:nvGrpSpPr>
            <p:cNvPr id="501" name="组合 500"/>
            <p:cNvGrpSpPr/>
            <p:nvPr/>
          </p:nvGrpSpPr>
          <p:grpSpPr>
            <a:xfrm>
              <a:off x="977" y="2479"/>
              <a:ext cx="11215" cy="1109"/>
              <a:chOff x="977" y="2479"/>
              <a:chExt cx="11215" cy="1109"/>
            </a:xfrm>
          </p:grpSpPr>
          <p:grpSp>
            <p:nvGrpSpPr>
              <p:cNvPr id="493" name="组合 492"/>
              <p:cNvGrpSpPr/>
              <p:nvPr/>
            </p:nvGrpSpPr>
            <p:grpSpPr>
              <a:xfrm rot="0">
                <a:off x="6692" y="2479"/>
                <a:ext cx="5500" cy="1109"/>
                <a:chOff x="7727" y="3695"/>
                <a:chExt cx="3240" cy="1109"/>
              </a:xfrm>
            </p:grpSpPr>
            <p:sp>
              <p:nvSpPr>
                <p:cNvPr id="494" name="五边形 229"/>
                <p:cNvSpPr/>
                <p:nvPr/>
              </p:nvSpPr>
              <p:spPr>
                <a:xfrm>
                  <a:off x="7727" y="3695"/>
                  <a:ext cx="3240" cy="358"/>
                </a:xfrm>
                <a:prstGeom prst="homePlate">
                  <a:avLst>
                    <a:gd name="adj" fmla="val 0"/>
                  </a:avLst>
                </a:prstGeom>
                <a:solidFill>
                  <a:srgbClr val="5CACEF"/>
                </a:solidFill>
                <a:ln w="19050">
                  <a:solidFill>
                    <a:sysClr val="window" lastClr="FFFFFF"/>
                  </a:solidFill>
                </a:ln>
              </p:spPr>
              <p:style>
                <a:lnRef idx="2">
                  <a:srgbClr val="4472C4">
                    <a:shade val="15000"/>
                  </a:srgbClr>
                </a:lnRef>
                <a:fillRef idx="1">
                  <a:srgbClr val="4472C4"/>
                </a:fillRef>
                <a:effectRef idx="0">
                  <a:srgbClr val="4472C4"/>
                </a:effectRef>
                <a:fontRef idx="minor">
                  <a:sysClr val="window" lastClr="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rPr>
                    <a:t> </a:t>
                  </a:r>
                  <a:r>
                    <a:rPr kumimoji="1" lang="zh-CN" altLang="en-US"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rPr>
                    <a:t>智能分析</a:t>
                  </a:r>
                  <a:endParaRPr kumimoji="1" lang="zh-CN" altLang="en-US"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endParaRPr>
                </a:p>
              </p:txBody>
            </p:sp>
            <p:sp>
              <p:nvSpPr>
                <p:cNvPr id="495" name="文本框 494"/>
                <p:cNvSpPr txBox="1"/>
                <p:nvPr/>
              </p:nvSpPr>
              <p:spPr>
                <a:xfrm>
                  <a:off x="7727" y="4032"/>
                  <a:ext cx="3240" cy="772"/>
                </a:xfrm>
                <a:prstGeom prst="rect">
                  <a:avLst/>
                </a:prstGeom>
                <a:solidFill>
                  <a:srgbClr val="E5F0F9"/>
                </a:solidFill>
              </p:spPr>
              <p:txBody>
                <a:bodyPr wrap="square" rtlCol="0">
                  <a:noAutofit/>
                </a:bodyPr>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等线" panose="02010600030101010101" pitchFamily="2" charset="-122"/>
                    </a:rPr>
                    <a:t>通过深度数据挖掘算法和</a:t>
                  </a: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等线" panose="02010600030101010101" pitchFamily="2" charset="-122"/>
                    </a:rPr>
                    <a:t>AI</a:t>
                  </a:r>
                  <a:r>
                    <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等线" panose="02010600030101010101" pitchFamily="2" charset="-122"/>
                    </a:rPr>
                    <a:t>智能分析模型，智能分析指标异动和洞察客户实际诉求，推荐智能运营策略</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等线" panose="02010600030101010101" pitchFamily="2" charset="-122"/>
                  </a:endParaRPr>
                </a:p>
              </p:txBody>
            </p:sp>
          </p:grpSp>
          <p:sp>
            <p:nvSpPr>
              <p:cNvPr id="500" name="文本框 499"/>
              <p:cNvSpPr txBox="1"/>
              <p:nvPr/>
            </p:nvSpPr>
            <p:spPr>
              <a:xfrm>
                <a:off x="977" y="2826"/>
                <a:ext cx="5500" cy="762"/>
              </a:xfrm>
              <a:prstGeom prst="rect">
                <a:avLst/>
              </a:prstGeom>
              <a:solidFill>
                <a:srgbClr val="E5F0F9"/>
              </a:solidFill>
            </p:spPr>
            <p:txBody>
              <a:bodyPr wrap="square" rtlCol="0">
                <a:noAutofit/>
              </a:bodyPr>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等线" panose="02010600030101010101" pitchFamily="2" charset="-122"/>
                  </a:rPr>
                  <a:t>支撑全网运营工作调度，</a:t>
                </a:r>
                <a:r>
                  <a:rPr kumimoji="0" 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等线" panose="02010600030101010101" pitchFamily="2" charset="-122"/>
                  </a:rPr>
                  <a:t>汇聚重点市场业务发展情况（包括客户规模、客户特征、产品销量、宽带发展量等数据）、触客数据，实时监控业务发展情况</a:t>
                </a:r>
                <a:endParaRPr kumimoji="0" 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等线" panose="02010600030101010101" pitchFamily="2" charset="-122"/>
                </a:endParaRPr>
              </a:p>
            </p:txBody>
          </p:sp>
        </p:grpSp>
      </p:grpSp>
      <p:sp>
        <p:nvSpPr>
          <p:cNvPr id="504" name="文本框 503"/>
          <p:cNvSpPr txBox="1"/>
          <p:nvPr/>
        </p:nvSpPr>
        <p:spPr>
          <a:xfrm>
            <a:off x="3166110" y="2360295"/>
            <a:ext cx="6096000" cy="275590"/>
          </a:xfrm>
          <a:prstGeom prst="rect">
            <a:avLst/>
          </a:prstGeom>
          <a:noFill/>
        </p:spPr>
        <p:txBody>
          <a:bodyPr wrap="square" rtlCol="0" anchor="t">
            <a:spAutoFit/>
          </a:bodyPr>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kern="0" noProof="0" dirty="0">
                <a:ln>
                  <a:noFill/>
                </a:ln>
                <a:solidFill>
                  <a:schemeClr val="bg1"/>
                </a:solidFill>
                <a:effectLst/>
                <a:uLnTx/>
                <a:uFillTx/>
                <a:latin typeface="Arial" panose="020B0604020202020204" pitchFamily="34" charset="0"/>
                <a:ea typeface="微软雅黑" panose="020B0503020204020204" pitchFamily="34" charset="-122"/>
                <a:sym typeface="Arial" panose="020B0604020202020204" pitchFamily="34" charset="0"/>
              </a:rPr>
              <a:t>场景赋能</a:t>
            </a:r>
            <a:endParaRPr kumimoji="1" lang="zh-CN" altLang="en-US" sz="1200" b="1" kern="0" noProof="0" dirty="0" smtClean="0">
              <a:ln>
                <a:noFill/>
              </a:ln>
              <a:solidFill>
                <a:schemeClr val="bg1"/>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圆角矩形 124"/>
          <p:cNvSpPr/>
          <p:nvPr/>
        </p:nvSpPr>
        <p:spPr>
          <a:xfrm>
            <a:off x="797776" y="1477392"/>
            <a:ext cx="11018520" cy="2559354"/>
          </a:xfrm>
          <a:prstGeom prst="roundRect">
            <a:avLst>
              <a:gd name="adj" fmla="val 5504"/>
            </a:avLst>
          </a:prstGeom>
          <a:solidFill>
            <a:srgbClr val="FFFFFF"/>
          </a:solidFill>
          <a:ln w="15875">
            <a:solidFill>
              <a:schemeClr val="accent1">
                <a:lumMod val="20000"/>
                <a:lumOff val="80000"/>
              </a:schemeClr>
            </a:solidFill>
          </a:ln>
          <a:effectLst>
            <a:outerShdw blurRad="165100" dist="76200" dir="5400000" algn="t" rotWithShape="0">
              <a:srgbClr val="1C66C4">
                <a:alpha val="40000"/>
              </a:srgbClr>
            </a:outerShdw>
          </a:effectLst>
        </p:spPr>
        <p:style>
          <a:lnRef idx="2">
            <a:srgbClr val="1C66C4">
              <a:shade val="50000"/>
            </a:srgbClr>
          </a:lnRef>
          <a:fillRef idx="1">
            <a:srgbClr val="1C66C4"/>
          </a:fillRef>
          <a:effectRef idx="0">
            <a:srgbClr val="1C66C4"/>
          </a:effectRef>
          <a:fontRef idx="minor">
            <a:srgbClr val="FFFFFF"/>
          </a:fontRef>
        </p:style>
        <p:txBody>
          <a:bodyPr vertOverflow="overflow" horzOverflow="overflow" vert="horz" wrap="none" numCol="1" spcCol="0" rtlCol="0" fromWordArt="0" anchor="ctr" anchorCtr="0" forceAA="0" compatLnSpc="1">
            <a:noAutofit/>
          </a:bodyPr>
          <a:lstStyle/>
          <a:p>
            <a:pPr defTabSz="914400"/>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61" name="五边形 229"/>
          <p:cNvSpPr/>
          <p:nvPr/>
        </p:nvSpPr>
        <p:spPr>
          <a:xfrm>
            <a:off x="8100670" y="1664551"/>
            <a:ext cx="3438787" cy="311891"/>
          </a:xfrm>
          <a:prstGeom prst="homePlate">
            <a:avLst/>
          </a:prstGeom>
          <a:solidFill>
            <a:srgbClr val="5CACE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000" b="1" dirty="0">
                <a:solidFill>
                  <a:srgbClr val="FFFF00"/>
                </a:solidFill>
              </a:rPr>
              <a:t>③升级家庭服务体验</a:t>
            </a:r>
            <a:endParaRPr kumimoji="1" lang="zh-CN" altLang="en-US" sz="1000" b="1" dirty="0">
              <a:solidFill>
                <a:srgbClr val="FFFF00"/>
              </a:solidFill>
            </a:endParaRPr>
          </a:p>
        </p:txBody>
      </p:sp>
      <p:sp>
        <p:nvSpPr>
          <p:cNvPr id="83" name="标题 1"/>
          <p:cNvSpPr>
            <a:spLocks noGrp="1"/>
          </p:cNvSpPr>
          <p:nvPr>
            <p:ph type="title"/>
          </p:nvPr>
        </p:nvSpPr>
        <p:spPr>
          <a:xfrm>
            <a:off x="150829" y="274371"/>
            <a:ext cx="9577633" cy="486572"/>
          </a:xfrm>
        </p:spPr>
        <p:txBody>
          <a:bodyPr>
            <a:normAutofit/>
          </a:bodyPr>
          <a:lstStyle/>
          <a:p>
            <a:pPr algn="l">
              <a:buClrTx/>
              <a:buSzTx/>
              <a:buFontTx/>
            </a:pP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路径图|</a:t>
            </a:r>
            <a:r>
              <a:rPr lang="zh-CN" altLang="en-US">
                <a:sym typeface="+mn-ea"/>
              </a:rPr>
              <a:t>升级融合运营能力：①全领域客户账号统一</a:t>
            </a:r>
            <a:endParaRPr>
              <a:sym typeface="+mn-ea"/>
            </a:endParaRPr>
          </a:p>
        </p:txBody>
      </p:sp>
      <p:sp>
        <p:nvSpPr>
          <p:cNvPr id="85" name="文本框 84"/>
          <p:cNvSpPr txBox="1"/>
          <p:nvPr/>
        </p:nvSpPr>
        <p:spPr>
          <a:xfrm>
            <a:off x="562610" y="916305"/>
            <a:ext cx="11308715" cy="644525"/>
          </a:xfrm>
          <a:prstGeom prst="rect">
            <a:avLst/>
          </a:prstGeom>
          <a:noFill/>
        </p:spPr>
        <p:txBody>
          <a:bodyPr wrap="square" rtlCol="0" anchor="t">
            <a:noAutofit/>
          </a:bodyPr>
          <a:lstStyle/>
          <a:p>
            <a:pPr marL="285750" indent="-285750" algn="l">
              <a:lnSpc>
                <a:spcPct val="140000"/>
              </a:lnSpc>
              <a:buClrTx/>
              <a:buSzTx/>
              <a:buFont typeface="Arial" panose="020B0604020202020204" pitchFamily="34" charset="0"/>
              <a:buChar char="•"/>
            </a:pPr>
            <a:endParaRPr lang="en-US" altLang="zh-CN"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文本框 12"/>
          <p:cNvSpPr txBox="1"/>
          <p:nvPr/>
        </p:nvSpPr>
        <p:spPr>
          <a:xfrm>
            <a:off x="8222" y="5647625"/>
            <a:ext cx="697230" cy="485140"/>
          </a:xfrm>
          <a:prstGeom prst="rect">
            <a:avLst/>
          </a:prstGeom>
          <a:noFill/>
        </p:spPr>
        <p:txBody>
          <a:bodyPr wrap="square">
            <a:noAutofit/>
          </a:bodyPr>
          <a:lstStyle/>
          <a:p>
            <a:pPr algn="ctr"/>
            <a:r>
              <a:rPr kumimoji="1" lang="zh-CN" altLang="en-US" sz="1600" b="1" dirty="0"/>
              <a:t>提升举措</a:t>
            </a:r>
            <a:endParaRPr kumimoji="1" lang="zh-CN" altLang="en-US" sz="1600" b="1" dirty="0"/>
          </a:p>
        </p:txBody>
      </p:sp>
      <p:sp>
        <p:nvSpPr>
          <p:cNvPr id="17" name="文本框 16"/>
          <p:cNvSpPr txBox="1"/>
          <p:nvPr/>
        </p:nvSpPr>
        <p:spPr>
          <a:xfrm>
            <a:off x="8222" y="4489284"/>
            <a:ext cx="697089" cy="583565"/>
          </a:xfrm>
          <a:prstGeom prst="rect">
            <a:avLst/>
          </a:prstGeom>
          <a:noFill/>
        </p:spPr>
        <p:txBody>
          <a:bodyPr wrap="square">
            <a:spAutoFit/>
          </a:bodyPr>
          <a:lstStyle/>
          <a:p>
            <a:pPr algn="ctr"/>
            <a:r>
              <a:rPr kumimoji="1" lang="zh-CN" altLang="en-US" sz="1600" b="1" dirty="0"/>
              <a:t>平台能力</a:t>
            </a:r>
            <a:endParaRPr kumimoji="1" lang="zh-CN" altLang="en-US" sz="1600" b="1" dirty="0"/>
          </a:p>
        </p:txBody>
      </p:sp>
      <p:sp>
        <p:nvSpPr>
          <p:cNvPr id="2" name="文本框 1"/>
          <p:cNvSpPr txBox="1"/>
          <p:nvPr/>
        </p:nvSpPr>
        <p:spPr>
          <a:xfrm>
            <a:off x="68580" y="873125"/>
            <a:ext cx="11864340" cy="549766"/>
          </a:xfrm>
          <a:prstGeom prst="rect">
            <a:avLst/>
          </a:prstGeom>
          <a:noFill/>
        </p:spPr>
        <p:txBody>
          <a:bodyPr wrap="square" rtlCol="0" anchor="t">
            <a:spAutoFit/>
          </a:bodyPr>
          <a:lstStyle/>
          <a:p>
            <a:pPr indent="-285750">
              <a:lnSpc>
                <a:spcPct val="110000"/>
              </a:lnSpc>
              <a:spcBef>
                <a:spcPts val="1000"/>
              </a:spcBef>
              <a:buClr>
                <a:srgbClr val="009CE2"/>
              </a:buClr>
              <a:buFont typeface="Wingdings" panose="05000000000000000000" pitchFamily="2" charset="2"/>
              <a:buChar char="n"/>
            </a:pPr>
            <a:r>
              <a:rPr lang="zh-CN" altLang="en-US" sz="1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提升以 “家” 为单位的运营支撑能力，构建统一家庭账户体系，</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ea"/>
              </a:rPr>
              <a:t>深化家庭融合支撑，</a:t>
            </a:r>
            <a:r>
              <a:rPr lang="zh-CN" altLang="en-US" sz="1400" b="1" dirty="0">
                <a:latin typeface="微软雅黑" panose="020B0503020204020204" pitchFamily="34" charset="-122"/>
                <a:ea typeface="微软雅黑" panose="020B0503020204020204" pitchFamily="34" charset="-122"/>
                <a:sym typeface="+mn-ea"/>
              </a:rPr>
              <a:t>推进家庭池化共享，</a:t>
            </a:r>
            <a:r>
              <a:rPr lang="zh-CN" altLang="en-US" sz="1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统一家庭客户服务体系，</a:t>
            </a:r>
            <a:r>
              <a:rPr lang="en-US" altLang="zh-CN" sz="1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AI </a:t>
            </a:r>
            <a:r>
              <a:rPr lang="zh-CN" altLang="en-US" sz="1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赋能家庭运营模，挖掘家庭客户潜力，</a:t>
            </a:r>
            <a:r>
              <a:rPr lang="zh-CN" altLang="en-US" sz="1400" b="1" dirty="0">
                <a:latin typeface="微软雅黑" panose="020B0503020204020204" pitchFamily="34" charset="-122"/>
                <a:ea typeface="微软雅黑" panose="020B0503020204020204" pitchFamily="34" charset="-122"/>
                <a:sym typeface="+mn-ea"/>
              </a:rPr>
              <a:t>助力移动爱家品牌打造，</a:t>
            </a:r>
            <a:r>
              <a:rPr lang="zh-CN" altLang="en-US" sz="1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有效提升用户忠诚度。</a:t>
            </a:r>
            <a:endParaRPr lang="zh-CN" altLang="en-US" sz="1400" b="1" kern="0" dirty="0">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8222" y="2407920"/>
            <a:ext cx="697230" cy="645160"/>
          </a:xfrm>
          <a:prstGeom prst="rect">
            <a:avLst/>
          </a:prstGeom>
          <a:noFill/>
        </p:spPr>
        <p:txBody>
          <a:bodyPr wrap="square">
            <a:spAutoFit/>
          </a:bodyPr>
          <a:lstStyle/>
          <a:p>
            <a:pPr algn="ctr"/>
            <a:r>
              <a:rPr kumimoji="1" lang="zh-CN" altLang="en-US" b="1" dirty="0"/>
              <a:t>场景</a:t>
            </a:r>
            <a:endParaRPr kumimoji="1" lang="zh-CN" altLang="en-US" b="1" dirty="0"/>
          </a:p>
          <a:p>
            <a:pPr algn="ctr"/>
            <a:r>
              <a:rPr kumimoji="1" lang="zh-CN" altLang="en-US" b="1" dirty="0"/>
              <a:t>示例</a:t>
            </a:r>
            <a:endParaRPr kumimoji="1" lang="zh-CN" altLang="en-US" b="1" dirty="0"/>
          </a:p>
        </p:txBody>
      </p:sp>
      <p:sp>
        <p:nvSpPr>
          <p:cNvPr id="292" name="文本框 291"/>
          <p:cNvSpPr txBox="1"/>
          <p:nvPr/>
        </p:nvSpPr>
        <p:spPr>
          <a:xfrm>
            <a:off x="2320925" y="1397135"/>
            <a:ext cx="7407910" cy="275590"/>
          </a:xfrm>
          <a:prstGeom prst="rect">
            <a:avLst/>
          </a:prstGeom>
          <a:noFill/>
        </p:spPr>
        <p:txBody>
          <a:bodyPr wrap="square" rtlCol="0" anchor="t">
            <a:spAutoFit/>
          </a:bodyPr>
          <a:lstStyle/>
          <a:p>
            <a:pPr algn="ctr"/>
            <a:r>
              <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端倒端家庭运营</a:t>
            </a:r>
            <a:r>
              <a:rPr lang="en-US" altLang="zh-CN"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以主干家庭（三代组合）为例</a:t>
            </a:r>
            <a:endParaRPr lang="zh-CN" sz="1200" b="1" u="sng"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矩形 2"/>
          <p:cNvSpPr/>
          <p:nvPr/>
        </p:nvSpPr>
        <p:spPr>
          <a:xfrm>
            <a:off x="1370509" y="1697306"/>
            <a:ext cx="1494155" cy="246380"/>
          </a:xfrm>
          <a:prstGeom prst="rect">
            <a:avLst/>
          </a:prstGeom>
        </p:spPr>
        <p:txBody>
          <a:bodyPr wrap="square">
            <a:spAutoFit/>
          </a:bodyPr>
          <a:lstStyle/>
          <a:p>
            <a:pPr algn="ctr">
              <a:defRPr/>
            </a:pPr>
            <a:r>
              <a:rPr lang="zh-CN" altLang="en-US" sz="1000" b="1" dirty="0">
                <a:solidFill>
                  <a:schemeClr val="tx2"/>
                </a:solidFill>
                <a:latin typeface="微软雅黑" panose="020B0503020204020204" pitchFamily="34" charset="-122"/>
                <a:ea typeface="微软雅黑" panose="020B0503020204020204" pitchFamily="34" charset="-122"/>
              </a:rPr>
              <a:t>市场侧与与运营人员</a:t>
            </a:r>
            <a:endParaRPr lang="zh-CN" altLang="en-US" sz="1000" b="1" dirty="0">
              <a:solidFill>
                <a:schemeClr val="tx2"/>
              </a:solidFill>
              <a:latin typeface="微软雅黑" panose="020B0503020204020204" pitchFamily="34" charset="-122"/>
              <a:ea typeface="微软雅黑" panose="020B0503020204020204" pitchFamily="34" charset="-122"/>
            </a:endParaRPr>
          </a:p>
        </p:txBody>
      </p:sp>
      <p:sp>
        <p:nvSpPr>
          <p:cNvPr id="23" name="矩形 22"/>
          <p:cNvSpPr/>
          <p:nvPr/>
        </p:nvSpPr>
        <p:spPr>
          <a:xfrm>
            <a:off x="6482894" y="1697941"/>
            <a:ext cx="1570990" cy="245110"/>
          </a:xfrm>
          <a:prstGeom prst="rect">
            <a:avLst/>
          </a:prstGeom>
        </p:spPr>
        <p:txBody>
          <a:bodyPr wrap="square">
            <a:spAutoFit/>
          </a:bodyPr>
          <a:lstStyle/>
          <a:p>
            <a:pPr algn="ctr">
              <a:defRPr/>
            </a:pPr>
            <a:r>
              <a:rPr lang="en-US" altLang="zh-CN" sz="1000" b="1" dirty="0">
                <a:solidFill>
                  <a:schemeClr val="tx2"/>
                </a:solidFill>
                <a:latin typeface="微软雅黑" panose="020B0503020204020204" pitchFamily="34" charset="-122"/>
                <a:ea typeface="微软雅黑" panose="020B0503020204020204" pitchFamily="34" charset="-122"/>
              </a:rPr>
              <a:t> </a:t>
            </a:r>
            <a:r>
              <a:rPr lang="zh-CN" altLang="en-US" sz="1000" b="1" dirty="0">
                <a:solidFill>
                  <a:schemeClr val="tx2"/>
                </a:solidFill>
                <a:latin typeface="微软雅黑" panose="020B0503020204020204" pitchFamily="34" charset="-122"/>
                <a:ea typeface="微软雅黑" panose="020B0503020204020204" pitchFamily="34" charset="-122"/>
              </a:rPr>
              <a:t>策略设计与运营人员</a:t>
            </a:r>
            <a:endParaRPr lang="zh-CN" altLang="en-US" sz="1000" b="1" dirty="0">
              <a:solidFill>
                <a:schemeClr val="tx2"/>
              </a:solidFill>
              <a:latin typeface="微软雅黑" panose="020B0503020204020204" pitchFamily="34" charset="-122"/>
              <a:ea typeface="微软雅黑" panose="020B0503020204020204" pitchFamily="34" charset="-122"/>
            </a:endParaRPr>
          </a:p>
        </p:txBody>
      </p:sp>
      <p:sp>
        <p:nvSpPr>
          <p:cNvPr id="230" name="五边形 229"/>
          <p:cNvSpPr/>
          <p:nvPr/>
        </p:nvSpPr>
        <p:spPr>
          <a:xfrm>
            <a:off x="4145892" y="1664551"/>
            <a:ext cx="4166780" cy="311891"/>
          </a:xfrm>
          <a:prstGeom prst="homePlate">
            <a:avLst/>
          </a:prstGeom>
          <a:solidFill>
            <a:srgbClr val="5CACE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000" b="1" dirty="0">
                <a:solidFill>
                  <a:srgbClr val="FFFF00"/>
                </a:solidFill>
              </a:rPr>
              <a:t>②实现资源池化共享</a:t>
            </a:r>
            <a:endParaRPr kumimoji="1" lang="zh-CN" altLang="en-US" sz="1000" b="1" dirty="0">
              <a:solidFill>
                <a:srgbClr val="FFFF00"/>
              </a:solidFill>
            </a:endParaRPr>
          </a:p>
        </p:txBody>
      </p:sp>
      <p:sp>
        <p:nvSpPr>
          <p:cNvPr id="233" name="五边形 232"/>
          <p:cNvSpPr/>
          <p:nvPr/>
        </p:nvSpPr>
        <p:spPr>
          <a:xfrm>
            <a:off x="938709" y="1664551"/>
            <a:ext cx="3401696" cy="311891"/>
          </a:xfrm>
          <a:prstGeom prst="homePlate">
            <a:avLst/>
          </a:prstGeom>
          <a:solidFill>
            <a:srgbClr val="5CACE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000" b="1" dirty="0">
                <a:solidFill>
                  <a:srgbClr val="FFFF00"/>
                </a:solidFill>
              </a:rPr>
              <a:t>①建立爱家亲情圈统一账号</a:t>
            </a:r>
            <a:endParaRPr kumimoji="1" lang="zh-CN" altLang="en-US" sz="1000" b="1" dirty="0">
              <a:solidFill>
                <a:srgbClr val="FFFF00"/>
              </a:solidFill>
            </a:endParaRPr>
          </a:p>
        </p:txBody>
      </p:sp>
      <p:sp>
        <p:nvSpPr>
          <p:cNvPr id="7" name="矩形 6"/>
          <p:cNvSpPr/>
          <p:nvPr/>
        </p:nvSpPr>
        <p:spPr>
          <a:xfrm>
            <a:off x="797776" y="4405472"/>
            <a:ext cx="10969625" cy="1186180"/>
          </a:xfrm>
          <a:prstGeom prst="rect">
            <a:avLst/>
          </a:prstGeom>
          <a:solidFill>
            <a:srgbClr val="DFF2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dirty="0"/>
          </a:p>
        </p:txBody>
      </p:sp>
      <p:sp>
        <p:nvSpPr>
          <p:cNvPr id="51" name="文本框 50"/>
          <p:cNvSpPr txBox="1"/>
          <p:nvPr/>
        </p:nvSpPr>
        <p:spPr>
          <a:xfrm>
            <a:off x="747822" y="5172855"/>
            <a:ext cx="534802" cy="413318"/>
          </a:xfrm>
          <a:prstGeom prst="rect">
            <a:avLst/>
          </a:prstGeom>
          <a:noFill/>
        </p:spPr>
        <p:txBody>
          <a:bodyPr wrap="square" rtlCol="0">
            <a:spAutoFit/>
          </a:bodyPr>
          <a:lstStyle/>
          <a:p>
            <a:pPr algn="l"/>
            <a:r>
              <a:rPr kumimoji="1" lang="zh-CN" altLang="en-US" sz="1000" b="1" dirty="0">
                <a:solidFill>
                  <a:schemeClr val="accent1">
                    <a:lumMod val="75000"/>
                  </a:schemeClr>
                </a:solidFill>
                <a:latin typeface="微软雅黑" panose="020B0503020204020204" pitchFamily="34" charset="-122"/>
                <a:ea typeface="微软雅黑" panose="020B0503020204020204" pitchFamily="34" charset="-122"/>
              </a:rPr>
              <a:t>数据拉通</a:t>
            </a:r>
            <a:endParaRPr kumimoji="1" lang="zh-CN" altLang="en-US" sz="10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4439608" y="5269052"/>
            <a:ext cx="6527969" cy="251876"/>
          </a:xfrm>
          <a:prstGeom prst="rect">
            <a:avLst/>
          </a:prstGeom>
          <a:noFill/>
        </p:spPr>
        <p:txBody>
          <a:bodyPr wrap="square" rtlCol="0">
            <a:noAutofit/>
          </a:bodyPr>
          <a:lstStyle/>
          <a:p>
            <a:pPr algn="l"/>
            <a:r>
              <a:rPr kumimoji="1" lang="zh-CN" altLang="en-US" sz="900" dirty="0">
                <a:solidFill>
                  <a:schemeClr val="accent1">
                    <a:lumMod val="75000"/>
                  </a:schemeClr>
                </a:solidFill>
                <a:latin typeface="微软雅黑" panose="020B0503020204020204" pitchFamily="34" charset="-122"/>
                <a:ea typeface="微软雅黑" panose="020B0503020204020204" pitchFamily="34" charset="-122"/>
              </a:rPr>
              <a:t>省公司家庭标签、订购记录、账单信息、投诉跟踪、客服记录、设备数据、营销数据、</a:t>
            </a:r>
            <a:r>
              <a:rPr kumimoji="1" lang="en-US" altLang="zh-CN" sz="900" dirty="0">
                <a:solidFill>
                  <a:schemeClr val="accent1">
                    <a:lumMod val="75000"/>
                  </a:schemeClr>
                </a:solidFill>
                <a:latin typeface="微软雅黑" panose="020B0503020204020204" pitchFamily="34" charset="-122"/>
                <a:ea typeface="微软雅黑" panose="020B0503020204020204" pitchFamily="34" charset="-122"/>
              </a:rPr>
              <a:t>……</a:t>
            </a:r>
            <a:endParaRPr kumimoji="1" lang="zh-CN" altLang="en-US" sz="900" dirty="0">
              <a:solidFill>
                <a:schemeClr val="accent1">
                  <a:lumMod val="75000"/>
                </a:schemeClr>
              </a:solidFill>
              <a:latin typeface="微软雅黑" panose="020B0503020204020204" pitchFamily="34" charset="-122"/>
              <a:ea typeface="微软雅黑" panose="020B0503020204020204" pitchFamily="34" charset="-122"/>
            </a:endParaRPr>
          </a:p>
        </p:txBody>
      </p:sp>
      <p:cxnSp>
        <p:nvCxnSpPr>
          <p:cNvPr id="62" name="直接连接符 61"/>
          <p:cNvCxnSpPr/>
          <p:nvPr/>
        </p:nvCxnSpPr>
        <p:spPr>
          <a:xfrm>
            <a:off x="1282624" y="5462839"/>
            <a:ext cx="10177703" cy="0"/>
          </a:xfrm>
          <a:prstGeom prst="line">
            <a:avLst/>
          </a:prstGeom>
          <a:ln w="12700" cmpd="sng">
            <a:solidFill>
              <a:schemeClr val="bg1">
                <a:lumMod val="75000"/>
              </a:schemeClr>
            </a:solidFill>
            <a:prstDash val="dashDot"/>
          </a:ln>
        </p:spPr>
        <p:style>
          <a:lnRef idx="2">
            <a:schemeClr val="accent1"/>
          </a:lnRef>
          <a:fillRef idx="0">
            <a:srgbClr val="FFFFFF"/>
          </a:fillRef>
          <a:effectRef idx="0">
            <a:srgbClr val="FFFFFF"/>
          </a:effectRef>
          <a:fontRef idx="minor">
            <a:schemeClr val="tx1"/>
          </a:fontRef>
        </p:style>
      </p:cxnSp>
      <p:sp>
        <p:nvSpPr>
          <p:cNvPr id="92" name="燕尾形 91"/>
          <p:cNvSpPr/>
          <p:nvPr>
            <p:custDataLst>
              <p:tags r:id="rId1"/>
            </p:custDataLst>
          </p:nvPr>
        </p:nvSpPr>
        <p:spPr>
          <a:xfrm>
            <a:off x="797776" y="4100931"/>
            <a:ext cx="11020575" cy="287700"/>
          </a:xfrm>
          <a:prstGeom prst="chevron">
            <a:avLst/>
          </a:prstGeom>
          <a:solidFill>
            <a:srgbClr val="40B0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b="1" dirty="0">
                <a:highlight>
                  <a:srgbClr val="000000">
                    <a:alpha val="0"/>
                  </a:srgbClr>
                </a:highlight>
              </a:rPr>
              <a:t>业务支撑系统</a:t>
            </a:r>
            <a:endParaRPr lang="zh-CN" altLang="en-US" sz="1000" b="1" dirty="0">
              <a:highlight>
                <a:srgbClr val="000000">
                  <a:alpha val="0"/>
                </a:srgbClr>
              </a:highlight>
            </a:endParaRPr>
          </a:p>
        </p:txBody>
      </p:sp>
      <p:sp>
        <p:nvSpPr>
          <p:cNvPr id="198" name="文本框 197"/>
          <p:cNvSpPr txBox="1"/>
          <p:nvPr/>
        </p:nvSpPr>
        <p:spPr>
          <a:xfrm>
            <a:off x="1304876" y="5261992"/>
            <a:ext cx="2406708" cy="265997"/>
          </a:xfrm>
          <a:prstGeom prst="rect">
            <a:avLst/>
          </a:prstGeom>
          <a:noFill/>
        </p:spPr>
        <p:txBody>
          <a:bodyPr wrap="square" rtlCol="0">
            <a:noAutofit/>
          </a:bodyPr>
          <a:lstStyle/>
          <a:p>
            <a:pPr algn="l"/>
            <a:r>
              <a:rPr kumimoji="1" lang="zh-CN" altLang="en-US" sz="900" dirty="0">
                <a:solidFill>
                  <a:schemeClr val="accent1">
                    <a:lumMod val="75000"/>
                  </a:schemeClr>
                </a:solidFill>
                <a:latin typeface="微软雅黑" panose="020B0503020204020204" pitchFamily="34" charset="-122"/>
                <a:ea typeface="微软雅黑" panose="020B0503020204020204" pitchFamily="34" charset="-122"/>
              </a:rPr>
              <a:t>汇聚家庭标签、关系、会员权益</a:t>
            </a:r>
            <a:r>
              <a:rPr kumimoji="1" lang="en-US" altLang="zh-CN" sz="900" dirty="0">
                <a:solidFill>
                  <a:schemeClr val="accent1">
                    <a:lumMod val="75000"/>
                  </a:schemeClr>
                </a:solidFill>
                <a:latin typeface="微软雅黑" panose="020B0503020204020204" pitchFamily="34" charset="-122"/>
                <a:ea typeface="微软雅黑" panose="020B0503020204020204" pitchFamily="34" charset="-122"/>
              </a:rPr>
              <a:t>……</a:t>
            </a:r>
            <a:endParaRPr kumimoji="1" lang="en-US" altLang="zh-CN" sz="900" dirty="0">
              <a:solidFill>
                <a:schemeClr val="accent1">
                  <a:lumMod val="75000"/>
                </a:schemeClr>
              </a:solidFill>
              <a:latin typeface="微软雅黑" panose="020B0503020204020204" pitchFamily="34" charset="-122"/>
              <a:ea typeface="微软雅黑" panose="020B0503020204020204" pitchFamily="34" charset="-122"/>
            </a:endParaRPr>
          </a:p>
          <a:p>
            <a:pPr algn="l"/>
            <a:endParaRPr kumimoji="1" lang="zh-CN" altLang="en-US" sz="900" dirty="0">
              <a:solidFill>
                <a:schemeClr val="accent1">
                  <a:lumMod val="7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814070" y="5617046"/>
            <a:ext cx="11009071" cy="1055163"/>
            <a:chOff x="814070" y="5617046"/>
            <a:chExt cx="11009071" cy="1055163"/>
          </a:xfrm>
        </p:grpSpPr>
        <p:grpSp>
          <p:nvGrpSpPr>
            <p:cNvPr id="90" name="组合 89"/>
            <p:cNvGrpSpPr/>
            <p:nvPr/>
          </p:nvGrpSpPr>
          <p:grpSpPr>
            <a:xfrm>
              <a:off x="814070" y="5617046"/>
              <a:ext cx="10968859" cy="1055163"/>
              <a:chOff x="1282" y="9281"/>
              <a:chExt cx="17274" cy="1388"/>
            </a:xfrm>
          </p:grpSpPr>
          <p:sp>
            <p:nvSpPr>
              <p:cNvPr id="12" name="矩形 11"/>
              <p:cNvSpPr/>
              <p:nvPr/>
            </p:nvSpPr>
            <p:spPr>
              <a:xfrm>
                <a:off x="1282" y="9281"/>
                <a:ext cx="17274" cy="138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0" name="文本框 59"/>
              <p:cNvSpPr txBox="1"/>
              <p:nvPr/>
            </p:nvSpPr>
            <p:spPr>
              <a:xfrm>
                <a:off x="3950" y="9670"/>
                <a:ext cx="2268" cy="313"/>
              </a:xfrm>
              <a:prstGeom prst="rect">
                <a:avLst/>
              </a:prstGeom>
              <a:noFill/>
            </p:spPr>
            <p:txBody>
              <a:bodyPr wrap="square" rtlCol="0">
                <a:noAutofit/>
              </a:bodyPr>
              <a:lstStyle/>
              <a:p>
                <a:pPr algn="l"/>
                <a:endParaRPr kumimoji="1" lang="zh-CN" altLang="en-US" sz="1000" dirty="0">
                  <a:solidFill>
                    <a:schemeClr val="accent1">
                      <a:lumMod val="75000"/>
                    </a:schemeClr>
                  </a:solidFill>
                  <a:latin typeface="微软雅黑" panose="020B0503020204020204" pitchFamily="34" charset="-122"/>
                  <a:ea typeface="微软雅黑" panose="020B0503020204020204" pitchFamily="34" charset="-122"/>
                </a:endParaRPr>
              </a:p>
            </p:txBody>
          </p:sp>
        </p:grpSp>
        <p:sp>
          <p:nvSpPr>
            <p:cNvPr id="63" name="矩形 62"/>
            <p:cNvSpPr/>
            <p:nvPr/>
          </p:nvSpPr>
          <p:spPr>
            <a:xfrm>
              <a:off x="862371" y="5675698"/>
              <a:ext cx="3528000" cy="936000"/>
            </a:xfrm>
            <a:prstGeom prst="rect">
              <a:avLst/>
            </a:prstGeom>
            <a:solidFill>
              <a:srgbClr val="BFE5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0000" rtlCol="0" anchor="t" anchorCtr="0"/>
            <a:lstStyle/>
            <a:p>
              <a:pPr algn="ctr">
                <a:lnSpc>
                  <a:spcPct val="130000"/>
                </a:lnSpc>
              </a:pPr>
              <a:r>
                <a:rPr kumimoji="1" lang="en-US" altLang="zh-CN" sz="1100" b="1" kern="0" dirty="0">
                  <a:solidFill>
                    <a:schemeClr val="tx1"/>
                  </a:solidFill>
                  <a:latin typeface="微软雅黑" panose="020B0503020204020204" pitchFamily="34" charset="-122"/>
                  <a:ea typeface="微软雅黑" panose="020B0503020204020204" pitchFamily="34" charset="-122"/>
                  <a:sym typeface="+mn-ea"/>
                </a:rPr>
                <a:t> </a:t>
              </a:r>
              <a:r>
                <a:rPr kumimoji="1" lang="zh-CN" altLang="en-US" sz="1100" b="1" kern="0" dirty="0">
                  <a:solidFill>
                    <a:schemeClr val="tx1"/>
                  </a:solidFill>
                  <a:latin typeface="微软雅黑" panose="020B0503020204020204" pitchFamily="34" charset="-122"/>
                  <a:ea typeface="微软雅黑" panose="020B0503020204020204" pitchFamily="34" charset="-122"/>
                  <a:sym typeface="+mn-ea"/>
                </a:rPr>
                <a:t>统一家庭账号体系</a:t>
              </a:r>
              <a:endParaRPr kumimoji="1" lang="zh-CN" altLang="en-US" sz="1100" b="1" kern="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65" name="矩形 64"/>
            <p:cNvSpPr/>
            <p:nvPr/>
          </p:nvSpPr>
          <p:spPr>
            <a:xfrm>
              <a:off x="4504131" y="5675698"/>
              <a:ext cx="3528000" cy="936000"/>
            </a:xfrm>
            <a:prstGeom prst="rect">
              <a:avLst/>
            </a:prstGeom>
            <a:solidFill>
              <a:srgbClr val="BFE5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0000" rtlCol="0" anchor="t" anchorCtr="0"/>
            <a:lstStyle/>
            <a:p>
              <a:pPr algn="ctr">
                <a:lnSpc>
                  <a:spcPct val="130000"/>
                </a:lnSpc>
              </a:pPr>
              <a:r>
                <a:rPr kumimoji="1" lang="zh-CN" altLang="en-US" sz="1100" b="1" kern="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家庭共享</a:t>
              </a:r>
              <a:r>
                <a:rPr kumimoji="1" lang="zh-CN" altLang="en-US" sz="1100" b="1" kern="0" dirty="0">
                  <a:solidFill>
                    <a:schemeClr val="tx1"/>
                  </a:solidFill>
                  <a:latin typeface="微软雅黑" panose="020B0503020204020204" pitchFamily="34" charset="-122"/>
                  <a:ea typeface="微软雅黑" panose="020B0503020204020204" pitchFamily="34" charset="-122"/>
                  <a:sym typeface="+mn-ea"/>
                </a:rPr>
                <a:t>能力建设</a:t>
              </a:r>
              <a:endParaRPr kumimoji="1" lang="zh-CN" altLang="en-US" sz="1100" b="1" kern="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67" name="矩形 66"/>
            <p:cNvSpPr/>
            <p:nvPr/>
          </p:nvSpPr>
          <p:spPr>
            <a:xfrm>
              <a:off x="8174504" y="5675698"/>
              <a:ext cx="3528000" cy="936000"/>
            </a:xfrm>
            <a:prstGeom prst="rect">
              <a:avLst/>
            </a:prstGeom>
            <a:solidFill>
              <a:srgbClr val="BFE5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0000" rtlCol="0" anchor="t" anchorCtr="0"/>
            <a:lstStyle/>
            <a:p>
              <a:pPr algn="ctr">
                <a:lnSpc>
                  <a:spcPct val="130000"/>
                </a:lnSpc>
              </a:pPr>
              <a:r>
                <a:rPr kumimoji="1" lang="zh-CN" altLang="en-US" sz="1100" b="1" kern="0" dirty="0">
                  <a:solidFill>
                    <a:schemeClr val="tx1"/>
                  </a:solidFill>
                  <a:latin typeface="微软雅黑" panose="020B0503020204020204" pitchFamily="34" charset="-122"/>
                  <a:ea typeface="微软雅黑" panose="020B0503020204020204" pitchFamily="34" charset="-122"/>
                  <a:sym typeface="+mn-ea"/>
                </a:rPr>
                <a:t>优化</a:t>
              </a:r>
              <a:r>
                <a:rPr kumimoji="1" lang="zh-CN" altLang="en-US" sz="1100" b="1" kern="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家庭统一服务</a:t>
              </a:r>
              <a:endParaRPr kumimoji="1" lang="zh-CN" altLang="en-US" sz="1100" b="1" kern="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68" name="文本框 67"/>
            <p:cNvSpPr txBox="1"/>
            <p:nvPr/>
          </p:nvSpPr>
          <p:spPr>
            <a:xfrm>
              <a:off x="8231452" y="5883344"/>
              <a:ext cx="3591689" cy="702052"/>
            </a:xfrm>
            <a:prstGeom prst="rect">
              <a:avLst/>
            </a:prstGeom>
            <a:noFill/>
          </p:spPr>
          <p:txBody>
            <a:bodyPr wrap="square" rtlCol="0">
              <a:spAutoFit/>
            </a:bodyPr>
            <a:lstStyle/>
            <a:p>
              <a:pPr algn="l">
                <a:lnSpc>
                  <a:spcPct val="130000"/>
                </a:lnSpc>
              </a:pPr>
              <a:r>
                <a:rPr kumimoji="1" lang="zh-CN" altLang="en-US" sz="1050" dirty="0">
                  <a:latin typeface="微软雅黑" panose="020B0503020204020204" pitchFamily="34" charset="-122"/>
                  <a:ea typeface="微软雅黑" panose="020B0503020204020204" pitchFamily="34" charset="-122"/>
                </a:rPr>
                <a:t>统一家庭客户服务体系，以家庭为单位向客户提供服务，提供家庭客户关怀，给予家庭成员用户细化的特权和优惠，提升用户忠诚度、增加用户口碑传播。</a:t>
              </a:r>
              <a:endParaRPr kumimoji="1" lang="zh-CN" altLang="en-US" sz="1050" dirty="0">
                <a:latin typeface="微软雅黑" panose="020B0503020204020204" pitchFamily="34" charset="-122"/>
                <a:ea typeface="微软雅黑" panose="020B0503020204020204" pitchFamily="34" charset="-122"/>
              </a:endParaRPr>
            </a:p>
          </p:txBody>
        </p:sp>
        <p:sp>
          <p:nvSpPr>
            <p:cNvPr id="64" name="文本框 63"/>
            <p:cNvSpPr txBox="1"/>
            <p:nvPr/>
          </p:nvSpPr>
          <p:spPr>
            <a:xfrm>
              <a:off x="4512442" y="5883344"/>
              <a:ext cx="3591689" cy="702052"/>
            </a:xfrm>
            <a:prstGeom prst="rect">
              <a:avLst/>
            </a:prstGeom>
            <a:noFill/>
          </p:spPr>
          <p:txBody>
            <a:bodyPr wrap="square" rtlCol="0">
              <a:spAutoFit/>
            </a:bodyPr>
            <a:lstStyle/>
            <a:p>
              <a:pPr algn="l">
                <a:lnSpc>
                  <a:spcPct val="130000"/>
                </a:lnSpc>
              </a:pPr>
              <a:r>
                <a:rPr lang="zh-CN" altLang="en-US" sz="105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sym typeface="+mn-ea"/>
                </a:rPr>
                <a:t>依托家庭圈洞察，建立语音、流量、权益、应用四大共享池，推进家庭池化共享，实现客户融合、成员融合、业务融合和生态融合</a:t>
              </a:r>
              <a:r>
                <a:rPr lang="zh-CN" altLang="en-US" sz="1050" b="0" i="0" dirty="0">
                  <a:effectLst/>
                  <a:latin typeface="Inter"/>
                </a:rPr>
                <a:t>。</a:t>
              </a:r>
              <a:endParaRPr kumimoji="1" lang="zh-CN" altLang="en-US" sz="1050" dirty="0">
                <a:latin typeface="微软雅黑" panose="020B0503020204020204" pitchFamily="34" charset="-122"/>
                <a:ea typeface="微软雅黑" panose="020B0503020204020204" pitchFamily="34" charset="-122"/>
              </a:endParaRPr>
            </a:p>
          </p:txBody>
        </p:sp>
        <p:sp>
          <p:nvSpPr>
            <p:cNvPr id="66" name="文本框 65"/>
            <p:cNvSpPr txBox="1"/>
            <p:nvPr/>
          </p:nvSpPr>
          <p:spPr>
            <a:xfrm>
              <a:off x="870682" y="5883344"/>
              <a:ext cx="3591689" cy="702052"/>
            </a:xfrm>
            <a:prstGeom prst="rect">
              <a:avLst/>
            </a:prstGeom>
            <a:noFill/>
          </p:spPr>
          <p:txBody>
            <a:bodyPr wrap="square" rtlCol="0">
              <a:spAutoFit/>
            </a:bodyPr>
            <a:lstStyle/>
            <a:p>
              <a:pPr algn="l">
                <a:lnSpc>
                  <a:spcPct val="130000"/>
                </a:lnSpc>
              </a:pPr>
              <a:r>
                <a:rPr kumimoji="1" lang="zh-CN" altLang="en-US" sz="1050" dirty="0">
                  <a:latin typeface="微软雅黑" panose="020B0503020204020204" pitchFamily="34" charset="-122"/>
                  <a:ea typeface="微软雅黑" panose="020B0503020204020204" pitchFamily="34" charset="-122"/>
                </a:rPr>
                <a:t>聚焦存增一体的客户运营，提升以“家”为单位运营支撑能力，构建统一家庭账户体系，支撑家庭业务，深化家庭融合支撑，挖掘家庭客户潜力，提升业务收入。</a:t>
              </a:r>
              <a:endParaRPr kumimoji="1" lang="zh-CN" altLang="en-US" sz="1050" dirty="0">
                <a:latin typeface="微软雅黑" panose="020B0503020204020204" pitchFamily="34" charset="-122"/>
                <a:ea typeface="微软雅黑" panose="020B0503020204020204" pitchFamily="34" charset="-122"/>
              </a:endParaRPr>
            </a:p>
          </p:txBody>
        </p:sp>
      </p:grpSp>
      <p:sp>
        <p:nvSpPr>
          <p:cNvPr id="5" name="圆角矩形 4"/>
          <p:cNvSpPr/>
          <p:nvPr/>
        </p:nvSpPr>
        <p:spPr>
          <a:xfrm>
            <a:off x="875246" y="4444409"/>
            <a:ext cx="10891520" cy="729082"/>
          </a:xfrm>
          <a:prstGeom prst="roundRect">
            <a:avLst/>
          </a:prstGeom>
          <a:solidFill>
            <a:srgbClr val="F3F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4" name="文本框 13"/>
          <p:cNvSpPr txBox="1"/>
          <p:nvPr/>
        </p:nvSpPr>
        <p:spPr>
          <a:xfrm>
            <a:off x="2792946" y="4491961"/>
            <a:ext cx="1619885" cy="633979"/>
          </a:xfrm>
          <a:prstGeom prst="rect">
            <a:avLst/>
          </a:prstGeom>
          <a:noFill/>
        </p:spPr>
        <p:txBody>
          <a:bodyPr wrap="square" rtlCol="0">
            <a:noAutofit/>
          </a:bodyPr>
          <a:lstStyle>
            <a:defPPr>
              <a:defRPr lang="zh-CN"/>
            </a:defPPr>
            <a:lvl1pPr marL="285750" indent="-285750">
              <a:lnSpc>
                <a:spcPct val="130000"/>
              </a:lnSpc>
              <a:buFont typeface="Arial" panose="020B0604020202020204" pitchFamily="34" charset="0"/>
              <a:buChar char="•"/>
              <a:defRPr sz="900">
                <a:latin typeface="微软雅黑" panose="020B0503020204020204" pitchFamily="34" charset="-122"/>
                <a:ea typeface="微软雅黑" panose="020B0503020204020204" pitchFamily="34" charset="-122"/>
              </a:defRPr>
            </a:lvl1pPr>
          </a:lstStyle>
          <a:p>
            <a:endParaRPr lang="en-US" altLang="zh-CN" dirty="0"/>
          </a:p>
          <a:p>
            <a:endParaRPr lang="zh-CN" altLang="en-US" dirty="0"/>
          </a:p>
        </p:txBody>
      </p:sp>
      <p:sp>
        <p:nvSpPr>
          <p:cNvPr id="10" name="文本框 9"/>
          <p:cNvSpPr txBox="1"/>
          <p:nvPr/>
        </p:nvSpPr>
        <p:spPr>
          <a:xfrm>
            <a:off x="2846234" y="4491961"/>
            <a:ext cx="1691640" cy="633979"/>
          </a:xfrm>
          <a:prstGeom prst="rect">
            <a:avLst/>
          </a:prstGeom>
          <a:noFill/>
        </p:spPr>
        <p:txBody>
          <a:bodyPr wrap="square" rtlCol="0">
            <a:noAutofit/>
          </a:bodyPr>
          <a:lstStyle>
            <a:defPPr>
              <a:defRPr lang="zh-CN"/>
            </a:defPPr>
            <a:lvl1pPr marL="285750" indent="-285750">
              <a:lnSpc>
                <a:spcPct val="130000"/>
              </a:lnSpc>
              <a:buFont typeface="Arial" panose="020B0604020202020204" pitchFamily="34" charset="0"/>
              <a:buChar char="•"/>
              <a:defRPr sz="900">
                <a:latin typeface="微软雅黑" panose="020B0503020204020204" pitchFamily="34" charset="-122"/>
                <a:ea typeface="微软雅黑" panose="020B0503020204020204" pitchFamily="34" charset="-122"/>
              </a:defRPr>
            </a:lvl1pPr>
          </a:lstStyle>
          <a:p>
            <a:r>
              <a:rPr lang="en-US" altLang="zh-CN" dirty="0">
                <a:sym typeface="+mn-ea"/>
              </a:rPr>
              <a:t>AI</a:t>
            </a:r>
            <a:r>
              <a:rPr lang="zh-CN" altLang="en-US" dirty="0">
                <a:sym typeface="+mn-ea"/>
              </a:rPr>
              <a:t>家庭模型识别</a:t>
            </a:r>
            <a:endParaRPr lang="en-US" altLang="zh-CN" dirty="0">
              <a:sym typeface="+mn-ea"/>
            </a:endParaRPr>
          </a:p>
          <a:p>
            <a:r>
              <a:rPr lang="zh-CN" altLang="en-US" dirty="0">
                <a:sym typeface="+mn-ea"/>
              </a:rPr>
              <a:t>副卡代付自动成群</a:t>
            </a:r>
            <a:endParaRPr lang="en-US" altLang="zh-CN" dirty="0">
              <a:sym typeface="+mn-ea"/>
            </a:endParaRPr>
          </a:p>
          <a:p>
            <a:r>
              <a:rPr lang="zh-CN" altLang="en-US" dirty="0"/>
              <a:t>家庭</a:t>
            </a:r>
            <a:r>
              <a:rPr lang="en-US" altLang="zh-CN" dirty="0"/>
              <a:t>/</a:t>
            </a:r>
            <a:r>
              <a:rPr lang="zh-CN" altLang="en-US" dirty="0"/>
              <a:t>泛家庭关系管理</a:t>
            </a:r>
            <a:endParaRPr lang="en-US" altLang="zh-CN" dirty="0">
              <a:sym typeface="+mn-ea"/>
            </a:endParaRPr>
          </a:p>
          <a:p>
            <a:endParaRPr lang="en-US" altLang="zh-CN" dirty="0">
              <a:sym typeface="+mn-ea"/>
            </a:endParaRPr>
          </a:p>
          <a:p>
            <a:endParaRPr lang="en-US" altLang="zh-CN" dirty="0">
              <a:sym typeface="+mn-ea"/>
            </a:endParaRPr>
          </a:p>
          <a:p>
            <a:endParaRPr lang="zh-CN" altLang="en-US" dirty="0">
              <a:sym typeface="+mn-ea"/>
            </a:endParaRPr>
          </a:p>
        </p:txBody>
      </p:sp>
      <p:sp>
        <p:nvSpPr>
          <p:cNvPr id="8" name="文本框 7"/>
          <p:cNvSpPr txBox="1"/>
          <p:nvPr/>
        </p:nvSpPr>
        <p:spPr>
          <a:xfrm>
            <a:off x="10113818" y="4505380"/>
            <a:ext cx="1561439" cy="607140"/>
          </a:xfrm>
          <a:prstGeom prst="rect">
            <a:avLst/>
          </a:prstGeom>
          <a:noFill/>
        </p:spPr>
        <p:txBody>
          <a:bodyPr wrap="square" rtlCol="0">
            <a:noAutofit/>
          </a:bodyPr>
          <a:lstStyle>
            <a:defPPr>
              <a:defRPr lang="zh-CN"/>
            </a:defPPr>
            <a:lvl1pPr marL="285750" indent="-285750">
              <a:lnSpc>
                <a:spcPct val="130000"/>
              </a:lnSpc>
              <a:buFont typeface="Arial" panose="020B0604020202020204" pitchFamily="34" charset="0"/>
              <a:buChar char="•"/>
              <a:defRPr sz="900">
                <a:latin typeface="微软雅黑" panose="020B0503020204020204" pitchFamily="34" charset="-122"/>
                <a:ea typeface="微软雅黑" panose="020B0503020204020204" pitchFamily="34" charset="-122"/>
              </a:defRPr>
            </a:lvl1pPr>
          </a:lstStyle>
          <a:p>
            <a:r>
              <a:rPr lang="zh-CN" altLang="en-US" dirty="0"/>
              <a:t>家庭统一服务</a:t>
            </a:r>
            <a:endParaRPr lang="en-US" altLang="zh-CN" dirty="0"/>
          </a:p>
          <a:p>
            <a:r>
              <a:rPr lang="zh-CN" altLang="en-US" dirty="0"/>
              <a:t>家庭统一关怀</a:t>
            </a:r>
            <a:endParaRPr lang="zh-CN" altLang="en-US" dirty="0"/>
          </a:p>
        </p:txBody>
      </p:sp>
      <p:sp>
        <p:nvSpPr>
          <p:cNvPr id="45" name="文本框 44"/>
          <p:cNvSpPr txBox="1"/>
          <p:nvPr/>
        </p:nvSpPr>
        <p:spPr>
          <a:xfrm>
            <a:off x="6314075" y="4505380"/>
            <a:ext cx="2019539" cy="607140"/>
          </a:xfrm>
          <a:prstGeom prst="rect">
            <a:avLst/>
          </a:prstGeom>
          <a:noFill/>
        </p:spPr>
        <p:txBody>
          <a:bodyPr wrap="square" rtlCol="0">
            <a:noAutofit/>
          </a:bodyPr>
          <a:lstStyle/>
          <a:p>
            <a:pPr marL="285750" indent="-285750">
              <a:lnSpc>
                <a:spcPct val="13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sym typeface="+mn-ea"/>
              </a:rPr>
              <a:t>人车家融合支撑</a:t>
            </a:r>
            <a:endParaRPr lang="en-US" altLang="zh-CN" sz="900" dirty="0">
              <a:latin typeface="微软雅黑" panose="020B0503020204020204" pitchFamily="34" charset="-122"/>
              <a:ea typeface="微软雅黑" panose="020B0503020204020204" pitchFamily="34" charset="-122"/>
              <a:sym typeface="+mn-ea"/>
            </a:endParaRPr>
          </a:p>
          <a:p>
            <a:pPr marL="285750" indent="-285750">
              <a:lnSpc>
                <a:spcPct val="13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sym typeface="+mn-ea"/>
              </a:rPr>
              <a:t>家庭合约能力提升</a:t>
            </a:r>
            <a:endParaRPr lang="en-US" altLang="zh-CN" sz="900" dirty="0">
              <a:latin typeface="微软雅黑" panose="020B0503020204020204" pitchFamily="34" charset="-122"/>
              <a:ea typeface="微软雅黑" panose="020B0503020204020204" pitchFamily="34" charset="-122"/>
              <a:sym typeface="+mn-ea"/>
            </a:endParaRPr>
          </a:p>
          <a:p>
            <a:pPr marL="285750" indent="-285750">
              <a:lnSpc>
                <a:spcPct val="13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sym typeface="+mn-ea"/>
              </a:rPr>
              <a:t>家庭账户统一付费</a:t>
            </a:r>
            <a:endParaRPr lang="en-US" altLang="zh-CN" sz="900" dirty="0">
              <a:latin typeface="微软雅黑" panose="020B0503020204020204" pitchFamily="34" charset="-122"/>
              <a:ea typeface="微软雅黑" panose="020B0503020204020204" pitchFamily="34" charset="-122"/>
              <a:sym typeface="+mn-ea"/>
            </a:endParaRPr>
          </a:p>
          <a:p>
            <a:pPr marL="285750" indent="-285750">
              <a:lnSpc>
                <a:spcPct val="130000"/>
              </a:lnSpc>
              <a:buFont typeface="Arial" panose="020B0604020202020204" pitchFamily="34" charset="0"/>
              <a:buChar char="•"/>
            </a:pPr>
            <a:endParaRPr lang="en-US" altLang="zh-CN" sz="900" dirty="0">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958432" y="4491961"/>
            <a:ext cx="1739595" cy="633979"/>
          </a:xfrm>
          <a:prstGeom prst="rect">
            <a:avLst/>
          </a:prstGeom>
          <a:noFill/>
        </p:spPr>
        <p:txBody>
          <a:bodyPr wrap="square" rtlCol="0">
            <a:noAutofit/>
          </a:bodyPr>
          <a:lstStyle>
            <a:defPPr>
              <a:defRPr lang="zh-CN"/>
            </a:defPPr>
            <a:lvl1pPr marL="285750" indent="-285750">
              <a:lnSpc>
                <a:spcPct val="130000"/>
              </a:lnSpc>
              <a:buFont typeface="Arial" panose="020B0604020202020204" pitchFamily="34" charset="0"/>
              <a:buChar char="•"/>
              <a:defRPr sz="900">
                <a:latin typeface="微软雅黑" panose="020B0503020204020204" pitchFamily="34" charset="-122"/>
                <a:ea typeface="微软雅黑" panose="020B0503020204020204" pitchFamily="34" charset="-122"/>
              </a:defRPr>
            </a:lvl1pPr>
          </a:lstStyle>
          <a:p>
            <a:r>
              <a:rPr lang="zh-CN" altLang="en-US" dirty="0"/>
              <a:t>家庭统一账户建设</a:t>
            </a:r>
            <a:endParaRPr lang="en-US" altLang="zh-CN" dirty="0">
              <a:sym typeface="+mn-ea"/>
            </a:endParaRPr>
          </a:p>
          <a:p>
            <a:r>
              <a:rPr lang="en-US" altLang="zh-CN" dirty="0"/>
              <a:t>CHBN+</a:t>
            </a:r>
            <a:r>
              <a:rPr lang="zh-CN" altLang="en-US" dirty="0"/>
              <a:t>互联网账号拉通</a:t>
            </a:r>
            <a:endParaRPr lang="en-US" altLang="zh-CN" dirty="0"/>
          </a:p>
          <a:p>
            <a:r>
              <a:rPr lang="zh-CN" altLang="en-US" dirty="0"/>
              <a:t>家庭全景视图</a:t>
            </a:r>
            <a:endParaRPr lang="zh-CN" altLang="en-US" dirty="0"/>
          </a:p>
        </p:txBody>
      </p:sp>
      <p:sp>
        <p:nvSpPr>
          <p:cNvPr id="159" name="文本框 158"/>
          <p:cNvSpPr txBox="1"/>
          <p:nvPr/>
        </p:nvSpPr>
        <p:spPr>
          <a:xfrm>
            <a:off x="4630609" y="4491961"/>
            <a:ext cx="2019539" cy="633979"/>
          </a:xfrm>
          <a:prstGeom prst="rect">
            <a:avLst/>
          </a:prstGeom>
          <a:noFill/>
        </p:spPr>
        <p:txBody>
          <a:bodyPr wrap="square" rtlCol="0">
            <a:noAutofit/>
          </a:bodyPr>
          <a:lstStyle>
            <a:defPPr>
              <a:defRPr lang="zh-CN"/>
            </a:defPPr>
            <a:lvl1pPr marL="285750" indent="-285750">
              <a:lnSpc>
                <a:spcPct val="130000"/>
              </a:lnSpc>
              <a:buFont typeface="Arial" panose="020B0604020202020204" pitchFamily="34" charset="0"/>
              <a:buChar char="•"/>
              <a:defRPr sz="900">
                <a:latin typeface="微软雅黑" panose="020B0503020204020204" pitchFamily="34" charset="-122"/>
                <a:ea typeface="微软雅黑" panose="020B0503020204020204" pitchFamily="34" charset="-122"/>
              </a:defRPr>
            </a:lvl1pPr>
          </a:lstStyle>
          <a:p>
            <a:r>
              <a:rPr lang="zh-CN" altLang="en-US" sz="900" dirty="0">
                <a:latin typeface="微软雅黑" panose="020B0503020204020204" pitchFamily="34" charset="-122"/>
                <a:ea typeface="微软雅黑" panose="020B0503020204020204" pitchFamily="34" charset="-122"/>
                <a:sym typeface="+mn-ea"/>
              </a:rPr>
              <a:t>家庭业务池化共享能力</a:t>
            </a:r>
            <a:endParaRPr lang="en-US" altLang="zh-CN" sz="900" dirty="0">
              <a:latin typeface="微软雅黑" panose="020B0503020204020204" pitchFamily="34" charset="-122"/>
              <a:ea typeface="微软雅黑" panose="020B0503020204020204" pitchFamily="34" charset="-122"/>
              <a:sym typeface="+mn-ea"/>
            </a:endParaRPr>
          </a:p>
          <a:p>
            <a:r>
              <a:rPr lang="zh-CN" altLang="en-US" sz="900" dirty="0">
                <a:latin typeface="微软雅黑" panose="020B0503020204020204" pitchFamily="34" charset="-122"/>
                <a:ea typeface="微软雅黑" panose="020B0503020204020204" pitchFamily="34" charset="-122"/>
                <a:sym typeface="+mn-ea"/>
              </a:rPr>
              <a:t>共享资源授权和分配</a:t>
            </a:r>
            <a:endParaRPr lang="en-US" altLang="zh-CN" sz="900" dirty="0">
              <a:latin typeface="微软雅黑" panose="020B0503020204020204" pitchFamily="34" charset="-122"/>
              <a:ea typeface="微软雅黑" panose="020B0503020204020204" pitchFamily="34" charset="-122"/>
              <a:sym typeface="+mn-ea"/>
            </a:endParaRPr>
          </a:p>
          <a:p>
            <a:r>
              <a:rPr lang="zh-CN" altLang="en-US" dirty="0">
                <a:sym typeface="+mn-ea"/>
              </a:rPr>
              <a:t>跨省资源协同</a:t>
            </a:r>
            <a:endParaRPr lang="en-US" altLang="zh-CN" dirty="0"/>
          </a:p>
          <a:p>
            <a:endParaRPr lang="en-US" altLang="zh-CN" dirty="0"/>
          </a:p>
          <a:p>
            <a:endParaRPr lang="en-US" altLang="zh-CN" dirty="0"/>
          </a:p>
          <a:p>
            <a:endParaRPr lang="zh-CN" altLang="en-US" dirty="0">
              <a:sym typeface="+mn-ea"/>
            </a:endParaRPr>
          </a:p>
        </p:txBody>
      </p:sp>
      <p:sp>
        <p:nvSpPr>
          <p:cNvPr id="260" name="文本框 259"/>
          <p:cNvSpPr txBox="1"/>
          <p:nvPr/>
        </p:nvSpPr>
        <p:spPr>
          <a:xfrm>
            <a:off x="8231452" y="4505380"/>
            <a:ext cx="1953092" cy="607140"/>
          </a:xfrm>
          <a:prstGeom prst="rect">
            <a:avLst/>
          </a:prstGeom>
          <a:noFill/>
        </p:spPr>
        <p:txBody>
          <a:bodyPr wrap="square" rtlCol="0">
            <a:noAutofit/>
          </a:bodyPr>
          <a:lstStyle>
            <a:defPPr>
              <a:defRPr lang="zh-CN"/>
            </a:defPPr>
            <a:lvl1pPr marL="285750" indent="-285750">
              <a:lnSpc>
                <a:spcPct val="130000"/>
              </a:lnSpc>
              <a:buFont typeface="Arial" panose="020B0604020202020204" pitchFamily="34" charset="0"/>
              <a:buChar char="•"/>
              <a:defRPr sz="900">
                <a:latin typeface="微软雅黑" panose="020B0503020204020204" pitchFamily="34" charset="-122"/>
                <a:ea typeface="微软雅黑" panose="020B0503020204020204" pitchFamily="34" charset="-122"/>
              </a:defRPr>
            </a:lvl1pPr>
          </a:lstStyle>
          <a:p>
            <a:pPr marL="285750" indent="-285750">
              <a:lnSpc>
                <a:spcPct val="13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sym typeface="+mn-ea"/>
              </a:rPr>
              <a:t>家庭授权代查、代订、代办</a:t>
            </a:r>
            <a:endParaRPr lang="en-US" altLang="zh-CN" sz="900" dirty="0">
              <a:latin typeface="微软雅黑" panose="020B0503020204020204" pitchFamily="34" charset="-122"/>
              <a:ea typeface="微软雅黑" panose="020B0503020204020204" pitchFamily="34" charset="-122"/>
              <a:sym typeface="+mn-ea"/>
            </a:endParaRPr>
          </a:p>
          <a:p>
            <a:r>
              <a:rPr lang="zh-CN" altLang="en-US" dirty="0"/>
              <a:t>家庭融合账单优惠</a:t>
            </a:r>
            <a:endParaRPr lang="en-US" altLang="zh-CN" dirty="0"/>
          </a:p>
          <a:p>
            <a:r>
              <a:rPr lang="zh-CN" altLang="en-US" dirty="0"/>
              <a:t>家庭计费管理</a:t>
            </a:r>
            <a:endParaRPr lang="zh-CN" altLang="en-US" dirty="0"/>
          </a:p>
        </p:txBody>
      </p:sp>
      <p:grpSp>
        <p:nvGrpSpPr>
          <p:cNvPr id="18" name="组 13"/>
          <p:cNvGrpSpPr/>
          <p:nvPr/>
        </p:nvGrpSpPr>
        <p:grpSpPr>
          <a:xfrm>
            <a:off x="10506192" y="4989960"/>
            <a:ext cx="1620285" cy="1782705"/>
            <a:chOff x="7775541" y="3646905"/>
            <a:chExt cx="1360242" cy="1496595"/>
          </a:xfrm>
        </p:grpSpPr>
        <p:sp>
          <p:nvSpPr>
            <p:cNvPr id="19" name="任意形状 6"/>
            <p:cNvSpPr/>
            <p:nvPr/>
          </p:nvSpPr>
          <p:spPr>
            <a:xfrm rot="16200000">
              <a:off x="7707364" y="3715081"/>
              <a:ext cx="1496595" cy="1360242"/>
            </a:xfrm>
            <a:custGeom>
              <a:avLst/>
              <a:gdLst>
                <a:gd name="connsiteX0" fmla="*/ 1496595 w 1496595"/>
                <a:gd name="connsiteY0" fmla="*/ 1360242 h 1360242"/>
                <a:gd name="connsiteX1" fmla="*/ 956557 w 1496595"/>
                <a:gd name="connsiteY1" fmla="*/ 1360242 h 1360242"/>
                <a:gd name="connsiteX2" fmla="*/ 0 w 1496595"/>
                <a:gd name="connsiteY2" fmla="*/ 490836 h 1360242"/>
                <a:gd name="connsiteX3" fmla="*/ 0 w 1496595"/>
                <a:gd name="connsiteY3" fmla="*/ 0 h 1360242"/>
              </a:gdLst>
              <a:ahLst/>
              <a:cxnLst>
                <a:cxn ang="0">
                  <a:pos x="connsiteX0" y="connsiteY0"/>
                </a:cxn>
                <a:cxn ang="0">
                  <a:pos x="connsiteX1" y="connsiteY1"/>
                </a:cxn>
                <a:cxn ang="0">
                  <a:pos x="connsiteX2" y="connsiteY2"/>
                </a:cxn>
                <a:cxn ang="0">
                  <a:pos x="connsiteX3" y="connsiteY3"/>
                </a:cxn>
              </a:cxnLst>
              <a:rect l="l" t="t" r="r" b="b"/>
              <a:pathLst>
                <a:path w="1496595" h="1360242">
                  <a:moveTo>
                    <a:pt x="1496595" y="1360242"/>
                  </a:moveTo>
                  <a:lnTo>
                    <a:pt x="956557" y="1360242"/>
                  </a:lnTo>
                  <a:lnTo>
                    <a:pt x="0" y="490836"/>
                  </a:lnTo>
                  <a:lnTo>
                    <a:pt x="0" y="0"/>
                  </a:lnTo>
                  <a:close/>
                </a:path>
              </a:pathLst>
            </a:custGeom>
            <a:solidFill>
              <a:srgbClr val="EF954D">
                <a:lumMod val="60000"/>
                <a:lumOff val="40000"/>
                <a:alpha val="72000"/>
              </a:srgbClr>
            </a:solidFill>
            <a:ln w="9525" cap="flat" cmpd="sng" algn="ctr">
              <a:noFill/>
              <a:prstDash val="solid"/>
            </a:ln>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dirty="0">
                <a:ln>
                  <a:noFill/>
                </a:ln>
                <a:solidFill>
                  <a:srgbClr val="000000">
                    <a:lumMod val="85000"/>
                    <a:lumOff val="15000"/>
                  </a:srgbClr>
                </a:solidFill>
                <a:effectLst/>
                <a:uLnTx/>
                <a:uFillTx/>
                <a:latin typeface="Arial" panose="020B0604020202020204"/>
                <a:ea typeface="黑体" panose="02010609060101010101" charset="-122"/>
                <a:cs typeface="+mn-ea"/>
                <a:sym typeface="+mn-lt"/>
              </a:endParaRPr>
            </a:p>
          </p:txBody>
        </p:sp>
        <p:sp>
          <p:nvSpPr>
            <p:cNvPr id="20" name="文本框 19"/>
            <p:cNvSpPr txBox="1"/>
            <p:nvPr/>
          </p:nvSpPr>
          <p:spPr>
            <a:xfrm rot="18696404">
              <a:off x="8126099" y="4369720"/>
              <a:ext cx="832150" cy="360900"/>
            </a:xfrm>
            <a:prstGeom prst="rect">
              <a:avLst/>
            </a:prstGeom>
            <a:noFill/>
          </p:spPr>
          <p:txBody>
            <a:bodyPr wrap="none" rtlCol="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暂定</a:t>
              </a:r>
              <a:endParaRPr kumimoji="1" lang="en-US" altLang="zh-CN"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（内容将更新</a:t>
              </a:r>
              <a:r>
                <a:rPr kumimoji="1" lang="en-US" altLang="zh-CN"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a:t>
              </a:r>
              <a:endPar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p:txBody>
        </p:sp>
      </p:grpSp>
      <p:grpSp>
        <p:nvGrpSpPr>
          <p:cNvPr id="4" name="组合 3"/>
          <p:cNvGrpSpPr/>
          <p:nvPr/>
        </p:nvGrpSpPr>
        <p:grpSpPr>
          <a:xfrm>
            <a:off x="958215" y="2042795"/>
            <a:ext cx="10581640" cy="1824355"/>
            <a:chOff x="647" y="2977"/>
            <a:chExt cx="18067" cy="2873"/>
          </a:xfrm>
        </p:grpSpPr>
        <p:sp>
          <p:nvSpPr>
            <p:cNvPr id="87" name="Bullet1"/>
            <p:cNvSpPr txBox="1"/>
            <p:nvPr/>
          </p:nvSpPr>
          <p:spPr bwMode="auto">
            <a:xfrm>
              <a:off x="647" y="2977"/>
              <a:ext cx="5840" cy="2873"/>
            </a:xfrm>
            <a:prstGeom prst="rect">
              <a:avLst/>
            </a:prstGeom>
            <a:solidFill>
              <a:schemeClr val="bg1"/>
            </a:solidFill>
            <a:ln>
              <a:noFill/>
            </a:ln>
          </p:spPr>
          <p:txBody>
            <a:bodyPr wrap="square" lIns="90000" tIns="46800" rIns="90000" bIns="46800" anchor="ctr"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endParaRPr lang="en-US" altLang="zh-CN" b="1" dirty="0"/>
            </a:p>
          </p:txBody>
        </p:sp>
        <p:sp>
          <p:nvSpPr>
            <p:cNvPr id="88" name="文本框 87"/>
            <p:cNvSpPr txBox="1"/>
            <p:nvPr/>
          </p:nvSpPr>
          <p:spPr>
            <a:xfrm>
              <a:off x="723" y="5019"/>
              <a:ext cx="5600" cy="656"/>
            </a:xfrm>
            <a:prstGeom prst="rect">
              <a:avLst/>
            </a:prstGeom>
            <a:solidFill>
              <a:srgbClr val="E0F0FC"/>
            </a:solidFill>
          </p:spPr>
          <p:txBody>
            <a:bodyPr wrap="square" rtlCol="0">
              <a:no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以爱家亲情圈关系为核心，借助</a:t>
              </a:r>
              <a:r>
                <a:rPr kumimoji="0" lang="en-US" altLang="zh-CN"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AI</a:t>
              </a: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智能识别模型，主动邀请潜在成员加群。</a:t>
              </a:r>
              <a:r>
                <a:rPr kumimoji="1"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规划构建标准一致、跨省联动的</a:t>
              </a:r>
              <a:r>
                <a:rPr kumimoji="1" lang="zh-CN" altLang="en-US" sz="9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全网统一家庭账户体系</a:t>
              </a:r>
              <a:r>
                <a:rPr kumimoji="1"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26" name="组合 25"/>
            <p:cNvGrpSpPr/>
            <p:nvPr/>
          </p:nvGrpSpPr>
          <p:grpSpPr>
            <a:xfrm>
              <a:off x="647" y="3026"/>
              <a:ext cx="1851" cy="376"/>
              <a:chOff x="375270" y="1921303"/>
              <a:chExt cx="1175191" cy="238709"/>
            </a:xfrm>
          </p:grpSpPr>
          <p:sp>
            <p:nvSpPr>
              <p:cNvPr id="93" name="Number1"/>
              <p:cNvSpPr/>
              <p:nvPr/>
            </p:nvSpPr>
            <p:spPr>
              <a:xfrm rot="16200000">
                <a:off x="843511" y="1453062"/>
                <a:ext cx="238709" cy="1175191"/>
              </a:xfrm>
              <a:prstGeom prst="round2SameRect">
                <a:avLst>
                  <a:gd name="adj1" fmla="val 0"/>
                  <a:gd name="adj2" fmla="val 30000"/>
                </a:avLst>
              </a:prstGeom>
              <a:solidFill>
                <a:srgbClr val="36A4F5"/>
              </a:soli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endParaRPr lang="en-US" altLang="zh-CN" sz="1200" b="1" dirty="0">
                  <a:solidFill>
                    <a:srgbClr val="FFFFFF"/>
                  </a:solidFill>
                  <a:cs typeface="+mn-ea"/>
                  <a:sym typeface="Arial" panose="020B0604020202020204" pitchFamily="34" charset="0"/>
                </a:endParaRPr>
              </a:p>
            </p:txBody>
          </p:sp>
          <p:sp>
            <p:nvSpPr>
              <p:cNvPr id="94" name="cube_158764"/>
              <p:cNvSpPr>
                <a:spLocks noChangeAspect="1"/>
              </p:cNvSpPr>
              <p:nvPr/>
            </p:nvSpPr>
            <p:spPr>
              <a:xfrm>
                <a:off x="1334431" y="1960059"/>
                <a:ext cx="144000" cy="163917"/>
              </a:xfrm>
              <a:custGeom>
                <a:avLst/>
                <a:gdLst>
                  <a:gd name="T0" fmla="*/ 5729 w 5731"/>
                  <a:gd name="T1" fmla="*/ 1760 h 6535"/>
                  <a:gd name="T2" fmla="*/ 5727 w 5731"/>
                  <a:gd name="T3" fmla="*/ 1736 h 6535"/>
                  <a:gd name="T4" fmla="*/ 5721 w 5731"/>
                  <a:gd name="T5" fmla="*/ 1715 h 6535"/>
                  <a:gd name="T6" fmla="*/ 5713 w 5731"/>
                  <a:gd name="T7" fmla="*/ 1692 h 6535"/>
                  <a:gd name="T8" fmla="*/ 5692 w 5731"/>
                  <a:gd name="T9" fmla="*/ 1652 h 6535"/>
                  <a:gd name="T10" fmla="*/ 5677 w 5731"/>
                  <a:gd name="T11" fmla="*/ 1632 h 6535"/>
                  <a:gd name="T12" fmla="*/ 5664 w 5731"/>
                  <a:gd name="T13" fmla="*/ 1618 h 6535"/>
                  <a:gd name="T14" fmla="*/ 5645 w 5731"/>
                  <a:gd name="T15" fmla="*/ 1600 h 6535"/>
                  <a:gd name="T16" fmla="*/ 5629 w 5731"/>
                  <a:gd name="T17" fmla="*/ 1588 h 6535"/>
                  <a:gd name="T18" fmla="*/ 5621 w 5731"/>
                  <a:gd name="T19" fmla="*/ 1583 h 6535"/>
                  <a:gd name="T20" fmla="*/ 2791 w 5731"/>
                  <a:gd name="T21" fmla="*/ 40 h 6535"/>
                  <a:gd name="T22" fmla="*/ 153 w 5731"/>
                  <a:gd name="T23" fmla="*/ 1520 h 6535"/>
                  <a:gd name="T24" fmla="*/ 136 w 5731"/>
                  <a:gd name="T25" fmla="*/ 1532 h 6535"/>
                  <a:gd name="T26" fmla="*/ 117 w 5731"/>
                  <a:gd name="T27" fmla="*/ 1547 h 6535"/>
                  <a:gd name="T28" fmla="*/ 101 w 5731"/>
                  <a:gd name="T29" fmla="*/ 1563 h 6535"/>
                  <a:gd name="T30" fmla="*/ 85 w 5731"/>
                  <a:gd name="T31" fmla="*/ 1582 h 6535"/>
                  <a:gd name="T32" fmla="*/ 72 w 5731"/>
                  <a:gd name="T33" fmla="*/ 1603 h 6535"/>
                  <a:gd name="T34" fmla="*/ 71 w 5731"/>
                  <a:gd name="T35" fmla="*/ 1604 h 6535"/>
                  <a:gd name="T36" fmla="*/ 61 w 5731"/>
                  <a:gd name="T37" fmla="*/ 1623 h 6535"/>
                  <a:gd name="T38" fmla="*/ 53 w 5731"/>
                  <a:gd name="T39" fmla="*/ 1638 h 6535"/>
                  <a:gd name="T40" fmla="*/ 48 w 5731"/>
                  <a:gd name="T41" fmla="*/ 1652 h 6535"/>
                  <a:gd name="T42" fmla="*/ 44 w 5731"/>
                  <a:gd name="T43" fmla="*/ 1667 h 6535"/>
                  <a:gd name="T44" fmla="*/ 40 w 5731"/>
                  <a:gd name="T45" fmla="*/ 1683 h 6535"/>
                  <a:gd name="T46" fmla="*/ 39 w 5731"/>
                  <a:gd name="T47" fmla="*/ 1698 h 6535"/>
                  <a:gd name="T48" fmla="*/ 39 w 5731"/>
                  <a:gd name="T49" fmla="*/ 1714 h 6535"/>
                  <a:gd name="T50" fmla="*/ 39 w 5731"/>
                  <a:gd name="T51" fmla="*/ 1716 h 6535"/>
                  <a:gd name="T52" fmla="*/ 39 w 5731"/>
                  <a:gd name="T53" fmla="*/ 1719 h 6535"/>
                  <a:gd name="T54" fmla="*/ 112 w 5731"/>
                  <a:gd name="T55" fmla="*/ 4936 h 6535"/>
                  <a:gd name="T56" fmla="*/ 2843 w 5731"/>
                  <a:gd name="T57" fmla="*/ 6535 h 6535"/>
                  <a:gd name="T58" fmla="*/ 5591 w 5731"/>
                  <a:gd name="T59" fmla="*/ 5027 h 6535"/>
                  <a:gd name="T60" fmla="*/ 5731 w 5731"/>
                  <a:gd name="T61" fmla="*/ 1784 h 6535"/>
                  <a:gd name="T62" fmla="*/ 5731 w 5731"/>
                  <a:gd name="T63" fmla="*/ 1775 h 6535"/>
                  <a:gd name="T64" fmla="*/ 5045 w 5731"/>
                  <a:gd name="T65" fmla="*/ 1776 h 6535"/>
                  <a:gd name="T66" fmla="*/ 725 w 5731"/>
                  <a:gd name="T67" fmla="*/ 1724 h 6535"/>
                  <a:gd name="T68" fmla="*/ 492 w 5731"/>
                  <a:gd name="T69" fmla="*/ 2118 h 6535"/>
                  <a:gd name="T70" fmla="*/ 2639 w 5731"/>
                  <a:gd name="T71" fmla="*/ 5918 h 6535"/>
                  <a:gd name="T72" fmla="*/ 492 w 5731"/>
                  <a:gd name="T73" fmla="*/ 2118 h 6535"/>
                  <a:gd name="T74" fmla="*/ 3095 w 5731"/>
                  <a:gd name="T75" fmla="*/ 3396 h 6535"/>
                  <a:gd name="T76" fmla="*/ 5252 w 5731"/>
                  <a:gd name="T77" fmla="*/ 4694 h 6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31" h="6535">
                    <a:moveTo>
                      <a:pt x="5731" y="1775"/>
                    </a:moveTo>
                    <a:cubicBezTo>
                      <a:pt x="5731" y="1770"/>
                      <a:pt x="5731" y="1766"/>
                      <a:pt x="5729" y="1760"/>
                    </a:cubicBezTo>
                    <a:lnTo>
                      <a:pt x="5729" y="1755"/>
                    </a:lnTo>
                    <a:cubicBezTo>
                      <a:pt x="5728" y="1748"/>
                      <a:pt x="5728" y="1743"/>
                      <a:pt x="5727" y="1736"/>
                    </a:cubicBezTo>
                    <a:cubicBezTo>
                      <a:pt x="5727" y="1734"/>
                      <a:pt x="5725" y="1732"/>
                      <a:pt x="5725" y="1730"/>
                    </a:cubicBezTo>
                    <a:cubicBezTo>
                      <a:pt x="5724" y="1724"/>
                      <a:pt x="5723" y="1720"/>
                      <a:pt x="5721" y="1715"/>
                    </a:cubicBezTo>
                    <a:cubicBezTo>
                      <a:pt x="5721" y="1714"/>
                      <a:pt x="5720" y="1712"/>
                      <a:pt x="5720" y="1711"/>
                    </a:cubicBezTo>
                    <a:cubicBezTo>
                      <a:pt x="5717" y="1704"/>
                      <a:pt x="5716" y="1699"/>
                      <a:pt x="5713" y="1692"/>
                    </a:cubicBezTo>
                    <a:cubicBezTo>
                      <a:pt x="5713" y="1691"/>
                      <a:pt x="5712" y="1690"/>
                      <a:pt x="5712" y="1688"/>
                    </a:cubicBezTo>
                    <a:cubicBezTo>
                      <a:pt x="5707" y="1675"/>
                      <a:pt x="5700" y="1663"/>
                      <a:pt x="5692" y="1652"/>
                    </a:cubicBezTo>
                    <a:cubicBezTo>
                      <a:pt x="5691" y="1651"/>
                      <a:pt x="5691" y="1650"/>
                      <a:pt x="5689" y="1648"/>
                    </a:cubicBezTo>
                    <a:lnTo>
                      <a:pt x="5677" y="1632"/>
                    </a:lnTo>
                    <a:cubicBezTo>
                      <a:pt x="5676" y="1631"/>
                      <a:pt x="5675" y="1630"/>
                      <a:pt x="5675" y="1628"/>
                    </a:cubicBezTo>
                    <a:cubicBezTo>
                      <a:pt x="5672" y="1624"/>
                      <a:pt x="5668" y="1622"/>
                      <a:pt x="5664" y="1618"/>
                    </a:cubicBezTo>
                    <a:cubicBezTo>
                      <a:pt x="5663" y="1616"/>
                      <a:pt x="5660" y="1615"/>
                      <a:pt x="5659" y="1612"/>
                    </a:cubicBezTo>
                    <a:cubicBezTo>
                      <a:pt x="5655" y="1608"/>
                      <a:pt x="5649" y="1604"/>
                      <a:pt x="5645" y="1600"/>
                    </a:cubicBezTo>
                    <a:cubicBezTo>
                      <a:pt x="5644" y="1599"/>
                      <a:pt x="5643" y="1598"/>
                      <a:pt x="5640" y="1596"/>
                    </a:cubicBezTo>
                    <a:cubicBezTo>
                      <a:pt x="5636" y="1594"/>
                      <a:pt x="5633" y="1591"/>
                      <a:pt x="5629" y="1588"/>
                    </a:cubicBezTo>
                    <a:cubicBezTo>
                      <a:pt x="5628" y="1587"/>
                      <a:pt x="5625" y="1586"/>
                      <a:pt x="5624" y="1584"/>
                    </a:cubicBezTo>
                    <a:cubicBezTo>
                      <a:pt x="5623" y="1584"/>
                      <a:pt x="5623" y="1583"/>
                      <a:pt x="5621" y="1583"/>
                    </a:cubicBezTo>
                    <a:lnTo>
                      <a:pt x="3020" y="43"/>
                    </a:lnTo>
                    <a:cubicBezTo>
                      <a:pt x="2949" y="2"/>
                      <a:pt x="2863" y="0"/>
                      <a:pt x="2791" y="40"/>
                    </a:cubicBezTo>
                    <a:lnTo>
                      <a:pt x="156" y="1519"/>
                    </a:lnTo>
                    <a:cubicBezTo>
                      <a:pt x="155" y="1519"/>
                      <a:pt x="155" y="1520"/>
                      <a:pt x="153" y="1520"/>
                    </a:cubicBezTo>
                    <a:cubicBezTo>
                      <a:pt x="152" y="1522"/>
                      <a:pt x="149" y="1523"/>
                      <a:pt x="148" y="1524"/>
                    </a:cubicBezTo>
                    <a:lnTo>
                      <a:pt x="136" y="1532"/>
                    </a:lnTo>
                    <a:cubicBezTo>
                      <a:pt x="135" y="1534"/>
                      <a:pt x="132" y="1535"/>
                      <a:pt x="131" y="1536"/>
                    </a:cubicBezTo>
                    <a:cubicBezTo>
                      <a:pt x="125" y="1540"/>
                      <a:pt x="121" y="1544"/>
                      <a:pt x="117" y="1547"/>
                    </a:cubicBezTo>
                    <a:cubicBezTo>
                      <a:pt x="116" y="1548"/>
                      <a:pt x="113" y="1550"/>
                      <a:pt x="112" y="1552"/>
                    </a:cubicBezTo>
                    <a:cubicBezTo>
                      <a:pt x="108" y="1555"/>
                      <a:pt x="105" y="1559"/>
                      <a:pt x="101" y="1563"/>
                    </a:cubicBezTo>
                    <a:lnTo>
                      <a:pt x="97" y="1567"/>
                    </a:lnTo>
                    <a:cubicBezTo>
                      <a:pt x="93" y="1572"/>
                      <a:pt x="89" y="1576"/>
                      <a:pt x="85" y="1582"/>
                    </a:cubicBezTo>
                    <a:cubicBezTo>
                      <a:pt x="84" y="1583"/>
                      <a:pt x="83" y="1584"/>
                      <a:pt x="83" y="1586"/>
                    </a:cubicBezTo>
                    <a:cubicBezTo>
                      <a:pt x="79" y="1591"/>
                      <a:pt x="75" y="1596"/>
                      <a:pt x="72" y="1603"/>
                    </a:cubicBezTo>
                    <a:lnTo>
                      <a:pt x="72" y="1603"/>
                    </a:lnTo>
                    <a:cubicBezTo>
                      <a:pt x="72" y="1603"/>
                      <a:pt x="72" y="1604"/>
                      <a:pt x="71" y="1604"/>
                    </a:cubicBezTo>
                    <a:cubicBezTo>
                      <a:pt x="68" y="1608"/>
                      <a:pt x="67" y="1612"/>
                      <a:pt x="64" y="1616"/>
                    </a:cubicBezTo>
                    <a:cubicBezTo>
                      <a:pt x="63" y="1619"/>
                      <a:pt x="63" y="1620"/>
                      <a:pt x="61" y="1623"/>
                    </a:cubicBezTo>
                    <a:cubicBezTo>
                      <a:pt x="60" y="1626"/>
                      <a:pt x="59" y="1628"/>
                      <a:pt x="57" y="1630"/>
                    </a:cubicBezTo>
                    <a:lnTo>
                      <a:pt x="53" y="1638"/>
                    </a:lnTo>
                    <a:cubicBezTo>
                      <a:pt x="52" y="1639"/>
                      <a:pt x="52" y="1642"/>
                      <a:pt x="51" y="1643"/>
                    </a:cubicBezTo>
                    <a:cubicBezTo>
                      <a:pt x="49" y="1646"/>
                      <a:pt x="48" y="1650"/>
                      <a:pt x="48" y="1652"/>
                    </a:cubicBezTo>
                    <a:cubicBezTo>
                      <a:pt x="48" y="1654"/>
                      <a:pt x="47" y="1655"/>
                      <a:pt x="47" y="1656"/>
                    </a:cubicBezTo>
                    <a:cubicBezTo>
                      <a:pt x="45" y="1660"/>
                      <a:pt x="45" y="1663"/>
                      <a:pt x="44" y="1667"/>
                    </a:cubicBezTo>
                    <a:cubicBezTo>
                      <a:pt x="44" y="1668"/>
                      <a:pt x="44" y="1670"/>
                      <a:pt x="43" y="1671"/>
                    </a:cubicBezTo>
                    <a:cubicBezTo>
                      <a:pt x="41" y="1675"/>
                      <a:pt x="41" y="1679"/>
                      <a:pt x="40" y="1683"/>
                    </a:cubicBezTo>
                    <a:lnTo>
                      <a:pt x="40" y="1686"/>
                    </a:lnTo>
                    <a:cubicBezTo>
                      <a:pt x="40" y="1690"/>
                      <a:pt x="39" y="1694"/>
                      <a:pt x="39" y="1698"/>
                    </a:cubicBezTo>
                    <a:lnTo>
                      <a:pt x="39" y="1700"/>
                    </a:lnTo>
                    <a:lnTo>
                      <a:pt x="39" y="1714"/>
                    </a:lnTo>
                    <a:lnTo>
                      <a:pt x="39" y="1715"/>
                    </a:lnTo>
                    <a:lnTo>
                      <a:pt x="39" y="1716"/>
                    </a:lnTo>
                    <a:lnTo>
                      <a:pt x="39" y="1718"/>
                    </a:lnTo>
                    <a:lnTo>
                      <a:pt x="39" y="1719"/>
                    </a:lnTo>
                    <a:lnTo>
                      <a:pt x="1" y="4738"/>
                    </a:lnTo>
                    <a:cubicBezTo>
                      <a:pt x="0" y="4819"/>
                      <a:pt x="43" y="4895"/>
                      <a:pt x="112" y="4936"/>
                    </a:cubicBezTo>
                    <a:lnTo>
                      <a:pt x="2725" y="6503"/>
                    </a:lnTo>
                    <a:cubicBezTo>
                      <a:pt x="2761" y="6524"/>
                      <a:pt x="2803" y="6535"/>
                      <a:pt x="2843" y="6535"/>
                    </a:cubicBezTo>
                    <a:cubicBezTo>
                      <a:pt x="2881" y="6535"/>
                      <a:pt x="2920" y="6526"/>
                      <a:pt x="2955" y="6506"/>
                    </a:cubicBezTo>
                    <a:lnTo>
                      <a:pt x="5591" y="5027"/>
                    </a:lnTo>
                    <a:cubicBezTo>
                      <a:pt x="5663" y="4987"/>
                      <a:pt x="5707" y="4911"/>
                      <a:pt x="5708" y="4830"/>
                    </a:cubicBezTo>
                    <a:lnTo>
                      <a:pt x="5731" y="1784"/>
                    </a:lnTo>
                    <a:lnTo>
                      <a:pt x="5731" y="1782"/>
                    </a:lnTo>
                    <a:lnTo>
                      <a:pt x="5731" y="1775"/>
                    </a:lnTo>
                    <a:close/>
                    <a:moveTo>
                      <a:pt x="2900" y="503"/>
                    </a:moveTo>
                    <a:lnTo>
                      <a:pt x="5045" y="1776"/>
                    </a:lnTo>
                    <a:lnTo>
                      <a:pt x="2871" y="2998"/>
                    </a:lnTo>
                    <a:lnTo>
                      <a:pt x="725" y="1724"/>
                    </a:lnTo>
                    <a:lnTo>
                      <a:pt x="2900" y="503"/>
                    </a:lnTo>
                    <a:close/>
                    <a:moveTo>
                      <a:pt x="492" y="2118"/>
                    </a:moveTo>
                    <a:lnTo>
                      <a:pt x="2639" y="3392"/>
                    </a:lnTo>
                    <a:lnTo>
                      <a:pt x="2639" y="5918"/>
                    </a:lnTo>
                    <a:lnTo>
                      <a:pt x="461" y="4612"/>
                    </a:lnTo>
                    <a:lnTo>
                      <a:pt x="492" y="2118"/>
                    </a:lnTo>
                    <a:close/>
                    <a:moveTo>
                      <a:pt x="3095" y="5904"/>
                    </a:moveTo>
                    <a:lnTo>
                      <a:pt x="3095" y="3396"/>
                    </a:lnTo>
                    <a:lnTo>
                      <a:pt x="5271" y="2175"/>
                    </a:lnTo>
                    <a:lnTo>
                      <a:pt x="5252" y="4694"/>
                    </a:lnTo>
                    <a:lnTo>
                      <a:pt x="3095" y="590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文本框 96"/>
              <p:cNvSpPr txBox="1"/>
              <p:nvPr/>
            </p:nvSpPr>
            <p:spPr>
              <a:xfrm>
                <a:off x="402119" y="1961934"/>
                <a:ext cx="774486" cy="153637"/>
              </a:xfrm>
              <a:prstGeom prst="rect">
                <a:avLst/>
              </a:prstGeom>
              <a:noFill/>
            </p:spPr>
            <p:txBody>
              <a:bodyPr wrap="square" lIns="0" tIns="0" rIns="0" bIns="0" rtlCol="0">
                <a:spAutoFit/>
              </a:bodyPr>
              <a:lstStyle/>
              <a:p>
                <a:pPr algn="l"/>
                <a:r>
                  <a:rPr kumimoji="1" lang="zh-CN" altLang="en-US" sz="1000" b="1" dirty="0">
                    <a:solidFill>
                      <a:schemeClr val="bg1"/>
                    </a:solidFill>
                    <a:latin typeface="微软雅黑" panose="020B0503020204020204" pitchFamily="34" charset="-122"/>
                    <a:ea typeface="微软雅黑" panose="020B0503020204020204" pitchFamily="34" charset="-122"/>
                  </a:rPr>
                  <a:t>用户</a:t>
                </a:r>
                <a:endParaRPr kumimoji="1" lang="zh-CN" altLang="en-US" sz="1000" b="1" dirty="0">
                  <a:solidFill>
                    <a:schemeClr val="bg1"/>
                  </a:solidFill>
                  <a:latin typeface="微软雅黑" panose="020B0503020204020204" pitchFamily="34" charset="-122"/>
                  <a:ea typeface="微软雅黑" panose="020B0503020204020204" pitchFamily="34" charset="-122"/>
                </a:endParaRPr>
              </a:p>
            </p:txBody>
          </p:sp>
        </p:grpSp>
        <p:sp>
          <p:nvSpPr>
            <p:cNvPr id="98" name="箭头: 右 16"/>
            <p:cNvSpPr/>
            <p:nvPr/>
          </p:nvSpPr>
          <p:spPr>
            <a:xfrm>
              <a:off x="683" y="3300"/>
              <a:ext cx="5753" cy="946"/>
            </a:xfrm>
            <a:prstGeom prst="rightArrow">
              <a:avLst/>
            </a:prstGeom>
            <a:gradFill flip="none" rotWithShape="1">
              <a:gsLst>
                <a:gs pos="0">
                  <a:schemeClr val="accent3">
                    <a:lumMod val="40000"/>
                    <a:lumOff val="60000"/>
                    <a:alpha val="80000"/>
                  </a:schemeClr>
                </a:gs>
                <a:gs pos="30000">
                  <a:srgbClr val="ECF0F4"/>
                </a:gs>
                <a:gs pos="100000">
                  <a:srgbClr val="A4BBD7"/>
                </a:gs>
              </a:gsLst>
              <a:lin ang="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00" name="矩形 99"/>
            <p:cNvSpPr/>
            <p:nvPr/>
          </p:nvSpPr>
          <p:spPr>
            <a:xfrm>
              <a:off x="819" y="3568"/>
              <a:ext cx="1697" cy="411"/>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家庭建圈拉人</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02" name="箭头: V 形 101"/>
            <p:cNvSpPr/>
            <p:nvPr/>
          </p:nvSpPr>
          <p:spPr>
            <a:xfrm>
              <a:off x="2660" y="3547"/>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03" name="箭头: V 形 102"/>
            <p:cNvSpPr/>
            <p:nvPr/>
          </p:nvSpPr>
          <p:spPr>
            <a:xfrm>
              <a:off x="4686" y="3547"/>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05" name="矩形 104"/>
            <p:cNvSpPr/>
            <p:nvPr/>
          </p:nvSpPr>
          <p:spPr>
            <a:xfrm>
              <a:off x="2806" y="3547"/>
              <a:ext cx="1643" cy="454"/>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产品成员管理</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06" name="矩形 105"/>
            <p:cNvSpPr/>
            <p:nvPr/>
          </p:nvSpPr>
          <p:spPr>
            <a:xfrm>
              <a:off x="4608" y="3539"/>
              <a:ext cx="1767" cy="469"/>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家庭账户开通</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07" name="Bullet1"/>
            <p:cNvSpPr txBox="1"/>
            <p:nvPr/>
          </p:nvSpPr>
          <p:spPr bwMode="auto">
            <a:xfrm>
              <a:off x="6744" y="2977"/>
              <a:ext cx="5840" cy="2873"/>
            </a:xfrm>
            <a:prstGeom prst="rect">
              <a:avLst/>
            </a:prstGeom>
            <a:solidFill>
              <a:schemeClr val="bg1"/>
            </a:solidFill>
            <a:ln>
              <a:noFill/>
            </a:ln>
          </p:spPr>
          <p:txBody>
            <a:bodyPr wrap="square" lIns="90000" tIns="46800" rIns="90000" bIns="46800" anchor="ctr"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endParaRPr lang="en-US" altLang="zh-CN" b="1" dirty="0"/>
            </a:p>
          </p:txBody>
        </p:sp>
        <p:sp>
          <p:nvSpPr>
            <p:cNvPr id="108" name="文本框 107"/>
            <p:cNvSpPr txBox="1"/>
            <p:nvPr/>
          </p:nvSpPr>
          <p:spPr>
            <a:xfrm>
              <a:off x="6906" y="5045"/>
              <a:ext cx="5534" cy="656"/>
            </a:xfrm>
            <a:prstGeom prst="rect">
              <a:avLst/>
            </a:prstGeom>
            <a:solidFill>
              <a:srgbClr val="E0F0FC"/>
            </a:solidFill>
          </p:spPr>
          <p:txBody>
            <a:bodyPr wrap="square" rtlCol="0">
              <a:no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依托家庭圈和家庭统一账号，</a:t>
              </a:r>
              <a:r>
                <a:rPr kumimoji="0" lang="zh-CN" altLang="en-US" sz="9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建立语音、流量、权益、应用四大共享池，推进家庭池化共享</a:t>
              </a: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，助力以家庭为中心的融合运营。</a:t>
              </a:r>
              <a:endPar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21" name="组合 20"/>
            <p:cNvGrpSpPr/>
            <p:nvPr/>
          </p:nvGrpSpPr>
          <p:grpSpPr>
            <a:xfrm>
              <a:off x="6744" y="2999"/>
              <a:ext cx="1851" cy="376"/>
              <a:chOff x="6170031" y="1904481"/>
              <a:chExt cx="1175191" cy="238709"/>
            </a:xfrm>
          </p:grpSpPr>
          <p:sp>
            <p:nvSpPr>
              <p:cNvPr id="111" name="Number1"/>
              <p:cNvSpPr/>
              <p:nvPr/>
            </p:nvSpPr>
            <p:spPr>
              <a:xfrm rot="16200000">
                <a:off x="6638272" y="1436240"/>
                <a:ext cx="238709" cy="1175191"/>
              </a:xfrm>
              <a:prstGeom prst="round2SameRect">
                <a:avLst>
                  <a:gd name="adj1" fmla="val 0"/>
                  <a:gd name="adj2" fmla="val 30000"/>
                </a:avLst>
              </a:prstGeom>
              <a:solidFill>
                <a:srgbClr val="36A4F5"/>
              </a:soli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endParaRPr lang="en-US" altLang="zh-CN" sz="1200" b="1" dirty="0">
                  <a:solidFill>
                    <a:srgbClr val="FFFFFF"/>
                  </a:solidFill>
                  <a:cs typeface="+mn-ea"/>
                  <a:sym typeface="Arial" panose="020B0604020202020204" pitchFamily="34" charset="0"/>
                </a:endParaRPr>
              </a:p>
            </p:txBody>
          </p:sp>
          <p:sp>
            <p:nvSpPr>
              <p:cNvPr id="112" name="cube_158764"/>
              <p:cNvSpPr>
                <a:spLocks noChangeAspect="1"/>
              </p:cNvSpPr>
              <p:nvPr/>
            </p:nvSpPr>
            <p:spPr>
              <a:xfrm>
                <a:off x="7129194" y="1943237"/>
                <a:ext cx="144000" cy="163917"/>
              </a:xfrm>
              <a:custGeom>
                <a:avLst/>
                <a:gdLst>
                  <a:gd name="T0" fmla="*/ 5729 w 5731"/>
                  <a:gd name="T1" fmla="*/ 1760 h 6535"/>
                  <a:gd name="T2" fmla="*/ 5727 w 5731"/>
                  <a:gd name="T3" fmla="*/ 1736 h 6535"/>
                  <a:gd name="T4" fmla="*/ 5721 w 5731"/>
                  <a:gd name="T5" fmla="*/ 1715 h 6535"/>
                  <a:gd name="T6" fmla="*/ 5713 w 5731"/>
                  <a:gd name="T7" fmla="*/ 1692 h 6535"/>
                  <a:gd name="T8" fmla="*/ 5692 w 5731"/>
                  <a:gd name="T9" fmla="*/ 1652 h 6535"/>
                  <a:gd name="T10" fmla="*/ 5677 w 5731"/>
                  <a:gd name="T11" fmla="*/ 1632 h 6535"/>
                  <a:gd name="T12" fmla="*/ 5664 w 5731"/>
                  <a:gd name="T13" fmla="*/ 1618 h 6535"/>
                  <a:gd name="T14" fmla="*/ 5645 w 5731"/>
                  <a:gd name="T15" fmla="*/ 1600 h 6535"/>
                  <a:gd name="T16" fmla="*/ 5629 w 5731"/>
                  <a:gd name="T17" fmla="*/ 1588 h 6535"/>
                  <a:gd name="T18" fmla="*/ 5621 w 5731"/>
                  <a:gd name="T19" fmla="*/ 1583 h 6535"/>
                  <a:gd name="T20" fmla="*/ 2791 w 5731"/>
                  <a:gd name="T21" fmla="*/ 40 h 6535"/>
                  <a:gd name="T22" fmla="*/ 153 w 5731"/>
                  <a:gd name="T23" fmla="*/ 1520 h 6535"/>
                  <a:gd name="T24" fmla="*/ 136 w 5731"/>
                  <a:gd name="T25" fmla="*/ 1532 h 6535"/>
                  <a:gd name="T26" fmla="*/ 117 w 5731"/>
                  <a:gd name="T27" fmla="*/ 1547 h 6535"/>
                  <a:gd name="T28" fmla="*/ 101 w 5731"/>
                  <a:gd name="T29" fmla="*/ 1563 h 6535"/>
                  <a:gd name="T30" fmla="*/ 85 w 5731"/>
                  <a:gd name="T31" fmla="*/ 1582 h 6535"/>
                  <a:gd name="T32" fmla="*/ 72 w 5731"/>
                  <a:gd name="T33" fmla="*/ 1603 h 6535"/>
                  <a:gd name="T34" fmla="*/ 71 w 5731"/>
                  <a:gd name="T35" fmla="*/ 1604 h 6535"/>
                  <a:gd name="T36" fmla="*/ 61 w 5731"/>
                  <a:gd name="T37" fmla="*/ 1623 h 6535"/>
                  <a:gd name="T38" fmla="*/ 53 w 5731"/>
                  <a:gd name="T39" fmla="*/ 1638 h 6535"/>
                  <a:gd name="T40" fmla="*/ 48 w 5731"/>
                  <a:gd name="T41" fmla="*/ 1652 h 6535"/>
                  <a:gd name="T42" fmla="*/ 44 w 5731"/>
                  <a:gd name="T43" fmla="*/ 1667 h 6535"/>
                  <a:gd name="T44" fmla="*/ 40 w 5731"/>
                  <a:gd name="T45" fmla="*/ 1683 h 6535"/>
                  <a:gd name="T46" fmla="*/ 39 w 5731"/>
                  <a:gd name="T47" fmla="*/ 1698 h 6535"/>
                  <a:gd name="T48" fmla="*/ 39 w 5731"/>
                  <a:gd name="T49" fmla="*/ 1714 h 6535"/>
                  <a:gd name="T50" fmla="*/ 39 w 5731"/>
                  <a:gd name="T51" fmla="*/ 1716 h 6535"/>
                  <a:gd name="T52" fmla="*/ 39 w 5731"/>
                  <a:gd name="T53" fmla="*/ 1719 h 6535"/>
                  <a:gd name="T54" fmla="*/ 112 w 5731"/>
                  <a:gd name="T55" fmla="*/ 4936 h 6535"/>
                  <a:gd name="T56" fmla="*/ 2843 w 5731"/>
                  <a:gd name="T57" fmla="*/ 6535 h 6535"/>
                  <a:gd name="T58" fmla="*/ 5591 w 5731"/>
                  <a:gd name="T59" fmla="*/ 5027 h 6535"/>
                  <a:gd name="T60" fmla="*/ 5731 w 5731"/>
                  <a:gd name="T61" fmla="*/ 1784 h 6535"/>
                  <a:gd name="T62" fmla="*/ 5731 w 5731"/>
                  <a:gd name="T63" fmla="*/ 1775 h 6535"/>
                  <a:gd name="T64" fmla="*/ 5045 w 5731"/>
                  <a:gd name="T65" fmla="*/ 1776 h 6535"/>
                  <a:gd name="T66" fmla="*/ 725 w 5731"/>
                  <a:gd name="T67" fmla="*/ 1724 h 6535"/>
                  <a:gd name="T68" fmla="*/ 492 w 5731"/>
                  <a:gd name="T69" fmla="*/ 2118 h 6535"/>
                  <a:gd name="T70" fmla="*/ 2639 w 5731"/>
                  <a:gd name="T71" fmla="*/ 5918 h 6535"/>
                  <a:gd name="T72" fmla="*/ 492 w 5731"/>
                  <a:gd name="T73" fmla="*/ 2118 h 6535"/>
                  <a:gd name="T74" fmla="*/ 3095 w 5731"/>
                  <a:gd name="T75" fmla="*/ 3396 h 6535"/>
                  <a:gd name="T76" fmla="*/ 5252 w 5731"/>
                  <a:gd name="T77" fmla="*/ 4694 h 6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31" h="6535">
                    <a:moveTo>
                      <a:pt x="5731" y="1775"/>
                    </a:moveTo>
                    <a:cubicBezTo>
                      <a:pt x="5731" y="1770"/>
                      <a:pt x="5731" y="1766"/>
                      <a:pt x="5729" y="1760"/>
                    </a:cubicBezTo>
                    <a:lnTo>
                      <a:pt x="5729" y="1755"/>
                    </a:lnTo>
                    <a:cubicBezTo>
                      <a:pt x="5728" y="1748"/>
                      <a:pt x="5728" y="1743"/>
                      <a:pt x="5727" y="1736"/>
                    </a:cubicBezTo>
                    <a:cubicBezTo>
                      <a:pt x="5727" y="1734"/>
                      <a:pt x="5725" y="1732"/>
                      <a:pt x="5725" y="1730"/>
                    </a:cubicBezTo>
                    <a:cubicBezTo>
                      <a:pt x="5724" y="1724"/>
                      <a:pt x="5723" y="1720"/>
                      <a:pt x="5721" y="1715"/>
                    </a:cubicBezTo>
                    <a:cubicBezTo>
                      <a:pt x="5721" y="1714"/>
                      <a:pt x="5720" y="1712"/>
                      <a:pt x="5720" y="1711"/>
                    </a:cubicBezTo>
                    <a:cubicBezTo>
                      <a:pt x="5717" y="1704"/>
                      <a:pt x="5716" y="1699"/>
                      <a:pt x="5713" y="1692"/>
                    </a:cubicBezTo>
                    <a:cubicBezTo>
                      <a:pt x="5713" y="1691"/>
                      <a:pt x="5712" y="1690"/>
                      <a:pt x="5712" y="1688"/>
                    </a:cubicBezTo>
                    <a:cubicBezTo>
                      <a:pt x="5707" y="1675"/>
                      <a:pt x="5700" y="1663"/>
                      <a:pt x="5692" y="1652"/>
                    </a:cubicBezTo>
                    <a:cubicBezTo>
                      <a:pt x="5691" y="1651"/>
                      <a:pt x="5691" y="1650"/>
                      <a:pt x="5689" y="1648"/>
                    </a:cubicBezTo>
                    <a:lnTo>
                      <a:pt x="5677" y="1632"/>
                    </a:lnTo>
                    <a:cubicBezTo>
                      <a:pt x="5676" y="1631"/>
                      <a:pt x="5675" y="1630"/>
                      <a:pt x="5675" y="1628"/>
                    </a:cubicBezTo>
                    <a:cubicBezTo>
                      <a:pt x="5672" y="1624"/>
                      <a:pt x="5668" y="1622"/>
                      <a:pt x="5664" y="1618"/>
                    </a:cubicBezTo>
                    <a:cubicBezTo>
                      <a:pt x="5663" y="1616"/>
                      <a:pt x="5660" y="1615"/>
                      <a:pt x="5659" y="1612"/>
                    </a:cubicBezTo>
                    <a:cubicBezTo>
                      <a:pt x="5655" y="1608"/>
                      <a:pt x="5649" y="1604"/>
                      <a:pt x="5645" y="1600"/>
                    </a:cubicBezTo>
                    <a:cubicBezTo>
                      <a:pt x="5644" y="1599"/>
                      <a:pt x="5643" y="1598"/>
                      <a:pt x="5640" y="1596"/>
                    </a:cubicBezTo>
                    <a:cubicBezTo>
                      <a:pt x="5636" y="1594"/>
                      <a:pt x="5633" y="1591"/>
                      <a:pt x="5629" y="1588"/>
                    </a:cubicBezTo>
                    <a:cubicBezTo>
                      <a:pt x="5628" y="1587"/>
                      <a:pt x="5625" y="1586"/>
                      <a:pt x="5624" y="1584"/>
                    </a:cubicBezTo>
                    <a:cubicBezTo>
                      <a:pt x="5623" y="1584"/>
                      <a:pt x="5623" y="1583"/>
                      <a:pt x="5621" y="1583"/>
                    </a:cubicBezTo>
                    <a:lnTo>
                      <a:pt x="3020" y="43"/>
                    </a:lnTo>
                    <a:cubicBezTo>
                      <a:pt x="2949" y="2"/>
                      <a:pt x="2863" y="0"/>
                      <a:pt x="2791" y="40"/>
                    </a:cubicBezTo>
                    <a:lnTo>
                      <a:pt x="156" y="1519"/>
                    </a:lnTo>
                    <a:cubicBezTo>
                      <a:pt x="155" y="1519"/>
                      <a:pt x="155" y="1520"/>
                      <a:pt x="153" y="1520"/>
                    </a:cubicBezTo>
                    <a:cubicBezTo>
                      <a:pt x="152" y="1522"/>
                      <a:pt x="149" y="1523"/>
                      <a:pt x="148" y="1524"/>
                    </a:cubicBezTo>
                    <a:lnTo>
                      <a:pt x="136" y="1532"/>
                    </a:lnTo>
                    <a:cubicBezTo>
                      <a:pt x="135" y="1534"/>
                      <a:pt x="132" y="1535"/>
                      <a:pt x="131" y="1536"/>
                    </a:cubicBezTo>
                    <a:cubicBezTo>
                      <a:pt x="125" y="1540"/>
                      <a:pt x="121" y="1544"/>
                      <a:pt x="117" y="1547"/>
                    </a:cubicBezTo>
                    <a:cubicBezTo>
                      <a:pt x="116" y="1548"/>
                      <a:pt x="113" y="1550"/>
                      <a:pt x="112" y="1552"/>
                    </a:cubicBezTo>
                    <a:cubicBezTo>
                      <a:pt x="108" y="1555"/>
                      <a:pt x="105" y="1559"/>
                      <a:pt x="101" y="1563"/>
                    </a:cubicBezTo>
                    <a:lnTo>
                      <a:pt x="97" y="1567"/>
                    </a:lnTo>
                    <a:cubicBezTo>
                      <a:pt x="93" y="1572"/>
                      <a:pt x="89" y="1576"/>
                      <a:pt x="85" y="1582"/>
                    </a:cubicBezTo>
                    <a:cubicBezTo>
                      <a:pt x="84" y="1583"/>
                      <a:pt x="83" y="1584"/>
                      <a:pt x="83" y="1586"/>
                    </a:cubicBezTo>
                    <a:cubicBezTo>
                      <a:pt x="79" y="1591"/>
                      <a:pt x="75" y="1596"/>
                      <a:pt x="72" y="1603"/>
                    </a:cubicBezTo>
                    <a:lnTo>
                      <a:pt x="72" y="1603"/>
                    </a:lnTo>
                    <a:cubicBezTo>
                      <a:pt x="72" y="1603"/>
                      <a:pt x="72" y="1604"/>
                      <a:pt x="71" y="1604"/>
                    </a:cubicBezTo>
                    <a:cubicBezTo>
                      <a:pt x="68" y="1608"/>
                      <a:pt x="67" y="1612"/>
                      <a:pt x="64" y="1616"/>
                    </a:cubicBezTo>
                    <a:cubicBezTo>
                      <a:pt x="63" y="1619"/>
                      <a:pt x="63" y="1620"/>
                      <a:pt x="61" y="1623"/>
                    </a:cubicBezTo>
                    <a:cubicBezTo>
                      <a:pt x="60" y="1626"/>
                      <a:pt x="59" y="1628"/>
                      <a:pt x="57" y="1630"/>
                    </a:cubicBezTo>
                    <a:lnTo>
                      <a:pt x="53" y="1638"/>
                    </a:lnTo>
                    <a:cubicBezTo>
                      <a:pt x="52" y="1639"/>
                      <a:pt x="52" y="1642"/>
                      <a:pt x="51" y="1643"/>
                    </a:cubicBezTo>
                    <a:cubicBezTo>
                      <a:pt x="49" y="1646"/>
                      <a:pt x="48" y="1650"/>
                      <a:pt x="48" y="1652"/>
                    </a:cubicBezTo>
                    <a:cubicBezTo>
                      <a:pt x="48" y="1654"/>
                      <a:pt x="47" y="1655"/>
                      <a:pt x="47" y="1656"/>
                    </a:cubicBezTo>
                    <a:cubicBezTo>
                      <a:pt x="45" y="1660"/>
                      <a:pt x="45" y="1663"/>
                      <a:pt x="44" y="1667"/>
                    </a:cubicBezTo>
                    <a:cubicBezTo>
                      <a:pt x="44" y="1668"/>
                      <a:pt x="44" y="1670"/>
                      <a:pt x="43" y="1671"/>
                    </a:cubicBezTo>
                    <a:cubicBezTo>
                      <a:pt x="41" y="1675"/>
                      <a:pt x="41" y="1679"/>
                      <a:pt x="40" y="1683"/>
                    </a:cubicBezTo>
                    <a:lnTo>
                      <a:pt x="40" y="1686"/>
                    </a:lnTo>
                    <a:cubicBezTo>
                      <a:pt x="40" y="1690"/>
                      <a:pt x="39" y="1694"/>
                      <a:pt x="39" y="1698"/>
                    </a:cubicBezTo>
                    <a:lnTo>
                      <a:pt x="39" y="1700"/>
                    </a:lnTo>
                    <a:lnTo>
                      <a:pt x="39" y="1714"/>
                    </a:lnTo>
                    <a:lnTo>
                      <a:pt x="39" y="1715"/>
                    </a:lnTo>
                    <a:lnTo>
                      <a:pt x="39" y="1716"/>
                    </a:lnTo>
                    <a:lnTo>
                      <a:pt x="39" y="1718"/>
                    </a:lnTo>
                    <a:lnTo>
                      <a:pt x="39" y="1719"/>
                    </a:lnTo>
                    <a:lnTo>
                      <a:pt x="1" y="4738"/>
                    </a:lnTo>
                    <a:cubicBezTo>
                      <a:pt x="0" y="4819"/>
                      <a:pt x="43" y="4895"/>
                      <a:pt x="112" y="4936"/>
                    </a:cubicBezTo>
                    <a:lnTo>
                      <a:pt x="2725" y="6503"/>
                    </a:lnTo>
                    <a:cubicBezTo>
                      <a:pt x="2761" y="6524"/>
                      <a:pt x="2803" y="6535"/>
                      <a:pt x="2843" y="6535"/>
                    </a:cubicBezTo>
                    <a:cubicBezTo>
                      <a:pt x="2881" y="6535"/>
                      <a:pt x="2920" y="6526"/>
                      <a:pt x="2955" y="6506"/>
                    </a:cubicBezTo>
                    <a:lnTo>
                      <a:pt x="5591" y="5027"/>
                    </a:lnTo>
                    <a:cubicBezTo>
                      <a:pt x="5663" y="4987"/>
                      <a:pt x="5707" y="4911"/>
                      <a:pt x="5708" y="4830"/>
                    </a:cubicBezTo>
                    <a:lnTo>
                      <a:pt x="5731" y="1784"/>
                    </a:lnTo>
                    <a:lnTo>
                      <a:pt x="5731" y="1782"/>
                    </a:lnTo>
                    <a:lnTo>
                      <a:pt x="5731" y="1775"/>
                    </a:lnTo>
                    <a:close/>
                    <a:moveTo>
                      <a:pt x="2900" y="503"/>
                    </a:moveTo>
                    <a:lnTo>
                      <a:pt x="5045" y="1776"/>
                    </a:lnTo>
                    <a:lnTo>
                      <a:pt x="2871" y="2998"/>
                    </a:lnTo>
                    <a:lnTo>
                      <a:pt x="725" y="1724"/>
                    </a:lnTo>
                    <a:lnTo>
                      <a:pt x="2900" y="503"/>
                    </a:lnTo>
                    <a:close/>
                    <a:moveTo>
                      <a:pt x="492" y="2118"/>
                    </a:moveTo>
                    <a:lnTo>
                      <a:pt x="2639" y="3392"/>
                    </a:lnTo>
                    <a:lnTo>
                      <a:pt x="2639" y="5918"/>
                    </a:lnTo>
                    <a:lnTo>
                      <a:pt x="461" y="4612"/>
                    </a:lnTo>
                    <a:lnTo>
                      <a:pt x="492" y="2118"/>
                    </a:lnTo>
                    <a:close/>
                    <a:moveTo>
                      <a:pt x="3095" y="5904"/>
                    </a:moveTo>
                    <a:lnTo>
                      <a:pt x="3095" y="3396"/>
                    </a:lnTo>
                    <a:lnTo>
                      <a:pt x="5271" y="2175"/>
                    </a:lnTo>
                    <a:lnTo>
                      <a:pt x="5252" y="4694"/>
                    </a:lnTo>
                    <a:lnTo>
                      <a:pt x="3095" y="590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文本框 112"/>
              <p:cNvSpPr txBox="1"/>
              <p:nvPr/>
            </p:nvSpPr>
            <p:spPr>
              <a:xfrm>
                <a:off x="6196880" y="1945112"/>
                <a:ext cx="864670" cy="153637"/>
              </a:xfrm>
              <a:prstGeom prst="rect">
                <a:avLst/>
              </a:prstGeom>
              <a:noFill/>
            </p:spPr>
            <p:txBody>
              <a:bodyPr wrap="square" lIns="0" tIns="0" rIns="0" bIns="0" rtlCol="0">
                <a:spAutoFit/>
              </a:bodyPr>
              <a:lstStyle/>
              <a:p>
                <a:pPr algn="l"/>
                <a:r>
                  <a:rPr kumimoji="1" lang="zh-CN" altLang="en-US" sz="1000" b="1" dirty="0">
                    <a:solidFill>
                      <a:schemeClr val="bg1"/>
                    </a:solidFill>
                    <a:latin typeface="微软雅黑" panose="020B0503020204020204" pitchFamily="34" charset="-122"/>
                    <a:ea typeface="微软雅黑" panose="020B0503020204020204" pitchFamily="34" charset="-122"/>
                  </a:rPr>
                  <a:t>用户</a:t>
                </a:r>
                <a:endParaRPr kumimoji="1" lang="zh-CN" altLang="en-US" sz="1000" b="1" dirty="0">
                  <a:solidFill>
                    <a:schemeClr val="bg1"/>
                  </a:solidFill>
                  <a:latin typeface="微软雅黑" panose="020B0503020204020204" pitchFamily="34" charset="-122"/>
                  <a:ea typeface="微软雅黑" panose="020B0503020204020204" pitchFamily="34" charset="-122"/>
                </a:endParaRPr>
              </a:p>
            </p:txBody>
          </p:sp>
        </p:grpSp>
        <p:sp>
          <p:nvSpPr>
            <p:cNvPr id="114" name="箭头: 右 16"/>
            <p:cNvSpPr/>
            <p:nvPr/>
          </p:nvSpPr>
          <p:spPr>
            <a:xfrm>
              <a:off x="6761" y="3300"/>
              <a:ext cx="5795" cy="946"/>
            </a:xfrm>
            <a:prstGeom prst="rightArrow">
              <a:avLst/>
            </a:prstGeom>
            <a:gradFill flip="none" rotWithShape="1">
              <a:gsLst>
                <a:gs pos="0">
                  <a:schemeClr val="accent3">
                    <a:lumMod val="40000"/>
                    <a:lumOff val="60000"/>
                    <a:alpha val="80000"/>
                  </a:schemeClr>
                </a:gs>
                <a:gs pos="30000">
                  <a:srgbClr val="ECF0F4"/>
                </a:gs>
                <a:gs pos="100000">
                  <a:srgbClr val="A4BBD7"/>
                </a:gs>
              </a:gsLst>
              <a:lin ang="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15" name="矩形 114"/>
            <p:cNvSpPr/>
            <p:nvPr/>
          </p:nvSpPr>
          <p:spPr>
            <a:xfrm>
              <a:off x="6642" y="3511"/>
              <a:ext cx="1507" cy="525"/>
            </a:xfrm>
            <a:prstGeom prst="rect">
              <a:avLst/>
            </a:prstGeom>
            <a:noFill/>
            <a:ln w="12700" cap="flat" cmpd="sng" algn="ctr">
              <a:noFill/>
              <a:prstDash val="solid"/>
              <a:miter lim="800000"/>
            </a:ln>
            <a:effectLst/>
          </p:spPr>
          <p:txBody>
            <a:bodyPr rot="0" spcFirstLastPara="0" vertOverflow="overflow" horzOverflow="overflow" vert="horz" wrap="square" lIns="36000" tIns="36000" rIns="3600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创建共享群组</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16" name="箭头: V 形 115"/>
            <p:cNvSpPr/>
            <p:nvPr/>
          </p:nvSpPr>
          <p:spPr>
            <a:xfrm>
              <a:off x="8089" y="3547"/>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17" name="箭头: V 形 116"/>
            <p:cNvSpPr/>
            <p:nvPr/>
          </p:nvSpPr>
          <p:spPr>
            <a:xfrm>
              <a:off x="9427" y="3547"/>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18" name="箭头: V 形 117"/>
            <p:cNvSpPr/>
            <p:nvPr/>
          </p:nvSpPr>
          <p:spPr>
            <a:xfrm>
              <a:off x="10878" y="3547"/>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19" name="矩形 118"/>
            <p:cNvSpPr/>
            <p:nvPr/>
          </p:nvSpPr>
          <p:spPr>
            <a:xfrm>
              <a:off x="7994" y="3511"/>
              <a:ext cx="1542" cy="525"/>
            </a:xfrm>
            <a:prstGeom prst="rect">
              <a:avLst/>
            </a:prstGeom>
            <a:noFill/>
            <a:ln w="12700" cap="flat" cmpd="sng" algn="ctr">
              <a:noFill/>
              <a:prstDash val="solid"/>
              <a:miter lim="800000"/>
            </a:ln>
            <a:effectLst/>
          </p:spPr>
          <p:txBody>
            <a:bodyPr rot="0" spcFirstLastPara="0" vertOverflow="overflow" horzOverflow="overflow" vert="horz" wrap="square" lIns="36000" tIns="36000" rIns="3600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共享资源订购</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20" name="矩形 119"/>
            <p:cNvSpPr/>
            <p:nvPr/>
          </p:nvSpPr>
          <p:spPr>
            <a:xfrm>
              <a:off x="9374" y="3511"/>
              <a:ext cx="1542" cy="525"/>
            </a:xfrm>
            <a:prstGeom prst="rect">
              <a:avLst/>
            </a:prstGeom>
            <a:noFill/>
            <a:ln w="12700" cap="flat" cmpd="sng" algn="ctr">
              <a:noFill/>
              <a:prstDash val="solid"/>
              <a:miter lim="800000"/>
            </a:ln>
            <a:effectLst/>
          </p:spPr>
          <p:txBody>
            <a:bodyPr rot="0" spcFirstLastPara="0" vertOverflow="overflow" horzOverflow="overflow" vert="horz" wrap="square" lIns="36000" tIns="36000" rIns="3600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共享资源管理</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21" name="矩形 120"/>
            <p:cNvSpPr/>
            <p:nvPr/>
          </p:nvSpPr>
          <p:spPr>
            <a:xfrm>
              <a:off x="10879" y="3554"/>
              <a:ext cx="1456" cy="439"/>
            </a:xfrm>
            <a:prstGeom prst="rect">
              <a:avLst/>
            </a:prstGeom>
            <a:noFill/>
            <a:ln w="12700" cap="flat" cmpd="sng" algn="ctr">
              <a:noFill/>
              <a:prstDash val="solid"/>
              <a:miter lim="800000"/>
            </a:ln>
            <a:effectLst/>
          </p:spPr>
          <p:txBody>
            <a:bodyPr rot="0" spcFirstLastPara="0" vertOverflow="overflow" horzOverflow="overflow" vert="horz" wrap="square" lIns="36000" tIns="36000" rIns="3600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家庭账户付费</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22" name="Bullet1"/>
            <p:cNvSpPr txBox="1"/>
            <p:nvPr/>
          </p:nvSpPr>
          <p:spPr bwMode="auto">
            <a:xfrm>
              <a:off x="12840" y="2977"/>
              <a:ext cx="5840" cy="2873"/>
            </a:xfrm>
            <a:prstGeom prst="rect">
              <a:avLst/>
            </a:prstGeom>
            <a:solidFill>
              <a:schemeClr val="bg1"/>
            </a:solidFill>
            <a:ln>
              <a:noFill/>
            </a:ln>
          </p:spPr>
          <p:txBody>
            <a:bodyPr wrap="square" lIns="90000" tIns="46800" rIns="90000" bIns="46800" anchor="ctr"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endParaRPr lang="en-US" altLang="zh-CN" b="1" dirty="0"/>
            </a:p>
          </p:txBody>
        </p:sp>
        <p:sp>
          <p:nvSpPr>
            <p:cNvPr id="123" name="文本框 122"/>
            <p:cNvSpPr txBox="1"/>
            <p:nvPr/>
          </p:nvSpPr>
          <p:spPr>
            <a:xfrm>
              <a:off x="13019" y="4993"/>
              <a:ext cx="5546" cy="656"/>
            </a:xfrm>
            <a:prstGeom prst="rect">
              <a:avLst/>
            </a:prstGeom>
            <a:solidFill>
              <a:srgbClr val="E0F0FC"/>
            </a:solidFill>
          </p:spPr>
          <p:txBody>
            <a:bodyPr wrap="square" rtlCol="0">
              <a:noAutofit/>
            </a:bodyPr>
            <a:lstStyle/>
            <a:p>
              <a:pPr indent="0" fontAlgn="auto">
                <a:lnSpc>
                  <a:spcPct val="120000"/>
                </a:lnSpc>
              </a:pPr>
              <a:r>
                <a:rPr lang="zh-CN" altLang="en-US" sz="900" kern="0" dirty="0">
                  <a:solidFill>
                    <a:prstClr val="black"/>
                  </a:solidFill>
                  <a:latin typeface="微软雅黑" panose="020B0503020204020204" pitchFamily="34" charset="-122"/>
                  <a:ea typeface="微软雅黑" panose="020B0503020204020204" pitchFamily="34" charset="-122"/>
                </a:rPr>
                <a:t>构建以家庭单位的营销、服务能力，通过</a:t>
              </a:r>
              <a:r>
                <a:rPr lang="zh-CN" altLang="en-US" sz="900" b="1" kern="0" dirty="0">
                  <a:solidFill>
                    <a:schemeClr val="accent5"/>
                  </a:solidFill>
                  <a:latin typeface="微软雅黑" panose="020B0503020204020204" pitchFamily="34" charset="-122"/>
                  <a:ea typeface="微软雅黑" panose="020B0503020204020204" pitchFamily="34" charset="-122"/>
                </a:rPr>
                <a:t>更具针对性的优惠和更细分的服务能力，增强家庭客户体验</a:t>
              </a:r>
              <a:r>
                <a:rPr lang="zh-CN" altLang="en-US" sz="900" kern="0" dirty="0">
                  <a:solidFill>
                    <a:prstClr val="black"/>
                  </a:solidFill>
                  <a:latin typeface="微软雅黑" panose="020B0503020204020204" pitchFamily="34" charset="-122"/>
                  <a:ea typeface="微软雅黑" panose="020B0503020204020204" pitchFamily="34" charset="-122"/>
                </a:rPr>
                <a:t>，有效降低客户流失。</a:t>
              </a:r>
              <a:endParaRPr lang="zh-CN" altLang="en-US" sz="900" dirty="0">
                <a:solidFill>
                  <a:schemeClr val="accent5"/>
                </a:solidFill>
                <a:latin typeface="微软雅黑" panose="020B0503020204020204" pitchFamily="34" charset="-122"/>
                <a:ea typeface="微软雅黑" panose="020B0503020204020204" pitchFamily="34" charset="-122"/>
                <a:sym typeface="+mn-ea"/>
              </a:endParaRPr>
            </a:p>
            <a:p>
              <a:pPr indent="0" fontAlgn="auto">
                <a:lnSpc>
                  <a:spcPct val="120000"/>
                </a:lnSpc>
              </a:pPr>
              <a:endParaRPr lang="zh-CN" altLang="en-US" sz="900" dirty="0">
                <a:latin typeface="微软雅黑" panose="020B0503020204020204" pitchFamily="34" charset="-122"/>
                <a:ea typeface="微软雅黑" panose="020B0503020204020204" pitchFamily="34" charset="-122"/>
                <a:sym typeface="+mn-ea"/>
              </a:endParaRPr>
            </a:p>
          </p:txBody>
        </p:sp>
        <p:grpSp>
          <p:nvGrpSpPr>
            <p:cNvPr id="27" name="组合 26"/>
            <p:cNvGrpSpPr/>
            <p:nvPr/>
          </p:nvGrpSpPr>
          <p:grpSpPr>
            <a:xfrm>
              <a:off x="12840" y="2999"/>
              <a:ext cx="1844" cy="376"/>
              <a:chOff x="9089653" y="1904481"/>
              <a:chExt cx="1170901" cy="238709"/>
            </a:xfrm>
          </p:grpSpPr>
          <p:sp>
            <p:nvSpPr>
              <p:cNvPr id="124" name="Number1"/>
              <p:cNvSpPr/>
              <p:nvPr/>
            </p:nvSpPr>
            <p:spPr>
              <a:xfrm rot="16200000">
                <a:off x="9555749" y="1438385"/>
                <a:ext cx="238709" cy="1170901"/>
              </a:xfrm>
              <a:prstGeom prst="round2SameRect">
                <a:avLst>
                  <a:gd name="adj1" fmla="val 0"/>
                  <a:gd name="adj2" fmla="val 30000"/>
                </a:avLst>
              </a:prstGeom>
              <a:solidFill>
                <a:srgbClr val="36A4F5"/>
              </a:soli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endParaRPr lang="en-US" altLang="zh-CN" sz="1200" b="1" dirty="0">
                  <a:solidFill>
                    <a:srgbClr val="FFFFFF"/>
                  </a:solidFill>
                  <a:cs typeface="+mn-ea"/>
                  <a:sym typeface="Arial" panose="020B0604020202020204" pitchFamily="34" charset="0"/>
                </a:endParaRPr>
              </a:p>
            </p:txBody>
          </p:sp>
          <p:sp>
            <p:nvSpPr>
              <p:cNvPr id="125" name="cube_158764"/>
              <p:cNvSpPr>
                <a:spLocks noChangeAspect="1"/>
              </p:cNvSpPr>
              <p:nvPr/>
            </p:nvSpPr>
            <p:spPr>
              <a:xfrm>
                <a:off x="10086622" y="1943237"/>
                <a:ext cx="143474" cy="163917"/>
              </a:xfrm>
              <a:custGeom>
                <a:avLst/>
                <a:gdLst>
                  <a:gd name="T0" fmla="*/ 5729 w 5731"/>
                  <a:gd name="T1" fmla="*/ 1760 h 6535"/>
                  <a:gd name="T2" fmla="*/ 5727 w 5731"/>
                  <a:gd name="T3" fmla="*/ 1736 h 6535"/>
                  <a:gd name="T4" fmla="*/ 5721 w 5731"/>
                  <a:gd name="T5" fmla="*/ 1715 h 6535"/>
                  <a:gd name="T6" fmla="*/ 5713 w 5731"/>
                  <a:gd name="T7" fmla="*/ 1692 h 6535"/>
                  <a:gd name="T8" fmla="*/ 5692 w 5731"/>
                  <a:gd name="T9" fmla="*/ 1652 h 6535"/>
                  <a:gd name="T10" fmla="*/ 5677 w 5731"/>
                  <a:gd name="T11" fmla="*/ 1632 h 6535"/>
                  <a:gd name="T12" fmla="*/ 5664 w 5731"/>
                  <a:gd name="T13" fmla="*/ 1618 h 6535"/>
                  <a:gd name="T14" fmla="*/ 5645 w 5731"/>
                  <a:gd name="T15" fmla="*/ 1600 h 6535"/>
                  <a:gd name="T16" fmla="*/ 5629 w 5731"/>
                  <a:gd name="T17" fmla="*/ 1588 h 6535"/>
                  <a:gd name="T18" fmla="*/ 5621 w 5731"/>
                  <a:gd name="T19" fmla="*/ 1583 h 6535"/>
                  <a:gd name="T20" fmla="*/ 2791 w 5731"/>
                  <a:gd name="T21" fmla="*/ 40 h 6535"/>
                  <a:gd name="T22" fmla="*/ 153 w 5731"/>
                  <a:gd name="T23" fmla="*/ 1520 h 6535"/>
                  <a:gd name="T24" fmla="*/ 136 w 5731"/>
                  <a:gd name="T25" fmla="*/ 1532 h 6535"/>
                  <a:gd name="T26" fmla="*/ 117 w 5731"/>
                  <a:gd name="T27" fmla="*/ 1547 h 6535"/>
                  <a:gd name="T28" fmla="*/ 101 w 5731"/>
                  <a:gd name="T29" fmla="*/ 1563 h 6535"/>
                  <a:gd name="T30" fmla="*/ 85 w 5731"/>
                  <a:gd name="T31" fmla="*/ 1582 h 6535"/>
                  <a:gd name="T32" fmla="*/ 72 w 5731"/>
                  <a:gd name="T33" fmla="*/ 1603 h 6535"/>
                  <a:gd name="T34" fmla="*/ 71 w 5731"/>
                  <a:gd name="T35" fmla="*/ 1604 h 6535"/>
                  <a:gd name="T36" fmla="*/ 61 w 5731"/>
                  <a:gd name="T37" fmla="*/ 1623 h 6535"/>
                  <a:gd name="T38" fmla="*/ 53 w 5731"/>
                  <a:gd name="T39" fmla="*/ 1638 h 6535"/>
                  <a:gd name="T40" fmla="*/ 48 w 5731"/>
                  <a:gd name="T41" fmla="*/ 1652 h 6535"/>
                  <a:gd name="T42" fmla="*/ 44 w 5731"/>
                  <a:gd name="T43" fmla="*/ 1667 h 6535"/>
                  <a:gd name="T44" fmla="*/ 40 w 5731"/>
                  <a:gd name="T45" fmla="*/ 1683 h 6535"/>
                  <a:gd name="T46" fmla="*/ 39 w 5731"/>
                  <a:gd name="T47" fmla="*/ 1698 h 6535"/>
                  <a:gd name="T48" fmla="*/ 39 w 5731"/>
                  <a:gd name="T49" fmla="*/ 1714 h 6535"/>
                  <a:gd name="T50" fmla="*/ 39 w 5731"/>
                  <a:gd name="T51" fmla="*/ 1716 h 6535"/>
                  <a:gd name="T52" fmla="*/ 39 w 5731"/>
                  <a:gd name="T53" fmla="*/ 1719 h 6535"/>
                  <a:gd name="T54" fmla="*/ 112 w 5731"/>
                  <a:gd name="T55" fmla="*/ 4936 h 6535"/>
                  <a:gd name="T56" fmla="*/ 2843 w 5731"/>
                  <a:gd name="T57" fmla="*/ 6535 h 6535"/>
                  <a:gd name="T58" fmla="*/ 5591 w 5731"/>
                  <a:gd name="T59" fmla="*/ 5027 h 6535"/>
                  <a:gd name="T60" fmla="*/ 5731 w 5731"/>
                  <a:gd name="T61" fmla="*/ 1784 h 6535"/>
                  <a:gd name="T62" fmla="*/ 5731 w 5731"/>
                  <a:gd name="T63" fmla="*/ 1775 h 6535"/>
                  <a:gd name="T64" fmla="*/ 5045 w 5731"/>
                  <a:gd name="T65" fmla="*/ 1776 h 6535"/>
                  <a:gd name="T66" fmla="*/ 725 w 5731"/>
                  <a:gd name="T67" fmla="*/ 1724 h 6535"/>
                  <a:gd name="T68" fmla="*/ 492 w 5731"/>
                  <a:gd name="T69" fmla="*/ 2118 h 6535"/>
                  <a:gd name="T70" fmla="*/ 2639 w 5731"/>
                  <a:gd name="T71" fmla="*/ 5918 h 6535"/>
                  <a:gd name="T72" fmla="*/ 492 w 5731"/>
                  <a:gd name="T73" fmla="*/ 2118 h 6535"/>
                  <a:gd name="T74" fmla="*/ 3095 w 5731"/>
                  <a:gd name="T75" fmla="*/ 3396 h 6535"/>
                  <a:gd name="T76" fmla="*/ 5252 w 5731"/>
                  <a:gd name="T77" fmla="*/ 4694 h 6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31" h="6535">
                    <a:moveTo>
                      <a:pt x="5731" y="1775"/>
                    </a:moveTo>
                    <a:cubicBezTo>
                      <a:pt x="5731" y="1770"/>
                      <a:pt x="5731" y="1766"/>
                      <a:pt x="5729" y="1760"/>
                    </a:cubicBezTo>
                    <a:lnTo>
                      <a:pt x="5729" y="1755"/>
                    </a:lnTo>
                    <a:cubicBezTo>
                      <a:pt x="5728" y="1748"/>
                      <a:pt x="5728" y="1743"/>
                      <a:pt x="5727" y="1736"/>
                    </a:cubicBezTo>
                    <a:cubicBezTo>
                      <a:pt x="5727" y="1734"/>
                      <a:pt x="5725" y="1732"/>
                      <a:pt x="5725" y="1730"/>
                    </a:cubicBezTo>
                    <a:cubicBezTo>
                      <a:pt x="5724" y="1724"/>
                      <a:pt x="5723" y="1720"/>
                      <a:pt x="5721" y="1715"/>
                    </a:cubicBezTo>
                    <a:cubicBezTo>
                      <a:pt x="5721" y="1714"/>
                      <a:pt x="5720" y="1712"/>
                      <a:pt x="5720" y="1711"/>
                    </a:cubicBezTo>
                    <a:cubicBezTo>
                      <a:pt x="5717" y="1704"/>
                      <a:pt x="5716" y="1699"/>
                      <a:pt x="5713" y="1692"/>
                    </a:cubicBezTo>
                    <a:cubicBezTo>
                      <a:pt x="5713" y="1691"/>
                      <a:pt x="5712" y="1690"/>
                      <a:pt x="5712" y="1688"/>
                    </a:cubicBezTo>
                    <a:cubicBezTo>
                      <a:pt x="5707" y="1675"/>
                      <a:pt x="5700" y="1663"/>
                      <a:pt x="5692" y="1652"/>
                    </a:cubicBezTo>
                    <a:cubicBezTo>
                      <a:pt x="5691" y="1651"/>
                      <a:pt x="5691" y="1650"/>
                      <a:pt x="5689" y="1648"/>
                    </a:cubicBezTo>
                    <a:lnTo>
                      <a:pt x="5677" y="1632"/>
                    </a:lnTo>
                    <a:cubicBezTo>
                      <a:pt x="5676" y="1631"/>
                      <a:pt x="5675" y="1630"/>
                      <a:pt x="5675" y="1628"/>
                    </a:cubicBezTo>
                    <a:cubicBezTo>
                      <a:pt x="5672" y="1624"/>
                      <a:pt x="5668" y="1622"/>
                      <a:pt x="5664" y="1618"/>
                    </a:cubicBezTo>
                    <a:cubicBezTo>
                      <a:pt x="5663" y="1616"/>
                      <a:pt x="5660" y="1615"/>
                      <a:pt x="5659" y="1612"/>
                    </a:cubicBezTo>
                    <a:cubicBezTo>
                      <a:pt x="5655" y="1608"/>
                      <a:pt x="5649" y="1604"/>
                      <a:pt x="5645" y="1600"/>
                    </a:cubicBezTo>
                    <a:cubicBezTo>
                      <a:pt x="5644" y="1599"/>
                      <a:pt x="5643" y="1598"/>
                      <a:pt x="5640" y="1596"/>
                    </a:cubicBezTo>
                    <a:cubicBezTo>
                      <a:pt x="5636" y="1594"/>
                      <a:pt x="5633" y="1591"/>
                      <a:pt x="5629" y="1588"/>
                    </a:cubicBezTo>
                    <a:cubicBezTo>
                      <a:pt x="5628" y="1587"/>
                      <a:pt x="5625" y="1586"/>
                      <a:pt x="5624" y="1584"/>
                    </a:cubicBezTo>
                    <a:cubicBezTo>
                      <a:pt x="5623" y="1584"/>
                      <a:pt x="5623" y="1583"/>
                      <a:pt x="5621" y="1583"/>
                    </a:cubicBezTo>
                    <a:lnTo>
                      <a:pt x="3020" y="43"/>
                    </a:lnTo>
                    <a:cubicBezTo>
                      <a:pt x="2949" y="2"/>
                      <a:pt x="2863" y="0"/>
                      <a:pt x="2791" y="40"/>
                    </a:cubicBezTo>
                    <a:lnTo>
                      <a:pt x="156" y="1519"/>
                    </a:lnTo>
                    <a:cubicBezTo>
                      <a:pt x="155" y="1519"/>
                      <a:pt x="155" y="1520"/>
                      <a:pt x="153" y="1520"/>
                    </a:cubicBezTo>
                    <a:cubicBezTo>
                      <a:pt x="152" y="1522"/>
                      <a:pt x="149" y="1523"/>
                      <a:pt x="148" y="1524"/>
                    </a:cubicBezTo>
                    <a:lnTo>
                      <a:pt x="136" y="1532"/>
                    </a:lnTo>
                    <a:cubicBezTo>
                      <a:pt x="135" y="1534"/>
                      <a:pt x="132" y="1535"/>
                      <a:pt x="131" y="1536"/>
                    </a:cubicBezTo>
                    <a:cubicBezTo>
                      <a:pt x="125" y="1540"/>
                      <a:pt x="121" y="1544"/>
                      <a:pt x="117" y="1547"/>
                    </a:cubicBezTo>
                    <a:cubicBezTo>
                      <a:pt x="116" y="1548"/>
                      <a:pt x="113" y="1550"/>
                      <a:pt x="112" y="1552"/>
                    </a:cubicBezTo>
                    <a:cubicBezTo>
                      <a:pt x="108" y="1555"/>
                      <a:pt x="105" y="1559"/>
                      <a:pt x="101" y="1563"/>
                    </a:cubicBezTo>
                    <a:lnTo>
                      <a:pt x="97" y="1567"/>
                    </a:lnTo>
                    <a:cubicBezTo>
                      <a:pt x="93" y="1572"/>
                      <a:pt x="89" y="1576"/>
                      <a:pt x="85" y="1582"/>
                    </a:cubicBezTo>
                    <a:cubicBezTo>
                      <a:pt x="84" y="1583"/>
                      <a:pt x="83" y="1584"/>
                      <a:pt x="83" y="1586"/>
                    </a:cubicBezTo>
                    <a:cubicBezTo>
                      <a:pt x="79" y="1591"/>
                      <a:pt x="75" y="1596"/>
                      <a:pt x="72" y="1603"/>
                    </a:cubicBezTo>
                    <a:lnTo>
                      <a:pt x="72" y="1603"/>
                    </a:lnTo>
                    <a:cubicBezTo>
                      <a:pt x="72" y="1603"/>
                      <a:pt x="72" y="1604"/>
                      <a:pt x="71" y="1604"/>
                    </a:cubicBezTo>
                    <a:cubicBezTo>
                      <a:pt x="68" y="1608"/>
                      <a:pt x="67" y="1612"/>
                      <a:pt x="64" y="1616"/>
                    </a:cubicBezTo>
                    <a:cubicBezTo>
                      <a:pt x="63" y="1619"/>
                      <a:pt x="63" y="1620"/>
                      <a:pt x="61" y="1623"/>
                    </a:cubicBezTo>
                    <a:cubicBezTo>
                      <a:pt x="60" y="1626"/>
                      <a:pt x="59" y="1628"/>
                      <a:pt x="57" y="1630"/>
                    </a:cubicBezTo>
                    <a:lnTo>
                      <a:pt x="53" y="1638"/>
                    </a:lnTo>
                    <a:cubicBezTo>
                      <a:pt x="52" y="1639"/>
                      <a:pt x="52" y="1642"/>
                      <a:pt x="51" y="1643"/>
                    </a:cubicBezTo>
                    <a:cubicBezTo>
                      <a:pt x="49" y="1646"/>
                      <a:pt x="48" y="1650"/>
                      <a:pt x="48" y="1652"/>
                    </a:cubicBezTo>
                    <a:cubicBezTo>
                      <a:pt x="48" y="1654"/>
                      <a:pt x="47" y="1655"/>
                      <a:pt x="47" y="1656"/>
                    </a:cubicBezTo>
                    <a:cubicBezTo>
                      <a:pt x="45" y="1660"/>
                      <a:pt x="45" y="1663"/>
                      <a:pt x="44" y="1667"/>
                    </a:cubicBezTo>
                    <a:cubicBezTo>
                      <a:pt x="44" y="1668"/>
                      <a:pt x="44" y="1670"/>
                      <a:pt x="43" y="1671"/>
                    </a:cubicBezTo>
                    <a:cubicBezTo>
                      <a:pt x="41" y="1675"/>
                      <a:pt x="41" y="1679"/>
                      <a:pt x="40" y="1683"/>
                    </a:cubicBezTo>
                    <a:lnTo>
                      <a:pt x="40" y="1686"/>
                    </a:lnTo>
                    <a:cubicBezTo>
                      <a:pt x="40" y="1690"/>
                      <a:pt x="39" y="1694"/>
                      <a:pt x="39" y="1698"/>
                    </a:cubicBezTo>
                    <a:lnTo>
                      <a:pt x="39" y="1700"/>
                    </a:lnTo>
                    <a:lnTo>
                      <a:pt x="39" y="1714"/>
                    </a:lnTo>
                    <a:lnTo>
                      <a:pt x="39" y="1715"/>
                    </a:lnTo>
                    <a:lnTo>
                      <a:pt x="39" y="1716"/>
                    </a:lnTo>
                    <a:lnTo>
                      <a:pt x="39" y="1718"/>
                    </a:lnTo>
                    <a:lnTo>
                      <a:pt x="39" y="1719"/>
                    </a:lnTo>
                    <a:lnTo>
                      <a:pt x="1" y="4738"/>
                    </a:lnTo>
                    <a:cubicBezTo>
                      <a:pt x="0" y="4819"/>
                      <a:pt x="43" y="4895"/>
                      <a:pt x="112" y="4936"/>
                    </a:cubicBezTo>
                    <a:lnTo>
                      <a:pt x="2725" y="6503"/>
                    </a:lnTo>
                    <a:cubicBezTo>
                      <a:pt x="2761" y="6524"/>
                      <a:pt x="2803" y="6535"/>
                      <a:pt x="2843" y="6535"/>
                    </a:cubicBezTo>
                    <a:cubicBezTo>
                      <a:pt x="2881" y="6535"/>
                      <a:pt x="2920" y="6526"/>
                      <a:pt x="2955" y="6506"/>
                    </a:cubicBezTo>
                    <a:lnTo>
                      <a:pt x="5591" y="5027"/>
                    </a:lnTo>
                    <a:cubicBezTo>
                      <a:pt x="5663" y="4987"/>
                      <a:pt x="5707" y="4911"/>
                      <a:pt x="5708" y="4830"/>
                    </a:cubicBezTo>
                    <a:lnTo>
                      <a:pt x="5731" y="1784"/>
                    </a:lnTo>
                    <a:lnTo>
                      <a:pt x="5731" y="1782"/>
                    </a:lnTo>
                    <a:lnTo>
                      <a:pt x="5731" y="1775"/>
                    </a:lnTo>
                    <a:close/>
                    <a:moveTo>
                      <a:pt x="2900" y="503"/>
                    </a:moveTo>
                    <a:lnTo>
                      <a:pt x="5045" y="1776"/>
                    </a:lnTo>
                    <a:lnTo>
                      <a:pt x="2871" y="2998"/>
                    </a:lnTo>
                    <a:lnTo>
                      <a:pt x="725" y="1724"/>
                    </a:lnTo>
                    <a:lnTo>
                      <a:pt x="2900" y="503"/>
                    </a:lnTo>
                    <a:close/>
                    <a:moveTo>
                      <a:pt x="492" y="2118"/>
                    </a:moveTo>
                    <a:lnTo>
                      <a:pt x="2639" y="3392"/>
                    </a:lnTo>
                    <a:lnTo>
                      <a:pt x="2639" y="5918"/>
                    </a:lnTo>
                    <a:lnTo>
                      <a:pt x="461" y="4612"/>
                    </a:lnTo>
                    <a:lnTo>
                      <a:pt x="492" y="2118"/>
                    </a:lnTo>
                    <a:close/>
                    <a:moveTo>
                      <a:pt x="3095" y="5904"/>
                    </a:moveTo>
                    <a:lnTo>
                      <a:pt x="3095" y="3396"/>
                    </a:lnTo>
                    <a:lnTo>
                      <a:pt x="5271" y="2175"/>
                    </a:lnTo>
                    <a:lnTo>
                      <a:pt x="5252" y="4694"/>
                    </a:lnTo>
                    <a:lnTo>
                      <a:pt x="3095" y="590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文本框 125"/>
              <p:cNvSpPr txBox="1"/>
              <p:nvPr/>
            </p:nvSpPr>
            <p:spPr>
              <a:xfrm>
                <a:off x="9116505" y="1945112"/>
                <a:ext cx="1005931" cy="153637"/>
              </a:xfrm>
              <a:prstGeom prst="rect">
                <a:avLst/>
              </a:prstGeom>
              <a:noFill/>
            </p:spPr>
            <p:txBody>
              <a:bodyPr wrap="square" lIns="0" tIns="0" rIns="0" bIns="0" rtlCol="0">
                <a:spAutoFit/>
              </a:bodyPr>
              <a:lstStyle/>
              <a:p>
                <a:pPr algn="l"/>
                <a:r>
                  <a:rPr kumimoji="1" lang="zh-CN" altLang="en-US" sz="1000" b="1" dirty="0">
                    <a:solidFill>
                      <a:schemeClr val="bg1"/>
                    </a:solidFill>
                    <a:latin typeface="微软雅黑" panose="020B0503020204020204" pitchFamily="34" charset="-122"/>
                    <a:ea typeface="微软雅黑" panose="020B0503020204020204" pitchFamily="34" charset="-122"/>
                  </a:rPr>
                  <a:t>用户及运营人员</a:t>
                </a:r>
                <a:endParaRPr kumimoji="1" lang="zh-CN" altLang="en-US" sz="1000" b="1" dirty="0">
                  <a:solidFill>
                    <a:schemeClr val="bg1"/>
                  </a:solidFill>
                  <a:latin typeface="微软雅黑" panose="020B0503020204020204" pitchFamily="34" charset="-122"/>
                  <a:ea typeface="微软雅黑" panose="020B0503020204020204" pitchFamily="34" charset="-122"/>
                </a:endParaRPr>
              </a:p>
            </p:txBody>
          </p:sp>
        </p:grpSp>
        <p:sp>
          <p:nvSpPr>
            <p:cNvPr id="28" name="文本框 27"/>
            <p:cNvSpPr txBox="1"/>
            <p:nvPr/>
          </p:nvSpPr>
          <p:spPr>
            <a:xfrm>
              <a:off x="9575" y="4126"/>
              <a:ext cx="2630" cy="919"/>
            </a:xfrm>
            <a:prstGeom prst="rect">
              <a:avLst/>
            </a:prstGeom>
            <a:noFill/>
          </p:spPr>
          <p:txBody>
            <a:bodyPr wrap="square" lIns="36000" tIns="45720" rIns="36000" bIns="45720" rtlCol="0">
              <a:spAutoFit/>
            </a:bodyPr>
            <a:lstStyle>
              <a:defPPr>
                <a:defRPr lang="zh-CN"/>
              </a:defPPr>
              <a:lvl1pPr>
                <a:defRPr kumimoji="1" sz="700" i="1">
                  <a:solidFill>
                    <a:schemeClr val="accent1">
                      <a:lumMod val="60000"/>
                      <a:lumOff val="40000"/>
                    </a:schemeClr>
                  </a:solidFill>
                  <a:latin typeface="微软雅黑" panose="020B0503020204020204" pitchFamily="34" charset="-122"/>
                  <a:ea typeface="微软雅黑" panose="020B0503020204020204" pitchFamily="34" charset="-122"/>
                </a:defRPr>
              </a:lvl1pPr>
            </a:lstStyle>
            <a:p>
              <a:r>
                <a:rPr lang="zh-CN" altLang="en-US" sz="800" dirty="0"/>
                <a:t>共享资源：</a:t>
              </a:r>
              <a:r>
                <a:rPr lang="zh-CN" altLang="en-US" sz="800" dirty="0">
                  <a:solidFill>
                    <a:schemeClr val="tx1"/>
                  </a:solidFill>
                </a:rPr>
                <a:t>语音</a:t>
              </a:r>
              <a:r>
                <a:rPr lang="en-US" altLang="zh-CN" sz="800" dirty="0">
                  <a:solidFill>
                    <a:schemeClr val="tx1"/>
                  </a:solidFill>
                </a:rPr>
                <a:t>500</a:t>
              </a:r>
              <a:r>
                <a:rPr lang="zh-CN" altLang="en-US" sz="800" dirty="0">
                  <a:solidFill>
                    <a:schemeClr val="tx1"/>
                  </a:solidFill>
                </a:rPr>
                <a:t>分钟、流量</a:t>
              </a:r>
              <a:r>
                <a:rPr lang="en-US" altLang="zh-CN" sz="800" dirty="0">
                  <a:solidFill>
                    <a:schemeClr val="tx1"/>
                  </a:solidFill>
                </a:rPr>
                <a:t>60G</a:t>
              </a:r>
              <a:endParaRPr lang="en-US" altLang="zh-CN" sz="800" dirty="0">
                <a:solidFill>
                  <a:schemeClr val="tx1"/>
                </a:solidFill>
              </a:endParaRPr>
            </a:p>
            <a:p>
              <a:r>
                <a:rPr lang="zh-CN" altLang="en-US" sz="800" dirty="0"/>
                <a:t>共用设备：</a:t>
              </a:r>
              <a:r>
                <a:rPr lang="zh-CN" altLang="en-US" sz="800" dirty="0">
                  <a:solidFill>
                    <a:schemeClr val="tx1"/>
                  </a:solidFill>
                </a:rPr>
                <a:t>宽带、监控</a:t>
              </a:r>
              <a:endParaRPr lang="zh-CN" altLang="en-US" sz="800" dirty="0">
                <a:solidFill>
                  <a:schemeClr val="tx1"/>
                </a:solidFill>
              </a:endParaRPr>
            </a:p>
            <a:p>
              <a:r>
                <a:rPr lang="zh-CN" altLang="en-US" sz="800" dirty="0"/>
                <a:t>共享权益：</a:t>
              </a:r>
              <a:r>
                <a:rPr lang="zh-CN" altLang="en-US" sz="800" dirty="0">
                  <a:solidFill>
                    <a:schemeClr val="tx1"/>
                  </a:solidFill>
                </a:rPr>
                <a:t>视频</a:t>
              </a:r>
              <a:r>
                <a:rPr lang="en-US" altLang="zh-CN" sz="800" dirty="0">
                  <a:solidFill>
                    <a:schemeClr val="tx1"/>
                  </a:solidFill>
                </a:rPr>
                <a:t>APP</a:t>
              </a:r>
              <a:r>
                <a:rPr lang="zh-CN" altLang="en-US" sz="800" dirty="0">
                  <a:solidFill>
                    <a:schemeClr val="tx1"/>
                  </a:solidFill>
                </a:rPr>
                <a:t>、打车优惠</a:t>
              </a:r>
              <a:endParaRPr lang="zh-CN" altLang="en-US" sz="800" dirty="0">
                <a:solidFill>
                  <a:schemeClr val="tx1"/>
                </a:solidFill>
              </a:endParaRPr>
            </a:p>
          </p:txBody>
        </p:sp>
        <p:sp>
          <p:nvSpPr>
            <p:cNvPr id="29" name="文本框 28"/>
            <p:cNvSpPr txBox="1"/>
            <p:nvPr/>
          </p:nvSpPr>
          <p:spPr>
            <a:xfrm>
              <a:off x="3352" y="4126"/>
              <a:ext cx="2324" cy="725"/>
            </a:xfrm>
            <a:prstGeom prst="rect">
              <a:avLst/>
            </a:prstGeom>
            <a:noFill/>
          </p:spPr>
          <p:txBody>
            <a:bodyPr wrap="square" lIns="36000" tIns="45720" rIns="36000" bIns="45720" rtlCol="0">
              <a:spAutoFit/>
            </a:bodyPr>
            <a:lstStyle>
              <a:defPPr>
                <a:defRPr lang="zh-CN"/>
              </a:defPPr>
              <a:lvl1pPr>
                <a:defRPr kumimoji="1" sz="700" i="1">
                  <a:solidFill>
                    <a:schemeClr val="accent1">
                      <a:lumMod val="60000"/>
                      <a:lumOff val="40000"/>
                    </a:schemeClr>
                  </a:solidFill>
                  <a:latin typeface="微软雅黑" panose="020B0503020204020204" pitchFamily="34" charset="-122"/>
                  <a:ea typeface="微软雅黑" panose="020B0503020204020204" pitchFamily="34" charset="-122"/>
                </a:defRPr>
              </a:lvl1pPr>
            </a:lstStyle>
            <a:p>
              <a:r>
                <a:rPr lang="zh-CN" altLang="en-US" sz="800" dirty="0"/>
                <a:t>主动进圈：</a:t>
              </a:r>
              <a:r>
                <a:rPr lang="zh-CN" altLang="en-US" sz="800" dirty="0">
                  <a:solidFill>
                    <a:schemeClr val="tx1"/>
                  </a:solidFill>
                </a:rPr>
                <a:t>户主建圈</a:t>
              </a:r>
              <a:endParaRPr lang="en-US" altLang="zh-CN" sz="800" dirty="0">
                <a:solidFill>
                  <a:schemeClr val="tx1"/>
                </a:solidFill>
              </a:endParaRPr>
            </a:p>
            <a:p>
              <a:r>
                <a:rPr lang="zh-CN" altLang="en-US" sz="800" dirty="0"/>
                <a:t>被动进圈：</a:t>
              </a:r>
              <a:r>
                <a:rPr lang="zh-CN" altLang="en-US" sz="800" dirty="0">
                  <a:solidFill>
                    <a:schemeClr val="tx1"/>
                  </a:solidFill>
                </a:rPr>
                <a:t>代付自动成群、系统自动识别</a:t>
              </a:r>
              <a:endParaRPr lang="en-US" altLang="zh-CN" sz="800" dirty="0">
                <a:solidFill>
                  <a:schemeClr val="tx1"/>
                </a:solidFill>
              </a:endParaRPr>
            </a:p>
          </p:txBody>
        </p:sp>
        <p:sp>
          <p:nvSpPr>
            <p:cNvPr id="30" name="文本框 29"/>
            <p:cNvSpPr txBox="1"/>
            <p:nvPr/>
          </p:nvSpPr>
          <p:spPr>
            <a:xfrm>
              <a:off x="6806" y="4126"/>
              <a:ext cx="2683" cy="817"/>
            </a:xfrm>
            <a:prstGeom prst="rect">
              <a:avLst/>
            </a:prstGeom>
            <a:noFill/>
          </p:spPr>
          <p:txBody>
            <a:bodyPr wrap="square" lIns="36000" tIns="45720" rIns="36000" bIns="45720" rtlCol="0">
              <a:noAutofit/>
            </a:bodyPr>
            <a:lstStyle/>
            <a:p>
              <a:r>
                <a:rPr kumimoji="1" lang="zh-CN" altLang="en-US" sz="800" i="1" dirty="0">
                  <a:solidFill>
                    <a:schemeClr val="accent1">
                      <a:lumMod val="60000"/>
                      <a:lumOff val="40000"/>
                    </a:schemeClr>
                  </a:solidFill>
                  <a:latin typeface="微软雅黑" panose="020B0503020204020204" pitchFamily="34" charset="-122"/>
                  <a:ea typeface="微软雅黑" panose="020B0503020204020204" pitchFamily="34" charset="-122"/>
                </a:rPr>
                <a:t>家庭套餐：</a:t>
              </a:r>
              <a:r>
                <a:rPr kumimoji="1" lang="zh-CN" altLang="en-US" sz="800" i="1" dirty="0">
                  <a:latin typeface="微软雅黑" panose="020B0503020204020204" pitchFamily="34" charset="-122"/>
                  <a:ea typeface="微软雅黑" panose="020B0503020204020204" pitchFamily="34" charset="-122"/>
                </a:rPr>
                <a:t>订购家庭核心套餐</a:t>
              </a:r>
              <a:r>
                <a:rPr kumimoji="1" lang="en-US" altLang="zh-CN" sz="800" i="1" dirty="0">
                  <a:latin typeface="微软雅黑" panose="020B0503020204020204" pitchFamily="34" charset="-122"/>
                  <a:ea typeface="微软雅黑" panose="020B0503020204020204" pitchFamily="34" charset="-122"/>
                </a:rPr>
                <a:t>+</a:t>
              </a:r>
              <a:r>
                <a:rPr kumimoji="1" lang="zh-CN" altLang="en-US" sz="800" i="1" dirty="0">
                  <a:latin typeface="微软雅黑" panose="020B0503020204020204" pitchFamily="34" charset="-122"/>
                  <a:ea typeface="微软雅黑" panose="020B0503020204020204" pitchFamily="34" charset="-122"/>
                </a:rPr>
                <a:t>共享流量包</a:t>
              </a:r>
              <a:r>
                <a:rPr kumimoji="1" lang="en-US" altLang="zh-CN" sz="800" i="1" dirty="0">
                  <a:latin typeface="微软雅黑" panose="020B0503020204020204" pitchFamily="34" charset="-122"/>
                  <a:ea typeface="微软雅黑" panose="020B0503020204020204" pitchFamily="34" charset="-122"/>
                </a:rPr>
                <a:t>+</a:t>
              </a:r>
              <a:r>
                <a:rPr kumimoji="1" lang="zh-CN" altLang="en-US" sz="800" i="1" dirty="0">
                  <a:latin typeface="微软雅黑" panose="020B0503020204020204" pitchFamily="34" charset="-122"/>
                  <a:ea typeface="微软雅黑" panose="020B0503020204020204" pitchFamily="34" charset="-122"/>
                </a:rPr>
                <a:t>权益共享包</a:t>
              </a:r>
              <a:endParaRPr kumimoji="1" lang="zh-CN" altLang="en-US" sz="800" i="1" dirty="0">
                <a:latin typeface="微软雅黑" panose="020B0503020204020204" pitchFamily="34" charset="-122"/>
                <a:ea typeface="微软雅黑" panose="020B0503020204020204" pitchFamily="34" charset="-122"/>
              </a:endParaRPr>
            </a:p>
            <a:p>
              <a:r>
                <a:rPr kumimoji="1" lang="zh-CN" altLang="en-US" sz="800" i="1" dirty="0">
                  <a:solidFill>
                    <a:schemeClr val="accent1">
                      <a:lumMod val="60000"/>
                      <a:lumOff val="40000"/>
                    </a:schemeClr>
                  </a:solidFill>
                  <a:latin typeface="微软雅黑" panose="020B0503020204020204" pitchFamily="34" charset="-122"/>
                  <a:ea typeface="微软雅黑" panose="020B0503020204020204" pitchFamily="34" charset="-122"/>
                </a:rPr>
                <a:t>设备支持：</a:t>
              </a:r>
              <a:r>
                <a:rPr kumimoji="1" lang="zh-CN" altLang="en-US" sz="800" i="1" dirty="0">
                  <a:latin typeface="微软雅黑" panose="020B0503020204020204" pitchFamily="34" charset="-122"/>
                  <a:ea typeface="微软雅黑" panose="020B0503020204020204" pitchFamily="34" charset="-122"/>
                </a:rPr>
                <a:t>视频监控、电视关联设备</a:t>
              </a:r>
              <a:endParaRPr kumimoji="1" lang="en-US" altLang="zh-CN" sz="800" i="1" dirty="0">
                <a:latin typeface="微软雅黑" panose="020B0503020204020204" pitchFamily="34" charset="-122"/>
                <a:ea typeface="微软雅黑" panose="020B0503020204020204" pitchFamily="34" charset="-122"/>
              </a:endParaRPr>
            </a:p>
          </p:txBody>
        </p:sp>
        <p:sp>
          <p:nvSpPr>
            <p:cNvPr id="32" name="文本框 31"/>
            <p:cNvSpPr txBox="1"/>
            <p:nvPr/>
          </p:nvSpPr>
          <p:spPr>
            <a:xfrm>
              <a:off x="13043" y="4126"/>
              <a:ext cx="2648" cy="919"/>
            </a:xfrm>
            <a:prstGeom prst="rect">
              <a:avLst/>
            </a:prstGeom>
            <a:noFill/>
          </p:spPr>
          <p:txBody>
            <a:bodyPr wrap="square" lIns="36000" tIns="45720" rIns="36000" bIns="45720" rtlCol="0">
              <a:spAutoFit/>
            </a:bodyPr>
            <a:lstStyle>
              <a:defPPr>
                <a:defRPr lang="zh-CN"/>
              </a:defPPr>
              <a:lvl1pPr>
                <a:defRPr kumimoji="1" sz="700" i="1">
                  <a:solidFill>
                    <a:schemeClr val="accent1">
                      <a:lumMod val="60000"/>
                      <a:lumOff val="40000"/>
                    </a:schemeClr>
                  </a:solidFill>
                  <a:latin typeface="微软雅黑" panose="020B0503020204020204" pitchFamily="34" charset="-122"/>
                  <a:ea typeface="微软雅黑" panose="020B0503020204020204" pitchFamily="34" charset="-122"/>
                </a:defRPr>
              </a:lvl1pPr>
            </a:lstStyle>
            <a:p>
              <a:r>
                <a:rPr lang="zh-CN" altLang="en-US" sz="800" dirty="0"/>
                <a:t>营销优惠：</a:t>
              </a:r>
              <a:r>
                <a:rPr lang="zh-CN" altLang="en-US" sz="800" dirty="0">
                  <a:solidFill>
                    <a:schemeClr val="tx1"/>
                  </a:solidFill>
                </a:rPr>
                <a:t>家庭统一营销折扣</a:t>
              </a:r>
              <a:r>
                <a:rPr lang="en-US" altLang="zh-CN" sz="800" dirty="0">
                  <a:solidFill>
                    <a:schemeClr val="tx1"/>
                  </a:solidFill>
                </a:rPr>
                <a:t>10%</a:t>
              </a:r>
              <a:endParaRPr lang="en-US" altLang="zh-CN" sz="800" dirty="0">
                <a:solidFill>
                  <a:schemeClr val="tx1"/>
                </a:solidFill>
              </a:endParaRPr>
            </a:p>
            <a:p>
              <a:r>
                <a:rPr lang="zh-CN" altLang="en-US" sz="800" dirty="0"/>
                <a:t>融合营销：</a:t>
              </a:r>
              <a:r>
                <a:rPr lang="zh-CN" altLang="en-US" sz="800" dirty="0">
                  <a:solidFill>
                    <a:schemeClr val="tx1"/>
                  </a:solidFill>
                </a:rPr>
                <a:t>绑定视频会员，合约期享受流量无上限</a:t>
              </a:r>
              <a:endParaRPr lang="en-US" altLang="zh-CN" sz="800" dirty="0">
                <a:solidFill>
                  <a:schemeClr val="tx1"/>
                </a:solidFill>
              </a:endParaRPr>
            </a:p>
          </p:txBody>
        </p:sp>
        <p:sp>
          <p:nvSpPr>
            <p:cNvPr id="33" name="文本框 32"/>
            <p:cNvSpPr txBox="1"/>
            <p:nvPr/>
          </p:nvSpPr>
          <p:spPr>
            <a:xfrm>
              <a:off x="15737" y="4126"/>
              <a:ext cx="2776" cy="725"/>
            </a:xfrm>
            <a:prstGeom prst="rect">
              <a:avLst/>
            </a:prstGeom>
            <a:noFill/>
          </p:spPr>
          <p:txBody>
            <a:bodyPr wrap="square" lIns="36000" tIns="45720" rIns="36000" bIns="45720" rtlCol="0">
              <a:spAutoFit/>
            </a:bodyPr>
            <a:lstStyle>
              <a:defPPr>
                <a:defRPr lang="zh-CN"/>
              </a:defPPr>
              <a:lvl1pPr>
                <a:defRPr kumimoji="1" sz="700" i="1">
                  <a:solidFill>
                    <a:schemeClr val="accent1">
                      <a:lumMod val="60000"/>
                      <a:lumOff val="40000"/>
                    </a:schemeClr>
                  </a:solidFill>
                  <a:latin typeface="微软雅黑" panose="020B0503020204020204" pitchFamily="34" charset="-122"/>
                  <a:ea typeface="微软雅黑" panose="020B0503020204020204" pitchFamily="34" charset="-122"/>
                </a:defRPr>
              </a:lvl1pPr>
            </a:lstStyle>
            <a:p>
              <a:r>
                <a:rPr lang="zh-CN" altLang="en-US" sz="800" dirty="0"/>
                <a:t>家庭关怀：</a:t>
              </a:r>
              <a:r>
                <a:rPr lang="zh-CN" altLang="en-US" sz="800" dirty="0">
                  <a:solidFill>
                    <a:schemeClr val="tx1"/>
                  </a:solidFill>
                </a:rPr>
                <a:t>生日关怀、纪念日关怀</a:t>
              </a:r>
              <a:endParaRPr lang="en-US" altLang="zh-CN" sz="800" dirty="0">
                <a:solidFill>
                  <a:schemeClr val="tx1"/>
                </a:solidFill>
              </a:endParaRPr>
            </a:p>
            <a:p>
              <a:r>
                <a:rPr lang="zh-CN" altLang="en-US" sz="800" dirty="0"/>
                <a:t>家庭挽留：</a:t>
              </a:r>
              <a:r>
                <a:rPr lang="zh-CN" altLang="en-US" sz="800" dirty="0">
                  <a:solidFill>
                    <a:schemeClr val="tx1"/>
                  </a:solidFill>
                </a:rPr>
                <a:t>预测成员退网，生成以家庭为核心的挽留话术</a:t>
              </a:r>
              <a:endParaRPr lang="zh-CN" altLang="en-US" sz="800" dirty="0">
                <a:solidFill>
                  <a:schemeClr val="tx1"/>
                </a:solidFill>
              </a:endParaRPr>
            </a:p>
          </p:txBody>
        </p:sp>
        <p:sp>
          <p:nvSpPr>
            <p:cNvPr id="34" name="文本框 33"/>
            <p:cNvSpPr txBox="1"/>
            <p:nvPr/>
          </p:nvSpPr>
          <p:spPr>
            <a:xfrm>
              <a:off x="703" y="4126"/>
              <a:ext cx="2385" cy="725"/>
            </a:xfrm>
            <a:prstGeom prst="rect">
              <a:avLst/>
            </a:prstGeom>
            <a:noFill/>
          </p:spPr>
          <p:txBody>
            <a:bodyPr wrap="square" lIns="36000" tIns="45720" rIns="36000" bIns="45720" rtlCol="0">
              <a:spAutoFit/>
            </a:bodyPr>
            <a:lstStyle>
              <a:defPPr>
                <a:defRPr lang="zh-CN"/>
              </a:defPPr>
              <a:lvl1pPr>
                <a:defRPr kumimoji="1" sz="700" i="1">
                  <a:solidFill>
                    <a:schemeClr val="accent1">
                      <a:lumMod val="60000"/>
                      <a:lumOff val="40000"/>
                    </a:schemeClr>
                  </a:solidFill>
                  <a:latin typeface="微软雅黑" panose="020B0503020204020204" pitchFamily="34" charset="-122"/>
                  <a:ea typeface="微软雅黑" panose="020B0503020204020204" pitchFamily="34" charset="-122"/>
                </a:defRPr>
              </a:lvl1pPr>
            </a:lstStyle>
            <a:p>
              <a:r>
                <a:rPr lang="zh-CN" altLang="en-US" sz="800" dirty="0"/>
                <a:t>家庭细分：</a:t>
              </a:r>
              <a:r>
                <a:rPr lang="zh-CN" altLang="en-US" sz="800" dirty="0">
                  <a:solidFill>
                    <a:schemeClr val="tx1"/>
                  </a:solidFill>
                </a:rPr>
                <a:t>主干家庭</a:t>
              </a:r>
              <a:endParaRPr lang="en-US" altLang="zh-CN" sz="800" dirty="0">
                <a:solidFill>
                  <a:schemeClr val="tx1"/>
                </a:solidFill>
              </a:endParaRPr>
            </a:p>
            <a:p>
              <a:r>
                <a:rPr lang="zh-CN" altLang="en-US" sz="800" dirty="0"/>
                <a:t>核心家庭：</a:t>
              </a:r>
              <a:r>
                <a:rPr lang="zh-CN" altLang="en-US" sz="800" dirty="0">
                  <a:solidFill>
                    <a:schemeClr val="tx1"/>
                  </a:solidFill>
                </a:rPr>
                <a:t>户主</a:t>
              </a:r>
              <a:r>
                <a:rPr lang="en-US" altLang="zh-CN" sz="800" dirty="0">
                  <a:solidFill>
                    <a:schemeClr val="tx1"/>
                  </a:solidFill>
                </a:rPr>
                <a:t>+</a:t>
              </a:r>
              <a:r>
                <a:rPr lang="zh-CN" altLang="en-US" sz="800" dirty="0">
                  <a:solidFill>
                    <a:schemeClr val="tx1"/>
                  </a:solidFill>
                </a:rPr>
                <a:t>父母</a:t>
              </a:r>
              <a:r>
                <a:rPr lang="en-US" altLang="zh-CN" sz="800" dirty="0">
                  <a:solidFill>
                    <a:schemeClr val="tx1"/>
                  </a:solidFill>
                </a:rPr>
                <a:t>+</a:t>
              </a:r>
              <a:r>
                <a:rPr lang="zh-CN" altLang="en-US" sz="800" dirty="0">
                  <a:solidFill>
                    <a:schemeClr val="tx1"/>
                  </a:solidFill>
                </a:rPr>
                <a:t>子女</a:t>
              </a:r>
              <a:endParaRPr lang="zh-CN" altLang="en-US" sz="800" dirty="0">
                <a:solidFill>
                  <a:schemeClr val="tx1"/>
                </a:solidFill>
              </a:endParaRPr>
            </a:p>
            <a:p>
              <a:r>
                <a:rPr lang="zh-CN" altLang="en-US" sz="800" dirty="0"/>
                <a:t>范家庭：</a:t>
              </a:r>
              <a:r>
                <a:rPr lang="zh-CN" altLang="en-US" sz="800" dirty="0">
                  <a:solidFill>
                    <a:schemeClr val="tx1"/>
                  </a:solidFill>
                </a:rPr>
                <a:t>同事</a:t>
              </a:r>
              <a:r>
                <a:rPr lang="en-US" altLang="zh-CN" sz="800" dirty="0">
                  <a:solidFill>
                    <a:schemeClr val="tx1"/>
                  </a:solidFill>
                </a:rPr>
                <a:t>+</a:t>
              </a:r>
              <a:r>
                <a:rPr lang="zh-CN" altLang="en-US" sz="800" dirty="0">
                  <a:solidFill>
                    <a:schemeClr val="tx1"/>
                  </a:solidFill>
                </a:rPr>
                <a:t>朋友</a:t>
              </a:r>
              <a:r>
                <a:rPr lang="en-US" altLang="zh-CN" sz="800" dirty="0">
                  <a:solidFill>
                    <a:schemeClr val="tx1"/>
                  </a:solidFill>
                </a:rPr>
                <a:t>+</a:t>
              </a:r>
              <a:r>
                <a:rPr lang="zh-CN" altLang="en-US" sz="800" dirty="0">
                  <a:solidFill>
                    <a:schemeClr val="tx1"/>
                  </a:solidFill>
                </a:rPr>
                <a:t>同学</a:t>
              </a:r>
              <a:endParaRPr lang="zh-CN" altLang="en-US" sz="800" dirty="0">
                <a:solidFill>
                  <a:schemeClr val="tx1"/>
                </a:solidFill>
              </a:endParaRPr>
            </a:p>
          </p:txBody>
        </p:sp>
        <p:sp>
          <p:nvSpPr>
            <p:cNvPr id="171" name="箭头: 右 16"/>
            <p:cNvSpPr/>
            <p:nvPr/>
          </p:nvSpPr>
          <p:spPr>
            <a:xfrm>
              <a:off x="12919" y="3300"/>
              <a:ext cx="5795" cy="946"/>
            </a:xfrm>
            <a:prstGeom prst="rightArrow">
              <a:avLst/>
            </a:prstGeom>
            <a:gradFill flip="none" rotWithShape="1">
              <a:gsLst>
                <a:gs pos="0">
                  <a:schemeClr val="accent3">
                    <a:lumMod val="40000"/>
                    <a:lumOff val="60000"/>
                    <a:alpha val="80000"/>
                  </a:schemeClr>
                </a:gs>
                <a:gs pos="30000">
                  <a:srgbClr val="ECF0F4"/>
                </a:gs>
                <a:gs pos="100000">
                  <a:srgbClr val="A4BBD7"/>
                </a:gs>
              </a:gsLst>
              <a:lin ang="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72" name="矩形 171"/>
            <p:cNvSpPr/>
            <p:nvPr/>
          </p:nvSpPr>
          <p:spPr>
            <a:xfrm>
              <a:off x="12840" y="3511"/>
              <a:ext cx="1507" cy="525"/>
            </a:xfrm>
            <a:prstGeom prst="rect">
              <a:avLst/>
            </a:prstGeom>
            <a:noFill/>
            <a:ln w="12700" cap="flat" cmpd="sng" algn="ctr">
              <a:noFill/>
              <a:prstDash val="solid"/>
              <a:miter lim="800000"/>
            </a:ln>
            <a:effectLst/>
          </p:spPr>
          <p:txBody>
            <a:bodyPr rot="0" spcFirstLastPara="0" vertOverflow="overflow" horzOverflow="overflow" vert="horz" wrap="square" lIns="36000" tIns="36000" rIns="3600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家庭账单管理</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73" name="矩形 172"/>
            <p:cNvSpPr/>
            <p:nvPr/>
          </p:nvSpPr>
          <p:spPr>
            <a:xfrm>
              <a:off x="14192" y="3511"/>
              <a:ext cx="1542" cy="525"/>
            </a:xfrm>
            <a:prstGeom prst="rect">
              <a:avLst/>
            </a:prstGeom>
            <a:noFill/>
            <a:ln w="12700" cap="flat" cmpd="sng" algn="ctr">
              <a:noFill/>
              <a:prstDash val="solid"/>
              <a:miter lim="800000"/>
            </a:ln>
            <a:effectLst/>
          </p:spPr>
          <p:txBody>
            <a:bodyPr rot="0" spcFirstLastPara="0" vertOverflow="overflow" horzOverflow="overflow" vert="horz" wrap="square" lIns="36000" tIns="36000" rIns="3600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家庭代付代查</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74" name="矩形 173"/>
            <p:cNvSpPr/>
            <p:nvPr/>
          </p:nvSpPr>
          <p:spPr>
            <a:xfrm>
              <a:off x="15571" y="3511"/>
              <a:ext cx="1542" cy="525"/>
            </a:xfrm>
            <a:prstGeom prst="rect">
              <a:avLst/>
            </a:prstGeom>
            <a:noFill/>
            <a:ln w="12700" cap="flat" cmpd="sng" algn="ctr">
              <a:noFill/>
              <a:prstDash val="solid"/>
              <a:miter lim="800000"/>
            </a:ln>
            <a:effectLst/>
          </p:spPr>
          <p:txBody>
            <a:bodyPr rot="0" spcFirstLastPara="0" vertOverflow="overflow" horzOverflow="overflow" vert="horz" wrap="square" lIns="36000" tIns="36000" rIns="3600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家庭服务跟踪</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75" name="矩形 174"/>
            <p:cNvSpPr/>
            <p:nvPr/>
          </p:nvSpPr>
          <p:spPr>
            <a:xfrm>
              <a:off x="17163" y="3554"/>
              <a:ext cx="1519" cy="439"/>
            </a:xfrm>
            <a:prstGeom prst="rect">
              <a:avLst/>
            </a:prstGeom>
            <a:noFill/>
            <a:ln w="12700" cap="flat" cmpd="sng" algn="ctr">
              <a:noFill/>
              <a:prstDash val="solid"/>
              <a:miter lim="800000"/>
            </a:ln>
            <a:effectLst/>
          </p:spPr>
          <p:txBody>
            <a:bodyPr rot="0" spcFirstLastPara="0" vertOverflow="overflow" horzOverflow="overflow" vert="horz" wrap="square" lIns="36000" tIns="36000" rIns="3600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家庭客户体验</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76" name="箭头: V 形 175"/>
            <p:cNvSpPr/>
            <p:nvPr/>
          </p:nvSpPr>
          <p:spPr>
            <a:xfrm>
              <a:off x="14296" y="3547"/>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77" name="箭头: V 形 176"/>
            <p:cNvSpPr/>
            <p:nvPr/>
          </p:nvSpPr>
          <p:spPr>
            <a:xfrm>
              <a:off x="15655" y="3547"/>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78" name="箭头: V 形 177"/>
            <p:cNvSpPr/>
            <p:nvPr/>
          </p:nvSpPr>
          <p:spPr>
            <a:xfrm>
              <a:off x="17166" y="3547"/>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圆角矩形 124"/>
          <p:cNvSpPr/>
          <p:nvPr/>
        </p:nvSpPr>
        <p:spPr>
          <a:xfrm>
            <a:off x="704850" y="1464310"/>
            <a:ext cx="11228705" cy="2875915"/>
          </a:xfrm>
          <a:prstGeom prst="roundRect">
            <a:avLst>
              <a:gd name="adj" fmla="val 5504"/>
            </a:avLst>
          </a:prstGeom>
          <a:solidFill>
            <a:srgbClr val="FFFFFF"/>
          </a:solidFill>
          <a:ln w="15875">
            <a:solidFill>
              <a:schemeClr val="accent1">
                <a:lumMod val="20000"/>
                <a:lumOff val="80000"/>
              </a:schemeClr>
            </a:solidFill>
          </a:ln>
          <a:effectLst>
            <a:outerShdw blurRad="165100" dist="76200" dir="5400000" algn="t" rotWithShape="0">
              <a:srgbClr val="1C66C4">
                <a:alpha val="40000"/>
              </a:srgbClr>
            </a:outerShdw>
          </a:effectLst>
        </p:spPr>
        <p:style>
          <a:lnRef idx="2">
            <a:srgbClr val="1C66C4">
              <a:shade val="50000"/>
            </a:srgbClr>
          </a:lnRef>
          <a:fillRef idx="1">
            <a:srgbClr val="1C66C4"/>
          </a:fillRef>
          <a:effectRef idx="0">
            <a:srgbClr val="1C66C4"/>
          </a:effectRef>
          <a:fontRef idx="minor">
            <a:srgbClr val="FFFFFF"/>
          </a:fontRef>
        </p:style>
        <p:txBody>
          <a:bodyPr vertOverflow="overflow" horzOverflow="overflow" vert="horz" wrap="none" numCol="1" spcCol="0" rtlCol="0" fromWordArt="0" anchor="ctr" anchorCtr="0" forceAA="0" compatLnSpc="1">
            <a:noAutofit/>
          </a:bodyPr>
          <a:lstStyle/>
          <a:p>
            <a:pPr defTabSz="914400"/>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83" name="标题 1"/>
          <p:cNvSpPr>
            <a:spLocks noGrp="1"/>
          </p:cNvSpPr>
          <p:nvPr>
            <p:ph type="title"/>
          </p:nvPr>
        </p:nvSpPr>
        <p:spPr>
          <a:xfrm>
            <a:off x="150829" y="274371"/>
            <a:ext cx="9577633" cy="486572"/>
          </a:xfrm>
        </p:spPr>
        <p:txBody>
          <a:bodyPr>
            <a:normAutofit/>
          </a:bodyPr>
          <a:lstStyle/>
          <a:p>
            <a:pPr algn="l">
              <a:buClrTx/>
              <a:buSzTx/>
              <a:buFontTx/>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路径图|</a:t>
            </a:r>
            <a:r>
              <a:rPr lang="zh-CN" altLang="en-US">
                <a:sym typeface="+mn-ea"/>
              </a:rPr>
              <a:t>升级融合运营能力：②全时空客户融合洞察</a:t>
            </a:r>
            <a:endParaRPr lang="zh-CN" altLang="en-US" dirty="0">
              <a:sym typeface="+mn-ea"/>
            </a:endParaRPr>
          </a:p>
        </p:txBody>
      </p:sp>
      <p:sp>
        <p:nvSpPr>
          <p:cNvPr id="85" name="文本框 84"/>
          <p:cNvSpPr txBox="1"/>
          <p:nvPr/>
        </p:nvSpPr>
        <p:spPr>
          <a:xfrm>
            <a:off x="562610" y="916305"/>
            <a:ext cx="11308715" cy="644525"/>
          </a:xfrm>
          <a:prstGeom prst="rect">
            <a:avLst/>
          </a:prstGeom>
          <a:noFill/>
        </p:spPr>
        <p:txBody>
          <a:bodyPr wrap="square" rtlCol="0" anchor="t">
            <a:noAutofit/>
          </a:bodyPr>
          <a:lstStyle/>
          <a:p>
            <a:pPr marL="285750" indent="-285750" algn="l">
              <a:lnSpc>
                <a:spcPct val="140000"/>
              </a:lnSpc>
              <a:buClrTx/>
              <a:buSzTx/>
              <a:buFont typeface="Arial" panose="020B0604020202020204" pitchFamily="34" charset="0"/>
              <a:buChar char="•"/>
            </a:pPr>
            <a:endParaRPr lang="en-US" altLang="zh-CN"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文本框 16"/>
          <p:cNvSpPr txBox="1"/>
          <p:nvPr/>
        </p:nvSpPr>
        <p:spPr>
          <a:xfrm>
            <a:off x="8222" y="4749163"/>
            <a:ext cx="697089" cy="583565"/>
          </a:xfrm>
          <a:prstGeom prst="rect">
            <a:avLst/>
          </a:prstGeom>
          <a:noFill/>
        </p:spPr>
        <p:txBody>
          <a:bodyPr wrap="square">
            <a:spAutoFit/>
          </a:bodyPr>
          <a:lstStyle/>
          <a:p>
            <a:pPr algn="ctr"/>
            <a:r>
              <a:rPr kumimoji="1" lang="zh-CN" altLang="en-US" sz="1600" b="1" dirty="0"/>
              <a:t>平台能力</a:t>
            </a:r>
            <a:endParaRPr kumimoji="1" lang="zh-CN" altLang="en-US" sz="1600" b="1" dirty="0"/>
          </a:p>
        </p:txBody>
      </p:sp>
      <p:sp>
        <p:nvSpPr>
          <p:cNvPr id="2" name="文本框 1"/>
          <p:cNvSpPr txBox="1"/>
          <p:nvPr/>
        </p:nvSpPr>
        <p:spPr>
          <a:xfrm>
            <a:off x="68580" y="873125"/>
            <a:ext cx="11864340" cy="564515"/>
          </a:xfrm>
          <a:prstGeom prst="rect">
            <a:avLst/>
          </a:prstGeom>
          <a:noFill/>
        </p:spPr>
        <p:txBody>
          <a:bodyPr wrap="square" rtlCol="0" anchor="t">
            <a:spAutoFit/>
          </a:bodyPr>
          <a:lstStyle/>
          <a:p>
            <a:pPr indent="-285750">
              <a:lnSpc>
                <a:spcPct val="110000"/>
              </a:lnSpc>
              <a:spcBef>
                <a:spcPts val="1000"/>
              </a:spcBef>
              <a:buClr>
                <a:srgbClr val="009CE2"/>
              </a:buClr>
              <a:buFont typeface="Wingdings" panose="05000000000000000000" pitchFamily="2" charset="2"/>
              <a:buChar char="n"/>
            </a:pPr>
            <a:r>
              <a:rPr lang="zh-CN" altLang="en-US" sz="1400" b="1" kern="0" dirty="0">
                <a:latin typeface="微软雅黑" panose="020B0503020204020204" pitchFamily="34" charset="-122"/>
                <a:ea typeface="微软雅黑" panose="020B0503020204020204" pitchFamily="34" charset="-122"/>
              </a:rPr>
              <a:t>基于全生命周期客户数据和</a:t>
            </a:r>
            <a:r>
              <a:rPr lang="en-US" altLang="zh-CN" sz="1400" b="1" kern="0" dirty="0">
                <a:latin typeface="微软雅黑" panose="020B0503020204020204" pitchFamily="34" charset="-122"/>
                <a:ea typeface="微软雅黑" panose="020B0503020204020204" pitchFamily="34" charset="-122"/>
              </a:rPr>
              <a:t>AI</a:t>
            </a:r>
            <a:r>
              <a:rPr lang="zh-CN" altLang="en-US" sz="1400" b="1" kern="0" dirty="0">
                <a:latin typeface="微软雅黑" panose="020B0503020204020204" pitchFamily="34" charset="-122"/>
                <a:ea typeface="微软雅黑" panose="020B0503020204020204" pitchFamily="34" charset="-122"/>
              </a:rPr>
              <a:t>智慧大脑能力，全面洞察客户，自动匹配策略，构建面向细分客群的全流程客户运营能力，持续深化细分市场运营，</a:t>
            </a:r>
            <a:r>
              <a:rPr lang="zh-CN" altLang="en-US" sz="1400" b="1" kern="0" dirty="0">
                <a:latin typeface="微软雅黑" panose="020B0503020204020204" pitchFamily="34" charset="-122"/>
                <a:ea typeface="微软雅黑" panose="020B0503020204020204" pitchFamily="34" charset="-122"/>
                <a:sym typeface="+mn-ea"/>
              </a:rPr>
              <a:t>赋能一线服务、营销支撑以及市场管理，有效助力稳存拓新增收。</a:t>
            </a:r>
            <a:endParaRPr lang="zh-CN" altLang="en-US" sz="1400" b="1" kern="0" dirty="0">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8222" y="2407920"/>
            <a:ext cx="697230" cy="645160"/>
          </a:xfrm>
          <a:prstGeom prst="rect">
            <a:avLst/>
          </a:prstGeom>
          <a:noFill/>
        </p:spPr>
        <p:txBody>
          <a:bodyPr wrap="square">
            <a:spAutoFit/>
          </a:bodyPr>
          <a:lstStyle/>
          <a:p>
            <a:pPr algn="ctr"/>
            <a:r>
              <a:rPr kumimoji="1" lang="zh-CN" altLang="en-US" b="1" dirty="0"/>
              <a:t>场景</a:t>
            </a:r>
            <a:endParaRPr kumimoji="1" lang="zh-CN" altLang="en-US" b="1" dirty="0"/>
          </a:p>
          <a:p>
            <a:pPr algn="ctr"/>
            <a:r>
              <a:rPr kumimoji="1" lang="zh-CN" altLang="en-US" b="1" dirty="0"/>
              <a:t>示例</a:t>
            </a:r>
            <a:endParaRPr kumimoji="1" lang="zh-CN" altLang="en-US" b="1" dirty="0"/>
          </a:p>
        </p:txBody>
      </p:sp>
      <p:sp>
        <p:nvSpPr>
          <p:cNvPr id="292" name="文本框 291"/>
          <p:cNvSpPr txBox="1"/>
          <p:nvPr/>
        </p:nvSpPr>
        <p:spPr>
          <a:xfrm>
            <a:off x="2320925" y="1445260"/>
            <a:ext cx="7407910" cy="275590"/>
          </a:xfrm>
          <a:prstGeom prst="rect">
            <a:avLst/>
          </a:prstGeom>
          <a:noFill/>
        </p:spPr>
        <p:txBody>
          <a:bodyPr wrap="square" rtlCol="0" anchor="t">
            <a:spAutoFit/>
          </a:bodyPr>
          <a:lstStyle/>
          <a:p>
            <a:pPr algn="ctr"/>
            <a:r>
              <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客户端到端数智化运营</a:t>
            </a:r>
            <a:r>
              <a:rPr lang="en-US" altLang="zh-CN"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以国际旅游客群用户运营为示例</a:t>
            </a:r>
            <a:endParaRPr lang="zh-CN" sz="1200" b="1" u="sng"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30" name="五边形 229"/>
          <p:cNvSpPr/>
          <p:nvPr/>
        </p:nvSpPr>
        <p:spPr>
          <a:xfrm>
            <a:off x="6289675" y="1748790"/>
            <a:ext cx="5643245" cy="298450"/>
          </a:xfrm>
          <a:prstGeom prst="homePlate">
            <a:avLst/>
          </a:prstGeom>
          <a:solidFill>
            <a:srgbClr val="5CACE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000" b="1" dirty="0">
                <a:solidFill>
                  <a:srgbClr val="FFFF00"/>
                </a:solidFill>
              </a:rPr>
              <a:t>②客户策略运营</a:t>
            </a:r>
            <a:endParaRPr kumimoji="1" lang="zh-CN" altLang="en-US" sz="1000" b="1" dirty="0">
              <a:solidFill>
                <a:srgbClr val="FFFF00"/>
              </a:solidFill>
            </a:endParaRPr>
          </a:p>
        </p:txBody>
      </p:sp>
      <p:sp>
        <p:nvSpPr>
          <p:cNvPr id="233" name="五边形 232"/>
          <p:cNvSpPr/>
          <p:nvPr/>
        </p:nvSpPr>
        <p:spPr>
          <a:xfrm>
            <a:off x="798195" y="1748790"/>
            <a:ext cx="5706110" cy="298450"/>
          </a:xfrm>
          <a:prstGeom prst="homePlate">
            <a:avLst/>
          </a:prstGeom>
          <a:solidFill>
            <a:srgbClr val="5CACE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000" b="1" dirty="0">
                <a:solidFill>
                  <a:srgbClr val="FFFF00"/>
                </a:solidFill>
              </a:rPr>
              <a:t>①客户智慧洞察</a:t>
            </a:r>
            <a:endParaRPr kumimoji="1" lang="zh-CN" altLang="en-US" sz="1000" b="1" dirty="0">
              <a:solidFill>
                <a:srgbClr val="FFFF00"/>
              </a:solidFill>
            </a:endParaRPr>
          </a:p>
        </p:txBody>
      </p:sp>
      <p:sp>
        <p:nvSpPr>
          <p:cNvPr id="5" name="圆角矩形 4"/>
          <p:cNvSpPr/>
          <p:nvPr/>
        </p:nvSpPr>
        <p:spPr>
          <a:xfrm>
            <a:off x="875246" y="4721866"/>
            <a:ext cx="10891520" cy="765810"/>
          </a:xfrm>
          <a:prstGeom prst="roundRect">
            <a:avLst/>
          </a:prstGeom>
          <a:solidFill>
            <a:srgbClr val="F3F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 name="矩形 6"/>
          <p:cNvSpPr/>
          <p:nvPr/>
        </p:nvSpPr>
        <p:spPr>
          <a:xfrm>
            <a:off x="797560" y="4665345"/>
            <a:ext cx="11135360" cy="1186180"/>
          </a:xfrm>
          <a:prstGeom prst="rect">
            <a:avLst/>
          </a:prstGeom>
          <a:solidFill>
            <a:srgbClr val="DFF2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8" name="文本框 7"/>
          <p:cNvSpPr txBox="1"/>
          <p:nvPr/>
        </p:nvSpPr>
        <p:spPr>
          <a:xfrm>
            <a:off x="2792946" y="4670431"/>
            <a:ext cx="1619885" cy="772932"/>
          </a:xfrm>
          <a:prstGeom prst="rect">
            <a:avLst/>
          </a:prstGeom>
          <a:noFill/>
        </p:spPr>
        <p:txBody>
          <a:bodyPr wrap="square" rtlCol="0">
            <a:noAutofit/>
          </a:bodyPr>
          <a:lstStyle>
            <a:defPPr>
              <a:defRPr lang="zh-CN"/>
            </a:defPPr>
            <a:lvl1pPr marL="285750" indent="-285750">
              <a:lnSpc>
                <a:spcPct val="130000"/>
              </a:lnSpc>
              <a:buFont typeface="Arial" panose="020B0604020202020204" pitchFamily="34" charset="0"/>
              <a:buChar char="•"/>
              <a:defRPr sz="900">
                <a:latin typeface="微软雅黑" panose="020B0503020204020204" pitchFamily="34" charset="-122"/>
                <a:ea typeface="微软雅黑" panose="020B0503020204020204" pitchFamily="34" charset="-122"/>
              </a:defRPr>
            </a:lvl1pPr>
          </a:lstStyle>
          <a:p>
            <a:r>
              <a:rPr lang="zh-CN" altLang="en-US" dirty="0"/>
              <a:t>客户轨迹视图</a:t>
            </a:r>
            <a:endParaRPr lang="en-US" altLang="zh-CN" dirty="0"/>
          </a:p>
          <a:p>
            <a:r>
              <a:rPr lang="zh-CN" altLang="en-US" dirty="0"/>
              <a:t>客户发展视图</a:t>
            </a:r>
            <a:endParaRPr lang="en-US" altLang="zh-CN" dirty="0"/>
          </a:p>
          <a:p>
            <a:r>
              <a:rPr lang="zh-CN" altLang="en-US" dirty="0"/>
              <a:t>客户分布视图</a:t>
            </a:r>
            <a:endParaRPr lang="zh-CN" altLang="en-US" dirty="0"/>
          </a:p>
        </p:txBody>
      </p:sp>
      <p:sp>
        <p:nvSpPr>
          <p:cNvPr id="9" name="文本框 8"/>
          <p:cNvSpPr txBox="1"/>
          <p:nvPr/>
        </p:nvSpPr>
        <p:spPr>
          <a:xfrm>
            <a:off x="6533731" y="4670430"/>
            <a:ext cx="1619885" cy="740211"/>
          </a:xfrm>
          <a:prstGeom prst="rect">
            <a:avLst/>
          </a:prstGeom>
          <a:noFill/>
        </p:spPr>
        <p:txBody>
          <a:bodyPr wrap="square" rtlCol="0">
            <a:noAutofit/>
          </a:bodyPr>
          <a:lstStyle>
            <a:defPPr>
              <a:defRPr lang="zh-CN"/>
            </a:defPPr>
            <a:lvl1pPr marL="285750" indent="-285750">
              <a:lnSpc>
                <a:spcPct val="130000"/>
              </a:lnSpc>
              <a:buFont typeface="Arial" panose="020B0604020202020204" pitchFamily="34" charset="0"/>
              <a:buChar char="•"/>
              <a:defRPr sz="900">
                <a:latin typeface="微软雅黑" panose="020B0503020204020204" pitchFamily="34" charset="-122"/>
                <a:ea typeface="微软雅黑" panose="020B0503020204020204" pitchFamily="34" charset="-122"/>
              </a:defRPr>
            </a:lvl1pPr>
          </a:lstStyle>
          <a:p>
            <a:r>
              <a:rPr lang="zh-CN" altLang="en-US" dirty="0"/>
              <a:t>产品组合生成</a:t>
            </a:r>
            <a:endParaRPr lang="zh-CN" altLang="en-US" dirty="0"/>
          </a:p>
          <a:p>
            <a:r>
              <a:rPr lang="zh-CN" altLang="en-US" dirty="0"/>
              <a:t>动态话术生成</a:t>
            </a:r>
            <a:endParaRPr lang="en-US" altLang="zh-CN" dirty="0"/>
          </a:p>
          <a:p>
            <a:r>
              <a:rPr lang="zh-CN" altLang="en-US" dirty="0"/>
              <a:t>营销时机推荐</a:t>
            </a:r>
            <a:endParaRPr lang="en-US" altLang="zh-CN" dirty="0"/>
          </a:p>
          <a:p>
            <a:r>
              <a:rPr lang="zh-CN" altLang="en-US" dirty="0"/>
              <a:t>营销渠道推荐</a:t>
            </a:r>
            <a:endParaRPr lang="zh-CN" altLang="en-US" dirty="0"/>
          </a:p>
        </p:txBody>
      </p:sp>
      <p:sp>
        <p:nvSpPr>
          <p:cNvPr id="10" name="文本框 9"/>
          <p:cNvSpPr txBox="1"/>
          <p:nvPr/>
        </p:nvSpPr>
        <p:spPr>
          <a:xfrm>
            <a:off x="4581357" y="4670431"/>
            <a:ext cx="1691640" cy="772932"/>
          </a:xfrm>
          <a:prstGeom prst="rect">
            <a:avLst/>
          </a:prstGeom>
          <a:noFill/>
        </p:spPr>
        <p:txBody>
          <a:bodyPr wrap="square" rtlCol="0">
            <a:noAutofit/>
          </a:bodyPr>
          <a:lstStyle>
            <a:defPPr>
              <a:defRPr lang="zh-CN"/>
            </a:defPPr>
            <a:lvl1pPr marL="285750" indent="-285750">
              <a:lnSpc>
                <a:spcPct val="130000"/>
              </a:lnSpc>
              <a:buFont typeface="Arial" panose="020B0604020202020204" pitchFamily="34" charset="0"/>
              <a:buChar char="•"/>
              <a:defRPr sz="900">
                <a:latin typeface="微软雅黑" panose="020B0503020204020204" pitchFamily="34" charset="-122"/>
                <a:ea typeface="微软雅黑" panose="020B0503020204020204" pitchFamily="34" charset="-122"/>
              </a:defRPr>
            </a:lvl1pPr>
          </a:lstStyle>
          <a:p>
            <a:r>
              <a:rPr lang="zh-CN" altLang="en-US" dirty="0"/>
              <a:t>客户风险预判</a:t>
            </a:r>
            <a:endParaRPr lang="en-US" altLang="zh-CN" dirty="0"/>
          </a:p>
          <a:p>
            <a:r>
              <a:rPr lang="zh-CN" altLang="en-US" dirty="0">
                <a:sym typeface="+mn-ea"/>
              </a:rPr>
              <a:t>实时意愿识别</a:t>
            </a:r>
            <a:endParaRPr lang="en-US" altLang="zh-CN" dirty="0">
              <a:sym typeface="+mn-ea"/>
            </a:endParaRPr>
          </a:p>
          <a:p>
            <a:r>
              <a:rPr lang="zh-CN" altLang="en-US" dirty="0">
                <a:sym typeface="+mn-ea"/>
              </a:rPr>
              <a:t>客户经营预测</a:t>
            </a:r>
            <a:endParaRPr lang="en-US" altLang="zh-CN" dirty="0">
              <a:sym typeface="+mn-ea"/>
            </a:endParaRPr>
          </a:p>
          <a:p>
            <a:r>
              <a:rPr lang="zh-CN" altLang="en-US" dirty="0">
                <a:sym typeface="+mn-ea"/>
              </a:rPr>
              <a:t>市场竞对分析</a:t>
            </a:r>
            <a:endParaRPr lang="zh-CN" altLang="en-US" dirty="0">
              <a:sym typeface="+mn-ea"/>
            </a:endParaRPr>
          </a:p>
        </p:txBody>
      </p:sp>
      <p:sp>
        <p:nvSpPr>
          <p:cNvPr id="11" name="文本框 10"/>
          <p:cNvSpPr txBox="1"/>
          <p:nvPr/>
        </p:nvSpPr>
        <p:spPr>
          <a:xfrm>
            <a:off x="10099891" y="4670430"/>
            <a:ext cx="1749425" cy="740211"/>
          </a:xfrm>
          <a:prstGeom prst="rect">
            <a:avLst/>
          </a:prstGeom>
          <a:noFill/>
        </p:spPr>
        <p:txBody>
          <a:bodyPr wrap="square" rtlCol="0">
            <a:noAutofit/>
          </a:bodyPr>
          <a:lstStyle>
            <a:defPPr>
              <a:defRPr lang="zh-CN"/>
            </a:defPPr>
            <a:lvl1pPr marL="285750" indent="-285750">
              <a:lnSpc>
                <a:spcPct val="130000"/>
              </a:lnSpc>
              <a:buFont typeface="Arial" panose="020B0604020202020204" pitchFamily="34" charset="0"/>
              <a:buChar char="•"/>
              <a:defRPr sz="900">
                <a:latin typeface="微软雅黑" panose="020B0503020204020204" pitchFamily="34" charset="-122"/>
                <a:ea typeface="微软雅黑" panose="020B0503020204020204" pitchFamily="34" charset="-122"/>
              </a:defRPr>
            </a:lvl1pPr>
          </a:lstStyle>
          <a:p>
            <a:r>
              <a:rPr lang="zh-CN" altLang="en-US" dirty="0"/>
              <a:t>营销成功率预估</a:t>
            </a:r>
            <a:endParaRPr lang="en-US" altLang="zh-CN" dirty="0"/>
          </a:p>
          <a:p>
            <a:r>
              <a:rPr lang="zh-CN" altLang="en-US" dirty="0"/>
              <a:t>营销执行打分</a:t>
            </a:r>
            <a:endParaRPr lang="zh-CN" altLang="en-US" dirty="0"/>
          </a:p>
          <a:p>
            <a:r>
              <a:rPr lang="zh-CN" altLang="en-US" dirty="0"/>
              <a:t>策略执行反馈</a:t>
            </a:r>
            <a:endParaRPr lang="en-US" altLang="zh-CN" dirty="0"/>
          </a:p>
          <a:p>
            <a:r>
              <a:rPr lang="zh-CN" altLang="en-US" dirty="0"/>
              <a:t>动态调整调优</a:t>
            </a:r>
            <a:endParaRPr lang="zh-CN" altLang="en-US" dirty="0"/>
          </a:p>
        </p:txBody>
      </p:sp>
      <p:sp>
        <p:nvSpPr>
          <p:cNvPr id="14" name="文本框 13"/>
          <p:cNvSpPr txBox="1"/>
          <p:nvPr/>
        </p:nvSpPr>
        <p:spPr>
          <a:xfrm>
            <a:off x="8267281" y="4670430"/>
            <a:ext cx="1809750" cy="740211"/>
          </a:xfrm>
          <a:prstGeom prst="rect">
            <a:avLst/>
          </a:prstGeom>
          <a:noFill/>
        </p:spPr>
        <p:txBody>
          <a:bodyPr wrap="square" rtlCol="0">
            <a:noAutofit/>
          </a:bodyPr>
          <a:lstStyle>
            <a:defPPr>
              <a:defRPr lang="zh-CN"/>
            </a:defPPr>
            <a:lvl1pPr marL="285750" indent="-285750">
              <a:lnSpc>
                <a:spcPct val="130000"/>
              </a:lnSpc>
              <a:buFont typeface="Arial" panose="020B0604020202020204" pitchFamily="34" charset="0"/>
              <a:buChar char="•"/>
              <a:defRPr sz="900">
                <a:latin typeface="微软雅黑" panose="020B0503020204020204" pitchFamily="34" charset="-122"/>
                <a:ea typeface="微软雅黑" panose="020B0503020204020204" pitchFamily="34" charset="-122"/>
              </a:defRPr>
            </a:lvl1pPr>
          </a:lstStyle>
          <a:p>
            <a:r>
              <a:rPr lang="zh-CN" altLang="en-US" dirty="0">
                <a:sym typeface="+mn-ea"/>
              </a:rPr>
              <a:t>精准匹配已有策略</a:t>
            </a:r>
            <a:endParaRPr lang="en-US" altLang="zh-CN" dirty="0">
              <a:sym typeface="+mn-ea"/>
            </a:endParaRPr>
          </a:p>
          <a:p>
            <a:r>
              <a:rPr lang="zh-CN" altLang="en-US" dirty="0"/>
              <a:t>策略统一调度</a:t>
            </a:r>
            <a:endParaRPr lang="en-US" altLang="zh-CN" dirty="0"/>
          </a:p>
          <a:p>
            <a:r>
              <a:rPr lang="zh-CN" altLang="en-US" dirty="0"/>
              <a:t>客群策略统一视图</a:t>
            </a:r>
            <a:endParaRPr lang="en-US" altLang="zh-CN" dirty="0"/>
          </a:p>
          <a:p>
            <a:endParaRPr lang="en-US" altLang="zh-CN" dirty="0"/>
          </a:p>
          <a:p>
            <a:endParaRPr lang="zh-CN" altLang="en-US" dirty="0"/>
          </a:p>
        </p:txBody>
      </p:sp>
      <p:sp>
        <p:nvSpPr>
          <p:cNvPr id="45" name="文本框 44"/>
          <p:cNvSpPr txBox="1"/>
          <p:nvPr/>
        </p:nvSpPr>
        <p:spPr>
          <a:xfrm>
            <a:off x="958215" y="4670425"/>
            <a:ext cx="1817370" cy="772795"/>
          </a:xfrm>
          <a:prstGeom prst="rect">
            <a:avLst/>
          </a:prstGeom>
          <a:noFill/>
        </p:spPr>
        <p:txBody>
          <a:bodyPr wrap="square" rtlCol="0">
            <a:noAutofit/>
          </a:bodyPr>
          <a:lstStyle/>
          <a:p>
            <a:pPr marL="285750" indent="-285750">
              <a:lnSpc>
                <a:spcPct val="13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sym typeface="+mn-ea"/>
              </a:rPr>
              <a:t>基于四度三维的细分模型</a:t>
            </a:r>
            <a:endParaRPr lang="en-US" altLang="zh-CN" sz="900" dirty="0">
              <a:latin typeface="微软雅黑" panose="020B0503020204020204" pitchFamily="34" charset="-122"/>
              <a:ea typeface="微软雅黑" panose="020B0503020204020204" pitchFamily="34" charset="-122"/>
              <a:sym typeface="+mn-ea"/>
            </a:endParaRPr>
          </a:p>
          <a:p>
            <a:pPr marL="285750" indent="-285750">
              <a:lnSpc>
                <a:spcPct val="13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sym typeface="+mn-ea"/>
              </a:rPr>
              <a:t>细分客户标签规范</a:t>
            </a:r>
            <a:endParaRPr lang="zh-CN" altLang="en-US" sz="900" dirty="0">
              <a:latin typeface="微软雅黑" panose="020B0503020204020204" pitchFamily="34" charset="-122"/>
              <a:ea typeface="微软雅黑" panose="020B0503020204020204" pitchFamily="34" charset="-122"/>
              <a:sym typeface="+mn-ea"/>
            </a:endParaRPr>
          </a:p>
          <a:p>
            <a:pPr marL="285750" indent="-285750">
              <a:lnSpc>
                <a:spcPct val="13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sym typeface="+mn-ea"/>
              </a:rPr>
              <a:t>客户分类分群</a:t>
            </a:r>
            <a:endParaRPr lang="zh-CN" altLang="en-US" sz="9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900" dirty="0">
              <a:latin typeface="微软雅黑" panose="020B0503020204020204" pitchFamily="34" charset="-122"/>
              <a:ea typeface="微软雅黑" panose="020B0503020204020204" pitchFamily="34" charset="-122"/>
            </a:endParaRPr>
          </a:p>
        </p:txBody>
      </p:sp>
      <p:sp>
        <p:nvSpPr>
          <p:cNvPr id="51" name="文本框 50"/>
          <p:cNvSpPr txBox="1"/>
          <p:nvPr/>
        </p:nvSpPr>
        <p:spPr>
          <a:xfrm>
            <a:off x="747822" y="5355894"/>
            <a:ext cx="534802" cy="413318"/>
          </a:xfrm>
          <a:prstGeom prst="rect">
            <a:avLst/>
          </a:prstGeom>
          <a:noFill/>
        </p:spPr>
        <p:txBody>
          <a:bodyPr wrap="square" rtlCol="0">
            <a:spAutoFit/>
          </a:bodyPr>
          <a:lstStyle/>
          <a:p>
            <a:pPr algn="l"/>
            <a:r>
              <a:rPr kumimoji="1" lang="zh-CN" altLang="en-US" sz="1000" b="1" dirty="0">
                <a:solidFill>
                  <a:schemeClr val="accent1">
                    <a:lumMod val="75000"/>
                  </a:schemeClr>
                </a:solidFill>
                <a:latin typeface="微软雅黑" panose="020B0503020204020204" pitchFamily="34" charset="-122"/>
                <a:ea typeface="微软雅黑" panose="020B0503020204020204" pitchFamily="34" charset="-122"/>
              </a:rPr>
              <a:t>数据拉通</a:t>
            </a:r>
            <a:endParaRPr kumimoji="1" lang="zh-CN" altLang="en-US" sz="10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4531783" y="5460291"/>
            <a:ext cx="3498051" cy="265997"/>
          </a:xfrm>
          <a:prstGeom prst="rect">
            <a:avLst/>
          </a:prstGeom>
          <a:noFill/>
        </p:spPr>
        <p:txBody>
          <a:bodyPr wrap="square" rtlCol="0">
            <a:noAutofit/>
          </a:bodyPr>
          <a:lstStyle/>
          <a:p>
            <a:pPr algn="l"/>
            <a:r>
              <a:rPr kumimoji="1" lang="zh-CN" altLang="en-US" sz="900" dirty="0">
                <a:solidFill>
                  <a:schemeClr val="accent1">
                    <a:lumMod val="75000"/>
                  </a:schemeClr>
                </a:solidFill>
                <a:latin typeface="微软雅黑" panose="020B0503020204020204" pitchFamily="34" charset="-122"/>
                <a:ea typeface="微软雅黑" panose="020B0503020204020204" pitchFamily="34" charset="-122"/>
              </a:rPr>
              <a:t>省公司客户标签、订购记录、账单信息、投诉跟踪、客服记录</a:t>
            </a:r>
            <a:r>
              <a:rPr kumimoji="1" lang="en-US" altLang="zh-CN" sz="900" dirty="0">
                <a:solidFill>
                  <a:schemeClr val="accent1">
                    <a:lumMod val="75000"/>
                  </a:schemeClr>
                </a:solidFill>
                <a:latin typeface="微软雅黑" panose="020B0503020204020204" pitchFamily="34" charset="-122"/>
                <a:ea typeface="微软雅黑" panose="020B0503020204020204" pitchFamily="34" charset="-122"/>
              </a:rPr>
              <a:t>……</a:t>
            </a:r>
            <a:endParaRPr kumimoji="1" lang="zh-CN" altLang="en-US" sz="9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8757858" y="5460291"/>
            <a:ext cx="2413970" cy="265997"/>
          </a:xfrm>
          <a:prstGeom prst="rect">
            <a:avLst/>
          </a:prstGeom>
          <a:noFill/>
        </p:spPr>
        <p:txBody>
          <a:bodyPr wrap="square" rtlCol="0">
            <a:noAutofit/>
          </a:bodyPr>
          <a:lstStyle/>
          <a:p>
            <a:pPr algn="l"/>
            <a:r>
              <a:rPr kumimoji="1" lang="zh-CN" altLang="en-US" sz="900" dirty="0">
                <a:solidFill>
                  <a:schemeClr val="accent1">
                    <a:lumMod val="75000"/>
                  </a:schemeClr>
                </a:solidFill>
                <a:latin typeface="微软雅黑" panose="020B0503020204020204" pitchFamily="34" charset="-122"/>
                <a:ea typeface="微软雅黑" panose="020B0503020204020204" pitchFamily="34" charset="-122"/>
              </a:rPr>
              <a:t>客户关联互联网账户消费、交互信息</a:t>
            </a:r>
            <a:r>
              <a:rPr kumimoji="1" lang="en-US" altLang="zh-CN" sz="900" dirty="0">
                <a:solidFill>
                  <a:schemeClr val="accent1">
                    <a:lumMod val="75000"/>
                  </a:schemeClr>
                </a:solidFill>
                <a:latin typeface="微软雅黑" panose="020B0503020204020204" pitchFamily="34" charset="-122"/>
                <a:ea typeface="微软雅黑" panose="020B0503020204020204" pitchFamily="34" charset="-122"/>
              </a:rPr>
              <a:t>……</a:t>
            </a:r>
            <a:endParaRPr kumimoji="1" lang="zh-CN" altLang="en-US" sz="9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92" name="燕尾形 91"/>
          <p:cNvSpPr/>
          <p:nvPr>
            <p:custDataLst>
              <p:tags r:id="rId1"/>
            </p:custDataLst>
          </p:nvPr>
        </p:nvSpPr>
        <p:spPr>
          <a:xfrm>
            <a:off x="765810" y="4436110"/>
            <a:ext cx="11168380" cy="246380"/>
          </a:xfrm>
          <a:prstGeom prst="chevron">
            <a:avLst/>
          </a:prstGeom>
          <a:solidFill>
            <a:srgbClr val="40B0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b="1" dirty="0">
                <a:highlight>
                  <a:srgbClr val="000000">
                    <a:alpha val="0"/>
                  </a:srgbClr>
                </a:highlight>
              </a:rPr>
              <a:t>智慧大脑</a:t>
            </a:r>
            <a:endParaRPr lang="zh-CN" altLang="en-US" sz="1000" b="1" dirty="0">
              <a:highlight>
                <a:srgbClr val="000000">
                  <a:alpha val="0"/>
                </a:srgbClr>
              </a:highlight>
            </a:endParaRPr>
          </a:p>
        </p:txBody>
      </p:sp>
      <p:grpSp>
        <p:nvGrpSpPr>
          <p:cNvPr id="3" name="组合 2"/>
          <p:cNvGrpSpPr/>
          <p:nvPr/>
        </p:nvGrpSpPr>
        <p:grpSpPr>
          <a:xfrm>
            <a:off x="8255" y="5722620"/>
            <a:ext cx="11923395" cy="1035685"/>
            <a:chOff x="13" y="9012"/>
            <a:chExt cx="18777" cy="1631"/>
          </a:xfrm>
        </p:grpSpPr>
        <p:sp>
          <p:nvSpPr>
            <p:cNvPr id="13" name="文本框 12"/>
            <p:cNvSpPr txBox="1"/>
            <p:nvPr/>
          </p:nvSpPr>
          <p:spPr>
            <a:xfrm>
              <a:off x="13" y="9303"/>
              <a:ext cx="1098" cy="764"/>
            </a:xfrm>
            <a:prstGeom prst="rect">
              <a:avLst/>
            </a:prstGeom>
            <a:noFill/>
          </p:spPr>
          <p:txBody>
            <a:bodyPr wrap="square">
              <a:noAutofit/>
            </a:bodyPr>
            <a:lstStyle/>
            <a:p>
              <a:pPr algn="ctr"/>
              <a:r>
                <a:rPr kumimoji="1" lang="zh-CN" altLang="en-US" sz="1600" b="1" dirty="0"/>
                <a:t>提升举措</a:t>
              </a:r>
              <a:endParaRPr kumimoji="1" lang="zh-CN" altLang="en-US" sz="1600" b="1" dirty="0"/>
            </a:p>
          </p:txBody>
        </p:sp>
        <p:grpSp>
          <p:nvGrpSpPr>
            <p:cNvPr id="90" name="组合 89"/>
            <p:cNvGrpSpPr/>
            <p:nvPr/>
          </p:nvGrpSpPr>
          <p:grpSpPr>
            <a:xfrm>
              <a:off x="1282" y="9255"/>
              <a:ext cx="17509" cy="1388"/>
              <a:chOff x="1282" y="9281"/>
              <a:chExt cx="17274" cy="1388"/>
            </a:xfrm>
          </p:grpSpPr>
          <p:sp>
            <p:nvSpPr>
              <p:cNvPr id="12" name="矩形 11"/>
              <p:cNvSpPr/>
              <p:nvPr/>
            </p:nvSpPr>
            <p:spPr>
              <a:xfrm>
                <a:off x="1282" y="9281"/>
                <a:ext cx="17274" cy="138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0" name="文本框 59"/>
              <p:cNvSpPr txBox="1"/>
              <p:nvPr/>
            </p:nvSpPr>
            <p:spPr>
              <a:xfrm>
                <a:off x="3950" y="9670"/>
                <a:ext cx="2268" cy="313"/>
              </a:xfrm>
              <a:prstGeom prst="rect">
                <a:avLst/>
              </a:prstGeom>
              <a:noFill/>
            </p:spPr>
            <p:txBody>
              <a:bodyPr wrap="square" rtlCol="0">
                <a:noAutofit/>
              </a:bodyPr>
              <a:lstStyle/>
              <a:p>
                <a:pPr algn="l"/>
                <a:endParaRPr kumimoji="1" lang="zh-CN" altLang="en-US" sz="1000" dirty="0">
                  <a:solidFill>
                    <a:schemeClr val="accent1">
                      <a:lumMod val="75000"/>
                    </a:schemeClr>
                  </a:solidFill>
                  <a:latin typeface="微软雅黑" panose="020B0503020204020204" pitchFamily="34" charset="-122"/>
                  <a:ea typeface="微软雅黑" panose="020B0503020204020204" pitchFamily="34" charset="-122"/>
                </a:endParaRPr>
              </a:p>
            </p:txBody>
          </p:sp>
        </p:grpSp>
        <p:cxnSp>
          <p:nvCxnSpPr>
            <p:cNvPr id="62" name="直接连接符 61"/>
            <p:cNvCxnSpPr/>
            <p:nvPr/>
          </p:nvCxnSpPr>
          <p:spPr>
            <a:xfrm>
              <a:off x="2020" y="9012"/>
              <a:ext cx="16028" cy="0"/>
            </a:xfrm>
            <a:prstGeom prst="line">
              <a:avLst/>
            </a:prstGeom>
            <a:ln w="12700" cmpd="sng">
              <a:solidFill>
                <a:schemeClr val="bg1">
                  <a:lumMod val="75000"/>
                </a:schemeClr>
              </a:solidFill>
              <a:prstDash val="dashDot"/>
            </a:ln>
          </p:spPr>
          <p:style>
            <a:lnRef idx="2">
              <a:schemeClr val="accent1"/>
            </a:lnRef>
            <a:fillRef idx="0">
              <a:srgbClr val="FFFFFF"/>
            </a:fillRef>
            <a:effectRef idx="0">
              <a:srgbClr val="FFFFFF"/>
            </a:effectRef>
            <a:fontRef idx="minor">
              <a:schemeClr val="tx1"/>
            </a:fontRef>
          </p:style>
        </p:cxnSp>
        <p:sp>
          <p:nvSpPr>
            <p:cNvPr id="128" name="文本框 127"/>
            <p:cNvSpPr txBox="1"/>
            <p:nvPr/>
          </p:nvSpPr>
          <p:spPr>
            <a:xfrm>
              <a:off x="9933" y="9295"/>
              <a:ext cx="8844" cy="1330"/>
            </a:xfrm>
            <a:prstGeom prst="rect">
              <a:avLst/>
            </a:prstGeom>
            <a:solidFill>
              <a:srgbClr val="BFE5FF"/>
            </a:solidFill>
            <a:ln w="6350">
              <a:solidFill>
                <a:srgbClr val="F2F2F2"/>
              </a:solidFill>
            </a:ln>
          </p:spPr>
          <p:txBody>
            <a:bodyPr wrap="square" rtlCol="0" anchor="ctr" anchorCtr="0">
              <a:noAutofit/>
            </a:bodyPr>
            <a:lstStyle/>
            <a:p>
              <a:pPr algn="ctr">
                <a:lnSpc>
                  <a:spcPct val="120000"/>
                </a:lnSpc>
              </a:pPr>
              <a:r>
                <a:rPr kumimoji="1" lang="zh-CN" altLang="en-US" sz="1050" b="1" dirty="0">
                  <a:latin typeface="微软雅黑" panose="020B0503020204020204" pitchFamily="34" charset="-122"/>
                  <a:ea typeface="微软雅黑" panose="020B0503020204020204" pitchFamily="34" charset="-122"/>
                </a:rPr>
                <a:t>构建智能化客户运营体系</a:t>
              </a:r>
              <a:endParaRPr kumimoji="1" lang="en-US" altLang="zh-CN" sz="1050" b="1" dirty="0">
                <a:latin typeface="微软雅黑" panose="020B0503020204020204" pitchFamily="34" charset="-122"/>
                <a:ea typeface="微软雅黑" panose="020B0503020204020204" pitchFamily="34" charset="-122"/>
              </a:endParaRPr>
            </a:p>
            <a:p>
              <a:pPr>
                <a:lnSpc>
                  <a:spcPct val="120000"/>
                </a:lnSpc>
              </a:pPr>
              <a:r>
                <a:rPr lang="zh-CN" altLang="en-US" sz="1050" dirty="0">
                  <a:latin typeface="微软雅黑" panose="020B0503020204020204" pitchFamily="34" charset="-122"/>
                  <a:ea typeface="微软雅黑" panose="020B0503020204020204" pitchFamily="34" charset="-122"/>
                </a:rPr>
                <a:t>构建</a:t>
              </a:r>
              <a:r>
                <a:rPr lang="zh-CN" altLang="en-US" sz="1050" kern="1200" dirty="0">
                  <a:solidFill>
                    <a:schemeClr val="tx1"/>
                  </a:solidFill>
                  <a:latin typeface="微软雅黑" panose="020B0503020204020204" pitchFamily="34" charset="-122"/>
                  <a:ea typeface="微软雅黑" panose="020B0503020204020204" pitchFamily="34" charset="-122"/>
                  <a:cs typeface="+mn-cs"/>
                </a:rPr>
                <a:t>智慧大脑，通过深度数据挖掘算法和智能推荐模型，准确把握客户需求和意愿，自动生成个性化营销策略，</a:t>
              </a:r>
              <a:r>
                <a:rPr kumimoji="1" lang="zh-CN" altLang="en-US" sz="1050" dirty="0">
                  <a:latin typeface="微软雅黑" panose="020B0503020204020204" pitchFamily="34" charset="-122"/>
                  <a:ea typeface="微软雅黑" panose="020B0503020204020204" pitchFamily="34" charset="-122"/>
                </a:rPr>
                <a:t>深化存量客户进行价值经营，</a:t>
              </a:r>
              <a:r>
                <a:rPr lang="zh-CN" altLang="en-US" sz="1050" kern="1200" dirty="0">
                  <a:solidFill>
                    <a:schemeClr val="tx1"/>
                  </a:solidFill>
                  <a:latin typeface="微软雅黑" panose="020B0503020204020204" pitchFamily="34" charset="-122"/>
                  <a:ea typeface="微软雅黑" panose="020B0503020204020204" pitchFamily="34" charset="-122"/>
                  <a:cs typeface="+mn-cs"/>
                </a:rPr>
                <a:t>实现以客户生命周期为基础、数据内生驱动的自动化运营体系，赋能一级集中化运营支撑。</a:t>
              </a:r>
              <a:endParaRPr lang="zh-CN" altLang="en-US" sz="1050" dirty="0"/>
            </a:p>
          </p:txBody>
        </p:sp>
        <p:sp>
          <p:nvSpPr>
            <p:cNvPr id="129" name="文本框 128"/>
            <p:cNvSpPr txBox="1"/>
            <p:nvPr/>
          </p:nvSpPr>
          <p:spPr>
            <a:xfrm>
              <a:off x="1333" y="9295"/>
              <a:ext cx="8565" cy="1330"/>
            </a:xfrm>
            <a:prstGeom prst="rect">
              <a:avLst/>
            </a:prstGeom>
            <a:solidFill>
              <a:srgbClr val="BFE5FF"/>
            </a:solidFill>
            <a:ln w="6350">
              <a:solidFill>
                <a:srgbClr val="F2F2F2"/>
              </a:solidFill>
            </a:ln>
          </p:spPr>
          <p:txBody>
            <a:bodyPr wrap="square" rtlCol="0" anchor="ctr" anchorCtr="0">
              <a:noAutofit/>
            </a:bodyPr>
            <a:lstStyle/>
            <a:p>
              <a:pPr algn="ctr">
                <a:lnSpc>
                  <a:spcPct val="120000"/>
                </a:lnSpc>
              </a:pPr>
              <a:r>
                <a:rPr kumimoji="1" lang="zh-CN" altLang="en-US" sz="1050" b="1" dirty="0">
                  <a:latin typeface="微软雅黑" panose="020B0503020204020204" pitchFamily="34" charset="-122"/>
                  <a:ea typeface="微软雅黑" panose="020B0503020204020204" pitchFamily="34" charset="-122"/>
                </a:rPr>
                <a:t>增强客户洞察能力</a:t>
              </a:r>
              <a:endParaRPr kumimoji="1" lang="en-US" altLang="zh-CN" sz="1050" b="1" dirty="0">
                <a:latin typeface="微软雅黑" panose="020B0503020204020204" pitchFamily="34" charset="-122"/>
                <a:ea typeface="微软雅黑" panose="020B0503020204020204" pitchFamily="34" charset="-122"/>
              </a:endParaRPr>
            </a:p>
            <a:p>
              <a:pPr>
                <a:lnSpc>
                  <a:spcPct val="120000"/>
                </a:lnSpc>
              </a:pPr>
              <a:r>
                <a:rPr lang="zh-CN" altLang="en-US" sz="1050" dirty="0">
                  <a:latin typeface="微软雅黑" panose="020B0503020204020204" pitchFamily="34" charset="-122"/>
                  <a:ea typeface="微软雅黑" panose="020B0503020204020204" pitchFamily="34" charset="-122"/>
                  <a:sym typeface="+mn-ea"/>
                </a:rPr>
                <a:t>分阶段拉通集省专数据信息，构建分类分解客户标签，实现全面、准确、实时的全网客户信息的融合视图；基于客户画像分析，深化</a:t>
              </a:r>
              <a:r>
                <a:rPr lang="en-US" altLang="zh-CN" sz="1050" dirty="0">
                  <a:latin typeface="微软雅黑" panose="020B0503020204020204" pitchFamily="34" charset="-122"/>
                  <a:ea typeface="微软雅黑" panose="020B0503020204020204" pitchFamily="34" charset="-122"/>
                  <a:sym typeface="+mn-ea"/>
                </a:rPr>
                <a:t>AI</a:t>
              </a:r>
              <a:r>
                <a:rPr lang="zh-CN" altLang="en-US" sz="1050" dirty="0">
                  <a:latin typeface="微软雅黑" panose="020B0503020204020204" pitchFamily="34" charset="-122"/>
                  <a:ea typeface="微软雅黑" panose="020B0503020204020204" pitchFamily="34" charset="-122"/>
                  <a:sym typeface="+mn-ea"/>
                </a:rPr>
                <a:t>推理应用，识别目标群体，预知客户行为，预判客户风险，提炼客户需求，精准赋能存量客户运营。</a:t>
              </a:r>
              <a:endParaRPr lang="zh-CN" altLang="en-US" sz="1050" dirty="0"/>
            </a:p>
          </p:txBody>
        </p:sp>
      </p:grpSp>
      <p:sp>
        <p:nvSpPr>
          <p:cNvPr id="198" name="文本框 197"/>
          <p:cNvSpPr txBox="1"/>
          <p:nvPr/>
        </p:nvSpPr>
        <p:spPr>
          <a:xfrm>
            <a:off x="1397051" y="5460291"/>
            <a:ext cx="2406708" cy="265997"/>
          </a:xfrm>
          <a:prstGeom prst="rect">
            <a:avLst/>
          </a:prstGeom>
          <a:noFill/>
        </p:spPr>
        <p:txBody>
          <a:bodyPr wrap="square" rtlCol="0">
            <a:noAutofit/>
          </a:bodyPr>
          <a:lstStyle/>
          <a:p>
            <a:pPr algn="l"/>
            <a:r>
              <a:rPr kumimoji="1" lang="zh-CN" altLang="en-US" sz="900" dirty="0">
                <a:solidFill>
                  <a:schemeClr val="accent1">
                    <a:lumMod val="75000"/>
                  </a:schemeClr>
                </a:solidFill>
                <a:latin typeface="微软雅黑" panose="020B0503020204020204" pitchFamily="34" charset="-122"/>
                <a:ea typeface="微软雅黑" panose="020B0503020204020204" pitchFamily="34" charset="-122"/>
              </a:rPr>
              <a:t>全网客户标签、群组、家庭关系</a:t>
            </a:r>
            <a:r>
              <a:rPr kumimoji="1" lang="en-US" altLang="zh-CN" sz="900" dirty="0">
                <a:solidFill>
                  <a:schemeClr val="accent1">
                    <a:lumMod val="75000"/>
                  </a:schemeClr>
                </a:solidFill>
                <a:latin typeface="微软雅黑" panose="020B0503020204020204" pitchFamily="34" charset="-122"/>
                <a:ea typeface="微软雅黑" panose="020B0503020204020204" pitchFamily="34" charset="-122"/>
              </a:rPr>
              <a:t>……</a:t>
            </a:r>
            <a:endParaRPr kumimoji="1" lang="en-US" altLang="zh-CN" sz="900" dirty="0">
              <a:solidFill>
                <a:schemeClr val="accent1">
                  <a:lumMod val="75000"/>
                </a:schemeClr>
              </a:solidFill>
              <a:latin typeface="微软雅黑" panose="020B0503020204020204" pitchFamily="34" charset="-122"/>
              <a:ea typeface="微软雅黑" panose="020B0503020204020204" pitchFamily="34" charset="-122"/>
            </a:endParaRPr>
          </a:p>
          <a:p>
            <a:pPr algn="l"/>
            <a:endParaRPr kumimoji="1" lang="zh-CN" altLang="en-US" sz="900" dirty="0">
              <a:solidFill>
                <a:schemeClr val="accent1">
                  <a:lumMod val="75000"/>
                </a:schemeClr>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814705" y="2121535"/>
            <a:ext cx="11118850" cy="2090420"/>
            <a:chOff x="591" y="3026"/>
            <a:chExt cx="18175" cy="2873"/>
          </a:xfrm>
        </p:grpSpPr>
        <p:sp>
          <p:nvSpPr>
            <p:cNvPr id="106" name="Bullet1"/>
            <p:cNvSpPr txBox="1"/>
            <p:nvPr/>
          </p:nvSpPr>
          <p:spPr bwMode="auto">
            <a:xfrm>
              <a:off x="591" y="3026"/>
              <a:ext cx="4365" cy="2873"/>
            </a:xfrm>
            <a:prstGeom prst="rect">
              <a:avLst/>
            </a:prstGeom>
            <a:solidFill>
              <a:schemeClr val="bg1"/>
            </a:solidFill>
            <a:ln>
              <a:noFill/>
            </a:ln>
          </p:spPr>
          <p:txBody>
            <a:bodyPr wrap="square" lIns="90000" tIns="46800" rIns="90000" bIns="46800" anchor="ctr"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endParaRPr lang="en-US" altLang="zh-CN" b="1" dirty="0"/>
            </a:p>
          </p:txBody>
        </p:sp>
        <p:sp>
          <p:nvSpPr>
            <p:cNvPr id="15" name="文本框 14"/>
            <p:cNvSpPr txBox="1"/>
            <p:nvPr/>
          </p:nvSpPr>
          <p:spPr>
            <a:xfrm>
              <a:off x="658" y="5139"/>
              <a:ext cx="4199" cy="760"/>
            </a:xfrm>
            <a:prstGeom prst="rect">
              <a:avLst/>
            </a:prstGeom>
            <a:solidFill>
              <a:srgbClr val="E0F0FC"/>
            </a:solidFill>
          </p:spPr>
          <p:txBody>
            <a:bodyPr wrap="square" rtlCol="0">
              <a:noAutofit/>
            </a:bodyPr>
            <a:lstStyle/>
            <a:p>
              <a:pPr indent="0" fontAlgn="auto">
                <a:lnSpc>
                  <a:spcPct val="120000"/>
                </a:lnSpc>
              </a:pPr>
              <a:r>
                <a:rPr lang="zh-CN" altLang="en-US" sz="900" dirty="0">
                  <a:latin typeface="微软雅黑" panose="020B0503020204020204" pitchFamily="34" charset="-122"/>
                  <a:ea typeface="微软雅黑" panose="020B0503020204020204" pitchFamily="34" charset="-122"/>
                </a:rPr>
                <a:t>汇聚全生命周期客户数据</a:t>
              </a:r>
              <a:r>
                <a:rPr lang="zh-CN" altLang="en-US" sz="900" dirty="0">
                  <a:latin typeface="微软雅黑" panose="020B0503020204020204" pitchFamily="34" charset="-122"/>
                  <a:ea typeface="微软雅黑" panose="020B0503020204020204" pitchFamily="34" charset="-122"/>
                  <a:sym typeface="+mn-ea"/>
                </a:rPr>
                <a:t>，深度精细化洞察客户信息，</a:t>
              </a:r>
              <a:r>
                <a:rPr lang="zh-CN" altLang="en-US" sz="900" b="1" dirty="0">
                  <a:solidFill>
                    <a:schemeClr val="accent5"/>
                  </a:solidFill>
                  <a:latin typeface="微软雅黑" panose="020B0503020204020204" pitchFamily="34" charset="-122"/>
                  <a:ea typeface="微软雅黑" panose="020B0503020204020204" pitchFamily="34" charset="-122"/>
                  <a:sym typeface="+mn-ea"/>
                </a:rPr>
                <a:t>实现数据标签分析和细分客户融合画像</a:t>
              </a:r>
              <a:r>
                <a:rPr lang="zh-CN" altLang="en-US" sz="900" dirty="0">
                  <a:latin typeface="微软雅黑" panose="020B0503020204020204" pitchFamily="34" charset="-122"/>
                  <a:ea typeface="微软雅黑" panose="020B0503020204020204" pitchFamily="34" charset="-122"/>
                  <a:sym typeface="+mn-ea"/>
                </a:rPr>
                <a:t>。</a:t>
              </a:r>
              <a:endParaRPr lang="zh-CN" altLang="en-US" sz="900" dirty="0">
                <a:latin typeface="微软雅黑" panose="020B0503020204020204" pitchFamily="34" charset="-122"/>
                <a:ea typeface="微软雅黑" panose="020B0503020204020204" pitchFamily="34" charset="-122"/>
                <a:sym typeface="+mn-ea"/>
              </a:endParaRPr>
            </a:p>
          </p:txBody>
        </p:sp>
        <p:sp>
          <p:nvSpPr>
            <p:cNvPr id="16" name="文本框 15"/>
            <p:cNvSpPr txBox="1"/>
            <p:nvPr/>
          </p:nvSpPr>
          <p:spPr>
            <a:xfrm>
              <a:off x="625" y="4278"/>
              <a:ext cx="1944" cy="633"/>
            </a:xfrm>
            <a:prstGeom prst="rect">
              <a:avLst/>
            </a:prstGeom>
            <a:noFill/>
          </p:spPr>
          <p:txBody>
            <a:bodyPr wrap="square" lIns="36000" tIns="45720" rIns="36000" bIns="45720" rtlCol="0">
              <a:spAutoFit/>
            </a:bodyPr>
            <a:lstStyle>
              <a:defPPr>
                <a:defRPr lang="zh-CN"/>
              </a:defPPr>
              <a:lvl1pPr>
                <a:defRPr kumimoji="1" sz="700" i="1">
                  <a:solidFill>
                    <a:schemeClr val="accent1">
                      <a:lumMod val="60000"/>
                      <a:lumOff val="40000"/>
                    </a:schemeClr>
                  </a:solidFill>
                  <a:latin typeface="微软雅黑" panose="020B0503020204020204" pitchFamily="34" charset="-122"/>
                  <a:ea typeface="微软雅黑" panose="020B0503020204020204" pitchFamily="34" charset="-122"/>
                </a:defRPr>
              </a:lvl1pPr>
            </a:lstStyle>
            <a:p>
              <a:r>
                <a:rPr lang="zh-CN" altLang="en-US" sz="800" dirty="0"/>
                <a:t>客群细分：</a:t>
              </a:r>
              <a:r>
                <a:rPr lang="zh-CN" altLang="en-US" sz="800" dirty="0">
                  <a:solidFill>
                    <a:schemeClr val="tx1"/>
                  </a:solidFill>
                </a:rPr>
                <a:t>短期旅行客群</a:t>
              </a:r>
              <a:endParaRPr lang="en-US" altLang="zh-CN" sz="800" dirty="0">
                <a:solidFill>
                  <a:schemeClr val="tx1"/>
                </a:solidFill>
              </a:endParaRPr>
            </a:p>
            <a:p>
              <a:r>
                <a:rPr lang="zh-CN" altLang="en-US" sz="800" dirty="0"/>
                <a:t>出行期限：</a:t>
              </a:r>
              <a:r>
                <a:rPr lang="en-US" altLang="zh-CN" sz="800" dirty="0">
                  <a:solidFill>
                    <a:schemeClr val="tx1"/>
                  </a:solidFill>
                </a:rPr>
                <a:t>1</a:t>
              </a:r>
              <a:r>
                <a:rPr lang="zh-CN" altLang="en-US" sz="800" dirty="0">
                  <a:solidFill>
                    <a:schemeClr val="tx1"/>
                  </a:solidFill>
                </a:rPr>
                <a:t>个月以内</a:t>
              </a:r>
              <a:endParaRPr lang="en-US" altLang="zh-CN" sz="800" dirty="0">
                <a:solidFill>
                  <a:schemeClr val="tx1"/>
                </a:solidFill>
              </a:endParaRPr>
            </a:p>
            <a:p>
              <a:r>
                <a:rPr lang="zh-CN" altLang="en-US" sz="800" dirty="0"/>
                <a:t>出行目的：</a:t>
              </a:r>
              <a:r>
                <a:rPr lang="zh-CN" altLang="en-US" sz="800" dirty="0">
                  <a:solidFill>
                    <a:schemeClr val="tx1"/>
                  </a:solidFill>
                </a:rPr>
                <a:t>旅行观光</a:t>
              </a:r>
              <a:endParaRPr lang="en-US" altLang="zh-CN" sz="800" dirty="0">
                <a:solidFill>
                  <a:schemeClr val="tx1"/>
                </a:solidFill>
                <a:sym typeface="+mn-ea"/>
              </a:endParaRPr>
            </a:p>
          </p:txBody>
        </p:sp>
        <p:sp>
          <p:nvSpPr>
            <p:cNvPr id="18" name="文本框 17"/>
            <p:cNvSpPr txBox="1"/>
            <p:nvPr/>
          </p:nvSpPr>
          <p:spPr>
            <a:xfrm>
              <a:off x="2674" y="4278"/>
              <a:ext cx="2183" cy="633"/>
            </a:xfrm>
            <a:prstGeom prst="rect">
              <a:avLst/>
            </a:prstGeom>
            <a:noFill/>
          </p:spPr>
          <p:txBody>
            <a:bodyPr wrap="square" lIns="36000" tIns="45720" rIns="36000" bIns="45720" rtlCol="0">
              <a:spAutoFit/>
            </a:bodyPr>
            <a:lstStyle>
              <a:defPPr>
                <a:defRPr lang="zh-CN"/>
              </a:defPPr>
              <a:lvl1pPr>
                <a:defRPr kumimoji="1" sz="700" i="1">
                  <a:solidFill>
                    <a:schemeClr val="accent1">
                      <a:lumMod val="60000"/>
                      <a:lumOff val="40000"/>
                    </a:schemeClr>
                  </a:solidFill>
                  <a:latin typeface="微软雅黑" panose="020B0503020204020204" pitchFamily="34" charset="-122"/>
                  <a:ea typeface="微软雅黑" panose="020B0503020204020204" pitchFamily="34" charset="-122"/>
                </a:defRPr>
              </a:lvl1pPr>
            </a:lstStyle>
            <a:p>
              <a:r>
                <a:rPr lang="zh-CN" altLang="en-US" sz="800" dirty="0"/>
                <a:t>年龄分布：</a:t>
              </a:r>
              <a:r>
                <a:rPr lang="en-US" altLang="zh-CN" sz="800" dirty="0">
                  <a:solidFill>
                    <a:schemeClr val="tx1"/>
                  </a:solidFill>
                </a:rPr>
                <a:t>80%</a:t>
              </a:r>
              <a:r>
                <a:rPr lang="zh-CN" altLang="en-US" sz="800" dirty="0">
                  <a:solidFill>
                    <a:schemeClr val="tx1"/>
                  </a:solidFill>
                </a:rPr>
                <a:t>低于</a:t>
              </a:r>
              <a:r>
                <a:rPr lang="en-US" altLang="zh-CN" sz="800" dirty="0">
                  <a:solidFill>
                    <a:schemeClr val="tx1"/>
                  </a:solidFill>
                </a:rPr>
                <a:t>35</a:t>
              </a:r>
              <a:r>
                <a:rPr lang="zh-CN" altLang="en-US" sz="800" dirty="0">
                  <a:solidFill>
                    <a:schemeClr val="tx1"/>
                  </a:solidFill>
                </a:rPr>
                <a:t>岁</a:t>
              </a:r>
              <a:endParaRPr lang="zh-CN" altLang="en-US" sz="800" dirty="0">
                <a:solidFill>
                  <a:schemeClr val="tx1"/>
                </a:solidFill>
              </a:endParaRPr>
            </a:p>
            <a:p>
              <a:r>
                <a:rPr lang="zh-CN" altLang="en-US" sz="800" dirty="0"/>
                <a:t>兴趣爱好：</a:t>
              </a:r>
              <a:r>
                <a:rPr lang="zh-CN" altLang="en-US" sz="800" dirty="0">
                  <a:solidFill>
                    <a:schemeClr val="tx1"/>
                  </a:solidFill>
                </a:rPr>
                <a:t>分享</a:t>
              </a:r>
              <a:r>
                <a:rPr lang="en-US" altLang="zh-CN" sz="800" dirty="0">
                  <a:solidFill>
                    <a:schemeClr val="tx1"/>
                  </a:solidFill>
                </a:rPr>
                <a:t>/</a:t>
              </a:r>
              <a:r>
                <a:rPr lang="zh-CN" altLang="en-US" sz="800" dirty="0">
                  <a:solidFill>
                    <a:schemeClr val="tx1"/>
                  </a:solidFill>
                </a:rPr>
                <a:t>社交</a:t>
              </a:r>
              <a:r>
                <a:rPr lang="en-US" altLang="zh-CN" sz="800" dirty="0">
                  <a:solidFill>
                    <a:schemeClr val="tx1"/>
                  </a:solidFill>
                </a:rPr>
                <a:t>/</a:t>
              </a:r>
              <a:r>
                <a:rPr lang="zh-CN" altLang="en-US" sz="800" dirty="0">
                  <a:solidFill>
                    <a:schemeClr val="tx1"/>
                  </a:solidFill>
                </a:rPr>
                <a:t>拍照</a:t>
              </a:r>
              <a:endParaRPr lang="zh-CN" altLang="en-US" sz="800" dirty="0">
                <a:solidFill>
                  <a:schemeClr val="tx1"/>
                </a:solidFill>
              </a:endParaRPr>
            </a:p>
            <a:p>
              <a:r>
                <a:rPr lang="zh-CN" altLang="en-US" sz="800" dirty="0"/>
                <a:t>消费意愿：</a:t>
              </a:r>
              <a:r>
                <a:rPr lang="zh-CN" altLang="en-US" sz="800" dirty="0">
                  <a:solidFill>
                    <a:schemeClr val="tx1"/>
                  </a:solidFill>
                </a:rPr>
                <a:t>大于</a:t>
              </a:r>
              <a:r>
                <a:rPr lang="en-US" altLang="zh-CN" sz="800" dirty="0">
                  <a:solidFill>
                    <a:schemeClr val="tx1"/>
                  </a:solidFill>
                </a:rPr>
                <a:t>200</a:t>
              </a:r>
              <a:r>
                <a:rPr lang="zh-CN" altLang="en-US" sz="800" dirty="0">
                  <a:solidFill>
                    <a:schemeClr val="tx1"/>
                  </a:solidFill>
                </a:rPr>
                <a:t>元</a:t>
              </a:r>
              <a:r>
                <a:rPr lang="en-US" altLang="zh-CN" sz="800" dirty="0">
                  <a:solidFill>
                    <a:schemeClr val="tx1"/>
                  </a:solidFill>
                </a:rPr>
                <a:t>/</a:t>
              </a:r>
              <a:r>
                <a:rPr lang="zh-CN" altLang="en-US" sz="800" dirty="0">
                  <a:solidFill>
                    <a:schemeClr val="tx1"/>
                  </a:solidFill>
                </a:rPr>
                <a:t>月</a:t>
              </a:r>
              <a:endParaRPr lang="en-US" altLang="zh-CN" sz="800" dirty="0">
                <a:solidFill>
                  <a:schemeClr val="tx1"/>
                </a:solidFill>
              </a:endParaRPr>
            </a:p>
          </p:txBody>
        </p:sp>
        <p:sp>
          <p:nvSpPr>
            <p:cNvPr id="108" name="Number1"/>
            <p:cNvSpPr/>
            <p:nvPr/>
          </p:nvSpPr>
          <p:spPr>
            <a:xfrm rot="16200000">
              <a:off x="1328" y="2288"/>
              <a:ext cx="376" cy="1851"/>
            </a:xfrm>
            <a:prstGeom prst="round2SameRect">
              <a:avLst>
                <a:gd name="adj1" fmla="val 0"/>
                <a:gd name="adj2" fmla="val 30000"/>
              </a:avLst>
            </a:prstGeom>
            <a:solidFill>
              <a:srgbClr val="36A4F5"/>
            </a:soli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endParaRPr lang="en-US" altLang="zh-CN" sz="1200" b="1" dirty="0">
                <a:solidFill>
                  <a:srgbClr val="FFFFFF"/>
                </a:solidFill>
                <a:cs typeface="+mn-ea"/>
                <a:sym typeface="Arial" panose="020B0604020202020204" pitchFamily="34" charset="0"/>
              </a:endParaRPr>
            </a:p>
          </p:txBody>
        </p:sp>
        <p:sp>
          <p:nvSpPr>
            <p:cNvPr id="109" name="cube_158764"/>
            <p:cNvSpPr>
              <a:spLocks noChangeAspect="1"/>
            </p:cNvSpPr>
            <p:nvPr/>
          </p:nvSpPr>
          <p:spPr>
            <a:xfrm>
              <a:off x="2101" y="3087"/>
              <a:ext cx="227" cy="258"/>
            </a:xfrm>
            <a:custGeom>
              <a:avLst/>
              <a:gdLst>
                <a:gd name="T0" fmla="*/ 5729 w 5731"/>
                <a:gd name="T1" fmla="*/ 1760 h 6535"/>
                <a:gd name="T2" fmla="*/ 5727 w 5731"/>
                <a:gd name="T3" fmla="*/ 1736 h 6535"/>
                <a:gd name="T4" fmla="*/ 5721 w 5731"/>
                <a:gd name="T5" fmla="*/ 1715 h 6535"/>
                <a:gd name="T6" fmla="*/ 5713 w 5731"/>
                <a:gd name="T7" fmla="*/ 1692 h 6535"/>
                <a:gd name="T8" fmla="*/ 5692 w 5731"/>
                <a:gd name="T9" fmla="*/ 1652 h 6535"/>
                <a:gd name="T10" fmla="*/ 5677 w 5731"/>
                <a:gd name="T11" fmla="*/ 1632 h 6535"/>
                <a:gd name="T12" fmla="*/ 5664 w 5731"/>
                <a:gd name="T13" fmla="*/ 1618 h 6535"/>
                <a:gd name="T14" fmla="*/ 5645 w 5731"/>
                <a:gd name="T15" fmla="*/ 1600 h 6535"/>
                <a:gd name="T16" fmla="*/ 5629 w 5731"/>
                <a:gd name="T17" fmla="*/ 1588 h 6535"/>
                <a:gd name="T18" fmla="*/ 5621 w 5731"/>
                <a:gd name="T19" fmla="*/ 1583 h 6535"/>
                <a:gd name="T20" fmla="*/ 2791 w 5731"/>
                <a:gd name="T21" fmla="*/ 40 h 6535"/>
                <a:gd name="T22" fmla="*/ 153 w 5731"/>
                <a:gd name="T23" fmla="*/ 1520 h 6535"/>
                <a:gd name="T24" fmla="*/ 136 w 5731"/>
                <a:gd name="T25" fmla="*/ 1532 h 6535"/>
                <a:gd name="T26" fmla="*/ 117 w 5731"/>
                <a:gd name="T27" fmla="*/ 1547 h 6535"/>
                <a:gd name="T28" fmla="*/ 101 w 5731"/>
                <a:gd name="T29" fmla="*/ 1563 h 6535"/>
                <a:gd name="T30" fmla="*/ 85 w 5731"/>
                <a:gd name="T31" fmla="*/ 1582 h 6535"/>
                <a:gd name="T32" fmla="*/ 72 w 5731"/>
                <a:gd name="T33" fmla="*/ 1603 h 6535"/>
                <a:gd name="T34" fmla="*/ 71 w 5731"/>
                <a:gd name="T35" fmla="*/ 1604 h 6535"/>
                <a:gd name="T36" fmla="*/ 61 w 5731"/>
                <a:gd name="T37" fmla="*/ 1623 h 6535"/>
                <a:gd name="T38" fmla="*/ 53 w 5731"/>
                <a:gd name="T39" fmla="*/ 1638 h 6535"/>
                <a:gd name="T40" fmla="*/ 48 w 5731"/>
                <a:gd name="T41" fmla="*/ 1652 h 6535"/>
                <a:gd name="T42" fmla="*/ 44 w 5731"/>
                <a:gd name="T43" fmla="*/ 1667 h 6535"/>
                <a:gd name="T44" fmla="*/ 40 w 5731"/>
                <a:gd name="T45" fmla="*/ 1683 h 6535"/>
                <a:gd name="T46" fmla="*/ 39 w 5731"/>
                <a:gd name="T47" fmla="*/ 1698 h 6535"/>
                <a:gd name="T48" fmla="*/ 39 w 5731"/>
                <a:gd name="T49" fmla="*/ 1714 h 6535"/>
                <a:gd name="T50" fmla="*/ 39 w 5731"/>
                <a:gd name="T51" fmla="*/ 1716 h 6535"/>
                <a:gd name="T52" fmla="*/ 39 w 5731"/>
                <a:gd name="T53" fmla="*/ 1719 h 6535"/>
                <a:gd name="T54" fmla="*/ 112 w 5731"/>
                <a:gd name="T55" fmla="*/ 4936 h 6535"/>
                <a:gd name="T56" fmla="*/ 2843 w 5731"/>
                <a:gd name="T57" fmla="*/ 6535 h 6535"/>
                <a:gd name="T58" fmla="*/ 5591 w 5731"/>
                <a:gd name="T59" fmla="*/ 5027 h 6535"/>
                <a:gd name="T60" fmla="*/ 5731 w 5731"/>
                <a:gd name="T61" fmla="*/ 1784 h 6535"/>
                <a:gd name="T62" fmla="*/ 5731 w 5731"/>
                <a:gd name="T63" fmla="*/ 1775 h 6535"/>
                <a:gd name="T64" fmla="*/ 5045 w 5731"/>
                <a:gd name="T65" fmla="*/ 1776 h 6535"/>
                <a:gd name="T66" fmla="*/ 725 w 5731"/>
                <a:gd name="T67" fmla="*/ 1724 h 6535"/>
                <a:gd name="T68" fmla="*/ 492 w 5731"/>
                <a:gd name="T69" fmla="*/ 2118 h 6535"/>
                <a:gd name="T70" fmla="*/ 2639 w 5731"/>
                <a:gd name="T71" fmla="*/ 5918 h 6535"/>
                <a:gd name="T72" fmla="*/ 492 w 5731"/>
                <a:gd name="T73" fmla="*/ 2118 h 6535"/>
                <a:gd name="T74" fmla="*/ 3095 w 5731"/>
                <a:gd name="T75" fmla="*/ 3396 h 6535"/>
                <a:gd name="T76" fmla="*/ 5252 w 5731"/>
                <a:gd name="T77" fmla="*/ 4694 h 6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31" h="6535">
                  <a:moveTo>
                    <a:pt x="5731" y="1775"/>
                  </a:moveTo>
                  <a:cubicBezTo>
                    <a:pt x="5731" y="1770"/>
                    <a:pt x="5731" y="1766"/>
                    <a:pt x="5729" y="1760"/>
                  </a:cubicBezTo>
                  <a:lnTo>
                    <a:pt x="5729" y="1755"/>
                  </a:lnTo>
                  <a:cubicBezTo>
                    <a:pt x="5728" y="1748"/>
                    <a:pt x="5728" y="1743"/>
                    <a:pt x="5727" y="1736"/>
                  </a:cubicBezTo>
                  <a:cubicBezTo>
                    <a:pt x="5727" y="1734"/>
                    <a:pt x="5725" y="1732"/>
                    <a:pt x="5725" y="1730"/>
                  </a:cubicBezTo>
                  <a:cubicBezTo>
                    <a:pt x="5724" y="1724"/>
                    <a:pt x="5723" y="1720"/>
                    <a:pt x="5721" y="1715"/>
                  </a:cubicBezTo>
                  <a:cubicBezTo>
                    <a:pt x="5721" y="1714"/>
                    <a:pt x="5720" y="1712"/>
                    <a:pt x="5720" y="1711"/>
                  </a:cubicBezTo>
                  <a:cubicBezTo>
                    <a:pt x="5717" y="1704"/>
                    <a:pt x="5716" y="1699"/>
                    <a:pt x="5713" y="1692"/>
                  </a:cubicBezTo>
                  <a:cubicBezTo>
                    <a:pt x="5713" y="1691"/>
                    <a:pt x="5712" y="1690"/>
                    <a:pt x="5712" y="1688"/>
                  </a:cubicBezTo>
                  <a:cubicBezTo>
                    <a:pt x="5707" y="1675"/>
                    <a:pt x="5700" y="1663"/>
                    <a:pt x="5692" y="1652"/>
                  </a:cubicBezTo>
                  <a:cubicBezTo>
                    <a:pt x="5691" y="1651"/>
                    <a:pt x="5691" y="1650"/>
                    <a:pt x="5689" y="1648"/>
                  </a:cubicBezTo>
                  <a:lnTo>
                    <a:pt x="5677" y="1632"/>
                  </a:lnTo>
                  <a:cubicBezTo>
                    <a:pt x="5676" y="1631"/>
                    <a:pt x="5675" y="1630"/>
                    <a:pt x="5675" y="1628"/>
                  </a:cubicBezTo>
                  <a:cubicBezTo>
                    <a:pt x="5672" y="1624"/>
                    <a:pt x="5668" y="1622"/>
                    <a:pt x="5664" y="1618"/>
                  </a:cubicBezTo>
                  <a:cubicBezTo>
                    <a:pt x="5663" y="1616"/>
                    <a:pt x="5660" y="1615"/>
                    <a:pt x="5659" y="1612"/>
                  </a:cubicBezTo>
                  <a:cubicBezTo>
                    <a:pt x="5655" y="1608"/>
                    <a:pt x="5649" y="1604"/>
                    <a:pt x="5645" y="1600"/>
                  </a:cubicBezTo>
                  <a:cubicBezTo>
                    <a:pt x="5644" y="1599"/>
                    <a:pt x="5643" y="1598"/>
                    <a:pt x="5640" y="1596"/>
                  </a:cubicBezTo>
                  <a:cubicBezTo>
                    <a:pt x="5636" y="1594"/>
                    <a:pt x="5633" y="1591"/>
                    <a:pt x="5629" y="1588"/>
                  </a:cubicBezTo>
                  <a:cubicBezTo>
                    <a:pt x="5628" y="1587"/>
                    <a:pt x="5625" y="1586"/>
                    <a:pt x="5624" y="1584"/>
                  </a:cubicBezTo>
                  <a:cubicBezTo>
                    <a:pt x="5623" y="1584"/>
                    <a:pt x="5623" y="1583"/>
                    <a:pt x="5621" y="1583"/>
                  </a:cubicBezTo>
                  <a:lnTo>
                    <a:pt x="3020" y="43"/>
                  </a:lnTo>
                  <a:cubicBezTo>
                    <a:pt x="2949" y="2"/>
                    <a:pt x="2863" y="0"/>
                    <a:pt x="2791" y="40"/>
                  </a:cubicBezTo>
                  <a:lnTo>
                    <a:pt x="156" y="1519"/>
                  </a:lnTo>
                  <a:cubicBezTo>
                    <a:pt x="155" y="1519"/>
                    <a:pt x="155" y="1520"/>
                    <a:pt x="153" y="1520"/>
                  </a:cubicBezTo>
                  <a:cubicBezTo>
                    <a:pt x="152" y="1522"/>
                    <a:pt x="149" y="1523"/>
                    <a:pt x="148" y="1524"/>
                  </a:cubicBezTo>
                  <a:lnTo>
                    <a:pt x="136" y="1532"/>
                  </a:lnTo>
                  <a:cubicBezTo>
                    <a:pt x="135" y="1534"/>
                    <a:pt x="132" y="1535"/>
                    <a:pt x="131" y="1536"/>
                  </a:cubicBezTo>
                  <a:cubicBezTo>
                    <a:pt x="125" y="1540"/>
                    <a:pt x="121" y="1544"/>
                    <a:pt x="117" y="1547"/>
                  </a:cubicBezTo>
                  <a:cubicBezTo>
                    <a:pt x="116" y="1548"/>
                    <a:pt x="113" y="1550"/>
                    <a:pt x="112" y="1552"/>
                  </a:cubicBezTo>
                  <a:cubicBezTo>
                    <a:pt x="108" y="1555"/>
                    <a:pt x="105" y="1559"/>
                    <a:pt x="101" y="1563"/>
                  </a:cubicBezTo>
                  <a:lnTo>
                    <a:pt x="97" y="1567"/>
                  </a:lnTo>
                  <a:cubicBezTo>
                    <a:pt x="93" y="1572"/>
                    <a:pt x="89" y="1576"/>
                    <a:pt x="85" y="1582"/>
                  </a:cubicBezTo>
                  <a:cubicBezTo>
                    <a:pt x="84" y="1583"/>
                    <a:pt x="83" y="1584"/>
                    <a:pt x="83" y="1586"/>
                  </a:cubicBezTo>
                  <a:cubicBezTo>
                    <a:pt x="79" y="1591"/>
                    <a:pt x="75" y="1596"/>
                    <a:pt x="72" y="1603"/>
                  </a:cubicBezTo>
                  <a:lnTo>
                    <a:pt x="72" y="1603"/>
                  </a:lnTo>
                  <a:cubicBezTo>
                    <a:pt x="72" y="1603"/>
                    <a:pt x="72" y="1604"/>
                    <a:pt x="71" y="1604"/>
                  </a:cubicBezTo>
                  <a:cubicBezTo>
                    <a:pt x="68" y="1608"/>
                    <a:pt x="67" y="1612"/>
                    <a:pt x="64" y="1616"/>
                  </a:cubicBezTo>
                  <a:cubicBezTo>
                    <a:pt x="63" y="1619"/>
                    <a:pt x="63" y="1620"/>
                    <a:pt x="61" y="1623"/>
                  </a:cubicBezTo>
                  <a:cubicBezTo>
                    <a:pt x="60" y="1626"/>
                    <a:pt x="59" y="1628"/>
                    <a:pt x="57" y="1630"/>
                  </a:cubicBezTo>
                  <a:lnTo>
                    <a:pt x="53" y="1638"/>
                  </a:lnTo>
                  <a:cubicBezTo>
                    <a:pt x="52" y="1639"/>
                    <a:pt x="52" y="1642"/>
                    <a:pt x="51" y="1643"/>
                  </a:cubicBezTo>
                  <a:cubicBezTo>
                    <a:pt x="49" y="1646"/>
                    <a:pt x="48" y="1650"/>
                    <a:pt x="48" y="1652"/>
                  </a:cubicBezTo>
                  <a:cubicBezTo>
                    <a:pt x="48" y="1654"/>
                    <a:pt x="47" y="1655"/>
                    <a:pt x="47" y="1656"/>
                  </a:cubicBezTo>
                  <a:cubicBezTo>
                    <a:pt x="45" y="1660"/>
                    <a:pt x="45" y="1663"/>
                    <a:pt x="44" y="1667"/>
                  </a:cubicBezTo>
                  <a:cubicBezTo>
                    <a:pt x="44" y="1668"/>
                    <a:pt x="44" y="1670"/>
                    <a:pt x="43" y="1671"/>
                  </a:cubicBezTo>
                  <a:cubicBezTo>
                    <a:pt x="41" y="1675"/>
                    <a:pt x="41" y="1679"/>
                    <a:pt x="40" y="1683"/>
                  </a:cubicBezTo>
                  <a:lnTo>
                    <a:pt x="40" y="1686"/>
                  </a:lnTo>
                  <a:cubicBezTo>
                    <a:pt x="40" y="1690"/>
                    <a:pt x="39" y="1694"/>
                    <a:pt x="39" y="1698"/>
                  </a:cubicBezTo>
                  <a:lnTo>
                    <a:pt x="39" y="1700"/>
                  </a:lnTo>
                  <a:lnTo>
                    <a:pt x="39" y="1714"/>
                  </a:lnTo>
                  <a:lnTo>
                    <a:pt x="39" y="1715"/>
                  </a:lnTo>
                  <a:lnTo>
                    <a:pt x="39" y="1716"/>
                  </a:lnTo>
                  <a:lnTo>
                    <a:pt x="39" y="1718"/>
                  </a:lnTo>
                  <a:lnTo>
                    <a:pt x="39" y="1719"/>
                  </a:lnTo>
                  <a:lnTo>
                    <a:pt x="1" y="4738"/>
                  </a:lnTo>
                  <a:cubicBezTo>
                    <a:pt x="0" y="4819"/>
                    <a:pt x="43" y="4895"/>
                    <a:pt x="112" y="4936"/>
                  </a:cubicBezTo>
                  <a:lnTo>
                    <a:pt x="2725" y="6503"/>
                  </a:lnTo>
                  <a:cubicBezTo>
                    <a:pt x="2761" y="6524"/>
                    <a:pt x="2803" y="6535"/>
                    <a:pt x="2843" y="6535"/>
                  </a:cubicBezTo>
                  <a:cubicBezTo>
                    <a:pt x="2881" y="6535"/>
                    <a:pt x="2920" y="6526"/>
                    <a:pt x="2955" y="6506"/>
                  </a:cubicBezTo>
                  <a:lnTo>
                    <a:pt x="5591" y="5027"/>
                  </a:lnTo>
                  <a:cubicBezTo>
                    <a:pt x="5663" y="4987"/>
                    <a:pt x="5707" y="4911"/>
                    <a:pt x="5708" y="4830"/>
                  </a:cubicBezTo>
                  <a:lnTo>
                    <a:pt x="5731" y="1784"/>
                  </a:lnTo>
                  <a:lnTo>
                    <a:pt x="5731" y="1782"/>
                  </a:lnTo>
                  <a:lnTo>
                    <a:pt x="5731" y="1775"/>
                  </a:lnTo>
                  <a:close/>
                  <a:moveTo>
                    <a:pt x="2900" y="503"/>
                  </a:moveTo>
                  <a:lnTo>
                    <a:pt x="5045" y="1776"/>
                  </a:lnTo>
                  <a:lnTo>
                    <a:pt x="2871" y="2998"/>
                  </a:lnTo>
                  <a:lnTo>
                    <a:pt x="725" y="1724"/>
                  </a:lnTo>
                  <a:lnTo>
                    <a:pt x="2900" y="503"/>
                  </a:lnTo>
                  <a:close/>
                  <a:moveTo>
                    <a:pt x="492" y="2118"/>
                  </a:moveTo>
                  <a:lnTo>
                    <a:pt x="2639" y="3392"/>
                  </a:lnTo>
                  <a:lnTo>
                    <a:pt x="2639" y="5918"/>
                  </a:lnTo>
                  <a:lnTo>
                    <a:pt x="461" y="4612"/>
                  </a:lnTo>
                  <a:lnTo>
                    <a:pt x="492" y="2118"/>
                  </a:lnTo>
                  <a:close/>
                  <a:moveTo>
                    <a:pt x="3095" y="5904"/>
                  </a:moveTo>
                  <a:lnTo>
                    <a:pt x="3095" y="3396"/>
                  </a:lnTo>
                  <a:lnTo>
                    <a:pt x="5271" y="2175"/>
                  </a:lnTo>
                  <a:lnTo>
                    <a:pt x="5252" y="4694"/>
                  </a:lnTo>
                  <a:lnTo>
                    <a:pt x="3095" y="590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文本框 110"/>
            <p:cNvSpPr txBox="1"/>
            <p:nvPr/>
          </p:nvSpPr>
          <p:spPr>
            <a:xfrm>
              <a:off x="634" y="3090"/>
              <a:ext cx="1468" cy="211"/>
            </a:xfrm>
            <a:prstGeom prst="rect">
              <a:avLst/>
            </a:prstGeom>
            <a:noFill/>
          </p:spPr>
          <p:txBody>
            <a:bodyPr wrap="square" lIns="0" tIns="0" rIns="0" bIns="0" rtlCol="0">
              <a:spAutoFit/>
            </a:bodyPr>
            <a:lstStyle/>
            <a:p>
              <a:pPr algn="l"/>
              <a:r>
                <a:rPr kumimoji="1" lang="zh-CN" altLang="en-US" sz="1000" b="1" dirty="0">
                  <a:solidFill>
                    <a:schemeClr val="bg1"/>
                  </a:solidFill>
                  <a:latin typeface="微软雅黑" panose="020B0503020204020204" pitchFamily="34" charset="-122"/>
                  <a:ea typeface="微软雅黑" panose="020B0503020204020204" pitchFamily="34" charset="-122"/>
                </a:rPr>
                <a:t>市场策划人员</a:t>
              </a:r>
              <a:endParaRPr kumimoji="1"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134" name="箭头: 右 16"/>
            <p:cNvSpPr/>
            <p:nvPr/>
          </p:nvSpPr>
          <p:spPr>
            <a:xfrm>
              <a:off x="683" y="3320"/>
              <a:ext cx="4290" cy="946"/>
            </a:xfrm>
            <a:prstGeom prst="rightArrow">
              <a:avLst/>
            </a:prstGeom>
            <a:gradFill flip="none" rotWithShape="1">
              <a:gsLst>
                <a:gs pos="0">
                  <a:schemeClr val="accent3">
                    <a:lumMod val="40000"/>
                    <a:lumOff val="60000"/>
                    <a:alpha val="80000"/>
                  </a:schemeClr>
                </a:gs>
                <a:gs pos="30000">
                  <a:srgbClr val="ECF0F4"/>
                </a:gs>
                <a:gs pos="100000">
                  <a:srgbClr val="A4BBD7"/>
                </a:gs>
              </a:gsLst>
              <a:lin ang="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35" name="矩形 134"/>
            <p:cNvSpPr/>
            <p:nvPr/>
          </p:nvSpPr>
          <p:spPr>
            <a:xfrm>
              <a:off x="819" y="3531"/>
              <a:ext cx="723"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标签</a:t>
              </a:r>
              <a:endParaRPr lang="en-US" altLang="zh-CN" sz="1000" b="1" kern="0" dirty="0">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融合</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0" name="箭头: V 形 139"/>
            <p:cNvSpPr/>
            <p:nvPr/>
          </p:nvSpPr>
          <p:spPr>
            <a:xfrm>
              <a:off x="1673" y="3566"/>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41" name="箭头: V 形 140"/>
            <p:cNvSpPr/>
            <p:nvPr/>
          </p:nvSpPr>
          <p:spPr>
            <a:xfrm>
              <a:off x="2660" y="3566"/>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42" name="箭头: V 形 141"/>
            <p:cNvSpPr/>
            <p:nvPr/>
          </p:nvSpPr>
          <p:spPr>
            <a:xfrm>
              <a:off x="3671" y="3566"/>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44" name="矩形 143"/>
            <p:cNvSpPr/>
            <p:nvPr/>
          </p:nvSpPr>
          <p:spPr>
            <a:xfrm>
              <a:off x="1827" y="3531"/>
              <a:ext cx="723"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细分</a:t>
              </a:r>
              <a:endParaRPr lang="en-US" altLang="zh-CN" sz="1000" b="1" kern="0" dirty="0">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画像</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5" name="矩形 144"/>
            <p:cNvSpPr/>
            <p:nvPr/>
          </p:nvSpPr>
          <p:spPr>
            <a:xfrm>
              <a:off x="2806" y="3531"/>
              <a:ext cx="723"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产品</a:t>
              </a:r>
              <a:endParaRPr lang="en-US" altLang="zh-CN" sz="1000" b="1" kern="0" dirty="0">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画像</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6" name="矩形 145"/>
            <p:cNvSpPr/>
            <p:nvPr/>
          </p:nvSpPr>
          <p:spPr>
            <a:xfrm>
              <a:off x="3768" y="3531"/>
              <a:ext cx="723"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全面洞察</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8" name="Bullet1"/>
            <p:cNvSpPr txBox="1"/>
            <p:nvPr/>
          </p:nvSpPr>
          <p:spPr bwMode="auto">
            <a:xfrm>
              <a:off x="5189" y="3026"/>
              <a:ext cx="4365" cy="2873"/>
            </a:xfrm>
            <a:prstGeom prst="rect">
              <a:avLst/>
            </a:prstGeom>
            <a:solidFill>
              <a:schemeClr val="bg1"/>
            </a:solidFill>
            <a:ln>
              <a:noFill/>
            </a:ln>
          </p:spPr>
          <p:txBody>
            <a:bodyPr wrap="square" lIns="90000" tIns="46800" rIns="90000" bIns="46800" anchor="ctr"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endParaRPr lang="en-US" altLang="zh-CN" b="1" dirty="0"/>
            </a:p>
          </p:txBody>
        </p:sp>
        <p:sp>
          <p:nvSpPr>
            <p:cNvPr id="149" name="文本框 148"/>
            <p:cNvSpPr txBox="1"/>
            <p:nvPr/>
          </p:nvSpPr>
          <p:spPr>
            <a:xfrm>
              <a:off x="5255" y="5139"/>
              <a:ext cx="4199" cy="760"/>
            </a:xfrm>
            <a:prstGeom prst="rect">
              <a:avLst/>
            </a:prstGeom>
            <a:solidFill>
              <a:srgbClr val="E0F0FC"/>
            </a:solidFill>
          </p:spPr>
          <p:txBody>
            <a:bodyPr wrap="square" rtlCol="0">
              <a:no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借助</a:t>
              </a:r>
              <a:r>
                <a:rPr kumimoji="0" lang="en-US" altLang="zh-CN"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AI</a:t>
              </a: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推理分析，提前</a:t>
              </a:r>
              <a:r>
                <a:rPr kumimoji="0" lang="zh-CN" altLang="en-US" sz="9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预知客户风险，预测客户行为</a:t>
              </a: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，持续挖掘客户需求</a:t>
              </a:r>
              <a:endPar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51" name="文本框 150"/>
            <p:cNvSpPr txBox="1"/>
            <p:nvPr/>
          </p:nvSpPr>
          <p:spPr>
            <a:xfrm>
              <a:off x="5223" y="4278"/>
              <a:ext cx="1944" cy="633"/>
            </a:xfrm>
            <a:prstGeom prst="rect">
              <a:avLst/>
            </a:prstGeom>
            <a:noFill/>
          </p:spPr>
          <p:txBody>
            <a:bodyPr wrap="square" lIns="36000" tIns="45720" rIns="36000" bIns="45720" rtlCol="0">
              <a:spAutoFit/>
            </a:bodyPr>
            <a:lstStyle>
              <a:defPPr>
                <a:defRPr lang="zh-CN"/>
              </a:defPPr>
              <a:lvl1pPr>
                <a:defRPr kumimoji="1" sz="700" i="1">
                  <a:solidFill>
                    <a:schemeClr val="accent1">
                      <a:lumMod val="60000"/>
                      <a:lumOff val="40000"/>
                    </a:schemeClr>
                  </a:solidFill>
                  <a:latin typeface="微软雅黑" panose="020B0503020204020204" pitchFamily="34" charset="-122"/>
                  <a:ea typeface="微软雅黑" panose="020B0503020204020204" pitchFamily="34" charset="-122"/>
                </a:defRPr>
              </a:lvl1pPr>
            </a:lstStyle>
            <a:p>
              <a:r>
                <a:rPr lang="zh-CN" altLang="en-US" sz="800" dirty="0"/>
                <a:t>流量诉求：</a:t>
              </a:r>
              <a:r>
                <a:rPr lang="zh-CN" altLang="en-US" sz="800" dirty="0">
                  <a:solidFill>
                    <a:schemeClr val="tx1"/>
                  </a:solidFill>
                </a:rPr>
                <a:t>海外流量通话</a:t>
              </a:r>
              <a:endParaRPr lang="zh-CN" altLang="en-US" sz="800" dirty="0">
                <a:solidFill>
                  <a:schemeClr val="tx1"/>
                </a:solidFill>
              </a:endParaRPr>
            </a:p>
            <a:p>
              <a:r>
                <a:rPr lang="zh-CN" altLang="en-US" sz="800" dirty="0"/>
                <a:t>硬件诉求：</a:t>
              </a:r>
              <a:r>
                <a:rPr lang="zh-CN" altLang="en-US" sz="800" dirty="0">
                  <a:solidFill>
                    <a:schemeClr val="tx1"/>
                  </a:solidFill>
                </a:rPr>
                <a:t>相机、耳机</a:t>
              </a:r>
              <a:endParaRPr lang="zh-CN" altLang="en-US" sz="800" dirty="0">
                <a:solidFill>
                  <a:schemeClr val="tx1"/>
                </a:solidFill>
              </a:endParaRPr>
            </a:p>
            <a:p>
              <a:r>
                <a:rPr lang="en-US" altLang="zh-CN" sz="800" dirty="0"/>
                <a:t>APP</a:t>
              </a:r>
              <a:r>
                <a:rPr lang="zh-CN" altLang="en-US" sz="800" dirty="0"/>
                <a:t>诉求：</a:t>
              </a:r>
              <a:r>
                <a:rPr lang="zh-CN" altLang="en-US" sz="800" dirty="0">
                  <a:solidFill>
                    <a:schemeClr val="tx1"/>
                  </a:solidFill>
                </a:rPr>
                <a:t>地图、社交</a:t>
              </a:r>
              <a:endParaRPr lang="zh-CN" altLang="en-US" sz="800" dirty="0">
                <a:solidFill>
                  <a:schemeClr val="tx1"/>
                </a:solidFill>
              </a:endParaRPr>
            </a:p>
          </p:txBody>
        </p:sp>
        <p:sp>
          <p:nvSpPr>
            <p:cNvPr id="152" name="文本框 151"/>
            <p:cNvSpPr txBox="1"/>
            <p:nvPr/>
          </p:nvSpPr>
          <p:spPr>
            <a:xfrm>
              <a:off x="7132" y="4278"/>
              <a:ext cx="2502" cy="802"/>
            </a:xfrm>
            <a:prstGeom prst="rect">
              <a:avLst/>
            </a:prstGeom>
            <a:noFill/>
          </p:spPr>
          <p:txBody>
            <a:bodyPr wrap="square" lIns="36000" tIns="45720" rIns="36000" bIns="45720" rtlCol="0">
              <a:spAutoFit/>
            </a:bodyPr>
            <a:lstStyle>
              <a:defPPr>
                <a:defRPr lang="zh-CN"/>
              </a:defPPr>
              <a:lvl1pPr>
                <a:defRPr kumimoji="1" sz="700" i="1">
                  <a:solidFill>
                    <a:schemeClr val="accent1">
                      <a:lumMod val="60000"/>
                      <a:lumOff val="40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800" b="0" i="1" u="none" strike="noStrike" kern="1200" cap="none" spc="0" normalizeH="0" baseline="0" noProof="0" dirty="0">
                  <a:ln>
                    <a:noFill/>
                  </a:ln>
                  <a:solidFill>
                    <a:srgbClr val="0070BF">
                      <a:lumMod val="60000"/>
                      <a:lumOff val="40000"/>
                    </a:srgbClr>
                  </a:solidFill>
                  <a:effectLst/>
                  <a:uLnTx/>
                  <a:uFillTx/>
                  <a:latin typeface="微软雅黑" panose="020B0503020204020204" pitchFamily="34" charset="-122"/>
                  <a:ea typeface="微软雅黑" panose="020B0503020204020204" pitchFamily="34" charset="-122"/>
                  <a:cs typeface="+mn-cs"/>
                </a:rPr>
                <a:t>套餐更换：</a:t>
              </a:r>
              <a:r>
                <a:rPr kumimoji="1" lang="zh-CN" altLang="en-US" sz="8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高档海外流量通话</a:t>
              </a:r>
              <a:endParaRPr kumimoji="1" lang="zh-CN" altLang="en-US" sz="8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800" b="0" i="1" u="none" strike="noStrike" kern="1200" cap="none" spc="0" normalizeH="0" baseline="0" noProof="0" dirty="0">
                  <a:ln>
                    <a:noFill/>
                  </a:ln>
                  <a:solidFill>
                    <a:srgbClr val="0070BF">
                      <a:lumMod val="60000"/>
                      <a:lumOff val="40000"/>
                    </a:srgbClr>
                  </a:solidFill>
                  <a:effectLst/>
                  <a:uLnTx/>
                  <a:uFillTx/>
                  <a:latin typeface="微软雅黑" panose="020B0503020204020204" pitchFamily="34" charset="-122"/>
                  <a:ea typeface="微软雅黑" panose="020B0503020204020204" pitchFamily="34" charset="-122"/>
                  <a:cs typeface="+mn-cs"/>
                </a:rPr>
                <a:t>装备配置：</a:t>
              </a:r>
              <a:r>
                <a:rPr kumimoji="1" lang="zh-CN" altLang="en-US" sz="8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购买登山、水下设备</a:t>
              </a:r>
              <a:endParaRPr kumimoji="1" lang="en-US" altLang="zh-CN" sz="8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800" b="0" i="1" u="none" strike="noStrike" kern="1200" cap="none" spc="0" normalizeH="0" baseline="0" noProof="0" dirty="0">
                  <a:ln>
                    <a:noFill/>
                  </a:ln>
                  <a:solidFill>
                    <a:srgbClr val="0070BF">
                      <a:lumMod val="60000"/>
                      <a:lumOff val="40000"/>
                    </a:srgbClr>
                  </a:solidFill>
                  <a:effectLst/>
                  <a:uLnTx/>
                  <a:uFillTx/>
                  <a:latin typeface="微软雅黑" panose="020B0503020204020204" pitchFamily="34" charset="-122"/>
                  <a:ea typeface="微软雅黑" panose="020B0503020204020204" pitchFamily="34" charset="-122"/>
                  <a:cs typeface="+mn-cs"/>
                </a:rPr>
                <a:t>软件安装：</a:t>
              </a:r>
              <a:r>
                <a:rPr kumimoji="1" lang="zh-CN" altLang="en-US" sz="8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导航地图、民宿酒店、行程安排</a:t>
              </a:r>
              <a:endParaRPr kumimoji="1" lang="en-US" altLang="zh-CN" sz="8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3" name="Number1"/>
            <p:cNvSpPr/>
            <p:nvPr/>
          </p:nvSpPr>
          <p:spPr>
            <a:xfrm rot="16200000">
              <a:off x="5926" y="2288"/>
              <a:ext cx="376" cy="1851"/>
            </a:xfrm>
            <a:prstGeom prst="round2SameRect">
              <a:avLst>
                <a:gd name="adj1" fmla="val 0"/>
                <a:gd name="adj2" fmla="val 30000"/>
              </a:avLst>
            </a:prstGeom>
            <a:solidFill>
              <a:srgbClr val="36A4F5"/>
            </a:soli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endParaRPr lang="en-US" altLang="zh-CN" sz="1200" b="1" dirty="0">
                <a:solidFill>
                  <a:srgbClr val="FFFFFF"/>
                </a:solidFill>
                <a:cs typeface="+mn-ea"/>
                <a:sym typeface="Arial" panose="020B0604020202020204" pitchFamily="34" charset="0"/>
              </a:endParaRPr>
            </a:p>
          </p:txBody>
        </p:sp>
        <p:sp>
          <p:nvSpPr>
            <p:cNvPr id="154" name="cube_158764"/>
            <p:cNvSpPr>
              <a:spLocks noChangeAspect="1"/>
            </p:cNvSpPr>
            <p:nvPr/>
          </p:nvSpPr>
          <p:spPr>
            <a:xfrm>
              <a:off x="6699" y="3087"/>
              <a:ext cx="227" cy="258"/>
            </a:xfrm>
            <a:custGeom>
              <a:avLst/>
              <a:gdLst>
                <a:gd name="T0" fmla="*/ 5729 w 5731"/>
                <a:gd name="T1" fmla="*/ 1760 h 6535"/>
                <a:gd name="T2" fmla="*/ 5727 w 5731"/>
                <a:gd name="T3" fmla="*/ 1736 h 6535"/>
                <a:gd name="T4" fmla="*/ 5721 w 5731"/>
                <a:gd name="T5" fmla="*/ 1715 h 6535"/>
                <a:gd name="T6" fmla="*/ 5713 w 5731"/>
                <a:gd name="T7" fmla="*/ 1692 h 6535"/>
                <a:gd name="T8" fmla="*/ 5692 w 5731"/>
                <a:gd name="T9" fmla="*/ 1652 h 6535"/>
                <a:gd name="T10" fmla="*/ 5677 w 5731"/>
                <a:gd name="T11" fmla="*/ 1632 h 6535"/>
                <a:gd name="T12" fmla="*/ 5664 w 5731"/>
                <a:gd name="T13" fmla="*/ 1618 h 6535"/>
                <a:gd name="T14" fmla="*/ 5645 w 5731"/>
                <a:gd name="T15" fmla="*/ 1600 h 6535"/>
                <a:gd name="T16" fmla="*/ 5629 w 5731"/>
                <a:gd name="T17" fmla="*/ 1588 h 6535"/>
                <a:gd name="T18" fmla="*/ 5621 w 5731"/>
                <a:gd name="T19" fmla="*/ 1583 h 6535"/>
                <a:gd name="T20" fmla="*/ 2791 w 5731"/>
                <a:gd name="T21" fmla="*/ 40 h 6535"/>
                <a:gd name="T22" fmla="*/ 153 w 5731"/>
                <a:gd name="T23" fmla="*/ 1520 h 6535"/>
                <a:gd name="T24" fmla="*/ 136 w 5731"/>
                <a:gd name="T25" fmla="*/ 1532 h 6535"/>
                <a:gd name="T26" fmla="*/ 117 w 5731"/>
                <a:gd name="T27" fmla="*/ 1547 h 6535"/>
                <a:gd name="T28" fmla="*/ 101 w 5731"/>
                <a:gd name="T29" fmla="*/ 1563 h 6535"/>
                <a:gd name="T30" fmla="*/ 85 w 5731"/>
                <a:gd name="T31" fmla="*/ 1582 h 6535"/>
                <a:gd name="T32" fmla="*/ 72 w 5731"/>
                <a:gd name="T33" fmla="*/ 1603 h 6535"/>
                <a:gd name="T34" fmla="*/ 71 w 5731"/>
                <a:gd name="T35" fmla="*/ 1604 h 6535"/>
                <a:gd name="T36" fmla="*/ 61 w 5731"/>
                <a:gd name="T37" fmla="*/ 1623 h 6535"/>
                <a:gd name="T38" fmla="*/ 53 w 5731"/>
                <a:gd name="T39" fmla="*/ 1638 h 6535"/>
                <a:gd name="T40" fmla="*/ 48 w 5731"/>
                <a:gd name="T41" fmla="*/ 1652 h 6535"/>
                <a:gd name="T42" fmla="*/ 44 w 5731"/>
                <a:gd name="T43" fmla="*/ 1667 h 6535"/>
                <a:gd name="T44" fmla="*/ 40 w 5731"/>
                <a:gd name="T45" fmla="*/ 1683 h 6535"/>
                <a:gd name="T46" fmla="*/ 39 w 5731"/>
                <a:gd name="T47" fmla="*/ 1698 h 6535"/>
                <a:gd name="T48" fmla="*/ 39 w 5731"/>
                <a:gd name="T49" fmla="*/ 1714 h 6535"/>
                <a:gd name="T50" fmla="*/ 39 w 5731"/>
                <a:gd name="T51" fmla="*/ 1716 h 6535"/>
                <a:gd name="T52" fmla="*/ 39 w 5731"/>
                <a:gd name="T53" fmla="*/ 1719 h 6535"/>
                <a:gd name="T54" fmla="*/ 112 w 5731"/>
                <a:gd name="T55" fmla="*/ 4936 h 6535"/>
                <a:gd name="T56" fmla="*/ 2843 w 5731"/>
                <a:gd name="T57" fmla="*/ 6535 h 6535"/>
                <a:gd name="T58" fmla="*/ 5591 w 5731"/>
                <a:gd name="T59" fmla="*/ 5027 h 6535"/>
                <a:gd name="T60" fmla="*/ 5731 w 5731"/>
                <a:gd name="T61" fmla="*/ 1784 h 6535"/>
                <a:gd name="T62" fmla="*/ 5731 w 5731"/>
                <a:gd name="T63" fmla="*/ 1775 h 6535"/>
                <a:gd name="T64" fmla="*/ 5045 w 5731"/>
                <a:gd name="T65" fmla="*/ 1776 h 6535"/>
                <a:gd name="T66" fmla="*/ 725 w 5731"/>
                <a:gd name="T67" fmla="*/ 1724 h 6535"/>
                <a:gd name="T68" fmla="*/ 492 w 5731"/>
                <a:gd name="T69" fmla="*/ 2118 h 6535"/>
                <a:gd name="T70" fmla="*/ 2639 w 5731"/>
                <a:gd name="T71" fmla="*/ 5918 h 6535"/>
                <a:gd name="T72" fmla="*/ 492 w 5731"/>
                <a:gd name="T73" fmla="*/ 2118 h 6535"/>
                <a:gd name="T74" fmla="*/ 3095 w 5731"/>
                <a:gd name="T75" fmla="*/ 3396 h 6535"/>
                <a:gd name="T76" fmla="*/ 5252 w 5731"/>
                <a:gd name="T77" fmla="*/ 4694 h 6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31" h="6535">
                  <a:moveTo>
                    <a:pt x="5731" y="1775"/>
                  </a:moveTo>
                  <a:cubicBezTo>
                    <a:pt x="5731" y="1770"/>
                    <a:pt x="5731" y="1766"/>
                    <a:pt x="5729" y="1760"/>
                  </a:cubicBezTo>
                  <a:lnTo>
                    <a:pt x="5729" y="1755"/>
                  </a:lnTo>
                  <a:cubicBezTo>
                    <a:pt x="5728" y="1748"/>
                    <a:pt x="5728" y="1743"/>
                    <a:pt x="5727" y="1736"/>
                  </a:cubicBezTo>
                  <a:cubicBezTo>
                    <a:pt x="5727" y="1734"/>
                    <a:pt x="5725" y="1732"/>
                    <a:pt x="5725" y="1730"/>
                  </a:cubicBezTo>
                  <a:cubicBezTo>
                    <a:pt x="5724" y="1724"/>
                    <a:pt x="5723" y="1720"/>
                    <a:pt x="5721" y="1715"/>
                  </a:cubicBezTo>
                  <a:cubicBezTo>
                    <a:pt x="5721" y="1714"/>
                    <a:pt x="5720" y="1712"/>
                    <a:pt x="5720" y="1711"/>
                  </a:cubicBezTo>
                  <a:cubicBezTo>
                    <a:pt x="5717" y="1704"/>
                    <a:pt x="5716" y="1699"/>
                    <a:pt x="5713" y="1692"/>
                  </a:cubicBezTo>
                  <a:cubicBezTo>
                    <a:pt x="5713" y="1691"/>
                    <a:pt x="5712" y="1690"/>
                    <a:pt x="5712" y="1688"/>
                  </a:cubicBezTo>
                  <a:cubicBezTo>
                    <a:pt x="5707" y="1675"/>
                    <a:pt x="5700" y="1663"/>
                    <a:pt x="5692" y="1652"/>
                  </a:cubicBezTo>
                  <a:cubicBezTo>
                    <a:pt x="5691" y="1651"/>
                    <a:pt x="5691" y="1650"/>
                    <a:pt x="5689" y="1648"/>
                  </a:cubicBezTo>
                  <a:lnTo>
                    <a:pt x="5677" y="1632"/>
                  </a:lnTo>
                  <a:cubicBezTo>
                    <a:pt x="5676" y="1631"/>
                    <a:pt x="5675" y="1630"/>
                    <a:pt x="5675" y="1628"/>
                  </a:cubicBezTo>
                  <a:cubicBezTo>
                    <a:pt x="5672" y="1624"/>
                    <a:pt x="5668" y="1622"/>
                    <a:pt x="5664" y="1618"/>
                  </a:cubicBezTo>
                  <a:cubicBezTo>
                    <a:pt x="5663" y="1616"/>
                    <a:pt x="5660" y="1615"/>
                    <a:pt x="5659" y="1612"/>
                  </a:cubicBezTo>
                  <a:cubicBezTo>
                    <a:pt x="5655" y="1608"/>
                    <a:pt x="5649" y="1604"/>
                    <a:pt x="5645" y="1600"/>
                  </a:cubicBezTo>
                  <a:cubicBezTo>
                    <a:pt x="5644" y="1599"/>
                    <a:pt x="5643" y="1598"/>
                    <a:pt x="5640" y="1596"/>
                  </a:cubicBezTo>
                  <a:cubicBezTo>
                    <a:pt x="5636" y="1594"/>
                    <a:pt x="5633" y="1591"/>
                    <a:pt x="5629" y="1588"/>
                  </a:cubicBezTo>
                  <a:cubicBezTo>
                    <a:pt x="5628" y="1587"/>
                    <a:pt x="5625" y="1586"/>
                    <a:pt x="5624" y="1584"/>
                  </a:cubicBezTo>
                  <a:cubicBezTo>
                    <a:pt x="5623" y="1584"/>
                    <a:pt x="5623" y="1583"/>
                    <a:pt x="5621" y="1583"/>
                  </a:cubicBezTo>
                  <a:lnTo>
                    <a:pt x="3020" y="43"/>
                  </a:lnTo>
                  <a:cubicBezTo>
                    <a:pt x="2949" y="2"/>
                    <a:pt x="2863" y="0"/>
                    <a:pt x="2791" y="40"/>
                  </a:cubicBezTo>
                  <a:lnTo>
                    <a:pt x="156" y="1519"/>
                  </a:lnTo>
                  <a:cubicBezTo>
                    <a:pt x="155" y="1519"/>
                    <a:pt x="155" y="1520"/>
                    <a:pt x="153" y="1520"/>
                  </a:cubicBezTo>
                  <a:cubicBezTo>
                    <a:pt x="152" y="1522"/>
                    <a:pt x="149" y="1523"/>
                    <a:pt x="148" y="1524"/>
                  </a:cubicBezTo>
                  <a:lnTo>
                    <a:pt x="136" y="1532"/>
                  </a:lnTo>
                  <a:cubicBezTo>
                    <a:pt x="135" y="1534"/>
                    <a:pt x="132" y="1535"/>
                    <a:pt x="131" y="1536"/>
                  </a:cubicBezTo>
                  <a:cubicBezTo>
                    <a:pt x="125" y="1540"/>
                    <a:pt x="121" y="1544"/>
                    <a:pt x="117" y="1547"/>
                  </a:cubicBezTo>
                  <a:cubicBezTo>
                    <a:pt x="116" y="1548"/>
                    <a:pt x="113" y="1550"/>
                    <a:pt x="112" y="1552"/>
                  </a:cubicBezTo>
                  <a:cubicBezTo>
                    <a:pt x="108" y="1555"/>
                    <a:pt x="105" y="1559"/>
                    <a:pt x="101" y="1563"/>
                  </a:cubicBezTo>
                  <a:lnTo>
                    <a:pt x="97" y="1567"/>
                  </a:lnTo>
                  <a:cubicBezTo>
                    <a:pt x="93" y="1572"/>
                    <a:pt x="89" y="1576"/>
                    <a:pt x="85" y="1582"/>
                  </a:cubicBezTo>
                  <a:cubicBezTo>
                    <a:pt x="84" y="1583"/>
                    <a:pt x="83" y="1584"/>
                    <a:pt x="83" y="1586"/>
                  </a:cubicBezTo>
                  <a:cubicBezTo>
                    <a:pt x="79" y="1591"/>
                    <a:pt x="75" y="1596"/>
                    <a:pt x="72" y="1603"/>
                  </a:cubicBezTo>
                  <a:lnTo>
                    <a:pt x="72" y="1603"/>
                  </a:lnTo>
                  <a:cubicBezTo>
                    <a:pt x="72" y="1603"/>
                    <a:pt x="72" y="1604"/>
                    <a:pt x="71" y="1604"/>
                  </a:cubicBezTo>
                  <a:cubicBezTo>
                    <a:pt x="68" y="1608"/>
                    <a:pt x="67" y="1612"/>
                    <a:pt x="64" y="1616"/>
                  </a:cubicBezTo>
                  <a:cubicBezTo>
                    <a:pt x="63" y="1619"/>
                    <a:pt x="63" y="1620"/>
                    <a:pt x="61" y="1623"/>
                  </a:cubicBezTo>
                  <a:cubicBezTo>
                    <a:pt x="60" y="1626"/>
                    <a:pt x="59" y="1628"/>
                    <a:pt x="57" y="1630"/>
                  </a:cubicBezTo>
                  <a:lnTo>
                    <a:pt x="53" y="1638"/>
                  </a:lnTo>
                  <a:cubicBezTo>
                    <a:pt x="52" y="1639"/>
                    <a:pt x="52" y="1642"/>
                    <a:pt x="51" y="1643"/>
                  </a:cubicBezTo>
                  <a:cubicBezTo>
                    <a:pt x="49" y="1646"/>
                    <a:pt x="48" y="1650"/>
                    <a:pt x="48" y="1652"/>
                  </a:cubicBezTo>
                  <a:cubicBezTo>
                    <a:pt x="48" y="1654"/>
                    <a:pt x="47" y="1655"/>
                    <a:pt x="47" y="1656"/>
                  </a:cubicBezTo>
                  <a:cubicBezTo>
                    <a:pt x="45" y="1660"/>
                    <a:pt x="45" y="1663"/>
                    <a:pt x="44" y="1667"/>
                  </a:cubicBezTo>
                  <a:cubicBezTo>
                    <a:pt x="44" y="1668"/>
                    <a:pt x="44" y="1670"/>
                    <a:pt x="43" y="1671"/>
                  </a:cubicBezTo>
                  <a:cubicBezTo>
                    <a:pt x="41" y="1675"/>
                    <a:pt x="41" y="1679"/>
                    <a:pt x="40" y="1683"/>
                  </a:cubicBezTo>
                  <a:lnTo>
                    <a:pt x="40" y="1686"/>
                  </a:lnTo>
                  <a:cubicBezTo>
                    <a:pt x="40" y="1690"/>
                    <a:pt x="39" y="1694"/>
                    <a:pt x="39" y="1698"/>
                  </a:cubicBezTo>
                  <a:lnTo>
                    <a:pt x="39" y="1700"/>
                  </a:lnTo>
                  <a:lnTo>
                    <a:pt x="39" y="1714"/>
                  </a:lnTo>
                  <a:lnTo>
                    <a:pt x="39" y="1715"/>
                  </a:lnTo>
                  <a:lnTo>
                    <a:pt x="39" y="1716"/>
                  </a:lnTo>
                  <a:lnTo>
                    <a:pt x="39" y="1718"/>
                  </a:lnTo>
                  <a:lnTo>
                    <a:pt x="39" y="1719"/>
                  </a:lnTo>
                  <a:lnTo>
                    <a:pt x="1" y="4738"/>
                  </a:lnTo>
                  <a:cubicBezTo>
                    <a:pt x="0" y="4819"/>
                    <a:pt x="43" y="4895"/>
                    <a:pt x="112" y="4936"/>
                  </a:cubicBezTo>
                  <a:lnTo>
                    <a:pt x="2725" y="6503"/>
                  </a:lnTo>
                  <a:cubicBezTo>
                    <a:pt x="2761" y="6524"/>
                    <a:pt x="2803" y="6535"/>
                    <a:pt x="2843" y="6535"/>
                  </a:cubicBezTo>
                  <a:cubicBezTo>
                    <a:pt x="2881" y="6535"/>
                    <a:pt x="2920" y="6526"/>
                    <a:pt x="2955" y="6506"/>
                  </a:cubicBezTo>
                  <a:lnTo>
                    <a:pt x="5591" y="5027"/>
                  </a:lnTo>
                  <a:cubicBezTo>
                    <a:pt x="5663" y="4987"/>
                    <a:pt x="5707" y="4911"/>
                    <a:pt x="5708" y="4830"/>
                  </a:cubicBezTo>
                  <a:lnTo>
                    <a:pt x="5731" y="1784"/>
                  </a:lnTo>
                  <a:lnTo>
                    <a:pt x="5731" y="1782"/>
                  </a:lnTo>
                  <a:lnTo>
                    <a:pt x="5731" y="1775"/>
                  </a:lnTo>
                  <a:close/>
                  <a:moveTo>
                    <a:pt x="2900" y="503"/>
                  </a:moveTo>
                  <a:lnTo>
                    <a:pt x="5045" y="1776"/>
                  </a:lnTo>
                  <a:lnTo>
                    <a:pt x="2871" y="2998"/>
                  </a:lnTo>
                  <a:lnTo>
                    <a:pt x="725" y="1724"/>
                  </a:lnTo>
                  <a:lnTo>
                    <a:pt x="2900" y="503"/>
                  </a:lnTo>
                  <a:close/>
                  <a:moveTo>
                    <a:pt x="492" y="2118"/>
                  </a:moveTo>
                  <a:lnTo>
                    <a:pt x="2639" y="3392"/>
                  </a:lnTo>
                  <a:lnTo>
                    <a:pt x="2639" y="5918"/>
                  </a:lnTo>
                  <a:lnTo>
                    <a:pt x="461" y="4612"/>
                  </a:lnTo>
                  <a:lnTo>
                    <a:pt x="492" y="2118"/>
                  </a:lnTo>
                  <a:close/>
                  <a:moveTo>
                    <a:pt x="3095" y="5904"/>
                  </a:moveTo>
                  <a:lnTo>
                    <a:pt x="3095" y="3396"/>
                  </a:lnTo>
                  <a:lnTo>
                    <a:pt x="5271" y="2175"/>
                  </a:lnTo>
                  <a:lnTo>
                    <a:pt x="5252" y="4694"/>
                  </a:lnTo>
                  <a:lnTo>
                    <a:pt x="3095" y="590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5" name="文本框 154"/>
            <p:cNvSpPr txBox="1"/>
            <p:nvPr/>
          </p:nvSpPr>
          <p:spPr>
            <a:xfrm>
              <a:off x="5231" y="3090"/>
              <a:ext cx="1468" cy="211"/>
            </a:xfrm>
            <a:prstGeom prst="rect">
              <a:avLst/>
            </a:prstGeom>
            <a:noFill/>
          </p:spPr>
          <p:txBody>
            <a:bodyPr wrap="square" lIns="0" tIns="0" rIns="0" bIns="0" rtlCol="0">
              <a:spAutoFit/>
            </a:bodyPr>
            <a:lstStyle/>
            <a:p>
              <a:pPr algn="l"/>
              <a:r>
                <a:rPr kumimoji="1" lang="zh-CN" altLang="en-US" sz="1000" b="1" dirty="0">
                  <a:solidFill>
                    <a:schemeClr val="bg1"/>
                  </a:solidFill>
                  <a:latin typeface="微软雅黑" panose="020B0503020204020204" pitchFamily="34" charset="-122"/>
                  <a:ea typeface="微软雅黑" panose="020B0503020204020204" pitchFamily="34" charset="-122"/>
                </a:rPr>
                <a:t>市场运营人员</a:t>
              </a:r>
              <a:endParaRPr kumimoji="1"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156" name="箭头: 右 16"/>
            <p:cNvSpPr/>
            <p:nvPr/>
          </p:nvSpPr>
          <p:spPr>
            <a:xfrm>
              <a:off x="5281" y="3320"/>
              <a:ext cx="4290" cy="946"/>
            </a:xfrm>
            <a:prstGeom prst="rightArrow">
              <a:avLst/>
            </a:prstGeom>
            <a:gradFill flip="none" rotWithShape="1">
              <a:gsLst>
                <a:gs pos="0">
                  <a:schemeClr val="accent3">
                    <a:lumMod val="40000"/>
                    <a:lumOff val="60000"/>
                    <a:alpha val="80000"/>
                  </a:schemeClr>
                </a:gs>
                <a:gs pos="30000">
                  <a:srgbClr val="ECF0F4"/>
                </a:gs>
                <a:gs pos="100000">
                  <a:srgbClr val="A4BBD7"/>
                </a:gs>
              </a:gsLst>
              <a:lin ang="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57" name="矩形 156"/>
            <p:cNvSpPr/>
            <p:nvPr/>
          </p:nvSpPr>
          <p:spPr>
            <a:xfrm>
              <a:off x="5417" y="3531"/>
              <a:ext cx="723"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意向识别</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58" name="箭头: V 形 157"/>
            <p:cNvSpPr/>
            <p:nvPr/>
          </p:nvSpPr>
          <p:spPr>
            <a:xfrm>
              <a:off x="6271" y="3566"/>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59" name="箭头: V 形 158"/>
            <p:cNvSpPr/>
            <p:nvPr/>
          </p:nvSpPr>
          <p:spPr>
            <a:xfrm>
              <a:off x="7258" y="3566"/>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60" name="箭头: V 形 159"/>
            <p:cNvSpPr/>
            <p:nvPr/>
          </p:nvSpPr>
          <p:spPr>
            <a:xfrm>
              <a:off x="8269" y="3566"/>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61" name="矩形 160"/>
            <p:cNvSpPr/>
            <p:nvPr/>
          </p:nvSpPr>
          <p:spPr>
            <a:xfrm>
              <a:off x="6424" y="3531"/>
              <a:ext cx="723"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行为预测</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62" name="矩形 161"/>
            <p:cNvSpPr/>
            <p:nvPr/>
          </p:nvSpPr>
          <p:spPr>
            <a:xfrm>
              <a:off x="7404" y="3531"/>
              <a:ext cx="723"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线索融合</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63" name="矩形 162"/>
            <p:cNvSpPr/>
            <p:nvPr/>
          </p:nvSpPr>
          <p:spPr>
            <a:xfrm>
              <a:off x="8366" y="3531"/>
              <a:ext cx="723"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提炼需求</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65" name="Bullet1"/>
            <p:cNvSpPr txBox="1"/>
            <p:nvPr/>
          </p:nvSpPr>
          <p:spPr bwMode="auto">
            <a:xfrm>
              <a:off x="9787" y="3026"/>
              <a:ext cx="4365" cy="2873"/>
            </a:xfrm>
            <a:prstGeom prst="rect">
              <a:avLst/>
            </a:prstGeom>
            <a:solidFill>
              <a:schemeClr val="bg1"/>
            </a:solidFill>
            <a:ln>
              <a:noFill/>
            </a:ln>
          </p:spPr>
          <p:txBody>
            <a:bodyPr wrap="square" lIns="90000" tIns="46800" rIns="90000" bIns="46800" anchor="ctr"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endParaRPr lang="en-US" altLang="zh-CN" b="1" dirty="0"/>
            </a:p>
          </p:txBody>
        </p:sp>
        <p:sp>
          <p:nvSpPr>
            <p:cNvPr id="166" name="文本框 165"/>
            <p:cNvSpPr txBox="1"/>
            <p:nvPr/>
          </p:nvSpPr>
          <p:spPr>
            <a:xfrm>
              <a:off x="9853" y="5139"/>
              <a:ext cx="4184" cy="760"/>
            </a:xfrm>
            <a:prstGeom prst="rect">
              <a:avLst/>
            </a:prstGeom>
            <a:solidFill>
              <a:srgbClr val="E0F0FC"/>
            </a:solidFill>
          </p:spPr>
          <p:txBody>
            <a:bodyPr wrap="square" rtlCol="0">
              <a:no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基于客户静态</a:t>
              </a: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动态特征、产品、渠道等信息，提炼影响营销线索关键因素，</a:t>
              </a:r>
              <a:r>
                <a:rPr kumimoji="0" lang="zh-CN" altLang="en-US" sz="9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匹配最佳营销策略</a:t>
              </a:r>
              <a:r>
                <a:rPr kumimoji="0" lang="zh-CN" altLang="en-US" sz="9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endParaRPr kumimoji="0" lang="zh-CN" altLang="en-US" sz="9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endParaRPr>
            </a:p>
            <a:p>
              <a:pPr indent="0" fontAlgn="auto">
                <a:lnSpc>
                  <a:spcPct val="120000"/>
                </a:lnSpc>
              </a:pPr>
              <a:endParaRPr lang="zh-CN" altLang="en-US" sz="900" dirty="0">
                <a:latin typeface="微软雅黑" panose="020B0503020204020204" pitchFamily="34" charset="-122"/>
                <a:ea typeface="微软雅黑" panose="020B0503020204020204" pitchFamily="34" charset="-122"/>
                <a:sym typeface="+mn-ea"/>
              </a:endParaRPr>
            </a:p>
          </p:txBody>
        </p:sp>
        <p:sp>
          <p:nvSpPr>
            <p:cNvPr id="173" name="Number1"/>
            <p:cNvSpPr/>
            <p:nvPr/>
          </p:nvSpPr>
          <p:spPr>
            <a:xfrm rot="16200000">
              <a:off x="10521" y="2292"/>
              <a:ext cx="376" cy="1844"/>
            </a:xfrm>
            <a:prstGeom prst="round2SameRect">
              <a:avLst>
                <a:gd name="adj1" fmla="val 0"/>
                <a:gd name="adj2" fmla="val 30000"/>
              </a:avLst>
            </a:prstGeom>
            <a:solidFill>
              <a:srgbClr val="36A4F5"/>
            </a:soli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endParaRPr lang="en-US" altLang="zh-CN" sz="1200" b="1" dirty="0">
                <a:solidFill>
                  <a:srgbClr val="FFFFFF"/>
                </a:solidFill>
                <a:cs typeface="+mn-ea"/>
                <a:sym typeface="Arial" panose="020B0604020202020204" pitchFamily="34" charset="0"/>
              </a:endParaRPr>
            </a:p>
          </p:txBody>
        </p:sp>
        <p:sp>
          <p:nvSpPr>
            <p:cNvPr id="174" name="cube_158764"/>
            <p:cNvSpPr>
              <a:spLocks noChangeAspect="1"/>
            </p:cNvSpPr>
            <p:nvPr/>
          </p:nvSpPr>
          <p:spPr>
            <a:xfrm>
              <a:off x="11292" y="3087"/>
              <a:ext cx="226" cy="258"/>
            </a:xfrm>
            <a:custGeom>
              <a:avLst/>
              <a:gdLst>
                <a:gd name="T0" fmla="*/ 5729 w 5731"/>
                <a:gd name="T1" fmla="*/ 1760 h 6535"/>
                <a:gd name="T2" fmla="*/ 5727 w 5731"/>
                <a:gd name="T3" fmla="*/ 1736 h 6535"/>
                <a:gd name="T4" fmla="*/ 5721 w 5731"/>
                <a:gd name="T5" fmla="*/ 1715 h 6535"/>
                <a:gd name="T6" fmla="*/ 5713 w 5731"/>
                <a:gd name="T7" fmla="*/ 1692 h 6535"/>
                <a:gd name="T8" fmla="*/ 5692 w 5731"/>
                <a:gd name="T9" fmla="*/ 1652 h 6535"/>
                <a:gd name="T10" fmla="*/ 5677 w 5731"/>
                <a:gd name="T11" fmla="*/ 1632 h 6535"/>
                <a:gd name="T12" fmla="*/ 5664 w 5731"/>
                <a:gd name="T13" fmla="*/ 1618 h 6535"/>
                <a:gd name="T14" fmla="*/ 5645 w 5731"/>
                <a:gd name="T15" fmla="*/ 1600 h 6535"/>
                <a:gd name="T16" fmla="*/ 5629 w 5731"/>
                <a:gd name="T17" fmla="*/ 1588 h 6535"/>
                <a:gd name="T18" fmla="*/ 5621 w 5731"/>
                <a:gd name="T19" fmla="*/ 1583 h 6535"/>
                <a:gd name="T20" fmla="*/ 2791 w 5731"/>
                <a:gd name="T21" fmla="*/ 40 h 6535"/>
                <a:gd name="T22" fmla="*/ 153 w 5731"/>
                <a:gd name="T23" fmla="*/ 1520 h 6535"/>
                <a:gd name="T24" fmla="*/ 136 w 5731"/>
                <a:gd name="T25" fmla="*/ 1532 h 6535"/>
                <a:gd name="T26" fmla="*/ 117 w 5731"/>
                <a:gd name="T27" fmla="*/ 1547 h 6535"/>
                <a:gd name="T28" fmla="*/ 101 w 5731"/>
                <a:gd name="T29" fmla="*/ 1563 h 6535"/>
                <a:gd name="T30" fmla="*/ 85 w 5731"/>
                <a:gd name="T31" fmla="*/ 1582 h 6535"/>
                <a:gd name="T32" fmla="*/ 72 w 5731"/>
                <a:gd name="T33" fmla="*/ 1603 h 6535"/>
                <a:gd name="T34" fmla="*/ 71 w 5731"/>
                <a:gd name="T35" fmla="*/ 1604 h 6535"/>
                <a:gd name="T36" fmla="*/ 61 w 5731"/>
                <a:gd name="T37" fmla="*/ 1623 h 6535"/>
                <a:gd name="T38" fmla="*/ 53 w 5731"/>
                <a:gd name="T39" fmla="*/ 1638 h 6535"/>
                <a:gd name="T40" fmla="*/ 48 w 5731"/>
                <a:gd name="T41" fmla="*/ 1652 h 6535"/>
                <a:gd name="T42" fmla="*/ 44 w 5731"/>
                <a:gd name="T43" fmla="*/ 1667 h 6535"/>
                <a:gd name="T44" fmla="*/ 40 w 5731"/>
                <a:gd name="T45" fmla="*/ 1683 h 6535"/>
                <a:gd name="T46" fmla="*/ 39 w 5731"/>
                <a:gd name="T47" fmla="*/ 1698 h 6535"/>
                <a:gd name="T48" fmla="*/ 39 w 5731"/>
                <a:gd name="T49" fmla="*/ 1714 h 6535"/>
                <a:gd name="T50" fmla="*/ 39 w 5731"/>
                <a:gd name="T51" fmla="*/ 1716 h 6535"/>
                <a:gd name="T52" fmla="*/ 39 w 5731"/>
                <a:gd name="T53" fmla="*/ 1719 h 6535"/>
                <a:gd name="T54" fmla="*/ 112 w 5731"/>
                <a:gd name="T55" fmla="*/ 4936 h 6535"/>
                <a:gd name="T56" fmla="*/ 2843 w 5731"/>
                <a:gd name="T57" fmla="*/ 6535 h 6535"/>
                <a:gd name="T58" fmla="*/ 5591 w 5731"/>
                <a:gd name="T59" fmla="*/ 5027 h 6535"/>
                <a:gd name="T60" fmla="*/ 5731 w 5731"/>
                <a:gd name="T61" fmla="*/ 1784 h 6535"/>
                <a:gd name="T62" fmla="*/ 5731 w 5731"/>
                <a:gd name="T63" fmla="*/ 1775 h 6535"/>
                <a:gd name="T64" fmla="*/ 5045 w 5731"/>
                <a:gd name="T65" fmla="*/ 1776 h 6535"/>
                <a:gd name="T66" fmla="*/ 725 w 5731"/>
                <a:gd name="T67" fmla="*/ 1724 h 6535"/>
                <a:gd name="T68" fmla="*/ 492 w 5731"/>
                <a:gd name="T69" fmla="*/ 2118 h 6535"/>
                <a:gd name="T70" fmla="*/ 2639 w 5731"/>
                <a:gd name="T71" fmla="*/ 5918 h 6535"/>
                <a:gd name="T72" fmla="*/ 492 w 5731"/>
                <a:gd name="T73" fmla="*/ 2118 h 6535"/>
                <a:gd name="T74" fmla="*/ 3095 w 5731"/>
                <a:gd name="T75" fmla="*/ 3396 h 6535"/>
                <a:gd name="T76" fmla="*/ 5252 w 5731"/>
                <a:gd name="T77" fmla="*/ 4694 h 6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31" h="6535">
                  <a:moveTo>
                    <a:pt x="5731" y="1775"/>
                  </a:moveTo>
                  <a:cubicBezTo>
                    <a:pt x="5731" y="1770"/>
                    <a:pt x="5731" y="1766"/>
                    <a:pt x="5729" y="1760"/>
                  </a:cubicBezTo>
                  <a:lnTo>
                    <a:pt x="5729" y="1755"/>
                  </a:lnTo>
                  <a:cubicBezTo>
                    <a:pt x="5728" y="1748"/>
                    <a:pt x="5728" y="1743"/>
                    <a:pt x="5727" y="1736"/>
                  </a:cubicBezTo>
                  <a:cubicBezTo>
                    <a:pt x="5727" y="1734"/>
                    <a:pt x="5725" y="1732"/>
                    <a:pt x="5725" y="1730"/>
                  </a:cubicBezTo>
                  <a:cubicBezTo>
                    <a:pt x="5724" y="1724"/>
                    <a:pt x="5723" y="1720"/>
                    <a:pt x="5721" y="1715"/>
                  </a:cubicBezTo>
                  <a:cubicBezTo>
                    <a:pt x="5721" y="1714"/>
                    <a:pt x="5720" y="1712"/>
                    <a:pt x="5720" y="1711"/>
                  </a:cubicBezTo>
                  <a:cubicBezTo>
                    <a:pt x="5717" y="1704"/>
                    <a:pt x="5716" y="1699"/>
                    <a:pt x="5713" y="1692"/>
                  </a:cubicBezTo>
                  <a:cubicBezTo>
                    <a:pt x="5713" y="1691"/>
                    <a:pt x="5712" y="1690"/>
                    <a:pt x="5712" y="1688"/>
                  </a:cubicBezTo>
                  <a:cubicBezTo>
                    <a:pt x="5707" y="1675"/>
                    <a:pt x="5700" y="1663"/>
                    <a:pt x="5692" y="1652"/>
                  </a:cubicBezTo>
                  <a:cubicBezTo>
                    <a:pt x="5691" y="1651"/>
                    <a:pt x="5691" y="1650"/>
                    <a:pt x="5689" y="1648"/>
                  </a:cubicBezTo>
                  <a:lnTo>
                    <a:pt x="5677" y="1632"/>
                  </a:lnTo>
                  <a:cubicBezTo>
                    <a:pt x="5676" y="1631"/>
                    <a:pt x="5675" y="1630"/>
                    <a:pt x="5675" y="1628"/>
                  </a:cubicBezTo>
                  <a:cubicBezTo>
                    <a:pt x="5672" y="1624"/>
                    <a:pt x="5668" y="1622"/>
                    <a:pt x="5664" y="1618"/>
                  </a:cubicBezTo>
                  <a:cubicBezTo>
                    <a:pt x="5663" y="1616"/>
                    <a:pt x="5660" y="1615"/>
                    <a:pt x="5659" y="1612"/>
                  </a:cubicBezTo>
                  <a:cubicBezTo>
                    <a:pt x="5655" y="1608"/>
                    <a:pt x="5649" y="1604"/>
                    <a:pt x="5645" y="1600"/>
                  </a:cubicBezTo>
                  <a:cubicBezTo>
                    <a:pt x="5644" y="1599"/>
                    <a:pt x="5643" y="1598"/>
                    <a:pt x="5640" y="1596"/>
                  </a:cubicBezTo>
                  <a:cubicBezTo>
                    <a:pt x="5636" y="1594"/>
                    <a:pt x="5633" y="1591"/>
                    <a:pt x="5629" y="1588"/>
                  </a:cubicBezTo>
                  <a:cubicBezTo>
                    <a:pt x="5628" y="1587"/>
                    <a:pt x="5625" y="1586"/>
                    <a:pt x="5624" y="1584"/>
                  </a:cubicBezTo>
                  <a:cubicBezTo>
                    <a:pt x="5623" y="1584"/>
                    <a:pt x="5623" y="1583"/>
                    <a:pt x="5621" y="1583"/>
                  </a:cubicBezTo>
                  <a:lnTo>
                    <a:pt x="3020" y="43"/>
                  </a:lnTo>
                  <a:cubicBezTo>
                    <a:pt x="2949" y="2"/>
                    <a:pt x="2863" y="0"/>
                    <a:pt x="2791" y="40"/>
                  </a:cubicBezTo>
                  <a:lnTo>
                    <a:pt x="156" y="1519"/>
                  </a:lnTo>
                  <a:cubicBezTo>
                    <a:pt x="155" y="1519"/>
                    <a:pt x="155" y="1520"/>
                    <a:pt x="153" y="1520"/>
                  </a:cubicBezTo>
                  <a:cubicBezTo>
                    <a:pt x="152" y="1522"/>
                    <a:pt x="149" y="1523"/>
                    <a:pt x="148" y="1524"/>
                  </a:cubicBezTo>
                  <a:lnTo>
                    <a:pt x="136" y="1532"/>
                  </a:lnTo>
                  <a:cubicBezTo>
                    <a:pt x="135" y="1534"/>
                    <a:pt x="132" y="1535"/>
                    <a:pt x="131" y="1536"/>
                  </a:cubicBezTo>
                  <a:cubicBezTo>
                    <a:pt x="125" y="1540"/>
                    <a:pt x="121" y="1544"/>
                    <a:pt x="117" y="1547"/>
                  </a:cubicBezTo>
                  <a:cubicBezTo>
                    <a:pt x="116" y="1548"/>
                    <a:pt x="113" y="1550"/>
                    <a:pt x="112" y="1552"/>
                  </a:cubicBezTo>
                  <a:cubicBezTo>
                    <a:pt x="108" y="1555"/>
                    <a:pt x="105" y="1559"/>
                    <a:pt x="101" y="1563"/>
                  </a:cubicBezTo>
                  <a:lnTo>
                    <a:pt x="97" y="1567"/>
                  </a:lnTo>
                  <a:cubicBezTo>
                    <a:pt x="93" y="1572"/>
                    <a:pt x="89" y="1576"/>
                    <a:pt x="85" y="1582"/>
                  </a:cubicBezTo>
                  <a:cubicBezTo>
                    <a:pt x="84" y="1583"/>
                    <a:pt x="83" y="1584"/>
                    <a:pt x="83" y="1586"/>
                  </a:cubicBezTo>
                  <a:cubicBezTo>
                    <a:pt x="79" y="1591"/>
                    <a:pt x="75" y="1596"/>
                    <a:pt x="72" y="1603"/>
                  </a:cubicBezTo>
                  <a:lnTo>
                    <a:pt x="72" y="1603"/>
                  </a:lnTo>
                  <a:cubicBezTo>
                    <a:pt x="72" y="1603"/>
                    <a:pt x="72" y="1604"/>
                    <a:pt x="71" y="1604"/>
                  </a:cubicBezTo>
                  <a:cubicBezTo>
                    <a:pt x="68" y="1608"/>
                    <a:pt x="67" y="1612"/>
                    <a:pt x="64" y="1616"/>
                  </a:cubicBezTo>
                  <a:cubicBezTo>
                    <a:pt x="63" y="1619"/>
                    <a:pt x="63" y="1620"/>
                    <a:pt x="61" y="1623"/>
                  </a:cubicBezTo>
                  <a:cubicBezTo>
                    <a:pt x="60" y="1626"/>
                    <a:pt x="59" y="1628"/>
                    <a:pt x="57" y="1630"/>
                  </a:cubicBezTo>
                  <a:lnTo>
                    <a:pt x="53" y="1638"/>
                  </a:lnTo>
                  <a:cubicBezTo>
                    <a:pt x="52" y="1639"/>
                    <a:pt x="52" y="1642"/>
                    <a:pt x="51" y="1643"/>
                  </a:cubicBezTo>
                  <a:cubicBezTo>
                    <a:pt x="49" y="1646"/>
                    <a:pt x="48" y="1650"/>
                    <a:pt x="48" y="1652"/>
                  </a:cubicBezTo>
                  <a:cubicBezTo>
                    <a:pt x="48" y="1654"/>
                    <a:pt x="47" y="1655"/>
                    <a:pt x="47" y="1656"/>
                  </a:cubicBezTo>
                  <a:cubicBezTo>
                    <a:pt x="45" y="1660"/>
                    <a:pt x="45" y="1663"/>
                    <a:pt x="44" y="1667"/>
                  </a:cubicBezTo>
                  <a:cubicBezTo>
                    <a:pt x="44" y="1668"/>
                    <a:pt x="44" y="1670"/>
                    <a:pt x="43" y="1671"/>
                  </a:cubicBezTo>
                  <a:cubicBezTo>
                    <a:pt x="41" y="1675"/>
                    <a:pt x="41" y="1679"/>
                    <a:pt x="40" y="1683"/>
                  </a:cubicBezTo>
                  <a:lnTo>
                    <a:pt x="40" y="1686"/>
                  </a:lnTo>
                  <a:cubicBezTo>
                    <a:pt x="40" y="1690"/>
                    <a:pt x="39" y="1694"/>
                    <a:pt x="39" y="1698"/>
                  </a:cubicBezTo>
                  <a:lnTo>
                    <a:pt x="39" y="1700"/>
                  </a:lnTo>
                  <a:lnTo>
                    <a:pt x="39" y="1714"/>
                  </a:lnTo>
                  <a:lnTo>
                    <a:pt x="39" y="1715"/>
                  </a:lnTo>
                  <a:lnTo>
                    <a:pt x="39" y="1716"/>
                  </a:lnTo>
                  <a:lnTo>
                    <a:pt x="39" y="1718"/>
                  </a:lnTo>
                  <a:lnTo>
                    <a:pt x="39" y="1719"/>
                  </a:lnTo>
                  <a:lnTo>
                    <a:pt x="1" y="4738"/>
                  </a:lnTo>
                  <a:cubicBezTo>
                    <a:pt x="0" y="4819"/>
                    <a:pt x="43" y="4895"/>
                    <a:pt x="112" y="4936"/>
                  </a:cubicBezTo>
                  <a:lnTo>
                    <a:pt x="2725" y="6503"/>
                  </a:lnTo>
                  <a:cubicBezTo>
                    <a:pt x="2761" y="6524"/>
                    <a:pt x="2803" y="6535"/>
                    <a:pt x="2843" y="6535"/>
                  </a:cubicBezTo>
                  <a:cubicBezTo>
                    <a:pt x="2881" y="6535"/>
                    <a:pt x="2920" y="6526"/>
                    <a:pt x="2955" y="6506"/>
                  </a:cubicBezTo>
                  <a:lnTo>
                    <a:pt x="5591" y="5027"/>
                  </a:lnTo>
                  <a:cubicBezTo>
                    <a:pt x="5663" y="4987"/>
                    <a:pt x="5707" y="4911"/>
                    <a:pt x="5708" y="4830"/>
                  </a:cubicBezTo>
                  <a:lnTo>
                    <a:pt x="5731" y="1784"/>
                  </a:lnTo>
                  <a:lnTo>
                    <a:pt x="5731" y="1782"/>
                  </a:lnTo>
                  <a:lnTo>
                    <a:pt x="5731" y="1775"/>
                  </a:lnTo>
                  <a:close/>
                  <a:moveTo>
                    <a:pt x="2900" y="503"/>
                  </a:moveTo>
                  <a:lnTo>
                    <a:pt x="5045" y="1776"/>
                  </a:lnTo>
                  <a:lnTo>
                    <a:pt x="2871" y="2998"/>
                  </a:lnTo>
                  <a:lnTo>
                    <a:pt x="725" y="1724"/>
                  </a:lnTo>
                  <a:lnTo>
                    <a:pt x="2900" y="503"/>
                  </a:lnTo>
                  <a:close/>
                  <a:moveTo>
                    <a:pt x="492" y="2118"/>
                  </a:moveTo>
                  <a:lnTo>
                    <a:pt x="2639" y="3392"/>
                  </a:lnTo>
                  <a:lnTo>
                    <a:pt x="2639" y="5918"/>
                  </a:lnTo>
                  <a:lnTo>
                    <a:pt x="461" y="4612"/>
                  </a:lnTo>
                  <a:lnTo>
                    <a:pt x="492" y="2118"/>
                  </a:lnTo>
                  <a:close/>
                  <a:moveTo>
                    <a:pt x="3095" y="5904"/>
                  </a:moveTo>
                  <a:lnTo>
                    <a:pt x="3095" y="3396"/>
                  </a:lnTo>
                  <a:lnTo>
                    <a:pt x="5271" y="2175"/>
                  </a:lnTo>
                  <a:lnTo>
                    <a:pt x="5252" y="4694"/>
                  </a:lnTo>
                  <a:lnTo>
                    <a:pt x="3095" y="590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文本框 174"/>
            <p:cNvSpPr txBox="1"/>
            <p:nvPr/>
          </p:nvSpPr>
          <p:spPr>
            <a:xfrm>
              <a:off x="9829" y="3090"/>
              <a:ext cx="1688" cy="211"/>
            </a:xfrm>
            <a:prstGeom prst="rect">
              <a:avLst/>
            </a:prstGeom>
            <a:noFill/>
          </p:spPr>
          <p:txBody>
            <a:bodyPr wrap="square" lIns="0" tIns="0" rIns="0" bIns="0" rtlCol="0">
              <a:spAutoFit/>
            </a:bodyPr>
            <a:lstStyle/>
            <a:p>
              <a:pPr algn="l"/>
              <a:r>
                <a:rPr kumimoji="1" lang="zh-CN" altLang="en-US" sz="1000" b="1" dirty="0">
                  <a:solidFill>
                    <a:schemeClr val="bg1"/>
                  </a:solidFill>
                  <a:latin typeface="微软雅黑" panose="020B0503020204020204" pitchFamily="34" charset="-122"/>
                  <a:ea typeface="微软雅黑" panose="020B0503020204020204" pitchFamily="34" charset="-122"/>
                </a:rPr>
                <a:t>营销设计人员</a:t>
              </a:r>
              <a:endParaRPr kumimoji="1"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176" name="箭头: 右 16"/>
            <p:cNvSpPr/>
            <p:nvPr/>
          </p:nvSpPr>
          <p:spPr>
            <a:xfrm>
              <a:off x="9878" y="3320"/>
              <a:ext cx="4274" cy="946"/>
            </a:xfrm>
            <a:prstGeom prst="rightArrow">
              <a:avLst/>
            </a:prstGeom>
            <a:gradFill flip="none" rotWithShape="1">
              <a:gsLst>
                <a:gs pos="0">
                  <a:schemeClr val="accent3">
                    <a:lumMod val="40000"/>
                    <a:lumOff val="60000"/>
                    <a:alpha val="80000"/>
                  </a:schemeClr>
                </a:gs>
                <a:gs pos="30000">
                  <a:srgbClr val="ECF0F4"/>
                </a:gs>
                <a:gs pos="100000">
                  <a:srgbClr val="A4BBD7"/>
                </a:gs>
              </a:gsLst>
              <a:lin ang="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77" name="矩形 176"/>
            <p:cNvSpPr/>
            <p:nvPr/>
          </p:nvSpPr>
          <p:spPr>
            <a:xfrm>
              <a:off x="10014" y="3531"/>
              <a:ext cx="720"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策略匹配</a:t>
              </a:r>
              <a:endParaRPr lang="en-US" altLang="zh-CN" sz="1000" b="1" kern="0" dirty="0">
                <a:latin typeface="微软雅黑" panose="020B0503020204020204" pitchFamily="34" charset="-122"/>
                <a:ea typeface="微软雅黑" panose="020B0503020204020204" pitchFamily="34" charset="-122"/>
              </a:endParaRPr>
            </a:p>
          </p:txBody>
        </p:sp>
        <p:sp>
          <p:nvSpPr>
            <p:cNvPr id="179" name="箭头: V 形 178"/>
            <p:cNvSpPr/>
            <p:nvPr/>
          </p:nvSpPr>
          <p:spPr>
            <a:xfrm>
              <a:off x="10865" y="3566"/>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80" name="箭头: V 形 179"/>
            <p:cNvSpPr/>
            <p:nvPr/>
          </p:nvSpPr>
          <p:spPr>
            <a:xfrm>
              <a:off x="11848" y="3566"/>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82" name="箭头: V 形 181"/>
            <p:cNvSpPr/>
            <p:nvPr/>
          </p:nvSpPr>
          <p:spPr>
            <a:xfrm>
              <a:off x="12855" y="3566"/>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183" name="矩形 182"/>
            <p:cNvSpPr/>
            <p:nvPr/>
          </p:nvSpPr>
          <p:spPr>
            <a:xfrm>
              <a:off x="11018" y="3531"/>
              <a:ext cx="720"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产品组合</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85" name="矩形 184"/>
            <p:cNvSpPr/>
            <p:nvPr/>
          </p:nvSpPr>
          <p:spPr>
            <a:xfrm>
              <a:off x="11994" y="3531"/>
              <a:ext cx="720"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营销话术</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87" name="矩形 186"/>
            <p:cNvSpPr/>
            <p:nvPr/>
          </p:nvSpPr>
          <p:spPr>
            <a:xfrm>
              <a:off x="12952" y="3531"/>
              <a:ext cx="720"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渠道适配</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90" name="Bullet1"/>
            <p:cNvSpPr txBox="1"/>
            <p:nvPr/>
          </p:nvSpPr>
          <p:spPr bwMode="auto">
            <a:xfrm>
              <a:off x="14384" y="3026"/>
              <a:ext cx="4365" cy="2873"/>
            </a:xfrm>
            <a:prstGeom prst="rect">
              <a:avLst/>
            </a:prstGeom>
            <a:solidFill>
              <a:schemeClr val="bg1"/>
            </a:solidFill>
            <a:ln>
              <a:noFill/>
            </a:ln>
          </p:spPr>
          <p:txBody>
            <a:bodyPr wrap="square" lIns="90000" tIns="46800" rIns="90000" bIns="46800" anchor="ctr"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endParaRPr lang="en-US" altLang="zh-CN" b="1" dirty="0"/>
            </a:p>
          </p:txBody>
        </p:sp>
        <p:sp>
          <p:nvSpPr>
            <p:cNvPr id="193" name="文本框 192"/>
            <p:cNvSpPr txBox="1"/>
            <p:nvPr/>
          </p:nvSpPr>
          <p:spPr>
            <a:xfrm>
              <a:off x="14451" y="5126"/>
              <a:ext cx="4199" cy="760"/>
            </a:xfrm>
            <a:prstGeom prst="rect">
              <a:avLst/>
            </a:prstGeom>
            <a:solidFill>
              <a:srgbClr val="E0F0FC"/>
            </a:solidFill>
          </p:spPr>
          <p:txBody>
            <a:bodyPr wrap="square" rtlCol="0">
              <a:noAutofit/>
            </a:bodyPr>
            <a:lstStyle/>
            <a:p>
              <a:pPr indent="0" fontAlgn="auto">
                <a:lnSpc>
                  <a:spcPct val="120000"/>
                </a:lnSpc>
              </a:pPr>
              <a:r>
                <a:rPr lang="zh-CN" altLang="en-US" sz="900" kern="0" dirty="0">
                  <a:solidFill>
                    <a:prstClr val="black"/>
                  </a:solidFill>
                  <a:latin typeface="微软雅黑" panose="020B0503020204020204" pitchFamily="34" charset="-122"/>
                  <a:ea typeface="微软雅黑" panose="020B0503020204020204" pitchFamily="34" charset="-122"/>
                </a:rPr>
                <a:t>自动推演营销效果，收集营销结果及客户反馈，通过</a:t>
              </a:r>
              <a:r>
                <a:rPr lang="zh-CN" altLang="en-US" sz="900" b="1" kern="0" dirty="0">
                  <a:solidFill>
                    <a:schemeClr val="accent5"/>
                  </a:solidFill>
                  <a:latin typeface="微软雅黑" panose="020B0503020204020204" pitchFamily="34" charset="-122"/>
                  <a:ea typeface="微软雅黑" panose="020B0503020204020204" pitchFamily="34" charset="-122"/>
                </a:rPr>
                <a:t>对比分析实时动态调优</a:t>
              </a:r>
              <a:r>
                <a:rPr lang="zh-CN" altLang="en-US" sz="900" kern="0" dirty="0">
                  <a:solidFill>
                    <a:schemeClr val="accent5"/>
                  </a:solidFill>
                  <a:latin typeface="微软雅黑" panose="020B0503020204020204" pitchFamily="34" charset="-122"/>
                  <a:ea typeface="微软雅黑" panose="020B0503020204020204" pitchFamily="34" charset="-122"/>
                </a:rPr>
                <a:t>。</a:t>
              </a:r>
              <a:endParaRPr lang="zh-CN" altLang="en-US" sz="900" dirty="0">
                <a:solidFill>
                  <a:schemeClr val="accent5"/>
                </a:solidFill>
                <a:latin typeface="微软雅黑" panose="020B0503020204020204" pitchFamily="34" charset="-122"/>
                <a:ea typeface="微软雅黑" panose="020B0503020204020204" pitchFamily="34" charset="-122"/>
                <a:sym typeface="+mn-ea"/>
              </a:endParaRPr>
            </a:p>
          </p:txBody>
        </p:sp>
        <p:sp>
          <p:nvSpPr>
            <p:cNvPr id="199" name="Number1"/>
            <p:cNvSpPr/>
            <p:nvPr/>
          </p:nvSpPr>
          <p:spPr>
            <a:xfrm rot="16200000">
              <a:off x="15122" y="2288"/>
              <a:ext cx="376" cy="1851"/>
            </a:xfrm>
            <a:prstGeom prst="round2SameRect">
              <a:avLst>
                <a:gd name="adj1" fmla="val 0"/>
                <a:gd name="adj2" fmla="val 30000"/>
              </a:avLst>
            </a:prstGeom>
            <a:solidFill>
              <a:srgbClr val="36A4F5"/>
            </a:soli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endParaRPr lang="en-US" altLang="zh-CN" sz="1200" b="1" dirty="0">
                <a:solidFill>
                  <a:srgbClr val="FFFFFF"/>
                </a:solidFill>
                <a:cs typeface="+mn-ea"/>
                <a:sym typeface="Arial" panose="020B0604020202020204" pitchFamily="34" charset="0"/>
              </a:endParaRPr>
            </a:p>
          </p:txBody>
        </p:sp>
        <p:sp>
          <p:nvSpPr>
            <p:cNvPr id="200" name="cube_158764"/>
            <p:cNvSpPr>
              <a:spLocks noChangeAspect="1"/>
            </p:cNvSpPr>
            <p:nvPr/>
          </p:nvSpPr>
          <p:spPr>
            <a:xfrm>
              <a:off x="15895" y="3087"/>
              <a:ext cx="227" cy="258"/>
            </a:xfrm>
            <a:custGeom>
              <a:avLst/>
              <a:gdLst>
                <a:gd name="T0" fmla="*/ 5729 w 5731"/>
                <a:gd name="T1" fmla="*/ 1760 h 6535"/>
                <a:gd name="T2" fmla="*/ 5727 w 5731"/>
                <a:gd name="T3" fmla="*/ 1736 h 6535"/>
                <a:gd name="T4" fmla="*/ 5721 w 5731"/>
                <a:gd name="T5" fmla="*/ 1715 h 6535"/>
                <a:gd name="T6" fmla="*/ 5713 w 5731"/>
                <a:gd name="T7" fmla="*/ 1692 h 6535"/>
                <a:gd name="T8" fmla="*/ 5692 w 5731"/>
                <a:gd name="T9" fmla="*/ 1652 h 6535"/>
                <a:gd name="T10" fmla="*/ 5677 w 5731"/>
                <a:gd name="T11" fmla="*/ 1632 h 6535"/>
                <a:gd name="T12" fmla="*/ 5664 w 5731"/>
                <a:gd name="T13" fmla="*/ 1618 h 6535"/>
                <a:gd name="T14" fmla="*/ 5645 w 5731"/>
                <a:gd name="T15" fmla="*/ 1600 h 6535"/>
                <a:gd name="T16" fmla="*/ 5629 w 5731"/>
                <a:gd name="T17" fmla="*/ 1588 h 6535"/>
                <a:gd name="T18" fmla="*/ 5621 w 5731"/>
                <a:gd name="T19" fmla="*/ 1583 h 6535"/>
                <a:gd name="T20" fmla="*/ 2791 w 5731"/>
                <a:gd name="T21" fmla="*/ 40 h 6535"/>
                <a:gd name="T22" fmla="*/ 153 w 5731"/>
                <a:gd name="T23" fmla="*/ 1520 h 6535"/>
                <a:gd name="T24" fmla="*/ 136 w 5731"/>
                <a:gd name="T25" fmla="*/ 1532 h 6535"/>
                <a:gd name="T26" fmla="*/ 117 w 5731"/>
                <a:gd name="T27" fmla="*/ 1547 h 6535"/>
                <a:gd name="T28" fmla="*/ 101 w 5731"/>
                <a:gd name="T29" fmla="*/ 1563 h 6535"/>
                <a:gd name="T30" fmla="*/ 85 w 5731"/>
                <a:gd name="T31" fmla="*/ 1582 h 6535"/>
                <a:gd name="T32" fmla="*/ 72 w 5731"/>
                <a:gd name="T33" fmla="*/ 1603 h 6535"/>
                <a:gd name="T34" fmla="*/ 71 w 5731"/>
                <a:gd name="T35" fmla="*/ 1604 h 6535"/>
                <a:gd name="T36" fmla="*/ 61 w 5731"/>
                <a:gd name="T37" fmla="*/ 1623 h 6535"/>
                <a:gd name="T38" fmla="*/ 53 w 5731"/>
                <a:gd name="T39" fmla="*/ 1638 h 6535"/>
                <a:gd name="T40" fmla="*/ 48 w 5731"/>
                <a:gd name="T41" fmla="*/ 1652 h 6535"/>
                <a:gd name="T42" fmla="*/ 44 w 5731"/>
                <a:gd name="T43" fmla="*/ 1667 h 6535"/>
                <a:gd name="T44" fmla="*/ 40 w 5731"/>
                <a:gd name="T45" fmla="*/ 1683 h 6535"/>
                <a:gd name="T46" fmla="*/ 39 w 5731"/>
                <a:gd name="T47" fmla="*/ 1698 h 6535"/>
                <a:gd name="T48" fmla="*/ 39 w 5731"/>
                <a:gd name="T49" fmla="*/ 1714 h 6535"/>
                <a:gd name="T50" fmla="*/ 39 w 5731"/>
                <a:gd name="T51" fmla="*/ 1716 h 6535"/>
                <a:gd name="T52" fmla="*/ 39 w 5731"/>
                <a:gd name="T53" fmla="*/ 1719 h 6535"/>
                <a:gd name="T54" fmla="*/ 112 w 5731"/>
                <a:gd name="T55" fmla="*/ 4936 h 6535"/>
                <a:gd name="T56" fmla="*/ 2843 w 5731"/>
                <a:gd name="T57" fmla="*/ 6535 h 6535"/>
                <a:gd name="T58" fmla="*/ 5591 w 5731"/>
                <a:gd name="T59" fmla="*/ 5027 h 6535"/>
                <a:gd name="T60" fmla="*/ 5731 w 5731"/>
                <a:gd name="T61" fmla="*/ 1784 h 6535"/>
                <a:gd name="T62" fmla="*/ 5731 w 5731"/>
                <a:gd name="T63" fmla="*/ 1775 h 6535"/>
                <a:gd name="T64" fmla="*/ 5045 w 5731"/>
                <a:gd name="T65" fmla="*/ 1776 h 6535"/>
                <a:gd name="T66" fmla="*/ 725 w 5731"/>
                <a:gd name="T67" fmla="*/ 1724 h 6535"/>
                <a:gd name="T68" fmla="*/ 492 w 5731"/>
                <a:gd name="T69" fmla="*/ 2118 h 6535"/>
                <a:gd name="T70" fmla="*/ 2639 w 5731"/>
                <a:gd name="T71" fmla="*/ 5918 h 6535"/>
                <a:gd name="T72" fmla="*/ 492 w 5731"/>
                <a:gd name="T73" fmla="*/ 2118 h 6535"/>
                <a:gd name="T74" fmla="*/ 3095 w 5731"/>
                <a:gd name="T75" fmla="*/ 3396 h 6535"/>
                <a:gd name="T76" fmla="*/ 5252 w 5731"/>
                <a:gd name="T77" fmla="*/ 4694 h 6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31" h="6535">
                  <a:moveTo>
                    <a:pt x="5731" y="1775"/>
                  </a:moveTo>
                  <a:cubicBezTo>
                    <a:pt x="5731" y="1770"/>
                    <a:pt x="5731" y="1766"/>
                    <a:pt x="5729" y="1760"/>
                  </a:cubicBezTo>
                  <a:lnTo>
                    <a:pt x="5729" y="1755"/>
                  </a:lnTo>
                  <a:cubicBezTo>
                    <a:pt x="5728" y="1748"/>
                    <a:pt x="5728" y="1743"/>
                    <a:pt x="5727" y="1736"/>
                  </a:cubicBezTo>
                  <a:cubicBezTo>
                    <a:pt x="5727" y="1734"/>
                    <a:pt x="5725" y="1732"/>
                    <a:pt x="5725" y="1730"/>
                  </a:cubicBezTo>
                  <a:cubicBezTo>
                    <a:pt x="5724" y="1724"/>
                    <a:pt x="5723" y="1720"/>
                    <a:pt x="5721" y="1715"/>
                  </a:cubicBezTo>
                  <a:cubicBezTo>
                    <a:pt x="5721" y="1714"/>
                    <a:pt x="5720" y="1712"/>
                    <a:pt x="5720" y="1711"/>
                  </a:cubicBezTo>
                  <a:cubicBezTo>
                    <a:pt x="5717" y="1704"/>
                    <a:pt x="5716" y="1699"/>
                    <a:pt x="5713" y="1692"/>
                  </a:cubicBezTo>
                  <a:cubicBezTo>
                    <a:pt x="5713" y="1691"/>
                    <a:pt x="5712" y="1690"/>
                    <a:pt x="5712" y="1688"/>
                  </a:cubicBezTo>
                  <a:cubicBezTo>
                    <a:pt x="5707" y="1675"/>
                    <a:pt x="5700" y="1663"/>
                    <a:pt x="5692" y="1652"/>
                  </a:cubicBezTo>
                  <a:cubicBezTo>
                    <a:pt x="5691" y="1651"/>
                    <a:pt x="5691" y="1650"/>
                    <a:pt x="5689" y="1648"/>
                  </a:cubicBezTo>
                  <a:lnTo>
                    <a:pt x="5677" y="1632"/>
                  </a:lnTo>
                  <a:cubicBezTo>
                    <a:pt x="5676" y="1631"/>
                    <a:pt x="5675" y="1630"/>
                    <a:pt x="5675" y="1628"/>
                  </a:cubicBezTo>
                  <a:cubicBezTo>
                    <a:pt x="5672" y="1624"/>
                    <a:pt x="5668" y="1622"/>
                    <a:pt x="5664" y="1618"/>
                  </a:cubicBezTo>
                  <a:cubicBezTo>
                    <a:pt x="5663" y="1616"/>
                    <a:pt x="5660" y="1615"/>
                    <a:pt x="5659" y="1612"/>
                  </a:cubicBezTo>
                  <a:cubicBezTo>
                    <a:pt x="5655" y="1608"/>
                    <a:pt x="5649" y="1604"/>
                    <a:pt x="5645" y="1600"/>
                  </a:cubicBezTo>
                  <a:cubicBezTo>
                    <a:pt x="5644" y="1599"/>
                    <a:pt x="5643" y="1598"/>
                    <a:pt x="5640" y="1596"/>
                  </a:cubicBezTo>
                  <a:cubicBezTo>
                    <a:pt x="5636" y="1594"/>
                    <a:pt x="5633" y="1591"/>
                    <a:pt x="5629" y="1588"/>
                  </a:cubicBezTo>
                  <a:cubicBezTo>
                    <a:pt x="5628" y="1587"/>
                    <a:pt x="5625" y="1586"/>
                    <a:pt x="5624" y="1584"/>
                  </a:cubicBezTo>
                  <a:cubicBezTo>
                    <a:pt x="5623" y="1584"/>
                    <a:pt x="5623" y="1583"/>
                    <a:pt x="5621" y="1583"/>
                  </a:cubicBezTo>
                  <a:lnTo>
                    <a:pt x="3020" y="43"/>
                  </a:lnTo>
                  <a:cubicBezTo>
                    <a:pt x="2949" y="2"/>
                    <a:pt x="2863" y="0"/>
                    <a:pt x="2791" y="40"/>
                  </a:cubicBezTo>
                  <a:lnTo>
                    <a:pt x="156" y="1519"/>
                  </a:lnTo>
                  <a:cubicBezTo>
                    <a:pt x="155" y="1519"/>
                    <a:pt x="155" y="1520"/>
                    <a:pt x="153" y="1520"/>
                  </a:cubicBezTo>
                  <a:cubicBezTo>
                    <a:pt x="152" y="1522"/>
                    <a:pt x="149" y="1523"/>
                    <a:pt x="148" y="1524"/>
                  </a:cubicBezTo>
                  <a:lnTo>
                    <a:pt x="136" y="1532"/>
                  </a:lnTo>
                  <a:cubicBezTo>
                    <a:pt x="135" y="1534"/>
                    <a:pt x="132" y="1535"/>
                    <a:pt x="131" y="1536"/>
                  </a:cubicBezTo>
                  <a:cubicBezTo>
                    <a:pt x="125" y="1540"/>
                    <a:pt x="121" y="1544"/>
                    <a:pt x="117" y="1547"/>
                  </a:cubicBezTo>
                  <a:cubicBezTo>
                    <a:pt x="116" y="1548"/>
                    <a:pt x="113" y="1550"/>
                    <a:pt x="112" y="1552"/>
                  </a:cubicBezTo>
                  <a:cubicBezTo>
                    <a:pt x="108" y="1555"/>
                    <a:pt x="105" y="1559"/>
                    <a:pt x="101" y="1563"/>
                  </a:cubicBezTo>
                  <a:lnTo>
                    <a:pt x="97" y="1567"/>
                  </a:lnTo>
                  <a:cubicBezTo>
                    <a:pt x="93" y="1572"/>
                    <a:pt x="89" y="1576"/>
                    <a:pt x="85" y="1582"/>
                  </a:cubicBezTo>
                  <a:cubicBezTo>
                    <a:pt x="84" y="1583"/>
                    <a:pt x="83" y="1584"/>
                    <a:pt x="83" y="1586"/>
                  </a:cubicBezTo>
                  <a:cubicBezTo>
                    <a:pt x="79" y="1591"/>
                    <a:pt x="75" y="1596"/>
                    <a:pt x="72" y="1603"/>
                  </a:cubicBezTo>
                  <a:lnTo>
                    <a:pt x="72" y="1603"/>
                  </a:lnTo>
                  <a:cubicBezTo>
                    <a:pt x="72" y="1603"/>
                    <a:pt x="72" y="1604"/>
                    <a:pt x="71" y="1604"/>
                  </a:cubicBezTo>
                  <a:cubicBezTo>
                    <a:pt x="68" y="1608"/>
                    <a:pt x="67" y="1612"/>
                    <a:pt x="64" y="1616"/>
                  </a:cubicBezTo>
                  <a:cubicBezTo>
                    <a:pt x="63" y="1619"/>
                    <a:pt x="63" y="1620"/>
                    <a:pt x="61" y="1623"/>
                  </a:cubicBezTo>
                  <a:cubicBezTo>
                    <a:pt x="60" y="1626"/>
                    <a:pt x="59" y="1628"/>
                    <a:pt x="57" y="1630"/>
                  </a:cubicBezTo>
                  <a:lnTo>
                    <a:pt x="53" y="1638"/>
                  </a:lnTo>
                  <a:cubicBezTo>
                    <a:pt x="52" y="1639"/>
                    <a:pt x="52" y="1642"/>
                    <a:pt x="51" y="1643"/>
                  </a:cubicBezTo>
                  <a:cubicBezTo>
                    <a:pt x="49" y="1646"/>
                    <a:pt x="48" y="1650"/>
                    <a:pt x="48" y="1652"/>
                  </a:cubicBezTo>
                  <a:cubicBezTo>
                    <a:pt x="48" y="1654"/>
                    <a:pt x="47" y="1655"/>
                    <a:pt x="47" y="1656"/>
                  </a:cubicBezTo>
                  <a:cubicBezTo>
                    <a:pt x="45" y="1660"/>
                    <a:pt x="45" y="1663"/>
                    <a:pt x="44" y="1667"/>
                  </a:cubicBezTo>
                  <a:cubicBezTo>
                    <a:pt x="44" y="1668"/>
                    <a:pt x="44" y="1670"/>
                    <a:pt x="43" y="1671"/>
                  </a:cubicBezTo>
                  <a:cubicBezTo>
                    <a:pt x="41" y="1675"/>
                    <a:pt x="41" y="1679"/>
                    <a:pt x="40" y="1683"/>
                  </a:cubicBezTo>
                  <a:lnTo>
                    <a:pt x="40" y="1686"/>
                  </a:lnTo>
                  <a:cubicBezTo>
                    <a:pt x="40" y="1690"/>
                    <a:pt x="39" y="1694"/>
                    <a:pt x="39" y="1698"/>
                  </a:cubicBezTo>
                  <a:lnTo>
                    <a:pt x="39" y="1700"/>
                  </a:lnTo>
                  <a:lnTo>
                    <a:pt x="39" y="1714"/>
                  </a:lnTo>
                  <a:lnTo>
                    <a:pt x="39" y="1715"/>
                  </a:lnTo>
                  <a:lnTo>
                    <a:pt x="39" y="1716"/>
                  </a:lnTo>
                  <a:lnTo>
                    <a:pt x="39" y="1718"/>
                  </a:lnTo>
                  <a:lnTo>
                    <a:pt x="39" y="1719"/>
                  </a:lnTo>
                  <a:lnTo>
                    <a:pt x="1" y="4738"/>
                  </a:lnTo>
                  <a:cubicBezTo>
                    <a:pt x="0" y="4819"/>
                    <a:pt x="43" y="4895"/>
                    <a:pt x="112" y="4936"/>
                  </a:cubicBezTo>
                  <a:lnTo>
                    <a:pt x="2725" y="6503"/>
                  </a:lnTo>
                  <a:cubicBezTo>
                    <a:pt x="2761" y="6524"/>
                    <a:pt x="2803" y="6535"/>
                    <a:pt x="2843" y="6535"/>
                  </a:cubicBezTo>
                  <a:cubicBezTo>
                    <a:pt x="2881" y="6535"/>
                    <a:pt x="2920" y="6526"/>
                    <a:pt x="2955" y="6506"/>
                  </a:cubicBezTo>
                  <a:lnTo>
                    <a:pt x="5591" y="5027"/>
                  </a:lnTo>
                  <a:cubicBezTo>
                    <a:pt x="5663" y="4987"/>
                    <a:pt x="5707" y="4911"/>
                    <a:pt x="5708" y="4830"/>
                  </a:cubicBezTo>
                  <a:lnTo>
                    <a:pt x="5731" y="1784"/>
                  </a:lnTo>
                  <a:lnTo>
                    <a:pt x="5731" y="1782"/>
                  </a:lnTo>
                  <a:lnTo>
                    <a:pt x="5731" y="1775"/>
                  </a:lnTo>
                  <a:close/>
                  <a:moveTo>
                    <a:pt x="2900" y="503"/>
                  </a:moveTo>
                  <a:lnTo>
                    <a:pt x="5045" y="1776"/>
                  </a:lnTo>
                  <a:lnTo>
                    <a:pt x="2871" y="2998"/>
                  </a:lnTo>
                  <a:lnTo>
                    <a:pt x="725" y="1724"/>
                  </a:lnTo>
                  <a:lnTo>
                    <a:pt x="2900" y="503"/>
                  </a:lnTo>
                  <a:close/>
                  <a:moveTo>
                    <a:pt x="492" y="2118"/>
                  </a:moveTo>
                  <a:lnTo>
                    <a:pt x="2639" y="3392"/>
                  </a:lnTo>
                  <a:lnTo>
                    <a:pt x="2639" y="5918"/>
                  </a:lnTo>
                  <a:lnTo>
                    <a:pt x="461" y="4612"/>
                  </a:lnTo>
                  <a:lnTo>
                    <a:pt x="492" y="2118"/>
                  </a:lnTo>
                  <a:close/>
                  <a:moveTo>
                    <a:pt x="3095" y="5904"/>
                  </a:moveTo>
                  <a:lnTo>
                    <a:pt x="3095" y="3396"/>
                  </a:lnTo>
                  <a:lnTo>
                    <a:pt x="5271" y="2175"/>
                  </a:lnTo>
                  <a:lnTo>
                    <a:pt x="5252" y="4694"/>
                  </a:lnTo>
                  <a:lnTo>
                    <a:pt x="3095" y="590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1" name="文本框 200"/>
            <p:cNvSpPr txBox="1"/>
            <p:nvPr/>
          </p:nvSpPr>
          <p:spPr>
            <a:xfrm>
              <a:off x="14427" y="3090"/>
              <a:ext cx="1566" cy="211"/>
            </a:xfrm>
            <a:prstGeom prst="rect">
              <a:avLst/>
            </a:prstGeom>
            <a:noFill/>
          </p:spPr>
          <p:txBody>
            <a:bodyPr wrap="square" lIns="0" tIns="0" rIns="0" bIns="0" rtlCol="0">
              <a:spAutoFit/>
            </a:bodyPr>
            <a:lstStyle/>
            <a:p>
              <a:pPr algn="l"/>
              <a:r>
                <a:rPr kumimoji="1" lang="zh-CN" altLang="en-US" sz="1000" b="1" dirty="0">
                  <a:solidFill>
                    <a:schemeClr val="bg1"/>
                  </a:solidFill>
                  <a:latin typeface="微软雅黑" panose="020B0503020204020204" pitchFamily="34" charset="-122"/>
                  <a:ea typeface="微软雅黑" panose="020B0503020204020204" pitchFamily="34" charset="-122"/>
                </a:rPr>
                <a:t>营销运营人员</a:t>
              </a:r>
              <a:endParaRPr kumimoji="1"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202" name="箭头: 右 16"/>
            <p:cNvSpPr/>
            <p:nvPr/>
          </p:nvSpPr>
          <p:spPr>
            <a:xfrm>
              <a:off x="14476" y="3320"/>
              <a:ext cx="4290" cy="946"/>
            </a:xfrm>
            <a:prstGeom prst="rightArrow">
              <a:avLst/>
            </a:prstGeom>
            <a:gradFill flip="none" rotWithShape="1">
              <a:gsLst>
                <a:gs pos="0">
                  <a:schemeClr val="accent3">
                    <a:lumMod val="40000"/>
                    <a:lumOff val="60000"/>
                    <a:alpha val="80000"/>
                  </a:schemeClr>
                </a:gs>
                <a:gs pos="30000">
                  <a:srgbClr val="ECF0F4"/>
                </a:gs>
                <a:gs pos="100000">
                  <a:srgbClr val="A4BBD7"/>
                </a:gs>
              </a:gsLst>
              <a:lin ang="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203" name="矩形 202"/>
            <p:cNvSpPr/>
            <p:nvPr/>
          </p:nvSpPr>
          <p:spPr>
            <a:xfrm>
              <a:off x="14613" y="3531"/>
              <a:ext cx="723"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策略推演</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04" name="箭头: V 形 203"/>
            <p:cNvSpPr/>
            <p:nvPr/>
          </p:nvSpPr>
          <p:spPr>
            <a:xfrm>
              <a:off x="15467" y="3566"/>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205" name="箭头: V 形 204"/>
            <p:cNvSpPr/>
            <p:nvPr/>
          </p:nvSpPr>
          <p:spPr>
            <a:xfrm>
              <a:off x="16454" y="3566"/>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206" name="箭头: V 形 205"/>
            <p:cNvSpPr/>
            <p:nvPr/>
          </p:nvSpPr>
          <p:spPr>
            <a:xfrm>
              <a:off x="17465" y="3566"/>
              <a:ext cx="27" cy="454"/>
            </a:xfrm>
            <a:prstGeom prst="chevron">
              <a:avLst/>
            </a:prstGeom>
            <a:solidFill>
              <a:srgbClr val="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endParaRPr>
            </a:p>
          </p:txBody>
        </p:sp>
        <p:sp>
          <p:nvSpPr>
            <p:cNvPr id="207" name="矩形 206"/>
            <p:cNvSpPr/>
            <p:nvPr/>
          </p:nvSpPr>
          <p:spPr>
            <a:xfrm>
              <a:off x="15620" y="3531"/>
              <a:ext cx="723"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策略跟踪</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08" name="矩形 207"/>
            <p:cNvSpPr/>
            <p:nvPr/>
          </p:nvSpPr>
          <p:spPr>
            <a:xfrm>
              <a:off x="16600" y="3531"/>
              <a:ext cx="723"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营销测评</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09" name="矩形 208"/>
            <p:cNvSpPr/>
            <p:nvPr/>
          </p:nvSpPr>
          <p:spPr>
            <a:xfrm>
              <a:off x="17562" y="3531"/>
              <a:ext cx="723" cy="525"/>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000" b="1" kern="0" dirty="0">
                  <a:latin typeface="微软雅黑" panose="020B0503020204020204" pitchFamily="34" charset="-122"/>
                  <a:ea typeface="微软雅黑" panose="020B0503020204020204" pitchFamily="34" charset="-122"/>
                </a:rPr>
                <a:t>营销反馈</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9" name="文本框 18"/>
            <p:cNvSpPr txBox="1"/>
            <p:nvPr/>
          </p:nvSpPr>
          <p:spPr>
            <a:xfrm>
              <a:off x="9878" y="4278"/>
              <a:ext cx="4240" cy="802"/>
            </a:xfrm>
            <a:prstGeom prst="rect">
              <a:avLst/>
            </a:prstGeom>
            <a:noFill/>
          </p:spPr>
          <p:txBody>
            <a:bodyPr wrap="square" lIns="36000" tIns="45720" rIns="36000" bIns="45720" rtlCol="0">
              <a:spAutoFit/>
            </a:bodyPr>
            <a:lstStyle>
              <a:defPPr>
                <a:defRPr lang="zh-CN"/>
              </a:defPPr>
              <a:lvl1pPr>
                <a:defRPr kumimoji="1" sz="700" i="1">
                  <a:solidFill>
                    <a:schemeClr val="accent1">
                      <a:lumMod val="60000"/>
                      <a:lumOff val="40000"/>
                    </a:schemeClr>
                  </a:solidFill>
                  <a:latin typeface="微软雅黑" panose="020B0503020204020204" pitchFamily="34" charset="-122"/>
                  <a:ea typeface="微软雅黑" panose="020B0503020204020204" pitchFamily="34" charset="-122"/>
                </a:defRPr>
              </a:lvl1pPr>
            </a:lstStyle>
            <a:p>
              <a:r>
                <a:rPr lang="zh-CN" altLang="en-US" sz="800" dirty="0"/>
                <a:t>产品组合：</a:t>
              </a:r>
              <a:r>
                <a:rPr lang="zh-CN" altLang="en-US" sz="800" dirty="0">
                  <a:solidFill>
                    <a:schemeClr val="tx1"/>
                  </a:solidFill>
                </a:rPr>
                <a:t>海外流量套餐包</a:t>
              </a:r>
              <a:r>
                <a:rPr lang="en-US" altLang="zh-CN" sz="800" dirty="0">
                  <a:solidFill>
                    <a:schemeClr val="tx1"/>
                  </a:solidFill>
                </a:rPr>
                <a:t>+</a:t>
              </a:r>
              <a:r>
                <a:rPr lang="zh-CN" altLang="en-US" sz="800" dirty="0">
                  <a:solidFill>
                    <a:schemeClr val="tx1"/>
                  </a:solidFill>
                </a:rPr>
                <a:t>统一</a:t>
              </a:r>
              <a:r>
                <a:rPr lang="en-US" altLang="zh-CN" sz="800" dirty="0">
                  <a:solidFill>
                    <a:schemeClr val="tx1"/>
                  </a:solidFill>
                </a:rPr>
                <a:t>APP</a:t>
              </a:r>
              <a:r>
                <a:rPr lang="zh-CN" altLang="en-US" sz="800" dirty="0">
                  <a:solidFill>
                    <a:schemeClr val="tx1"/>
                  </a:solidFill>
                </a:rPr>
                <a:t>包月</a:t>
              </a:r>
              <a:r>
                <a:rPr lang="en-US" altLang="zh-CN" sz="800" dirty="0">
                  <a:solidFill>
                    <a:schemeClr val="tx1"/>
                  </a:solidFill>
                </a:rPr>
                <a:t>+</a:t>
              </a:r>
              <a:r>
                <a:rPr lang="zh-CN" altLang="en-US" sz="800" dirty="0">
                  <a:solidFill>
                    <a:schemeClr val="tx1"/>
                  </a:solidFill>
                </a:rPr>
                <a:t>硬件组合销售</a:t>
              </a:r>
              <a:endParaRPr lang="zh-CN" altLang="en-US" sz="800" dirty="0">
                <a:solidFill>
                  <a:schemeClr val="tx1"/>
                </a:solidFill>
              </a:endParaRPr>
            </a:p>
            <a:p>
              <a:r>
                <a:rPr lang="zh-CN" altLang="en-US" sz="800" dirty="0"/>
                <a:t>营销话术：</a:t>
              </a:r>
              <a:r>
                <a:rPr lang="zh-CN" altLang="en-US" sz="800" dirty="0">
                  <a:solidFill>
                    <a:schemeClr val="tx1"/>
                  </a:solidFill>
                </a:rPr>
                <a:t>春暖花开，</a:t>
              </a:r>
              <a:r>
                <a:rPr lang="en-US" altLang="zh-CN" sz="800" dirty="0">
                  <a:solidFill>
                    <a:schemeClr val="tx1"/>
                  </a:solidFill>
                </a:rPr>
                <a:t>XX</a:t>
              </a:r>
              <a:r>
                <a:rPr lang="zh-CN" altLang="en-US" sz="800" dirty="0">
                  <a:solidFill>
                    <a:schemeClr val="tx1"/>
                  </a:solidFill>
                </a:rPr>
                <a:t>旅行季开启</a:t>
              </a:r>
              <a:r>
                <a:rPr lang="en-US" altLang="zh-CN" sz="800" dirty="0">
                  <a:solidFill>
                    <a:schemeClr val="tx1"/>
                  </a:solidFill>
                </a:rPr>
                <a:t>…</a:t>
              </a:r>
              <a:endParaRPr lang="zh-CN" altLang="en-US" sz="800" dirty="0">
                <a:solidFill>
                  <a:schemeClr val="tx1"/>
                </a:solidFill>
              </a:endParaRPr>
            </a:p>
            <a:p>
              <a:r>
                <a:rPr lang="zh-CN" altLang="en-US" sz="800" dirty="0"/>
                <a:t>推荐时机：</a:t>
              </a:r>
              <a:r>
                <a:rPr lang="zh-CN" altLang="en-US" sz="800" dirty="0">
                  <a:solidFill>
                    <a:schemeClr val="tx1"/>
                  </a:solidFill>
                </a:rPr>
                <a:t>旅行旺季、热门节假日</a:t>
              </a:r>
              <a:endParaRPr lang="en-US" altLang="zh-CN" sz="800" dirty="0">
                <a:solidFill>
                  <a:schemeClr val="tx1"/>
                </a:solidFill>
              </a:endParaRPr>
            </a:p>
          </p:txBody>
        </p:sp>
        <p:sp>
          <p:nvSpPr>
            <p:cNvPr id="20" name="文本框 19"/>
            <p:cNvSpPr txBox="1"/>
            <p:nvPr/>
          </p:nvSpPr>
          <p:spPr>
            <a:xfrm>
              <a:off x="14525" y="4278"/>
              <a:ext cx="3421" cy="633"/>
            </a:xfrm>
            <a:prstGeom prst="rect">
              <a:avLst/>
            </a:prstGeom>
            <a:noFill/>
          </p:spPr>
          <p:txBody>
            <a:bodyPr wrap="square" lIns="36000" tIns="45720" rIns="36000" bIns="45720" rtlCol="0">
              <a:spAutoFit/>
            </a:bodyPr>
            <a:lstStyle>
              <a:defPPr>
                <a:defRPr lang="zh-CN"/>
              </a:defPPr>
              <a:lvl1pPr>
                <a:defRPr kumimoji="1" sz="700" i="1">
                  <a:solidFill>
                    <a:schemeClr val="accent1">
                      <a:lumMod val="60000"/>
                      <a:lumOff val="40000"/>
                    </a:schemeClr>
                  </a:solidFill>
                  <a:latin typeface="微软雅黑" panose="020B0503020204020204" pitchFamily="34" charset="-122"/>
                  <a:ea typeface="微软雅黑" panose="020B0503020204020204" pitchFamily="34" charset="-122"/>
                </a:defRPr>
              </a:lvl1pPr>
            </a:lstStyle>
            <a:p>
              <a:r>
                <a:rPr lang="zh-CN" altLang="en-US" sz="800" dirty="0"/>
                <a:t>营销成功率：</a:t>
              </a:r>
              <a:r>
                <a:rPr lang="en-US" altLang="zh-CN" sz="800" dirty="0">
                  <a:solidFill>
                    <a:schemeClr val="tx1"/>
                  </a:solidFill>
                </a:rPr>
                <a:t>80%</a:t>
              </a:r>
              <a:endParaRPr lang="en-US" altLang="zh-CN" sz="800" dirty="0">
                <a:solidFill>
                  <a:schemeClr val="tx1"/>
                </a:solidFill>
              </a:endParaRPr>
            </a:p>
            <a:p>
              <a:r>
                <a:rPr lang="zh-CN" altLang="en-US" sz="800" dirty="0"/>
                <a:t>营销收益：</a:t>
              </a:r>
              <a:r>
                <a:rPr lang="zh-CN" altLang="en-US" sz="800" dirty="0">
                  <a:solidFill>
                    <a:schemeClr val="tx1"/>
                  </a:solidFill>
                </a:rPr>
                <a:t>季度收益提升</a:t>
              </a:r>
              <a:r>
                <a:rPr lang="en-US" altLang="zh-CN" sz="800" dirty="0">
                  <a:solidFill>
                    <a:schemeClr val="tx1"/>
                  </a:solidFill>
                </a:rPr>
                <a:t>20%</a:t>
              </a:r>
              <a:endParaRPr lang="zh-CN" altLang="en-US" sz="800" dirty="0">
                <a:solidFill>
                  <a:schemeClr val="tx1"/>
                </a:solidFill>
              </a:endParaRPr>
            </a:p>
            <a:p>
              <a:r>
                <a:rPr lang="zh-CN" altLang="en-US" sz="800" dirty="0"/>
                <a:t>执行反馈：</a:t>
              </a:r>
              <a:r>
                <a:rPr lang="en-US" altLang="zh-CN" sz="800" dirty="0">
                  <a:solidFill>
                    <a:schemeClr val="tx1"/>
                  </a:solidFill>
                </a:rPr>
                <a:t>4</a:t>
              </a:r>
              <a:r>
                <a:rPr lang="zh-CN" altLang="en-US" sz="800" dirty="0">
                  <a:solidFill>
                    <a:schemeClr val="tx1"/>
                  </a:solidFill>
                </a:rPr>
                <a:t>月份欧洲游火爆，加大营销力度</a:t>
              </a:r>
              <a:endParaRPr lang="en-US" altLang="zh-CN" sz="800" dirty="0">
                <a:solidFill>
                  <a:schemeClr val="tx1"/>
                </a:solidFill>
              </a:endParaRPr>
            </a:p>
          </p:txBody>
        </p:sp>
      </p:grpSp>
      <p:grpSp>
        <p:nvGrpSpPr>
          <p:cNvPr id="22" name="组 13"/>
          <p:cNvGrpSpPr/>
          <p:nvPr/>
        </p:nvGrpSpPr>
        <p:grpSpPr>
          <a:xfrm>
            <a:off x="10506192" y="4989960"/>
            <a:ext cx="1620285" cy="1782705"/>
            <a:chOff x="7775541" y="3646905"/>
            <a:chExt cx="1360242" cy="1496595"/>
          </a:xfrm>
        </p:grpSpPr>
        <p:sp>
          <p:nvSpPr>
            <p:cNvPr id="24" name="任意形状 6"/>
            <p:cNvSpPr/>
            <p:nvPr/>
          </p:nvSpPr>
          <p:spPr>
            <a:xfrm rot="16200000">
              <a:off x="7707364" y="3715081"/>
              <a:ext cx="1496595" cy="1360242"/>
            </a:xfrm>
            <a:custGeom>
              <a:avLst/>
              <a:gdLst>
                <a:gd name="connsiteX0" fmla="*/ 1496595 w 1496595"/>
                <a:gd name="connsiteY0" fmla="*/ 1360242 h 1360242"/>
                <a:gd name="connsiteX1" fmla="*/ 956557 w 1496595"/>
                <a:gd name="connsiteY1" fmla="*/ 1360242 h 1360242"/>
                <a:gd name="connsiteX2" fmla="*/ 0 w 1496595"/>
                <a:gd name="connsiteY2" fmla="*/ 490836 h 1360242"/>
                <a:gd name="connsiteX3" fmla="*/ 0 w 1496595"/>
                <a:gd name="connsiteY3" fmla="*/ 0 h 1360242"/>
              </a:gdLst>
              <a:ahLst/>
              <a:cxnLst>
                <a:cxn ang="0">
                  <a:pos x="connsiteX0" y="connsiteY0"/>
                </a:cxn>
                <a:cxn ang="0">
                  <a:pos x="connsiteX1" y="connsiteY1"/>
                </a:cxn>
                <a:cxn ang="0">
                  <a:pos x="connsiteX2" y="connsiteY2"/>
                </a:cxn>
                <a:cxn ang="0">
                  <a:pos x="connsiteX3" y="connsiteY3"/>
                </a:cxn>
              </a:cxnLst>
              <a:rect l="l" t="t" r="r" b="b"/>
              <a:pathLst>
                <a:path w="1496595" h="1360242">
                  <a:moveTo>
                    <a:pt x="1496595" y="1360242"/>
                  </a:moveTo>
                  <a:lnTo>
                    <a:pt x="956557" y="1360242"/>
                  </a:lnTo>
                  <a:lnTo>
                    <a:pt x="0" y="490836"/>
                  </a:lnTo>
                  <a:lnTo>
                    <a:pt x="0" y="0"/>
                  </a:lnTo>
                  <a:close/>
                </a:path>
              </a:pathLst>
            </a:custGeom>
            <a:solidFill>
              <a:srgbClr val="EF954D">
                <a:lumMod val="60000"/>
                <a:lumOff val="40000"/>
                <a:alpha val="72000"/>
              </a:srgbClr>
            </a:solidFill>
            <a:ln w="9525" cap="flat" cmpd="sng" algn="ctr">
              <a:noFill/>
              <a:prstDash val="solid"/>
            </a:ln>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dirty="0">
                <a:ln>
                  <a:noFill/>
                </a:ln>
                <a:solidFill>
                  <a:srgbClr val="000000">
                    <a:lumMod val="85000"/>
                    <a:lumOff val="15000"/>
                  </a:srgbClr>
                </a:solidFill>
                <a:effectLst/>
                <a:uLnTx/>
                <a:uFillTx/>
                <a:latin typeface="Arial" panose="020B0604020202020204"/>
                <a:ea typeface="黑体" panose="02010609060101010101" charset="-122"/>
                <a:cs typeface="+mn-ea"/>
                <a:sym typeface="+mn-lt"/>
              </a:endParaRPr>
            </a:p>
          </p:txBody>
        </p:sp>
        <p:sp>
          <p:nvSpPr>
            <p:cNvPr id="25" name="文本框 24"/>
            <p:cNvSpPr txBox="1"/>
            <p:nvPr/>
          </p:nvSpPr>
          <p:spPr>
            <a:xfrm rot="18696404">
              <a:off x="8126099" y="4369720"/>
              <a:ext cx="832150" cy="360900"/>
            </a:xfrm>
            <a:prstGeom prst="rect">
              <a:avLst/>
            </a:prstGeom>
            <a:noFill/>
          </p:spPr>
          <p:txBody>
            <a:bodyPr wrap="none" rtlCol="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暂定</a:t>
              </a:r>
              <a:endParaRPr kumimoji="1" lang="en-US" altLang="zh-CN"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（内容将更新</a:t>
              </a:r>
              <a:r>
                <a:rPr kumimoji="1" lang="en-US" altLang="zh-CN"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a:t>
              </a:r>
              <a:endPar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标题 1"/>
          <p:cNvSpPr>
            <a:spLocks noGrp="1"/>
          </p:cNvSpPr>
          <p:nvPr>
            <p:ph type="title"/>
          </p:nvPr>
        </p:nvSpPr>
        <p:spPr>
          <a:xfrm>
            <a:off x="150829" y="274371"/>
            <a:ext cx="9577633" cy="486572"/>
          </a:xfrm>
        </p:spPr>
        <p:txBody>
          <a:bodyPr>
            <a:normAutofit/>
          </a:bodyPr>
          <a:lstStyle/>
          <a:p>
            <a:pPr algn="l">
              <a:buClrTx/>
              <a:buSzTx/>
              <a:buFontTx/>
            </a:pP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路径图|</a:t>
            </a:r>
            <a:r>
              <a:rPr lang="zh-CN" altLang="en-US">
                <a:sym typeface="+mn-ea"/>
              </a:rPr>
              <a:t>升级融合运营能力：③全产品灵活封装供给</a:t>
            </a:r>
            <a:endParaRPr lang="zh-CN" altLang="en-US">
              <a:sym typeface="+mn-ea"/>
            </a:endParaRPr>
          </a:p>
        </p:txBody>
      </p:sp>
      <p:sp>
        <p:nvSpPr>
          <p:cNvPr id="85" name="文本框 84"/>
          <p:cNvSpPr txBox="1"/>
          <p:nvPr/>
        </p:nvSpPr>
        <p:spPr>
          <a:xfrm>
            <a:off x="562610" y="916305"/>
            <a:ext cx="11308715" cy="644525"/>
          </a:xfrm>
          <a:prstGeom prst="rect">
            <a:avLst/>
          </a:prstGeom>
          <a:noFill/>
        </p:spPr>
        <p:txBody>
          <a:bodyPr wrap="square" rtlCol="0" anchor="t">
            <a:noAutofit/>
          </a:bodyPr>
          <a:lstStyle/>
          <a:p>
            <a:pPr marL="285750" indent="-285750" algn="l">
              <a:lnSpc>
                <a:spcPct val="140000"/>
              </a:lnSpc>
              <a:buClrTx/>
              <a:buSzTx/>
              <a:buFont typeface="Arial" panose="020B0604020202020204" pitchFamily="34" charset="0"/>
              <a:buChar char="•"/>
            </a:pPr>
            <a:endParaRPr lang="en-US" altLang="zh-CN"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文本框 12"/>
          <p:cNvSpPr txBox="1"/>
          <p:nvPr/>
        </p:nvSpPr>
        <p:spPr>
          <a:xfrm>
            <a:off x="23495" y="6015990"/>
            <a:ext cx="697230" cy="485140"/>
          </a:xfrm>
          <a:prstGeom prst="rect">
            <a:avLst/>
          </a:prstGeom>
          <a:noFill/>
        </p:spPr>
        <p:txBody>
          <a:bodyPr wrap="square">
            <a:noAutofit/>
          </a:bodyPr>
          <a:p>
            <a:pPr algn="ctr"/>
            <a:r>
              <a:rPr kumimoji="1" lang="zh-CN" altLang="en-US" sz="1600" b="1" dirty="0"/>
              <a:t>提升举措</a:t>
            </a:r>
            <a:endParaRPr kumimoji="1" lang="zh-CN" altLang="en-US" sz="1600" b="1" dirty="0"/>
          </a:p>
        </p:txBody>
      </p:sp>
      <p:sp>
        <p:nvSpPr>
          <p:cNvPr id="2" name="文本框 1"/>
          <p:cNvSpPr txBox="1"/>
          <p:nvPr/>
        </p:nvSpPr>
        <p:spPr>
          <a:xfrm>
            <a:off x="68580" y="873125"/>
            <a:ext cx="11864340" cy="607695"/>
          </a:xfrm>
          <a:prstGeom prst="rect">
            <a:avLst/>
          </a:prstGeom>
          <a:noFill/>
        </p:spPr>
        <p:txBody>
          <a:bodyPr wrap="square" rtlCol="0" anchor="t">
            <a:spAutoFit/>
          </a:bodyPr>
          <a:p>
            <a:pPr lvl="0" defTabSz="457200">
              <a:lnSpc>
                <a:spcPct val="120000"/>
              </a:lnSpc>
              <a:defRPr/>
            </a:pPr>
            <a:r>
              <a:rPr kumimoji="0" lang="en-US" altLang="zh-CN" sz="1400" b="0" i="0" u="none" strike="noStrike" kern="0" cap="none" spc="0" normalizeH="0" baseline="0" noProof="0" dirty="0">
                <a:ln>
                  <a:noFill/>
                </a:ln>
                <a:solidFill>
                  <a:srgbClr val="009CE2">
                    <a:alpha val="100000"/>
                  </a:srgbClr>
                </a:solidFill>
                <a:effectLst/>
                <a:uLnTx/>
                <a:uFillTx/>
                <a:latin typeface="Wingdings" panose="05000000000000000000"/>
                <a:ea typeface="Wingdings" panose="05000000000000000000"/>
                <a:cs typeface="Wingdings" panose="05000000000000000000"/>
                <a:sym typeface="+mn-ea"/>
              </a:rPr>
              <a:t>n</a:t>
            </a:r>
            <a:r>
              <a:rPr kumimoji="0" lang="zh-CN" altLang="en-US" sz="1400" b="0" i="0" u="none" strike="noStrike" kern="0" cap="none" spc="-330" normalizeH="0" baseline="0" noProof="0" dirty="0">
                <a:ln>
                  <a:noFill/>
                </a:ln>
                <a:solidFill>
                  <a:srgbClr val="009CE2">
                    <a:alpha val="100000"/>
                  </a:srgbClr>
                </a:solidFill>
                <a:effectLst/>
                <a:uLnTx/>
                <a:uFillTx/>
                <a:latin typeface="Wingdings" panose="05000000000000000000"/>
                <a:ea typeface="Wingdings" panose="05000000000000000000"/>
                <a:cs typeface="Wingdings" panose="05000000000000000000"/>
                <a:sym typeface="+mn-ea"/>
              </a:rPr>
              <a:t> </a:t>
            </a:r>
            <a:r>
              <a:rPr lang="zh-CN" altLang="en-US" sz="1400" b="1" dirty="0">
                <a:solidFill>
                  <a:srgbClr val="000000"/>
                </a:solidFill>
                <a:latin typeface="微软雅黑" panose="020B0503020204020204" pitchFamily="34" charset="-122"/>
                <a:ea typeface="微软雅黑" panose="020B0503020204020204" pitchFamily="34" charset="-122"/>
                <a:sym typeface="+mn-ea"/>
              </a:rPr>
              <a:t>基于细分市场打造高质量产品供给体系，强化集省专协同，贯穿产品全生命周期流程，实现线上化和智能化。优化运营评估体系，提升产品质量，强化产品力，推进产品规模再创新高。</a:t>
            </a:r>
            <a:endParaRPr lang="zh-CN" altLang="en-US" sz="1400" b="1" dirty="0">
              <a:solidFill>
                <a:srgbClr val="000000"/>
              </a:solidFill>
              <a:latin typeface="微软雅黑" panose="020B0503020204020204" pitchFamily="34" charset="-122"/>
              <a:ea typeface="微软雅黑" panose="020B0503020204020204" pitchFamily="34" charset="-122"/>
              <a:sym typeface="+mn-ea"/>
            </a:endParaRPr>
          </a:p>
        </p:txBody>
      </p:sp>
      <p:sp>
        <p:nvSpPr>
          <p:cNvPr id="12" name="矩形 11"/>
          <p:cNvSpPr/>
          <p:nvPr/>
        </p:nvSpPr>
        <p:spPr>
          <a:xfrm>
            <a:off x="814070" y="5876925"/>
            <a:ext cx="10968990" cy="881380"/>
          </a:xfrm>
          <a:prstGeom prst="rect">
            <a:avLst/>
          </a:prstGeom>
          <a:solidFill>
            <a:srgbClr val="BFE5FF"/>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dirty="0"/>
          </a:p>
        </p:txBody>
      </p:sp>
      <p:sp>
        <p:nvSpPr>
          <p:cNvPr id="60" name="文本框 59"/>
          <p:cNvSpPr txBox="1"/>
          <p:nvPr/>
        </p:nvSpPr>
        <p:spPr>
          <a:xfrm>
            <a:off x="2508250" y="6123940"/>
            <a:ext cx="1440180" cy="198755"/>
          </a:xfrm>
          <a:prstGeom prst="rect">
            <a:avLst/>
          </a:prstGeom>
          <a:noFill/>
        </p:spPr>
        <p:txBody>
          <a:bodyPr wrap="square" rtlCol="0">
            <a:noAutofit/>
          </a:bodyPr>
          <a:p>
            <a:pPr algn="l"/>
            <a:endParaRPr kumimoji="1" lang="zh-CN" altLang="en-US" sz="1000" dirty="0" smtClean="0">
              <a:solidFill>
                <a:schemeClr val="accent1">
                  <a:lumMod val="75000"/>
                </a:schemeClr>
              </a:solidFill>
              <a:latin typeface="微软雅黑" panose="020B0503020204020204" pitchFamily="34" charset="-122"/>
              <a:ea typeface="微软雅黑" panose="020B0503020204020204" pitchFamily="34" charset="-122"/>
            </a:endParaRPr>
          </a:p>
        </p:txBody>
      </p:sp>
      <p:sp>
        <p:nvSpPr>
          <p:cNvPr id="27" name="矩形 26"/>
          <p:cNvSpPr/>
          <p:nvPr/>
        </p:nvSpPr>
        <p:spPr>
          <a:xfrm>
            <a:off x="877570" y="5910580"/>
            <a:ext cx="5605780" cy="791845"/>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0000" rtlCol="0" anchor="t" anchorCtr="0"/>
          <a:p>
            <a:pPr algn="ctr">
              <a:lnSpc>
                <a:spcPct val="130000"/>
              </a:lnSpc>
            </a:pPr>
            <a:r>
              <a:rPr kumimoji="1" lang="zh-CN" altLang="en-US" sz="1200" b="1" kern="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打造高质量产品供给</a:t>
            </a:r>
            <a:endParaRPr kumimoji="1" lang="zh-CN" altLang="en-US" sz="1200" b="1" kern="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34" name="矩形 33"/>
          <p:cNvSpPr/>
          <p:nvPr/>
        </p:nvSpPr>
        <p:spPr>
          <a:xfrm>
            <a:off x="6544945" y="5913755"/>
            <a:ext cx="5190490" cy="791845"/>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0000" rtlCol="0" anchor="t" anchorCtr="0"/>
          <a:p>
            <a:pPr algn="ctr">
              <a:lnSpc>
                <a:spcPct val="130000"/>
              </a:lnSpc>
            </a:pPr>
            <a:r>
              <a:rPr kumimoji="1" lang="en-US" altLang="zh-CN" sz="1200" b="1" kern="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 </a:t>
            </a:r>
            <a:r>
              <a:rPr kumimoji="1" lang="zh-CN" altLang="en-US" sz="1200" b="1" kern="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建强产品端到端运营</a:t>
            </a:r>
            <a:br>
              <a:rPr kumimoji="1" lang="en-US" altLang="zh-CN" sz="1000" b="1" dirty="0">
                <a:solidFill>
                  <a:schemeClr val="tx1"/>
                </a:solidFill>
                <a:latin typeface="+mn-ea"/>
              </a:rPr>
            </a:br>
            <a:endParaRPr kumimoji="1" lang="en-US" altLang="zh-CN" sz="1000" b="1" dirty="0">
              <a:solidFill>
                <a:schemeClr val="tx1"/>
              </a:solidFill>
              <a:latin typeface="+mn-ea"/>
            </a:endParaRPr>
          </a:p>
        </p:txBody>
      </p:sp>
      <p:sp>
        <p:nvSpPr>
          <p:cNvPr id="48" name="文本框 47"/>
          <p:cNvSpPr txBox="1"/>
          <p:nvPr/>
        </p:nvSpPr>
        <p:spPr>
          <a:xfrm>
            <a:off x="876935" y="6137275"/>
            <a:ext cx="5546090" cy="491490"/>
          </a:xfrm>
          <a:prstGeom prst="rect">
            <a:avLst/>
          </a:prstGeom>
          <a:noFill/>
        </p:spPr>
        <p:txBody>
          <a:bodyPr wrap="square" rtlCol="0">
            <a:spAutoFit/>
          </a:bodyPr>
          <a:p>
            <a:pPr algn="l">
              <a:lnSpc>
                <a:spcPct val="130000"/>
              </a:lnSpc>
            </a:pPr>
            <a:r>
              <a:rPr kumimoji="1" lang="zh-CN" altLang="en-US" sz="1000" dirty="0">
                <a:latin typeface="微软雅黑" panose="020B0503020204020204" pitchFamily="34" charset="-122"/>
                <a:ea typeface="微软雅黑" panose="020B0503020204020204" pitchFamily="34" charset="-122"/>
                <a:sym typeface="+mn-ea"/>
              </a:rPr>
              <a:t>①省专产品模型标准化，</a:t>
            </a:r>
            <a:r>
              <a:rPr kumimoji="1" lang="zh-CN" altLang="en-US" sz="1000" b="1" dirty="0">
                <a:solidFill>
                  <a:schemeClr val="accent1"/>
                </a:solidFill>
                <a:latin typeface="微软雅黑" panose="020B0503020204020204" pitchFamily="34" charset="-122"/>
                <a:ea typeface="微软雅黑" panose="020B0503020204020204" pitchFamily="34" charset="-122"/>
              </a:rPr>
              <a:t>构建全网原子产品库</a:t>
            </a:r>
            <a:r>
              <a:rPr kumimoji="1" lang="zh-CN" altLang="en-US" sz="1000" dirty="0">
                <a:latin typeface="微软雅黑" panose="020B0503020204020204" pitchFamily="34" charset="-122"/>
                <a:ea typeface="微软雅黑" panose="020B0503020204020204" pitchFamily="34" charset="-122"/>
              </a:rPr>
              <a:t>；②</a:t>
            </a:r>
            <a:r>
              <a:rPr kumimoji="1" lang="zh-CN" altLang="en-US" sz="1000" b="1" dirty="0">
                <a:solidFill>
                  <a:srgbClr val="0070C0"/>
                </a:solidFill>
                <a:latin typeface="微软雅黑" panose="020B0503020204020204" pitchFamily="34" charset="-122"/>
                <a:ea typeface="微软雅黑" panose="020B0503020204020204" pitchFamily="34" charset="-122"/>
              </a:rPr>
              <a:t>打造融合商品智慧化封装能力</a:t>
            </a:r>
            <a:r>
              <a:rPr kumimoji="1" lang="zh-CN" altLang="en-US" sz="1000" dirty="0">
                <a:latin typeface="微软雅黑" panose="020B0503020204020204" pitchFamily="34" charset="-122"/>
                <a:ea typeface="微软雅黑" panose="020B0503020204020204" pitchFamily="34" charset="-122"/>
              </a:rPr>
              <a:t>，结合营销场景实现融合商品快速封装、灵活优惠。</a:t>
            </a:r>
            <a:endParaRPr kumimoji="1" lang="zh-CN" altLang="en-US" sz="1000" dirty="0">
              <a:latin typeface="微软雅黑" panose="020B0503020204020204" pitchFamily="34" charset="-122"/>
              <a:ea typeface="微软雅黑" panose="020B0503020204020204" pitchFamily="34" charset="-122"/>
            </a:endParaRPr>
          </a:p>
        </p:txBody>
      </p:sp>
      <p:sp>
        <p:nvSpPr>
          <p:cNvPr id="86" name="文本框 85"/>
          <p:cNvSpPr txBox="1"/>
          <p:nvPr/>
        </p:nvSpPr>
        <p:spPr>
          <a:xfrm>
            <a:off x="6632575" y="6147435"/>
            <a:ext cx="5043805" cy="491490"/>
          </a:xfrm>
          <a:prstGeom prst="rect">
            <a:avLst/>
          </a:prstGeom>
          <a:noFill/>
        </p:spPr>
        <p:txBody>
          <a:bodyPr wrap="square" rtlCol="0">
            <a:spAutoFit/>
          </a:bodyPr>
          <a:p>
            <a:pPr algn="l">
              <a:lnSpc>
                <a:spcPct val="130000"/>
              </a:lnSpc>
            </a:pPr>
            <a:r>
              <a:rPr kumimoji="1" lang="zh-CN" altLang="en-US" sz="1000" dirty="0">
                <a:latin typeface="微软雅黑" panose="020B0503020204020204" pitchFamily="34" charset="-122"/>
                <a:ea typeface="微软雅黑" panose="020B0503020204020204" pitchFamily="34" charset="-122"/>
                <a:sym typeface="+mn-ea"/>
              </a:rPr>
              <a:t>①汇聚全网产品数据，打造</a:t>
            </a:r>
            <a:r>
              <a:rPr kumimoji="1" lang="zh-CN" altLang="en-US" sz="1000" b="1" dirty="0">
                <a:solidFill>
                  <a:srgbClr val="0070C0"/>
                </a:solidFill>
                <a:latin typeface="微软雅黑" panose="020B0503020204020204" pitchFamily="34" charset="-122"/>
                <a:ea typeface="微软雅黑" panose="020B0503020204020204" pitchFamily="34" charset="-122"/>
                <a:sym typeface="+mn-ea"/>
              </a:rPr>
              <a:t>产品运营信息库</a:t>
            </a:r>
            <a:r>
              <a:rPr kumimoji="1" lang="zh-CN" altLang="en-US" sz="1000" dirty="0">
                <a:latin typeface="微软雅黑" panose="020B0503020204020204" pitchFamily="34" charset="-122"/>
                <a:ea typeface="微软雅黑" panose="020B0503020204020204" pitchFamily="34" charset="-122"/>
                <a:sym typeface="+mn-ea"/>
              </a:rPr>
              <a:t>；②构建</a:t>
            </a:r>
            <a:r>
              <a:rPr kumimoji="1" lang="zh-CN" altLang="en-US" sz="1000" b="1" dirty="0">
                <a:solidFill>
                  <a:srgbClr val="0070C0"/>
                </a:solidFill>
                <a:latin typeface="微软雅黑" panose="020B0503020204020204" pitchFamily="34" charset="-122"/>
                <a:ea typeface="微软雅黑" panose="020B0503020204020204" pitchFamily="34" charset="-122"/>
                <a:sym typeface="+mn-ea"/>
              </a:rPr>
              <a:t>智能化运营能力</a:t>
            </a:r>
            <a:r>
              <a:rPr kumimoji="1" lang="zh-CN" altLang="en-US" sz="1000" dirty="0">
                <a:latin typeface="微软雅黑" panose="020B0503020204020204" pitchFamily="34" charset="-122"/>
                <a:ea typeface="微软雅黑" panose="020B0503020204020204" pitchFamily="34" charset="-122"/>
                <a:sym typeface="+mn-ea"/>
              </a:rPr>
              <a:t>，支撑产品全生命周期数智运营；③</a:t>
            </a:r>
            <a:r>
              <a:rPr kumimoji="1" lang="zh-CN" altLang="en-US" sz="1000" b="1" dirty="0">
                <a:solidFill>
                  <a:srgbClr val="0070C0"/>
                </a:solidFill>
                <a:latin typeface="微软雅黑" panose="020B0503020204020204" pitchFamily="34" charset="-122"/>
                <a:ea typeface="微软雅黑" panose="020B0503020204020204" pitchFamily="34" charset="-122"/>
                <a:sym typeface="+mn-ea"/>
              </a:rPr>
              <a:t>贯通集省专运营协同自动化</a:t>
            </a:r>
            <a:r>
              <a:rPr kumimoji="1" lang="zh-CN" altLang="en-US" sz="1000" dirty="0">
                <a:latin typeface="微软雅黑" panose="020B0503020204020204" pitchFamily="34" charset="-122"/>
                <a:ea typeface="微软雅黑" panose="020B0503020204020204" pitchFamily="34" charset="-122"/>
                <a:sym typeface="+mn-ea"/>
              </a:rPr>
              <a:t>，提升集省专OKR等专项任务协同效率。</a:t>
            </a:r>
            <a:endParaRPr kumimoji="1" lang="zh-CN" altLang="en-US" sz="1000" dirty="0">
              <a:latin typeface="微软雅黑" panose="020B0503020204020204" pitchFamily="34" charset="-122"/>
              <a:ea typeface="微软雅黑" panose="020B0503020204020204" pitchFamily="34" charset="-122"/>
              <a:sym typeface="+mn-ea"/>
            </a:endParaRPr>
          </a:p>
        </p:txBody>
      </p:sp>
      <p:grpSp>
        <p:nvGrpSpPr>
          <p:cNvPr id="35" name="组 13"/>
          <p:cNvGrpSpPr/>
          <p:nvPr/>
        </p:nvGrpSpPr>
        <p:grpSpPr>
          <a:xfrm>
            <a:off x="10506192" y="4989960"/>
            <a:ext cx="1620285" cy="1782705"/>
            <a:chOff x="7775541" y="3646905"/>
            <a:chExt cx="1360242" cy="1496595"/>
          </a:xfrm>
        </p:grpSpPr>
        <p:sp>
          <p:nvSpPr>
            <p:cNvPr id="37" name="任意形状 6"/>
            <p:cNvSpPr/>
            <p:nvPr/>
          </p:nvSpPr>
          <p:spPr>
            <a:xfrm rot="16200000">
              <a:off x="7707364" y="3715081"/>
              <a:ext cx="1496595" cy="1360242"/>
            </a:xfrm>
            <a:custGeom>
              <a:avLst/>
              <a:gdLst>
                <a:gd name="connsiteX0" fmla="*/ 1496595 w 1496595"/>
                <a:gd name="connsiteY0" fmla="*/ 1360242 h 1360242"/>
                <a:gd name="connsiteX1" fmla="*/ 956557 w 1496595"/>
                <a:gd name="connsiteY1" fmla="*/ 1360242 h 1360242"/>
                <a:gd name="connsiteX2" fmla="*/ 0 w 1496595"/>
                <a:gd name="connsiteY2" fmla="*/ 490836 h 1360242"/>
                <a:gd name="connsiteX3" fmla="*/ 0 w 1496595"/>
                <a:gd name="connsiteY3" fmla="*/ 0 h 1360242"/>
              </a:gdLst>
              <a:ahLst/>
              <a:cxnLst>
                <a:cxn ang="0">
                  <a:pos x="connsiteX0" y="connsiteY0"/>
                </a:cxn>
                <a:cxn ang="0">
                  <a:pos x="connsiteX1" y="connsiteY1"/>
                </a:cxn>
                <a:cxn ang="0">
                  <a:pos x="connsiteX2" y="connsiteY2"/>
                </a:cxn>
                <a:cxn ang="0">
                  <a:pos x="connsiteX3" y="connsiteY3"/>
                </a:cxn>
              </a:cxnLst>
              <a:rect l="l" t="t" r="r" b="b"/>
              <a:pathLst>
                <a:path w="1496595" h="1360242">
                  <a:moveTo>
                    <a:pt x="1496595" y="1360242"/>
                  </a:moveTo>
                  <a:lnTo>
                    <a:pt x="956557" y="1360242"/>
                  </a:lnTo>
                  <a:lnTo>
                    <a:pt x="0" y="490836"/>
                  </a:lnTo>
                  <a:lnTo>
                    <a:pt x="0" y="0"/>
                  </a:lnTo>
                  <a:close/>
                </a:path>
              </a:pathLst>
            </a:custGeom>
            <a:solidFill>
              <a:srgbClr val="EF954D">
                <a:lumMod val="60000"/>
                <a:lumOff val="40000"/>
                <a:alpha val="72000"/>
              </a:srgbClr>
            </a:solidFill>
            <a:ln w="9525" cap="flat" cmpd="sng" algn="ctr">
              <a:noFill/>
              <a:prstDash val="solid"/>
            </a:ln>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dirty="0">
                <a:ln>
                  <a:noFill/>
                </a:ln>
                <a:solidFill>
                  <a:srgbClr val="000000">
                    <a:lumMod val="85000"/>
                    <a:lumOff val="15000"/>
                  </a:srgbClr>
                </a:solidFill>
                <a:effectLst/>
                <a:uLnTx/>
                <a:uFillTx/>
                <a:latin typeface="Arial" panose="020B0604020202020204"/>
                <a:ea typeface="黑体" panose="02010609060101010101" charset="-122"/>
                <a:cs typeface="+mn-ea"/>
                <a:sym typeface="+mn-lt"/>
              </a:endParaRPr>
            </a:p>
          </p:txBody>
        </p:sp>
        <p:sp>
          <p:nvSpPr>
            <p:cNvPr id="77" name="文本框 76"/>
            <p:cNvSpPr txBox="1"/>
            <p:nvPr/>
          </p:nvSpPr>
          <p:spPr>
            <a:xfrm rot="18696404">
              <a:off x="8126099" y="4369720"/>
              <a:ext cx="832150" cy="360900"/>
            </a:xfrm>
            <a:prstGeom prst="rect">
              <a:avLst/>
            </a:prstGeom>
            <a:noFill/>
          </p:spPr>
          <p:txBody>
            <a:bodyPr wrap="none" rtlCol="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暂定</a:t>
              </a:r>
              <a:endParaRPr kumimoji="1" lang="en-US" altLang="zh-CN"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（内容将更新</a:t>
              </a:r>
              <a:r>
                <a:rPr kumimoji="1" lang="en-US" altLang="zh-CN"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a:t>
              </a:r>
              <a:endPar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p:txBody>
        </p:sp>
      </p:grpSp>
      <p:grpSp>
        <p:nvGrpSpPr>
          <p:cNvPr id="28" name="组合 27"/>
          <p:cNvGrpSpPr/>
          <p:nvPr/>
        </p:nvGrpSpPr>
        <p:grpSpPr>
          <a:xfrm>
            <a:off x="8255" y="4699635"/>
            <a:ext cx="11843385" cy="1109516"/>
            <a:chOff x="13" y="7124"/>
            <a:chExt cx="18651" cy="1938"/>
          </a:xfrm>
        </p:grpSpPr>
        <p:sp>
          <p:nvSpPr>
            <p:cNvPr id="17" name="文本框 16"/>
            <p:cNvSpPr txBox="1"/>
            <p:nvPr/>
          </p:nvSpPr>
          <p:spPr>
            <a:xfrm>
              <a:off x="13" y="7577"/>
              <a:ext cx="1098" cy="1019"/>
            </a:xfrm>
            <a:prstGeom prst="rect">
              <a:avLst/>
            </a:prstGeom>
            <a:noFill/>
          </p:spPr>
          <p:txBody>
            <a:bodyPr wrap="square">
              <a:spAutoFit/>
            </a:bodyPr>
            <a:p>
              <a:pPr algn="ctr"/>
              <a:r>
                <a:rPr kumimoji="1" lang="zh-CN" altLang="en-US" sz="1600" b="1" dirty="0"/>
                <a:t>平台能力</a:t>
              </a:r>
              <a:endParaRPr kumimoji="1" lang="zh-CN" altLang="en-US" sz="1600" b="1" dirty="0"/>
            </a:p>
          </p:txBody>
        </p:sp>
        <p:grpSp>
          <p:nvGrpSpPr>
            <p:cNvPr id="49" name="组合 48"/>
            <p:cNvGrpSpPr/>
            <p:nvPr/>
          </p:nvGrpSpPr>
          <p:grpSpPr>
            <a:xfrm rot="0">
              <a:off x="1260" y="7124"/>
              <a:ext cx="17404" cy="1902"/>
              <a:chOff x="1282" y="7060"/>
              <a:chExt cx="17404" cy="1902"/>
            </a:xfrm>
          </p:grpSpPr>
          <p:sp>
            <p:nvSpPr>
              <p:cNvPr id="5" name="圆角矩形 4"/>
              <p:cNvSpPr/>
              <p:nvPr/>
            </p:nvSpPr>
            <p:spPr>
              <a:xfrm>
                <a:off x="1404" y="7183"/>
                <a:ext cx="17152" cy="1206"/>
              </a:xfrm>
              <a:prstGeom prst="roundRect">
                <a:avLst/>
              </a:prstGeom>
              <a:solidFill>
                <a:srgbClr val="F3F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p>
            </p:txBody>
          </p:sp>
          <p:sp>
            <p:nvSpPr>
              <p:cNvPr id="7" name="矩形 6"/>
              <p:cNvSpPr/>
              <p:nvPr/>
            </p:nvSpPr>
            <p:spPr>
              <a:xfrm>
                <a:off x="1282" y="7060"/>
                <a:ext cx="17275" cy="1902"/>
              </a:xfrm>
              <a:prstGeom prst="rect">
                <a:avLst/>
              </a:prstGeom>
              <a:solidFill>
                <a:srgbClr val="DFF2FF"/>
              </a:solidFill>
              <a:ln>
                <a:no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sz="1600"/>
              </a:p>
            </p:txBody>
          </p:sp>
          <p:sp>
            <p:nvSpPr>
              <p:cNvPr id="8" name="文本框 7"/>
              <p:cNvSpPr txBox="1"/>
              <p:nvPr/>
            </p:nvSpPr>
            <p:spPr>
              <a:xfrm>
                <a:off x="4739" y="7369"/>
                <a:ext cx="2551" cy="1127"/>
              </a:xfrm>
              <a:prstGeom prst="rect">
                <a:avLst/>
              </a:prstGeom>
              <a:noFill/>
            </p:spPr>
            <p:txBody>
              <a:bodyPr wrap="square" rtlCol="0">
                <a:spAutoFit/>
              </a:bodyPr>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全网原子产品库</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产品封装助手</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sym typeface="+mn-ea"/>
                  </a:rPr>
                  <a:t>产品原子货架</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sym typeface="+mn-ea"/>
                  </a:rPr>
                  <a:t>活动优惠动态配置</a:t>
                </a:r>
                <a:endParaRPr lang="zh-CN" altLang="en-US" sz="900">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7322" y="7435"/>
                <a:ext cx="2551" cy="885"/>
              </a:xfrm>
              <a:prstGeom prst="rect">
                <a:avLst/>
              </a:prstGeom>
              <a:noFill/>
            </p:spPr>
            <p:txBody>
              <a:bodyPr wrap="square" rtlCol="0">
                <a:spAutoFit/>
              </a:bodyPr>
              <a:p>
                <a:pPr marL="285750" indent="-285750">
                  <a:buFont typeface="Arial" panose="020B0604020202020204" pitchFamily="34" charset="0"/>
                  <a:buChar char="•"/>
                </a:pPr>
                <a:r>
                  <a:rPr lang="zh-CN" sz="900">
                    <a:latin typeface="微软雅黑" panose="020B0503020204020204" pitchFamily="34" charset="-122"/>
                    <a:ea typeface="微软雅黑" panose="020B0503020204020204" pitchFamily="34" charset="-122"/>
                  </a:rPr>
                  <a:t>一级系统</a:t>
                </a:r>
                <a:r>
                  <a:rPr lang="zh-CN" altLang="en-US" sz="900">
                    <a:latin typeface="微软雅黑" panose="020B0503020204020204" pitchFamily="34" charset="-122"/>
                    <a:ea typeface="微软雅黑" panose="020B0503020204020204" pitchFamily="34" charset="-122"/>
                  </a:rPr>
                  <a:t>上下架</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渠道触点上下架</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sym typeface="+mn-ea"/>
                  </a:rPr>
                  <a:t>发布信息管理</a:t>
                </a:r>
                <a:endParaRPr lang="zh-CN" altLang="en-US" sz="900">
                  <a:latin typeface="微软雅黑" panose="020B0503020204020204" pitchFamily="34" charset="-122"/>
                  <a:ea typeface="微软雅黑" panose="020B0503020204020204" pitchFamily="34" charset="-122"/>
                  <a:sym typeface="+mn-ea"/>
                </a:endParaRPr>
              </a:p>
            </p:txBody>
          </p:sp>
          <p:sp>
            <p:nvSpPr>
              <p:cNvPr id="10" name="文本框 9"/>
              <p:cNvSpPr txBox="1"/>
              <p:nvPr/>
            </p:nvSpPr>
            <p:spPr>
              <a:xfrm>
                <a:off x="10705" y="7435"/>
                <a:ext cx="2498" cy="1127"/>
              </a:xfrm>
              <a:prstGeom prst="rect">
                <a:avLst/>
              </a:prstGeom>
              <a:noFill/>
            </p:spPr>
            <p:txBody>
              <a:bodyPr wrap="square" rtlCol="0">
                <a:spAutoFit/>
              </a:bodyPr>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sym typeface="+mn-ea"/>
                  </a:rPr>
                  <a:t>产品运营信息视图</a:t>
                </a:r>
                <a:endParaRPr lang="zh-CN" altLang="en-US" sz="900">
                  <a:latin typeface="微软雅黑" panose="020B0503020204020204" pitchFamily="34" charset="-122"/>
                  <a:ea typeface="微软雅黑" panose="020B0503020204020204" pitchFamily="34" charset="-122"/>
                  <a:sym typeface="+mn-ea"/>
                </a:endParaRPr>
              </a:p>
              <a:p>
                <a:pPr marL="285750" indent="-285750">
                  <a:buFont typeface="Arial" panose="020B0604020202020204" pitchFamily="34" charset="0"/>
                  <a:buChar char="•"/>
                </a:pPr>
                <a:r>
                  <a:rPr lang="zh-CN" altLang="en-US" sz="900">
                    <a:sym typeface="+mn-ea"/>
                  </a:rPr>
                  <a:t>产品运营图谱生成</a:t>
                </a:r>
                <a:endParaRPr lang="zh-CN" altLang="en-US" sz="900">
                  <a:latin typeface="微软雅黑" panose="020B0503020204020204" pitchFamily="34" charset="-122"/>
                  <a:ea typeface="微软雅黑" panose="020B0503020204020204" pitchFamily="34" charset="-122"/>
                  <a:sym typeface="+mn-ea"/>
                </a:endParaRPr>
              </a:p>
              <a:p>
                <a:pPr marL="285750" indent="-285750">
                  <a:buFont typeface="Arial" panose="020B0604020202020204" pitchFamily="34" charset="0"/>
                  <a:buChar char="•"/>
                </a:pPr>
                <a:r>
                  <a:rPr lang="zh-CN" altLang="en-US" sz="900">
                    <a:sym typeface="+mn-ea"/>
                  </a:rPr>
                  <a:t>资源关系规则配置</a:t>
                </a:r>
                <a:endParaRPr lang="zh-CN" altLang="en-US" sz="900">
                  <a:sym typeface="+mn-ea"/>
                </a:endParaRPr>
              </a:p>
              <a:p>
                <a:pPr marL="285750" indent="-285750">
                  <a:buFont typeface="Arial" panose="020B0604020202020204" pitchFamily="34" charset="0"/>
                  <a:buChar char="•"/>
                </a:pPr>
                <a:endParaRPr lang="zh-CN" altLang="en-US" sz="900">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15931" y="7403"/>
                <a:ext cx="2755" cy="1127"/>
              </a:xfrm>
              <a:prstGeom prst="rect">
                <a:avLst/>
              </a:prstGeom>
              <a:noFill/>
            </p:spPr>
            <p:txBody>
              <a:bodyPr wrap="square" rtlCol="0">
                <a:spAutoFit/>
              </a:bodyPr>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产品</a:t>
                </a:r>
                <a:r>
                  <a:rPr lang="zh-CN" altLang="en-US" sz="900">
                    <a:latin typeface="微软雅黑" panose="020B0503020204020204" pitchFamily="34" charset="-122"/>
                    <a:ea typeface="微软雅黑" panose="020B0503020204020204" pitchFamily="34" charset="-122"/>
                    <a:sym typeface="+mn-ea"/>
                  </a:rPr>
                  <a:t>辅助</a:t>
                </a:r>
                <a:r>
                  <a:rPr lang="zh-CN" altLang="en-US" sz="900">
                    <a:latin typeface="微软雅黑" panose="020B0503020204020204" pitchFamily="34" charset="-122"/>
                    <a:ea typeface="微软雅黑" panose="020B0503020204020204" pitchFamily="34" charset="-122"/>
                  </a:rPr>
                  <a:t>质量打分</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产品优化建议生成</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省分优秀案例推荐</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产品下架、退出管理</a:t>
                </a:r>
                <a:endParaRPr lang="zh-CN" altLang="en-US" sz="900">
                  <a:latin typeface="微软雅黑" panose="020B0503020204020204" pitchFamily="34" charset="-122"/>
                  <a:ea typeface="微软雅黑" panose="020B0503020204020204" pitchFamily="34" charset="-122"/>
                </a:endParaRPr>
              </a:p>
            </p:txBody>
          </p:sp>
          <p:sp>
            <p:nvSpPr>
              <p:cNvPr id="14" name="文本框 13"/>
              <p:cNvSpPr txBox="1"/>
              <p:nvPr/>
            </p:nvSpPr>
            <p:spPr>
              <a:xfrm>
                <a:off x="13045" y="7435"/>
                <a:ext cx="2850" cy="885"/>
              </a:xfrm>
              <a:prstGeom prst="rect">
                <a:avLst/>
              </a:prstGeom>
              <a:noFill/>
            </p:spPr>
            <p:txBody>
              <a:bodyPr wrap="square" rtlCol="0">
                <a:spAutoFit/>
              </a:bodyPr>
              <a:p>
                <a:pPr marL="285750" indent="-285750">
                  <a:buFont typeface="Arial" panose="020B0604020202020204" pitchFamily="34" charset="0"/>
                  <a:buChar char="•"/>
                </a:pPr>
                <a:r>
                  <a:rPr lang="zh-CN" altLang="en-US" sz="900">
                    <a:sym typeface="+mn-ea"/>
                  </a:rPr>
                  <a:t>产品运营问题根因分析</a:t>
                </a:r>
                <a:endParaRPr lang="zh-CN" altLang="en-US" sz="900">
                  <a:sym typeface="+mn-ea"/>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短板任务自动派单协同</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sym typeface="+mn-ea"/>
                  </a:rPr>
                  <a:t>调度策略管理</a:t>
                </a:r>
                <a:endParaRPr lang="zh-CN" altLang="en-US" sz="900">
                  <a:latin typeface="微软雅黑" panose="020B0503020204020204" pitchFamily="34" charset="-122"/>
                  <a:ea typeface="微软雅黑" panose="020B0503020204020204" pitchFamily="34" charset="-122"/>
                </a:endParaRPr>
              </a:p>
            </p:txBody>
          </p:sp>
          <p:sp>
            <p:nvSpPr>
              <p:cNvPr id="45" name="文本框 44"/>
              <p:cNvSpPr txBox="1"/>
              <p:nvPr/>
            </p:nvSpPr>
            <p:spPr>
              <a:xfrm>
                <a:off x="1535" y="7363"/>
                <a:ext cx="3047" cy="1127"/>
              </a:xfrm>
              <a:prstGeom prst="rect">
                <a:avLst/>
              </a:prstGeom>
              <a:noFill/>
            </p:spPr>
            <p:txBody>
              <a:bodyPr wrap="square" rtlCol="0">
                <a:spAutoFit/>
              </a:bodyPr>
              <a:p>
                <a:pPr marL="285750" indent="-285750">
                  <a:buFont typeface="Arial" panose="020B0604020202020204" pitchFamily="34" charset="0"/>
                  <a:buChar char="•"/>
                </a:pPr>
                <a:r>
                  <a:rPr lang="en-US" altLang="zh-CN" sz="900">
                    <a:latin typeface="微软雅黑" panose="020B0503020204020204" pitchFamily="34" charset="-122"/>
                    <a:ea typeface="微软雅黑" panose="020B0503020204020204" pitchFamily="34" charset="-122"/>
                    <a:sym typeface="+mn-ea"/>
                  </a:rPr>
                  <a:t>5GXAI</a:t>
                </a:r>
                <a:r>
                  <a:rPr lang="zh-CN" altLang="en-US" sz="900">
                    <a:latin typeface="微软雅黑" panose="020B0503020204020204" pitchFamily="34" charset="-122"/>
                    <a:ea typeface="微软雅黑" panose="020B0503020204020204" pitchFamily="34" charset="-122"/>
                    <a:sym typeface="+mn-ea"/>
                  </a:rPr>
                  <a:t>生态合作伙伴管理</a:t>
                </a:r>
                <a:endParaRPr lang="zh-CN" altLang="en-US" sz="900">
                  <a:latin typeface="微软雅黑" panose="020B0503020204020204" pitchFamily="34" charset="-122"/>
                  <a:ea typeface="微软雅黑" panose="020B0503020204020204" pitchFamily="34" charset="-122"/>
                  <a:sym typeface="+mn-ea"/>
                </a:endParaRPr>
              </a:p>
              <a:p>
                <a:pPr marL="285750" indent="-285750">
                  <a:buFont typeface="Arial" panose="020B0604020202020204" pitchFamily="34" charset="0"/>
                  <a:buChar char="•"/>
                </a:pPr>
                <a:r>
                  <a:rPr lang="en-US" altLang="zh-CN" sz="900">
                    <a:latin typeface="微软雅黑" panose="020B0503020204020204" pitchFamily="34" charset="-122"/>
                    <a:ea typeface="微软雅黑" panose="020B0503020204020204" pitchFamily="34" charset="-122"/>
                    <a:sym typeface="+mn-ea"/>
                  </a:rPr>
                  <a:t>5GXAI</a:t>
                </a:r>
                <a:r>
                  <a:rPr lang="zh-CN" altLang="en-US" sz="900">
                    <a:latin typeface="微软雅黑" panose="020B0503020204020204" pitchFamily="34" charset="-122"/>
                    <a:ea typeface="微软雅黑" panose="020B0503020204020204" pitchFamily="34" charset="-122"/>
                    <a:sym typeface="+mn-ea"/>
                  </a:rPr>
                  <a:t>生态能力管理</a:t>
                </a:r>
                <a:endParaRPr lang="zh-CN" altLang="en-US" sz="900">
                  <a:latin typeface="微软雅黑" panose="020B0503020204020204" pitchFamily="34" charset="-122"/>
                  <a:ea typeface="微软雅黑" panose="020B0503020204020204" pitchFamily="34" charset="-122"/>
                  <a:sym typeface="+mn-ea"/>
                </a:endParaRPr>
              </a:p>
              <a:p>
                <a:pPr marL="285750" indent="-285750">
                  <a:buFont typeface="Arial" panose="020B0604020202020204" pitchFamily="34" charset="0"/>
                  <a:buChar char="•"/>
                </a:pPr>
                <a:r>
                  <a:rPr lang="en-US" altLang="zh-CN" sz="900">
                    <a:latin typeface="微软雅黑" panose="020B0503020204020204" pitchFamily="34" charset="-122"/>
                    <a:ea typeface="微软雅黑" panose="020B0503020204020204" pitchFamily="34" charset="-122"/>
                    <a:sym typeface="+mn-ea"/>
                  </a:rPr>
                  <a:t>5GXAI</a:t>
                </a:r>
                <a:r>
                  <a:rPr lang="zh-CN" altLang="en-US" sz="900">
                    <a:latin typeface="微软雅黑" panose="020B0503020204020204" pitchFamily="34" charset="-122"/>
                    <a:ea typeface="微软雅黑" panose="020B0503020204020204" pitchFamily="34" charset="-122"/>
                    <a:sym typeface="+mn-ea"/>
                  </a:rPr>
                  <a:t>能力订购管理</a:t>
                </a:r>
                <a:endParaRPr lang="zh-CN" altLang="en-US" sz="900">
                  <a:latin typeface="微软雅黑" panose="020B0503020204020204" pitchFamily="34" charset="-122"/>
                  <a:ea typeface="微软雅黑" panose="020B0503020204020204" pitchFamily="34" charset="-122"/>
                  <a:sym typeface="+mn-ea"/>
                </a:endParaRPr>
              </a:p>
              <a:p>
                <a:pPr marL="285750" indent="-285750">
                  <a:buFont typeface="Arial" panose="020B0604020202020204" pitchFamily="34" charset="0"/>
                  <a:buChar char="•"/>
                </a:pPr>
                <a:r>
                  <a:rPr lang="en-US" altLang="zh-CN" sz="900">
                    <a:latin typeface="微软雅黑" panose="020B0503020204020204" pitchFamily="34" charset="-122"/>
                    <a:ea typeface="微软雅黑" panose="020B0503020204020204" pitchFamily="34" charset="-122"/>
                    <a:sym typeface="+mn-ea"/>
                  </a:rPr>
                  <a:t>5GXAI</a:t>
                </a:r>
                <a:r>
                  <a:rPr lang="zh-CN" altLang="en-US" sz="900">
                    <a:latin typeface="微软雅黑" panose="020B0503020204020204" pitchFamily="34" charset="-122"/>
                    <a:ea typeface="微软雅黑" panose="020B0503020204020204" pitchFamily="34" charset="-122"/>
                    <a:sym typeface="+mn-ea"/>
                  </a:rPr>
                  <a:t>能力结算管理</a:t>
                </a:r>
                <a:endParaRPr lang="zh-CN" altLang="en-US" sz="900">
                  <a:latin typeface="微软雅黑" panose="020B0503020204020204" pitchFamily="34" charset="-122"/>
                  <a:ea typeface="微软雅黑" panose="020B0503020204020204" pitchFamily="34" charset="-122"/>
                </a:endParaRPr>
              </a:p>
            </p:txBody>
          </p:sp>
        </p:grpSp>
        <p:grpSp>
          <p:nvGrpSpPr>
            <p:cNvPr id="88" name="组合 87"/>
            <p:cNvGrpSpPr/>
            <p:nvPr/>
          </p:nvGrpSpPr>
          <p:grpSpPr>
            <a:xfrm rot="0">
              <a:off x="1193" y="8365"/>
              <a:ext cx="17288" cy="697"/>
              <a:chOff x="1282" y="9498"/>
              <a:chExt cx="17345" cy="1094"/>
            </a:xfrm>
          </p:grpSpPr>
          <p:sp>
            <p:nvSpPr>
              <p:cNvPr id="51" name="文本框 50"/>
              <p:cNvSpPr txBox="1"/>
              <p:nvPr/>
            </p:nvSpPr>
            <p:spPr>
              <a:xfrm>
                <a:off x="1282" y="9498"/>
                <a:ext cx="845" cy="1094"/>
              </a:xfrm>
              <a:prstGeom prst="rect">
                <a:avLst/>
              </a:prstGeom>
              <a:noFill/>
            </p:spPr>
            <p:txBody>
              <a:bodyPr wrap="square" rtlCol="0">
                <a:spAutoFit/>
              </a:bodyPr>
              <a:p>
                <a:pPr algn="l"/>
                <a:r>
                  <a:rPr kumimoji="1" lang="zh-CN" altLang="en-US" sz="1000" b="1" dirty="0" smtClean="0">
                    <a:solidFill>
                      <a:schemeClr val="accent1">
                        <a:lumMod val="75000"/>
                      </a:schemeClr>
                    </a:solidFill>
                    <a:latin typeface="微软雅黑" panose="020B0503020204020204" pitchFamily="34" charset="-122"/>
                    <a:ea typeface="微软雅黑" panose="020B0503020204020204" pitchFamily="34" charset="-122"/>
                  </a:rPr>
                  <a:t>数据拉通</a:t>
                </a:r>
                <a:endParaRPr kumimoji="1" lang="zh-CN" altLang="en-US" sz="1000" b="1" dirty="0" smtClean="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8671" y="9751"/>
                <a:ext cx="5527" cy="385"/>
              </a:xfrm>
              <a:prstGeom prst="rect">
                <a:avLst/>
              </a:prstGeom>
              <a:noFill/>
            </p:spPr>
            <p:txBody>
              <a:bodyPr wrap="square" rtlCol="0">
                <a:noAutofit/>
              </a:bodyPr>
              <a:p>
                <a:pPr algn="l"/>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rPr>
                  <a:t>收入</a:t>
                </a:r>
                <a:r>
                  <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rPr>
                  <a:t>&amp;</a:t>
                </a:r>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rPr>
                  <a:t>发展规模数据、</a:t>
                </a:r>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sym typeface="+mn-ea"/>
                  </a:rPr>
                  <a:t>渠道发布信息、客户画像数据</a:t>
                </a:r>
                <a:r>
                  <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sym typeface="+mn-ea"/>
                  </a:rPr>
                  <a:t>...</a:t>
                </a:r>
                <a:endPar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endParaRPr>
              </a:p>
              <a:p>
                <a:pPr algn="l"/>
                <a:endPar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13389" y="9751"/>
                <a:ext cx="5238" cy="324"/>
              </a:xfrm>
              <a:prstGeom prst="rect">
                <a:avLst/>
              </a:prstGeom>
              <a:noFill/>
            </p:spPr>
            <p:txBody>
              <a:bodyPr wrap="square" rtlCol="0">
                <a:noAutofit/>
              </a:bodyPr>
              <a:p>
                <a:pPr algn="l"/>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rPr>
                  <a:t>省</a:t>
                </a:r>
                <a:r>
                  <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rPr>
                  <a:t>OKR</a:t>
                </a:r>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rPr>
                  <a:t>发展目标、</a:t>
                </a:r>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sym typeface="+mn-ea"/>
                  </a:rPr>
                  <a:t>省专短板整改信息、省优秀案例上报</a:t>
                </a:r>
                <a:r>
                  <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sym typeface="+mn-ea"/>
                  </a:rPr>
                  <a:t>...</a:t>
                </a:r>
                <a:endPar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sym typeface="+mn-ea"/>
                </a:endParaRPr>
              </a:p>
            </p:txBody>
          </p:sp>
          <p:sp>
            <p:nvSpPr>
              <p:cNvPr id="57" name="文本框 56"/>
              <p:cNvSpPr txBox="1"/>
              <p:nvPr/>
            </p:nvSpPr>
            <p:spPr>
              <a:xfrm>
                <a:off x="2067" y="9751"/>
                <a:ext cx="6029" cy="534"/>
              </a:xfrm>
              <a:prstGeom prst="rect">
                <a:avLst/>
              </a:prstGeom>
              <a:noFill/>
            </p:spPr>
            <p:txBody>
              <a:bodyPr wrap="square" rtlCol="0">
                <a:noAutofit/>
              </a:bodyPr>
              <a:p>
                <a:pPr algn="l"/>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rPr>
                  <a:t>专业公司原子产品、</a:t>
                </a:r>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sym typeface="+mn-ea"/>
                  </a:rPr>
                  <a:t>大数据标签</a:t>
                </a:r>
                <a:r>
                  <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sym typeface="+mn-ea"/>
                  </a:rPr>
                  <a:t>&amp;</a:t>
                </a:r>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sym typeface="+mn-ea"/>
                  </a:rPr>
                  <a:t>客户群、分省商品、竞争对对手资费</a:t>
                </a:r>
                <a:r>
                  <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sym typeface="+mn-ea"/>
                  </a:rPr>
                  <a:t>...</a:t>
                </a:r>
                <a:endPar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endParaRPr>
              </a:p>
              <a:p>
                <a:pPr algn="l"/>
                <a:endPar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endParaRPr>
              </a:p>
            </p:txBody>
          </p:sp>
          <p:cxnSp>
            <p:nvCxnSpPr>
              <p:cNvPr id="62" name="直接连接符 61"/>
              <p:cNvCxnSpPr/>
              <p:nvPr/>
            </p:nvCxnSpPr>
            <p:spPr>
              <a:xfrm>
                <a:off x="2230" y="10336"/>
                <a:ext cx="16081" cy="0"/>
              </a:xfrm>
              <a:prstGeom prst="line">
                <a:avLst/>
              </a:prstGeom>
              <a:ln w="12700" cmpd="sng">
                <a:solidFill>
                  <a:schemeClr val="bg1">
                    <a:lumMod val="75000"/>
                  </a:schemeClr>
                </a:solidFill>
                <a:prstDash val="dashDot"/>
              </a:ln>
            </p:spPr>
            <p:style>
              <a:lnRef idx="2">
                <a:schemeClr val="accent1"/>
              </a:lnRef>
              <a:fillRef idx="0">
                <a:srgbClr val="FFFFFF"/>
              </a:fillRef>
              <a:effectRef idx="0">
                <a:srgbClr val="FFFFFF"/>
              </a:effectRef>
              <a:fontRef idx="minor">
                <a:schemeClr val="tx1"/>
              </a:fontRef>
            </p:style>
          </p:cxnSp>
        </p:grpSp>
        <p:grpSp>
          <p:nvGrpSpPr>
            <p:cNvPr id="177" name="组合 176"/>
            <p:cNvGrpSpPr/>
            <p:nvPr/>
          </p:nvGrpSpPr>
          <p:grpSpPr>
            <a:xfrm>
              <a:off x="1186" y="7124"/>
              <a:ext cx="17399" cy="350"/>
              <a:chOff x="1186" y="6914"/>
              <a:chExt cx="17399" cy="350"/>
            </a:xfrm>
            <a:solidFill>
              <a:srgbClr val="BFE5FF"/>
            </a:solidFill>
          </p:grpSpPr>
          <p:sp>
            <p:nvSpPr>
              <p:cNvPr id="50" name="燕尾形 49"/>
              <p:cNvSpPr/>
              <p:nvPr>
                <p:custDataLst>
                  <p:tags r:id="rId1"/>
                </p:custDataLst>
              </p:nvPr>
            </p:nvSpPr>
            <p:spPr>
              <a:xfrm>
                <a:off x="10761" y="6937"/>
                <a:ext cx="7824" cy="27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solidFill>
                      <a:srgbClr val="0070C0"/>
                    </a:solidFill>
                    <a:highlight>
                      <a:srgbClr val="000000">
                        <a:alpha val="0"/>
                      </a:srgbClr>
                    </a:highlight>
                  </a:rPr>
                  <a:t>产品枢纽平台</a:t>
                </a:r>
                <a:endParaRPr lang="zh-CN" altLang="en-US" sz="1000" b="1">
                  <a:solidFill>
                    <a:srgbClr val="0070C0"/>
                  </a:solidFill>
                  <a:highlight>
                    <a:srgbClr val="000000">
                      <a:alpha val="0"/>
                    </a:srgbClr>
                  </a:highlight>
                </a:endParaRPr>
              </a:p>
            </p:txBody>
          </p:sp>
          <p:sp>
            <p:nvSpPr>
              <p:cNvPr id="92" name="燕尾形 91"/>
              <p:cNvSpPr/>
              <p:nvPr>
                <p:custDataLst>
                  <p:tags r:id="rId2"/>
                </p:custDataLst>
              </p:nvPr>
            </p:nvSpPr>
            <p:spPr>
              <a:xfrm>
                <a:off x="4843" y="6937"/>
                <a:ext cx="5964" cy="31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solidFill>
                      <a:srgbClr val="0070C0"/>
                    </a:solidFill>
                    <a:highlight>
                      <a:srgbClr val="000000">
                        <a:alpha val="0"/>
                      </a:srgbClr>
                    </a:highlight>
                  </a:rPr>
                  <a:t>产商品中心</a:t>
                </a:r>
                <a:endParaRPr lang="zh-CN" altLang="en-US" sz="1000" b="1">
                  <a:solidFill>
                    <a:srgbClr val="0070C0"/>
                  </a:solidFill>
                  <a:highlight>
                    <a:srgbClr val="000000">
                      <a:alpha val="0"/>
                    </a:srgbClr>
                  </a:highlight>
                </a:endParaRPr>
              </a:p>
            </p:txBody>
          </p:sp>
          <p:sp>
            <p:nvSpPr>
              <p:cNvPr id="176" name="燕尾形 175"/>
              <p:cNvSpPr/>
              <p:nvPr>
                <p:custDataLst>
                  <p:tags r:id="rId3"/>
                </p:custDataLst>
              </p:nvPr>
            </p:nvSpPr>
            <p:spPr>
              <a:xfrm>
                <a:off x="1186" y="6914"/>
                <a:ext cx="3733" cy="35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solidFill>
                      <a:srgbClr val="0070C0"/>
                    </a:solidFill>
                    <a:highlight>
                      <a:srgbClr val="000000">
                        <a:alpha val="0"/>
                      </a:srgbClr>
                    </a:highlight>
                  </a:rPr>
                  <a:t>能力运营中心</a:t>
                </a:r>
                <a:endParaRPr lang="zh-CN" altLang="en-US" sz="1000" b="1">
                  <a:solidFill>
                    <a:srgbClr val="0070C0"/>
                  </a:solidFill>
                  <a:highlight>
                    <a:srgbClr val="000000">
                      <a:alpha val="0"/>
                    </a:srgbClr>
                  </a:highlight>
                </a:endParaRPr>
              </a:p>
            </p:txBody>
          </p:sp>
        </p:grpSp>
      </p:grpSp>
      <p:grpSp>
        <p:nvGrpSpPr>
          <p:cNvPr id="32" name="组合 31"/>
          <p:cNvGrpSpPr/>
          <p:nvPr/>
        </p:nvGrpSpPr>
        <p:grpSpPr>
          <a:xfrm>
            <a:off x="68580" y="1406525"/>
            <a:ext cx="11864340" cy="3164840"/>
            <a:chOff x="108" y="2215"/>
            <a:chExt cx="18684" cy="4984"/>
          </a:xfrm>
        </p:grpSpPr>
        <p:grpSp>
          <p:nvGrpSpPr>
            <p:cNvPr id="15" name="组合 14"/>
            <p:cNvGrpSpPr/>
            <p:nvPr/>
          </p:nvGrpSpPr>
          <p:grpSpPr>
            <a:xfrm>
              <a:off x="108" y="2215"/>
              <a:ext cx="18685" cy="4984"/>
              <a:chOff x="108" y="2204"/>
              <a:chExt cx="18685" cy="5838"/>
            </a:xfrm>
          </p:grpSpPr>
          <p:sp>
            <p:nvSpPr>
              <p:cNvPr id="99" name="圆角矩形 124"/>
              <p:cNvSpPr/>
              <p:nvPr/>
            </p:nvSpPr>
            <p:spPr>
              <a:xfrm>
                <a:off x="1110" y="2291"/>
                <a:ext cx="17683" cy="5751"/>
              </a:xfrm>
              <a:prstGeom prst="roundRect">
                <a:avLst>
                  <a:gd name="adj" fmla="val 5504"/>
                </a:avLst>
              </a:prstGeom>
              <a:solidFill>
                <a:srgbClr val="FFFFFF"/>
              </a:solidFill>
              <a:ln w="15875">
                <a:solidFill>
                  <a:schemeClr val="accent1">
                    <a:lumMod val="20000"/>
                    <a:lumOff val="80000"/>
                  </a:schemeClr>
                </a:solidFill>
              </a:ln>
              <a:effectLst>
                <a:outerShdw blurRad="165100" dist="76200" dir="5400000" algn="t" rotWithShape="0">
                  <a:srgbClr val="1C66C4">
                    <a:alpha val="40000"/>
                  </a:srgbClr>
                </a:outerShdw>
              </a:effectLst>
            </p:spPr>
            <p:style>
              <a:lnRef idx="2">
                <a:srgbClr val="1C66C4">
                  <a:shade val="50000"/>
                </a:srgbClr>
              </a:lnRef>
              <a:fillRef idx="1">
                <a:srgbClr val="1C66C4"/>
              </a:fillRef>
              <a:effectRef idx="0">
                <a:srgbClr val="1C66C4"/>
              </a:effectRef>
              <a:fontRef idx="minor">
                <a:srgbClr val="FFFFFF"/>
              </a:fontRef>
            </p:style>
            <p:txBody>
              <a:bodyPr vertOverflow="overflow" horzOverflow="overflow" vert="horz" wrap="none" numCol="1" spcCol="0" rtlCol="0" fromWordArt="0" anchor="ctr" anchorCtr="0" forceAA="0" compatLnSpc="1">
                <a:noAutofit/>
              </a:bodyPr>
              <a:p>
                <a:pPr defTabSz="914400"/>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08" y="4122"/>
                <a:ext cx="1098" cy="1190"/>
              </a:xfrm>
              <a:prstGeom prst="rect">
                <a:avLst/>
              </a:prstGeom>
              <a:noFill/>
            </p:spPr>
            <p:txBody>
              <a:bodyPr wrap="square">
                <a:spAutoFit/>
              </a:bodyPr>
              <a:p>
                <a:pPr algn="ctr"/>
                <a:r>
                  <a:rPr kumimoji="1" lang="zh-CN" altLang="en-US" b="1" dirty="0"/>
                  <a:t>场景</a:t>
                </a:r>
                <a:endParaRPr kumimoji="1" lang="zh-CN" altLang="en-US" b="1" dirty="0"/>
              </a:p>
              <a:p>
                <a:pPr algn="ctr"/>
                <a:r>
                  <a:rPr kumimoji="1" lang="zh-CN" altLang="en-US" b="1" dirty="0"/>
                  <a:t>示例</a:t>
                </a:r>
                <a:endParaRPr kumimoji="1" lang="zh-CN" altLang="en-US" b="1" dirty="0"/>
              </a:p>
            </p:txBody>
          </p:sp>
          <p:sp>
            <p:nvSpPr>
              <p:cNvPr id="292" name="文本框 291"/>
              <p:cNvSpPr txBox="1"/>
              <p:nvPr/>
            </p:nvSpPr>
            <p:spPr>
              <a:xfrm>
                <a:off x="3655" y="2204"/>
                <a:ext cx="11666" cy="508"/>
              </a:xfrm>
              <a:prstGeom prst="rect">
                <a:avLst/>
              </a:prstGeom>
              <a:noFill/>
            </p:spPr>
            <p:txBody>
              <a:bodyPr wrap="square" rtlCol="0" anchor="t">
                <a:spAutoFit/>
              </a:bodyPr>
              <a:p>
                <a:pPr algn="ctr"/>
                <a:r>
                  <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产品端到端数智化运营</a:t>
                </a:r>
                <a:r>
                  <a:rPr lang="en-US" altLang="zh-CN"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以</a:t>
                </a:r>
                <a:r>
                  <a:rPr lang="zh-CN" sz="1200" b="1" u="sng"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银发市场通话字幕</a:t>
                </a:r>
                <a:r>
                  <a:rPr lang="en-US" altLang="zh-CN" sz="1200" b="1" u="sng"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b="1" u="sng"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电诈保障家庭</a:t>
                </a:r>
                <a:r>
                  <a:rPr lang="zh-CN" sz="1200" b="1" u="sng"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业务</a:t>
                </a:r>
                <a:r>
                  <a:rPr lang="zh-CN"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封装</a:t>
                </a:r>
                <a:r>
                  <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为例</a:t>
                </a:r>
                <a:endPar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14" name="五边形 213"/>
              <p:cNvSpPr/>
              <p:nvPr/>
            </p:nvSpPr>
            <p:spPr>
              <a:xfrm>
                <a:off x="15281" y="2735"/>
                <a:ext cx="3252" cy="480"/>
              </a:xfrm>
              <a:prstGeom prst="homePlate">
                <a:avLst/>
              </a:prstGeom>
              <a:solidFill>
                <a:srgbClr val="40B0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en-US" altLang="zh-CN" sz="1200" b="1" dirty="0">
                    <a:solidFill>
                      <a:srgbClr val="FFFF00"/>
                    </a:solidFill>
                  </a:rPr>
                  <a:t>       </a:t>
                </a:r>
                <a:r>
                  <a:rPr kumimoji="1" lang="zh-CN" sz="1200" b="1" dirty="0">
                    <a:solidFill>
                      <a:srgbClr val="FFFF00"/>
                    </a:solidFill>
                  </a:rPr>
                  <a:t>④</a:t>
                </a:r>
                <a:r>
                  <a:rPr kumimoji="1" sz="1200" b="1" dirty="0">
                    <a:solidFill>
                      <a:srgbClr val="FFFF00"/>
                    </a:solidFill>
                  </a:rPr>
                  <a:t>产品</a:t>
                </a:r>
                <a:r>
                  <a:rPr kumimoji="1" lang="zh-CN" sz="1200" b="1" dirty="0">
                    <a:solidFill>
                      <a:srgbClr val="FFFF00"/>
                    </a:solidFill>
                  </a:rPr>
                  <a:t>后</a:t>
                </a:r>
                <a:r>
                  <a:rPr kumimoji="1" sz="1200" b="1" dirty="0">
                    <a:solidFill>
                      <a:srgbClr val="FFFF00"/>
                    </a:solidFill>
                  </a:rPr>
                  <a:t>评估</a:t>
                </a:r>
                <a:r>
                  <a:rPr kumimoji="1" lang="zh-CN" sz="1200" b="1" dirty="0">
                    <a:solidFill>
                      <a:srgbClr val="FFFF00"/>
                    </a:solidFill>
                  </a:rPr>
                  <a:t>优化</a:t>
                </a:r>
                <a:endParaRPr kumimoji="1" lang="zh-CN" sz="1200" b="1" dirty="0">
                  <a:solidFill>
                    <a:srgbClr val="FFFF00"/>
                  </a:solidFill>
                </a:endParaRPr>
              </a:p>
            </p:txBody>
          </p:sp>
          <p:sp>
            <p:nvSpPr>
              <p:cNvPr id="215" name="五边形 214"/>
              <p:cNvSpPr/>
              <p:nvPr/>
            </p:nvSpPr>
            <p:spPr>
              <a:xfrm>
                <a:off x="10114" y="2735"/>
                <a:ext cx="5781" cy="480"/>
              </a:xfrm>
              <a:prstGeom prst="homePlate">
                <a:avLst/>
              </a:prstGeom>
              <a:solidFill>
                <a:srgbClr val="40B0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200" b="1" dirty="0">
                    <a:solidFill>
                      <a:srgbClr val="FFFF00"/>
                    </a:solidFill>
                    <a:sym typeface="+mn-ea"/>
                  </a:rPr>
                  <a:t>③</a:t>
                </a:r>
                <a:r>
                  <a:rPr kumimoji="1" lang="zh-CN" altLang="en-US" sz="1200" b="1" dirty="0">
                    <a:solidFill>
                      <a:srgbClr val="FFFF00"/>
                    </a:solidFill>
                  </a:rPr>
                  <a:t>产品全生命周期</a:t>
                </a:r>
                <a:r>
                  <a:rPr kumimoji="1" sz="1200" b="1" dirty="0">
                    <a:solidFill>
                      <a:srgbClr val="FFFF00"/>
                    </a:solidFill>
                  </a:rPr>
                  <a:t>运营</a:t>
                </a:r>
                <a:endParaRPr kumimoji="1" sz="1200" b="1" dirty="0">
                  <a:solidFill>
                    <a:srgbClr val="FFFF00"/>
                  </a:solidFill>
                </a:endParaRPr>
              </a:p>
            </p:txBody>
          </p:sp>
          <p:sp>
            <p:nvSpPr>
              <p:cNvPr id="231" name="五边形 230"/>
              <p:cNvSpPr/>
              <p:nvPr/>
            </p:nvSpPr>
            <p:spPr>
              <a:xfrm>
                <a:off x="4560" y="2735"/>
                <a:ext cx="5748" cy="480"/>
              </a:xfrm>
              <a:prstGeom prst="homePlate">
                <a:avLst/>
              </a:prstGeom>
              <a:solidFill>
                <a:srgbClr val="40B0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200" b="1" dirty="0">
                    <a:solidFill>
                      <a:srgbClr val="FFFF00"/>
                    </a:solidFill>
                    <a:sym typeface="+mn-ea"/>
                  </a:rPr>
                  <a:t>②</a:t>
                </a:r>
                <a:r>
                  <a:rPr kumimoji="1" lang="zh-CN" sz="1200" b="1" dirty="0">
                    <a:solidFill>
                      <a:srgbClr val="FFFF00"/>
                    </a:solidFill>
                    <a:sym typeface="+mn-ea"/>
                  </a:rPr>
                  <a:t>产品智能封装供给</a:t>
                </a:r>
                <a:endParaRPr kumimoji="1" lang="zh-CN" sz="1200" b="1" dirty="0">
                  <a:solidFill>
                    <a:srgbClr val="FFFF00"/>
                  </a:solidFill>
                  <a:sym typeface="+mn-ea"/>
                </a:endParaRPr>
              </a:p>
            </p:txBody>
          </p:sp>
          <p:sp>
            <p:nvSpPr>
              <p:cNvPr id="233" name="五边形 232"/>
              <p:cNvSpPr/>
              <p:nvPr/>
            </p:nvSpPr>
            <p:spPr>
              <a:xfrm>
                <a:off x="1259" y="2735"/>
                <a:ext cx="3584" cy="480"/>
              </a:xfrm>
              <a:prstGeom prst="homePlate">
                <a:avLst/>
              </a:prstGeom>
              <a:solidFill>
                <a:srgbClr val="40B0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200" b="1" dirty="0">
                    <a:solidFill>
                      <a:srgbClr val="FFFF00"/>
                    </a:solidFill>
                  </a:rPr>
                  <a:t>①产品研发流程贯通</a:t>
                </a:r>
                <a:endParaRPr kumimoji="1" lang="zh-CN" altLang="en-US" sz="1200" b="1" dirty="0">
                  <a:solidFill>
                    <a:srgbClr val="FFFF00"/>
                  </a:solidFill>
                </a:endParaRPr>
              </a:p>
            </p:txBody>
          </p:sp>
          <p:grpSp>
            <p:nvGrpSpPr>
              <p:cNvPr id="175" name="组合 174"/>
              <p:cNvGrpSpPr/>
              <p:nvPr/>
            </p:nvGrpSpPr>
            <p:grpSpPr>
              <a:xfrm>
                <a:off x="1281" y="3432"/>
                <a:ext cx="3435" cy="1474"/>
                <a:chOff x="1281" y="3402"/>
                <a:chExt cx="3435" cy="1474"/>
              </a:xfrm>
            </p:grpSpPr>
            <p:grpSp>
              <p:nvGrpSpPr>
                <p:cNvPr id="89" name="组合 88"/>
                <p:cNvGrpSpPr/>
                <p:nvPr/>
              </p:nvGrpSpPr>
              <p:grpSpPr>
                <a:xfrm>
                  <a:off x="1281" y="3402"/>
                  <a:ext cx="3248" cy="693"/>
                  <a:chOff x="1626" y="3402"/>
                  <a:chExt cx="3248" cy="693"/>
                </a:xfrm>
              </p:grpSpPr>
              <p:sp>
                <p:nvSpPr>
                  <p:cNvPr id="79" name="文本框 78"/>
                  <p:cNvSpPr txBox="1"/>
                  <p:nvPr/>
                </p:nvSpPr>
                <p:spPr>
                  <a:xfrm>
                    <a:off x="1626" y="3560"/>
                    <a:ext cx="610" cy="535"/>
                  </a:xfrm>
                  <a:prstGeom prst="rect">
                    <a:avLst/>
                  </a:prstGeom>
                  <a:noFill/>
                </p:spPr>
                <p:txBody>
                  <a:bodyPr wrap="square" rtlCol="0">
                    <a:noAutofit/>
                  </a:bodyPr>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需求协同</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sp>
                <p:nvSpPr>
                  <p:cNvPr id="87" name="矩形 86"/>
                  <p:cNvSpPr/>
                  <p:nvPr/>
                </p:nvSpPr>
                <p:spPr>
                  <a:xfrm>
                    <a:off x="2231" y="3402"/>
                    <a:ext cx="2643" cy="454"/>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贯通省专需求流程</a:t>
                    </a:r>
                    <a:endParaRPr lang="zh-CN" altLang="en-US" sz="1000" b="1">
                      <a:solidFill>
                        <a:schemeClr val="bg1"/>
                      </a:solidFill>
                      <a:latin typeface="微软雅黑" panose="020B0503020204020204" pitchFamily="34" charset="-122"/>
                      <a:ea typeface="微软雅黑" panose="020B0503020204020204" pitchFamily="34" charset="-122"/>
                    </a:endParaRPr>
                  </a:p>
                </p:txBody>
              </p:sp>
            </p:grpSp>
            <p:grpSp>
              <p:nvGrpSpPr>
                <p:cNvPr id="106" name="组合 105"/>
                <p:cNvGrpSpPr/>
                <p:nvPr/>
              </p:nvGrpSpPr>
              <p:grpSpPr>
                <a:xfrm>
                  <a:off x="1701" y="4012"/>
                  <a:ext cx="3015" cy="864"/>
                  <a:chOff x="1791" y="4027"/>
                  <a:chExt cx="2861" cy="864"/>
                </a:xfrm>
              </p:grpSpPr>
              <p:grpSp>
                <p:nvGrpSpPr>
                  <p:cNvPr id="96" name="组合 95"/>
                  <p:cNvGrpSpPr/>
                  <p:nvPr/>
                </p:nvGrpSpPr>
                <p:grpSpPr>
                  <a:xfrm>
                    <a:off x="1791" y="4027"/>
                    <a:ext cx="789" cy="831"/>
                    <a:chOff x="1791" y="4027"/>
                    <a:chExt cx="789" cy="831"/>
                  </a:xfrm>
                </p:grpSpPr>
                <p:sp>
                  <p:nvSpPr>
                    <p:cNvPr id="90" name="文本框 89"/>
                    <p:cNvSpPr txBox="1"/>
                    <p:nvPr/>
                  </p:nvSpPr>
                  <p:spPr>
                    <a:xfrm>
                      <a:off x="1791" y="4027"/>
                      <a:ext cx="744" cy="831"/>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需求提出</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cxnSp>
                  <p:nvCxnSpPr>
                    <p:cNvPr id="91" name="直接箭头连接符 90"/>
                    <p:cNvCxnSpPr/>
                    <p:nvPr/>
                  </p:nvCxnSpPr>
                  <p:spPr>
                    <a:xfrm flipV="1">
                      <a:off x="2310" y="4373"/>
                      <a:ext cx="270" cy="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97" name="组合 96"/>
                  <p:cNvGrpSpPr/>
                  <p:nvPr/>
                </p:nvGrpSpPr>
                <p:grpSpPr>
                  <a:xfrm>
                    <a:off x="2446" y="4036"/>
                    <a:ext cx="804" cy="831"/>
                    <a:chOff x="1446" y="4027"/>
                    <a:chExt cx="804" cy="831"/>
                  </a:xfrm>
                </p:grpSpPr>
                <p:sp>
                  <p:nvSpPr>
                    <p:cNvPr id="98" name="文本框 97"/>
                    <p:cNvSpPr txBox="1"/>
                    <p:nvPr/>
                  </p:nvSpPr>
                  <p:spPr>
                    <a:xfrm>
                      <a:off x="1446" y="4027"/>
                      <a:ext cx="744" cy="831"/>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需求评审</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cxnSp>
                  <p:nvCxnSpPr>
                    <p:cNvPr id="101" name="直接箭头连接符 100"/>
                    <p:cNvCxnSpPr/>
                    <p:nvPr/>
                  </p:nvCxnSpPr>
                  <p:spPr>
                    <a:xfrm flipV="1">
                      <a:off x="1980" y="4373"/>
                      <a:ext cx="270" cy="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02" name="组合 101"/>
                  <p:cNvGrpSpPr/>
                  <p:nvPr/>
                </p:nvGrpSpPr>
                <p:grpSpPr>
                  <a:xfrm>
                    <a:off x="3164" y="4036"/>
                    <a:ext cx="789" cy="831"/>
                    <a:chOff x="1791" y="4027"/>
                    <a:chExt cx="789" cy="831"/>
                  </a:xfrm>
                </p:grpSpPr>
                <p:sp>
                  <p:nvSpPr>
                    <p:cNvPr id="103" name="文本框 102"/>
                    <p:cNvSpPr txBox="1"/>
                    <p:nvPr/>
                  </p:nvSpPr>
                  <p:spPr>
                    <a:xfrm>
                      <a:off x="1791" y="4027"/>
                      <a:ext cx="744" cy="831"/>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产品引入</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cxnSp>
                  <p:nvCxnSpPr>
                    <p:cNvPr id="104" name="直接箭头连接符 103"/>
                    <p:cNvCxnSpPr/>
                    <p:nvPr/>
                  </p:nvCxnSpPr>
                  <p:spPr>
                    <a:xfrm flipV="1">
                      <a:off x="2310" y="4373"/>
                      <a:ext cx="270" cy="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05" name="文本框 104"/>
                  <p:cNvSpPr txBox="1"/>
                  <p:nvPr/>
                </p:nvSpPr>
                <p:spPr>
                  <a:xfrm>
                    <a:off x="3908" y="4037"/>
                    <a:ext cx="744" cy="854"/>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需求反馈</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grpSp>
          </p:grpSp>
          <p:grpSp>
            <p:nvGrpSpPr>
              <p:cNvPr id="26" name="组合 25"/>
              <p:cNvGrpSpPr/>
              <p:nvPr/>
            </p:nvGrpSpPr>
            <p:grpSpPr>
              <a:xfrm>
                <a:off x="1260" y="5141"/>
                <a:ext cx="3457" cy="1437"/>
                <a:chOff x="1260" y="4676"/>
                <a:chExt cx="3457" cy="1437"/>
              </a:xfrm>
            </p:grpSpPr>
            <p:sp>
              <p:nvSpPr>
                <p:cNvPr id="107" name="矩形 106"/>
                <p:cNvSpPr/>
                <p:nvPr/>
              </p:nvSpPr>
              <p:spPr>
                <a:xfrm>
                  <a:off x="1791" y="4676"/>
                  <a:ext cx="2769" cy="454"/>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贯通生态能力管理线上流程</a:t>
                  </a:r>
                  <a:endParaRPr lang="zh-CN" altLang="en-US" sz="1000" b="1">
                    <a:solidFill>
                      <a:schemeClr val="bg1"/>
                    </a:solidFill>
                    <a:latin typeface="微软雅黑" panose="020B0503020204020204" pitchFamily="34" charset="-122"/>
                    <a:ea typeface="微软雅黑" panose="020B0503020204020204" pitchFamily="34" charset="-122"/>
                  </a:endParaRPr>
                </a:p>
              </p:txBody>
            </p:sp>
            <p:sp>
              <p:nvSpPr>
                <p:cNvPr id="108" name="文本框 107"/>
                <p:cNvSpPr txBox="1"/>
                <p:nvPr/>
              </p:nvSpPr>
              <p:spPr>
                <a:xfrm>
                  <a:off x="1260" y="4862"/>
                  <a:ext cx="610" cy="754"/>
                </a:xfrm>
                <a:prstGeom prst="rect">
                  <a:avLst/>
                </a:prstGeom>
                <a:noFill/>
              </p:spPr>
              <p:txBody>
                <a:bodyPr wrap="square" rtlCol="0">
                  <a:noAutofit/>
                </a:bodyPr>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能力封装</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1702" y="5249"/>
                  <a:ext cx="3015" cy="864"/>
                  <a:chOff x="1791" y="4027"/>
                  <a:chExt cx="2861" cy="864"/>
                </a:xfrm>
              </p:grpSpPr>
              <p:grpSp>
                <p:nvGrpSpPr>
                  <p:cNvPr id="4" name="组合 3"/>
                  <p:cNvGrpSpPr/>
                  <p:nvPr/>
                </p:nvGrpSpPr>
                <p:grpSpPr>
                  <a:xfrm>
                    <a:off x="1791" y="4027"/>
                    <a:ext cx="789" cy="831"/>
                    <a:chOff x="1791" y="4027"/>
                    <a:chExt cx="789" cy="831"/>
                  </a:xfrm>
                </p:grpSpPr>
                <p:sp>
                  <p:nvSpPr>
                    <p:cNvPr id="16" name="文本框 15"/>
                    <p:cNvSpPr txBox="1"/>
                    <p:nvPr/>
                  </p:nvSpPr>
                  <p:spPr>
                    <a:xfrm>
                      <a:off x="1791" y="4027"/>
                      <a:ext cx="744" cy="831"/>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能力引入</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cxnSp>
                  <p:nvCxnSpPr>
                    <p:cNvPr id="18" name="直接箭头连接符 17"/>
                    <p:cNvCxnSpPr/>
                    <p:nvPr/>
                  </p:nvCxnSpPr>
                  <p:spPr>
                    <a:xfrm flipV="1">
                      <a:off x="2310" y="4373"/>
                      <a:ext cx="270" cy="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2446" y="4036"/>
                    <a:ext cx="804" cy="831"/>
                    <a:chOff x="1446" y="4027"/>
                    <a:chExt cx="804" cy="831"/>
                  </a:xfrm>
                </p:grpSpPr>
                <p:sp>
                  <p:nvSpPr>
                    <p:cNvPr id="20" name="文本框 19"/>
                    <p:cNvSpPr txBox="1"/>
                    <p:nvPr/>
                  </p:nvSpPr>
                  <p:spPr>
                    <a:xfrm>
                      <a:off x="1446" y="4027"/>
                      <a:ext cx="744" cy="831"/>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能力货架</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cxnSp>
                  <p:nvCxnSpPr>
                    <p:cNvPr id="21" name="直接箭头连接符 20"/>
                    <p:cNvCxnSpPr/>
                    <p:nvPr/>
                  </p:nvCxnSpPr>
                  <p:spPr>
                    <a:xfrm flipV="1">
                      <a:off x="1980" y="4373"/>
                      <a:ext cx="270" cy="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3164" y="4036"/>
                    <a:ext cx="789" cy="831"/>
                    <a:chOff x="1791" y="4027"/>
                    <a:chExt cx="789" cy="831"/>
                  </a:xfrm>
                </p:grpSpPr>
                <p:sp>
                  <p:nvSpPr>
                    <p:cNvPr id="23" name="文本框 22"/>
                    <p:cNvSpPr txBox="1"/>
                    <p:nvPr/>
                  </p:nvSpPr>
                  <p:spPr>
                    <a:xfrm>
                      <a:off x="1791" y="4027"/>
                      <a:ext cx="744" cy="831"/>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能力订购</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cxnSp>
                  <p:nvCxnSpPr>
                    <p:cNvPr id="24" name="直接箭头连接符 23"/>
                    <p:cNvCxnSpPr/>
                    <p:nvPr/>
                  </p:nvCxnSpPr>
                  <p:spPr>
                    <a:xfrm flipV="1">
                      <a:off x="2310" y="4373"/>
                      <a:ext cx="270" cy="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5" name="文本框 24"/>
                  <p:cNvSpPr txBox="1"/>
                  <p:nvPr/>
                </p:nvSpPr>
                <p:spPr>
                  <a:xfrm>
                    <a:off x="3908" y="4037"/>
                    <a:ext cx="744" cy="854"/>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能力结算</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grpSp>
          </p:grpSp>
          <p:sp>
            <p:nvSpPr>
              <p:cNvPr id="56" name="矩形 55"/>
              <p:cNvSpPr/>
              <p:nvPr/>
            </p:nvSpPr>
            <p:spPr>
              <a:xfrm>
                <a:off x="5268" y="3410"/>
                <a:ext cx="4943" cy="454"/>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标准化原子产品统一纳管，灵活打包</a:t>
                </a:r>
                <a:endParaRPr lang="zh-CN" altLang="en-US" sz="1000" b="1">
                  <a:solidFill>
                    <a:schemeClr val="bg1"/>
                  </a:solidFill>
                  <a:latin typeface="微软雅黑" panose="020B0503020204020204" pitchFamily="34" charset="-122"/>
                  <a:ea typeface="微软雅黑" panose="020B0503020204020204" pitchFamily="34" charset="-122"/>
                </a:endParaRPr>
              </a:p>
            </p:txBody>
          </p:sp>
          <p:sp>
            <p:nvSpPr>
              <p:cNvPr id="58" name="矩形 57"/>
              <p:cNvSpPr/>
              <p:nvPr/>
            </p:nvSpPr>
            <p:spPr>
              <a:xfrm>
                <a:off x="1283" y="3309"/>
                <a:ext cx="3433" cy="3503"/>
              </a:xfrm>
              <a:prstGeom prst="rect">
                <a:avLst/>
              </a:prstGeom>
              <a:noFill/>
              <a:ln w="19050">
                <a:solidFill>
                  <a:schemeClr val="bg2"/>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marL="36195" indent="0" fontAlgn="base">
                  <a:lnSpc>
                    <a:spcPct val="150000"/>
                  </a:lnSpc>
                  <a:spcBef>
                    <a:spcPct val="0"/>
                  </a:spcBef>
                  <a:spcAft>
                    <a:spcPct val="0"/>
                  </a:spcAft>
                  <a:buClr>
                    <a:schemeClr val="accent1"/>
                  </a:buClr>
                  <a:buFont typeface="Arial" panose="020B0604020202020204" pitchFamily="34" charset="0"/>
                  <a:buNone/>
                </a:pP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59" name="矩形 58"/>
              <p:cNvSpPr/>
              <p:nvPr/>
            </p:nvSpPr>
            <p:spPr>
              <a:xfrm>
                <a:off x="4958" y="3308"/>
                <a:ext cx="5349" cy="3503"/>
              </a:xfrm>
              <a:prstGeom prst="rect">
                <a:avLst/>
              </a:prstGeom>
              <a:noFill/>
              <a:ln w="19050">
                <a:solidFill>
                  <a:schemeClr val="bg2"/>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marL="36195" indent="0" fontAlgn="base">
                  <a:lnSpc>
                    <a:spcPct val="150000"/>
                  </a:lnSpc>
                  <a:spcBef>
                    <a:spcPct val="0"/>
                  </a:spcBef>
                  <a:spcAft>
                    <a:spcPct val="0"/>
                  </a:spcAft>
                  <a:buClr>
                    <a:schemeClr val="accent1"/>
                  </a:buClr>
                  <a:buFont typeface="Arial" panose="020B0604020202020204" pitchFamily="34" charset="0"/>
                  <a:buNone/>
                </a:pPr>
                <a:endParaRPr lang="zh-CN" altLang="en-US" sz="1200" dirty="0">
                  <a:solidFill>
                    <a:prstClr val="black"/>
                  </a:solidFill>
                  <a:latin typeface="微软雅黑" panose="020B0503020204020204" pitchFamily="34" charset="-122"/>
                  <a:ea typeface="微软雅黑" panose="020B0503020204020204" pitchFamily="34" charset="-122"/>
                </a:endParaRPr>
              </a:p>
            </p:txBody>
          </p:sp>
          <p:grpSp>
            <p:nvGrpSpPr>
              <p:cNvPr id="94" name="组合 93"/>
              <p:cNvGrpSpPr/>
              <p:nvPr/>
            </p:nvGrpSpPr>
            <p:grpSpPr>
              <a:xfrm>
                <a:off x="15903" y="3997"/>
                <a:ext cx="2240" cy="1234"/>
                <a:chOff x="14016" y="3463"/>
                <a:chExt cx="2485" cy="1052"/>
              </a:xfrm>
              <a:noFill/>
            </p:grpSpPr>
            <p:sp>
              <p:nvSpPr>
                <p:cNvPr id="81" name="ïṩḻiḑé"/>
                <p:cNvSpPr/>
                <p:nvPr/>
              </p:nvSpPr>
              <p:spPr>
                <a:xfrm>
                  <a:off x="14016" y="3463"/>
                  <a:ext cx="514" cy="1052"/>
                </a:xfrm>
                <a:prstGeom prst="roundRect">
                  <a:avLst>
                    <a:gd name="adj" fmla="val 47679"/>
                  </a:avLst>
                </a:prstGeom>
                <a:grpFill/>
                <a:ln w="9525" cap="flat" cmpd="sng" algn="ctr">
                  <a:solidFill>
                    <a:srgbClr val="40B0FF"/>
                  </a:solidFill>
                  <a:prstDash val="sysDot"/>
                </a:ln>
                <a:effectLst/>
              </p:spPr>
              <p:txBody>
                <a:bodyPr vert="eaVert" wrap="none" lIns="90000" tIns="46800" rIns="90000" bIns="46800" anchor="ctr" anchorCtr="0">
                  <a:noAutofit/>
                </a:bodyPr>
                <a:p>
                  <a:pPr marL="0" marR="0" lvl="0" indent="0" algn="r" defTabSz="1219200" eaLnBrk="1" fontAlgn="base"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rPr>
                    <a:t>    </a:t>
                  </a:r>
                  <a:r>
                    <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rPr>
                    <a:t>质量打分</a:t>
                  </a:r>
                  <a:endPar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endParaRPr>
                </a:p>
              </p:txBody>
            </p:sp>
            <p:sp>
              <p:nvSpPr>
                <p:cNvPr id="82" name="ïṩḻiḑé"/>
                <p:cNvSpPr/>
                <p:nvPr/>
              </p:nvSpPr>
              <p:spPr>
                <a:xfrm>
                  <a:off x="14656" y="3463"/>
                  <a:ext cx="514" cy="1052"/>
                </a:xfrm>
                <a:prstGeom prst="roundRect">
                  <a:avLst>
                    <a:gd name="adj" fmla="val 47679"/>
                  </a:avLst>
                </a:prstGeom>
                <a:grpFill/>
                <a:ln w="9525" cap="flat" cmpd="sng" algn="ctr">
                  <a:solidFill>
                    <a:srgbClr val="40B0FF"/>
                  </a:solidFill>
                  <a:prstDash val="sysDot"/>
                </a:ln>
                <a:effectLst/>
              </p:spPr>
              <p:txBody>
                <a:bodyPr vert="eaVert" wrap="none" lIns="90000" tIns="46800" rIns="90000" bIns="46800" anchor="ctr" anchorCtr="0">
                  <a:noAutofit/>
                </a:bodyPr>
                <a:p>
                  <a:pPr marL="0" marR="0" lvl="0" indent="0" algn="r" defTabSz="1219200" eaLnBrk="1" fontAlgn="base"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rPr>
                    <a:t>优化建议</a:t>
                  </a:r>
                  <a:endPar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endParaRPr>
                </a:p>
              </p:txBody>
            </p:sp>
            <p:sp>
              <p:nvSpPr>
                <p:cNvPr id="84" name="ïṩḻiḑé"/>
                <p:cNvSpPr/>
                <p:nvPr/>
              </p:nvSpPr>
              <p:spPr>
                <a:xfrm>
                  <a:off x="15336" y="3463"/>
                  <a:ext cx="514" cy="1052"/>
                </a:xfrm>
                <a:prstGeom prst="roundRect">
                  <a:avLst>
                    <a:gd name="adj" fmla="val 47679"/>
                  </a:avLst>
                </a:prstGeom>
                <a:grpFill/>
                <a:ln w="9525" cap="flat" cmpd="sng" algn="ctr">
                  <a:solidFill>
                    <a:srgbClr val="40B0FF"/>
                  </a:solidFill>
                  <a:prstDash val="sysDot"/>
                </a:ln>
                <a:effectLst/>
              </p:spPr>
              <p:txBody>
                <a:bodyPr vert="eaVert" wrap="none" lIns="90000" tIns="46800" rIns="90000" bIns="46800" anchor="ctr" anchorCtr="0">
                  <a:noAutofit/>
                </a:bodyPr>
                <a:p>
                  <a:pPr marL="0" marR="0" lvl="0" indent="0" algn="r" defTabSz="1219200" eaLnBrk="1" fontAlgn="base"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rPr>
                    <a:t>案例推荐</a:t>
                  </a:r>
                  <a:endPar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endParaRPr>
                </a:p>
              </p:txBody>
            </p:sp>
            <p:sp>
              <p:nvSpPr>
                <p:cNvPr id="93" name="ïṩḻiḑé"/>
                <p:cNvSpPr/>
                <p:nvPr/>
              </p:nvSpPr>
              <p:spPr>
                <a:xfrm>
                  <a:off x="15987" y="3463"/>
                  <a:ext cx="514" cy="1052"/>
                </a:xfrm>
                <a:prstGeom prst="roundRect">
                  <a:avLst>
                    <a:gd name="adj" fmla="val 47679"/>
                  </a:avLst>
                </a:prstGeom>
                <a:grpFill/>
                <a:ln w="9525" cap="flat" cmpd="sng" algn="ctr">
                  <a:solidFill>
                    <a:srgbClr val="40B0FF"/>
                  </a:solidFill>
                  <a:prstDash val="sysDot"/>
                </a:ln>
                <a:effectLst/>
              </p:spPr>
              <p:txBody>
                <a:bodyPr vert="eaVert" wrap="none" lIns="90000" tIns="46800" rIns="90000" bIns="46800" anchor="ctr" anchorCtr="0">
                  <a:noAutofit/>
                </a:bodyPr>
                <a:p>
                  <a:pPr marL="0" marR="0" lvl="0" indent="0" algn="r" defTabSz="1219200" eaLnBrk="1" fontAlgn="base"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rPr>
                    <a:t>分省画像</a:t>
                  </a:r>
                  <a:endPar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endParaRPr>
                </a:p>
              </p:txBody>
            </p:sp>
          </p:grpSp>
          <p:sp>
            <p:nvSpPr>
              <p:cNvPr id="113" name="矩形 112"/>
              <p:cNvSpPr/>
              <p:nvPr/>
            </p:nvSpPr>
            <p:spPr>
              <a:xfrm>
                <a:off x="11127" y="3368"/>
                <a:ext cx="4124" cy="344"/>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产品运营信息一点看全</a:t>
                </a:r>
                <a:endParaRPr lang="zh-CN" altLang="en-US" sz="1000" b="1">
                  <a:solidFill>
                    <a:schemeClr val="bg1"/>
                  </a:solidFill>
                  <a:latin typeface="微软雅黑" panose="020B0503020204020204" pitchFamily="34" charset="-122"/>
                  <a:ea typeface="微软雅黑" panose="020B0503020204020204" pitchFamily="34" charset="-122"/>
                </a:endParaRPr>
              </a:p>
            </p:txBody>
          </p:sp>
          <p:sp>
            <p:nvSpPr>
              <p:cNvPr id="114" name="文本框 113"/>
              <p:cNvSpPr txBox="1"/>
              <p:nvPr/>
            </p:nvSpPr>
            <p:spPr>
              <a:xfrm>
                <a:off x="10539" y="3410"/>
                <a:ext cx="610" cy="1093"/>
              </a:xfrm>
              <a:prstGeom prst="rect">
                <a:avLst/>
              </a:prstGeom>
              <a:noFill/>
            </p:spPr>
            <p:txBody>
              <a:bodyPr wrap="square" rtlCol="0">
                <a:noAutofit/>
              </a:bodyPr>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数据整合</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grpSp>
            <p:nvGrpSpPr>
              <p:cNvPr id="138" name="组合 137"/>
              <p:cNvGrpSpPr/>
              <p:nvPr/>
            </p:nvGrpSpPr>
            <p:grpSpPr>
              <a:xfrm>
                <a:off x="11149" y="3864"/>
                <a:ext cx="1168" cy="417"/>
                <a:chOff x="2095" y="3940"/>
                <a:chExt cx="1168" cy="417"/>
              </a:xfrm>
            </p:grpSpPr>
            <p:sp>
              <p:nvSpPr>
                <p:cNvPr id="115" name="矩形 114"/>
                <p:cNvSpPr/>
                <p:nvPr/>
              </p:nvSpPr>
              <p:spPr>
                <a:xfrm>
                  <a:off x="2095" y="3948"/>
                  <a:ext cx="1168" cy="409"/>
                </a:xfrm>
                <a:prstGeom prst="rect">
                  <a:avLst/>
                </a:prstGeom>
                <a:noFill/>
                <a:ln w="12700" cmpd="sng">
                  <a:solidFill>
                    <a:schemeClr val="bg1">
                      <a:lumMod val="50000"/>
                    </a:schemeClr>
                  </a:solidFill>
                  <a:prstDash val="dash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effectLst/>
                  </a:endParaRPr>
                </a:p>
              </p:txBody>
            </p:sp>
            <p:sp>
              <p:nvSpPr>
                <p:cNvPr id="121" name="文本框 120"/>
                <p:cNvSpPr txBox="1"/>
                <p:nvPr/>
              </p:nvSpPr>
              <p:spPr>
                <a:xfrm>
                  <a:off x="2140" y="3940"/>
                  <a:ext cx="1086" cy="354"/>
                </a:xfrm>
                <a:prstGeom prst="rect">
                  <a:avLst/>
                </a:prstGeom>
                <a:noFill/>
              </p:spPr>
              <p:txBody>
                <a:bodyPr wrap="square" rtlCol="0">
                  <a:noAutofit/>
                </a:bodyPr>
                <a:p>
                  <a:pPr algn="l"/>
                  <a:r>
                    <a:rPr kumimoji="1" lang="zh-CN" altLang="en-US" sz="900" b="1" dirty="0" smtClean="0">
                      <a:solidFill>
                        <a:schemeClr val="accent1"/>
                      </a:solidFill>
                      <a:effectLst/>
                      <a:latin typeface="微软雅黑" panose="020B0503020204020204" pitchFamily="34" charset="-122"/>
                      <a:ea typeface="微软雅黑" panose="020B0503020204020204" pitchFamily="34" charset="-122"/>
                    </a:rPr>
                    <a:t>产品创新</a:t>
                  </a:r>
                  <a:endParaRPr kumimoji="1" lang="zh-CN" altLang="en-US" sz="900" b="1" dirty="0" smtClean="0">
                    <a:solidFill>
                      <a:schemeClr val="accent1"/>
                    </a:solidFill>
                    <a:effectLst/>
                    <a:latin typeface="微软雅黑" panose="020B0503020204020204" pitchFamily="34" charset="-122"/>
                    <a:ea typeface="微软雅黑" panose="020B0503020204020204" pitchFamily="34" charset="-122"/>
                  </a:endParaRPr>
                </a:p>
              </p:txBody>
            </p:sp>
          </p:grpSp>
          <p:grpSp>
            <p:nvGrpSpPr>
              <p:cNvPr id="139" name="组合 138"/>
              <p:cNvGrpSpPr/>
              <p:nvPr/>
            </p:nvGrpSpPr>
            <p:grpSpPr>
              <a:xfrm>
                <a:off x="12608" y="3864"/>
                <a:ext cx="1168" cy="417"/>
                <a:chOff x="2095" y="3940"/>
                <a:chExt cx="1168" cy="417"/>
              </a:xfrm>
            </p:grpSpPr>
            <p:sp>
              <p:nvSpPr>
                <p:cNvPr id="140" name="矩形 139"/>
                <p:cNvSpPr/>
                <p:nvPr/>
              </p:nvSpPr>
              <p:spPr>
                <a:xfrm>
                  <a:off x="2095" y="3948"/>
                  <a:ext cx="1168" cy="409"/>
                </a:xfrm>
                <a:prstGeom prst="rect">
                  <a:avLst/>
                </a:prstGeom>
                <a:noFill/>
                <a:ln w="12700" cmpd="sng">
                  <a:solidFill>
                    <a:schemeClr val="bg1">
                      <a:lumMod val="50000"/>
                    </a:schemeClr>
                  </a:solidFill>
                  <a:prstDash val="dash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effectLst/>
                  </a:endParaRPr>
                </a:p>
              </p:txBody>
            </p:sp>
            <p:sp>
              <p:nvSpPr>
                <p:cNvPr id="148" name="文本框 147"/>
                <p:cNvSpPr txBox="1"/>
                <p:nvPr/>
              </p:nvSpPr>
              <p:spPr>
                <a:xfrm>
                  <a:off x="2140" y="3940"/>
                  <a:ext cx="1086" cy="354"/>
                </a:xfrm>
                <a:prstGeom prst="rect">
                  <a:avLst/>
                </a:prstGeom>
                <a:noFill/>
              </p:spPr>
              <p:txBody>
                <a:bodyPr wrap="square" rtlCol="0">
                  <a:noAutofit/>
                </a:bodyPr>
                <a:p>
                  <a:pPr algn="l"/>
                  <a:r>
                    <a:rPr kumimoji="1" lang="zh-CN" altLang="en-US" sz="900" b="1" dirty="0" smtClean="0">
                      <a:solidFill>
                        <a:schemeClr val="accent1"/>
                      </a:solidFill>
                      <a:effectLst/>
                      <a:latin typeface="微软雅黑" panose="020B0503020204020204" pitchFamily="34" charset="-122"/>
                      <a:ea typeface="微软雅黑" panose="020B0503020204020204" pitchFamily="34" charset="-122"/>
                    </a:rPr>
                    <a:t>产品运营</a:t>
                  </a:r>
                  <a:endParaRPr kumimoji="1" lang="zh-CN" altLang="en-US" sz="900" b="1" dirty="0" smtClean="0">
                    <a:solidFill>
                      <a:schemeClr val="accent1"/>
                    </a:solidFill>
                    <a:effectLst/>
                    <a:latin typeface="微软雅黑" panose="020B0503020204020204" pitchFamily="34" charset="-122"/>
                    <a:ea typeface="微软雅黑" panose="020B0503020204020204" pitchFamily="34" charset="-122"/>
                  </a:endParaRPr>
                </a:p>
              </p:txBody>
            </p:sp>
          </p:grpSp>
          <p:grpSp>
            <p:nvGrpSpPr>
              <p:cNvPr id="149" name="组合 148"/>
              <p:cNvGrpSpPr/>
              <p:nvPr/>
            </p:nvGrpSpPr>
            <p:grpSpPr>
              <a:xfrm>
                <a:off x="14067" y="3864"/>
                <a:ext cx="1168" cy="417"/>
                <a:chOff x="2095" y="3940"/>
                <a:chExt cx="1168" cy="417"/>
              </a:xfrm>
            </p:grpSpPr>
            <p:sp>
              <p:nvSpPr>
                <p:cNvPr id="150" name="矩形 149"/>
                <p:cNvSpPr/>
                <p:nvPr/>
              </p:nvSpPr>
              <p:spPr>
                <a:xfrm>
                  <a:off x="2095" y="3948"/>
                  <a:ext cx="1168" cy="409"/>
                </a:xfrm>
                <a:prstGeom prst="rect">
                  <a:avLst/>
                </a:prstGeom>
                <a:noFill/>
                <a:ln w="12700" cmpd="sng">
                  <a:solidFill>
                    <a:schemeClr val="bg1">
                      <a:lumMod val="50000"/>
                    </a:schemeClr>
                  </a:solidFill>
                  <a:prstDash val="dash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effectLst/>
                  </a:endParaRPr>
                </a:p>
              </p:txBody>
            </p:sp>
            <p:sp>
              <p:nvSpPr>
                <p:cNvPr id="151" name="文本框 150"/>
                <p:cNvSpPr txBox="1"/>
                <p:nvPr/>
              </p:nvSpPr>
              <p:spPr>
                <a:xfrm>
                  <a:off x="2140" y="3940"/>
                  <a:ext cx="1086" cy="354"/>
                </a:xfrm>
                <a:prstGeom prst="rect">
                  <a:avLst/>
                </a:prstGeom>
                <a:noFill/>
              </p:spPr>
              <p:txBody>
                <a:bodyPr wrap="square" rtlCol="0">
                  <a:noAutofit/>
                </a:bodyPr>
                <a:p>
                  <a:pPr algn="l"/>
                  <a:r>
                    <a:rPr kumimoji="1" lang="zh-CN" altLang="en-US" sz="900" b="1" dirty="0" smtClean="0">
                      <a:solidFill>
                        <a:schemeClr val="accent1"/>
                      </a:solidFill>
                      <a:effectLst/>
                      <a:latin typeface="微软雅黑" panose="020B0503020204020204" pitchFamily="34" charset="-122"/>
                      <a:ea typeface="微软雅黑" panose="020B0503020204020204" pitchFamily="34" charset="-122"/>
                    </a:rPr>
                    <a:t>产品质量</a:t>
                  </a:r>
                  <a:endParaRPr kumimoji="1" lang="zh-CN" altLang="en-US" sz="900" b="1" dirty="0" smtClean="0">
                    <a:solidFill>
                      <a:schemeClr val="accent1"/>
                    </a:solidFill>
                    <a:effectLst/>
                    <a:latin typeface="微软雅黑" panose="020B0503020204020204" pitchFamily="34" charset="-122"/>
                    <a:ea typeface="微软雅黑" panose="020B0503020204020204" pitchFamily="34" charset="-122"/>
                  </a:endParaRPr>
                </a:p>
              </p:txBody>
            </p:sp>
          </p:grpSp>
          <p:grpSp>
            <p:nvGrpSpPr>
              <p:cNvPr id="158" name="组合 157"/>
              <p:cNvGrpSpPr/>
              <p:nvPr/>
            </p:nvGrpSpPr>
            <p:grpSpPr>
              <a:xfrm>
                <a:off x="11127" y="4538"/>
                <a:ext cx="4277" cy="1193"/>
                <a:chOff x="11127" y="4448"/>
                <a:chExt cx="4277" cy="1193"/>
              </a:xfrm>
            </p:grpSpPr>
            <p:sp>
              <p:nvSpPr>
                <p:cNvPr id="152" name="矩形 151"/>
                <p:cNvSpPr/>
                <p:nvPr/>
              </p:nvSpPr>
              <p:spPr>
                <a:xfrm>
                  <a:off x="11127" y="4448"/>
                  <a:ext cx="4124" cy="344"/>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产品全生命周期的决策辅助</a:t>
                  </a:r>
                  <a:endParaRPr lang="zh-CN" altLang="en-US" sz="1000" b="1">
                    <a:solidFill>
                      <a:schemeClr val="bg1"/>
                    </a:solidFill>
                    <a:latin typeface="微软雅黑" panose="020B0503020204020204" pitchFamily="34" charset="-122"/>
                    <a:ea typeface="微软雅黑" panose="020B0503020204020204" pitchFamily="34" charset="-122"/>
                  </a:endParaRPr>
                </a:p>
              </p:txBody>
            </p:sp>
            <p:sp>
              <p:nvSpPr>
                <p:cNvPr id="153" name="文本框 152"/>
                <p:cNvSpPr txBox="1"/>
                <p:nvPr/>
              </p:nvSpPr>
              <p:spPr>
                <a:xfrm>
                  <a:off x="11127" y="4902"/>
                  <a:ext cx="1153" cy="679"/>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产品</a:t>
                  </a:r>
                  <a:r>
                    <a:rPr kumimoji="0"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Arial" panose="020B0604020202020204" pitchFamily="34" charset="0"/>
                    </a:rPr>
                    <a:t>创新</a:t>
                  </a: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分析</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54" name="文本框 153"/>
                <p:cNvSpPr txBox="1"/>
                <p:nvPr/>
              </p:nvSpPr>
              <p:spPr>
                <a:xfrm>
                  <a:off x="12358" y="4921"/>
                  <a:ext cx="1069" cy="679"/>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产品</a:t>
                  </a:r>
                  <a:r>
                    <a:rPr kumimoji="0"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Arial" panose="020B0604020202020204" pitchFamily="34" charset="0"/>
                    </a:rPr>
                    <a:t>运营</a:t>
                  </a: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分析</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55" name="文本框 154"/>
                <p:cNvSpPr txBox="1"/>
                <p:nvPr/>
              </p:nvSpPr>
              <p:spPr>
                <a:xfrm>
                  <a:off x="13521" y="4941"/>
                  <a:ext cx="1056" cy="679"/>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产品</a:t>
                  </a:r>
                  <a:r>
                    <a:rPr kumimoji="0"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Arial" panose="020B0604020202020204" pitchFamily="34" charset="0"/>
                    </a:rPr>
                    <a:t>质量</a:t>
                  </a: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分析</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56" name="文本框 155"/>
                <p:cNvSpPr txBox="1"/>
                <p:nvPr/>
              </p:nvSpPr>
              <p:spPr>
                <a:xfrm>
                  <a:off x="14657" y="4962"/>
                  <a:ext cx="747" cy="679"/>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Arial" panose="020B0604020202020204" pitchFamily="34" charset="0"/>
                    </a:rPr>
                    <a:t>协同</a:t>
                  </a:r>
                  <a:endParaRPr kumimoji="0" lang="zh-CN" altLang="en-US" sz="9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管控</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157" name="矩形 156"/>
              <p:cNvSpPr/>
              <p:nvPr/>
            </p:nvSpPr>
            <p:spPr>
              <a:xfrm>
                <a:off x="11119" y="5832"/>
                <a:ext cx="4124" cy="344"/>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贯通集省专协同数字化流程</a:t>
                </a:r>
                <a:endParaRPr lang="zh-CN" altLang="en-US" sz="1000" b="1">
                  <a:solidFill>
                    <a:schemeClr val="bg1"/>
                  </a:solidFill>
                  <a:latin typeface="微软雅黑" panose="020B0503020204020204" pitchFamily="34" charset="-122"/>
                  <a:ea typeface="微软雅黑" panose="020B0503020204020204" pitchFamily="34" charset="-122"/>
                </a:endParaRPr>
              </a:p>
            </p:txBody>
          </p:sp>
          <p:sp>
            <p:nvSpPr>
              <p:cNvPr id="159" name="文本框 158"/>
              <p:cNvSpPr txBox="1"/>
              <p:nvPr/>
            </p:nvSpPr>
            <p:spPr>
              <a:xfrm>
                <a:off x="10532" y="4531"/>
                <a:ext cx="610" cy="1093"/>
              </a:xfrm>
              <a:prstGeom prst="rect">
                <a:avLst/>
              </a:prstGeom>
              <a:noFill/>
            </p:spPr>
            <p:txBody>
              <a:bodyPr wrap="square" rtlCol="0">
                <a:noAutofit/>
              </a:bodyPr>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智能运营</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sp>
            <p:nvSpPr>
              <p:cNvPr id="160" name="文本框 159"/>
              <p:cNvSpPr txBox="1"/>
              <p:nvPr/>
            </p:nvSpPr>
            <p:spPr>
              <a:xfrm>
                <a:off x="10539" y="5718"/>
                <a:ext cx="610" cy="1093"/>
              </a:xfrm>
              <a:prstGeom prst="rect">
                <a:avLst/>
              </a:prstGeom>
              <a:noFill/>
            </p:spPr>
            <p:txBody>
              <a:bodyPr wrap="square" rtlCol="0">
                <a:noAutofit/>
              </a:bodyPr>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协同运营</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sp>
            <p:nvSpPr>
              <p:cNvPr id="161" name="文本框 160"/>
              <p:cNvSpPr txBox="1"/>
              <p:nvPr/>
            </p:nvSpPr>
            <p:spPr>
              <a:xfrm>
                <a:off x="11119" y="6276"/>
                <a:ext cx="1905" cy="424"/>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任务线上协同</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62" name="文本框 161"/>
              <p:cNvSpPr txBox="1"/>
              <p:nvPr/>
            </p:nvSpPr>
            <p:spPr>
              <a:xfrm>
                <a:off x="13204" y="6257"/>
                <a:ext cx="2160" cy="424"/>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OKR</a:t>
                </a: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穿透跟踪</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63" name="矩形 162"/>
              <p:cNvSpPr/>
              <p:nvPr/>
            </p:nvSpPr>
            <p:spPr>
              <a:xfrm>
                <a:off x="10458" y="3309"/>
                <a:ext cx="5079" cy="3502"/>
              </a:xfrm>
              <a:prstGeom prst="rect">
                <a:avLst/>
              </a:prstGeom>
              <a:noFill/>
              <a:ln w="19050">
                <a:solidFill>
                  <a:schemeClr val="bg2"/>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marL="36195" indent="0" fontAlgn="base">
                  <a:lnSpc>
                    <a:spcPct val="150000"/>
                  </a:lnSpc>
                  <a:spcBef>
                    <a:spcPct val="0"/>
                  </a:spcBef>
                  <a:spcAft>
                    <a:spcPct val="0"/>
                  </a:spcAft>
                  <a:buClr>
                    <a:schemeClr val="accent1"/>
                  </a:buClr>
                  <a:buFont typeface="Arial" panose="020B0604020202020204" pitchFamily="34" charset="0"/>
                  <a:buNone/>
                </a:pP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164" name="文本框 163"/>
              <p:cNvSpPr txBox="1"/>
              <p:nvPr/>
            </p:nvSpPr>
            <p:spPr>
              <a:xfrm>
                <a:off x="4958" y="4173"/>
                <a:ext cx="850" cy="1013"/>
              </a:xfrm>
              <a:prstGeom prst="rect">
                <a:avLst/>
              </a:prstGeom>
              <a:noFill/>
            </p:spPr>
            <p:txBody>
              <a:bodyPr wrap="square" rtlCol="0">
                <a:noAutofit/>
              </a:bodyPr>
              <a:p>
                <a:pPr algn="l"/>
                <a:r>
                  <a:rPr kumimoji="1" lang="en-US" altLang="zh-CN" sz="1000" b="1" dirty="0" smtClean="0">
                    <a:solidFill>
                      <a:schemeClr val="accent1"/>
                    </a:solidFill>
                    <a:latin typeface="微软雅黑" panose="020B0503020204020204" pitchFamily="34" charset="-122"/>
                    <a:ea typeface="微软雅黑" panose="020B0503020204020204" pitchFamily="34" charset="-122"/>
                  </a:rPr>
                  <a:t>5+9</a:t>
                </a:r>
                <a:endParaRPr kumimoji="1" lang="en-US" altLang="zh-CN" sz="1000" b="1" dirty="0" smtClean="0">
                  <a:solidFill>
                    <a:schemeClr val="accent1"/>
                  </a:solidFill>
                  <a:latin typeface="微软雅黑" panose="020B0503020204020204" pitchFamily="34" charset="-122"/>
                  <a:ea typeface="微软雅黑" panose="020B0503020204020204" pitchFamily="34" charset="-122"/>
                </a:endParaRPr>
              </a:p>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产品原子库</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sp>
            <p:nvSpPr>
              <p:cNvPr id="165" name="矩形 164"/>
              <p:cNvSpPr/>
              <p:nvPr/>
            </p:nvSpPr>
            <p:spPr>
              <a:xfrm>
                <a:off x="15819" y="3369"/>
                <a:ext cx="2347" cy="402"/>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产品质量智能评估</a:t>
                </a:r>
                <a:endParaRPr lang="zh-CN" altLang="en-US" sz="1000" b="1">
                  <a:solidFill>
                    <a:schemeClr val="bg1"/>
                  </a:solidFill>
                  <a:latin typeface="微软雅黑" panose="020B0503020204020204" pitchFamily="34" charset="-122"/>
                  <a:ea typeface="微软雅黑" panose="020B0503020204020204" pitchFamily="34" charset="-122"/>
                </a:endParaRPr>
              </a:p>
            </p:txBody>
          </p:sp>
          <p:grpSp>
            <p:nvGrpSpPr>
              <p:cNvPr id="173" name="组合 172"/>
              <p:cNvGrpSpPr/>
              <p:nvPr/>
            </p:nvGrpSpPr>
            <p:grpSpPr>
              <a:xfrm>
                <a:off x="15856" y="5533"/>
                <a:ext cx="2347" cy="1106"/>
                <a:chOff x="15916" y="5263"/>
                <a:chExt cx="2347" cy="1106"/>
              </a:xfrm>
            </p:grpSpPr>
            <p:sp>
              <p:nvSpPr>
                <p:cNvPr id="166" name="矩形 165"/>
                <p:cNvSpPr/>
                <p:nvPr/>
              </p:nvSpPr>
              <p:spPr>
                <a:xfrm>
                  <a:off x="15916" y="5263"/>
                  <a:ext cx="2347" cy="402"/>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优化产品退出管控</a:t>
                  </a:r>
                  <a:endParaRPr lang="zh-CN" altLang="en-US" sz="1000" b="1">
                    <a:solidFill>
                      <a:schemeClr val="bg1"/>
                    </a:solidFill>
                    <a:latin typeface="微软雅黑" panose="020B0503020204020204" pitchFamily="34" charset="-122"/>
                    <a:ea typeface="微软雅黑" panose="020B0503020204020204" pitchFamily="34" charset="-122"/>
                  </a:endParaRPr>
                </a:p>
              </p:txBody>
            </p:sp>
            <p:grpSp>
              <p:nvGrpSpPr>
                <p:cNvPr id="172" name="组合 171"/>
                <p:cNvGrpSpPr/>
                <p:nvPr/>
              </p:nvGrpSpPr>
              <p:grpSpPr>
                <a:xfrm>
                  <a:off x="15983" y="5933"/>
                  <a:ext cx="2160" cy="436"/>
                  <a:chOff x="11289" y="6476"/>
                  <a:chExt cx="2482" cy="436"/>
                </a:xfrm>
              </p:grpSpPr>
              <p:sp>
                <p:nvSpPr>
                  <p:cNvPr id="170" name="文本框 169"/>
                  <p:cNvSpPr txBox="1"/>
                  <p:nvPr/>
                </p:nvSpPr>
                <p:spPr>
                  <a:xfrm>
                    <a:off x="11289" y="6476"/>
                    <a:ext cx="1184" cy="424"/>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产品下架</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71" name="文本框 170"/>
                  <p:cNvSpPr txBox="1"/>
                  <p:nvPr/>
                </p:nvSpPr>
                <p:spPr>
                  <a:xfrm>
                    <a:off x="12586" y="6476"/>
                    <a:ext cx="1185" cy="436"/>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产品退出</a:t>
                    </a:r>
                    <a:endParaRPr kumimoji="0" lang="zh-CN"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sp>
            <p:nvSpPr>
              <p:cNvPr id="174" name="矩形 173"/>
              <p:cNvSpPr/>
              <p:nvPr/>
            </p:nvSpPr>
            <p:spPr>
              <a:xfrm>
                <a:off x="15658" y="3307"/>
                <a:ext cx="2729" cy="3503"/>
              </a:xfrm>
              <a:prstGeom prst="rect">
                <a:avLst/>
              </a:prstGeom>
              <a:noFill/>
              <a:ln w="19050">
                <a:solidFill>
                  <a:schemeClr val="bg2"/>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marL="36195" indent="0" fontAlgn="base">
                  <a:lnSpc>
                    <a:spcPct val="150000"/>
                  </a:lnSpc>
                  <a:spcBef>
                    <a:spcPct val="0"/>
                  </a:spcBef>
                  <a:spcAft>
                    <a:spcPct val="0"/>
                  </a:spcAft>
                  <a:buClr>
                    <a:schemeClr val="accent1"/>
                  </a:buClr>
                  <a:buFont typeface="Arial" panose="020B0604020202020204" pitchFamily="34" charset="0"/>
                  <a:buNone/>
                </a:pPr>
                <a:endParaRPr lang="zh-CN" altLang="en-US" sz="1200" dirty="0">
                  <a:solidFill>
                    <a:prstClr val="black"/>
                  </a:solidFill>
                  <a:latin typeface="微软雅黑" panose="020B0503020204020204" pitchFamily="34" charset="-122"/>
                  <a:ea typeface="微软雅黑" panose="020B0503020204020204" pitchFamily="34" charset="-122"/>
                </a:endParaRPr>
              </a:p>
            </p:txBody>
          </p:sp>
          <p:grpSp>
            <p:nvGrpSpPr>
              <p:cNvPr id="132" name="组合 131"/>
              <p:cNvGrpSpPr/>
              <p:nvPr/>
            </p:nvGrpSpPr>
            <p:grpSpPr>
              <a:xfrm>
                <a:off x="5456" y="3974"/>
                <a:ext cx="4717" cy="1204"/>
                <a:chOff x="5456" y="3824"/>
                <a:chExt cx="4717" cy="1204"/>
              </a:xfrm>
            </p:grpSpPr>
            <p:grpSp>
              <p:nvGrpSpPr>
                <p:cNvPr id="38" name="组合 37"/>
                <p:cNvGrpSpPr/>
                <p:nvPr/>
              </p:nvGrpSpPr>
              <p:grpSpPr>
                <a:xfrm rot="0">
                  <a:off x="5456" y="3824"/>
                  <a:ext cx="4717" cy="1204"/>
                  <a:chOff x="2848" y="5231"/>
                  <a:chExt cx="5414" cy="1090"/>
                </a:xfrm>
              </p:grpSpPr>
              <p:sp>
                <p:nvSpPr>
                  <p:cNvPr id="40" name="椭圆 39"/>
                  <p:cNvSpPr/>
                  <p:nvPr/>
                </p:nvSpPr>
                <p:spPr>
                  <a:xfrm>
                    <a:off x="3092" y="5532"/>
                    <a:ext cx="683" cy="5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文本框 42"/>
                  <p:cNvSpPr txBox="1"/>
                  <p:nvPr/>
                </p:nvSpPr>
                <p:spPr>
                  <a:xfrm>
                    <a:off x="2848" y="5646"/>
                    <a:ext cx="1149" cy="409"/>
                  </a:xfrm>
                  <a:prstGeom prst="rect">
                    <a:avLst/>
                  </a:prstGeom>
                  <a:noFill/>
                </p:spPr>
                <p:txBody>
                  <a:bodyPr wrap="square" rtlCol="0">
                    <a:spAutoFit/>
                  </a:bodyPr>
                  <a:p>
                    <a:pPr algn="ctr"/>
                    <a:r>
                      <a:rPr kumimoji="1" lang="zh-CN" altLang="en-US" sz="1000" b="1" dirty="0" smtClean="0">
                        <a:solidFill>
                          <a:schemeClr val="bg1"/>
                        </a:solidFill>
                        <a:latin typeface="微软雅黑" panose="020B0503020204020204" pitchFamily="34" charset="-122"/>
                        <a:ea typeface="微软雅黑" panose="020B0503020204020204" pitchFamily="34" charset="-122"/>
                      </a:rPr>
                      <a:t>产品</a:t>
                    </a:r>
                    <a:endParaRPr kumimoji="1" lang="zh-CN" altLang="en-US" sz="1000" b="1" dirty="0" smtClean="0">
                      <a:solidFill>
                        <a:schemeClr val="bg1"/>
                      </a:solidFill>
                      <a:latin typeface="微软雅黑" panose="020B0503020204020204" pitchFamily="34" charset="-122"/>
                      <a:ea typeface="微软雅黑" panose="020B0503020204020204" pitchFamily="34" charset="-122"/>
                    </a:endParaRPr>
                  </a:p>
                </p:txBody>
              </p:sp>
              <p:grpSp>
                <p:nvGrpSpPr>
                  <p:cNvPr id="52" name="组合 51"/>
                  <p:cNvGrpSpPr/>
                  <p:nvPr/>
                </p:nvGrpSpPr>
                <p:grpSpPr>
                  <a:xfrm rot="0">
                    <a:off x="5703" y="5523"/>
                    <a:ext cx="859" cy="617"/>
                    <a:chOff x="7767" y="4027"/>
                    <a:chExt cx="859" cy="617"/>
                  </a:xfrm>
                </p:grpSpPr>
                <p:sp>
                  <p:nvSpPr>
                    <p:cNvPr id="61" name="椭圆 60"/>
                    <p:cNvSpPr/>
                    <p:nvPr/>
                  </p:nvSpPr>
                  <p:spPr>
                    <a:xfrm>
                      <a:off x="7854" y="4036"/>
                      <a:ext cx="683" cy="5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3" name="文本框 62"/>
                    <p:cNvSpPr txBox="1"/>
                    <p:nvPr/>
                  </p:nvSpPr>
                  <p:spPr>
                    <a:xfrm>
                      <a:off x="7767" y="4027"/>
                      <a:ext cx="859" cy="617"/>
                    </a:xfrm>
                    <a:prstGeom prst="rect">
                      <a:avLst/>
                    </a:prstGeom>
                    <a:noFill/>
                  </p:spPr>
                  <p:txBody>
                    <a:bodyPr wrap="square" rtlCol="0">
                      <a:noAutofit/>
                    </a:bodyPr>
                    <a:p>
                      <a:pPr algn="ctr"/>
                      <a:r>
                        <a:rPr kumimoji="1" lang="zh-CN" altLang="en-US" sz="1000" b="1" dirty="0" smtClean="0">
                          <a:solidFill>
                            <a:schemeClr val="bg1"/>
                          </a:solidFill>
                          <a:latin typeface="微软雅黑" panose="020B0503020204020204" pitchFamily="34" charset="-122"/>
                          <a:ea typeface="微软雅黑" panose="020B0503020204020204" pitchFamily="34" charset="-122"/>
                        </a:rPr>
                        <a:t>原子</a:t>
                      </a:r>
                      <a:endParaRPr kumimoji="1" lang="zh-CN" altLang="en-US" sz="1000" b="1" dirty="0" smtClean="0">
                        <a:solidFill>
                          <a:schemeClr val="bg1"/>
                        </a:solidFill>
                        <a:latin typeface="微软雅黑" panose="020B0503020204020204" pitchFamily="34" charset="-122"/>
                        <a:ea typeface="微软雅黑" panose="020B0503020204020204" pitchFamily="34" charset="-122"/>
                      </a:endParaRPr>
                    </a:p>
                    <a:p>
                      <a:pPr algn="ctr"/>
                      <a:r>
                        <a:rPr kumimoji="1" lang="zh-CN" altLang="en-US" sz="1000" b="1" dirty="0" smtClean="0">
                          <a:solidFill>
                            <a:schemeClr val="bg1"/>
                          </a:solidFill>
                          <a:latin typeface="微软雅黑" panose="020B0503020204020204" pitchFamily="34" charset="-122"/>
                          <a:ea typeface="微软雅黑" panose="020B0503020204020204" pitchFamily="34" charset="-122"/>
                        </a:rPr>
                        <a:t>产品</a:t>
                      </a:r>
                      <a:endParaRPr kumimoji="1" lang="zh-CN" altLang="en-US" sz="1000" b="1" dirty="0" smtClean="0">
                        <a:solidFill>
                          <a:schemeClr val="bg1"/>
                        </a:solidFill>
                        <a:latin typeface="微软雅黑" panose="020B0503020204020204" pitchFamily="34" charset="-122"/>
                        <a:ea typeface="微软雅黑" panose="020B0503020204020204" pitchFamily="34" charset="-122"/>
                      </a:endParaRPr>
                    </a:p>
                  </p:txBody>
                </p:sp>
              </p:grpSp>
              <p:cxnSp>
                <p:nvCxnSpPr>
                  <p:cNvPr id="64" name="直接连接符 63"/>
                  <p:cNvCxnSpPr>
                    <a:stCxn id="40" idx="6"/>
                  </p:cNvCxnSpPr>
                  <p:nvPr/>
                </p:nvCxnSpPr>
                <p:spPr>
                  <a:xfrm>
                    <a:off x="3775" y="5830"/>
                    <a:ext cx="2015" cy="0"/>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sp>
                <p:nvSpPr>
                  <p:cNvPr id="65" name="圆角矩形 64"/>
                  <p:cNvSpPr/>
                  <p:nvPr/>
                </p:nvSpPr>
                <p:spPr>
                  <a:xfrm>
                    <a:off x="3972" y="5326"/>
                    <a:ext cx="1572" cy="362"/>
                  </a:xfrm>
                  <a:prstGeom prst="roundRect">
                    <a:avLst>
                      <a:gd name="adj" fmla="val 0"/>
                    </a:avLst>
                  </a:prstGeom>
                  <a:solidFill>
                    <a:schemeClr val="accent1">
                      <a:lumMod val="20000"/>
                      <a:lumOff val="80000"/>
                    </a:schemeClr>
                  </a:solidFill>
                  <a:ln w="12700" cmpd="sng">
                    <a:solidFill>
                      <a:schemeClr val="accent1">
                        <a:lumMod val="20000"/>
                        <a:lumOff val="80000"/>
                      </a:schemeClr>
                    </a:solidFill>
                    <a:prstDash val="solid"/>
                  </a:ln>
                  <a:effectLst>
                    <a:outerShdw blurRad="76200" dir="18900000" sy="23000" kx="-1200000" algn="b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b="1">
                        <a:solidFill>
                          <a:schemeClr val="tx1"/>
                        </a:solidFill>
                      </a:rPr>
                      <a:t>原子能力解耦</a:t>
                    </a:r>
                    <a:endParaRPr lang="zh-CN" altLang="en-US" sz="900" b="1">
                      <a:solidFill>
                        <a:schemeClr val="tx1"/>
                      </a:solidFill>
                    </a:endParaRPr>
                  </a:p>
                </p:txBody>
              </p:sp>
              <p:grpSp>
                <p:nvGrpSpPr>
                  <p:cNvPr id="67" name="组合 66"/>
                  <p:cNvGrpSpPr/>
                  <p:nvPr/>
                </p:nvGrpSpPr>
                <p:grpSpPr>
                  <a:xfrm rot="0">
                    <a:off x="7300" y="5231"/>
                    <a:ext cx="962" cy="595"/>
                    <a:chOff x="8053" y="3726"/>
                    <a:chExt cx="962" cy="595"/>
                  </a:xfrm>
                </p:grpSpPr>
                <p:sp>
                  <p:nvSpPr>
                    <p:cNvPr id="68" name="椭圆 67"/>
                    <p:cNvSpPr/>
                    <p:nvPr/>
                  </p:nvSpPr>
                  <p:spPr>
                    <a:xfrm>
                      <a:off x="8172" y="3726"/>
                      <a:ext cx="683" cy="5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9" name="文本框 68"/>
                    <p:cNvSpPr txBox="1"/>
                    <p:nvPr/>
                  </p:nvSpPr>
                  <p:spPr>
                    <a:xfrm>
                      <a:off x="8053" y="3828"/>
                      <a:ext cx="962" cy="305"/>
                    </a:xfrm>
                    <a:prstGeom prst="rect">
                      <a:avLst/>
                    </a:prstGeom>
                    <a:noFill/>
                  </p:spPr>
                  <p:txBody>
                    <a:bodyPr wrap="square" rtlCol="0">
                      <a:noAutofit/>
                    </a:bodyPr>
                    <a:p>
                      <a:pPr algn="ctr"/>
                      <a:r>
                        <a:rPr kumimoji="1" lang="zh-CN" altLang="en-US" sz="1000" b="1" dirty="0" smtClean="0">
                          <a:solidFill>
                            <a:schemeClr val="bg1"/>
                          </a:solidFill>
                          <a:latin typeface="微软雅黑" panose="020B0503020204020204" pitchFamily="34" charset="-122"/>
                          <a:ea typeface="微软雅黑" panose="020B0503020204020204" pitchFamily="34" charset="-122"/>
                        </a:rPr>
                        <a:t>商品</a:t>
                      </a:r>
                      <a:endParaRPr kumimoji="1" lang="zh-CN" altLang="en-US" sz="1000" b="1" dirty="0" smtClean="0">
                        <a:solidFill>
                          <a:schemeClr val="bg1"/>
                        </a:solidFill>
                        <a:latin typeface="微软雅黑" panose="020B0503020204020204" pitchFamily="34" charset="-122"/>
                        <a:ea typeface="微软雅黑" panose="020B0503020204020204" pitchFamily="34" charset="-122"/>
                      </a:endParaRPr>
                    </a:p>
                  </p:txBody>
                </p:sp>
              </p:grpSp>
              <p:cxnSp>
                <p:nvCxnSpPr>
                  <p:cNvPr id="73" name="直接连接符 72"/>
                  <p:cNvCxnSpPr/>
                  <p:nvPr/>
                </p:nvCxnSpPr>
                <p:spPr>
                  <a:xfrm flipH="1">
                    <a:off x="6513" y="5550"/>
                    <a:ext cx="956" cy="289"/>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sp>
                <p:nvSpPr>
                  <p:cNvPr id="74" name="圆角矩形 73"/>
                  <p:cNvSpPr/>
                  <p:nvPr/>
                </p:nvSpPr>
                <p:spPr>
                  <a:xfrm>
                    <a:off x="3956" y="5959"/>
                    <a:ext cx="1572" cy="362"/>
                  </a:xfrm>
                  <a:prstGeom prst="roundRect">
                    <a:avLst>
                      <a:gd name="adj" fmla="val 0"/>
                    </a:avLst>
                  </a:prstGeom>
                  <a:solidFill>
                    <a:schemeClr val="accent1">
                      <a:lumMod val="20000"/>
                      <a:lumOff val="80000"/>
                    </a:schemeClr>
                  </a:solidFill>
                  <a:ln w="12700" cmpd="sng">
                    <a:solidFill>
                      <a:schemeClr val="accent1">
                        <a:lumMod val="20000"/>
                        <a:lumOff val="80000"/>
                      </a:schemeClr>
                    </a:solidFill>
                    <a:prstDash val="solid"/>
                  </a:ln>
                  <a:effectLst>
                    <a:outerShdw blurRad="76200" dir="18900000" sy="23000" kx="-1200000" algn="b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b="1">
                        <a:solidFill>
                          <a:schemeClr val="tx1"/>
                        </a:solidFill>
                      </a:rPr>
                      <a:t>产品组合关系</a:t>
                    </a:r>
                    <a:endParaRPr lang="zh-CN" altLang="en-US" sz="900" b="1">
                      <a:solidFill>
                        <a:schemeClr val="tx1"/>
                      </a:solidFill>
                    </a:endParaRPr>
                  </a:p>
                </p:txBody>
              </p:sp>
              <p:cxnSp>
                <p:nvCxnSpPr>
                  <p:cNvPr id="70" name="直接连接符 69"/>
                  <p:cNvCxnSpPr>
                    <a:stCxn id="74" idx="1"/>
                  </p:cNvCxnSpPr>
                  <p:nvPr/>
                </p:nvCxnSpPr>
                <p:spPr>
                  <a:xfrm flipH="1" flipV="1">
                    <a:off x="3723" y="5820"/>
                    <a:ext cx="233" cy="320"/>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cxnSp>
                <p:nvCxnSpPr>
                  <p:cNvPr id="95" name="直接连接符 94"/>
                  <p:cNvCxnSpPr>
                    <a:stCxn id="65" idx="1"/>
                  </p:cNvCxnSpPr>
                  <p:nvPr/>
                </p:nvCxnSpPr>
                <p:spPr>
                  <a:xfrm flipH="1">
                    <a:off x="3756" y="5507"/>
                    <a:ext cx="216" cy="297"/>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grpSp>
            <p:sp>
              <p:nvSpPr>
                <p:cNvPr id="120" name="文本框 119"/>
                <p:cNvSpPr txBox="1"/>
                <p:nvPr/>
              </p:nvSpPr>
              <p:spPr>
                <a:xfrm>
                  <a:off x="8478" y="3824"/>
                  <a:ext cx="1373" cy="267"/>
                </a:xfrm>
                <a:prstGeom prst="rect">
                  <a:avLst/>
                </a:prstGeom>
                <a:noFill/>
              </p:spPr>
              <p:txBody>
                <a:bodyPr wrap="square" rtlCol="0">
                  <a:noAutofit/>
                </a:bodyPr>
                <a:p>
                  <a:pPr algn="l"/>
                  <a:r>
                    <a:rPr kumimoji="1" lang="zh-CN" sz="800" b="1" dirty="0" smtClean="0">
                      <a:latin typeface="微软雅黑" panose="020B0503020204020204" pitchFamily="34" charset="-122"/>
                      <a:ea typeface="微软雅黑" panose="020B0503020204020204" pitchFamily="34" charset="-122"/>
                    </a:rPr>
                    <a:t>定价发布、</a:t>
                  </a:r>
                  <a:endParaRPr kumimoji="1" lang="zh-CN" sz="800" b="1" dirty="0" smtClean="0">
                    <a:latin typeface="微软雅黑" panose="020B0503020204020204" pitchFamily="34" charset="-122"/>
                    <a:ea typeface="微软雅黑" panose="020B0503020204020204" pitchFamily="34" charset="-122"/>
                  </a:endParaRPr>
                </a:p>
                <a:p>
                  <a:pPr algn="l"/>
                  <a:r>
                    <a:rPr kumimoji="1" lang="zh-CN" sz="800" b="1" dirty="0" smtClean="0">
                      <a:latin typeface="微软雅黑" panose="020B0503020204020204" pitchFamily="34" charset="-122"/>
                      <a:ea typeface="微软雅黑" panose="020B0503020204020204" pitchFamily="34" charset="-122"/>
                    </a:rPr>
                    <a:t>业务规</a:t>
                  </a:r>
                  <a:r>
                    <a:rPr kumimoji="1" lang="zh-CN" sz="900" b="1" dirty="0" smtClean="0">
                      <a:latin typeface="微软雅黑" panose="020B0503020204020204" pitchFamily="34" charset="-122"/>
                      <a:ea typeface="微软雅黑" panose="020B0503020204020204" pitchFamily="34" charset="-122"/>
                    </a:rPr>
                    <a:t>则</a:t>
                  </a:r>
                  <a:endParaRPr kumimoji="1" lang="zh-CN" sz="900" b="1" dirty="0" smtClean="0">
                    <a:latin typeface="微软雅黑" panose="020B0503020204020204" pitchFamily="34" charset="-122"/>
                    <a:ea typeface="微软雅黑" panose="020B0503020204020204" pitchFamily="34" charset="-122"/>
                  </a:endParaRPr>
                </a:p>
              </p:txBody>
            </p:sp>
            <p:sp>
              <p:nvSpPr>
                <p:cNvPr id="122" name="文本框 121"/>
                <p:cNvSpPr txBox="1"/>
                <p:nvPr/>
              </p:nvSpPr>
              <p:spPr>
                <a:xfrm>
                  <a:off x="8590" y="4561"/>
                  <a:ext cx="1126" cy="288"/>
                </a:xfrm>
                <a:prstGeom prst="rect">
                  <a:avLst/>
                </a:prstGeom>
                <a:noFill/>
              </p:spPr>
              <p:txBody>
                <a:bodyPr wrap="square" rtlCol="0">
                  <a:noAutofit/>
                </a:bodyPr>
                <a:p>
                  <a:pPr algn="l"/>
                  <a:r>
                    <a:rPr kumimoji="1" lang="zh-CN" sz="800" b="1" dirty="0" smtClean="0">
                      <a:latin typeface="微软雅黑" panose="020B0503020204020204" pitchFamily="34" charset="-122"/>
                      <a:ea typeface="微软雅黑" panose="020B0503020204020204" pitchFamily="34" charset="-122"/>
                    </a:rPr>
                    <a:t>产品级</a:t>
                  </a:r>
                  <a:endParaRPr kumimoji="1" lang="zh-CN" sz="800" b="1" dirty="0" smtClean="0">
                    <a:latin typeface="微软雅黑" panose="020B0503020204020204" pitchFamily="34" charset="-122"/>
                    <a:ea typeface="微软雅黑" panose="020B0503020204020204" pitchFamily="34" charset="-122"/>
                  </a:endParaRPr>
                </a:p>
                <a:p>
                  <a:pPr algn="l"/>
                  <a:r>
                    <a:rPr kumimoji="1" lang="zh-CN" sz="800" b="1" dirty="0" smtClean="0">
                      <a:latin typeface="微软雅黑" panose="020B0503020204020204" pitchFamily="34" charset="-122"/>
                      <a:ea typeface="微软雅黑" panose="020B0503020204020204" pitchFamily="34" charset="-122"/>
                    </a:rPr>
                    <a:t>组合</a:t>
                  </a:r>
                  <a:endParaRPr kumimoji="1" lang="zh-CN" sz="800" b="1" dirty="0" smtClean="0">
                    <a:latin typeface="微软雅黑" panose="020B0503020204020204" pitchFamily="34" charset="-122"/>
                    <a:ea typeface="微软雅黑" panose="020B0503020204020204" pitchFamily="34" charset="-122"/>
                  </a:endParaRPr>
                </a:p>
              </p:txBody>
            </p:sp>
          </p:grpSp>
          <p:grpSp>
            <p:nvGrpSpPr>
              <p:cNvPr id="133" name="组合 132"/>
              <p:cNvGrpSpPr/>
              <p:nvPr/>
            </p:nvGrpSpPr>
            <p:grpSpPr>
              <a:xfrm>
                <a:off x="5404" y="5414"/>
                <a:ext cx="4630" cy="913"/>
                <a:chOff x="5404" y="5447"/>
                <a:chExt cx="4630" cy="1107"/>
              </a:xfrm>
            </p:grpSpPr>
            <p:grpSp>
              <p:nvGrpSpPr>
                <p:cNvPr id="125" name="组合 124"/>
                <p:cNvGrpSpPr/>
                <p:nvPr/>
              </p:nvGrpSpPr>
              <p:grpSpPr>
                <a:xfrm>
                  <a:off x="5404" y="5447"/>
                  <a:ext cx="3172" cy="1107"/>
                  <a:chOff x="5824" y="5447"/>
                  <a:chExt cx="3172" cy="1107"/>
                </a:xfrm>
              </p:grpSpPr>
              <p:grpSp>
                <p:nvGrpSpPr>
                  <p:cNvPr id="119" name="组合 118"/>
                  <p:cNvGrpSpPr/>
                  <p:nvPr/>
                </p:nvGrpSpPr>
                <p:grpSpPr>
                  <a:xfrm>
                    <a:off x="5824" y="5516"/>
                    <a:ext cx="3172" cy="1038"/>
                    <a:chOff x="9312" y="4193"/>
                    <a:chExt cx="1988" cy="1038"/>
                  </a:xfrm>
                </p:grpSpPr>
                <p:sp>
                  <p:nvSpPr>
                    <p:cNvPr id="80" name="圆角矩形 79"/>
                    <p:cNvSpPr/>
                    <p:nvPr/>
                  </p:nvSpPr>
                  <p:spPr>
                    <a:xfrm>
                      <a:off x="10270" y="4193"/>
                      <a:ext cx="1030" cy="400"/>
                    </a:xfrm>
                    <a:prstGeom prst="roundRect">
                      <a:avLst>
                        <a:gd name="adj" fmla="val 0"/>
                      </a:avLst>
                    </a:prstGeom>
                    <a:solidFill>
                      <a:schemeClr val="accent1">
                        <a:lumMod val="20000"/>
                        <a:lumOff val="80000"/>
                      </a:schemeClr>
                    </a:solidFill>
                    <a:ln w="12700" cmpd="sng">
                      <a:solidFill>
                        <a:schemeClr val="accent1">
                          <a:lumMod val="20000"/>
                          <a:lumOff val="80000"/>
                        </a:schemeClr>
                      </a:solidFill>
                      <a:prstDash val="solid"/>
                    </a:ln>
                    <a:effectLst>
                      <a:outerShdw blurRad="76200" dir="18900000" sy="23000" kx="-1200000" algn="b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b="1">
                          <a:solidFill>
                            <a:schemeClr val="tx1"/>
                          </a:solidFill>
                        </a:rPr>
                        <a:t>营销活动</a:t>
                      </a:r>
                      <a:endParaRPr lang="zh-CN" altLang="en-US" sz="900" b="1">
                        <a:solidFill>
                          <a:schemeClr val="tx1"/>
                        </a:solidFill>
                      </a:endParaRPr>
                    </a:p>
                  </p:txBody>
                </p:sp>
                <p:sp>
                  <p:nvSpPr>
                    <p:cNvPr id="109" name="椭圆 108"/>
                    <p:cNvSpPr/>
                    <p:nvPr/>
                  </p:nvSpPr>
                  <p:spPr>
                    <a:xfrm>
                      <a:off x="9439" y="4441"/>
                      <a:ext cx="414" cy="657"/>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2" name="文本框 111"/>
                    <p:cNvSpPr txBox="1"/>
                    <p:nvPr/>
                  </p:nvSpPr>
                  <p:spPr>
                    <a:xfrm>
                      <a:off x="9312" y="4542"/>
                      <a:ext cx="626" cy="284"/>
                    </a:xfrm>
                    <a:prstGeom prst="rect">
                      <a:avLst/>
                    </a:prstGeom>
                    <a:noFill/>
                  </p:spPr>
                  <p:txBody>
                    <a:bodyPr wrap="square" rtlCol="0">
                      <a:noAutofit/>
                    </a:bodyPr>
                    <a:p>
                      <a:pPr algn="ctr"/>
                      <a:r>
                        <a:rPr kumimoji="1" lang="zh-CN" altLang="en-US" sz="1000" b="1" dirty="0" smtClean="0">
                          <a:solidFill>
                            <a:schemeClr val="bg1"/>
                          </a:solidFill>
                          <a:latin typeface="微软雅黑" panose="020B0503020204020204" pitchFamily="34" charset="-122"/>
                          <a:ea typeface="微软雅黑" panose="020B0503020204020204" pitchFamily="34" charset="-122"/>
                        </a:rPr>
                        <a:t>商品</a:t>
                      </a:r>
                      <a:endParaRPr kumimoji="1" lang="zh-CN" altLang="en-US" sz="1000" b="1" dirty="0" smtClean="0">
                        <a:solidFill>
                          <a:schemeClr val="bg1"/>
                        </a:solidFill>
                        <a:latin typeface="微软雅黑" panose="020B0503020204020204" pitchFamily="34" charset="-122"/>
                        <a:ea typeface="微软雅黑" panose="020B0503020204020204" pitchFamily="34" charset="-122"/>
                      </a:endParaRPr>
                    </a:p>
                  </p:txBody>
                </p:sp>
                <p:sp>
                  <p:nvSpPr>
                    <p:cNvPr id="116" name="圆角矩形 115"/>
                    <p:cNvSpPr/>
                    <p:nvPr/>
                  </p:nvSpPr>
                  <p:spPr>
                    <a:xfrm>
                      <a:off x="10270" y="4878"/>
                      <a:ext cx="1030" cy="353"/>
                    </a:xfrm>
                    <a:prstGeom prst="roundRect">
                      <a:avLst>
                        <a:gd name="adj" fmla="val 0"/>
                      </a:avLst>
                    </a:prstGeom>
                    <a:solidFill>
                      <a:schemeClr val="accent1">
                        <a:lumMod val="20000"/>
                        <a:lumOff val="80000"/>
                      </a:schemeClr>
                    </a:solidFill>
                    <a:ln w="12700" cmpd="sng">
                      <a:solidFill>
                        <a:schemeClr val="accent1">
                          <a:lumMod val="20000"/>
                          <a:lumOff val="80000"/>
                        </a:schemeClr>
                      </a:solidFill>
                      <a:prstDash val="solid"/>
                    </a:ln>
                    <a:effectLst>
                      <a:outerShdw blurRad="76200" dir="18900000" sy="23000" kx="-1200000" algn="b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b="1">
                          <a:solidFill>
                            <a:schemeClr val="tx1"/>
                          </a:solidFill>
                        </a:rPr>
                        <a:t>融合商品</a:t>
                      </a:r>
                      <a:endParaRPr lang="zh-CN" altLang="en-US" sz="900" b="1">
                        <a:solidFill>
                          <a:schemeClr val="tx1"/>
                        </a:solidFill>
                      </a:endParaRPr>
                    </a:p>
                  </p:txBody>
                </p:sp>
                <p:cxnSp>
                  <p:nvCxnSpPr>
                    <p:cNvPr id="117" name="直接连接符 116"/>
                    <p:cNvCxnSpPr>
                      <a:endCxn id="80" idx="1"/>
                    </p:cNvCxnSpPr>
                    <p:nvPr/>
                  </p:nvCxnSpPr>
                  <p:spPr>
                    <a:xfrm flipV="1">
                      <a:off x="9854" y="4393"/>
                      <a:ext cx="416" cy="393"/>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cxnSp>
                  <p:nvCxnSpPr>
                    <p:cNvPr id="118" name="直接连接符 117"/>
                    <p:cNvCxnSpPr>
                      <a:endCxn id="116" idx="1"/>
                    </p:cNvCxnSpPr>
                    <p:nvPr/>
                  </p:nvCxnSpPr>
                  <p:spPr>
                    <a:xfrm>
                      <a:off x="9768" y="4799"/>
                      <a:ext cx="502" cy="256"/>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grpSp>
              <p:sp>
                <p:nvSpPr>
                  <p:cNvPr id="123" name="文本框 122"/>
                  <p:cNvSpPr txBox="1"/>
                  <p:nvPr/>
                </p:nvSpPr>
                <p:spPr>
                  <a:xfrm>
                    <a:off x="6418" y="5447"/>
                    <a:ext cx="1373" cy="267"/>
                  </a:xfrm>
                  <a:prstGeom prst="rect">
                    <a:avLst/>
                  </a:prstGeom>
                  <a:noFill/>
                </p:spPr>
                <p:txBody>
                  <a:bodyPr wrap="square" rtlCol="0">
                    <a:noAutofit/>
                  </a:bodyPr>
                  <a:p>
                    <a:pPr algn="l"/>
                    <a:r>
                      <a:rPr kumimoji="1" lang="zh-CN" sz="900" b="1" dirty="0" smtClean="0">
                        <a:latin typeface="微软雅黑" panose="020B0503020204020204" pitchFamily="34" charset="-122"/>
                        <a:ea typeface="微软雅黑" panose="020B0503020204020204" pitchFamily="34" charset="-122"/>
                      </a:rPr>
                      <a:t>营销策略</a:t>
                    </a:r>
                    <a:endParaRPr kumimoji="1" lang="zh-CN" sz="900" b="1" dirty="0" smtClean="0">
                      <a:latin typeface="微软雅黑" panose="020B0503020204020204" pitchFamily="34" charset="-122"/>
                      <a:ea typeface="微软雅黑" panose="020B0503020204020204" pitchFamily="34" charset="-122"/>
                    </a:endParaRPr>
                  </a:p>
                </p:txBody>
              </p:sp>
              <p:sp>
                <p:nvSpPr>
                  <p:cNvPr id="124" name="文本框 123"/>
                  <p:cNvSpPr txBox="1"/>
                  <p:nvPr/>
                </p:nvSpPr>
                <p:spPr>
                  <a:xfrm>
                    <a:off x="6476" y="6241"/>
                    <a:ext cx="1373" cy="267"/>
                  </a:xfrm>
                  <a:prstGeom prst="rect">
                    <a:avLst/>
                  </a:prstGeom>
                  <a:noFill/>
                </p:spPr>
                <p:txBody>
                  <a:bodyPr wrap="square" rtlCol="0">
                    <a:noAutofit/>
                  </a:bodyPr>
                  <a:p>
                    <a:pPr algn="l"/>
                    <a:r>
                      <a:rPr kumimoji="1" lang="zh-CN" sz="900" b="1" dirty="0" smtClean="0">
                        <a:latin typeface="微软雅黑" panose="020B0503020204020204" pitchFamily="34" charset="-122"/>
                        <a:ea typeface="微软雅黑" panose="020B0503020204020204" pitchFamily="34" charset="-122"/>
                      </a:rPr>
                      <a:t>商品级</a:t>
                    </a:r>
                    <a:endParaRPr kumimoji="1" lang="zh-CN" sz="900" b="1" dirty="0" smtClean="0">
                      <a:latin typeface="微软雅黑" panose="020B0503020204020204" pitchFamily="34" charset="-122"/>
                      <a:ea typeface="微软雅黑" panose="020B0503020204020204" pitchFamily="34" charset="-122"/>
                    </a:endParaRPr>
                  </a:p>
                  <a:p>
                    <a:pPr algn="l"/>
                    <a:r>
                      <a:rPr kumimoji="1" lang="zh-CN" sz="900" b="1" dirty="0" smtClean="0">
                        <a:latin typeface="微软雅黑" panose="020B0503020204020204" pitchFamily="34" charset="-122"/>
                        <a:ea typeface="微软雅黑" panose="020B0503020204020204" pitchFamily="34" charset="-122"/>
                      </a:rPr>
                      <a:t>组合</a:t>
                    </a:r>
                    <a:endParaRPr kumimoji="1" lang="zh-CN" sz="900" b="1" dirty="0" smtClean="0">
                      <a:latin typeface="微软雅黑" panose="020B0503020204020204" pitchFamily="34" charset="-122"/>
                      <a:ea typeface="微软雅黑" panose="020B0503020204020204" pitchFamily="34" charset="-122"/>
                    </a:endParaRPr>
                  </a:p>
                </p:txBody>
              </p:sp>
            </p:grpSp>
            <p:grpSp>
              <p:nvGrpSpPr>
                <p:cNvPr id="130" name="组合 129"/>
                <p:cNvGrpSpPr/>
                <p:nvPr/>
              </p:nvGrpSpPr>
              <p:grpSpPr>
                <a:xfrm>
                  <a:off x="6369" y="5816"/>
                  <a:ext cx="3665" cy="595"/>
                  <a:chOff x="7791" y="5541"/>
                  <a:chExt cx="3665" cy="595"/>
                </a:xfrm>
              </p:grpSpPr>
              <p:cxnSp>
                <p:nvCxnSpPr>
                  <p:cNvPr id="126" name="直接连接符 125"/>
                  <p:cNvCxnSpPr>
                    <a:endCxn id="129" idx="1"/>
                  </p:cNvCxnSpPr>
                  <p:nvPr/>
                </p:nvCxnSpPr>
                <p:spPr>
                  <a:xfrm flipV="1">
                    <a:off x="7791" y="5802"/>
                    <a:ext cx="2425" cy="33"/>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grpSp>
                <p:nvGrpSpPr>
                  <p:cNvPr id="127" name="组合 126"/>
                  <p:cNvGrpSpPr/>
                  <p:nvPr/>
                </p:nvGrpSpPr>
                <p:grpSpPr>
                  <a:xfrm rot="0">
                    <a:off x="10216" y="5541"/>
                    <a:ext cx="1240" cy="595"/>
                    <a:chOff x="7765" y="4036"/>
                    <a:chExt cx="1240" cy="595"/>
                  </a:xfrm>
                </p:grpSpPr>
                <p:sp>
                  <p:nvSpPr>
                    <p:cNvPr id="128" name="椭圆 127"/>
                    <p:cNvSpPr/>
                    <p:nvPr/>
                  </p:nvSpPr>
                  <p:spPr>
                    <a:xfrm>
                      <a:off x="7854" y="4036"/>
                      <a:ext cx="1122" cy="5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9" name="文本框 128"/>
                    <p:cNvSpPr txBox="1"/>
                    <p:nvPr/>
                  </p:nvSpPr>
                  <p:spPr>
                    <a:xfrm>
                      <a:off x="7765" y="4107"/>
                      <a:ext cx="1240" cy="379"/>
                    </a:xfrm>
                    <a:prstGeom prst="rect">
                      <a:avLst/>
                    </a:prstGeom>
                    <a:noFill/>
                  </p:spPr>
                  <p:txBody>
                    <a:bodyPr wrap="square" rtlCol="0">
                      <a:noAutofit/>
                    </a:bodyPr>
                    <a:p>
                      <a:pPr algn="ctr"/>
                      <a:r>
                        <a:rPr kumimoji="1" lang="zh-CN" altLang="en-US" sz="1000" b="1" dirty="0" smtClean="0">
                          <a:solidFill>
                            <a:schemeClr val="bg1"/>
                          </a:solidFill>
                          <a:latin typeface="微软雅黑" panose="020B0503020204020204" pitchFamily="34" charset="-122"/>
                          <a:ea typeface="微软雅黑" panose="020B0503020204020204" pitchFamily="34" charset="-122"/>
                        </a:rPr>
                        <a:t>渠道销售</a:t>
                      </a:r>
                      <a:endParaRPr kumimoji="1" lang="zh-CN" altLang="en-US" sz="1000" b="1" dirty="0" smtClean="0">
                        <a:solidFill>
                          <a:schemeClr val="bg1"/>
                        </a:solidFill>
                        <a:latin typeface="微软雅黑" panose="020B0503020204020204" pitchFamily="34" charset="-122"/>
                        <a:ea typeface="微软雅黑" panose="020B0503020204020204" pitchFamily="34" charset="-122"/>
                      </a:endParaRPr>
                    </a:p>
                  </p:txBody>
                </p:sp>
              </p:grpSp>
            </p:grpSp>
          </p:grpSp>
          <p:sp>
            <p:nvSpPr>
              <p:cNvPr id="131" name="文本框 130"/>
              <p:cNvSpPr txBox="1"/>
              <p:nvPr/>
            </p:nvSpPr>
            <p:spPr>
              <a:xfrm>
                <a:off x="4958" y="5526"/>
                <a:ext cx="850" cy="1013"/>
              </a:xfrm>
              <a:prstGeom prst="rect">
                <a:avLst/>
              </a:prstGeom>
              <a:noFill/>
            </p:spPr>
            <p:txBody>
              <a:bodyPr wrap="square" rtlCol="0">
                <a:noAutofit/>
              </a:bodyPr>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产品灵活封装</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cxnSp>
            <p:nvCxnSpPr>
              <p:cNvPr id="134" name="直接连接符 133"/>
              <p:cNvCxnSpPr>
                <a:endCxn id="63" idx="3"/>
              </p:cNvCxnSpPr>
              <p:nvPr/>
            </p:nvCxnSpPr>
            <p:spPr>
              <a:xfrm flipH="1" flipV="1">
                <a:off x="8691" y="4637"/>
                <a:ext cx="682" cy="206"/>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sp>
            <p:nvSpPr>
              <p:cNvPr id="135" name="圆角矩形 134"/>
              <p:cNvSpPr/>
              <p:nvPr/>
            </p:nvSpPr>
            <p:spPr>
              <a:xfrm>
                <a:off x="9439" y="4778"/>
                <a:ext cx="772" cy="399"/>
              </a:xfrm>
              <a:prstGeom prst="roundRect">
                <a:avLst>
                  <a:gd name="adj" fmla="val 0"/>
                </a:avLst>
              </a:prstGeom>
              <a:solidFill>
                <a:schemeClr val="accent1">
                  <a:lumMod val="20000"/>
                  <a:lumOff val="80000"/>
                </a:schemeClr>
              </a:solidFill>
              <a:ln w="12700" cmpd="sng">
                <a:solidFill>
                  <a:schemeClr val="accent1">
                    <a:lumMod val="20000"/>
                    <a:lumOff val="80000"/>
                  </a:schemeClr>
                </a:solidFill>
                <a:prstDash val="solid"/>
              </a:ln>
              <a:effectLst>
                <a:outerShdw blurRad="76200" dir="18900000" sy="23000" kx="-1200000" algn="b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b="1">
                    <a:solidFill>
                      <a:schemeClr val="tx1"/>
                    </a:solidFill>
                  </a:rPr>
                  <a:t>融合商品</a:t>
                </a:r>
                <a:endParaRPr lang="zh-CN" altLang="en-US" sz="900" b="1">
                  <a:solidFill>
                    <a:schemeClr val="tx1"/>
                  </a:solidFill>
                </a:endParaRPr>
              </a:p>
            </p:txBody>
          </p:sp>
        </p:grpSp>
        <p:sp>
          <p:nvSpPr>
            <p:cNvPr id="29" name="文本框 28"/>
            <p:cNvSpPr txBox="1"/>
            <p:nvPr/>
          </p:nvSpPr>
          <p:spPr>
            <a:xfrm>
              <a:off x="1133" y="6212"/>
              <a:ext cx="3777" cy="656"/>
            </a:xfrm>
            <a:prstGeom prst="rect">
              <a:avLst/>
            </a:prstGeom>
            <a:solidFill>
              <a:schemeClr val="bg1"/>
            </a:solidFill>
          </p:spPr>
          <p:txBody>
            <a:bodyPr wrap="square" rtlCol="0">
              <a:noAutofit/>
            </a:bodyPr>
            <a:p>
              <a:pPr indent="0" fontAlgn="auto">
                <a:lnSpc>
                  <a:spcPct val="120000"/>
                </a:lnSpc>
              </a:pPr>
              <a:r>
                <a:rPr lang="zh-CN" altLang="en-US" sz="900" dirty="0">
                  <a:latin typeface="微软雅黑" panose="020B0503020204020204" pitchFamily="34" charset="-122"/>
                  <a:ea typeface="微软雅黑" panose="020B0503020204020204" pitchFamily="34" charset="-122"/>
                  <a:sym typeface="+mn-ea"/>
                </a:rPr>
                <a:t>专业公司解耦原子能力、引入生态能力，做好产量研发和打造，支撑省公司产品需要</a:t>
              </a:r>
              <a:endParaRPr lang="zh-CN" altLang="en-US" sz="900" dirty="0">
                <a:latin typeface="微软雅黑" panose="020B0503020204020204" pitchFamily="34" charset="-122"/>
                <a:ea typeface="微软雅黑" panose="020B0503020204020204" pitchFamily="34" charset="-122"/>
                <a:sym typeface="+mn-ea"/>
              </a:endParaRPr>
            </a:p>
            <a:p>
              <a:pPr indent="0" fontAlgn="auto">
                <a:lnSpc>
                  <a:spcPct val="120000"/>
                </a:lnSpc>
              </a:pPr>
              <a:r>
                <a:rPr lang="zh-CN" altLang="en-US" sz="900" dirty="0">
                  <a:solidFill>
                    <a:srgbClr val="FF0000"/>
                  </a:solidFill>
                  <a:latin typeface="微软雅黑" panose="020B0503020204020204" pitchFamily="34" charset="-122"/>
                  <a:ea typeface="微软雅黑" panose="020B0503020204020204" pitchFamily="34" charset="-122"/>
                  <a:sym typeface="+mn-ea"/>
                </a:rPr>
                <a:t>如，</a:t>
              </a:r>
              <a:r>
                <a:rPr lang="en-US" altLang="zh-CN" sz="900" dirty="0">
                  <a:solidFill>
                    <a:srgbClr val="FF0000"/>
                  </a:solidFill>
                  <a:latin typeface="微软雅黑" panose="020B0503020204020204" pitchFamily="34" charset="-122"/>
                  <a:ea typeface="微软雅黑" panose="020B0503020204020204" pitchFamily="34" charset="-122"/>
                  <a:sym typeface="+mn-ea"/>
                </a:rPr>
                <a:t>5G</a:t>
              </a:r>
              <a:r>
                <a:rPr lang="zh-CN" altLang="en-US" sz="900" dirty="0">
                  <a:solidFill>
                    <a:srgbClr val="FF0000"/>
                  </a:solidFill>
                  <a:latin typeface="微软雅黑" panose="020B0503020204020204" pitchFamily="34" charset="-122"/>
                  <a:ea typeface="微软雅黑" panose="020B0503020204020204" pitchFamily="34" charset="-122"/>
                  <a:sym typeface="+mn-ea"/>
                </a:rPr>
                <a:t>新通话拆解</a:t>
              </a:r>
              <a:r>
                <a:rPr lang="zh-CN" sz="900" dirty="0">
                  <a:solidFill>
                    <a:srgbClr val="FF0000"/>
                  </a:solidFill>
                  <a:latin typeface="微软雅黑" panose="020B0503020204020204" pitchFamily="34" charset="-122"/>
                  <a:ea typeface="微软雅黑" panose="020B0503020204020204" pitchFamily="34" charset="-122"/>
                  <a:sym typeface="+mn-ea"/>
                </a:rPr>
                <a:t>通话字幕原子</a:t>
              </a:r>
              <a:r>
                <a:rPr lang="zh-CN" altLang="en-US" sz="900" dirty="0">
                  <a:solidFill>
                    <a:srgbClr val="FF0000"/>
                  </a:solidFill>
                  <a:latin typeface="微软雅黑" panose="020B0503020204020204" pitchFamily="34" charset="-122"/>
                  <a:ea typeface="微软雅黑" panose="020B0503020204020204" pitchFamily="34" charset="-122"/>
                  <a:sym typeface="+mn-ea"/>
                </a:rPr>
                <a:t>能力</a:t>
              </a:r>
              <a:endParaRPr lang="zh-CN" altLang="en-US" sz="900" dirty="0">
                <a:solidFill>
                  <a:srgbClr val="FF0000"/>
                </a:solidFill>
                <a:latin typeface="微软雅黑" panose="020B0503020204020204" pitchFamily="34" charset="-122"/>
                <a:ea typeface="微软雅黑" panose="020B0503020204020204" pitchFamily="34" charset="-122"/>
                <a:sym typeface="+mn-ea"/>
              </a:endParaRPr>
            </a:p>
          </p:txBody>
        </p:sp>
        <p:sp>
          <p:nvSpPr>
            <p:cNvPr id="30" name="文本框 29"/>
            <p:cNvSpPr txBox="1"/>
            <p:nvPr/>
          </p:nvSpPr>
          <p:spPr>
            <a:xfrm>
              <a:off x="4957" y="6212"/>
              <a:ext cx="5489" cy="875"/>
            </a:xfrm>
            <a:prstGeom prst="rect">
              <a:avLst/>
            </a:prstGeom>
            <a:solidFill>
              <a:schemeClr val="bg1"/>
            </a:solidFill>
          </p:spPr>
          <p:txBody>
            <a:bodyPr wrap="square" rtlCol="0">
              <a:noAutofit/>
            </a:bodyPr>
            <a:p>
              <a:pPr indent="0" fontAlgn="auto">
                <a:lnSpc>
                  <a:spcPct val="120000"/>
                </a:lnSpc>
              </a:pPr>
              <a:r>
                <a:rPr lang="zh-CN" altLang="en-US" sz="900" dirty="0">
                  <a:latin typeface="微软雅黑" panose="020B0503020204020204" pitchFamily="34" charset="-122"/>
                  <a:ea typeface="微软雅黑" panose="020B0503020204020204" pitchFamily="34" charset="-122"/>
                  <a:sym typeface="+mn-ea"/>
                </a:rPr>
                <a:t>标准化产品模型，将专业公司全量产品统一纳管，实现跨机构融合、营销优惠动态配置。</a:t>
              </a:r>
              <a:r>
                <a:rPr lang="zh-CN" altLang="en-US" sz="900" dirty="0">
                  <a:solidFill>
                    <a:srgbClr val="FF0000"/>
                  </a:solidFill>
                  <a:latin typeface="微软雅黑" panose="020B0503020204020204" pitchFamily="34" charset="-122"/>
                  <a:ea typeface="微软雅黑" panose="020B0503020204020204" pitchFamily="34" charset="-122"/>
                  <a:sym typeface="+mn-ea"/>
                </a:rPr>
                <a:t>如，</a:t>
              </a:r>
              <a:r>
                <a:rPr lang="zh-CN" sz="900" dirty="0">
                  <a:solidFill>
                    <a:srgbClr val="FF0000"/>
                  </a:solidFill>
                  <a:latin typeface="微软雅黑" panose="020B0503020204020204" pitchFamily="34" charset="-122"/>
                  <a:ea typeface="微软雅黑" panose="020B0503020204020204" pitchFamily="34" charset="-122"/>
                  <a:sym typeface="+mn-ea"/>
                </a:rPr>
                <a:t>通话字幕</a:t>
              </a:r>
              <a:r>
                <a:rPr lang="zh-CN" altLang="en-US" sz="900" dirty="0">
                  <a:solidFill>
                    <a:srgbClr val="FF0000"/>
                  </a:solidFill>
                  <a:latin typeface="微软雅黑" panose="020B0503020204020204" pitchFamily="34" charset="-122"/>
                  <a:ea typeface="微软雅黑" panose="020B0503020204020204" pitchFamily="34" charset="-122"/>
                  <a:sym typeface="+mn-ea"/>
                </a:rPr>
                <a:t>能力上架原子产品库，省公司将</a:t>
              </a:r>
              <a:r>
                <a:rPr lang="zh-CN" sz="900" dirty="0">
                  <a:solidFill>
                    <a:srgbClr val="FF0000"/>
                  </a:solidFill>
                  <a:latin typeface="微软雅黑" panose="020B0503020204020204" pitchFamily="34" charset="-122"/>
                  <a:ea typeface="微软雅黑" panose="020B0503020204020204" pitchFamily="34" charset="-122"/>
                  <a:sym typeface="+mn-ea"/>
                </a:rPr>
                <a:t>通话字幕</a:t>
              </a:r>
              <a:r>
                <a:rPr lang="en-US" altLang="zh-CN" sz="900" dirty="0">
                  <a:solidFill>
                    <a:srgbClr val="FF0000"/>
                  </a:solidFill>
                  <a:latin typeface="微软雅黑" panose="020B0503020204020204" pitchFamily="34" charset="-122"/>
                  <a:ea typeface="微软雅黑" panose="020B0503020204020204" pitchFamily="34" charset="-122"/>
                  <a:sym typeface="+mn-ea"/>
                </a:rPr>
                <a:t>+</a:t>
              </a:r>
              <a:r>
                <a:rPr lang="zh-CN" altLang="en-US" sz="900" dirty="0">
                  <a:solidFill>
                    <a:srgbClr val="FF0000"/>
                  </a:solidFill>
                  <a:latin typeface="微软雅黑" panose="020B0503020204020204" pitchFamily="34" charset="-122"/>
                  <a:ea typeface="微软雅黑" panose="020B0503020204020204" pitchFamily="34" charset="-122"/>
                  <a:sym typeface="+mn-ea"/>
                </a:rPr>
                <a:t>电诈保障家庭版</a:t>
              </a:r>
              <a:r>
                <a:rPr lang="zh-CN" altLang="en-US" sz="900" dirty="0">
                  <a:solidFill>
                    <a:srgbClr val="FF0000"/>
                  </a:solidFill>
                  <a:latin typeface="微软雅黑" panose="020B0503020204020204" pitchFamily="34" charset="-122"/>
                  <a:ea typeface="微软雅黑" panose="020B0503020204020204" pitchFamily="34" charset="-122"/>
                  <a:sym typeface="+mn-ea"/>
                </a:rPr>
                <a:t>封装为</a:t>
              </a:r>
              <a:r>
                <a:rPr lang="en-US" altLang="zh-CN" sz="900" dirty="0">
                  <a:solidFill>
                    <a:srgbClr val="FF0000"/>
                  </a:solidFill>
                  <a:latin typeface="微软雅黑" panose="020B0503020204020204" pitchFamily="34" charset="-122"/>
                  <a:ea typeface="微软雅黑" panose="020B0503020204020204" pitchFamily="34" charset="-122"/>
                  <a:sym typeface="+mn-ea"/>
                </a:rPr>
                <a:t>“</a:t>
              </a:r>
              <a:r>
                <a:rPr lang="zh-CN" altLang="en-US" sz="900" dirty="0">
                  <a:solidFill>
                    <a:srgbClr val="FF0000"/>
                  </a:solidFill>
                  <a:latin typeface="微软雅黑" panose="020B0503020204020204" pitchFamily="34" charset="-122"/>
                  <a:ea typeface="微软雅黑" panose="020B0503020204020204" pitchFamily="34" charset="-122"/>
                  <a:sym typeface="+mn-ea"/>
                </a:rPr>
                <a:t>家庭</a:t>
              </a:r>
              <a:r>
                <a:rPr lang="zh-CN" altLang="en-US" sz="900" dirty="0">
                  <a:solidFill>
                    <a:srgbClr val="FF0000"/>
                  </a:solidFill>
                  <a:latin typeface="微软雅黑" panose="020B0503020204020204" pitchFamily="34" charset="-122"/>
                  <a:ea typeface="微软雅黑" panose="020B0503020204020204" pitchFamily="34" charset="-122"/>
                  <a:sym typeface="+mn-ea"/>
                </a:rPr>
                <a:t>包</a:t>
              </a:r>
              <a:r>
                <a:rPr lang="en-US" altLang="zh-CN" sz="900" dirty="0">
                  <a:solidFill>
                    <a:srgbClr val="FF0000"/>
                  </a:solidFill>
                  <a:latin typeface="微软雅黑" panose="020B0503020204020204" pitchFamily="34" charset="-122"/>
                  <a:ea typeface="微软雅黑" panose="020B0503020204020204" pitchFamily="34" charset="-122"/>
                  <a:sym typeface="+mn-ea"/>
                </a:rPr>
                <a:t>”</a:t>
              </a:r>
              <a:r>
                <a:rPr lang="zh-CN" altLang="en-US" sz="900" dirty="0">
                  <a:solidFill>
                    <a:srgbClr val="FF0000"/>
                  </a:solidFill>
                  <a:latin typeface="微软雅黑" panose="020B0503020204020204" pitchFamily="34" charset="-122"/>
                  <a:ea typeface="微软雅黑" panose="020B0503020204020204" pitchFamily="34" charset="-122"/>
                  <a:sym typeface="+mn-ea"/>
                </a:rPr>
                <a:t>融合商品上架</a:t>
              </a:r>
              <a:endParaRPr lang="zh-CN" altLang="en-US" sz="900" dirty="0">
                <a:solidFill>
                  <a:srgbClr val="FF0000"/>
                </a:solidFill>
                <a:latin typeface="微软雅黑" panose="020B0503020204020204" pitchFamily="34" charset="-122"/>
                <a:ea typeface="微软雅黑" panose="020B0503020204020204" pitchFamily="34" charset="-122"/>
                <a:sym typeface="+mn-ea"/>
              </a:endParaRPr>
            </a:p>
          </p:txBody>
        </p:sp>
        <p:sp>
          <p:nvSpPr>
            <p:cNvPr id="31" name="îšḷïḍè"/>
            <p:cNvSpPr/>
            <p:nvPr/>
          </p:nvSpPr>
          <p:spPr bwMode="auto">
            <a:xfrm>
              <a:off x="4715" y="4559"/>
              <a:ext cx="241" cy="702"/>
            </a:xfrm>
            <a:prstGeom prst="rightArrow">
              <a:avLst>
                <a:gd name="adj1" fmla="val 50000"/>
                <a:gd name="adj2" fmla="val 48997"/>
              </a:avLst>
            </a:prstGeom>
            <a:solidFill>
              <a:sysClr val="window" lastClr="FFFFFF">
                <a:lumMod val="75000"/>
              </a:sysClr>
            </a:solidFill>
            <a:ln w="6350">
              <a:noFill/>
              <a:miter lim="800000"/>
            </a:ln>
            <a:effectLst/>
          </p:spPr>
          <p:txBody>
            <a:bodyPr wrap="none" lIns="90000" tIns="46800" rIns="90000" bIns="46800" anchor="ctr">
              <a:normAutofit/>
            </a:bodyPr>
            <a:lstStyle>
              <a:lvl1pPr>
                <a:defRPr sz="1300" b="1">
                  <a:solidFill>
                    <a:srgbClr val="000000"/>
                  </a:solidFill>
                </a:defRPr>
              </a:lvl1pPr>
              <a:lvl2pPr marL="742950" indent="-285750">
                <a:defRPr sz="1300" b="1">
                  <a:solidFill>
                    <a:srgbClr val="000000"/>
                  </a:solidFill>
                </a:defRPr>
              </a:lvl2pPr>
              <a:lvl3pPr marL="1143000" indent="-228600">
                <a:defRPr sz="1300" b="1">
                  <a:solidFill>
                    <a:srgbClr val="000000"/>
                  </a:solidFill>
                </a:defRPr>
              </a:lvl3pPr>
              <a:lvl4pPr marL="1600200" indent="-228600">
                <a:defRPr sz="1300" b="1">
                  <a:solidFill>
                    <a:srgbClr val="000000"/>
                  </a:solidFill>
                </a:defRPr>
              </a:lvl4pPr>
              <a:lvl5pPr marL="2057400" indent="-228600">
                <a:defRPr sz="1300" b="1">
                  <a:solidFill>
                    <a:srgbClr val="000000"/>
                  </a:solidFill>
                </a:defRPr>
              </a:lvl5pPr>
              <a:lvl6pPr marL="2514600" indent="-228600" eaLnBrk="0" fontAlgn="base" hangingPunct="0">
                <a:spcBef>
                  <a:spcPct val="0"/>
                </a:spcBef>
                <a:spcAft>
                  <a:spcPct val="0"/>
                </a:spcAft>
                <a:defRPr sz="1300" b="1">
                  <a:solidFill>
                    <a:srgbClr val="000000"/>
                  </a:solidFill>
                </a:defRPr>
              </a:lvl6pPr>
              <a:lvl7pPr marL="2971800" indent="-228600" eaLnBrk="0" fontAlgn="base" hangingPunct="0">
                <a:spcBef>
                  <a:spcPct val="0"/>
                </a:spcBef>
                <a:spcAft>
                  <a:spcPct val="0"/>
                </a:spcAft>
                <a:defRPr sz="1300" b="1">
                  <a:solidFill>
                    <a:srgbClr val="000000"/>
                  </a:solidFill>
                </a:defRPr>
              </a:lvl7pPr>
              <a:lvl8pPr marL="3429000" indent="-228600" eaLnBrk="0" fontAlgn="base" hangingPunct="0">
                <a:spcBef>
                  <a:spcPct val="0"/>
                </a:spcBef>
                <a:spcAft>
                  <a:spcPct val="0"/>
                </a:spcAft>
                <a:defRPr sz="1300" b="1">
                  <a:solidFill>
                    <a:srgbClr val="000000"/>
                  </a:solidFill>
                </a:defRPr>
              </a:lvl8pPr>
              <a:lvl9pPr marL="3886200" indent="-228600" eaLnBrk="0" fontAlgn="base" hangingPunct="0">
                <a:spcBef>
                  <a:spcPct val="0"/>
                </a:spcBef>
                <a:spcAft>
                  <a:spcPct val="0"/>
                </a:spcAft>
                <a:defRPr sz="1300" b="1">
                  <a:solidFill>
                    <a:srgbClr val="000000"/>
                  </a:solidFill>
                </a:defRPr>
              </a:lvl9pPr>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120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endParaRPr>
            </a:p>
          </p:txBody>
        </p:sp>
        <p:sp>
          <p:nvSpPr>
            <p:cNvPr id="33" name="îšḷïḍè"/>
            <p:cNvSpPr/>
            <p:nvPr/>
          </p:nvSpPr>
          <p:spPr bwMode="auto">
            <a:xfrm>
              <a:off x="10308" y="4479"/>
              <a:ext cx="241" cy="702"/>
            </a:xfrm>
            <a:prstGeom prst="rightArrow">
              <a:avLst>
                <a:gd name="adj1" fmla="val 50000"/>
                <a:gd name="adj2" fmla="val 48997"/>
              </a:avLst>
            </a:prstGeom>
            <a:solidFill>
              <a:sysClr val="window" lastClr="FFFFFF">
                <a:lumMod val="75000"/>
              </a:sysClr>
            </a:solidFill>
            <a:ln w="6350">
              <a:noFill/>
              <a:miter lim="800000"/>
            </a:ln>
            <a:effectLst/>
          </p:spPr>
          <p:txBody>
            <a:bodyPr wrap="none" lIns="90000" tIns="46800" rIns="90000" bIns="46800" anchor="ctr">
              <a:normAutofit/>
            </a:bodyPr>
            <a:lstStyle>
              <a:lvl1pPr>
                <a:defRPr sz="1300" b="1">
                  <a:solidFill>
                    <a:srgbClr val="000000"/>
                  </a:solidFill>
                </a:defRPr>
              </a:lvl1pPr>
              <a:lvl2pPr marL="742950" indent="-285750">
                <a:defRPr sz="1300" b="1">
                  <a:solidFill>
                    <a:srgbClr val="000000"/>
                  </a:solidFill>
                </a:defRPr>
              </a:lvl2pPr>
              <a:lvl3pPr marL="1143000" indent="-228600">
                <a:defRPr sz="1300" b="1">
                  <a:solidFill>
                    <a:srgbClr val="000000"/>
                  </a:solidFill>
                </a:defRPr>
              </a:lvl3pPr>
              <a:lvl4pPr marL="1600200" indent="-228600">
                <a:defRPr sz="1300" b="1">
                  <a:solidFill>
                    <a:srgbClr val="000000"/>
                  </a:solidFill>
                </a:defRPr>
              </a:lvl4pPr>
              <a:lvl5pPr marL="2057400" indent="-228600">
                <a:defRPr sz="1300" b="1">
                  <a:solidFill>
                    <a:srgbClr val="000000"/>
                  </a:solidFill>
                </a:defRPr>
              </a:lvl5pPr>
              <a:lvl6pPr marL="2514600" indent="-228600" eaLnBrk="0" fontAlgn="base" hangingPunct="0">
                <a:spcBef>
                  <a:spcPct val="0"/>
                </a:spcBef>
                <a:spcAft>
                  <a:spcPct val="0"/>
                </a:spcAft>
                <a:defRPr sz="1300" b="1">
                  <a:solidFill>
                    <a:srgbClr val="000000"/>
                  </a:solidFill>
                </a:defRPr>
              </a:lvl6pPr>
              <a:lvl7pPr marL="2971800" indent="-228600" eaLnBrk="0" fontAlgn="base" hangingPunct="0">
                <a:spcBef>
                  <a:spcPct val="0"/>
                </a:spcBef>
                <a:spcAft>
                  <a:spcPct val="0"/>
                </a:spcAft>
                <a:defRPr sz="1300" b="1">
                  <a:solidFill>
                    <a:srgbClr val="000000"/>
                  </a:solidFill>
                </a:defRPr>
              </a:lvl7pPr>
              <a:lvl8pPr marL="3429000" indent="-228600" eaLnBrk="0" fontAlgn="base" hangingPunct="0">
                <a:spcBef>
                  <a:spcPct val="0"/>
                </a:spcBef>
                <a:spcAft>
                  <a:spcPct val="0"/>
                </a:spcAft>
                <a:defRPr sz="1300" b="1">
                  <a:solidFill>
                    <a:srgbClr val="000000"/>
                  </a:solidFill>
                </a:defRPr>
              </a:lvl8pPr>
              <a:lvl9pPr marL="3886200" indent="-228600" eaLnBrk="0" fontAlgn="base" hangingPunct="0">
                <a:spcBef>
                  <a:spcPct val="0"/>
                </a:spcBef>
                <a:spcAft>
                  <a:spcPct val="0"/>
                </a:spcAft>
                <a:defRPr sz="1300" b="1">
                  <a:solidFill>
                    <a:srgbClr val="000000"/>
                  </a:solidFill>
                </a:defRPr>
              </a:lvl9pPr>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120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endParaRPr>
            </a:p>
          </p:txBody>
        </p:sp>
        <p:sp>
          <p:nvSpPr>
            <p:cNvPr id="36" name="îšḷïḍè"/>
            <p:cNvSpPr/>
            <p:nvPr/>
          </p:nvSpPr>
          <p:spPr bwMode="auto">
            <a:xfrm>
              <a:off x="15537" y="4415"/>
              <a:ext cx="241" cy="702"/>
            </a:xfrm>
            <a:prstGeom prst="rightArrow">
              <a:avLst>
                <a:gd name="adj1" fmla="val 50000"/>
                <a:gd name="adj2" fmla="val 48997"/>
              </a:avLst>
            </a:prstGeom>
            <a:solidFill>
              <a:sysClr val="window" lastClr="FFFFFF">
                <a:lumMod val="75000"/>
              </a:sysClr>
            </a:solidFill>
            <a:ln w="6350">
              <a:noFill/>
              <a:miter lim="800000"/>
            </a:ln>
            <a:effectLst/>
          </p:spPr>
          <p:txBody>
            <a:bodyPr wrap="none" lIns="90000" tIns="46800" rIns="90000" bIns="46800" anchor="ctr">
              <a:normAutofit/>
            </a:bodyPr>
            <a:lstStyle>
              <a:lvl1pPr>
                <a:defRPr sz="1300" b="1">
                  <a:solidFill>
                    <a:srgbClr val="000000"/>
                  </a:solidFill>
                </a:defRPr>
              </a:lvl1pPr>
              <a:lvl2pPr marL="742950" indent="-285750">
                <a:defRPr sz="1300" b="1">
                  <a:solidFill>
                    <a:srgbClr val="000000"/>
                  </a:solidFill>
                </a:defRPr>
              </a:lvl2pPr>
              <a:lvl3pPr marL="1143000" indent="-228600">
                <a:defRPr sz="1300" b="1">
                  <a:solidFill>
                    <a:srgbClr val="000000"/>
                  </a:solidFill>
                </a:defRPr>
              </a:lvl3pPr>
              <a:lvl4pPr marL="1600200" indent="-228600">
                <a:defRPr sz="1300" b="1">
                  <a:solidFill>
                    <a:srgbClr val="000000"/>
                  </a:solidFill>
                </a:defRPr>
              </a:lvl4pPr>
              <a:lvl5pPr marL="2057400" indent="-228600">
                <a:defRPr sz="1300" b="1">
                  <a:solidFill>
                    <a:srgbClr val="000000"/>
                  </a:solidFill>
                </a:defRPr>
              </a:lvl5pPr>
              <a:lvl6pPr marL="2514600" indent="-228600" eaLnBrk="0" fontAlgn="base" hangingPunct="0">
                <a:spcBef>
                  <a:spcPct val="0"/>
                </a:spcBef>
                <a:spcAft>
                  <a:spcPct val="0"/>
                </a:spcAft>
                <a:defRPr sz="1300" b="1">
                  <a:solidFill>
                    <a:srgbClr val="000000"/>
                  </a:solidFill>
                </a:defRPr>
              </a:lvl6pPr>
              <a:lvl7pPr marL="2971800" indent="-228600" eaLnBrk="0" fontAlgn="base" hangingPunct="0">
                <a:spcBef>
                  <a:spcPct val="0"/>
                </a:spcBef>
                <a:spcAft>
                  <a:spcPct val="0"/>
                </a:spcAft>
                <a:defRPr sz="1300" b="1">
                  <a:solidFill>
                    <a:srgbClr val="000000"/>
                  </a:solidFill>
                </a:defRPr>
              </a:lvl7pPr>
              <a:lvl8pPr marL="3429000" indent="-228600" eaLnBrk="0" fontAlgn="base" hangingPunct="0">
                <a:spcBef>
                  <a:spcPct val="0"/>
                </a:spcBef>
                <a:spcAft>
                  <a:spcPct val="0"/>
                </a:spcAft>
                <a:defRPr sz="1300" b="1">
                  <a:solidFill>
                    <a:srgbClr val="000000"/>
                  </a:solidFill>
                </a:defRPr>
              </a:lvl8pPr>
              <a:lvl9pPr marL="3886200" indent="-228600" eaLnBrk="0" fontAlgn="base" hangingPunct="0">
                <a:spcBef>
                  <a:spcPct val="0"/>
                </a:spcBef>
                <a:spcAft>
                  <a:spcPct val="0"/>
                </a:spcAft>
                <a:defRPr sz="1300" b="1">
                  <a:solidFill>
                    <a:srgbClr val="000000"/>
                  </a:solidFill>
                </a:defRPr>
              </a:lvl9pPr>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120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endParaRPr>
            </a:p>
          </p:txBody>
        </p:sp>
        <p:sp>
          <p:nvSpPr>
            <p:cNvPr id="39" name="文本框 38"/>
            <p:cNvSpPr txBox="1"/>
            <p:nvPr/>
          </p:nvSpPr>
          <p:spPr>
            <a:xfrm>
              <a:off x="10452" y="6203"/>
              <a:ext cx="5100" cy="875"/>
            </a:xfrm>
            <a:prstGeom prst="rect">
              <a:avLst/>
            </a:prstGeom>
            <a:solidFill>
              <a:schemeClr val="bg1"/>
            </a:solidFill>
          </p:spPr>
          <p:txBody>
            <a:bodyPr wrap="square" rtlCol="0">
              <a:noAutofit/>
            </a:bodyPr>
            <a:p>
              <a:pPr indent="0" fontAlgn="auto">
                <a:lnSpc>
                  <a:spcPct val="120000"/>
                </a:lnSpc>
              </a:pPr>
              <a:r>
                <a:rPr lang="zh-CN" altLang="en-US" sz="900" dirty="0">
                  <a:latin typeface="微软雅黑" panose="020B0503020204020204" pitchFamily="34" charset="-122"/>
                  <a:ea typeface="微软雅黑" panose="020B0503020204020204" pitchFamily="34" charset="-122"/>
                  <a:sym typeface="+mn-ea"/>
                </a:rPr>
                <a:t>汇聚产品运营数据进行智能分析，洞察发展短板以及运营问题，实现问题调度和自动跟踪。</a:t>
              </a:r>
              <a:r>
                <a:rPr lang="zh-CN" altLang="en-US" sz="900" dirty="0">
                  <a:solidFill>
                    <a:srgbClr val="FF0000"/>
                  </a:solidFill>
                  <a:latin typeface="微软雅黑" panose="020B0503020204020204" pitchFamily="34" charset="-122"/>
                  <a:ea typeface="微软雅黑" panose="020B0503020204020204" pitchFamily="34" charset="-122"/>
                  <a:sym typeface="+mn-ea"/>
                </a:rPr>
                <a:t>如，基于运营</a:t>
              </a:r>
              <a:r>
                <a:rPr lang="zh-CN" sz="900" dirty="0">
                  <a:solidFill>
                    <a:srgbClr val="FF0000"/>
                  </a:solidFill>
                  <a:latin typeface="微软雅黑" panose="020B0503020204020204" pitchFamily="34" charset="-122"/>
                  <a:ea typeface="微软雅黑" panose="020B0503020204020204" pitchFamily="34" charset="-122"/>
                  <a:sym typeface="+mn-ea"/>
                </a:rPr>
                <a:t>数据，分析出家庭包收入短板为售价高于竞品</a:t>
              </a:r>
              <a:r>
                <a:rPr lang="zh-CN" altLang="en-US" sz="900" dirty="0">
                  <a:solidFill>
                    <a:srgbClr val="FF0000"/>
                  </a:solidFill>
                  <a:latin typeface="微软雅黑" panose="020B0503020204020204" pitchFamily="34" charset="-122"/>
                  <a:ea typeface="微软雅黑" panose="020B0503020204020204" pitchFamily="34" charset="-122"/>
                  <a:sym typeface="+mn-ea"/>
                </a:rPr>
                <a:t>，调度省公司开展折扣优惠</a:t>
              </a:r>
              <a:endParaRPr lang="zh-CN" altLang="en-US" sz="900" dirty="0">
                <a:solidFill>
                  <a:srgbClr val="FF0000"/>
                </a:solidFill>
                <a:latin typeface="微软雅黑" panose="020B0503020204020204" pitchFamily="34" charset="-122"/>
                <a:ea typeface="微软雅黑" panose="020B0503020204020204" pitchFamily="34" charset="-122"/>
                <a:sym typeface="+mn-ea"/>
              </a:endParaRPr>
            </a:p>
          </p:txBody>
        </p:sp>
        <p:sp>
          <p:nvSpPr>
            <p:cNvPr id="41" name="文本框 40"/>
            <p:cNvSpPr txBox="1"/>
            <p:nvPr/>
          </p:nvSpPr>
          <p:spPr>
            <a:xfrm>
              <a:off x="15553" y="6203"/>
              <a:ext cx="3032" cy="875"/>
            </a:xfrm>
            <a:prstGeom prst="rect">
              <a:avLst/>
            </a:prstGeom>
            <a:solidFill>
              <a:schemeClr val="bg1"/>
            </a:solidFill>
          </p:spPr>
          <p:txBody>
            <a:bodyPr wrap="square" rtlCol="0">
              <a:noAutofit/>
            </a:bodyPr>
            <a:p>
              <a:pPr indent="0" fontAlgn="auto">
                <a:lnSpc>
                  <a:spcPct val="120000"/>
                </a:lnSpc>
              </a:pPr>
              <a:r>
                <a:rPr lang="zh-CN" altLang="en-US" sz="900" dirty="0">
                  <a:latin typeface="微软雅黑" panose="020B0503020204020204" pitchFamily="34" charset="-122"/>
                  <a:ea typeface="微软雅黑" panose="020B0503020204020204" pitchFamily="34" charset="-122"/>
                  <a:sym typeface="+mn-ea"/>
                </a:rPr>
                <a:t>开展产品质量评估，进行动态质量打分、输出优化建议。</a:t>
              </a:r>
              <a:r>
                <a:rPr lang="zh-CN" altLang="en-US" sz="900" dirty="0">
                  <a:solidFill>
                    <a:srgbClr val="FF0000"/>
                  </a:solidFill>
                  <a:latin typeface="微软雅黑" panose="020B0503020204020204" pitchFamily="34" charset="-122"/>
                  <a:ea typeface="微软雅黑" panose="020B0503020204020204" pitchFamily="34" charset="-122"/>
                  <a:sym typeface="+mn-ea"/>
                </a:rPr>
                <a:t>如，家庭包已不符合现有用户需要，产品下架</a:t>
              </a:r>
              <a:endParaRPr lang="zh-CN" altLang="en-US" sz="900" dirty="0">
                <a:solidFill>
                  <a:srgbClr val="FF0000"/>
                </a:solidFill>
                <a:latin typeface="微软雅黑" panose="020B0503020204020204" pitchFamily="34" charset="-122"/>
                <a:ea typeface="微软雅黑" panose="020B0503020204020204" pitchFamily="34" charset="-122"/>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标题 1"/>
          <p:cNvSpPr>
            <a:spLocks noGrp="1"/>
          </p:cNvSpPr>
          <p:nvPr>
            <p:ph type="title"/>
          </p:nvPr>
        </p:nvSpPr>
        <p:spPr>
          <a:xfrm>
            <a:off x="150829" y="274371"/>
            <a:ext cx="9577633" cy="486572"/>
          </a:xfrm>
        </p:spPr>
        <p:txBody>
          <a:bodyPr>
            <a:normAutofit/>
          </a:bodyPr>
          <a:lstStyle/>
          <a:p>
            <a:pPr algn="l">
              <a:buClrTx/>
              <a:buSzTx/>
              <a:buFontTx/>
            </a:pP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路径图|</a:t>
            </a:r>
            <a:r>
              <a:rPr lang="zh-CN" altLang="en-US">
                <a:sym typeface="+mn-ea"/>
              </a:rPr>
              <a:t>升级融合运营能力：③全产品灵活封装供给</a:t>
            </a:r>
            <a:endParaRPr lang="zh-CN" altLang="en-US">
              <a:sym typeface="+mn-ea"/>
            </a:endParaRPr>
          </a:p>
        </p:txBody>
      </p:sp>
      <p:sp>
        <p:nvSpPr>
          <p:cNvPr id="85" name="文本框 84"/>
          <p:cNvSpPr txBox="1"/>
          <p:nvPr/>
        </p:nvSpPr>
        <p:spPr>
          <a:xfrm>
            <a:off x="562610" y="916305"/>
            <a:ext cx="11308715" cy="644525"/>
          </a:xfrm>
          <a:prstGeom prst="rect">
            <a:avLst/>
          </a:prstGeom>
          <a:noFill/>
        </p:spPr>
        <p:txBody>
          <a:bodyPr wrap="square" rtlCol="0" anchor="t">
            <a:noAutofit/>
          </a:bodyPr>
          <a:lstStyle/>
          <a:p>
            <a:pPr marL="285750" indent="-285750" algn="l">
              <a:lnSpc>
                <a:spcPct val="140000"/>
              </a:lnSpc>
              <a:buClrTx/>
              <a:buSzTx/>
              <a:buFont typeface="Arial" panose="020B0604020202020204" pitchFamily="34" charset="0"/>
              <a:buChar char="•"/>
            </a:pPr>
            <a:endParaRPr lang="en-US" altLang="zh-CN"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文本框 12"/>
          <p:cNvSpPr txBox="1"/>
          <p:nvPr/>
        </p:nvSpPr>
        <p:spPr>
          <a:xfrm>
            <a:off x="23495" y="6015990"/>
            <a:ext cx="697230" cy="485140"/>
          </a:xfrm>
          <a:prstGeom prst="rect">
            <a:avLst/>
          </a:prstGeom>
          <a:noFill/>
        </p:spPr>
        <p:txBody>
          <a:bodyPr wrap="square">
            <a:noAutofit/>
          </a:bodyPr>
          <a:p>
            <a:pPr algn="ctr"/>
            <a:r>
              <a:rPr kumimoji="1" lang="zh-CN" altLang="en-US" sz="1600" b="1" dirty="0"/>
              <a:t>提升举措</a:t>
            </a:r>
            <a:endParaRPr kumimoji="1" lang="zh-CN" altLang="en-US" sz="1600" b="1" dirty="0"/>
          </a:p>
        </p:txBody>
      </p:sp>
      <p:sp>
        <p:nvSpPr>
          <p:cNvPr id="2" name="文本框 1"/>
          <p:cNvSpPr txBox="1"/>
          <p:nvPr/>
        </p:nvSpPr>
        <p:spPr>
          <a:xfrm>
            <a:off x="68580" y="873125"/>
            <a:ext cx="11864340" cy="607695"/>
          </a:xfrm>
          <a:prstGeom prst="rect">
            <a:avLst/>
          </a:prstGeom>
          <a:noFill/>
        </p:spPr>
        <p:txBody>
          <a:bodyPr wrap="square" rtlCol="0" anchor="t">
            <a:spAutoFit/>
          </a:bodyPr>
          <a:p>
            <a:pPr lvl="0" defTabSz="457200">
              <a:lnSpc>
                <a:spcPct val="120000"/>
              </a:lnSpc>
              <a:defRPr/>
            </a:pPr>
            <a:r>
              <a:rPr kumimoji="0" lang="en-US" altLang="zh-CN" sz="1400" b="0" i="0" u="none" strike="noStrike" kern="0" cap="none" spc="0" normalizeH="0" baseline="0" noProof="0" dirty="0">
                <a:ln>
                  <a:noFill/>
                </a:ln>
                <a:solidFill>
                  <a:srgbClr val="009CE2">
                    <a:alpha val="100000"/>
                  </a:srgbClr>
                </a:solidFill>
                <a:effectLst/>
                <a:uLnTx/>
                <a:uFillTx/>
                <a:latin typeface="Wingdings" panose="05000000000000000000"/>
                <a:ea typeface="Wingdings" panose="05000000000000000000"/>
                <a:cs typeface="Wingdings" panose="05000000000000000000"/>
                <a:sym typeface="+mn-ea"/>
              </a:rPr>
              <a:t>n</a:t>
            </a:r>
            <a:r>
              <a:rPr kumimoji="0" lang="zh-CN" altLang="en-US" sz="1400" b="0" i="0" u="none" strike="noStrike" kern="0" cap="none" spc="-330" normalizeH="0" baseline="0" noProof="0" dirty="0">
                <a:ln>
                  <a:noFill/>
                </a:ln>
                <a:solidFill>
                  <a:srgbClr val="009CE2">
                    <a:alpha val="100000"/>
                  </a:srgbClr>
                </a:solidFill>
                <a:effectLst/>
                <a:uLnTx/>
                <a:uFillTx/>
                <a:latin typeface="Wingdings" panose="05000000000000000000"/>
                <a:ea typeface="Wingdings" panose="05000000000000000000"/>
                <a:cs typeface="Wingdings" panose="05000000000000000000"/>
                <a:sym typeface="+mn-ea"/>
              </a:rPr>
              <a:t> </a:t>
            </a:r>
            <a:r>
              <a:rPr lang="zh-CN" altLang="en-US" sz="1400" b="1" dirty="0">
                <a:solidFill>
                  <a:srgbClr val="000000"/>
                </a:solidFill>
                <a:latin typeface="微软雅黑" panose="020B0503020204020204" pitchFamily="34" charset="-122"/>
                <a:ea typeface="微软雅黑" panose="020B0503020204020204" pitchFamily="34" charset="-122"/>
                <a:sym typeface="+mn-ea"/>
              </a:rPr>
              <a:t>基于细分市场打造高质量产品供给体系，强化集省专协同，贯穿产品全生命周期流程，实现线上化和智能化。优化运营评估体系，提升产品质量，强化产品力，推进产品规模再创新高。</a:t>
            </a:r>
            <a:endParaRPr lang="zh-CN" altLang="en-US" sz="1400" b="1" dirty="0">
              <a:solidFill>
                <a:srgbClr val="000000"/>
              </a:solidFill>
              <a:latin typeface="微软雅黑" panose="020B0503020204020204" pitchFamily="34" charset="-122"/>
              <a:ea typeface="微软雅黑" panose="020B0503020204020204" pitchFamily="34" charset="-122"/>
              <a:sym typeface="+mn-ea"/>
            </a:endParaRPr>
          </a:p>
        </p:txBody>
      </p:sp>
      <p:sp>
        <p:nvSpPr>
          <p:cNvPr id="12" name="矩形 11"/>
          <p:cNvSpPr/>
          <p:nvPr/>
        </p:nvSpPr>
        <p:spPr>
          <a:xfrm>
            <a:off x="814070" y="5876925"/>
            <a:ext cx="10968990" cy="881380"/>
          </a:xfrm>
          <a:prstGeom prst="rect">
            <a:avLst/>
          </a:prstGeom>
          <a:solidFill>
            <a:srgbClr val="BFE5FF"/>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dirty="0"/>
          </a:p>
        </p:txBody>
      </p:sp>
      <p:sp>
        <p:nvSpPr>
          <p:cNvPr id="60" name="文本框 59"/>
          <p:cNvSpPr txBox="1"/>
          <p:nvPr/>
        </p:nvSpPr>
        <p:spPr>
          <a:xfrm>
            <a:off x="2508250" y="6123940"/>
            <a:ext cx="1440180" cy="198755"/>
          </a:xfrm>
          <a:prstGeom prst="rect">
            <a:avLst/>
          </a:prstGeom>
          <a:noFill/>
        </p:spPr>
        <p:txBody>
          <a:bodyPr wrap="square" rtlCol="0">
            <a:noAutofit/>
          </a:bodyPr>
          <a:p>
            <a:pPr algn="l"/>
            <a:endParaRPr kumimoji="1" lang="zh-CN" altLang="en-US" sz="1000" dirty="0" smtClean="0">
              <a:solidFill>
                <a:schemeClr val="accent1">
                  <a:lumMod val="75000"/>
                </a:schemeClr>
              </a:solidFill>
              <a:latin typeface="微软雅黑" panose="020B0503020204020204" pitchFamily="34" charset="-122"/>
              <a:ea typeface="微软雅黑" panose="020B0503020204020204" pitchFamily="34" charset="-122"/>
            </a:endParaRPr>
          </a:p>
        </p:txBody>
      </p:sp>
      <p:sp>
        <p:nvSpPr>
          <p:cNvPr id="27" name="矩形 26"/>
          <p:cNvSpPr/>
          <p:nvPr/>
        </p:nvSpPr>
        <p:spPr>
          <a:xfrm>
            <a:off x="877570" y="5910580"/>
            <a:ext cx="5605780" cy="791845"/>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0000" rtlCol="0" anchor="t" anchorCtr="0"/>
          <a:p>
            <a:pPr algn="ctr">
              <a:lnSpc>
                <a:spcPct val="130000"/>
              </a:lnSpc>
            </a:pPr>
            <a:r>
              <a:rPr kumimoji="1" lang="zh-CN" altLang="en-US" sz="1200" b="1" kern="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打造高质量产品供给</a:t>
            </a:r>
            <a:endParaRPr kumimoji="1" lang="zh-CN" altLang="en-US" sz="1200" b="1" kern="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34" name="矩形 33"/>
          <p:cNvSpPr/>
          <p:nvPr/>
        </p:nvSpPr>
        <p:spPr>
          <a:xfrm>
            <a:off x="6544945" y="5913755"/>
            <a:ext cx="5190490" cy="791845"/>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0000" rtlCol="0" anchor="t" anchorCtr="0"/>
          <a:p>
            <a:pPr algn="ctr">
              <a:lnSpc>
                <a:spcPct val="130000"/>
              </a:lnSpc>
            </a:pPr>
            <a:r>
              <a:rPr kumimoji="1" lang="en-US" altLang="zh-CN" sz="1200" b="1" kern="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 </a:t>
            </a:r>
            <a:r>
              <a:rPr kumimoji="1" lang="zh-CN" altLang="en-US" sz="1200" b="1" kern="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建强产品端到端运营</a:t>
            </a:r>
            <a:br>
              <a:rPr kumimoji="1" lang="en-US" altLang="zh-CN" sz="1000" b="1" dirty="0">
                <a:solidFill>
                  <a:schemeClr val="tx1"/>
                </a:solidFill>
                <a:latin typeface="+mn-ea"/>
              </a:rPr>
            </a:br>
            <a:endParaRPr kumimoji="1" lang="en-US" altLang="zh-CN" sz="1000" b="1" dirty="0">
              <a:solidFill>
                <a:schemeClr val="tx1"/>
              </a:solidFill>
              <a:latin typeface="+mn-ea"/>
            </a:endParaRPr>
          </a:p>
        </p:txBody>
      </p:sp>
      <p:sp>
        <p:nvSpPr>
          <p:cNvPr id="48" name="文本框 47"/>
          <p:cNvSpPr txBox="1"/>
          <p:nvPr/>
        </p:nvSpPr>
        <p:spPr>
          <a:xfrm>
            <a:off x="876935" y="6137275"/>
            <a:ext cx="5546090" cy="491490"/>
          </a:xfrm>
          <a:prstGeom prst="rect">
            <a:avLst/>
          </a:prstGeom>
          <a:noFill/>
        </p:spPr>
        <p:txBody>
          <a:bodyPr wrap="square" rtlCol="0">
            <a:spAutoFit/>
          </a:bodyPr>
          <a:p>
            <a:pPr algn="l">
              <a:lnSpc>
                <a:spcPct val="130000"/>
              </a:lnSpc>
            </a:pPr>
            <a:r>
              <a:rPr kumimoji="1" lang="zh-CN" altLang="en-US" sz="1000" dirty="0">
                <a:latin typeface="微软雅黑" panose="020B0503020204020204" pitchFamily="34" charset="-122"/>
                <a:ea typeface="微软雅黑" panose="020B0503020204020204" pitchFamily="34" charset="-122"/>
                <a:sym typeface="+mn-ea"/>
              </a:rPr>
              <a:t>①省专产品模型标准化，</a:t>
            </a:r>
            <a:r>
              <a:rPr kumimoji="1" lang="zh-CN" altLang="en-US" sz="1000" b="1" dirty="0">
                <a:solidFill>
                  <a:schemeClr val="accent1"/>
                </a:solidFill>
                <a:latin typeface="微软雅黑" panose="020B0503020204020204" pitchFamily="34" charset="-122"/>
                <a:ea typeface="微软雅黑" panose="020B0503020204020204" pitchFamily="34" charset="-122"/>
              </a:rPr>
              <a:t>构建全网原子产品库</a:t>
            </a:r>
            <a:r>
              <a:rPr kumimoji="1" lang="zh-CN" altLang="en-US" sz="1000" dirty="0">
                <a:latin typeface="微软雅黑" panose="020B0503020204020204" pitchFamily="34" charset="-122"/>
                <a:ea typeface="微软雅黑" panose="020B0503020204020204" pitchFamily="34" charset="-122"/>
              </a:rPr>
              <a:t>；②</a:t>
            </a:r>
            <a:r>
              <a:rPr kumimoji="1" lang="zh-CN" altLang="en-US" sz="1000" b="1" dirty="0">
                <a:solidFill>
                  <a:srgbClr val="0070C0"/>
                </a:solidFill>
                <a:latin typeface="微软雅黑" panose="020B0503020204020204" pitchFamily="34" charset="-122"/>
                <a:ea typeface="微软雅黑" panose="020B0503020204020204" pitchFamily="34" charset="-122"/>
              </a:rPr>
              <a:t>打造融合商品智慧化封装能力</a:t>
            </a:r>
            <a:r>
              <a:rPr kumimoji="1" lang="zh-CN" altLang="en-US" sz="1000" dirty="0">
                <a:latin typeface="微软雅黑" panose="020B0503020204020204" pitchFamily="34" charset="-122"/>
                <a:ea typeface="微软雅黑" panose="020B0503020204020204" pitchFamily="34" charset="-122"/>
              </a:rPr>
              <a:t>，结合营销场景实现融合商品快速封装、灵活优惠。</a:t>
            </a:r>
            <a:endParaRPr kumimoji="1" lang="zh-CN" altLang="en-US" sz="1000" dirty="0">
              <a:latin typeface="微软雅黑" panose="020B0503020204020204" pitchFamily="34" charset="-122"/>
              <a:ea typeface="微软雅黑" panose="020B0503020204020204" pitchFamily="34" charset="-122"/>
            </a:endParaRPr>
          </a:p>
        </p:txBody>
      </p:sp>
      <p:sp>
        <p:nvSpPr>
          <p:cNvPr id="86" name="文本框 85"/>
          <p:cNvSpPr txBox="1"/>
          <p:nvPr/>
        </p:nvSpPr>
        <p:spPr>
          <a:xfrm>
            <a:off x="6632575" y="6147435"/>
            <a:ext cx="5043805" cy="491490"/>
          </a:xfrm>
          <a:prstGeom prst="rect">
            <a:avLst/>
          </a:prstGeom>
          <a:noFill/>
        </p:spPr>
        <p:txBody>
          <a:bodyPr wrap="square" rtlCol="0">
            <a:spAutoFit/>
          </a:bodyPr>
          <a:p>
            <a:pPr algn="l">
              <a:lnSpc>
                <a:spcPct val="130000"/>
              </a:lnSpc>
            </a:pPr>
            <a:r>
              <a:rPr kumimoji="1" lang="zh-CN" altLang="en-US" sz="1000" dirty="0">
                <a:latin typeface="微软雅黑" panose="020B0503020204020204" pitchFamily="34" charset="-122"/>
                <a:ea typeface="微软雅黑" panose="020B0503020204020204" pitchFamily="34" charset="-122"/>
                <a:sym typeface="+mn-ea"/>
              </a:rPr>
              <a:t>①汇聚全网产品数据，打造</a:t>
            </a:r>
            <a:r>
              <a:rPr kumimoji="1" lang="zh-CN" altLang="en-US" sz="1000" b="1" dirty="0">
                <a:solidFill>
                  <a:srgbClr val="0070C0"/>
                </a:solidFill>
                <a:latin typeface="微软雅黑" panose="020B0503020204020204" pitchFamily="34" charset="-122"/>
                <a:ea typeface="微软雅黑" panose="020B0503020204020204" pitchFamily="34" charset="-122"/>
                <a:sym typeface="+mn-ea"/>
              </a:rPr>
              <a:t>产品运营信息库</a:t>
            </a:r>
            <a:r>
              <a:rPr kumimoji="1" lang="zh-CN" altLang="en-US" sz="1000" dirty="0">
                <a:latin typeface="微软雅黑" panose="020B0503020204020204" pitchFamily="34" charset="-122"/>
                <a:ea typeface="微软雅黑" panose="020B0503020204020204" pitchFamily="34" charset="-122"/>
                <a:sym typeface="+mn-ea"/>
              </a:rPr>
              <a:t>；②构建</a:t>
            </a:r>
            <a:r>
              <a:rPr kumimoji="1" lang="zh-CN" altLang="en-US" sz="1000" b="1" dirty="0">
                <a:solidFill>
                  <a:srgbClr val="0070C0"/>
                </a:solidFill>
                <a:latin typeface="微软雅黑" panose="020B0503020204020204" pitchFamily="34" charset="-122"/>
                <a:ea typeface="微软雅黑" panose="020B0503020204020204" pitchFamily="34" charset="-122"/>
                <a:sym typeface="+mn-ea"/>
              </a:rPr>
              <a:t>智能化运营能力</a:t>
            </a:r>
            <a:r>
              <a:rPr kumimoji="1" lang="zh-CN" altLang="en-US" sz="1000" dirty="0">
                <a:latin typeface="微软雅黑" panose="020B0503020204020204" pitchFamily="34" charset="-122"/>
                <a:ea typeface="微软雅黑" panose="020B0503020204020204" pitchFamily="34" charset="-122"/>
                <a:sym typeface="+mn-ea"/>
              </a:rPr>
              <a:t>，支撑产品全生命周期数智运营；③</a:t>
            </a:r>
            <a:r>
              <a:rPr kumimoji="1" lang="zh-CN" altLang="en-US" sz="1000" b="1" dirty="0">
                <a:solidFill>
                  <a:srgbClr val="0070C0"/>
                </a:solidFill>
                <a:latin typeface="微软雅黑" panose="020B0503020204020204" pitchFamily="34" charset="-122"/>
                <a:ea typeface="微软雅黑" panose="020B0503020204020204" pitchFamily="34" charset="-122"/>
                <a:sym typeface="+mn-ea"/>
              </a:rPr>
              <a:t>贯通集省专运营协同自动化</a:t>
            </a:r>
            <a:r>
              <a:rPr kumimoji="1" lang="zh-CN" altLang="en-US" sz="1000" dirty="0">
                <a:latin typeface="微软雅黑" panose="020B0503020204020204" pitchFamily="34" charset="-122"/>
                <a:ea typeface="微软雅黑" panose="020B0503020204020204" pitchFamily="34" charset="-122"/>
                <a:sym typeface="+mn-ea"/>
              </a:rPr>
              <a:t>，提升集省专OKR等专项任务协同效率。</a:t>
            </a:r>
            <a:endParaRPr kumimoji="1" lang="zh-CN" altLang="en-US" sz="1000" dirty="0">
              <a:latin typeface="微软雅黑" panose="020B0503020204020204" pitchFamily="34" charset="-122"/>
              <a:ea typeface="微软雅黑" panose="020B0503020204020204" pitchFamily="34" charset="-122"/>
              <a:sym typeface="+mn-ea"/>
            </a:endParaRPr>
          </a:p>
        </p:txBody>
      </p:sp>
      <p:grpSp>
        <p:nvGrpSpPr>
          <p:cNvPr id="35" name="组 13"/>
          <p:cNvGrpSpPr/>
          <p:nvPr/>
        </p:nvGrpSpPr>
        <p:grpSpPr>
          <a:xfrm>
            <a:off x="10506192" y="4989960"/>
            <a:ext cx="1620285" cy="1782705"/>
            <a:chOff x="7775541" y="3646905"/>
            <a:chExt cx="1360242" cy="1496595"/>
          </a:xfrm>
        </p:grpSpPr>
        <p:sp>
          <p:nvSpPr>
            <p:cNvPr id="37" name="任意形状 6"/>
            <p:cNvSpPr/>
            <p:nvPr/>
          </p:nvSpPr>
          <p:spPr>
            <a:xfrm rot="16200000">
              <a:off x="7707364" y="3715081"/>
              <a:ext cx="1496595" cy="1360242"/>
            </a:xfrm>
            <a:custGeom>
              <a:avLst/>
              <a:gdLst>
                <a:gd name="connsiteX0" fmla="*/ 1496595 w 1496595"/>
                <a:gd name="connsiteY0" fmla="*/ 1360242 h 1360242"/>
                <a:gd name="connsiteX1" fmla="*/ 956557 w 1496595"/>
                <a:gd name="connsiteY1" fmla="*/ 1360242 h 1360242"/>
                <a:gd name="connsiteX2" fmla="*/ 0 w 1496595"/>
                <a:gd name="connsiteY2" fmla="*/ 490836 h 1360242"/>
                <a:gd name="connsiteX3" fmla="*/ 0 w 1496595"/>
                <a:gd name="connsiteY3" fmla="*/ 0 h 1360242"/>
              </a:gdLst>
              <a:ahLst/>
              <a:cxnLst>
                <a:cxn ang="0">
                  <a:pos x="connsiteX0" y="connsiteY0"/>
                </a:cxn>
                <a:cxn ang="0">
                  <a:pos x="connsiteX1" y="connsiteY1"/>
                </a:cxn>
                <a:cxn ang="0">
                  <a:pos x="connsiteX2" y="connsiteY2"/>
                </a:cxn>
                <a:cxn ang="0">
                  <a:pos x="connsiteX3" y="connsiteY3"/>
                </a:cxn>
              </a:cxnLst>
              <a:rect l="l" t="t" r="r" b="b"/>
              <a:pathLst>
                <a:path w="1496595" h="1360242">
                  <a:moveTo>
                    <a:pt x="1496595" y="1360242"/>
                  </a:moveTo>
                  <a:lnTo>
                    <a:pt x="956557" y="1360242"/>
                  </a:lnTo>
                  <a:lnTo>
                    <a:pt x="0" y="490836"/>
                  </a:lnTo>
                  <a:lnTo>
                    <a:pt x="0" y="0"/>
                  </a:lnTo>
                  <a:close/>
                </a:path>
              </a:pathLst>
            </a:custGeom>
            <a:solidFill>
              <a:srgbClr val="EF954D">
                <a:lumMod val="60000"/>
                <a:lumOff val="40000"/>
                <a:alpha val="72000"/>
              </a:srgbClr>
            </a:solidFill>
            <a:ln w="9525" cap="flat" cmpd="sng" algn="ctr">
              <a:noFill/>
              <a:prstDash val="solid"/>
            </a:ln>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dirty="0">
                <a:ln>
                  <a:noFill/>
                </a:ln>
                <a:solidFill>
                  <a:srgbClr val="000000">
                    <a:lumMod val="85000"/>
                    <a:lumOff val="15000"/>
                  </a:srgbClr>
                </a:solidFill>
                <a:effectLst/>
                <a:uLnTx/>
                <a:uFillTx/>
                <a:latin typeface="Arial" panose="020B0604020202020204"/>
                <a:ea typeface="黑体" panose="02010609060101010101" charset="-122"/>
                <a:cs typeface="+mn-ea"/>
                <a:sym typeface="+mn-lt"/>
              </a:endParaRPr>
            </a:p>
          </p:txBody>
        </p:sp>
        <p:sp>
          <p:nvSpPr>
            <p:cNvPr id="77" name="文本框 76"/>
            <p:cNvSpPr txBox="1"/>
            <p:nvPr/>
          </p:nvSpPr>
          <p:spPr>
            <a:xfrm rot="18696404">
              <a:off x="8126099" y="4369720"/>
              <a:ext cx="832150" cy="360900"/>
            </a:xfrm>
            <a:prstGeom prst="rect">
              <a:avLst/>
            </a:prstGeom>
            <a:noFill/>
          </p:spPr>
          <p:txBody>
            <a:bodyPr wrap="none" rtlCol="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暂定</a:t>
              </a:r>
              <a:endParaRPr kumimoji="1" lang="en-US" altLang="zh-CN"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（内容将更新</a:t>
              </a:r>
              <a:r>
                <a:rPr kumimoji="1" lang="en-US" altLang="zh-CN"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a:t>
              </a:r>
              <a:endPar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p:txBody>
        </p:sp>
      </p:grpSp>
      <p:grpSp>
        <p:nvGrpSpPr>
          <p:cNvPr id="28" name="组合 27"/>
          <p:cNvGrpSpPr/>
          <p:nvPr/>
        </p:nvGrpSpPr>
        <p:grpSpPr>
          <a:xfrm>
            <a:off x="8255" y="4699635"/>
            <a:ext cx="11843385" cy="1109516"/>
            <a:chOff x="13" y="7124"/>
            <a:chExt cx="18651" cy="1938"/>
          </a:xfrm>
        </p:grpSpPr>
        <p:sp>
          <p:nvSpPr>
            <p:cNvPr id="17" name="文本框 16"/>
            <p:cNvSpPr txBox="1"/>
            <p:nvPr/>
          </p:nvSpPr>
          <p:spPr>
            <a:xfrm>
              <a:off x="13" y="7577"/>
              <a:ext cx="1098" cy="1019"/>
            </a:xfrm>
            <a:prstGeom prst="rect">
              <a:avLst/>
            </a:prstGeom>
            <a:noFill/>
          </p:spPr>
          <p:txBody>
            <a:bodyPr wrap="square">
              <a:spAutoFit/>
            </a:bodyPr>
            <a:p>
              <a:pPr algn="ctr"/>
              <a:r>
                <a:rPr kumimoji="1" lang="zh-CN" altLang="en-US" sz="1600" b="1" dirty="0"/>
                <a:t>平台能力</a:t>
              </a:r>
              <a:endParaRPr kumimoji="1" lang="zh-CN" altLang="en-US" sz="1600" b="1" dirty="0"/>
            </a:p>
          </p:txBody>
        </p:sp>
        <p:grpSp>
          <p:nvGrpSpPr>
            <p:cNvPr id="49" name="组合 48"/>
            <p:cNvGrpSpPr/>
            <p:nvPr/>
          </p:nvGrpSpPr>
          <p:grpSpPr>
            <a:xfrm rot="0">
              <a:off x="1260" y="7124"/>
              <a:ext cx="17404" cy="1902"/>
              <a:chOff x="1282" y="7060"/>
              <a:chExt cx="17404" cy="1902"/>
            </a:xfrm>
          </p:grpSpPr>
          <p:sp>
            <p:nvSpPr>
              <p:cNvPr id="5" name="圆角矩形 4"/>
              <p:cNvSpPr/>
              <p:nvPr/>
            </p:nvSpPr>
            <p:spPr>
              <a:xfrm>
                <a:off x="1404" y="7183"/>
                <a:ext cx="17152" cy="1206"/>
              </a:xfrm>
              <a:prstGeom prst="roundRect">
                <a:avLst/>
              </a:prstGeom>
              <a:solidFill>
                <a:srgbClr val="F3F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p>
            </p:txBody>
          </p:sp>
          <p:sp>
            <p:nvSpPr>
              <p:cNvPr id="7" name="矩形 6"/>
              <p:cNvSpPr/>
              <p:nvPr/>
            </p:nvSpPr>
            <p:spPr>
              <a:xfrm>
                <a:off x="1282" y="7060"/>
                <a:ext cx="17275" cy="1902"/>
              </a:xfrm>
              <a:prstGeom prst="rect">
                <a:avLst/>
              </a:prstGeom>
              <a:solidFill>
                <a:srgbClr val="DFF2FF"/>
              </a:solidFill>
              <a:ln>
                <a:no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sz="1600"/>
              </a:p>
            </p:txBody>
          </p:sp>
          <p:sp>
            <p:nvSpPr>
              <p:cNvPr id="8" name="文本框 7"/>
              <p:cNvSpPr txBox="1"/>
              <p:nvPr/>
            </p:nvSpPr>
            <p:spPr>
              <a:xfrm>
                <a:off x="4739" y="7369"/>
                <a:ext cx="2551" cy="1127"/>
              </a:xfrm>
              <a:prstGeom prst="rect">
                <a:avLst/>
              </a:prstGeom>
              <a:noFill/>
            </p:spPr>
            <p:txBody>
              <a:bodyPr wrap="square" rtlCol="0">
                <a:spAutoFit/>
              </a:bodyPr>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全网原子产品库</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产品封装助手</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sym typeface="+mn-ea"/>
                  </a:rPr>
                  <a:t>产品原子货架</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sym typeface="+mn-ea"/>
                  </a:rPr>
                  <a:t>活动优惠动态配置</a:t>
                </a:r>
                <a:endParaRPr lang="zh-CN" altLang="en-US" sz="900">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7322" y="7435"/>
                <a:ext cx="2551" cy="885"/>
              </a:xfrm>
              <a:prstGeom prst="rect">
                <a:avLst/>
              </a:prstGeom>
              <a:noFill/>
            </p:spPr>
            <p:txBody>
              <a:bodyPr wrap="square" rtlCol="0">
                <a:spAutoFit/>
              </a:bodyPr>
              <a:p>
                <a:pPr marL="285750" indent="-285750">
                  <a:buFont typeface="Arial" panose="020B0604020202020204" pitchFamily="34" charset="0"/>
                  <a:buChar char="•"/>
                </a:pPr>
                <a:r>
                  <a:rPr lang="zh-CN" sz="900">
                    <a:latin typeface="微软雅黑" panose="020B0503020204020204" pitchFamily="34" charset="-122"/>
                    <a:ea typeface="微软雅黑" panose="020B0503020204020204" pitchFamily="34" charset="-122"/>
                  </a:rPr>
                  <a:t>一级系统</a:t>
                </a:r>
                <a:r>
                  <a:rPr lang="zh-CN" altLang="en-US" sz="900">
                    <a:latin typeface="微软雅黑" panose="020B0503020204020204" pitchFamily="34" charset="-122"/>
                    <a:ea typeface="微软雅黑" panose="020B0503020204020204" pitchFamily="34" charset="-122"/>
                  </a:rPr>
                  <a:t>上下架</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渠道触点上下架</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sym typeface="+mn-ea"/>
                  </a:rPr>
                  <a:t>发布信息管理</a:t>
                </a:r>
                <a:endParaRPr lang="zh-CN" altLang="en-US" sz="900">
                  <a:latin typeface="微软雅黑" panose="020B0503020204020204" pitchFamily="34" charset="-122"/>
                  <a:ea typeface="微软雅黑" panose="020B0503020204020204" pitchFamily="34" charset="-122"/>
                  <a:sym typeface="+mn-ea"/>
                </a:endParaRPr>
              </a:p>
            </p:txBody>
          </p:sp>
          <p:sp>
            <p:nvSpPr>
              <p:cNvPr id="10" name="文本框 9"/>
              <p:cNvSpPr txBox="1"/>
              <p:nvPr/>
            </p:nvSpPr>
            <p:spPr>
              <a:xfrm>
                <a:off x="10705" y="7435"/>
                <a:ext cx="2498" cy="1127"/>
              </a:xfrm>
              <a:prstGeom prst="rect">
                <a:avLst/>
              </a:prstGeom>
              <a:noFill/>
            </p:spPr>
            <p:txBody>
              <a:bodyPr wrap="square" rtlCol="0">
                <a:spAutoFit/>
              </a:bodyPr>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sym typeface="+mn-ea"/>
                  </a:rPr>
                  <a:t>产品运营信息视图</a:t>
                </a:r>
                <a:endParaRPr lang="zh-CN" altLang="en-US" sz="900">
                  <a:latin typeface="微软雅黑" panose="020B0503020204020204" pitchFamily="34" charset="-122"/>
                  <a:ea typeface="微软雅黑" panose="020B0503020204020204" pitchFamily="34" charset="-122"/>
                  <a:sym typeface="+mn-ea"/>
                </a:endParaRPr>
              </a:p>
              <a:p>
                <a:pPr marL="285750" indent="-285750">
                  <a:buFont typeface="Arial" panose="020B0604020202020204" pitchFamily="34" charset="0"/>
                  <a:buChar char="•"/>
                </a:pPr>
                <a:r>
                  <a:rPr lang="zh-CN" altLang="en-US" sz="900">
                    <a:sym typeface="+mn-ea"/>
                  </a:rPr>
                  <a:t>产品运营图谱生成</a:t>
                </a:r>
                <a:endParaRPr lang="zh-CN" altLang="en-US" sz="900">
                  <a:latin typeface="微软雅黑" panose="020B0503020204020204" pitchFamily="34" charset="-122"/>
                  <a:ea typeface="微软雅黑" panose="020B0503020204020204" pitchFamily="34" charset="-122"/>
                  <a:sym typeface="+mn-ea"/>
                </a:endParaRPr>
              </a:p>
              <a:p>
                <a:pPr marL="285750" indent="-285750">
                  <a:buFont typeface="Arial" panose="020B0604020202020204" pitchFamily="34" charset="0"/>
                  <a:buChar char="•"/>
                </a:pPr>
                <a:r>
                  <a:rPr lang="zh-CN" altLang="en-US" sz="900">
                    <a:sym typeface="+mn-ea"/>
                  </a:rPr>
                  <a:t>资源关系规则配置</a:t>
                </a:r>
                <a:endParaRPr lang="zh-CN" altLang="en-US" sz="900">
                  <a:sym typeface="+mn-ea"/>
                </a:endParaRPr>
              </a:p>
              <a:p>
                <a:pPr marL="285750" indent="-285750">
                  <a:buFont typeface="Arial" panose="020B0604020202020204" pitchFamily="34" charset="0"/>
                  <a:buChar char="•"/>
                </a:pPr>
                <a:endParaRPr lang="zh-CN" altLang="en-US" sz="900">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15931" y="7403"/>
                <a:ext cx="2755" cy="1127"/>
              </a:xfrm>
              <a:prstGeom prst="rect">
                <a:avLst/>
              </a:prstGeom>
              <a:noFill/>
            </p:spPr>
            <p:txBody>
              <a:bodyPr wrap="square" rtlCol="0">
                <a:spAutoFit/>
              </a:bodyPr>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产品</a:t>
                </a:r>
                <a:r>
                  <a:rPr lang="zh-CN" altLang="en-US" sz="900">
                    <a:latin typeface="微软雅黑" panose="020B0503020204020204" pitchFamily="34" charset="-122"/>
                    <a:ea typeface="微软雅黑" panose="020B0503020204020204" pitchFamily="34" charset="-122"/>
                    <a:sym typeface="+mn-ea"/>
                  </a:rPr>
                  <a:t>辅助</a:t>
                </a:r>
                <a:r>
                  <a:rPr lang="zh-CN" altLang="en-US" sz="900">
                    <a:latin typeface="微软雅黑" panose="020B0503020204020204" pitchFamily="34" charset="-122"/>
                    <a:ea typeface="微软雅黑" panose="020B0503020204020204" pitchFamily="34" charset="-122"/>
                  </a:rPr>
                  <a:t>质量打分</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产品优化建议生成</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省分优秀案例推荐</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产品下架、退出管理</a:t>
                </a:r>
                <a:endParaRPr lang="zh-CN" altLang="en-US" sz="900">
                  <a:latin typeface="微软雅黑" panose="020B0503020204020204" pitchFamily="34" charset="-122"/>
                  <a:ea typeface="微软雅黑" panose="020B0503020204020204" pitchFamily="34" charset="-122"/>
                </a:endParaRPr>
              </a:p>
            </p:txBody>
          </p:sp>
          <p:sp>
            <p:nvSpPr>
              <p:cNvPr id="14" name="文本框 13"/>
              <p:cNvSpPr txBox="1"/>
              <p:nvPr/>
            </p:nvSpPr>
            <p:spPr>
              <a:xfrm>
                <a:off x="13045" y="7435"/>
                <a:ext cx="2850" cy="885"/>
              </a:xfrm>
              <a:prstGeom prst="rect">
                <a:avLst/>
              </a:prstGeom>
              <a:noFill/>
            </p:spPr>
            <p:txBody>
              <a:bodyPr wrap="square" rtlCol="0">
                <a:spAutoFit/>
              </a:bodyPr>
              <a:p>
                <a:pPr marL="285750" indent="-285750">
                  <a:buFont typeface="Arial" panose="020B0604020202020204" pitchFamily="34" charset="0"/>
                  <a:buChar char="•"/>
                </a:pPr>
                <a:r>
                  <a:rPr lang="zh-CN" altLang="en-US" sz="900">
                    <a:sym typeface="+mn-ea"/>
                  </a:rPr>
                  <a:t>产品运营问题根因分析</a:t>
                </a:r>
                <a:endParaRPr lang="zh-CN" altLang="en-US" sz="900">
                  <a:sym typeface="+mn-ea"/>
                </a:endParaRPr>
              </a:p>
              <a:p>
                <a:pPr marL="285750" indent="-285750">
                  <a:buFont typeface="Arial" panose="020B0604020202020204" pitchFamily="34" charset="0"/>
                  <a:buChar char="•"/>
                </a:pPr>
                <a:r>
                  <a:rPr lang="zh-CN" altLang="en-US" sz="900">
                    <a:latin typeface="微软雅黑" panose="020B0503020204020204" pitchFamily="34" charset="-122"/>
                    <a:ea typeface="微软雅黑" panose="020B0503020204020204" pitchFamily="34" charset="-122"/>
                  </a:rPr>
                  <a:t>短板任务自动派单协同</a:t>
                </a:r>
                <a:endParaRPr lang="zh-CN" altLang="en-US" sz="9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900">
                    <a:sym typeface="+mn-ea"/>
                  </a:rPr>
                  <a:t>调度策略管理</a:t>
                </a:r>
                <a:endParaRPr lang="zh-CN" altLang="en-US" sz="900">
                  <a:latin typeface="微软雅黑" panose="020B0503020204020204" pitchFamily="34" charset="-122"/>
                  <a:ea typeface="微软雅黑" panose="020B0503020204020204" pitchFamily="34" charset="-122"/>
                </a:endParaRPr>
              </a:p>
            </p:txBody>
          </p:sp>
          <p:sp>
            <p:nvSpPr>
              <p:cNvPr id="45" name="文本框 44"/>
              <p:cNvSpPr txBox="1"/>
              <p:nvPr/>
            </p:nvSpPr>
            <p:spPr>
              <a:xfrm>
                <a:off x="1535" y="7363"/>
                <a:ext cx="3047" cy="1127"/>
              </a:xfrm>
              <a:prstGeom prst="rect">
                <a:avLst/>
              </a:prstGeom>
              <a:noFill/>
            </p:spPr>
            <p:txBody>
              <a:bodyPr wrap="square" rtlCol="0">
                <a:spAutoFit/>
              </a:bodyPr>
              <a:p>
                <a:pPr marL="285750" indent="-285750">
                  <a:buFont typeface="Arial" panose="020B0604020202020204" pitchFamily="34" charset="0"/>
                  <a:buChar char="•"/>
                </a:pPr>
                <a:r>
                  <a:rPr lang="en-US" altLang="zh-CN" sz="900">
                    <a:latin typeface="微软雅黑" panose="020B0503020204020204" pitchFamily="34" charset="-122"/>
                    <a:ea typeface="微软雅黑" panose="020B0503020204020204" pitchFamily="34" charset="-122"/>
                    <a:sym typeface="+mn-ea"/>
                  </a:rPr>
                  <a:t>5GXAI</a:t>
                </a:r>
                <a:r>
                  <a:rPr lang="zh-CN" altLang="en-US" sz="900">
                    <a:latin typeface="微软雅黑" panose="020B0503020204020204" pitchFamily="34" charset="-122"/>
                    <a:ea typeface="微软雅黑" panose="020B0503020204020204" pitchFamily="34" charset="-122"/>
                    <a:sym typeface="+mn-ea"/>
                  </a:rPr>
                  <a:t>生态合作伙伴管理</a:t>
                </a:r>
                <a:endParaRPr lang="zh-CN" altLang="en-US" sz="900">
                  <a:latin typeface="微软雅黑" panose="020B0503020204020204" pitchFamily="34" charset="-122"/>
                  <a:ea typeface="微软雅黑" panose="020B0503020204020204" pitchFamily="34" charset="-122"/>
                  <a:sym typeface="+mn-ea"/>
                </a:endParaRPr>
              </a:p>
              <a:p>
                <a:pPr marL="285750" indent="-285750">
                  <a:buFont typeface="Arial" panose="020B0604020202020204" pitchFamily="34" charset="0"/>
                  <a:buChar char="•"/>
                </a:pPr>
                <a:r>
                  <a:rPr lang="en-US" altLang="zh-CN" sz="900">
                    <a:latin typeface="微软雅黑" panose="020B0503020204020204" pitchFamily="34" charset="-122"/>
                    <a:ea typeface="微软雅黑" panose="020B0503020204020204" pitchFamily="34" charset="-122"/>
                    <a:sym typeface="+mn-ea"/>
                  </a:rPr>
                  <a:t>5GXAI</a:t>
                </a:r>
                <a:r>
                  <a:rPr lang="zh-CN" altLang="en-US" sz="900">
                    <a:latin typeface="微软雅黑" panose="020B0503020204020204" pitchFamily="34" charset="-122"/>
                    <a:ea typeface="微软雅黑" panose="020B0503020204020204" pitchFamily="34" charset="-122"/>
                    <a:sym typeface="+mn-ea"/>
                  </a:rPr>
                  <a:t>生态能力管理</a:t>
                </a:r>
                <a:endParaRPr lang="zh-CN" altLang="en-US" sz="900">
                  <a:latin typeface="微软雅黑" panose="020B0503020204020204" pitchFamily="34" charset="-122"/>
                  <a:ea typeface="微软雅黑" panose="020B0503020204020204" pitchFamily="34" charset="-122"/>
                  <a:sym typeface="+mn-ea"/>
                </a:endParaRPr>
              </a:p>
              <a:p>
                <a:pPr marL="285750" indent="-285750">
                  <a:buFont typeface="Arial" panose="020B0604020202020204" pitchFamily="34" charset="0"/>
                  <a:buChar char="•"/>
                </a:pPr>
                <a:r>
                  <a:rPr lang="en-US" altLang="zh-CN" sz="900">
                    <a:latin typeface="微软雅黑" panose="020B0503020204020204" pitchFamily="34" charset="-122"/>
                    <a:ea typeface="微软雅黑" panose="020B0503020204020204" pitchFamily="34" charset="-122"/>
                    <a:sym typeface="+mn-ea"/>
                  </a:rPr>
                  <a:t>5GXAI</a:t>
                </a:r>
                <a:r>
                  <a:rPr lang="zh-CN" altLang="en-US" sz="900">
                    <a:latin typeface="微软雅黑" panose="020B0503020204020204" pitchFamily="34" charset="-122"/>
                    <a:ea typeface="微软雅黑" panose="020B0503020204020204" pitchFamily="34" charset="-122"/>
                    <a:sym typeface="+mn-ea"/>
                  </a:rPr>
                  <a:t>能力订购管理</a:t>
                </a:r>
                <a:endParaRPr lang="zh-CN" altLang="en-US" sz="900">
                  <a:latin typeface="微软雅黑" panose="020B0503020204020204" pitchFamily="34" charset="-122"/>
                  <a:ea typeface="微软雅黑" panose="020B0503020204020204" pitchFamily="34" charset="-122"/>
                  <a:sym typeface="+mn-ea"/>
                </a:endParaRPr>
              </a:p>
              <a:p>
                <a:pPr marL="285750" indent="-285750">
                  <a:buFont typeface="Arial" panose="020B0604020202020204" pitchFamily="34" charset="0"/>
                  <a:buChar char="•"/>
                </a:pPr>
                <a:r>
                  <a:rPr lang="en-US" altLang="zh-CN" sz="900">
                    <a:latin typeface="微软雅黑" panose="020B0503020204020204" pitchFamily="34" charset="-122"/>
                    <a:ea typeface="微软雅黑" panose="020B0503020204020204" pitchFamily="34" charset="-122"/>
                    <a:sym typeface="+mn-ea"/>
                  </a:rPr>
                  <a:t>5GXAI</a:t>
                </a:r>
                <a:r>
                  <a:rPr lang="zh-CN" altLang="en-US" sz="900">
                    <a:latin typeface="微软雅黑" panose="020B0503020204020204" pitchFamily="34" charset="-122"/>
                    <a:ea typeface="微软雅黑" panose="020B0503020204020204" pitchFamily="34" charset="-122"/>
                    <a:sym typeface="+mn-ea"/>
                  </a:rPr>
                  <a:t>能力结算管理</a:t>
                </a:r>
                <a:endParaRPr lang="zh-CN" altLang="en-US" sz="900">
                  <a:latin typeface="微软雅黑" panose="020B0503020204020204" pitchFamily="34" charset="-122"/>
                  <a:ea typeface="微软雅黑" panose="020B0503020204020204" pitchFamily="34" charset="-122"/>
                </a:endParaRPr>
              </a:p>
            </p:txBody>
          </p:sp>
        </p:grpSp>
        <p:grpSp>
          <p:nvGrpSpPr>
            <p:cNvPr id="88" name="组合 87"/>
            <p:cNvGrpSpPr/>
            <p:nvPr/>
          </p:nvGrpSpPr>
          <p:grpSpPr>
            <a:xfrm rot="0">
              <a:off x="1193" y="8365"/>
              <a:ext cx="17288" cy="697"/>
              <a:chOff x="1282" y="9498"/>
              <a:chExt cx="17345" cy="1094"/>
            </a:xfrm>
          </p:grpSpPr>
          <p:sp>
            <p:nvSpPr>
              <p:cNvPr id="51" name="文本框 50"/>
              <p:cNvSpPr txBox="1"/>
              <p:nvPr/>
            </p:nvSpPr>
            <p:spPr>
              <a:xfrm>
                <a:off x="1282" y="9498"/>
                <a:ext cx="845" cy="1094"/>
              </a:xfrm>
              <a:prstGeom prst="rect">
                <a:avLst/>
              </a:prstGeom>
              <a:noFill/>
            </p:spPr>
            <p:txBody>
              <a:bodyPr wrap="square" rtlCol="0">
                <a:spAutoFit/>
              </a:bodyPr>
              <a:p>
                <a:pPr algn="l"/>
                <a:r>
                  <a:rPr kumimoji="1" lang="zh-CN" altLang="en-US" sz="1000" b="1" dirty="0" smtClean="0">
                    <a:solidFill>
                      <a:schemeClr val="accent1">
                        <a:lumMod val="75000"/>
                      </a:schemeClr>
                    </a:solidFill>
                    <a:latin typeface="微软雅黑" panose="020B0503020204020204" pitchFamily="34" charset="-122"/>
                    <a:ea typeface="微软雅黑" panose="020B0503020204020204" pitchFamily="34" charset="-122"/>
                  </a:rPr>
                  <a:t>数据拉通</a:t>
                </a:r>
                <a:endParaRPr kumimoji="1" lang="zh-CN" altLang="en-US" sz="1000" b="1" dirty="0" smtClean="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8671" y="9751"/>
                <a:ext cx="5527" cy="385"/>
              </a:xfrm>
              <a:prstGeom prst="rect">
                <a:avLst/>
              </a:prstGeom>
              <a:noFill/>
            </p:spPr>
            <p:txBody>
              <a:bodyPr wrap="square" rtlCol="0">
                <a:noAutofit/>
              </a:bodyPr>
              <a:p>
                <a:pPr algn="l"/>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rPr>
                  <a:t>收入</a:t>
                </a:r>
                <a:r>
                  <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rPr>
                  <a:t>&amp;</a:t>
                </a:r>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rPr>
                  <a:t>发展规模数据、</a:t>
                </a:r>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sym typeface="+mn-ea"/>
                  </a:rPr>
                  <a:t>渠道发布信息、客户画像数据</a:t>
                </a:r>
                <a:r>
                  <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sym typeface="+mn-ea"/>
                  </a:rPr>
                  <a:t>...</a:t>
                </a:r>
                <a:endPar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endParaRPr>
              </a:p>
              <a:p>
                <a:pPr algn="l"/>
                <a:endPar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13389" y="9751"/>
                <a:ext cx="5238" cy="324"/>
              </a:xfrm>
              <a:prstGeom prst="rect">
                <a:avLst/>
              </a:prstGeom>
              <a:noFill/>
            </p:spPr>
            <p:txBody>
              <a:bodyPr wrap="square" rtlCol="0">
                <a:noAutofit/>
              </a:bodyPr>
              <a:p>
                <a:pPr algn="l"/>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rPr>
                  <a:t>省</a:t>
                </a:r>
                <a:r>
                  <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rPr>
                  <a:t>OKR</a:t>
                </a:r>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rPr>
                  <a:t>发展目标、</a:t>
                </a:r>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sym typeface="+mn-ea"/>
                  </a:rPr>
                  <a:t>省专短板整改信息、省优秀案例上报</a:t>
                </a:r>
                <a:r>
                  <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sym typeface="+mn-ea"/>
                  </a:rPr>
                  <a:t>...</a:t>
                </a:r>
                <a:endPar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sym typeface="+mn-ea"/>
                </a:endParaRPr>
              </a:p>
            </p:txBody>
          </p:sp>
          <p:sp>
            <p:nvSpPr>
              <p:cNvPr id="57" name="文本框 56"/>
              <p:cNvSpPr txBox="1"/>
              <p:nvPr/>
            </p:nvSpPr>
            <p:spPr>
              <a:xfrm>
                <a:off x="2067" y="9751"/>
                <a:ext cx="6029" cy="534"/>
              </a:xfrm>
              <a:prstGeom prst="rect">
                <a:avLst/>
              </a:prstGeom>
              <a:noFill/>
            </p:spPr>
            <p:txBody>
              <a:bodyPr wrap="square" rtlCol="0">
                <a:noAutofit/>
              </a:bodyPr>
              <a:p>
                <a:pPr algn="l"/>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rPr>
                  <a:t>专业公司原子产品、</a:t>
                </a:r>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sym typeface="+mn-ea"/>
                  </a:rPr>
                  <a:t>大数据标签</a:t>
                </a:r>
                <a:r>
                  <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sym typeface="+mn-ea"/>
                  </a:rPr>
                  <a:t>&amp;</a:t>
                </a:r>
                <a:r>
                  <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sym typeface="+mn-ea"/>
                  </a:rPr>
                  <a:t>客户群、分省商品、竞争对对手资费</a:t>
                </a:r>
                <a:r>
                  <a:rPr kumimoji="1" lang="en-US" altLang="zh-CN" sz="900" dirty="0" smtClean="0">
                    <a:solidFill>
                      <a:schemeClr val="accent1">
                        <a:lumMod val="75000"/>
                      </a:schemeClr>
                    </a:solidFill>
                    <a:latin typeface="微软雅黑" panose="020B0503020204020204" pitchFamily="34" charset="-122"/>
                    <a:ea typeface="微软雅黑" panose="020B0503020204020204" pitchFamily="34" charset="-122"/>
                    <a:sym typeface="+mn-ea"/>
                  </a:rPr>
                  <a:t>...</a:t>
                </a:r>
                <a:endPar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endParaRPr>
              </a:p>
              <a:p>
                <a:pPr algn="l"/>
                <a:endParaRPr kumimoji="1" lang="zh-CN" altLang="en-US" sz="900" dirty="0" smtClean="0">
                  <a:solidFill>
                    <a:schemeClr val="accent1">
                      <a:lumMod val="75000"/>
                    </a:schemeClr>
                  </a:solidFill>
                  <a:latin typeface="微软雅黑" panose="020B0503020204020204" pitchFamily="34" charset="-122"/>
                  <a:ea typeface="微软雅黑" panose="020B0503020204020204" pitchFamily="34" charset="-122"/>
                </a:endParaRPr>
              </a:p>
            </p:txBody>
          </p:sp>
          <p:cxnSp>
            <p:nvCxnSpPr>
              <p:cNvPr id="62" name="直接连接符 61"/>
              <p:cNvCxnSpPr/>
              <p:nvPr/>
            </p:nvCxnSpPr>
            <p:spPr>
              <a:xfrm>
                <a:off x="2230" y="10336"/>
                <a:ext cx="16081" cy="0"/>
              </a:xfrm>
              <a:prstGeom prst="line">
                <a:avLst/>
              </a:prstGeom>
              <a:ln w="12700" cmpd="sng">
                <a:solidFill>
                  <a:schemeClr val="bg1">
                    <a:lumMod val="75000"/>
                  </a:schemeClr>
                </a:solidFill>
                <a:prstDash val="dashDot"/>
              </a:ln>
            </p:spPr>
            <p:style>
              <a:lnRef idx="2">
                <a:schemeClr val="accent1"/>
              </a:lnRef>
              <a:fillRef idx="0">
                <a:srgbClr val="FFFFFF"/>
              </a:fillRef>
              <a:effectRef idx="0">
                <a:srgbClr val="FFFFFF"/>
              </a:effectRef>
              <a:fontRef idx="minor">
                <a:schemeClr val="tx1"/>
              </a:fontRef>
            </p:style>
          </p:cxnSp>
        </p:grpSp>
        <p:grpSp>
          <p:nvGrpSpPr>
            <p:cNvPr id="177" name="组合 176"/>
            <p:cNvGrpSpPr/>
            <p:nvPr/>
          </p:nvGrpSpPr>
          <p:grpSpPr>
            <a:xfrm>
              <a:off x="1186" y="7124"/>
              <a:ext cx="17399" cy="350"/>
              <a:chOff x="1186" y="6914"/>
              <a:chExt cx="17399" cy="350"/>
            </a:xfrm>
            <a:solidFill>
              <a:srgbClr val="BFE5FF"/>
            </a:solidFill>
          </p:grpSpPr>
          <p:sp>
            <p:nvSpPr>
              <p:cNvPr id="50" name="燕尾形 49"/>
              <p:cNvSpPr/>
              <p:nvPr>
                <p:custDataLst>
                  <p:tags r:id="rId1"/>
                </p:custDataLst>
              </p:nvPr>
            </p:nvSpPr>
            <p:spPr>
              <a:xfrm>
                <a:off x="10761" y="6937"/>
                <a:ext cx="7824" cy="272"/>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solidFill>
                      <a:srgbClr val="0070C0"/>
                    </a:solidFill>
                    <a:highlight>
                      <a:srgbClr val="000000">
                        <a:alpha val="0"/>
                      </a:srgbClr>
                    </a:highlight>
                  </a:rPr>
                  <a:t>产品枢纽平台</a:t>
                </a:r>
                <a:endParaRPr lang="zh-CN" altLang="en-US" sz="1000" b="1">
                  <a:solidFill>
                    <a:srgbClr val="0070C0"/>
                  </a:solidFill>
                  <a:highlight>
                    <a:srgbClr val="000000">
                      <a:alpha val="0"/>
                    </a:srgbClr>
                  </a:highlight>
                </a:endParaRPr>
              </a:p>
            </p:txBody>
          </p:sp>
          <p:sp>
            <p:nvSpPr>
              <p:cNvPr id="92" name="燕尾形 91"/>
              <p:cNvSpPr/>
              <p:nvPr>
                <p:custDataLst>
                  <p:tags r:id="rId2"/>
                </p:custDataLst>
              </p:nvPr>
            </p:nvSpPr>
            <p:spPr>
              <a:xfrm>
                <a:off x="4843" y="6937"/>
                <a:ext cx="5964" cy="31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solidFill>
                      <a:srgbClr val="0070C0"/>
                    </a:solidFill>
                    <a:highlight>
                      <a:srgbClr val="000000">
                        <a:alpha val="0"/>
                      </a:srgbClr>
                    </a:highlight>
                  </a:rPr>
                  <a:t>产商品中心</a:t>
                </a:r>
                <a:endParaRPr lang="zh-CN" altLang="en-US" sz="1000" b="1">
                  <a:solidFill>
                    <a:srgbClr val="0070C0"/>
                  </a:solidFill>
                  <a:highlight>
                    <a:srgbClr val="000000">
                      <a:alpha val="0"/>
                    </a:srgbClr>
                  </a:highlight>
                </a:endParaRPr>
              </a:p>
            </p:txBody>
          </p:sp>
          <p:sp>
            <p:nvSpPr>
              <p:cNvPr id="176" name="燕尾形 175"/>
              <p:cNvSpPr/>
              <p:nvPr>
                <p:custDataLst>
                  <p:tags r:id="rId3"/>
                </p:custDataLst>
              </p:nvPr>
            </p:nvSpPr>
            <p:spPr>
              <a:xfrm>
                <a:off x="1186" y="6914"/>
                <a:ext cx="3733" cy="350"/>
              </a:xfrm>
              <a:prstGeom prst="chevr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solidFill>
                      <a:srgbClr val="0070C0"/>
                    </a:solidFill>
                    <a:highlight>
                      <a:srgbClr val="000000">
                        <a:alpha val="0"/>
                      </a:srgbClr>
                    </a:highlight>
                  </a:rPr>
                  <a:t>能力运营中心</a:t>
                </a:r>
                <a:endParaRPr lang="zh-CN" altLang="en-US" sz="1000" b="1">
                  <a:solidFill>
                    <a:srgbClr val="0070C0"/>
                  </a:solidFill>
                  <a:highlight>
                    <a:srgbClr val="000000">
                      <a:alpha val="0"/>
                    </a:srgbClr>
                  </a:highlight>
                </a:endParaRPr>
              </a:p>
            </p:txBody>
          </p:sp>
        </p:grpSp>
      </p:grpSp>
      <p:grpSp>
        <p:nvGrpSpPr>
          <p:cNvPr id="15" name="组合 14"/>
          <p:cNvGrpSpPr/>
          <p:nvPr/>
        </p:nvGrpSpPr>
        <p:grpSpPr>
          <a:xfrm>
            <a:off x="68580" y="1406232"/>
            <a:ext cx="11864975" cy="3164555"/>
            <a:chOff x="108" y="2204"/>
            <a:chExt cx="18685" cy="5838"/>
          </a:xfrm>
        </p:grpSpPr>
        <p:sp>
          <p:nvSpPr>
            <p:cNvPr id="99" name="圆角矩形 124"/>
            <p:cNvSpPr/>
            <p:nvPr/>
          </p:nvSpPr>
          <p:spPr>
            <a:xfrm>
              <a:off x="1110" y="2291"/>
              <a:ext cx="17683" cy="5751"/>
            </a:xfrm>
            <a:prstGeom prst="roundRect">
              <a:avLst>
                <a:gd name="adj" fmla="val 5504"/>
              </a:avLst>
            </a:prstGeom>
            <a:solidFill>
              <a:srgbClr val="FFFFFF"/>
            </a:solidFill>
            <a:ln w="15875">
              <a:solidFill>
                <a:schemeClr val="accent1">
                  <a:lumMod val="20000"/>
                  <a:lumOff val="80000"/>
                </a:schemeClr>
              </a:solidFill>
            </a:ln>
            <a:effectLst>
              <a:outerShdw blurRad="165100" dist="76200" dir="5400000" algn="t" rotWithShape="0">
                <a:srgbClr val="1C66C4">
                  <a:alpha val="40000"/>
                </a:srgbClr>
              </a:outerShdw>
            </a:effectLst>
          </p:spPr>
          <p:style>
            <a:lnRef idx="2">
              <a:srgbClr val="1C66C4">
                <a:shade val="50000"/>
              </a:srgbClr>
            </a:lnRef>
            <a:fillRef idx="1">
              <a:srgbClr val="1C66C4"/>
            </a:fillRef>
            <a:effectRef idx="0">
              <a:srgbClr val="1C66C4"/>
            </a:effectRef>
            <a:fontRef idx="minor">
              <a:srgbClr val="FFFFFF"/>
            </a:fontRef>
          </p:style>
          <p:txBody>
            <a:bodyPr vertOverflow="overflow" horzOverflow="overflow" vert="horz" wrap="none" numCol="1" spcCol="0" rtlCol="0" fromWordArt="0" anchor="ctr" anchorCtr="0" forceAA="0" compatLnSpc="1">
              <a:noAutofit/>
            </a:bodyPr>
            <a:p>
              <a:pPr defTabSz="914400"/>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08" y="4122"/>
              <a:ext cx="1098" cy="1190"/>
            </a:xfrm>
            <a:prstGeom prst="rect">
              <a:avLst/>
            </a:prstGeom>
            <a:noFill/>
          </p:spPr>
          <p:txBody>
            <a:bodyPr wrap="square">
              <a:spAutoFit/>
            </a:bodyPr>
            <a:p>
              <a:pPr algn="ctr"/>
              <a:r>
                <a:rPr kumimoji="1" lang="zh-CN" altLang="en-US" b="1" dirty="0"/>
                <a:t>场景</a:t>
              </a:r>
              <a:endParaRPr kumimoji="1" lang="zh-CN" altLang="en-US" b="1" dirty="0"/>
            </a:p>
            <a:p>
              <a:pPr algn="ctr"/>
              <a:r>
                <a:rPr kumimoji="1" lang="zh-CN" altLang="en-US" b="1" dirty="0"/>
                <a:t>示例</a:t>
              </a:r>
              <a:endParaRPr kumimoji="1" lang="zh-CN" altLang="en-US" b="1" dirty="0"/>
            </a:p>
          </p:txBody>
        </p:sp>
        <p:sp>
          <p:nvSpPr>
            <p:cNvPr id="292" name="文本框 291"/>
            <p:cNvSpPr txBox="1"/>
            <p:nvPr/>
          </p:nvSpPr>
          <p:spPr>
            <a:xfrm>
              <a:off x="3655" y="2204"/>
              <a:ext cx="11666" cy="508"/>
            </a:xfrm>
            <a:prstGeom prst="rect">
              <a:avLst/>
            </a:prstGeom>
            <a:noFill/>
          </p:spPr>
          <p:txBody>
            <a:bodyPr wrap="square" rtlCol="0" anchor="t">
              <a:spAutoFit/>
            </a:bodyPr>
            <a:p>
              <a:pPr algn="ctr"/>
              <a:r>
                <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产品端到端数智化运营</a:t>
              </a:r>
              <a:r>
                <a:rPr lang="en-US" altLang="zh-CN"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以</a:t>
              </a:r>
              <a:r>
                <a:rPr lang="zh-CN" sz="1200" b="1" u="sng"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银发市场通话字幕</a:t>
              </a:r>
              <a:r>
                <a:rPr lang="en-US" altLang="zh-CN" sz="1200" b="1" u="sng"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b="1" u="sng"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电诈保障家庭</a:t>
              </a:r>
              <a:r>
                <a:rPr lang="zh-CN" sz="1200" b="1" u="sng"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业务</a:t>
              </a:r>
              <a:r>
                <a:rPr lang="zh-CN"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封装</a:t>
              </a:r>
              <a:r>
                <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为例</a:t>
              </a:r>
              <a:endPar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14" name="五边形 213"/>
            <p:cNvSpPr/>
            <p:nvPr/>
          </p:nvSpPr>
          <p:spPr>
            <a:xfrm>
              <a:off x="15281" y="2735"/>
              <a:ext cx="3252" cy="480"/>
            </a:xfrm>
            <a:prstGeom prst="homePlate">
              <a:avLst/>
            </a:prstGeom>
            <a:solidFill>
              <a:srgbClr val="40B0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en-US" altLang="zh-CN" sz="1200" b="1" dirty="0">
                  <a:solidFill>
                    <a:srgbClr val="FFFF00"/>
                  </a:solidFill>
                </a:rPr>
                <a:t>       </a:t>
              </a:r>
              <a:r>
                <a:rPr kumimoji="1" lang="zh-CN" sz="1200" b="1" dirty="0">
                  <a:solidFill>
                    <a:srgbClr val="FFFF00"/>
                  </a:solidFill>
                </a:rPr>
                <a:t>④</a:t>
              </a:r>
              <a:r>
                <a:rPr kumimoji="1" sz="1200" b="1" dirty="0">
                  <a:solidFill>
                    <a:srgbClr val="FFFF00"/>
                  </a:solidFill>
                </a:rPr>
                <a:t>产品</a:t>
              </a:r>
              <a:r>
                <a:rPr kumimoji="1" lang="zh-CN" sz="1200" b="1" dirty="0">
                  <a:solidFill>
                    <a:srgbClr val="FFFF00"/>
                  </a:solidFill>
                </a:rPr>
                <a:t>后</a:t>
              </a:r>
              <a:r>
                <a:rPr kumimoji="1" sz="1200" b="1" dirty="0">
                  <a:solidFill>
                    <a:srgbClr val="FFFF00"/>
                  </a:solidFill>
                </a:rPr>
                <a:t>评估</a:t>
              </a:r>
              <a:r>
                <a:rPr kumimoji="1" lang="zh-CN" sz="1200" b="1" dirty="0">
                  <a:solidFill>
                    <a:srgbClr val="FFFF00"/>
                  </a:solidFill>
                </a:rPr>
                <a:t>优化</a:t>
              </a:r>
              <a:endParaRPr kumimoji="1" lang="zh-CN" sz="1200" b="1" dirty="0">
                <a:solidFill>
                  <a:srgbClr val="FFFF00"/>
                </a:solidFill>
              </a:endParaRPr>
            </a:p>
          </p:txBody>
        </p:sp>
        <p:sp>
          <p:nvSpPr>
            <p:cNvPr id="215" name="五边形 214"/>
            <p:cNvSpPr/>
            <p:nvPr/>
          </p:nvSpPr>
          <p:spPr>
            <a:xfrm>
              <a:off x="10114" y="2735"/>
              <a:ext cx="5781" cy="480"/>
            </a:xfrm>
            <a:prstGeom prst="homePlate">
              <a:avLst/>
            </a:prstGeom>
            <a:solidFill>
              <a:srgbClr val="40B0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200" b="1" dirty="0">
                  <a:solidFill>
                    <a:srgbClr val="FFFF00"/>
                  </a:solidFill>
                  <a:sym typeface="+mn-ea"/>
                </a:rPr>
                <a:t>③</a:t>
              </a:r>
              <a:r>
                <a:rPr kumimoji="1" lang="zh-CN" altLang="en-US" sz="1200" b="1" dirty="0">
                  <a:solidFill>
                    <a:srgbClr val="FFFF00"/>
                  </a:solidFill>
                </a:rPr>
                <a:t>产品全生命周期</a:t>
              </a:r>
              <a:r>
                <a:rPr kumimoji="1" sz="1200" b="1" dirty="0">
                  <a:solidFill>
                    <a:srgbClr val="FFFF00"/>
                  </a:solidFill>
                </a:rPr>
                <a:t>运营</a:t>
              </a:r>
              <a:endParaRPr kumimoji="1" sz="1200" b="1" dirty="0">
                <a:solidFill>
                  <a:srgbClr val="FFFF00"/>
                </a:solidFill>
              </a:endParaRPr>
            </a:p>
          </p:txBody>
        </p:sp>
        <p:sp>
          <p:nvSpPr>
            <p:cNvPr id="231" name="五边形 230"/>
            <p:cNvSpPr/>
            <p:nvPr/>
          </p:nvSpPr>
          <p:spPr>
            <a:xfrm>
              <a:off x="4560" y="2735"/>
              <a:ext cx="5748" cy="480"/>
            </a:xfrm>
            <a:prstGeom prst="homePlate">
              <a:avLst/>
            </a:prstGeom>
            <a:solidFill>
              <a:srgbClr val="40B0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200" b="1" dirty="0">
                  <a:solidFill>
                    <a:srgbClr val="FFFF00"/>
                  </a:solidFill>
                  <a:sym typeface="+mn-ea"/>
                </a:rPr>
                <a:t>②</a:t>
              </a:r>
              <a:r>
                <a:rPr kumimoji="1" lang="zh-CN" sz="1200" b="1" dirty="0">
                  <a:solidFill>
                    <a:srgbClr val="FFFF00"/>
                  </a:solidFill>
                  <a:sym typeface="+mn-ea"/>
                </a:rPr>
                <a:t>产品智能封装供给</a:t>
              </a:r>
              <a:endParaRPr kumimoji="1" lang="zh-CN" sz="1200" b="1" dirty="0">
                <a:solidFill>
                  <a:srgbClr val="FFFF00"/>
                </a:solidFill>
                <a:sym typeface="+mn-ea"/>
              </a:endParaRPr>
            </a:p>
          </p:txBody>
        </p:sp>
        <p:sp>
          <p:nvSpPr>
            <p:cNvPr id="233" name="五边形 232"/>
            <p:cNvSpPr/>
            <p:nvPr/>
          </p:nvSpPr>
          <p:spPr>
            <a:xfrm>
              <a:off x="1259" y="2735"/>
              <a:ext cx="3584" cy="480"/>
            </a:xfrm>
            <a:prstGeom prst="homePlate">
              <a:avLst/>
            </a:prstGeom>
            <a:solidFill>
              <a:srgbClr val="40B0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200" b="1" dirty="0">
                  <a:solidFill>
                    <a:srgbClr val="FFFF00"/>
                  </a:solidFill>
                </a:rPr>
                <a:t>①产品研发流程贯通</a:t>
              </a:r>
              <a:endParaRPr kumimoji="1" lang="zh-CN" altLang="en-US" sz="1200" b="1" dirty="0">
                <a:solidFill>
                  <a:srgbClr val="FFFF00"/>
                </a:solidFill>
              </a:endParaRPr>
            </a:p>
          </p:txBody>
        </p:sp>
        <p:grpSp>
          <p:nvGrpSpPr>
            <p:cNvPr id="175" name="组合 174"/>
            <p:cNvGrpSpPr/>
            <p:nvPr/>
          </p:nvGrpSpPr>
          <p:grpSpPr>
            <a:xfrm>
              <a:off x="1281" y="3432"/>
              <a:ext cx="3435" cy="1474"/>
              <a:chOff x="1281" y="3402"/>
              <a:chExt cx="3435" cy="1474"/>
            </a:xfrm>
          </p:grpSpPr>
          <p:grpSp>
            <p:nvGrpSpPr>
              <p:cNvPr id="89" name="组合 88"/>
              <p:cNvGrpSpPr/>
              <p:nvPr/>
            </p:nvGrpSpPr>
            <p:grpSpPr>
              <a:xfrm>
                <a:off x="1281" y="3402"/>
                <a:ext cx="3248" cy="693"/>
                <a:chOff x="1626" y="3402"/>
                <a:chExt cx="3248" cy="693"/>
              </a:xfrm>
            </p:grpSpPr>
            <p:sp>
              <p:nvSpPr>
                <p:cNvPr id="79" name="文本框 78"/>
                <p:cNvSpPr txBox="1"/>
                <p:nvPr/>
              </p:nvSpPr>
              <p:spPr>
                <a:xfrm>
                  <a:off x="1626" y="3560"/>
                  <a:ext cx="610" cy="535"/>
                </a:xfrm>
                <a:prstGeom prst="rect">
                  <a:avLst/>
                </a:prstGeom>
                <a:noFill/>
              </p:spPr>
              <p:txBody>
                <a:bodyPr wrap="square" rtlCol="0">
                  <a:noAutofit/>
                </a:bodyPr>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需求协同</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sp>
              <p:nvSpPr>
                <p:cNvPr id="87" name="矩形 86"/>
                <p:cNvSpPr/>
                <p:nvPr/>
              </p:nvSpPr>
              <p:spPr>
                <a:xfrm>
                  <a:off x="2231" y="3402"/>
                  <a:ext cx="2643" cy="454"/>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贯通省专需求流程</a:t>
                  </a:r>
                  <a:endParaRPr lang="zh-CN" altLang="en-US" sz="1000" b="1">
                    <a:solidFill>
                      <a:schemeClr val="bg1"/>
                    </a:solidFill>
                    <a:latin typeface="微软雅黑" panose="020B0503020204020204" pitchFamily="34" charset="-122"/>
                    <a:ea typeface="微软雅黑" panose="020B0503020204020204" pitchFamily="34" charset="-122"/>
                  </a:endParaRPr>
                </a:p>
              </p:txBody>
            </p:sp>
          </p:grpSp>
          <p:grpSp>
            <p:nvGrpSpPr>
              <p:cNvPr id="106" name="组合 105"/>
              <p:cNvGrpSpPr/>
              <p:nvPr/>
            </p:nvGrpSpPr>
            <p:grpSpPr>
              <a:xfrm>
                <a:off x="1701" y="4012"/>
                <a:ext cx="3015" cy="864"/>
                <a:chOff x="1791" y="4027"/>
                <a:chExt cx="2861" cy="864"/>
              </a:xfrm>
            </p:grpSpPr>
            <p:grpSp>
              <p:nvGrpSpPr>
                <p:cNvPr id="96" name="组合 95"/>
                <p:cNvGrpSpPr/>
                <p:nvPr/>
              </p:nvGrpSpPr>
              <p:grpSpPr>
                <a:xfrm>
                  <a:off x="1791" y="4027"/>
                  <a:ext cx="789" cy="831"/>
                  <a:chOff x="1791" y="4027"/>
                  <a:chExt cx="789" cy="831"/>
                </a:xfrm>
              </p:grpSpPr>
              <p:sp>
                <p:nvSpPr>
                  <p:cNvPr id="90" name="文本框 89"/>
                  <p:cNvSpPr txBox="1"/>
                  <p:nvPr/>
                </p:nvSpPr>
                <p:spPr>
                  <a:xfrm>
                    <a:off x="1791" y="4027"/>
                    <a:ext cx="744" cy="831"/>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需求提出</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cxnSp>
                <p:nvCxnSpPr>
                  <p:cNvPr id="91" name="直接箭头连接符 90"/>
                  <p:cNvCxnSpPr/>
                  <p:nvPr/>
                </p:nvCxnSpPr>
                <p:spPr>
                  <a:xfrm flipV="1">
                    <a:off x="2310" y="4373"/>
                    <a:ext cx="270" cy="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97" name="组合 96"/>
                <p:cNvGrpSpPr/>
                <p:nvPr/>
              </p:nvGrpSpPr>
              <p:grpSpPr>
                <a:xfrm>
                  <a:off x="2446" y="4036"/>
                  <a:ext cx="804" cy="831"/>
                  <a:chOff x="1446" y="4027"/>
                  <a:chExt cx="804" cy="831"/>
                </a:xfrm>
              </p:grpSpPr>
              <p:sp>
                <p:nvSpPr>
                  <p:cNvPr id="98" name="文本框 97"/>
                  <p:cNvSpPr txBox="1"/>
                  <p:nvPr/>
                </p:nvSpPr>
                <p:spPr>
                  <a:xfrm>
                    <a:off x="1446" y="4027"/>
                    <a:ext cx="744" cy="831"/>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需求评审</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cxnSp>
                <p:nvCxnSpPr>
                  <p:cNvPr id="101" name="直接箭头连接符 100"/>
                  <p:cNvCxnSpPr/>
                  <p:nvPr/>
                </p:nvCxnSpPr>
                <p:spPr>
                  <a:xfrm flipV="1">
                    <a:off x="1980" y="4373"/>
                    <a:ext cx="270" cy="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02" name="组合 101"/>
                <p:cNvGrpSpPr/>
                <p:nvPr/>
              </p:nvGrpSpPr>
              <p:grpSpPr>
                <a:xfrm>
                  <a:off x="3164" y="4036"/>
                  <a:ext cx="789" cy="831"/>
                  <a:chOff x="1791" y="4027"/>
                  <a:chExt cx="789" cy="831"/>
                </a:xfrm>
              </p:grpSpPr>
              <p:sp>
                <p:nvSpPr>
                  <p:cNvPr id="103" name="文本框 102"/>
                  <p:cNvSpPr txBox="1"/>
                  <p:nvPr/>
                </p:nvSpPr>
                <p:spPr>
                  <a:xfrm>
                    <a:off x="1791" y="4027"/>
                    <a:ext cx="744" cy="831"/>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产品引入</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cxnSp>
                <p:nvCxnSpPr>
                  <p:cNvPr id="104" name="直接箭头连接符 103"/>
                  <p:cNvCxnSpPr/>
                  <p:nvPr/>
                </p:nvCxnSpPr>
                <p:spPr>
                  <a:xfrm flipV="1">
                    <a:off x="2310" y="4373"/>
                    <a:ext cx="270" cy="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05" name="文本框 104"/>
                <p:cNvSpPr txBox="1"/>
                <p:nvPr/>
              </p:nvSpPr>
              <p:spPr>
                <a:xfrm>
                  <a:off x="3908" y="4037"/>
                  <a:ext cx="744" cy="854"/>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需求反馈</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grpSp>
        </p:grpSp>
        <p:grpSp>
          <p:nvGrpSpPr>
            <p:cNvPr id="26" name="组合 25"/>
            <p:cNvGrpSpPr/>
            <p:nvPr/>
          </p:nvGrpSpPr>
          <p:grpSpPr>
            <a:xfrm>
              <a:off x="1260" y="5141"/>
              <a:ext cx="3457" cy="1437"/>
              <a:chOff x="1260" y="4676"/>
              <a:chExt cx="3457" cy="1437"/>
            </a:xfrm>
          </p:grpSpPr>
          <p:sp>
            <p:nvSpPr>
              <p:cNvPr id="107" name="矩形 106"/>
              <p:cNvSpPr/>
              <p:nvPr/>
            </p:nvSpPr>
            <p:spPr>
              <a:xfrm>
                <a:off x="1791" y="4676"/>
                <a:ext cx="2769" cy="454"/>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贯通生态能力管理线上流程</a:t>
                </a:r>
                <a:endParaRPr lang="zh-CN" altLang="en-US" sz="1000" b="1">
                  <a:solidFill>
                    <a:schemeClr val="bg1"/>
                  </a:solidFill>
                  <a:latin typeface="微软雅黑" panose="020B0503020204020204" pitchFamily="34" charset="-122"/>
                  <a:ea typeface="微软雅黑" panose="020B0503020204020204" pitchFamily="34" charset="-122"/>
                </a:endParaRPr>
              </a:p>
            </p:txBody>
          </p:sp>
          <p:sp>
            <p:nvSpPr>
              <p:cNvPr id="108" name="文本框 107"/>
              <p:cNvSpPr txBox="1"/>
              <p:nvPr/>
            </p:nvSpPr>
            <p:spPr>
              <a:xfrm>
                <a:off x="1260" y="4862"/>
                <a:ext cx="610" cy="754"/>
              </a:xfrm>
              <a:prstGeom prst="rect">
                <a:avLst/>
              </a:prstGeom>
              <a:noFill/>
            </p:spPr>
            <p:txBody>
              <a:bodyPr wrap="square" rtlCol="0">
                <a:noAutofit/>
              </a:bodyPr>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能力封装</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1702" y="5249"/>
                <a:ext cx="3015" cy="864"/>
                <a:chOff x="1791" y="4027"/>
                <a:chExt cx="2861" cy="864"/>
              </a:xfrm>
            </p:grpSpPr>
            <p:grpSp>
              <p:nvGrpSpPr>
                <p:cNvPr id="4" name="组合 3"/>
                <p:cNvGrpSpPr/>
                <p:nvPr/>
              </p:nvGrpSpPr>
              <p:grpSpPr>
                <a:xfrm>
                  <a:off x="1791" y="4027"/>
                  <a:ext cx="789" cy="831"/>
                  <a:chOff x="1791" y="4027"/>
                  <a:chExt cx="789" cy="831"/>
                </a:xfrm>
              </p:grpSpPr>
              <p:sp>
                <p:nvSpPr>
                  <p:cNvPr id="16" name="文本框 15"/>
                  <p:cNvSpPr txBox="1"/>
                  <p:nvPr/>
                </p:nvSpPr>
                <p:spPr>
                  <a:xfrm>
                    <a:off x="1791" y="4027"/>
                    <a:ext cx="744" cy="831"/>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能力引入</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cxnSp>
                <p:nvCxnSpPr>
                  <p:cNvPr id="18" name="直接箭头连接符 17"/>
                  <p:cNvCxnSpPr/>
                  <p:nvPr/>
                </p:nvCxnSpPr>
                <p:spPr>
                  <a:xfrm flipV="1">
                    <a:off x="2310" y="4373"/>
                    <a:ext cx="270" cy="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2446" y="4036"/>
                  <a:ext cx="804" cy="831"/>
                  <a:chOff x="1446" y="4027"/>
                  <a:chExt cx="804" cy="831"/>
                </a:xfrm>
              </p:grpSpPr>
              <p:sp>
                <p:nvSpPr>
                  <p:cNvPr id="20" name="文本框 19"/>
                  <p:cNvSpPr txBox="1"/>
                  <p:nvPr/>
                </p:nvSpPr>
                <p:spPr>
                  <a:xfrm>
                    <a:off x="1446" y="4027"/>
                    <a:ext cx="744" cy="831"/>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能力货架</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cxnSp>
                <p:nvCxnSpPr>
                  <p:cNvPr id="21" name="直接箭头连接符 20"/>
                  <p:cNvCxnSpPr/>
                  <p:nvPr/>
                </p:nvCxnSpPr>
                <p:spPr>
                  <a:xfrm flipV="1">
                    <a:off x="1980" y="4373"/>
                    <a:ext cx="270" cy="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3164" y="4036"/>
                  <a:ext cx="789" cy="831"/>
                  <a:chOff x="1791" y="4027"/>
                  <a:chExt cx="789" cy="831"/>
                </a:xfrm>
              </p:grpSpPr>
              <p:sp>
                <p:nvSpPr>
                  <p:cNvPr id="23" name="文本框 22"/>
                  <p:cNvSpPr txBox="1"/>
                  <p:nvPr/>
                </p:nvSpPr>
                <p:spPr>
                  <a:xfrm>
                    <a:off x="1791" y="4027"/>
                    <a:ext cx="744" cy="831"/>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能力订购</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cxnSp>
                <p:nvCxnSpPr>
                  <p:cNvPr id="24" name="直接箭头连接符 23"/>
                  <p:cNvCxnSpPr/>
                  <p:nvPr/>
                </p:nvCxnSpPr>
                <p:spPr>
                  <a:xfrm flipV="1">
                    <a:off x="2310" y="4373"/>
                    <a:ext cx="270" cy="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5" name="文本框 24"/>
                <p:cNvSpPr txBox="1"/>
                <p:nvPr/>
              </p:nvSpPr>
              <p:spPr>
                <a:xfrm>
                  <a:off x="3908" y="4037"/>
                  <a:ext cx="744" cy="854"/>
                </a:xfrm>
                <a:prstGeom prst="rect">
                  <a:avLst/>
                </a:prstGeom>
                <a:noFill/>
              </p:spPr>
              <p:txBody>
                <a:bodyPr wrap="square" rtlCol="0">
                  <a:spAutoFit/>
                </a:bodyPr>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能力结算</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grpSp>
        </p:grpSp>
        <p:sp>
          <p:nvSpPr>
            <p:cNvPr id="56" name="矩形 55"/>
            <p:cNvSpPr/>
            <p:nvPr/>
          </p:nvSpPr>
          <p:spPr>
            <a:xfrm>
              <a:off x="5268" y="3410"/>
              <a:ext cx="4943" cy="454"/>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标准化原子产品统一纳管，灵活打包</a:t>
              </a:r>
              <a:endParaRPr lang="zh-CN" altLang="en-US" sz="1000" b="1">
                <a:solidFill>
                  <a:schemeClr val="bg1"/>
                </a:solidFill>
                <a:latin typeface="微软雅黑" panose="020B0503020204020204" pitchFamily="34" charset="-122"/>
                <a:ea typeface="微软雅黑" panose="020B0503020204020204" pitchFamily="34" charset="-122"/>
              </a:endParaRPr>
            </a:p>
          </p:txBody>
        </p:sp>
        <p:sp>
          <p:nvSpPr>
            <p:cNvPr id="58" name="矩形 57"/>
            <p:cNvSpPr/>
            <p:nvPr/>
          </p:nvSpPr>
          <p:spPr>
            <a:xfrm>
              <a:off x="1283" y="3309"/>
              <a:ext cx="3433" cy="3503"/>
            </a:xfrm>
            <a:prstGeom prst="rect">
              <a:avLst/>
            </a:prstGeom>
            <a:noFill/>
            <a:ln w="19050">
              <a:solidFill>
                <a:schemeClr val="bg2"/>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marL="36195" indent="0" fontAlgn="base">
                <a:lnSpc>
                  <a:spcPct val="150000"/>
                </a:lnSpc>
                <a:spcBef>
                  <a:spcPct val="0"/>
                </a:spcBef>
                <a:spcAft>
                  <a:spcPct val="0"/>
                </a:spcAft>
                <a:buClr>
                  <a:schemeClr val="accent1"/>
                </a:buClr>
                <a:buFont typeface="Arial" panose="020B0604020202020204" pitchFamily="34" charset="0"/>
                <a:buNone/>
              </a:pP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59" name="矩形 58"/>
            <p:cNvSpPr/>
            <p:nvPr/>
          </p:nvSpPr>
          <p:spPr>
            <a:xfrm>
              <a:off x="4958" y="3308"/>
              <a:ext cx="5349" cy="3503"/>
            </a:xfrm>
            <a:prstGeom prst="rect">
              <a:avLst/>
            </a:prstGeom>
            <a:noFill/>
            <a:ln w="19050">
              <a:solidFill>
                <a:schemeClr val="bg2"/>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marL="36195" indent="0" fontAlgn="base">
                <a:lnSpc>
                  <a:spcPct val="150000"/>
                </a:lnSpc>
                <a:spcBef>
                  <a:spcPct val="0"/>
                </a:spcBef>
                <a:spcAft>
                  <a:spcPct val="0"/>
                </a:spcAft>
                <a:buClr>
                  <a:schemeClr val="accent1"/>
                </a:buClr>
                <a:buFont typeface="Arial" panose="020B0604020202020204" pitchFamily="34" charset="0"/>
                <a:buNone/>
              </a:pPr>
              <a:endParaRPr lang="zh-CN" altLang="en-US" sz="1200" dirty="0">
                <a:solidFill>
                  <a:prstClr val="black"/>
                </a:solidFill>
                <a:latin typeface="微软雅黑" panose="020B0503020204020204" pitchFamily="34" charset="-122"/>
                <a:ea typeface="微软雅黑" panose="020B0503020204020204" pitchFamily="34" charset="-122"/>
              </a:endParaRPr>
            </a:p>
          </p:txBody>
        </p:sp>
        <p:grpSp>
          <p:nvGrpSpPr>
            <p:cNvPr id="94" name="组合 93"/>
            <p:cNvGrpSpPr/>
            <p:nvPr/>
          </p:nvGrpSpPr>
          <p:grpSpPr>
            <a:xfrm>
              <a:off x="15903" y="3997"/>
              <a:ext cx="2240" cy="1234"/>
              <a:chOff x="14016" y="3463"/>
              <a:chExt cx="2485" cy="1052"/>
            </a:xfrm>
            <a:noFill/>
          </p:grpSpPr>
          <p:sp>
            <p:nvSpPr>
              <p:cNvPr id="81" name="ïṩḻiḑé"/>
              <p:cNvSpPr/>
              <p:nvPr/>
            </p:nvSpPr>
            <p:spPr>
              <a:xfrm>
                <a:off x="14016" y="3463"/>
                <a:ext cx="514" cy="1052"/>
              </a:xfrm>
              <a:prstGeom prst="roundRect">
                <a:avLst>
                  <a:gd name="adj" fmla="val 47679"/>
                </a:avLst>
              </a:prstGeom>
              <a:grpFill/>
              <a:ln w="9525" cap="flat" cmpd="sng" algn="ctr">
                <a:solidFill>
                  <a:srgbClr val="40B0FF"/>
                </a:solidFill>
                <a:prstDash val="sysDot"/>
              </a:ln>
              <a:effectLst/>
            </p:spPr>
            <p:txBody>
              <a:bodyPr vert="eaVert" wrap="none" lIns="90000" tIns="46800" rIns="90000" bIns="46800" anchor="ctr" anchorCtr="0">
                <a:noAutofit/>
              </a:bodyPr>
              <a:p>
                <a:pPr marL="0" marR="0" lvl="0" indent="0" algn="r" defTabSz="1219200" eaLnBrk="1" fontAlgn="base"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rPr>
                  <a:t>    </a:t>
                </a:r>
                <a:r>
                  <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rPr>
                  <a:t>质量打分</a:t>
                </a:r>
                <a:endPar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endParaRPr>
              </a:p>
            </p:txBody>
          </p:sp>
          <p:sp>
            <p:nvSpPr>
              <p:cNvPr id="82" name="ïṩḻiḑé"/>
              <p:cNvSpPr/>
              <p:nvPr/>
            </p:nvSpPr>
            <p:spPr>
              <a:xfrm>
                <a:off x="14656" y="3463"/>
                <a:ext cx="514" cy="1052"/>
              </a:xfrm>
              <a:prstGeom prst="roundRect">
                <a:avLst>
                  <a:gd name="adj" fmla="val 47679"/>
                </a:avLst>
              </a:prstGeom>
              <a:grpFill/>
              <a:ln w="9525" cap="flat" cmpd="sng" algn="ctr">
                <a:solidFill>
                  <a:srgbClr val="40B0FF"/>
                </a:solidFill>
                <a:prstDash val="sysDot"/>
              </a:ln>
              <a:effectLst/>
            </p:spPr>
            <p:txBody>
              <a:bodyPr vert="eaVert" wrap="none" lIns="90000" tIns="46800" rIns="90000" bIns="46800" anchor="ctr" anchorCtr="0">
                <a:noAutofit/>
              </a:bodyPr>
              <a:p>
                <a:pPr marL="0" marR="0" lvl="0" indent="0" algn="r" defTabSz="1219200" eaLnBrk="1" fontAlgn="base"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rPr>
                  <a:t>优化建议</a:t>
                </a:r>
                <a:endPar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endParaRPr>
              </a:p>
            </p:txBody>
          </p:sp>
          <p:sp>
            <p:nvSpPr>
              <p:cNvPr id="84" name="ïṩḻiḑé"/>
              <p:cNvSpPr/>
              <p:nvPr/>
            </p:nvSpPr>
            <p:spPr>
              <a:xfrm>
                <a:off x="15336" y="3463"/>
                <a:ext cx="514" cy="1052"/>
              </a:xfrm>
              <a:prstGeom prst="roundRect">
                <a:avLst>
                  <a:gd name="adj" fmla="val 47679"/>
                </a:avLst>
              </a:prstGeom>
              <a:grpFill/>
              <a:ln w="9525" cap="flat" cmpd="sng" algn="ctr">
                <a:solidFill>
                  <a:srgbClr val="40B0FF"/>
                </a:solidFill>
                <a:prstDash val="sysDot"/>
              </a:ln>
              <a:effectLst/>
            </p:spPr>
            <p:txBody>
              <a:bodyPr vert="eaVert" wrap="none" lIns="90000" tIns="46800" rIns="90000" bIns="46800" anchor="ctr" anchorCtr="0">
                <a:noAutofit/>
              </a:bodyPr>
              <a:p>
                <a:pPr marL="0" marR="0" lvl="0" indent="0" algn="r" defTabSz="1219200" eaLnBrk="1" fontAlgn="base"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rPr>
                  <a:t>案例推荐</a:t>
                </a:r>
                <a:endPar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endParaRPr>
              </a:p>
            </p:txBody>
          </p:sp>
          <p:sp>
            <p:nvSpPr>
              <p:cNvPr id="93" name="ïṩḻiḑé"/>
              <p:cNvSpPr/>
              <p:nvPr/>
            </p:nvSpPr>
            <p:spPr>
              <a:xfrm>
                <a:off x="15987" y="3463"/>
                <a:ext cx="514" cy="1052"/>
              </a:xfrm>
              <a:prstGeom prst="roundRect">
                <a:avLst>
                  <a:gd name="adj" fmla="val 47679"/>
                </a:avLst>
              </a:prstGeom>
              <a:grpFill/>
              <a:ln w="9525" cap="flat" cmpd="sng" algn="ctr">
                <a:solidFill>
                  <a:srgbClr val="40B0FF"/>
                </a:solidFill>
                <a:prstDash val="sysDot"/>
              </a:ln>
              <a:effectLst/>
            </p:spPr>
            <p:txBody>
              <a:bodyPr vert="eaVert" wrap="none" lIns="90000" tIns="46800" rIns="90000" bIns="46800" anchor="ctr" anchorCtr="0">
                <a:noAutofit/>
              </a:bodyPr>
              <a:p>
                <a:pPr marL="0" marR="0" lvl="0" indent="0" algn="r" defTabSz="1219200" eaLnBrk="1" fontAlgn="base"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rPr>
                  <a:t>分省画像</a:t>
                </a:r>
                <a:endParaRPr kumimoji="0" lang="zh-CN" altLang="en-US" sz="1200" b="1" i="0" u="none" strike="noStrike" kern="0" cap="none" spc="0" normalizeH="0" baseline="0" noProof="0" dirty="0">
                  <a:ln>
                    <a:noFill/>
                  </a:ln>
                  <a:solidFill>
                    <a:srgbClr val="0070C0"/>
                  </a:solidFill>
                  <a:effectLst/>
                  <a:uLnTx/>
                  <a:uFillTx/>
                  <a:latin typeface="Arial" panose="020B0604020202020204"/>
                  <a:ea typeface="微软雅黑" panose="020B0503020204020204" pitchFamily="34" charset="-122"/>
                  <a:cs typeface="+mn-cs"/>
                </a:endParaRPr>
              </a:p>
            </p:txBody>
          </p:sp>
        </p:grpSp>
        <p:sp>
          <p:nvSpPr>
            <p:cNvPr id="113" name="矩形 112"/>
            <p:cNvSpPr/>
            <p:nvPr/>
          </p:nvSpPr>
          <p:spPr>
            <a:xfrm>
              <a:off x="11127" y="3368"/>
              <a:ext cx="4124" cy="344"/>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产品运营信息一点看全</a:t>
              </a:r>
              <a:endParaRPr lang="zh-CN" altLang="en-US" sz="1000" b="1">
                <a:solidFill>
                  <a:schemeClr val="bg1"/>
                </a:solidFill>
                <a:latin typeface="微软雅黑" panose="020B0503020204020204" pitchFamily="34" charset="-122"/>
                <a:ea typeface="微软雅黑" panose="020B0503020204020204" pitchFamily="34" charset="-122"/>
              </a:endParaRPr>
            </a:p>
          </p:txBody>
        </p:sp>
        <p:sp>
          <p:nvSpPr>
            <p:cNvPr id="114" name="文本框 113"/>
            <p:cNvSpPr txBox="1"/>
            <p:nvPr/>
          </p:nvSpPr>
          <p:spPr>
            <a:xfrm>
              <a:off x="10539" y="3410"/>
              <a:ext cx="610" cy="1093"/>
            </a:xfrm>
            <a:prstGeom prst="rect">
              <a:avLst/>
            </a:prstGeom>
            <a:noFill/>
          </p:spPr>
          <p:txBody>
            <a:bodyPr wrap="square" rtlCol="0">
              <a:noAutofit/>
            </a:bodyPr>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数据整合</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grpSp>
          <p:nvGrpSpPr>
            <p:cNvPr id="138" name="组合 137"/>
            <p:cNvGrpSpPr/>
            <p:nvPr/>
          </p:nvGrpSpPr>
          <p:grpSpPr>
            <a:xfrm>
              <a:off x="11149" y="3864"/>
              <a:ext cx="1168" cy="417"/>
              <a:chOff x="2095" y="3940"/>
              <a:chExt cx="1168" cy="417"/>
            </a:xfrm>
          </p:grpSpPr>
          <p:sp>
            <p:nvSpPr>
              <p:cNvPr id="115" name="矩形 114"/>
              <p:cNvSpPr/>
              <p:nvPr/>
            </p:nvSpPr>
            <p:spPr>
              <a:xfrm>
                <a:off x="2095" y="3948"/>
                <a:ext cx="1168" cy="409"/>
              </a:xfrm>
              <a:prstGeom prst="rect">
                <a:avLst/>
              </a:prstGeom>
              <a:noFill/>
              <a:ln w="12700" cmpd="sng">
                <a:solidFill>
                  <a:schemeClr val="bg1">
                    <a:lumMod val="50000"/>
                  </a:schemeClr>
                </a:solidFill>
                <a:prstDash val="dash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effectLst/>
                </a:endParaRPr>
              </a:p>
            </p:txBody>
          </p:sp>
          <p:sp>
            <p:nvSpPr>
              <p:cNvPr id="121" name="文本框 120"/>
              <p:cNvSpPr txBox="1"/>
              <p:nvPr/>
            </p:nvSpPr>
            <p:spPr>
              <a:xfrm>
                <a:off x="2140" y="3940"/>
                <a:ext cx="1086" cy="354"/>
              </a:xfrm>
              <a:prstGeom prst="rect">
                <a:avLst/>
              </a:prstGeom>
              <a:noFill/>
            </p:spPr>
            <p:txBody>
              <a:bodyPr wrap="square" rtlCol="0">
                <a:noAutofit/>
              </a:bodyPr>
              <a:p>
                <a:pPr algn="l"/>
                <a:r>
                  <a:rPr kumimoji="1" lang="zh-CN" altLang="en-US" sz="900" b="1" dirty="0" smtClean="0">
                    <a:solidFill>
                      <a:schemeClr val="accent1"/>
                    </a:solidFill>
                    <a:effectLst/>
                    <a:latin typeface="微软雅黑" panose="020B0503020204020204" pitchFamily="34" charset="-122"/>
                    <a:ea typeface="微软雅黑" panose="020B0503020204020204" pitchFamily="34" charset="-122"/>
                  </a:rPr>
                  <a:t>产品创新</a:t>
                </a:r>
                <a:endParaRPr kumimoji="1" lang="zh-CN" altLang="en-US" sz="900" b="1" dirty="0" smtClean="0">
                  <a:solidFill>
                    <a:schemeClr val="accent1"/>
                  </a:solidFill>
                  <a:effectLst/>
                  <a:latin typeface="微软雅黑" panose="020B0503020204020204" pitchFamily="34" charset="-122"/>
                  <a:ea typeface="微软雅黑" panose="020B0503020204020204" pitchFamily="34" charset="-122"/>
                </a:endParaRPr>
              </a:p>
            </p:txBody>
          </p:sp>
        </p:grpSp>
        <p:grpSp>
          <p:nvGrpSpPr>
            <p:cNvPr id="139" name="组合 138"/>
            <p:cNvGrpSpPr/>
            <p:nvPr/>
          </p:nvGrpSpPr>
          <p:grpSpPr>
            <a:xfrm>
              <a:off x="12608" y="3864"/>
              <a:ext cx="1168" cy="417"/>
              <a:chOff x="2095" y="3940"/>
              <a:chExt cx="1168" cy="417"/>
            </a:xfrm>
          </p:grpSpPr>
          <p:sp>
            <p:nvSpPr>
              <p:cNvPr id="140" name="矩形 139"/>
              <p:cNvSpPr/>
              <p:nvPr/>
            </p:nvSpPr>
            <p:spPr>
              <a:xfrm>
                <a:off x="2095" y="3948"/>
                <a:ext cx="1168" cy="409"/>
              </a:xfrm>
              <a:prstGeom prst="rect">
                <a:avLst/>
              </a:prstGeom>
              <a:noFill/>
              <a:ln w="12700" cmpd="sng">
                <a:solidFill>
                  <a:schemeClr val="bg1">
                    <a:lumMod val="50000"/>
                  </a:schemeClr>
                </a:solidFill>
                <a:prstDash val="dash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effectLst/>
                </a:endParaRPr>
              </a:p>
            </p:txBody>
          </p:sp>
          <p:sp>
            <p:nvSpPr>
              <p:cNvPr id="148" name="文本框 147"/>
              <p:cNvSpPr txBox="1"/>
              <p:nvPr/>
            </p:nvSpPr>
            <p:spPr>
              <a:xfrm>
                <a:off x="2140" y="3940"/>
                <a:ext cx="1086" cy="354"/>
              </a:xfrm>
              <a:prstGeom prst="rect">
                <a:avLst/>
              </a:prstGeom>
              <a:noFill/>
            </p:spPr>
            <p:txBody>
              <a:bodyPr wrap="square" rtlCol="0">
                <a:noAutofit/>
              </a:bodyPr>
              <a:p>
                <a:pPr algn="l"/>
                <a:r>
                  <a:rPr kumimoji="1" lang="zh-CN" altLang="en-US" sz="900" b="1" dirty="0" smtClean="0">
                    <a:solidFill>
                      <a:schemeClr val="accent1"/>
                    </a:solidFill>
                    <a:effectLst/>
                    <a:latin typeface="微软雅黑" panose="020B0503020204020204" pitchFamily="34" charset="-122"/>
                    <a:ea typeface="微软雅黑" panose="020B0503020204020204" pitchFamily="34" charset="-122"/>
                  </a:rPr>
                  <a:t>产品运营</a:t>
                </a:r>
                <a:endParaRPr kumimoji="1" lang="zh-CN" altLang="en-US" sz="900" b="1" dirty="0" smtClean="0">
                  <a:solidFill>
                    <a:schemeClr val="accent1"/>
                  </a:solidFill>
                  <a:effectLst/>
                  <a:latin typeface="微软雅黑" panose="020B0503020204020204" pitchFamily="34" charset="-122"/>
                  <a:ea typeface="微软雅黑" panose="020B0503020204020204" pitchFamily="34" charset="-122"/>
                </a:endParaRPr>
              </a:p>
            </p:txBody>
          </p:sp>
        </p:grpSp>
        <p:grpSp>
          <p:nvGrpSpPr>
            <p:cNvPr id="149" name="组合 148"/>
            <p:cNvGrpSpPr/>
            <p:nvPr/>
          </p:nvGrpSpPr>
          <p:grpSpPr>
            <a:xfrm>
              <a:off x="14067" y="3864"/>
              <a:ext cx="1168" cy="417"/>
              <a:chOff x="2095" y="3940"/>
              <a:chExt cx="1168" cy="417"/>
            </a:xfrm>
          </p:grpSpPr>
          <p:sp>
            <p:nvSpPr>
              <p:cNvPr id="150" name="矩形 149"/>
              <p:cNvSpPr/>
              <p:nvPr/>
            </p:nvSpPr>
            <p:spPr>
              <a:xfrm>
                <a:off x="2095" y="3948"/>
                <a:ext cx="1168" cy="409"/>
              </a:xfrm>
              <a:prstGeom prst="rect">
                <a:avLst/>
              </a:prstGeom>
              <a:noFill/>
              <a:ln w="12700" cmpd="sng">
                <a:solidFill>
                  <a:schemeClr val="bg1">
                    <a:lumMod val="50000"/>
                  </a:schemeClr>
                </a:solidFill>
                <a:prstDash val="dash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effectLst/>
                </a:endParaRPr>
              </a:p>
            </p:txBody>
          </p:sp>
          <p:sp>
            <p:nvSpPr>
              <p:cNvPr id="151" name="文本框 150"/>
              <p:cNvSpPr txBox="1"/>
              <p:nvPr/>
            </p:nvSpPr>
            <p:spPr>
              <a:xfrm>
                <a:off x="2140" y="3940"/>
                <a:ext cx="1086" cy="354"/>
              </a:xfrm>
              <a:prstGeom prst="rect">
                <a:avLst/>
              </a:prstGeom>
              <a:noFill/>
            </p:spPr>
            <p:txBody>
              <a:bodyPr wrap="square" rtlCol="0">
                <a:noAutofit/>
              </a:bodyPr>
              <a:p>
                <a:pPr algn="l"/>
                <a:r>
                  <a:rPr kumimoji="1" lang="zh-CN" altLang="en-US" sz="900" b="1" dirty="0" smtClean="0">
                    <a:solidFill>
                      <a:schemeClr val="accent1"/>
                    </a:solidFill>
                    <a:effectLst/>
                    <a:latin typeface="微软雅黑" panose="020B0503020204020204" pitchFamily="34" charset="-122"/>
                    <a:ea typeface="微软雅黑" panose="020B0503020204020204" pitchFamily="34" charset="-122"/>
                  </a:rPr>
                  <a:t>产品质量</a:t>
                </a:r>
                <a:endParaRPr kumimoji="1" lang="zh-CN" altLang="en-US" sz="900" b="1" dirty="0" smtClean="0">
                  <a:solidFill>
                    <a:schemeClr val="accent1"/>
                  </a:solidFill>
                  <a:effectLst/>
                  <a:latin typeface="微软雅黑" panose="020B0503020204020204" pitchFamily="34" charset="-122"/>
                  <a:ea typeface="微软雅黑" panose="020B0503020204020204" pitchFamily="34" charset="-122"/>
                </a:endParaRPr>
              </a:p>
            </p:txBody>
          </p:sp>
        </p:grpSp>
        <p:grpSp>
          <p:nvGrpSpPr>
            <p:cNvPr id="158" name="组合 157"/>
            <p:cNvGrpSpPr/>
            <p:nvPr/>
          </p:nvGrpSpPr>
          <p:grpSpPr>
            <a:xfrm>
              <a:off x="11127" y="4538"/>
              <a:ext cx="4277" cy="1193"/>
              <a:chOff x="11127" y="4448"/>
              <a:chExt cx="4277" cy="1193"/>
            </a:xfrm>
          </p:grpSpPr>
          <p:sp>
            <p:nvSpPr>
              <p:cNvPr id="152" name="矩形 151"/>
              <p:cNvSpPr/>
              <p:nvPr/>
            </p:nvSpPr>
            <p:spPr>
              <a:xfrm>
                <a:off x="11127" y="4448"/>
                <a:ext cx="4124" cy="344"/>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产品全生命周期的决策辅助</a:t>
                </a:r>
                <a:endParaRPr lang="zh-CN" altLang="en-US" sz="1000" b="1">
                  <a:solidFill>
                    <a:schemeClr val="bg1"/>
                  </a:solidFill>
                  <a:latin typeface="微软雅黑" panose="020B0503020204020204" pitchFamily="34" charset="-122"/>
                  <a:ea typeface="微软雅黑" panose="020B0503020204020204" pitchFamily="34" charset="-122"/>
                </a:endParaRPr>
              </a:p>
            </p:txBody>
          </p:sp>
          <p:sp>
            <p:nvSpPr>
              <p:cNvPr id="153" name="文本框 152"/>
              <p:cNvSpPr txBox="1"/>
              <p:nvPr/>
            </p:nvSpPr>
            <p:spPr>
              <a:xfrm>
                <a:off x="11127" y="4902"/>
                <a:ext cx="1153" cy="679"/>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产品</a:t>
                </a:r>
                <a:r>
                  <a:rPr kumimoji="0"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Arial" panose="020B0604020202020204" pitchFamily="34" charset="0"/>
                  </a:rPr>
                  <a:t>创新</a:t>
                </a: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分析</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54" name="文本框 153"/>
              <p:cNvSpPr txBox="1"/>
              <p:nvPr/>
            </p:nvSpPr>
            <p:spPr>
              <a:xfrm>
                <a:off x="12358" y="4921"/>
                <a:ext cx="1069" cy="679"/>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产品</a:t>
                </a:r>
                <a:r>
                  <a:rPr kumimoji="0"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Arial" panose="020B0604020202020204" pitchFamily="34" charset="0"/>
                  </a:rPr>
                  <a:t>运营</a:t>
                </a: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分析</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55" name="文本框 154"/>
              <p:cNvSpPr txBox="1"/>
              <p:nvPr/>
            </p:nvSpPr>
            <p:spPr>
              <a:xfrm>
                <a:off x="13521" y="4941"/>
                <a:ext cx="1056" cy="679"/>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产品</a:t>
                </a:r>
                <a:r>
                  <a:rPr kumimoji="0" lang="zh-CN" altLang="en-US" sz="9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Arial" panose="020B0604020202020204" pitchFamily="34" charset="0"/>
                  </a:rPr>
                  <a:t>质量</a:t>
                </a: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分析</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56" name="文本框 155"/>
              <p:cNvSpPr txBox="1"/>
              <p:nvPr/>
            </p:nvSpPr>
            <p:spPr>
              <a:xfrm>
                <a:off x="14657" y="4962"/>
                <a:ext cx="747" cy="679"/>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Arial" panose="020B0604020202020204" pitchFamily="34" charset="0"/>
                  </a:rPr>
                  <a:t>协同</a:t>
                </a:r>
                <a:endParaRPr kumimoji="0" lang="zh-CN" altLang="en-US" sz="9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管控</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157" name="矩形 156"/>
            <p:cNvSpPr/>
            <p:nvPr/>
          </p:nvSpPr>
          <p:spPr>
            <a:xfrm>
              <a:off x="11119" y="5832"/>
              <a:ext cx="4124" cy="344"/>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贯通集省专协同数字化流程</a:t>
              </a:r>
              <a:endParaRPr lang="zh-CN" altLang="en-US" sz="1000" b="1">
                <a:solidFill>
                  <a:schemeClr val="bg1"/>
                </a:solidFill>
                <a:latin typeface="微软雅黑" panose="020B0503020204020204" pitchFamily="34" charset="-122"/>
                <a:ea typeface="微软雅黑" panose="020B0503020204020204" pitchFamily="34" charset="-122"/>
              </a:endParaRPr>
            </a:p>
          </p:txBody>
        </p:sp>
        <p:sp>
          <p:nvSpPr>
            <p:cNvPr id="159" name="文本框 158"/>
            <p:cNvSpPr txBox="1"/>
            <p:nvPr/>
          </p:nvSpPr>
          <p:spPr>
            <a:xfrm>
              <a:off x="10532" y="4531"/>
              <a:ext cx="610" cy="1093"/>
            </a:xfrm>
            <a:prstGeom prst="rect">
              <a:avLst/>
            </a:prstGeom>
            <a:noFill/>
          </p:spPr>
          <p:txBody>
            <a:bodyPr wrap="square" rtlCol="0">
              <a:noAutofit/>
            </a:bodyPr>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智能运营</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sp>
          <p:nvSpPr>
            <p:cNvPr id="160" name="文本框 159"/>
            <p:cNvSpPr txBox="1"/>
            <p:nvPr/>
          </p:nvSpPr>
          <p:spPr>
            <a:xfrm>
              <a:off x="10539" y="5718"/>
              <a:ext cx="610" cy="1093"/>
            </a:xfrm>
            <a:prstGeom prst="rect">
              <a:avLst/>
            </a:prstGeom>
            <a:noFill/>
          </p:spPr>
          <p:txBody>
            <a:bodyPr wrap="square" rtlCol="0">
              <a:noAutofit/>
            </a:bodyPr>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协同运营</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sp>
          <p:nvSpPr>
            <p:cNvPr id="161" name="文本框 160"/>
            <p:cNvSpPr txBox="1"/>
            <p:nvPr/>
          </p:nvSpPr>
          <p:spPr>
            <a:xfrm>
              <a:off x="11119" y="6276"/>
              <a:ext cx="1905" cy="424"/>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任务线上协同</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62" name="文本框 161"/>
            <p:cNvSpPr txBox="1"/>
            <p:nvPr/>
          </p:nvSpPr>
          <p:spPr>
            <a:xfrm>
              <a:off x="13204" y="6257"/>
              <a:ext cx="2160" cy="424"/>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OKR</a:t>
              </a: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穿透跟踪</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63" name="矩形 162"/>
            <p:cNvSpPr/>
            <p:nvPr/>
          </p:nvSpPr>
          <p:spPr>
            <a:xfrm>
              <a:off x="10458" y="3309"/>
              <a:ext cx="5079" cy="3502"/>
            </a:xfrm>
            <a:prstGeom prst="rect">
              <a:avLst/>
            </a:prstGeom>
            <a:noFill/>
            <a:ln w="19050">
              <a:solidFill>
                <a:schemeClr val="bg2"/>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marL="36195" indent="0" fontAlgn="base">
                <a:lnSpc>
                  <a:spcPct val="150000"/>
                </a:lnSpc>
                <a:spcBef>
                  <a:spcPct val="0"/>
                </a:spcBef>
                <a:spcAft>
                  <a:spcPct val="0"/>
                </a:spcAft>
                <a:buClr>
                  <a:schemeClr val="accent1"/>
                </a:buClr>
                <a:buFont typeface="Arial" panose="020B0604020202020204" pitchFamily="34" charset="0"/>
                <a:buNone/>
              </a:pP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164" name="文本框 163"/>
            <p:cNvSpPr txBox="1"/>
            <p:nvPr/>
          </p:nvSpPr>
          <p:spPr>
            <a:xfrm>
              <a:off x="4958" y="4173"/>
              <a:ext cx="850" cy="1013"/>
            </a:xfrm>
            <a:prstGeom prst="rect">
              <a:avLst/>
            </a:prstGeom>
            <a:noFill/>
          </p:spPr>
          <p:txBody>
            <a:bodyPr wrap="square" rtlCol="0">
              <a:noAutofit/>
            </a:bodyPr>
            <a:p>
              <a:pPr algn="l"/>
              <a:r>
                <a:rPr kumimoji="1" lang="en-US" altLang="zh-CN" sz="1000" b="1" dirty="0" smtClean="0">
                  <a:solidFill>
                    <a:schemeClr val="accent1"/>
                  </a:solidFill>
                  <a:latin typeface="微软雅黑" panose="020B0503020204020204" pitchFamily="34" charset="-122"/>
                  <a:ea typeface="微软雅黑" panose="020B0503020204020204" pitchFamily="34" charset="-122"/>
                </a:rPr>
                <a:t>5+9</a:t>
              </a:r>
              <a:endParaRPr kumimoji="1" lang="en-US" altLang="zh-CN" sz="1000" b="1" dirty="0" smtClean="0">
                <a:solidFill>
                  <a:schemeClr val="accent1"/>
                </a:solidFill>
                <a:latin typeface="微软雅黑" panose="020B0503020204020204" pitchFamily="34" charset="-122"/>
                <a:ea typeface="微软雅黑" panose="020B0503020204020204" pitchFamily="34" charset="-122"/>
              </a:endParaRPr>
            </a:p>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产品原子库</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sp>
          <p:nvSpPr>
            <p:cNvPr id="165" name="矩形 164"/>
            <p:cNvSpPr/>
            <p:nvPr/>
          </p:nvSpPr>
          <p:spPr>
            <a:xfrm>
              <a:off x="15819" y="3369"/>
              <a:ext cx="2347" cy="402"/>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产品质量智能评估</a:t>
              </a:r>
              <a:endParaRPr lang="zh-CN" altLang="en-US" sz="1000" b="1">
                <a:solidFill>
                  <a:schemeClr val="bg1"/>
                </a:solidFill>
                <a:latin typeface="微软雅黑" panose="020B0503020204020204" pitchFamily="34" charset="-122"/>
                <a:ea typeface="微软雅黑" panose="020B0503020204020204" pitchFamily="34" charset="-122"/>
              </a:endParaRPr>
            </a:p>
          </p:txBody>
        </p:sp>
        <p:grpSp>
          <p:nvGrpSpPr>
            <p:cNvPr id="173" name="组合 172"/>
            <p:cNvGrpSpPr/>
            <p:nvPr/>
          </p:nvGrpSpPr>
          <p:grpSpPr>
            <a:xfrm>
              <a:off x="15856" y="5533"/>
              <a:ext cx="2347" cy="1106"/>
              <a:chOff x="15916" y="5263"/>
              <a:chExt cx="2347" cy="1106"/>
            </a:xfrm>
          </p:grpSpPr>
          <p:sp>
            <p:nvSpPr>
              <p:cNvPr id="166" name="矩形 165"/>
              <p:cNvSpPr/>
              <p:nvPr/>
            </p:nvSpPr>
            <p:spPr>
              <a:xfrm>
                <a:off x="15916" y="5263"/>
                <a:ext cx="2347" cy="402"/>
              </a:xfrm>
              <a:prstGeom prst="rect">
                <a:avLst/>
              </a:prstGeom>
              <a:solidFill>
                <a:srgbClr val="40B0FF"/>
              </a:solidFill>
              <a:ln w="3175" cap="flat" cmpd="sng" algn="ctr">
                <a:noFill/>
                <a:prstDash val="solid"/>
              </a:ln>
              <a:effectLst/>
            </p:spPr>
            <p:txBody>
              <a:bodyPr rtlCol="0" anchor="ctr"/>
              <a:p>
                <a:pPr algn="ctr"/>
                <a:r>
                  <a:rPr lang="zh-CN" altLang="en-US" sz="1000" b="1">
                    <a:solidFill>
                      <a:schemeClr val="bg1"/>
                    </a:solidFill>
                    <a:latin typeface="微软雅黑" panose="020B0503020204020204" pitchFamily="34" charset="-122"/>
                    <a:ea typeface="微软雅黑" panose="020B0503020204020204" pitchFamily="34" charset="-122"/>
                  </a:rPr>
                  <a:t>优化产品退出管控</a:t>
                </a:r>
                <a:endParaRPr lang="zh-CN" altLang="en-US" sz="1000" b="1">
                  <a:solidFill>
                    <a:schemeClr val="bg1"/>
                  </a:solidFill>
                  <a:latin typeface="微软雅黑" panose="020B0503020204020204" pitchFamily="34" charset="-122"/>
                  <a:ea typeface="微软雅黑" panose="020B0503020204020204" pitchFamily="34" charset="-122"/>
                </a:endParaRPr>
              </a:p>
            </p:txBody>
          </p:sp>
          <p:grpSp>
            <p:nvGrpSpPr>
              <p:cNvPr id="172" name="组合 171"/>
              <p:cNvGrpSpPr/>
              <p:nvPr/>
            </p:nvGrpSpPr>
            <p:grpSpPr>
              <a:xfrm>
                <a:off x="15983" y="5933"/>
                <a:ext cx="2160" cy="436"/>
                <a:chOff x="11289" y="6476"/>
                <a:chExt cx="2482" cy="436"/>
              </a:xfrm>
            </p:grpSpPr>
            <p:sp>
              <p:nvSpPr>
                <p:cNvPr id="170" name="文本框 169"/>
                <p:cNvSpPr txBox="1"/>
                <p:nvPr/>
              </p:nvSpPr>
              <p:spPr>
                <a:xfrm>
                  <a:off x="11289" y="6476"/>
                  <a:ext cx="1184" cy="424"/>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产品下架</a:t>
                  </a:r>
                  <a:endParaRPr kumimoji="0" lang="zh-CN" altLang="en-US"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71" name="文本框 170"/>
                <p:cNvSpPr txBox="1"/>
                <p:nvPr/>
              </p:nvSpPr>
              <p:spPr>
                <a:xfrm>
                  <a:off x="12586" y="6476"/>
                  <a:ext cx="1185" cy="436"/>
                </a:xfrm>
                <a:prstGeom prst="rect">
                  <a:avLst/>
                </a:prstGeom>
                <a:noFill/>
                <a:ln>
                  <a:solidFill>
                    <a:schemeClr val="tx1"/>
                  </a:solidFill>
                  <a:prstDash val="sysDot"/>
                </a:ln>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rPr>
                    <a:t>产品退出</a:t>
                  </a:r>
                  <a:endParaRPr kumimoji="0" lang="zh-CN" sz="900" b="1" i="0" u="none" strike="noStrike" kern="0" cap="none" spc="0" normalizeH="0" baseline="0" noProof="0" dirty="0">
                    <a:ln>
                      <a:noFill/>
                    </a:ln>
                    <a:solidFill>
                      <a:srgbClr val="2E2E3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sp>
          <p:nvSpPr>
            <p:cNvPr id="174" name="矩形 173"/>
            <p:cNvSpPr/>
            <p:nvPr/>
          </p:nvSpPr>
          <p:spPr>
            <a:xfrm>
              <a:off x="15658" y="3307"/>
              <a:ext cx="2729" cy="3503"/>
            </a:xfrm>
            <a:prstGeom prst="rect">
              <a:avLst/>
            </a:prstGeom>
            <a:noFill/>
            <a:ln w="19050">
              <a:solidFill>
                <a:schemeClr val="bg2"/>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marL="36195" indent="0" fontAlgn="base">
                <a:lnSpc>
                  <a:spcPct val="150000"/>
                </a:lnSpc>
                <a:spcBef>
                  <a:spcPct val="0"/>
                </a:spcBef>
                <a:spcAft>
                  <a:spcPct val="0"/>
                </a:spcAft>
                <a:buClr>
                  <a:schemeClr val="accent1"/>
                </a:buClr>
                <a:buFont typeface="Arial" panose="020B0604020202020204" pitchFamily="34" charset="0"/>
                <a:buNone/>
              </a:pPr>
              <a:endParaRPr lang="zh-CN" altLang="en-US" sz="1200" dirty="0">
                <a:solidFill>
                  <a:prstClr val="black"/>
                </a:solidFill>
                <a:latin typeface="微软雅黑" panose="020B0503020204020204" pitchFamily="34" charset="-122"/>
                <a:ea typeface="微软雅黑" panose="020B0503020204020204" pitchFamily="34" charset="-122"/>
              </a:endParaRPr>
            </a:p>
          </p:txBody>
        </p:sp>
        <p:grpSp>
          <p:nvGrpSpPr>
            <p:cNvPr id="132" name="组合 131"/>
            <p:cNvGrpSpPr/>
            <p:nvPr/>
          </p:nvGrpSpPr>
          <p:grpSpPr>
            <a:xfrm>
              <a:off x="5456" y="3974"/>
              <a:ext cx="4717" cy="1204"/>
              <a:chOff x="5456" y="3824"/>
              <a:chExt cx="4717" cy="1204"/>
            </a:xfrm>
          </p:grpSpPr>
          <p:grpSp>
            <p:nvGrpSpPr>
              <p:cNvPr id="38" name="组合 37"/>
              <p:cNvGrpSpPr/>
              <p:nvPr/>
            </p:nvGrpSpPr>
            <p:grpSpPr>
              <a:xfrm rot="0">
                <a:off x="5456" y="3824"/>
                <a:ext cx="4717" cy="1204"/>
                <a:chOff x="2848" y="5231"/>
                <a:chExt cx="5414" cy="1090"/>
              </a:xfrm>
            </p:grpSpPr>
            <p:sp>
              <p:nvSpPr>
                <p:cNvPr id="40" name="椭圆 39"/>
                <p:cNvSpPr/>
                <p:nvPr/>
              </p:nvSpPr>
              <p:spPr>
                <a:xfrm>
                  <a:off x="3092" y="5532"/>
                  <a:ext cx="683" cy="5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文本框 42"/>
                <p:cNvSpPr txBox="1"/>
                <p:nvPr/>
              </p:nvSpPr>
              <p:spPr>
                <a:xfrm>
                  <a:off x="2848" y="5646"/>
                  <a:ext cx="1149" cy="409"/>
                </a:xfrm>
                <a:prstGeom prst="rect">
                  <a:avLst/>
                </a:prstGeom>
                <a:noFill/>
              </p:spPr>
              <p:txBody>
                <a:bodyPr wrap="square" rtlCol="0">
                  <a:spAutoFit/>
                </a:bodyPr>
                <a:p>
                  <a:pPr algn="ctr"/>
                  <a:r>
                    <a:rPr kumimoji="1" lang="zh-CN" altLang="en-US" sz="1000" b="1" dirty="0" smtClean="0">
                      <a:solidFill>
                        <a:schemeClr val="bg1"/>
                      </a:solidFill>
                      <a:latin typeface="微软雅黑" panose="020B0503020204020204" pitchFamily="34" charset="-122"/>
                      <a:ea typeface="微软雅黑" panose="020B0503020204020204" pitchFamily="34" charset="-122"/>
                    </a:rPr>
                    <a:t>产品</a:t>
                  </a:r>
                  <a:endParaRPr kumimoji="1" lang="zh-CN" altLang="en-US" sz="1000" b="1" dirty="0" smtClean="0">
                    <a:solidFill>
                      <a:schemeClr val="bg1"/>
                    </a:solidFill>
                    <a:latin typeface="微软雅黑" panose="020B0503020204020204" pitchFamily="34" charset="-122"/>
                    <a:ea typeface="微软雅黑" panose="020B0503020204020204" pitchFamily="34" charset="-122"/>
                  </a:endParaRPr>
                </a:p>
              </p:txBody>
            </p:sp>
            <p:grpSp>
              <p:nvGrpSpPr>
                <p:cNvPr id="52" name="组合 51"/>
                <p:cNvGrpSpPr/>
                <p:nvPr/>
              </p:nvGrpSpPr>
              <p:grpSpPr>
                <a:xfrm rot="0">
                  <a:off x="5703" y="5523"/>
                  <a:ext cx="859" cy="617"/>
                  <a:chOff x="7767" y="4027"/>
                  <a:chExt cx="859" cy="617"/>
                </a:xfrm>
              </p:grpSpPr>
              <p:sp>
                <p:nvSpPr>
                  <p:cNvPr id="61" name="椭圆 60"/>
                  <p:cNvSpPr/>
                  <p:nvPr/>
                </p:nvSpPr>
                <p:spPr>
                  <a:xfrm>
                    <a:off x="7854" y="4036"/>
                    <a:ext cx="683" cy="5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3" name="文本框 62"/>
                  <p:cNvSpPr txBox="1"/>
                  <p:nvPr/>
                </p:nvSpPr>
                <p:spPr>
                  <a:xfrm>
                    <a:off x="7767" y="4027"/>
                    <a:ext cx="859" cy="617"/>
                  </a:xfrm>
                  <a:prstGeom prst="rect">
                    <a:avLst/>
                  </a:prstGeom>
                  <a:noFill/>
                </p:spPr>
                <p:txBody>
                  <a:bodyPr wrap="square" rtlCol="0">
                    <a:noAutofit/>
                  </a:bodyPr>
                  <a:p>
                    <a:pPr algn="ctr"/>
                    <a:r>
                      <a:rPr kumimoji="1" lang="zh-CN" altLang="en-US" sz="1000" b="1" dirty="0" smtClean="0">
                        <a:solidFill>
                          <a:schemeClr val="bg1"/>
                        </a:solidFill>
                        <a:latin typeface="微软雅黑" panose="020B0503020204020204" pitchFamily="34" charset="-122"/>
                        <a:ea typeface="微软雅黑" panose="020B0503020204020204" pitchFamily="34" charset="-122"/>
                      </a:rPr>
                      <a:t>原子</a:t>
                    </a:r>
                    <a:endParaRPr kumimoji="1" lang="zh-CN" altLang="en-US" sz="1000" b="1" dirty="0" smtClean="0">
                      <a:solidFill>
                        <a:schemeClr val="bg1"/>
                      </a:solidFill>
                      <a:latin typeface="微软雅黑" panose="020B0503020204020204" pitchFamily="34" charset="-122"/>
                      <a:ea typeface="微软雅黑" panose="020B0503020204020204" pitchFamily="34" charset="-122"/>
                    </a:endParaRPr>
                  </a:p>
                  <a:p>
                    <a:pPr algn="ctr"/>
                    <a:r>
                      <a:rPr kumimoji="1" lang="zh-CN" altLang="en-US" sz="1000" b="1" dirty="0" smtClean="0">
                        <a:solidFill>
                          <a:schemeClr val="bg1"/>
                        </a:solidFill>
                        <a:latin typeface="微软雅黑" panose="020B0503020204020204" pitchFamily="34" charset="-122"/>
                        <a:ea typeface="微软雅黑" panose="020B0503020204020204" pitchFamily="34" charset="-122"/>
                      </a:rPr>
                      <a:t>产品</a:t>
                    </a:r>
                    <a:endParaRPr kumimoji="1" lang="zh-CN" altLang="en-US" sz="1000" b="1" dirty="0" smtClean="0">
                      <a:solidFill>
                        <a:schemeClr val="bg1"/>
                      </a:solidFill>
                      <a:latin typeface="微软雅黑" panose="020B0503020204020204" pitchFamily="34" charset="-122"/>
                      <a:ea typeface="微软雅黑" panose="020B0503020204020204" pitchFamily="34" charset="-122"/>
                    </a:endParaRPr>
                  </a:p>
                </p:txBody>
              </p:sp>
            </p:grpSp>
            <p:cxnSp>
              <p:nvCxnSpPr>
                <p:cNvPr id="64" name="直接连接符 63"/>
                <p:cNvCxnSpPr>
                  <a:stCxn id="40" idx="6"/>
                </p:cNvCxnSpPr>
                <p:nvPr/>
              </p:nvCxnSpPr>
              <p:spPr>
                <a:xfrm>
                  <a:off x="3775" y="5830"/>
                  <a:ext cx="2015" cy="0"/>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sp>
              <p:nvSpPr>
                <p:cNvPr id="65" name="圆角矩形 64"/>
                <p:cNvSpPr/>
                <p:nvPr/>
              </p:nvSpPr>
              <p:spPr>
                <a:xfrm>
                  <a:off x="3972" y="5326"/>
                  <a:ext cx="1572" cy="362"/>
                </a:xfrm>
                <a:prstGeom prst="roundRect">
                  <a:avLst>
                    <a:gd name="adj" fmla="val 0"/>
                  </a:avLst>
                </a:prstGeom>
                <a:solidFill>
                  <a:schemeClr val="accent1">
                    <a:lumMod val="20000"/>
                    <a:lumOff val="80000"/>
                  </a:schemeClr>
                </a:solidFill>
                <a:ln w="12700" cmpd="sng">
                  <a:solidFill>
                    <a:schemeClr val="accent1">
                      <a:lumMod val="20000"/>
                      <a:lumOff val="80000"/>
                    </a:schemeClr>
                  </a:solidFill>
                  <a:prstDash val="solid"/>
                </a:ln>
                <a:effectLst>
                  <a:outerShdw blurRad="76200" dir="18900000" sy="23000" kx="-1200000" algn="b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b="1">
                      <a:solidFill>
                        <a:schemeClr val="tx1"/>
                      </a:solidFill>
                    </a:rPr>
                    <a:t>原子能力解耦</a:t>
                  </a:r>
                  <a:endParaRPr lang="zh-CN" altLang="en-US" sz="900" b="1">
                    <a:solidFill>
                      <a:schemeClr val="tx1"/>
                    </a:solidFill>
                  </a:endParaRPr>
                </a:p>
              </p:txBody>
            </p:sp>
            <p:grpSp>
              <p:nvGrpSpPr>
                <p:cNvPr id="67" name="组合 66"/>
                <p:cNvGrpSpPr/>
                <p:nvPr/>
              </p:nvGrpSpPr>
              <p:grpSpPr>
                <a:xfrm rot="0">
                  <a:off x="7300" y="5231"/>
                  <a:ext cx="962" cy="595"/>
                  <a:chOff x="8053" y="3726"/>
                  <a:chExt cx="962" cy="595"/>
                </a:xfrm>
              </p:grpSpPr>
              <p:sp>
                <p:nvSpPr>
                  <p:cNvPr id="68" name="椭圆 67"/>
                  <p:cNvSpPr/>
                  <p:nvPr/>
                </p:nvSpPr>
                <p:spPr>
                  <a:xfrm>
                    <a:off x="8172" y="3726"/>
                    <a:ext cx="683" cy="5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9" name="文本框 68"/>
                  <p:cNvSpPr txBox="1"/>
                  <p:nvPr/>
                </p:nvSpPr>
                <p:spPr>
                  <a:xfrm>
                    <a:off x="8053" y="3828"/>
                    <a:ext cx="962" cy="305"/>
                  </a:xfrm>
                  <a:prstGeom prst="rect">
                    <a:avLst/>
                  </a:prstGeom>
                  <a:noFill/>
                </p:spPr>
                <p:txBody>
                  <a:bodyPr wrap="square" rtlCol="0">
                    <a:noAutofit/>
                  </a:bodyPr>
                  <a:p>
                    <a:pPr algn="ctr"/>
                    <a:r>
                      <a:rPr kumimoji="1" lang="zh-CN" altLang="en-US" sz="1000" b="1" dirty="0" smtClean="0">
                        <a:solidFill>
                          <a:schemeClr val="bg1"/>
                        </a:solidFill>
                        <a:latin typeface="微软雅黑" panose="020B0503020204020204" pitchFamily="34" charset="-122"/>
                        <a:ea typeface="微软雅黑" panose="020B0503020204020204" pitchFamily="34" charset="-122"/>
                      </a:rPr>
                      <a:t>商品</a:t>
                    </a:r>
                    <a:endParaRPr kumimoji="1" lang="zh-CN" altLang="en-US" sz="1000" b="1" dirty="0" smtClean="0">
                      <a:solidFill>
                        <a:schemeClr val="bg1"/>
                      </a:solidFill>
                      <a:latin typeface="微软雅黑" panose="020B0503020204020204" pitchFamily="34" charset="-122"/>
                      <a:ea typeface="微软雅黑" panose="020B0503020204020204" pitchFamily="34" charset="-122"/>
                    </a:endParaRPr>
                  </a:p>
                </p:txBody>
              </p:sp>
            </p:grpSp>
            <p:cxnSp>
              <p:nvCxnSpPr>
                <p:cNvPr id="73" name="直接连接符 72"/>
                <p:cNvCxnSpPr/>
                <p:nvPr/>
              </p:nvCxnSpPr>
              <p:spPr>
                <a:xfrm flipH="1">
                  <a:off x="6513" y="5550"/>
                  <a:ext cx="956" cy="289"/>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sp>
              <p:nvSpPr>
                <p:cNvPr id="74" name="圆角矩形 73"/>
                <p:cNvSpPr/>
                <p:nvPr/>
              </p:nvSpPr>
              <p:spPr>
                <a:xfrm>
                  <a:off x="3956" y="5959"/>
                  <a:ext cx="1572" cy="362"/>
                </a:xfrm>
                <a:prstGeom prst="roundRect">
                  <a:avLst>
                    <a:gd name="adj" fmla="val 0"/>
                  </a:avLst>
                </a:prstGeom>
                <a:solidFill>
                  <a:schemeClr val="accent1">
                    <a:lumMod val="20000"/>
                    <a:lumOff val="80000"/>
                  </a:schemeClr>
                </a:solidFill>
                <a:ln w="12700" cmpd="sng">
                  <a:solidFill>
                    <a:schemeClr val="accent1">
                      <a:lumMod val="20000"/>
                      <a:lumOff val="80000"/>
                    </a:schemeClr>
                  </a:solidFill>
                  <a:prstDash val="solid"/>
                </a:ln>
                <a:effectLst>
                  <a:outerShdw blurRad="76200" dir="18900000" sy="23000" kx="-1200000" algn="b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b="1">
                      <a:solidFill>
                        <a:schemeClr val="tx1"/>
                      </a:solidFill>
                    </a:rPr>
                    <a:t>产品组合关系</a:t>
                  </a:r>
                  <a:endParaRPr lang="zh-CN" altLang="en-US" sz="900" b="1">
                    <a:solidFill>
                      <a:schemeClr val="tx1"/>
                    </a:solidFill>
                  </a:endParaRPr>
                </a:p>
              </p:txBody>
            </p:sp>
            <p:cxnSp>
              <p:nvCxnSpPr>
                <p:cNvPr id="70" name="直接连接符 69"/>
                <p:cNvCxnSpPr>
                  <a:stCxn id="74" idx="1"/>
                </p:cNvCxnSpPr>
                <p:nvPr/>
              </p:nvCxnSpPr>
              <p:spPr>
                <a:xfrm flipH="1" flipV="1">
                  <a:off x="3723" y="5820"/>
                  <a:ext cx="233" cy="320"/>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cxnSp>
              <p:nvCxnSpPr>
                <p:cNvPr id="95" name="直接连接符 94"/>
                <p:cNvCxnSpPr>
                  <a:stCxn id="65" idx="1"/>
                </p:cNvCxnSpPr>
                <p:nvPr/>
              </p:nvCxnSpPr>
              <p:spPr>
                <a:xfrm flipH="1">
                  <a:off x="3756" y="5507"/>
                  <a:ext cx="216" cy="297"/>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grpSp>
          <p:sp>
            <p:nvSpPr>
              <p:cNvPr id="120" name="文本框 119"/>
              <p:cNvSpPr txBox="1"/>
              <p:nvPr/>
            </p:nvSpPr>
            <p:spPr>
              <a:xfrm>
                <a:off x="8478" y="3824"/>
                <a:ext cx="1373" cy="267"/>
              </a:xfrm>
              <a:prstGeom prst="rect">
                <a:avLst/>
              </a:prstGeom>
              <a:noFill/>
            </p:spPr>
            <p:txBody>
              <a:bodyPr wrap="square" rtlCol="0">
                <a:noAutofit/>
              </a:bodyPr>
              <a:p>
                <a:pPr algn="l"/>
                <a:r>
                  <a:rPr kumimoji="1" lang="zh-CN" sz="800" b="1" dirty="0" smtClean="0">
                    <a:latin typeface="微软雅黑" panose="020B0503020204020204" pitchFamily="34" charset="-122"/>
                    <a:ea typeface="微软雅黑" panose="020B0503020204020204" pitchFamily="34" charset="-122"/>
                  </a:rPr>
                  <a:t>定价发布、</a:t>
                </a:r>
                <a:endParaRPr kumimoji="1" lang="zh-CN" sz="800" b="1" dirty="0" smtClean="0">
                  <a:latin typeface="微软雅黑" panose="020B0503020204020204" pitchFamily="34" charset="-122"/>
                  <a:ea typeface="微软雅黑" panose="020B0503020204020204" pitchFamily="34" charset="-122"/>
                </a:endParaRPr>
              </a:p>
              <a:p>
                <a:pPr algn="l"/>
                <a:r>
                  <a:rPr kumimoji="1" lang="zh-CN" sz="800" b="1" dirty="0" smtClean="0">
                    <a:latin typeface="微软雅黑" panose="020B0503020204020204" pitchFamily="34" charset="-122"/>
                    <a:ea typeface="微软雅黑" panose="020B0503020204020204" pitchFamily="34" charset="-122"/>
                  </a:rPr>
                  <a:t>业务规</a:t>
                </a:r>
                <a:r>
                  <a:rPr kumimoji="1" lang="zh-CN" sz="900" b="1" dirty="0" smtClean="0">
                    <a:latin typeface="微软雅黑" panose="020B0503020204020204" pitchFamily="34" charset="-122"/>
                    <a:ea typeface="微软雅黑" panose="020B0503020204020204" pitchFamily="34" charset="-122"/>
                  </a:rPr>
                  <a:t>则</a:t>
                </a:r>
                <a:endParaRPr kumimoji="1" lang="zh-CN" sz="900" b="1" dirty="0" smtClean="0">
                  <a:latin typeface="微软雅黑" panose="020B0503020204020204" pitchFamily="34" charset="-122"/>
                  <a:ea typeface="微软雅黑" panose="020B0503020204020204" pitchFamily="34" charset="-122"/>
                </a:endParaRPr>
              </a:p>
            </p:txBody>
          </p:sp>
          <p:sp>
            <p:nvSpPr>
              <p:cNvPr id="122" name="文本框 121"/>
              <p:cNvSpPr txBox="1"/>
              <p:nvPr/>
            </p:nvSpPr>
            <p:spPr>
              <a:xfrm>
                <a:off x="8590" y="4561"/>
                <a:ext cx="1126" cy="288"/>
              </a:xfrm>
              <a:prstGeom prst="rect">
                <a:avLst/>
              </a:prstGeom>
              <a:noFill/>
            </p:spPr>
            <p:txBody>
              <a:bodyPr wrap="square" rtlCol="0">
                <a:noAutofit/>
              </a:bodyPr>
              <a:p>
                <a:pPr algn="l"/>
                <a:r>
                  <a:rPr kumimoji="1" lang="zh-CN" sz="800" b="1" dirty="0" smtClean="0">
                    <a:latin typeface="微软雅黑" panose="020B0503020204020204" pitchFamily="34" charset="-122"/>
                    <a:ea typeface="微软雅黑" panose="020B0503020204020204" pitchFamily="34" charset="-122"/>
                  </a:rPr>
                  <a:t>产品级</a:t>
                </a:r>
                <a:endParaRPr kumimoji="1" lang="zh-CN" sz="800" b="1" dirty="0" smtClean="0">
                  <a:latin typeface="微软雅黑" panose="020B0503020204020204" pitchFamily="34" charset="-122"/>
                  <a:ea typeface="微软雅黑" panose="020B0503020204020204" pitchFamily="34" charset="-122"/>
                </a:endParaRPr>
              </a:p>
              <a:p>
                <a:pPr algn="l"/>
                <a:r>
                  <a:rPr kumimoji="1" lang="zh-CN" sz="800" b="1" dirty="0" smtClean="0">
                    <a:latin typeface="微软雅黑" panose="020B0503020204020204" pitchFamily="34" charset="-122"/>
                    <a:ea typeface="微软雅黑" panose="020B0503020204020204" pitchFamily="34" charset="-122"/>
                  </a:rPr>
                  <a:t>组合</a:t>
                </a:r>
                <a:endParaRPr kumimoji="1" lang="zh-CN" sz="800" b="1" dirty="0" smtClean="0">
                  <a:latin typeface="微软雅黑" panose="020B0503020204020204" pitchFamily="34" charset="-122"/>
                  <a:ea typeface="微软雅黑" panose="020B0503020204020204" pitchFamily="34" charset="-122"/>
                </a:endParaRPr>
              </a:p>
            </p:txBody>
          </p:sp>
        </p:grpSp>
        <p:grpSp>
          <p:nvGrpSpPr>
            <p:cNvPr id="133" name="组合 132"/>
            <p:cNvGrpSpPr/>
            <p:nvPr/>
          </p:nvGrpSpPr>
          <p:grpSpPr>
            <a:xfrm>
              <a:off x="5404" y="5414"/>
              <a:ext cx="4630" cy="913"/>
              <a:chOff x="5404" y="5447"/>
              <a:chExt cx="4630" cy="1107"/>
            </a:xfrm>
          </p:grpSpPr>
          <p:grpSp>
            <p:nvGrpSpPr>
              <p:cNvPr id="125" name="组合 124"/>
              <p:cNvGrpSpPr/>
              <p:nvPr/>
            </p:nvGrpSpPr>
            <p:grpSpPr>
              <a:xfrm>
                <a:off x="5404" y="5447"/>
                <a:ext cx="3172" cy="1107"/>
                <a:chOff x="5824" y="5447"/>
                <a:chExt cx="3172" cy="1107"/>
              </a:xfrm>
            </p:grpSpPr>
            <p:grpSp>
              <p:nvGrpSpPr>
                <p:cNvPr id="119" name="组合 118"/>
                <p:cNvGrpSpPr/>
                <p:nvPr/>
              </p:nvGrpSpPr>
              <p:grpSpPr>
                <a:xfrm>
                  <a:off x="5824" y="5516"/>
                  <a:ext cx="3172" cy="1038"/>
                  <a:chOff x="9312" y="4193"/>
                  <a:chExt cx="1988" cy="1038"/>
                </a:xfrm>
              </p:grpSpPr>
              <p:sp>
                <p:nvSpPr>
                  <p:cNvPr id="80" name="圆角矩形 79"/>
                  <p:cNvSpPr/>
                  <p:nvPr/>
                </p:nvSpPr>
                <p:spPr>
                  <a:xfrm>
                    <a:off x="10270" y="4193"/>
                    <a:ext cx="1030" cy="400"/>
                  </a:xfrm>
                  <a:prstGeom prst="roundRect">
                    <a:avLst>
                      <a:gd name="adj" fmla="val 0"/>
                    </a:avLst>
                  </a:prstGeom>
                  <a:solidFill>
                    <a:schemeClr val="accent1">
                      <a:lumMod val="20000"/>
                      <a:lumOff val="80000"/>
                    </a:schemeClr>
                  </a:solidFill>
                  <a:ln w="12700" cmpd="sng">
                    <a:solidFill>
                      <a:schemeClr val="accent1">
                        <a:lumMod val="20000"/>
                        <a:lumOff val="80000"/>
                      </a:schemeClr>
                    </a:solidFill>
                    <a:prstDash val="solid"/>
                  </a:ln>
                  <a:effectLst>
                    <a:outerShdw blurRad="76200" dir="18900000" sy="23000" kx="-1200000" algn="b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b="1">
                        <a:solidFill>
                          <a:schemeClr val="tx1"/>
                        </a:solidFill>
                      </a:rPr>
                      <a:t>营销活动</a:t>
                    </a:r>
                    <a:endParaRPr lang="zh-CN" altLang="en-US" sz="900" b="1">
                      <a:solidFill>
                        <a:schemeClr val="tx1"/>
                      </a:solidFill>
                    </a:endParaRPr>
                  </a:p>
                </p:txBody>
              </p:sp>
              <p:sp>
                <p:nvSpPr>
                  <p:cNvPr id="109" name="椭圆 108"/>
                  <p:cNvSpPr/>
                  <p:nvPr/>
                </p:nvSpPr>
                <p:spPr>
                  <a:xfrm>
                    <a:off x="9439" y="4441"/>
                    <a:ext cx="414" cy="657"/>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2" name="文本框 111"/>
                  <p:cNvSpPr txBox="1"/>
                  <p:nvPr/>
                </p:nvSpPr>
                <p:spPr>
                  <a:xfrm>
                    <a:off x="9312" y="4542"/>
                    <a:ext cx="626" cy="284"/>
                  </a:xfrm>
                  <a:prstGeom prst="rect">
                    <a:avLst/>
                  </a:prstGeom>
                  <a:noFill/>
                </p:spPr>
                <p:txBody>
                  <a:bodyPr wrap="square" rtlCol="0">
                    <a:noAutofit/>
                  </a:bodyPr>
                  <a:p>
                    <a:pPr algn="ctr"/>
                    <a:r>
                      <a:rPr kumimoji="1" lang="zh-CN" altLang="en-US" sz="1000" b="1" dirty="0" smtClean="0">
                        <a:solidFill>
                          <a:schemeClr val="bg1"/>
                        </a:solidFill>
                        <a:latin typeface="微软雅黑" panose="020B0503020204020204" pitchFamily="34" charset="-122"/>
                        <a:ea typeface="微软雅黑" panose="020B0503020204020204" pitchFamily="34" charset="-122"/>
                      </a:rPr>
                      <a:t>商品</a:t>
                    </a:r>
                    <a:endParaRPr kumimoji="1" lang="zh-CN" altLang="en-US" sz="1000" b="1" dirty="0" smtClean="0">
                      <a:solidFill>
                        <a:schemeClr val="bg1"/>
                      </a:solidFill>
                      <a:latin typeface="微软雅黑" panose="020B0503020204020204" pitchFamily="34" charset="-122"/>
                      <a:ea typeface="微软雅黑" panose="020B0503020204020204" pitchFamily="34" charset="-122"/>
                    </a:endParaRPr>
                  </a:p>
                </p:txBody>
              </p:sp>
              <p:sp>
                <p:nvSpPr>
                  <p:cNvPr id="116" name="圆角矩形 115"/>
                  <p:cNvSpPr/>
                  <p:nvPr/>
                </p:nvSpPr>
                <p:spPr>
                  <a:xfrm>
                    <a:off x="10270" y="4878"/>
                    <a:ext cx="1030" cy="353"/>
                  </a:xfrm>
                  <a:prstGeom prst="roundRect">
                    <a:avLst>
                      <a:gd name="adj" fmla="val 0"/>
                    </a:avLst>
                  </a:prstGeom>
                  <a:solidFill>
                    <a:schemeClr val="accent1">
                      <a:lumMod val="20000"/>
                      <a:lumOff val="80000"/>
                    </a:schemeClr>
                  </a:solidFill>
                  <a:ln w="12700" cmpd="sng">
                    <a:solidFill>
                      <a:schemeClr val="accent1">
                        <a:lumMod val="20000"/>
                        <a:lumOff val="80000"/>
                      </a:schemeClr>
                    </a:solidFill>
                    <a:prstDash val="solid"/>
                  </a:ln>
                  <a:effectLst>
                    <a:outerShdw blurRad="76200" dir="18900000" sy="23000" kx="-1200000" algn="b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b="1">
                        <a:solidFill>
                          <a:schemeClr val="tx1"/>
                        </a:solidFill>
                      </a:rPr>
                      <a:t>融合商品</a:t>
                    </a:r>
                    <a:endParaRPr lang="zh-CN" altLang="en-US" sz="900" b="1">
                      <a:solidFill>
                        <a:schemeClr val="tx1"/>
                      </a:solidFill>
                    </a:endParaRPr>
                  </a:p>
                </p:txBody>
              </p:sp>
              <p:cxnSp>
                <p:nvCxnSpPr>
                  <p:cNvPr id="117" name="直接连接符 116"/>
                  <p:cNvCxnSpPr>
                    <a:endCxn id="80" idx="1"/>
                  </p:cNvCxnSpPr>
                  <p:nvPr/>
                </p:nvCxnSpPr>
                <p:spPr>
                  <a:xfrm flipV="1">
                    <a:off x="9854" y="4393"/>
                    <a:ext cx="416" cy="393"/>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cxnSp>
                <p:nvCxnSpPr>
                  <p:cNvPr id="118" name="直接连接符 117"/>
                  <p:cNvCxnSpPr>
                    <a:endCxn id="116" idx="1"/>
                  </p:cNvCxnSpPr>
                  <p:nvPr/>
                </p:nvCxnSpPr>
                <p:spPr>
                  <a:xfrm>
                    <a:off x="9768" y="4799"/>
                    <a:ext cx="502" cy="256"/>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grpSp>
            <p:sp>
              <p:nvSpPr>
                <p:cNvPr id="123" name="文本框 122"/>
                <p:cNvSpPr txBox="1"/>
                <p:nvPr/>
              </p:nvSpPr>
              <p:spPr>
                <a:xfrm>
                  <a:off x="6418" y="5447"/>
                  <a:ext cx="1373" cy="267"/>
                </a:xfrm>
                <a:prstGeom prst="rect">
                  <a:avLst/>
                </a:prstGeom>
                <a:noFill/>
              </p:spPr>
              <p:txBody>
                <a:bodyPr wrap="square" rtlCol="0">
                  <a:noAutofit/>
                </a:bodyPr>
                <a:p>
                  <a:pPr algn="l"/>
                  <a:r>
                    <a:rPr kumimoji="1" lang="zh-CN" sz="900" b="1" dirty="0" smtClean="0">
                      <a:latin typeface="微软雅黑" panose="020B0503020204020204" pitchFamily="34" charset="-122"/>
                      <a:ea typeface="微软雅黑" panose="020B0503020204020204" pitchFamily="34" charset="-122"/>
                    </a:rPr>
                    <a:t>营销策略</a:t>
                  </a:r>
                  <a:endParaRPr kumimoji="1" lang="zh-CN" sz="900" b="1" dirty="0" smtClean="0">
                    <a:latin typeface="微软雅黑" panose="020B0503020204020204" pitchFamily="34" charset="-122"/>
                    <a:ea typeface="微软雅黑" panose="020B0503020204020204" pitchFamily="34" charset="-122"/>
                  </a:endParaRPr>
                </a:p>
              </p:txBody>
            </p:sp>
            <p:sp>
              <p:nvSpPr>
                <p:cNvPr id="124" name="文本框 123"/>
                <p:cNvSpPr txBox="1"/>
                <p:nvPr/>
              </p:nvSpPr>
              <p:spPr>
                <a:xfrm>
                  <a:off x="6476" y="6241"/>
                  <a:ext cx="1373" cy="267"/>
                </a:xfrm>
                <a:prstGeom prst="rect">
                  <a:avLst/>
                </a:prstGeom>
                <a:noFill/>
              </p:spPr>
              <p:txBody>
                <a:bodyPr wrap="square" rtlCol="0">
                  <a:noAutofit/>
                </a:bodyPr>
                <a:p>
                  <a:pPr algn="l"/>
                  <a:r>
                    <a:rPr kumimoji="1" lang="zh-CN" sz="900" b="1" dirty="0" smtClean="0">
                      <a:latin typeface="微软雅黑" panose="020B0503020204020204" pitchFamily="34" charset="-122"/>
                      <a:ea typeface="微软雅黑" panose="020B0503020204020204" pitchFamily="34" charset="-122"/>
                    </a:rPr>
                    <a:t>商品级</a:t>
                  </a:r>
                  <a:endParaRPr kumimoji="1" lang="zh-CN" sz="900" b="1" dirty="0" smtClean="0">
                    <a:latin typeface="微软雅黑" panose="020B0503020204020204" pitchFamily="34" charset="-122"/>
                    <a:ea typeface="微软雅黑" panose="020B0503020204020204" pitchFamily="34" charset="-122"/>
                  </a:endParaRPr>
                </a:p>
                <a:p>
                  <a:pPr algn="l"/>
                  <a:r>
                    <a:rPr kumimoji="1" lang="zh-CN" sz="900" b="1" dirty="0" smtClean="0">
                      <a:latin typeface="微软雅黑" panose="020B0503020204020204" pitchFamily="34" charset="-122"/>
                      <a:ea typeface="微软雅黑" panose="020B0503020204020204" pitchFamily="34" charset="-122"/>
                    </a:rPr>
                    <a:t>组合</a:t>
                  </a:r>
                  <a:endParaRPr kumimoji="1" lang="zh-CN" sz="900" b="1" dirty="0" smtClean="0">
                    <a:latin typeface="微软雅黑" panose="020B0503020204020204" pitchFamily="34" charset="-122"/>
                    <a:ea typeface="微软雅黑" panose="020B0503020204020204" pitchFamily="34" charset="-122"/>
                  </a:endParaRPr>
                </a:p>
              </p:txBody>
            </p:sp>
          </p:grpSp>
          <p:grpSp>
            <p:nvGrpSpPr>
              <p:cNvPr id="130" name="组合 129"/>
              <p:cNvGrpSpPr/>
              <p:nvPr/>
            </p:nvGrpSpPr>
            <p:grpSpPr>
              <a:xfrm>
                <a:off x="6369" y="5816"/>
                <a:ext cx="3665" cy="595"/>
                <a:chOff x="7791" y="5541"/>
                <a:chExt cx="3665" cy="595"/>
              </a:xfrm>
            </p:grpSpPr>
            <p:cxnSp>
              <p:nvCxnSpPr>
                <p:cNvPr id="126" name="直接连接符 125"/>
                <p:cNvCxnSpPr>
                  <a:endCxn id="129" idx="1"/>
                </p:cNvCxnSpPr>
                <p:nvPr/>
              </p:nvCxnSpPr>
              <p:spPr>
                <a:xfrm flipV="1">
                  <a:off x="7791" y="5802"/>
                  <a:ext cx="2425" cy="33"/>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grpSp>
              <p:nvGrpSpPr>
                <p:cNvPr id="127" name="组合 126"/>
                <p:cNvGrpSpPr/>
                <p:nvPr/>
              </p:nvGrpSpPr>
              <p:grpSpPr>
                <a:xfrm rot="0">
                  <a:off x="10216" y="5541"/>
                  <a:ext cx="1240" cy="595"/>
                  <a:chOff x="7765" y="4036"/>
                  <a:chExt cx="1240" cy="595"/>
                </a:xfrm>
              </p:grpSpPr>
              <p:sp>
                <p:nvSpPr>
                  <p:cNvPr id="128" name="椭圆 127"/>
                  <p:cNvSpPr/>
                  <p:nvPr/>
                </p:nvSpPr>
                <p:spPr>
                  <a:xfrm>
                    <a:off x="7854" y="4036"/>
                    <a:ext cx="1122" cy="5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9" name="文本框 128"/>
                  <p:cNvSpPr txBox="1"/>
                  <p:nvPr/>
                </p:nvSpPr>
                <p:spPr>
                  <a:xfrm>
                    <a:off x="7765" y="4107"/>
                    <a:ext cx="1240" cy="379"/>
                  </a:xfrm>
                  <a:prstGeom prst="rect">
                    <a:avLst/>
                  </a:prstGeom>
                  <a:noFill/>
                </p:spPr>
                <p:txBody>
                  <a:bodyPr wrap="square" rtlCol="0">
                    <a:noAutofit/>
                  </a:bodyPr>
                  <a:p>
                    <a:pPr algn="ctr"/>
                    <a:r>
                      <a:rPr kumimoji="1" lang="zh-CN" altLang="en-US" sz="1000" b="1" dirty="0" smtClean="0">
                        <a:solidFill>
                          <a:schemeClr val="bg1"/>
                        </a:solidFill>
                        <a:latin typeface="微软雅黑" panose="020B0503020204020204" pitchFamily="34" charset="-122"/>
                        <a:ea typeface="微软雅黑" panose="020B0503020204020204" pitchFamily="34" charset="-122"/>
                      </a:rPr>
                      <a:t>渠道销售</a:t>
                    </a:r>
                    <a:endParaRPr kumimoji="1" lang="zh-CN" altLang="en-US" sz="1000" b="1" dirty="0" smtClean="0">
                      <a:solidFill>
                        <a:schemeClr val="bg1"/>
                      </a:solidFill>
                      <a:latin typeface="微软雅黑" panose="020B0503020204020204" pitchFamily="34" charset="-122"/>
                      <a:ea typeface="微软雅黑" panose="020B0503020204020204" pitchFamily="34" charset="-122"/>
                    </a:endParaRPr>
                  </a:p>
                </p:txBody>
              </p:sp>
            </p:grpSp>
          </p:grpSp>
        </p:grpSp>
        <p:sp>
          <p:nvSpPr>
            <p:cNvPr id="131" name="文本框 130"/>
            <p:cNvSpPr txBox="1"/>
            <p:nvPr/>
          </p:nvSpPr>
          <p:spPr>
            <a:xfrm>
              <a:off x="4958" y="5526"/>
              <a:ext cx="850" cy="1013"/>
            </a:xfrm>
            <a:prstGeom prst="rect">
              <a:avLst/>
            </a:prstGeom>
            <a:noFill/>
          </p:spPr>
          <p:txBody>
            <a:bodyPr wrap="square" rtlCol="0">
              <a:noAutofit/>
            </a:bodyPr>
            <a:p>
              <a:pPr algn="l"/>
              <a:r>
                <a:rPr kumimoji="1" lang="zh-CN" altLang="en-US" sz="1000" b="1" dirty="0" smtClean="0">
                  <a:solidFill>
                    <a:schemeClr val="accent1"/>
                  </a:solidFill>
                  <a:latin typeface="微软雅黑" panose="020B0503020204020204" pitchFamily="34" charset="-122"/>
                  <a:ea typeface="微软雅黑" panose="020B0503020204020204" pitchFamily="34" charset="-122"/>
                </a:rPr>
                <a:t>产品灵活封装</a:t>
              </a:r>
              <a:endParaRPr kumimoji="1" lang="zh-CN" altLang="en-US" sz="1000" b="1" dirty="0" smtClean="0">
                <a:solidFill>
                  <a:schemeClr val="accent1"/>
                </a:solidFill>
                <a:latin typeface="微软雅黑" panose="020B0503020204020204" pitchFamily="34" charset="-122"/>
                <a:ea typeface="微软雅黑" panose="020B0503020204020204" pitchFamily="34" charset="-122"/>
              </a:endParaRPr>
            </a:p>
          </p:txBody>
        </p:sp>
        <p:cxnSp>
          <p:nvCxnSpPr>
            <p:cNvPr id="134" name="直接连接符 133"/>
            <p:cNvCxnSpPr>
              <a:endCxn id="63" idx="3"/>
            </p:cNvCxnSpPr>
            <p:nvPr/>
          </p:nvCxnSpPr>
          <p:spPr>
            <a:xfrm flipH="1" flipV="1">
              <a:off x="8691" y="4637"/>
              <a:ext cx="682" cy="206"/>
            </a:xfrm>
            <a:prstGeom prst="line">
              <a:avLst/>
            </a:prstGeom>
            <a:ln w="12700" cmpd="sng">
              <a:solidFill>
                <a:schemeClr val="accent1">
                  <a:shade val="50000"/>
                </a:schemeClr>
              </a:solidFill>
              <a:prstDash val="dashDot"/>
            </a:ln>
          </p:spPr>
          <p:style>
            <a:lnRef idx="2">
              <a:schemeClr val="accent1"/>
            </a:lnRef>
            <a:fillRef idx="0">
              <a:srgbClr val="FFFFFF"/>
            </a:fillRef>
            <a:effectRef idx="0">
              <a:srgbClr val="FFFFFF"/>
            </a:effectRef>
            <a:fontRef idx="minor">
              <a:schemeClr val="tx1"/>
            </a:fontRef>
          </p:style>
        </p:cxnSp>
        <p:sp>
          <p:nvSpPr>
            <p:cNvPr id="135" name="圆角矩形 134"/>
            <p:cNvSpPr/>
            <p:nvPr/>
          </p:nvSpPr>
          <p:spPr>
            <a:xfrm>
              <a:off x="9439" y="4778"/>
              <a:ext cx="772" cy="399"/>
            </a:xfrm>
            <a:prstGeom prst="roundRect">
              <a:avLst>
                <a:gd name="adj" fmla="val 0"/>
              </a:avLst>
            </a:prstGeom>
            <a:solidFill>
              <a:schemeClr val="accent1">
                <a:lumMod val="20000"/>
                <a:lumOff val="80000"/>
              </a:schemeClr>
            </a:solidFill>
            <a:ln w="12700" cmpd="sng">
              <a:solidFill>
                <a:schemeClr val="accent1">
                  <a:lumMod val="20000"/>
                  <a:lumOff val="80000"/>
                </a:schemeClr>
              </a:solidFill>
              <a:prstDash val="solid"/>
            </a:ln>
            <a:effectLst>
              <a:outerShdw blurRad="76200" dir="18900000" sy="23000" kx="-1200000" algn="b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b="1">
                  <a:solidFill>
                    <a:schemeClr val="tx1"/>
                  </a:solidFill>
                </a:rPr>
                <a:t>融合商品</a:t>
              </a:r>
              <a:endParaRPr lang="zh-CN" altLang="en-US" sz="900" b="1">
                <a:solidFill>
                  <a:schemeClr val="tx1"/>
                </a:solidFill>
              </a:endParaRPr>
            </a:p>
          </p:txBody>
        </p:sp>
      </p:grpSp>
      <p:sp>
        <p:nvSpPr>
          <p:cNvPr id="29" name="文本框 28"/>
          <p:cNvSpPr txBox="1"/>
          <p:nvPr/>
        </p:nvSpPr>
        <p:spPr>
          <a:xfrm>
            <a:off x="719455" y="3944620"/>
            <a:ext cx="2398395" cy="416560"/>
          </a:xfrm>
          <a:prstGeom prst="rect">
            <a:avLst/>
          </a:prstGeom>
          <a:solidFill>
            <a:schemeClr val="bg1"/>
          </a:solidFill>
        </p:spPr>
        <p:txBody>
          <a:bodyPr wrap="square" rtlCol="0">
            <a:noAutofit/>
          </a:bodyPr>
          <a:p>
            <a:pPr indent="0" fontAlgn="auto">
              <a:lnSpc>
                <a:spcPct val="120000"/>
              </a:lnSpc>
            </a:pPr>
            <a:r>
              <a:rPr lang="zh-CN" altLang="en-US" sz="900" dirty="0">
                <a:latin typeface="微软雅黑" panose="020B0503020204020204" pitchFamily="34" charset="-122"/>
                <a:ea typeface="微软雅黑" panose="020B0503020204020204" pitchFamily="34" charset="-122"/>
                <a:sym typeface="+mn-ea"/>
              </a:rPr>
              <a:t>专业公司解耦原子能力、引入生态能力，做好产量研发和打造，支撑省公司产品需要</a:t>
            </a:r>
            <a:endParaRPr lang="zh-CN" altLang="en-US" sz="900" dirty="0">
              <a:latin typeface="微软雅黑" panose="020B0503020204020204" pitchFamily="34" charset="-122"/>
              <a:ea typeface="微软雅黑" panose="020B0503020204020204" pitchFamily="34" charset="-122"/>
              <a:sym typeface="+mn-ea"/>
            </a:endParaRPr>
          </a:p>
          <a:p>
            <a:pPr indent="0" fontAlgn="auto">
              <a:lnSpc>
                <a:spcPct val="120000"/>
              </a:lnSpc>
            </a:pPr>
            <a:r>
              <a:rPr lang="zh-CN" altLang="en-US" sz="900" dirty="0">
                <a:solidFill>
                  <a:srgbClr val="FF0000"/>
                </a:solidFill>
                <a:latin typeface="微软雅黑" panose="020B0503020204020204" pitchFamily="34" charset="-122"/>
                <a:ea typeface="微软雅黑" panose="020B0503020204020204" pitchFamily="34" charset="-122"/>
                <a:sym typeface="+mn-ea"/>
              </a:rPr>
              <a:t>如，</a:t>
            </a:r>
            <a:r>
              <a:rPr lang="en-US" altLang="zh-CN" sz="900" dirty="0">
                <a:solidFill>
                  <a:srgbClr val="FF0000"/>
                </a:solidFill>
                <a:latin typeface="微软雅黑" panose="020B0503020204020204" pitchFamily="34" charset="-122"/>
                <a:ea typeface="微软雅黑" panose="020B0503020204020204" pitchFamily="34" charset="-122"/>
                <a:sym typeface="+mn-ea"/>
              </a:rPr>
              <a:t>5G</a:t>
            </a:r>
            <a:r>
              <a:rPr lang="zh-CN" altLang="en-US" sz="900" dirty="0">
                <a:solidFill>
                  <a:srgbClr val="FF0000"/>
                </a:solidFill>
                <a:latin typeface="微软雅黑" panose="020B0503020204020204" pitchFamily="34" charset="-122"/>
                <a:ea typeface="微软雅黑" panose="020B0503020204020204" pitchFamily="34" charset="-122"/>
                <a:sym typeface="+mn-ea"/>
              </a:rPr>
              <a:t>新通话拆解</a:t>
            </a:r>
            <a:r>
              <a:rPr lang="zh-CN" sz="900" dirty="0">
                <a:solidFill>
                  <a:srgbClr val="FF0000"/>
                </a:solidFill>
                <a:latin typeface="微软雅黑" panose="020B0503020204020204" pitchFamily="34" charset="-122"/>
                <a:ea typeface="微软雅黑" panose="020B0503020204020204" pitchFamily="34" charset="-122"/>
                <a:sym typeface="+mn-ea"/>
              </a:rPr>
              <a:t>通话字幕原子</a:t>
            </a:r>
            <a:r>
              <a:rPr lang="zh-CN" altLang="en-US" sz="900" dirty="0">
                <a:solidFill>
                  <a:srgbClr val="FF0000"/>
                </a:solidFill>
                <a:latin typeface="微软雅黑" panose="020B0503020204020204" pitchFamily="34" charset="-122"/>
                <a:ea typeface="微软雅黑" panose="020B0503020204020204" pitchFamily="34" charset="-122"/>
                <a:sym typeface="+mn-ea"/>
              </a:rPr>
              <a:t>能力</a:t>
            </a:r>
            <a:endParaRPr lang="zh-CN" altLang="en-US" sz="900" dirty="0">
              <a:solidFill>
                <a:srgbClr val="FF0000"/>
              </a:solidFill>
              <a:latin typeface="微软雅黑" panose="020B0503020204020204" pitchFamily="34" charset="-122"/>
              <a:ea typeface="微软雅黑" panose="020B0503020204020204" pitchFamily="34" charset="-122"/>
              <a:sym typeface="+mn-ea"/>
            </a:endParaRPr>
          </a:p>
        </p:txBody>
      </p:sp>
      <p:sp>
        <p:nvSpPr>
          <p:cNvPr id="30" name="文本框 29"/>
          <p:cNvSpPr txBox="1"/>
          <p:nvPr/>
        </p:nvSpPr>
        <p:spPr>
          <a:xfrm>
            <a:off x="3147695" y="3944620"/>
            <a:ext cx="3485515" cy="555625"/>
          </a:xfrm>
          <a:prstGeom prst="rect">
            <a:avLst/>
          </a:prstGeom>
          <a:solidFill>
            <a:schemeClr val="bg1"/>
          </a:solidFill>
        </p:spPr>
        <p:txBody>
          <a:bodyPr wrap="square" rtlCol="0">
            <a:noAutofit/>
          </a:bodyPr>
          <a:p>
            <a:pPr indent="0" fontAlgn="auto">
              <a:lnSpc>
                <a:spcPct val="120000"/>
              </a:lnSpc>
            </a:pPr>
            <a:r>
              <a:rPr lang="zh-CN" altLang="en-US" sz="900" dirty="0">
                <a:latin typeface="微软雅黑" panose="020B0503020204020204" pitchFamily="34" charset="-122"/>
                <a:ea typeface="微软雅黑" panose="020B0503020204020204" pitchFamily="34" charset="-122"/>
                <a:sym typeface="+mn-ea"/>
              </a:rPr>
              <a:t>标准化产品模型，将专业公司全量产品统一纳管，实现跨机构融合、营销优惠动态配置。</a:t>
            </a:r>
            <a:r>
              <a:rPr lang="zh-CN" altLang="en-US" sz="900" dirty="0">
                <a:solidFill>
                  <a:srgbClr val="FF0000"/>
                </a:solidFill>
                <a:latin typeface="微软雅黑" panose="020B0503020204020204" pitchFamily="34" charset="-122"/>
                <a:ea typeface="微软雅黑" panose="020B0503020204020204" pitchFamily="34" charset="-122"/>
                <a:sym typeface="+mn-ea"/>
              </a:rPr>
              <a:t>如，</a:t>
            </a:r>
            <a:r>
              <a:rPr lang="zh-CN" sz="900" dirty="0">
                <a:solidFill>
                  <a:srgbClr val="FF0000"/>
                </a:solidFill>
                <a:latin typeface="微软雅黑" panose="020B0503020204020204" pitchFamily="34" charset="-122"/>
                <a:ea typeface="微软雅黑" panose="020B0503020204020204" pitchFamily="34" charset="-122"/>
                <a:sym typeface="+mn-ea"/>
              </a:rPr>
              <a:t>通话字幕</a:t>
            </a:r>
            <a:r>
              <a:rPr lang="zh-CN" altLang="en-US" sz="900" dirty="0">
                <a:solidFill>
                  <a:srgbClr val="FF0000"/>
                </a:solidFill>
                <a:latin typeface="微软雅黑" panose="020B0503020204020204" pitchFamily="34" charset="-122"/>
                <a:ea typeface="微软雅黑" panose="020B0503020204020204" pitchFamily="34" charset="-122"/>
                <a:sym typeface="+mn-ea"/>
              </a:rPr>
              <a:t>能力上架原子产品库，省公司将</a:t>
            </a:r>
            <a:r>
              <a:rPr lang="zh-CN" sz="900" dirty="0">
                <a:solidFill>
                  <a:srgbClr val="FF0000"/>
                </a:solidFill>
                <a:latin typeface="微软雅黑" panose="020B0503020204020204" pitchFamily="34" charset="-122"/>
                <a:ea typeface="微软雅黑" panose="020B0503020204020204" pitchFamily="34" charset="-122"/>
                <a:sym typeface="+mn-ea"/>
              </a:rPr>
              <a:t>通话字幕</a:t>
            </a:r>
            <a:r>
              <a:rPr lang="en-US" altLang="zh-CN" sz="900" dirty="0">
                <a:solidFill>
                  <a:srgbClr val="FF0000"/>
                </a:solidFill>
                <a:latin typeface="微软雅黑" panose="020B0503020204020204" pitchFamily="34" charset="-122"/>
                <a:ea typeface="微软雅黑" panose="020B0503020204020204" pitchFamily="34" charset="-122"/>
                <a:sym typeface="+mn-ea"/>
              </a:rPr>
              <a:t>+</a:t>
            </a:r>
            <a:r>
              <a:rPr lang="zh-CN" altLang="en-US" sz="900" dirty="0">
                <a:solidFill>
                  <a:srgbClr val="FF0000"/>
                </a:solidFill>
                <a:latin typeface="微软雅黑" panose="020B0503020204020204" pitchFamily="34" charset="-122"/>
                <a:ea typeface="微软雅黑" panose="020B0503020204020204" pitchFamily="34" charset="-122"/>
                <a:sym typeface="+mn-ea"/>
              </a:rPr>
              <a:t>电诈保障家庭版</a:t>
            </a:r>
            <a:r>
              <a:rPr lang="zh-CN" altLang="en-US" sz="900" dirty="0">
                <a:solidFill>
                  <a:srgbClr val="FF0000"/>
                </a:solidFill>
                <a:latin typeface="微软雅黑" panose="020B0503020204020204" pitchFamily="34" charset="-122"/>
                <a:ea typeface="微软雅黑" panose="020B0503020204020204" pitchFamily="34" charset="-122"/>
                <a:sym typeface="+mn-ea"/>
              </a:rPr>
              <a:t>封装为</a:t>
            </a:r>
            <a:r>
              <a:rPr lang="en-US" altLang="zh-CN" sz="900" dirty="0">
                <a:solidFill>
                  <a:srgbClr val="FF0000"/>
                </a:solidFill>
                <a:latin typeface="微软雅黑" panose="020B0503020204020204" pitchFamily="34" charset="-122"/>
                <a:ea typeface="微软雅黑" panose="020B0503020204020204" pitchFamily="34" charset="-122"/>
                <a:sym typeface="+mn-ea"/>
              </a:rPr>
              <a:t>“</a:t>
            </a:r>
            <a:r>
              <a:rPr lang="zh-CN" altLang="en-US" sz="900" dirty="0">
                <a:solidFill>
                  <a:srgbClr val="FF0000"/>
                </a:solidFill>
                <a:latin typeface="微软雅黑" panose="020B0503020204020204" pitchFamily="34" charset="-122"/>
                <a:ea typeface="微软雅黑" panose="020B0503020204020204" pitchFamily="34" charset="-122"/>
                <a:sym typeface="+mn-ea"/>
              </a:rPr>
              <a:t>家庭</a:t>
            </a:r>
            <a:r>
              <a:rPr lang="zh-CN" altLang="en-US" sz="900" dirty="0">
                <a:solidFill>
                  <a:srgbClr val="FF0000"/>
                </a:solidFill>
                <a:latin typeface="微软雅黑" panose="020B0503020204020204" pitchFamily="34" charset="-122"/>
                <a:ea typeface="微软雅黑" panose="020B0503020204020204" pitchFamily="34" charset="-122"/>
                <a:sym typeface="+mn-ea"/>
              </a:rPr>
              <a:t>包</a:t>
            </a:r>
            <a:r>
              <a:rPr lang="en-US" altLang="zh-CN" sz="900" dirty="0">
                <a:solidFill>
                  <a:srgbClr val="FF0000"/>
                </a:solidFill>
                <a:latin typeface="微软雅黑" panose="020B0503020204020204" pitchFamily="34" charset="-122"/>
                <a:ea typeface="微软雅黑" panose="020B0503020204020204" pitchFamily="34" charset="-122"/>
                <a:sym typeface="+mn-ea"/>
              </a:rPr>
              <a:t>”</a:t>
            </a:r>
            <a:r>
              <a:rPr lang="zh-CN" altLang="en-US" sz="900" dirty="0">
                <a:solidFill>
                  <a:srgbClr val="FF0000"/>
                </a:solidFill>
                <a:latin typeface="微软雅黑" panose="020B0503020204020204" pitchFamily="34" charset="-122"/>
                <a:ea typeface="微软雅黑" panose="020B0503020204020204" pitchFamily="34" charset="-122"/>
                <a:sym typeface="+mn-ea"/>
              </a:rPr>
              <a:t>融合商品上架</a:t>
            </a:r>
            <a:endParaRPr lang="zh-CN" altLang="en-US" sz="900" dirty="0">
              <a:solidFill>
                <a:srgbClr val="FF0000"/>
              </a:solidFill>
              <a:latin typeface="微软雅黑" panose="020B0503020204020204" pitchFamily="34" charset="-122"/>
              <a:ea typeface="微软雅黑" panose="020B0503020204020204" pitchFamily="34" charset="-122"/>
              <a:sym typeface="+mn-ea"/>
            </a:endParaRPr>
          </a:p>
        </p:txBody>
      </p:sp>
      <p:sp>
        <p:nvSpPr>
          <p:cNvPr id="31" name="îšḷïḍè"/>
          <p:cNvSpPr/>
          <p:nvPr/>
        </p:nvSpPr>
        <p:spPr bwMode="auto">
          <a:xfrm>
            <a:off x="2994025" y="2894965"/>
            <a:ext cx="153035" cy="445770"/>
          </a:xfrm>
          <a:prstGeom prst="rightArrow">
            <a:avLst>
              <a:gd name="adj1" fmla="val 50000"/>
              <a:gd name="adj2" fmla="val 48997"/>
            </a:avLst>
          </a:prstGeom>
          <a:solidFill>
            <a:sysClr val="window" lastClr="FFFFFF">
              <a:lumMod val="75000"/>
            </a:sysClr>
          </a:solidFill>
          <a:ln w="6350">
            <a:noFill/>
            <a:miter lim="800000"/>
          </a:ln>
          <a:effectLst/>
        </p:spPr>
        <p:txBody>
          <a:bodyPr wrap="none" lIns="90000" tIns="46800" rIns="90000" bIns="46800" anchor="ctr">
            <a:normAutofit/>
          </a:bodyPr>
          <a:lstStyle>
            <a:lvl1pPr>
              <a:defRPr sz="1300" b="1">
                <a:solidFill>
                  <a:srgbClr val="000000"/>
                </a:solidFill>
              </a:defRPr>
            </a:lvl1pPr>
            <a:lvl2pPr marL="742950" indent="-285750">
              <a:defRPr sz="1300" b="1">
                <a:solidFill>
                  <a:srgbClr val="000000"/>
                </a:solidFill>
              </a:defRPr>
            </a:lvl2pPr>
            <a:lvl3pPr marL="1143000" indent="-228600">
              <a:defRPr sz="1300" b="1">
                <a:solidFill>
                  <a:srgbClr val="000000"/>
                </a:solidFill>
              </a:defRPr>
            </a:lvl3pPr>
            <a:lvl4pPr marL="1600200" indent="-228600">
              <a:defRPr sz="1300" b="1">
                <a:solidFill>
                  <a:srgbClr val="000000"/>
                </a:solidFill>
              </a:defRPr>
            </a:lvl4pPr>
            <a:lvl5pPr marL="2057400" indent="-228600">
              <a:defRPr sz="1300" b="1">
                <a:solidFill>
                  <a:srgbClr val="000000"/>
                </a:solidFill>
              </a:defRPr>
            </a:lvl5pPr>
            <a:lvl6pPr marL="2514600" indent="-228600" eaLnBrk="0" fontAlgn="base" hangingPunct="0">
              <a:spcBef>
                <a:spcPct val="0"/>
              </a:spcBef>
              <a:spcAft>
                <a:spcPct val="0"/>
              </a:spcAft>
              <a:defRPr sz="1300" b="1">
                <a:solidFill>
                  <a:srgbClr val="000000"/>
                </a:solidFill>
              </a:defRPr>
            </a:lvl6pPr>
            <a:lvl7pPr marL="2971800" indent="-228600" eaLnBrk="0" fontAlgn="base" hangingPunct="0">
              <a:spcBef>
                <a:spcPct val="0"/>
              </a:spcBef>
              <a:spcAft>
                <a:spcPct val="0"/>
              </a:spcAft>
              <a:defRPr sz="1300" b="1">
                <a:solidFill>
                  <a:srgbClr val="000000"/>
                </a:solidFill>
              </a:defRPr>
            </a:lvl7pPr>
            <a:lvl8pPr marL="3429000" indent="-228600" eaLnBrk="0" fontAlgn="base" hangingPunct="0">
              <a:spcBef>
                <a:spcPct val="0"/>
              </a:spcBef>
              <a:spcAft>
                <a:spcPct val="0"/>
              </a:spcAft>
              <a:defRPr sz="1300" b="1">
                <a:solidFill>
                  <a:srgbClr val="000000"/>
                </a:solidFill>
              </a:defRPr>
            </a:lvl8pPr>
            <a:lvl9pPr marL="3886200" indent="-228600" eaLnBrk="0" fontAlgn="base" hangingPunct="0">
              <a:spcBef>
                <a:spcPct val="0"/>
              </a:spcBef>
              <a:spcAft>
                <a:spcPct val="0"/>
              </a:spcAft>
              <a:defRPr sz="1300" b="1">
                <a:solidFill>
                  <a:srgbClr val="000000"/>
                </a:solidFill>
              </a:defRPr>
            </a:lvl9pPr>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120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endParaRPr>
          </a:p>
        </p:txBody>
      </p:sp>
      <p:sp>
        <p:nvSpPr>
          <p:cNvPr id="33" name="îšḷïḍè"/>
          <p:cNvSpPr/>
          <p:nvPr/>
        </p:nvSpPr>
        <p:spPr bwMode="auto">
          <a:xfrm>
            <a:off x="6545580" y="2844165"/>
            <a:ext cx="153035" cy="445770"/>
          </a:xfrm>
          <a:prstGeom prst="rightArrow">
            <a:avLst>
              <a:gd name="adj1" fmla="val 50000"/>
              <a:gd name="adj2" fmla="val 48997"/>
            </a:avLst>
          </a:prstGeom>
          <a:solidFill>
            <a:sysClr val="window" lastClr="FFFFFF">
              <a:lumMod val="75000"/>
            </a:sysClr>
          </a:solidFill>
          <a:ln w="6350">
            <a:noFill/>
            <a:miter lim="800000"/>
          </a:ln>
          <a:effectLst/>
        </p:spPr>
        <p:txBody>
          <a:bodyPr wrap="none" lIns="90000" tIns="46800" rIns="90000" bIns="46800" anchor="ctr">
            <a:normAutofit/>
          </a:bodyPr>
          <a:lstStyle>
            <a:lvl1pPr>
              <a:defRPr sz="1300" b="1">
                <a:solidFill>
                  <a:srgbClr val="000000"/>
                </a:solidFill>
              </a:defRPr>
            </a:lvl1pPr>
            <a:lvl2pPr marL="742950" indent="-285750">
              <a:defRPr sz="1300" b="1">
                <a:solidFill>
                  <a:srgbClr val="000000"/>
                </a:solidFill>
              </a:defRPr>
            </a:lvl2pPr>
            <a:lvl3pPr marL="1143000" indent="-228600">
              <a:defRPr sz="1300" b="1">
                <a:solidFill>
                  <a:srgbClr val="000000"/>
                </a:solidFill>
              </a:defRPr>
            </a:lvl3pPr>
            <a:lvl4pPr marL="1600200" indent="-228600">
              <a:defRPr sz="1300" b="1">
                <a:solidFill>
                  <a:srgbClr val="000000"/>
                </a:solidFill>
              </a:defRPr>
            </a:lvl4pPr>
            <a:lvl5pPr marL="2057400" indent="-228600">
              <a:defRPr sz="1300" b="1">
                <a:solidFill>
                  <a:srgbClr val="000000"/>
                </a:solidFill>
              </a:defRPr>
            </a:lvl5pPr>
            <a:lvl6pPr marL="2514600" indent="-228600" eaLnBrk="0" fontAlgn="base" hangingPunct="0">
              <a:spcBef>
                <a:spcPct val="0"/>
              </a:spcBef>
              <a:spcAft>
                <a:spcPct val="0"/>
              </a:spcAft>
              <a:defRPr sz="1300" b="1">
                <a:solidFill>
                  <a:srgbClr val="000000"/>
                </a:solidFill>
              </a:defRPr>
            </a:lvl6pPr>
            <a:lvl7pPr marL="2971800" indent="-228600" eaLnBrk="0" fontAlgn="base" hangingPunct="0">
              <a:spcBef>
                <a:spcPct val="0"/>
              </a:spcBef>
              <a:spcAft>
                <a:spcPct val="0"/>
              </a:spcAft>
              <a:defRPr sz="1300" b="1">
                <a:solidFill>
                  <a:srgbClr val="000000"/>
                </a:solidFill>
              </a:defRPr>
            </a:lvl7pPr>
            <a:lvl8pPr marL="3429000" indent="-228600" eaLnBrk="0" fontAlgn="base" hangingPunct="0">
              <a:spcBef>
                <a:spcPct val="0"/>
              </a:spcBef>
              <a:spcAft>
                <a:spcPct val="0"/>
              </a:spcAft>
              <a:defRPr sz="1300" b="1">
                <a:solidFill>
                  <a:srgbClr val="000000"/>
                </a:solidFill>
              </a:defRPr>
            </a:lvl8pPr>
            <a:lvl9pPr marL="3886200" indent="-228600" eaLnBrk="0" fontAlgn="base" hangingPunct="0">
              <a:spcBef>
                <a:spcPct val="0"/>
              </a:spcBef>
              <a:spcAft>
                <a:spcPct val="0"/>
              </a:spcAft>
              <a:defRPr sz="1300" b="1">
                <a:solidFill>
                  <a:srgbClr val="000000"/>
                </a:solidFill>
              </a:defRPr>
            </a:lvl9pPr>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120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endParaRPr>
          </a:p>
        </p:txBody>
      </p:sp>
      <p:sp>
        <p:nvSpPr>
          <p:cNvPr id="36" name="îšḷïḍè"/>
          <p:cNvSpPr/>
          <p:nvPr/>
        </p:nvSpPr>
        <p:spPr bwMode="auto">
          <a:xfrm>
            <a:off x="9865995" y="2803525"/>
            <a:ext cx="153035" cy="445770"/>
          </a:xfrm>
          <a:prstGeom prst="rightArrow">
            <a:avLst>
              <a:gd name="adj1" fmla="val 50000"/>
              <a:gd name="adj2" fmla="val 48997"/>
            </a:avLst>
          </a:prstGeom>
          <a:solidFill>
            <a:sysClr val="window" lastClr="FFFFFF">
              <a:lumMod val="75000"/>
            </a:sysClr>
          </a:solidFill>
          <a:ln w="6350">
            <a:noFill/>
            <a:miter lim="800000"/>
          </a:ln>
          <a:effectLst/>
        </p:spPr>
        <p:txBody>
          <a:bodyPr wrap="none" lIns="90000" tIns="46800" rIns="90000" bIns="46800" anchor="ctr">
            <a:normAutofit/>
          </a:bodyPr>
          <a:lstStyle>
            <a:lvl1pPr>
              <a:defRPr sz="1300" b="1">
                <a:solidFill>
                  <a:srgbClr val="000000"/>
                </a:solidFill>
              </a:defRPr>
            </a:lvl1pPr>
            <a:lvl2pPr marL="742950" indent="-285750">
              <a:defRPr sz="1300" b="1">
                <a:solidFill>
                  <a:srgbClr val="000000"/>
                </a:solidFill>
              </a:defRPr>
            </a:lvl2pPr>
            <a:lvl3pPr marL="1143000" indent="-228600">
              <a:defRPr sz="1300" b="1">
                <a:solidFill>
                  <a:srgbClr val="000000"/>
                </a:solidFill>
              </a:defRPr>
            </a:lvl3pPr>
            <a:lvl4pPr marL="1600200" indent="-228600">
              <a:defRPr sz="1300" b="1">
                <a:solidFill>
                  <a:srgbClr val="000000"/>
                </a:solidFill>
              </a:defRPr>
            </a:lvl4pPr>
            <a:lvl5pPr marL="2057400" indent="-228600">
              <a:defRPr sz="1300" b="1">
                <a:solidFill>
                  <a:srgbClr val="000000"/>
                </a:solidFill>
              </a:defRPr>
            </a:lvl5pPr>
            <a:lvl6pPr marL="2514600" indent="-228600" eaLnBrk="0" fontAlgn="base" hangingPunct="0">
              <a:spcBef>
                <a:spcPct val="0"/>
              </a:spcBef>
              <a:spcAft>
                <a:spcPct val="0"/>
              </a:spcAft>
              <a:defRPr sz="1300" b="1">
                <a:solidFill>
                  <a:srgbClr val="000000"/>
                </a:solidFill>
              </a:defRPr>
            </a:lvl6pPr>
            <a:lvl7pPr marL="2971800" indent="-228600" eaLnBrk="0" fontAlgn="base" hangingPunct="0">
              <a:spcBef>
                <a:spcPct val="0"/>
              </a:spcBef>
              <a:spcAft>
                <a:spcPct val="0"/>
              </a:spcAft>
              <a:defRPr sz="1300" b="1">
                <a:solidFill>
                  <a:srgbClr val="000000"/>
                </a:solidFill>
              </a:defRPr>
            </a:lvl7pPr>
            <a:lvl8pPr marL="3429000" indent="-228600" eaLnBrk="0" fontAlgn="base" hangingPunct="0">
              <a:spcBef>
                <a:spcPct val="0"/>
              </a:spcBef>
              <a:spcAft>
                <a:spcPct val="0"/>
              </a:spcAft>
              <a:defRPr sz="1300" b="1">
                <a:solidFill>
                  <a:srgbClr val="000000"/>
                </a:solidFill>
              </a:defRPr>
            </a:lvl8pPr>
            <a:lvl9pPr marL="3886200" indent="-228600" eaLnBrk="0" fontAlgn="base" hangingPunct="0">
              <a:spcBef>
                <a:spcPct val="0"/>
              </a:spcBef>
              <a:spcAft>
                <a:spcPct val="0"/>
              </a:spcAft>
              <a:defRPr sz="1300" b="1">
                <a:solidFill>
                  <a:srgbClr val="000000"/>
                </a:solidFill>
              </a:defRPr>
            </a:lvl9pPr>
          </a:lstStyle>
          <a:p>
            <a:pPr marL="0" marR="0" lvl="0" indent="0" defTabSz="1219200" eaLnBrk="1" fontAlgn="auto" latinLnBrk="0" hangingPunct="1">
              <a:lnSpc>
                <a:spcPct val="100000"/>
              </a:lnSpc>
              <a:spcBef>
                <a:spcPts val="0"/>
              </a:spcBef>
              <a:spcAft>
                <a:spcPts val="0"/>
              </a:spcAft>
              <a:buClrTx/>
              <a:buSzTx/>
              <a:buFontTx/>
              <a:buNone/>
              <a:defRPr/>
            </a:pPr>
            <a:endParaRPr kumimoji="0" lang="zh-CN" altLang="en-US" sz="120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endParaRPr>
          </a:p>
        </p:txBody>
      </p:sp>
      <p:sp>
        <p:nvSpPr>
          <p:cNvPr id="39" name="文本框 38"/>
          <p:cNvSpPr txBox="1"/>
          <p:nvPr/>
        </p:nvSpPr>
        <p:spPr>
          <a:xfrm>
            <a:off x="6637020" y="3938905"/>
            <a:ext cx="3238500" cy="555625"/>
          </a:xfrm>
          <a:prstGeom prst="rect">
            <a:avLst/>
          </a:prstGeom>
          <a:solidFill>
            <a:schemeClr val="bg1"/>
          </a:solidFill>
        </p:spPr>
        <p:txBody>
          <a:bodyPr wrap="square" rtlCol="0">
            <a:noAutofit/>
          </a:bodyPr>
          <a:p>
            <a:pPr indent="0" fontAlgn="auto">
              <a:lnSpc>
                <a:spcPct val="120000"/>
              </a:lnSpc>
            </a:pPr>
            <a:r>
              <a:rPr lang="zh-CN" altLang="en-US" sz="900" dirty="0">
                <a:latin typeface="微软雅黑" panose="020B0503020204020204" pitchFamily="34" charset="-122"/>
                <a:ea typeface="微软雅黑" panose="020B0503020204020204" pitchFamily="34" charset="-122"/>
                <a:sym typeface="+mn-ea"/>
              </a:rPr>
              <a:t>汇聚产品运营数据进行智能分析，洞察发展短板以及运营问题，实现问题调度和自动跟踪。</a:t>
            </a:r>
            <a:r>
              <a:rPr lang="zh-CN" altLang="en-US" sz="900" dirty="0">
                <a:solidFill>
                  <a:srgbClr val="FF0000"/>
                </a:solidFill>
                <a:latin typeface="微软雅黑" panose="020B0503020204020204" pitchFamily="34" charset="-122"/>
                <a:ea typeface="微软雅黑" panose="020B0503020204020204" pitchFamily="34" charset="-122"/>
                <a:sym typeface="+mn-ea"/>
              </a:rPr>
              <a:t>如，基于运营</a:t>
            </a:r>
            <a:r>
              <a:rPr lang="zh-CN" sz="900" dirty="0">
                <a:solidFill>
                  <a:srgbClr val="FF0000"/>
                </a:solidFill>
                <a:latin typeface="微软雅黑" panose="020B0503020204020204" pitchFamily="34" charset="-122"/>
                <a:ea typeface="微软雅黑" panose="020B0503020204020204" pitchFamily="34" charset="-122"/>
                <a:sym typeface="+mn-ea"/>
              </a:rPr>
              <a:t>数据，分析出家庭包收入短板为售价高于竞品</a:t>
            </a:r>
            <a:r>
              <a:rPr lang="zh-CN" altLang="en-US" sz="900" dirty="0">
                <a:solidFill>
                  <a:srgbClr val="FF0000"/>
                </a:solidFill>
                <a:latin typeface="微软雅黑" panose="020B0503020204020204" pitchFamily="34" charset="-122"/>
                <a:ea typeface="微软雅黑" panose="020B0503020204020204" pitchFamily="34" charset="-122"/>
                <a:sym typeface="+mn-ea"/>
              </a:rPr>
              <a:t>，调度省公司开展折扣优惠</a:t>
            </a:r>
            <a:endParaRPr lang="zh-CN" altLang="en-US" sz="900" dirty="0">
              <a:solidFill>
                <a:srgbClr val="FF0000"/>
              </a:solidFill>
              <a:latin typeface="微软雅黑" panose="020B0503020204020204" pitchFamily="34" charset="-122"/>
              <a:ea typeface="微软雅黑" panose="020B0503020204020204" pitchFamily="34" charset="-122"/>
              <a:sym typeface="+mn-ea"/>
            </a:endParaRPr>
          </a:p>
        </p:txBody>
      </p:sp>
      <p:sp>
        <p:nvSpPr>
          <p:cNvPr id="41" name="文本框 40"/>
          <p:cNvSpPr txBox="1"/>
          <p:nvPr/>
        </p:nvSpPr>
        <p:spPr>
          <a:xfrm>
            <a:off x="9876155" y="3938905"/>
            <a:ext cx="1925320" cy="555625"/>
          </a:xfrm>
          <a:prstGeom prst="rect">
            <a:avLst/>
          </a:prstGeom>
          <a:solidFill>
            <a:schemeClr val="bg1"/>
          </a:solidFill>
        </p:spPr>
        <p:txBody>
          <a:bodyPr wrap="square" rtlCol="0">
            <a:noAutofit/>
          </a:bodyPr>
          <a:p>
            <a:pPr indent="0" fontAlgn="auto">
              <a:lnSpc>
                <a:spcPct val="120000"/>
              </a:lnSpc>
            </a:pPr>
            <a:r>
              <a:rPr lang="zh-CN" altLang="en-US" sz="900" dirty="0">
                <a:latin typeface="微软雅黑" panose="020B0503020204020204" pitchFamily="34" charset="-122"/>
                <a:ea typeface="微软雅黑" panose="020B0503020204020204" pitchFamily="34" charset="-122"/>
                <a:sym typeface="+mn-ea"/>
              </a:rPr>
              <a:t>开展产品质量评估，进行动态质量打分、输出优化建议。</a:t>
            </a:r>
            <a:r>
              <a:rPr lang="zh-CN" altLang="en-US" sz="900" dirty="0">
                <a:solidFill>
                  <a:srgbClr val="FF0000"/>
                </a:solidFill>
                <a:latin typeface="微软雅黑" panose="020B0503020204020204" pitchFamily="34" charset="-122"/>
                <a:ea typeface="微软雅黑" panose="020B0503020204020204" pitchFamily="34" charset="-122"/>
                <a:sym typeface="+mn-ea"/>
              </a:rPr>
              <a:t>如，家庭包已不符合现有用户需要，产品下架</a:t>
            </a:r>
            <a:endParaRPr lang="zh-CN" altLang="en-US" sz="90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圆角矩形 124"/>
          <p:cNvSpPr/>
          <p:nvPr/>
        </p:nvSpPr>
        <p:spPr>
          <a:xfrm>
            <a:off x="829310" y="5758815"/>
            <a:ext cx="11207750" cy="917575"/>
          </a:xfrm>
          <a:prstGeom prst="roundRect">
            <a:avLst>
              <a:gd name="adj" fmla="val 5504"/>
            </a:avLst>
          </a:prstGeom>
          <a:solidFill>
            <a:srgbClr val="FFFFFF"/>
          </a:solidFill>
          <a:ln w="15875">
            <a:solidFill>
              <a:schemeClr val="accent1">
                <a:lumMod val="20000"/>
                <a:lumOff val="80000"/>
              </a:schemeClr>
            </a:solidFill>
          </a:ln>
          <a:effectLst>
            <a:outerShdw blurRad="165100" dist="76200" dir="5400000" algn="t" rotWithShape="0">
              <a:srgbClr val="1C66C4">
                <a:alpha val="40000"/>
              </a:srgbClr>
            </a:outerShdw>
          </a:effectLst>
        </p:spPr>
        <p:style>
          <a:lnRef idx="2">
            <a:srgbClr val="1C66C4">
              <a:shade val="50000"/>
            </a:srgbClr>
          </a:lnRef>
          <a:fillRef idx="1">
            <a:srgbClr val="1C66C4"/>
          </a:fillRef>
          <a:effectRef idx="0">
            <a:srgbClr val="1C66C4"/>
          </a:effectRef>
          <a:fontRef idx="minor">
            <a:srgbClr val="FFFFFF"/>
          </a:fontRef>
        </p:style>
        <p:txBody>
          <a:bodyPr vertOverflow="overflow" horzOverflow="overflow" vert="horz" wrap="none" numCol="1" spcCol="0" rtlCol="0" fromWordArt="0" anchor="ctr" anchorCtr="0" forceAA="0" compatLnSpc="1">
            <a:noAutofit/>
          </a:bodyPr>
          <a:lstStyle/>
          <a:p>
            <a:pPr defTabSz="914400"/>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83" name="标题 1"/>
          <p:cNvSpPr>
            <a:spLocks noGrp="1"/>
          </p:cNvSpPr>
          <p:nvPr>
            <p:ph type="title"/>
          </p:nvPr>
        </p:nvSpPr>
        <p:spPr>
          <a:xfrm>
            <a:off x="150829" y="274371"/>
            <a:ext cx="9577633" cy="486572"/>
          </a:xfrm>
        </p:spPr>
        <p:txBody>
          <a:bodyPr>
            <a:normAutofit/>
          </a:bodyPr>
          <a:lstStyle/>
          <a:p>
            <a:pPr algn="l">
              <a:buClrTx/>
              <a:buSzTx/>
              <a:buFontTx/>
            </a:pP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路径图|</a:t>
            </a:r>
            <a:r>
              <a:rPr lang="zh-CN" altLang="en-US">
                <a:sym typeface="+mn-ea"/>
              </a:rPr>
              <a:t>升级融合运营能力：</a:t>
            </a:r>
            <a:r>
              <a:rPr lang="zh-CN" altLang="en-US">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④全触点智能交互</a:t>
            </a:r>
            <a:endParaRPr lang="zh-CN" altLang="en-US">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52" name="文本框 351"/>
          <p:cNvSpPr txBox="1"/>
          <p:nvPr/>
        </p:nvSpPr>
        <p:spPr>
          <a:xfrm>
            <a:off x="217170" y="821690"/>
            <a:ext cx="11593195" cy="830580"/>
          </a:xfrm>
          <a:prstGeom prst="rect">
            <a:avLst/>
          </a:prstGeom>
          <a:noFill/>
        </p:spPr>
        <p:txBody>
          <a:bodyPr wrap="square" rtlCol="0" anchor="t">
            <a:noAutofit/>
          </a:bodyPr>
          <a:lstStyle/>
          <a:p>
            <a:pPr marL="0" lvl="2" indent="0">
              <a:lnSpc>
                <a:spcPct val="150000"/>
              </a:lnSpc>
              <a:buFont typeface="Arial" panose="020B0604020202020204" pitchFamily="34" charset="0"/>
              <a:buNone/>
            </a:pPr>
            <a:r>
              <a:rPr lang="en-US" altLang="zh-CN" sz="1400" b="1" kern="1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b="1" kern="100" dirty="0">
                <a:latin typeface="微软雅黑" panose="020B0503020204020204" pitchFamily="34" charset="-122"/>
                <a:ea typeface="微软雅黑" panose="020B0503020204020204" pitchFamily="34" charset="-122"/>
                <a:cs typeface="微软雅黑" panose="020B0503020204020204" pitchFamily="34" charset="-122"/>
                <a:sym typeface="+mn-ea"/>
              </a:rPr>
              <a:t>围绕</a:t>
            </a:r>
            <a:r>
              <a:rPr sz="1400" b="1" kern="100" dirty="0">
                <a:latin typeface="微软雅黑" panose="020B0503020204020204" pitchFamily="34" charset="-122"/>
                <a:ea typeface="微软雅黑" panose="020B0503020204020204" pitchFamily="34" charset="-122"/>
                <a:cs typeface="微软雅黑" panose="020B0503020204020204" pitchFamily="34" charset="-122"/>
                <a:sym typeface="+mn-ea"/>
              </a:rPr>
              <a:t>将APP打造为“客户找我”的第一入口的目标，</a:t>
            </a:r>
            <a:r>
              <a:rPr lang="zh-CN" sz="1400" b="1" kern="100" dirty="0">
                <a:latin typeface="微软雅黑" panose="020B0503020204020204" pitchFamily="34" charset="-122"/>
                <a:ea typeface="微软雅黑" panose="020B0503020204020204" pitchFamily="34" charset="-122"/>
                <a:cs typeface="微软雅黑" panose="020B0503020204020204" pitchFamily="34" charset="-122"/>
                <a:sym typeface="+mn-ea"/>
              </a:rPr>
              <a:t>打造</a:t>
            </a:r>
            <a:r>
              <a:rPr sz="1400" b="1" kern="100" dirty="0">
                <a:latin typeface="微软雅黑" panose="020B0503020204020204" pitchFamily="34" charset="-122"/>
                <a:ea typeface="微软雅黑" panose="020B0503020204020204" pitchFamily="34" charset="-122"/>
                <a:cs typeface="微软雅黑" panose="020B0503020204020204" pitchFamily="34" charset="-122"/>
                <a:sym typeface="+mn-ea"/>
              </a:rPr>
              <a:t>统一触点调度，</a:t>
            </a:r>
            <a:r>
              <a:rPr lang="zh-CN" altLang="en-US" sz="1400" b="1" kern="100" dirty="0">
                <a:latin typeface="微软雅黑" panose="020B0503020204020204" pitchFamily="34" charset="-122"/>
                <a:ea typeface="微软雅黑" panose="020B0503020204020204" pitchFamily="34" charset="-122"/>
                <a:cs typeface="微软雅黑" panose="020B0503020204020204" pitchFamily="34" charset="-122"/>
                <a:sym typeface="+mn-ea"/>
              </a:rPr>
              <a:t>统一订购融通能力，拉通用户基于触点的订购行为数据，</a:t>
            </a:r>
            <a:r>
              <a:rPr sz="1400" b="1" kern="100" dirty="0">
                <a:latin typeface="微软雅黑" panose="020B0503020204020204" pitchFamily="34" charset="-122"/>
                <a:ea typeface="微软雅黑" panose="020B0503020204020204" pitchFamily="34" charset="-122"/>
                <a:cs typeface="微软雅黑" panose="020B0503020204020204" pitchFamily="34" charset="-122"/>
                <a:sym typeface="+mn-ea"/>
              </a:rPr>
              <a:t>形成线上线下优势资源结合，</a:t>
            </a:r>
            <a:r>
              <a:rPr lang="zh-CN" sz="1400" b="1" kern="100" dirty="0">
                <a:latin typeface="微软雅黑" panose="020B0503020204020204" pitchFamily="34" charset="-122"/>
                <a:ea typeface="微软雅黑" panose="020B0503020204020204" pitchFamily="34" charset="-122"/>
                <a:cs typeface="微软雅黑" panose="020B0503020204020204" pitchFamily="34" charset="-122"/>
                <a:sym typeface="+mn-ea"/>
              </a:rPr>
              <a:t>构建生态化、场景化、精准化的智能触</a:t>
            </a:r>
            <a:r>
              <a:rPr lang="zh-CN" sz="1400" b="1" kern="100" dirty="0">
                <a:latin typeface="微软雅黑" panose="020B0503020204020204" pitchFamily="34" charset="-122"/>
                <a:ea typeface="微软雅黑" panose="020B0503020204020204" pitchFamily="34" charset="-122"/>
                <a:cs typeface="微软雅黑" panose="020B0503020204020204" pitchFamily="34" charset="-122"/>
                <a:sym typeface="+mn-ea"/>
              </a:rPr>
              <a:t>客新模式，助力实现高效开放的平台运营。</a:t>
            </a:r>
            <a:endParaRPr sz="1400" b="1" kern="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nSpc>
                <a:spcPct val="150000"/>
              </a:lnSpc>
              <a:buFont typeface="Arial" panose="020B0604020202020204" pitchFamily="34" charset="0"/>
              <a:buNone/>
            </a:pPr>
            <a:endParaRPr lang="zh-CN" altLang="en-US" sz="1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9" name="圆角矩形 124"/>
          <p:cNvSpPr/>
          <p:nvPr/>
        </p:nvSpPr>
        <p:spPr>
          <a:xfrm>
            <a:off x="831850" y="1786255"/>
            <a:ext cx="11174095" cy="2436495"/>
          </a:xfrm>
          <a:prstGeom prst="roundRect">
            <a:avLst>
              <a:gd name="adj" fmla="val 5504"/>
            </a:avLst>
          </a:prstGeom>
          <a:solidFill>
            <a:srgbClr val="FFFFFF"/>
          </a:solidFill>
          <a:ln w="15875">
            <a:solidFill>
              <a:schemeClr val="accent1">
                <a:lumMod val="20000"/>
                <a:lumOff val="80000"/>
              </a:schemeClr>
            </a:solidFill>
          </a:ln>
          <a:effectLst>
            <a:outerShdw blurRad="165100" dist="76200" dir="5400000" algn="t" rotWithShape="0">
              <a:srgbClr val="1C66C4">
                <a:alpha val="40000"/>
              </a:srgbClr>
            </a:outerShdw>
          </a:effectLst>
        </p:spPr>
        <p:style>
          <a:lnRef idx="2">
            <a:srgbClr val="1C66C4">
              <a:shade val="50000"/>
            </a:srgbClr>
          </a:lnRef>
          <a:fillRef idx="1">
            <a:srgbClr val="1C66C4"/>
          </a:fillRef>
          <a:effectRef idx="0">
            <a:srgbClr val="1C66C4"/>
          </a:effectRef>
          <a:fontRef idx="minor">
            <a:srgbClr val="FFFFFF"/>
          </a:fontRef>
        </p:style>
        <p:txBody>
          <a:bodyPr vertOverflow="overflow" horzOverflow="overflow" vert="horz" wrap="none" numCol="1" spcCol="0" rtlCol="0" fromWordArt="0" anchor="ctr" anchorCtr="0" forceAA="0" compatLnSpc="1">
            <a:noAutofit/>
          </a:bodyPr>
          <a:lstStyle/>
          <a:p>
            <a:pPr algn="l" defTabSz="914400"/>
            <a:r>
              <a:rPr lang="zh-CN" altLang="en-US" sz="1200">
                <a:latin typeface="微软雅黑" panose="020B0503020204020204" pitchFamily="34" charset="-122"/>
                <a:ea typeface="微软雅黑" panose="020B0503020204020204" pitchFamily="34" charset="-122"/>
                <a:sym typeface="+mn-ea"/>
              </a:rPr>
              <a:t>在线客服</a:t>
            </a:r>
            <a:endParaRPr lang="zh-CN" altLang="en-US" sz="1200">
              <a:latin typeface="微软雅黑" panose="020B0503020204020204" pitchFamily="34" charset="-122"/>
              <a:ea typeface="微软雅黑" panose="020B0503020204020204" pitchFamily="34" charset="-122"/>
            </a:endParaRPr>
          </a:p>
          <a:p>
            <a:pPr defTabSz="914400"/>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8735" y="2525155"/>
            <a:ext cx="697089" cy="645160"/>
          </a:xfrm>
          <a:prstGeom prst="rect">
            <a:avLst/>
          </a:prstGeom>
          <a:noFill/>
        </p:spPr>
        <p:txBody>
          <a:bodyPr wrap="square">
            <a:spAutoFit/>
          </a:bodyPr>
          <a:lstStyle/>
          <a:p>
            <a:pPr algn="ctr"/>
            <a:r>
              <a:rPr kumimoji="1" lang="zh-CN" altLang="en-US" b="1" dirty="0"/>
              <a:t>场景</a:t>
            </a:r>
            <a:endParaRPr kumimoji="1" lang="zh-CN" altLang="en-US" b="1" dirty="0"/>
          </a:p>
          <a:p>
            <a:pPr algn="ctr"/>
            <a:r>
              <a:rPr kumimoji="1" lang="zh-CN" altLang="en-US" b="1" dirty="0"/>
              <a:t>示例</a:t>
            </a:r>
            <a:endParaRPr kumimoji="1" lang="zh-CN" altLang="en-US" b="1" dirty="0"/>
          </a:p>
        </p:txBody>
      </p:sp>
      <p:sp>
        <p:nvSpPr>
          <p:cNvPr id="13" name="文本框 12"/>
          <p:cNvSpPr txBox="1"/>
          <p:nvPr/>
        </p:nvSpPr>
        <p:spPr>
          <a:xfrm>
            <a:off x="38735" y="5972175"/>
            <a:ext cx="697230" cy="485140"/>
          </a:xfrm>
          <a:prstGeom prst="rect">
            <a:avLst/>
          </a:prstGeom>
          <a:noFill/>
        </p:spPr>
        <p:txBody>
          <a:bodyPr wrap="square">
            <a:noAutofit/>
          </a:bodyPr>
          <a:lstStyle/>
          <a:p>
            <a:pPr algn="ctr"/>
            <a:r>
              <a:rPr kumimoji="1" lang="zh-CN" altLang="en-US" sz="1600" b="1" dirty="0"/>
              <a:t>提升举措</a:t>
            </a:r>
            <a:endParaRPr kumimoji="1" lang="zh-CN" altLang="en-US" sz="1600" b="1" dirty="0"/>
          </a:p>
        </p:txBody>
      </p:sp>
      <p:sp>
        <p:nvSpPr>
          <p:cNvPr id="17" name="文本框 16"/>
          <p:cNvSpPr txBox="1"/>
          <p:nvPr/>
        </p:nvSpPr>
        <p:spPr>
          <a:xfrm>
            <a:off x="38735" y="4429520"/>
            <a:ext cx="697089" cy="583565"/>
          </a:xfrm>
          <a:prstGeom prst="rect">
            <a:avLst/>
          </a:prstGeom>
          <a:noFill/>
        </p:spPr>
        <p:txBody>
          <a:bodyPr wrap="square">
            <a:spAutoFit/>
          </a:bodyPr>
          <a:lstStyle/>
          <a:p>
            <a:pPr algn="ctr"/>
            <a:r>
              <a:rPr kumimoji="1" lang="zh-CN" altLang="en-US" sz="1600" b="1" dirty="0"/>
              <a:t>平台能力</a:t>
            </a:r>
            <a:endParaRPr kumimoji="1" lang="zh-CN" altLang="en-US" sz="1600" b="1" dirty="0"/>
          </a:p>
        </p:txBody>
      </p:sp>
      <p:sp>
        <p:nvSpPr>
          <p:cNvPr id="19" name="矩形 18"/>
          <p:cNvSpPr/>
          <p:nvPr/>
        </p:nvSpPr>
        <p:spPr>
          <a:xfrm>
            <a:off x="826135" y="3959860"/>
            <a:ext cx="10914380" cy="1253490"/>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4" name="文本框 3"/>
          <p:cNvSpPr txBox="1"/>
          <p:nvPr/>
        </p:nvSpPr>
        <p:spPr>
          <a:xfrm>
            <a:off x="2320925" y="1562735"/>
            <a:ext cx="7407910" cy="275590"/>
          </a:xfrm>
          <a:prstGeom prst="rect">
            <a:avLst/>
          </a:prstGeom>
          <a:noFill/>
        </p:spPr>
        <p:txBody>
          <a:bodyPr wrap="square" rtlCol="0" anchor="t">
            <a:spAutoFit/>
          </a:bodyPr>
          <a:lstStyle/>
          <a:p>
            <a:pPr algn="ctr"/>
            <a:r>
              <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渠道端到端数智化渠道运营</a:t>
            </a:r>
            <a:r>
              <a:rPr lang="en-US" altLang="zh-CN"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以中国移动</a:t>
            </a:r>
            <a:r>
              <a:rPr lang="en-US" altLang="zh-CN"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APP</a:t>
            </a:r>
            <a:r>
              <a:rPr lang="zh-CN" altLang="en-US" sz="1200" b="1" u="sng" dirty="0">
                <a:latin typeface="微软雅黑" panose="020B0503020204020204" pitchFamily="34" charset="-122"/>
                <a:ea typeface="微软雅黑" panose="020B0503020204020204" pitchFamily="34" charset="-122"/>
                <a:cs typeface="微软雅黑" panose="020B0503020204020204" pitchFamily="34" charset="-122"/>
                <a:sym typeface="+mn-ea"/>
              </a:rPr>
              <a:t>运营为示例</a:t>
            </a:r>
            <a:endParaRPr lang="zh-CN" sz="1200" b="1" u="sng"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8" name="圆角矩形 124"/>
          <p:cNvSpPr/>
          <p:nvPr/>
        </p:nvSpPr>
        <p:spPr>
          <a:xfrm>
            <a:off x="814070" y="4238625"/>
            <a:ext cx="11207750" cy="1423670"/>
          </a:xfrm>
          <a:prstGeom prst="roundRect">
            <a:avLst>
              <a:gd name="adj" fmla="val 5504"/>
            </a:avLst>
          </a:prstGeom>
          <a:solidFill>
            <a:srgbClr val="FFFFFF"/>
          </a:solidFill>
          <a:ln w="15875">
            <a:solidFill>
              <a:schemeClr val="accent1">
                <a:lumMod val="20000"/>
                <a:lumOff val="80000"/>
              </a:schemeClr>
            </a:solidFill>
          </a:ln>
          <a:effectLst>
            <a:outerShdw blurRad="165100" dist="76200" dir="5400000" algn="t" rotWithShape="0">
              <a:srgbClr val="1C66C4">
                <a:alpha val="40000"/>
              </a:srgbClr>
            </a:outerShdw>
          </a:effectLst>
        </p:spPr>
        <p:style>
          <a:lnRef idx="2">
            <a:srgbClr val="1C66C4">
              <a:shade val="50000"/>
            </a:srgbClr>
          </a:lnRef>
          <a:fillRef idx="1">
            <a:srgbClr val="1C66C4"/>
          </a:fillRef>
          <a:effectRef idx="0">
            <a:srgbClr val="1C66C4"/>
          </a:effectRef>
          <a:fontRef idx="minor">
            <a:srgbClr val="FFFFFF"/>
          </a:fontRef>
        </p:style>
        <p:txBody>
          <a:bodyPr vertOverflow="overflow" horzOverflow="overflow" vert="horz" wrap="none" numCol="1" spcCol="0" rtlCol="0" fromWordArt="0" anchor="ctr" anchorCtr="0" forceAA="0" compatLnSpc="1">
            <a:noAutofit/>
          </a:bodyPr>
          <a:lstStyle/>
          <a:p>
            <a:pPr defTabSz="914400"/>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64" name="文本框 63"/>
          <p:cNvSpPr txBox="1"/>
          <p:nvPr/>
        </p:nvSpPr>
        <p:spPr>
          <a:xfrm>
            <a:off x="8271912" y="4406494"/>
            <a:ext cx="373830" cy="306759"/>
          </a:xfrm>
          <a:prstGeom prst="rect">
            <a:avLst/>
          </a:prstGeom>
          <a:no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en-US" altLang="zh-CN" sz="1800" b="1"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77" name="矩形 76"/>
          <p:cNvSpPr/>
          <p:nvPr/>
        </p:nvSpPr>
        <p:spPr>
          <a:xfrm>
            <a:off x="901065" y="5803900"/>
            <a:ext cx="6513195" cy="828040"/>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0000" rtlCol="0" anchor="ctr" anchorCtr="0"/>
          <a:lstStyle/>
          <a:p>
            <a:pPr indent="0" algn="ctr" fontAlgn="auto">
              <a:lnSpc>
                <a:spcPct val="130000"/>
              </a:lnSpc>
              <a:spcBef>
                <a:spcPts val="0"/>
              </a:spcBef>
              <a:spcAft>
                <a:spcPts val="0"/>
              </a:spcAft>
            </a:pPr>
            <a:r>
              <a:rPr lang="zh-CN" altLang="en-US"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打造智能触客体系</a:t>
            </a:r>
            <a:endParaRPr lang="zh-CN" altLang="en-US"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9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汇聚集省专投放数据，推进</a:t>
            </a:r>
            <a:r>
              <a:rPr lang="zh-CN" altLang="en-US" sz="9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渠道、触点、产品编码统一</a:t>
            </a:r>
            <a:r>
              <a:rPr lang="zh-CN" altLang="en-US" sz="9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9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9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智能策划升级</a:t>
            </a:r>
            <a:r>
              <a:rPr lang="zh-CN" altLang="en-US" sz="9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，对客群进行智能匹配；</a:t>
            </a:r>
            <a:r>
              <a:rPr lang="en-US" altLang="zh-CN" sz="9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1+N</a:t>
            </a:r>
            <a:r>
              <a:rPr lang="zh-CN" altLang="en-US" sz="9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统一调度</a:t>
            </a:r>
            <a:r>
              <a:rPr lang="en-US" altLang="zh-CN" sz="9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业务投放智能投放；实时投放，快速识别用户行为意图；并</a:t>
            </a:r>
            <a:r>
              <a:rPr lang="zh-CN" altLang="en-US" sz="9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汇聚集省专投放数据</a:t>
            </a:r>
            <a:r>
              <a:rPr lang="zh-CN" altLang="en-US" sz="9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，实时监测投放效能、投放效果等。</a:t>
            </a:r>
            <a:endParaRPr lang="zh-CN" altLang="en-US" sz="9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矩形 7"/>
          <p:cNvSpPr/>
          <p:nvPr/>
        </p:nvSpPr>
        <p:spPr>
          <a:xfrm>
            <a:off x="941070" y="5262245"/>
            <a:ext cx="10987405" cy="27559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1" name="文本框 50"/>
          <p:cNvSpPr txBox="1"/>
          <p:nvPr/>
        </p:nvSpPr>
        <p:spPr>
          <a:xfrm>
            <a:off x="929005" y="5255260"/>
            <a:ext cx="540385" cy="335915"/>
          </a:xfrm>
          <a:prstGeom prst="rect">
            <a:avLst/>
          </a:prstGeom>
          <a:noFill/>
        </p:spPr>
        <p:txBody>
          <a:bodyPr wrap="square" rtlCol="0">
            <a:noAutofit/>
          </a:bodyPr>
          <a:lstStyle/>
          <a:p>
            <a:pPr algn="l"/>
            <a:r>
              <a:rPr kumimoji="1" lang="zh-CN" altLang="en-US" sz="1000" b="1" dirty="0">
                <a:solidFill>
                  <a:schemeClr val="accent1">
                    <a:lumMod val="75000"/>
                  </a:schemeClr>
                </a:solidFill>
                <a:latin typeface="微软雅黑" panose="020B0503020204020204" pitchFamily="34" charset="-122"/>
                <a:ea typeface="微软雅黑" panose="020B0503020204020204" pitchFamily="34" charset="-122"/>
              </a:rPr>
              <a:t>数据</a:t>
            </a:r>
            <a:endParaRPr kumimoji="1" lang="zh-CN" altLang="en-US" sz="1000" b="1" dirty="0">
              <a:solidFill>
                <a:schemeClr val="accent1">
                  <a:lumMod val="75000"/>
                </a:schemeClr>
              </a:solidFill>
              <a:latin typeface="微软雅黑" panose="020B0503020204020204" pitchFamily="34" charset="-122"/>
              <a:ea typeface="微软雅黑" panose="020B0503020204020204" pitchFamily="34" charset="-122"/>
            </a:endParaRPr>
          </a:p>
          <a:p>
            <a:pPr algn="l"/>
            <a:r>
              <a:rPr kumimoji="1" lang="zh-CN" altLang="en-US" sz="1000" b="1" dirty="0">
                <a:solidFill>
                  <a:schemeClr val="accent1">
                    <a:lumMod val="75000"/>
                  </a:schemeClr>
                </a:solidFill>
                <a:latin typeface="微软雅黑" panose="020B0503020204020204" pitchFamily="34" charset="-122"/>
                <a:ea typeface="微软雅黑" panose="020B0503020204020204" pitchFamily="34" charset="-122"/>
              </a:rPr>
              <a:t>汇聚</a:t>
            </a:r>
            <a:endParaRPr kumimoji="1" lang="zh-CN" altLang="en-US" sz="10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3" name="文本框 52"/>
          <p:cNvSpPr txBox="1"/>
          <p:nvPr>
            <p:custDataLst>
              <p:tags r:id="rId1"/>
            </p:custDataLst>
          </p:nvPr>
        </p:nvSpPr>
        <p:spPr>
          <a:xfrm>
            <a:off x="4658549" y="5304790"/>
            <a:ext cx="3796030" cy="179705"/>
          </a:xfrm>
          <a:prstGeom prst="rect">
            <a:avLst/>
          </a:prstGeom>
          <a:noFill/>
        </p:spPr>
        <p:txBody>
          <a:bodyPr wrap="square" rtlCol="0">
            <a:noAutofit/>
          </a:bodyPr>
          <a:lstStyle/>
          <a:p>
            <a:pPr algn="l"/>
            <a:r>
              <a:rPr kumimoji="1" lang="zh-CN" altLang="en-US" sz="900" dirty="0">
                <a:solidFill>
                  <a:schemeClr val="accent1">
                    <a:lumMod val="75000"/>
                  </a:schemeClr>
                </a:solidFill>
                <a:latin typeface="微软雅黑" panose="020B0503020204020204" pitchFamily="34" charset="-122"/>
                <a:ea typeface="微软雅黑" panose="020B0503020204020204" pitchFamily="34" charset="-122"/>
                <a:sym typeface="+mn-ea"/>
              </a:rPr>
              <a:t>渠道触</a:t>
            </a:r>
            <a:r>
              <a:rPr kumimoji="1" lang="zh-CN" altLang="en-US" sz="900" dirty="0">
                <a:solidFill>
                  <a:schemeClr val="accent1">
                    <a:lumMod val="75000"/>
                  </a:schemeClr>
                </a:solidFill>
                <a:latin typeface="微软雅黑" panose="020B0503020204020204" pitchFamily="34" charset="-122"/>
                <a:ea typeface="微软雅黑" panose="020B0503020204020204" pitchFamily="34" charset="-122"/>
                <a:sym typeface="+mn-ea"/>
              </a:rPr>
              <a:t>客投放、产品数据、客户实时行为数据、业务系统数据</a:t>
            </a:r>
            <a:r>
              <a:rPr kumimoji="1" lang="en-US" altLang="zh-CN" sz="900" dirty="0">
                <a:solidFill>
                  <a:schemeClr val="accent1">
                    <a:lumMod val="75000"/>
                  </a:schemeClr>
                </a:solidFill>
                <a:latin typeface="微软雅黑" panose="020B0503020204020204" pitchFamily="34" charset="-122"/>
                <a:ea typeface="微软雅黑" panose="020B0503020204020204" pitchFamily="34" charset="-122"/>
                <a:sym typeface="+mn-ea"/>
              </a:rPr>
              <a:t>...</a:t>
            </a:r>
            <a:endParaRPr kumimoji="1" lang="zh-CN" altLang="en-US" sz="900" dirty="0">
              <a:solidFill>
                <a:schemeClr val="accent1">
                  <a:lumMod val="75000"/>
                </a:schemeClr>
              </a:solidFill>
              <a:latin typeface="微软雅黑" panose="020B0503020204020204" pitchFamily="34" charset="-122"/>
              <a:ea typeface="微软雅黑" panose="020B0503020204020204" pitchFamily="34" charset="-122"/>
            </a:endParaRPr>
          </a:p>
          <a:p>
            <a:pPr algn="l"/>
            <a:endParaRPr kumimoji="1" lang="zh-CN" altLang="en-US" sz="9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5" name="文本框 54"/>
          <p:cNvSpPr txBox="1"/>
          <p:nvPr>
            <p:custDataLst>
              <p:tags r:id="rId2"/>
            </p:custDataLst>
          </p:nvPr>
        </p:nvSpPr>
        <p:spPr>
          <a:xfrm>
            <a:off x="8472359" y="5304790"/>
            <a:ext cx="3315335" cy="179705"/>
          </a:xfrm>
          <a:prstGeom prst="rect">
            <a:avLst/>
          </a:prstGeom>
          <a:noFill/>
        </p:spPr>
        <p:txBody>
          <a:bodyPr wrap="square" rtlCol="0">
            <a:noAutofit/>
          </a:bodyPr>
          <a:lstStyle/>
          <a:p>
            <a:pPr algn="l"/>
            <a:r>
              <a:rPr kumimoji="1" lang="zh-CN" altLang="en-US" sz="900" dirty="0">
                <a:solidFill>
                  <a:schemeClr val="accent1">
                    <a:lumMod val="75000"/>
                  </a:schemeClr>
                </a:solidFill>
                <a:latin typeface="微软雅黑" panose="020B0503020204020204" pitchFamily="34" charset="-122"/>
                <a:ea typeface="微软雅黑" panose="020B0503020204020204" pitchFamily="34" charset="-122"/>
              </a:rPr>
              <a:t>渠道收支差指标、</a:t>
            </a:r>
            <a:r>
              <a:rPr kumimoji="1" lang="zh-CN" altLang="en-US" sz="900" dirty="0">
                <a:solidFill>
                  <a:schemeClr val="accent1">
                    <a:lumMod val="75000"/>
                  </a:schemeClr>
                </a:solidFill>
                <a:latin typeface="微软雅黑" panose="020B0503020204020204" pitchFamily="34" charset="-122"/>
                <a:ea typeface="微软雅黑" panose="020B0503020204020204" pitchFamily="34" charset="-122"/>
                <a:sym typeface="+mn-ea"/>
              </a:rPr>
              <a:t>省专渠道收支、省优秀案例上报</a:t>
            </a:r>
            <a:r>
              <a:rPr kumimoji="1" lang="en-US" altLang="zh-CN" sz="900" dirty="0">
                <a:solidFill>
                  <a:schemeClr val="accent1">
                    <a:lumMod val="75000"/>
                  </a:schemeClr>
                </a:solidFill>
                <a:latin typeface="微软雅黑" panose="020B0503020204020204" pitchFamily="34" charset="-122"/>
                <a:ea typeface="微软雅黑" panose="020B0503020204020204" pitchFamily="34" charset="-122"/>
                <a:sym typeface="+mn-ea"/>
              </a:rPr>
              <a:t>...</a:t>
            </a:r>
            <a:endParaRPr kumimoji="1" lang="en-US" altLang="zh-CN" sz="900" dirty="0">
              <a:solidFill>
                <a:schemeClr val="accent1">
                  <a:lumMod val="75000"/>
                </a:schemeClr>
              </a:solidFill>
              <a:latin typeface="微软雅黑" panose="020B0503020204020204" pitchFamily="34" charset="-122"/>
              <a:ea typeface="微软雅黑" panose="020B0503020204020204" pitchFamily="34" charset="-122"/>
              <a:sym typeface="+mn-ea"/>
            </a:endParaRPr>
          </a:p>
        </p:txBody>
      </p:sp>
      <p:sp>
        <p:nvSpPr>
          <p:cNvPr id="57" name="文本框 56"/>
          <p:cNvSpPr txBox="1"/>
          <p:nvPr>
            <p:custDataLst>
              <p:tags r:id="rId3"/>
            </p:custDataLst>
          </p:nvPr>
        </p:nvSpPr>
        <p:spPr>
          <a:xfrm>
            <a:off x="1362968" y="5304790"/>
            <a:ext cx="3277801" cy="175049"/>
          </a:xfrm>
          <a:prstGeom prst="rect">
            <a:avLst/>
          </a:prstGeom>
          <a:noFill/>
        </p:spPr>
        <p:txBody>
          <a:bodyPr wrap="square" rtlCol="0">
            <a:noAutofit/>
          </a:bodyPr>
          <a:lstStyle/>
          <a:p>
            <a:pPr algn="l"/>
            <a:r>
              <a:rPr kumimoji="1" lang="zh-CN" altLang="en-US" sz="900" dirty="0">
                <a:solidFill>
                  <a:schemeClr val="accent1">
                    <a:lumMod val="75000"/>
                  </a:schemeClr>
                </a:solidFill>
                <a:latin typeface="微软雅黑" panose="020B0503020204020204" pitchFamily="34" charset="-122"/>
                <a:ea typeface="微软雅黑" panose="020B0503020204020204" pitchFamily="34" charset="-122"/>
              </a:rPr>
              <a:t>一级、二级渠道数据、省专公司渠道触点、</a:t>
            </a:r>
            <a:r>
              <a:rPr kumimoji="1" lang="en-US" altLang="zh-CN" sz="900" dirty="0">
                <a:solidFill>
                  <a:schemeClr val="accent1">
                    <a:lumMod val="75000"/>
                  </a:schemeClr>
                </a:solidFill>
                <a:latin typeface="微软雅黑" panose="020B0503020204020204" pitchFamily="34" charset="-122"/>
                <a:ea typeface="微软雅黑" panose="020B0503020204020204" pitchFamily="34" charset="-122"/>
                <a:sym typeface="+mn-ea"/>
              </a:rPr>
              <a:t>...</a:t>
            </a:r>
            <a:endParaRPr kumimoji="1" lang="zh-CN" altLang="en-US" sz="900" dirty="0">
              <a:solidFill>
                <a:schemeClr val="accent1">
                  <a:lumMod val="75000"/>
                </a:schemeClr>
              </a:solidFill>
              <a:latin typeface="微软雅黑" panose="020B0503020204020204" pitchFamily="34" charset="-122"/>
              <a:ea typeface="微软雅黑" panose="020B0503020204020204" pitchFamily="34" charset="-122"/>
            </a:endParaRPr>
          </a:p>
          <a:p>
            <a:pPr algn="l"/>
            <a:endParaRPr kumimoji="1" lang="zh-CN" altLang="en-US" sz="900" dirty="0">
              <a:solidFill>
                <a:schemeClr val="accent1">
                  <a:lumMod val="75000"/>
                </a:schemeClr>
              </a:solidFill>
              <a:latin typeface="微软雅黑" panose="020B0503020204020204" pitchFamily="34" charset="-122"/>
              <a:ea typeface="微软雅黑" panose="020B0503020204020204" pitchFamily="34" charset="-122"/>
            </a:endParaRPr>
          </a:p>
        </p:txBody>
      </p:sp>
      <p:grpSp>
        <p:nvGrpSpPr>
          <p:cNvPr id="68" name="组合 67"/>
          <p:cNvGrpSpPr/>
          <p:nvPr/>
        </p:nvGrpSpPr>
        <p:grpSpPr>
          <a:xfrm>
            <a:off x="2832100" y="4483735"/>
            <a:ext cx="2058035" cy="854075"/>
            <a:chOff x="4460" y="6833"/>
            <a:chExt cx="3241" cy="1345"/>
          </a:xfrm>
        </p:grpSpPr>
        <p:sp>
          <p:nvSpPr>
            <p:cNvPr id="12" name="燕尾形 11"/>
            <p:cNvSpPr/>
            <p:nvPr>
              <p:custDataLst>
                <p:tags r:id="rId4"/>
              </p:custDataLst>
            </p:nvPr>
          </p:nvSpPr>
          <p:spPr>
            <a:xfrm>
              <a:off x="4460" y="6833"/>
              <a:ext cx="3207" cy="323"/>
            </a:xfrm>
            <a:prstGeom prst="chevron">
              <a:avLst/>
            </a:prstGeom>
            <a:noFill/>
            <a:ln>
              <a:noFill/>
            </a:ln>
            <a:extLst>
              <a:ext uri="{909E8E84-426E-40DD-AFC4-6F175D3DCCD1}">
                <a14:hiddenFill xmlns:a14="http://schemas.microsoft.com/office/drawing/2010/main">
                  <a:solidFill>
                    <a:srgbClr val="40B0FF"/>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00000"/>
                </a:lnSpc>
              </a:pPr>
              <a:r>
                <a:rPr lang="zh-CN" altLang="en-US" sz="1000" b="1">
                  <a:solidFill>
                    <a:schemeClr val="accent1"/>
                  </a:solidFill>
                  <a:highlight>
                    <a:srgbClr val="000000">
                      <a:alpha val="0"/>
                    </a:srgbClr>
                  </a:highlight>
                </a:rPr>
                <a:t>智能触</a:t>
              </a:r>
              <a:r>
                <a:rPr lang="zh-CN" altLang="en-US" sz="1000" b="1">
                  <a:solidFill>
                    <a:schemeClr val="accent1"/>
                  </a:solidFill>
                  <a:highlight>
                    <a:srgbClr val="000000">
                      <a:alpha val="0"/>
                    </a:srgbClr>
                  </a:highlight>
                </a:rPr>
                <a:t>客能力</a:t>
              </a:r>
              <a:endParaRPr lang="zh-CN" altLang="en-US" sz="1000" b="1">
                <a:solidFill>
                  <a:schemeClr val="accent1"/>
                </a:solidFill>
                <a:highlight>
                  <a:srgbClr val="000000">
                    <a:alpha val="0"/>
                  </a:srgbClr>
                </a:highlight>
              </a:endParaRPr>
            </a:p>
          </p:txBody>
        </p:sp>
        <p:sp>
          <p:nvSpPr>
            <p:cNvPr id="14" name="文本框 13"/>
            <p:cNvSpPr txBox="1"/>
            <p:nvPr>
              <p:custDataLst>
                <p:tags r:id="rId5"/>
              </p:custDataLst>
            </p:nvPr>
          </p:nvSpPr>
          <p:spPr>
            <a:xfrm>
              <a:off x="4520" y="7065"/>
              <a:ext cx="3181" cy="1113"/>
            </a:xfrm>
            <a:prstGeom prst="rect">
              <a:avLst/>
            </a:prstGeom>
            <a:noFill/>
          </p:spPr>
          <p:txBody>
            <a:bodyPr wrap="square" rtlCol="0" anchor="t">
              <a:spAutoFit/>
            </a:bodyPr>
            <a:p>
              <a:pPr marL="136525" indent="-136525" algn="l" fontAlgn="auto">
                <a:lnSpc>
                  <a:spcPct val="100000"/>
                </a:lnSpc>
                <a:spcBef>
                  <a:spcPts val="0"/>
                </a:spcBef>
                <a:spcAft>
                  <a:spcPts val="0"/>
                </a:spcAft>
                <a:buFont typeface="Arial" panose="020B0604020202020204" pitchFamily="34" charset="0"/>
                <a:buChar char="•"/>
              </a:pPr>
              <a:r>
                <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智能策划能力</a:t>
              </a:r>
              <a:r>
                <a:rPr kumimoji="1"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触客投放配置、智能匹配，提升</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转化效率；</a:t>
              </a:r>
              <a:endParaRPr kumimoji="1"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a:p>
              <a:pPr marL="136525" indent="-136525" algn="l" fontAlgn="auto">
                <a:lnSpc>
                  <a:spcPct val="100000"/>
                </a:lnSpc>
                <a:spcBef>
                  <a:spcPts val="0"/>
                </a:spcBef>
                <a:spcAft>
                  <a:spcPts val="0"/>
                </a:spcAft>
                <a:buFont typeface="Arial" panose="020B0604020202020204" pitchFamily="34" charset="0"/>
                <a:buChar char="•"/>
              </a:pPr>
              <a:r>
                <a:rPr kumimoji="1"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实时</a:t>
              </a:r>
              <a:r>
                <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触</a:t>
              </a:r>
              <a:r>
                <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客能力</a:t>
              </a:r>
              <a:r>
                <a:rPr kumimoji="1"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，投放事件汇聚</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a:t>
              </a:r>
              <a:r>
                <a:rPr kumimoji="1"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对客群</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精准</a:t>
              </a:r>
              <a:r>
                <a:rPr kumimoji="1"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匹配</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实现在线、近线投放；</a:t>
              </a:r>
              <a:endParaRPr kumimoji="1"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a:p>
              <a:pPr marL="136525" indent="-136525" algn="l" fontAlgn="auto">
                <a:lnSpc>
                  <a:spcPct val="100000"/>
                </a:lnSpc>
                <a:spcBef>
                  <a:spcPts val="0"/>
                </a:spcBef>
                <a:spcAft>
                  <a:spcPts val="0"/>
                </a:spcAft>
                <a:buFont typeface="Arial" panose="020B0604020202020204" pitchFamily="34" charset="0"/>
                <a:buChar char="•"/>
              </a:pPr>
              <a:endPar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p:txBody>
        </p:sp>
      </p:grpSp>
      <p:grpSp>
        <p:nvGrpSpPr>
          <p:cNvPr id="38" name="组合 37"/>
          <p:cNvGrpSpPr/>
          <p:nvPr/>
        </p:nvGrpSpPr>
        <p:grpSpPr>
          <a:xfrm rot="0">
            <a:off x="5104225" y="4471670"/>
            <a:ext cx="2434843" cy="922353"/>
            <a:chOff x="10676" y="6621"/>
            <a:chExt cx="4540" cy="1435"/>
          </a:xfrm>
        </p:grpSpPr>
        <p:sp>
          <p:nvSpPr>
            <p:cNvPr id="26" name="燕尾形 25"/>
            <p:cNvSpPr/>
            <p:nvPr>
              <p:custDataLst>
                <p:tags r:id="rId6"/>
              </p:custDataLst>
            </p:nvPr>
          </p:nvSpPr>
          <p:spPr>
            <a:xfrm>
              <a:off x="10678" y="6621"/>
              <a:ext cx="4538" cy="338"/>
            </a:xfrm>
            <a:prstGeom prst="chevron">
              <a:avLst/>
            </a:prstGeom>
            <a:noFill/>
            <a:ln>
              <a:noFill/>
            </a:ln>
            <a:extLst>
              <a:ext uri="{909E8E84-426E-40DD-AFC4-6F175D3DCCD1}">
                <a14:hiddenFill xmlns:a14="http://schemas.microsoft.com/office/drawing/2010/main">
                  <a:solidFill>
                    <a:srgbClr val="40B0FF"/>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00000"/>
                </a:lnSpc>
              </a:pPr>
              <a:r>
                <a:rPr lang="zh-CN" altLang="en-US" sz="1000" b="1">
                  <a:solidFill>
                    <a:schemeClr val="accent1"/>
                  </a:solidFill>
                  <a:highlight>
                    <a:srgbClr val="000000">
                      <a:alpha val="0"/>
                    </a:srgbClr>
                  </a:highlight>
                </a:rPr>
                <a:t>统一触达能力</a:t>
              </a:r>
              <a:endParaRPr lang="zh-CN" altLang="en-US" sz="1000" b="1">
                <a:solidFill>
                  <a:schemeClr val="accent1"/>
                </a:solidFill>
                <a:highlight>
                  <a:srgbClr val="000000">
                    <a:alpha val="0"/>
                  </a:srgbClr>
                </a:highlight>
              </a:endParaRPr>
            </a:p>
          </p:txBody>
        </p:sp>
        <p:sp>
          <p:nvSpPr>
            <p:cNvPr id="28" name="文本框 27"/>
            <p:cNvSpPr txBox="1"/>
            <p:nvPr>
              <p:custDataLst>
                <p:tags r:id="rId7"/>
              </p:custDataLst>
            </p:nvPr>
          </p:nvSpPr>
          <p:spPr>
            <a:xfrm>
              <a:off x="10676" y="6853"/>
              <a:ext cx="4352" cy="1203"/>
            </a:xfrm>
            <a:prstGeom prst="rect">
              <a:avLst/>
            </a:prstGeom>
            <a:noFill/>
          </p:spPr>
          <p:txBody>
            <a:bodyPr wrap="square" rtlCol="0" anchor="t">
              <a:noAutofit/>
            </a:bodyPr>
            <a:p>
              <a:pPr marL="136525" indent="-136525" algn="l" fontAlgn="auto">
                <a:lnSpc>
                  <a:spcPct val="100000"/>
                </a:lnSpc>
                <a:spcBef>
                  <a:spcPts val="0"/>
                </a:spcBef>
                <a:spcAft>
                  <a:spcPts val="0"/>
                </a:spcAft>
                <a:buFont typeface="Arial" panose="020B0604020202020204" pitchFamily="34" charset="0"/>
                <a:buChar char="•"/>
              </a:pPr>
              <a:r>
                <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全域触达：</a:t>
              </a:r>
              <a:r>
                <a:rPr kumimoji="1" lang="en-US" alt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1+N APP</a:t>
              </a:r>
              <a:r>
                <a:rPr kumimoji="1" lang="zh-CN" altLang="en-US"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应用矩阵、线下渠道触点、外部渠道触点</a:t>
              </a:r>
              <a:endPar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a:p>
              <a:pPr marL="136525" indent="-136525" algn="l" fontAlgn="auto">
                <a:lnSpc>
                  <a:spcPct val="100000"/>
                </a:lnSpc>
                <a:spcBef>
                  <a:spcPts val="0"/>
                </a:spcBef>
                <a:spcAft>
                  <a:spcPts val="0"/>
                </a:spcAft>
                <a:buFont typeface="Arial" panose="020B0604020202020204" pitchFamily="34" charset="0"/>
                <a:buChar char="•"/>
              </a:pPr>
              <a:r>
                <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统一调度：</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触点统一管理、统一调度</a:t>
              </a:r>
              <a:endPar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a:p>
              <a:pPr marL="136525" indent="-136525" algn="l" fontAlgn="auto">
                <a:lnSpc>
                  <a:spcPct val="100000"/>
                </a:lnSpc>
                <a:spcBef>
                  <a:spcPts val="0"/>
                </a:spcBef>
                <a:spcAft>
                  <a:spcPts val="0"/>
                </a:spcAft>
                <a:buFont typeface="Arial" panose="020B0604020202020204" pitchFamily="34" charset="0"/>
                <a:buChar char="•"/>
              </a:pPr>
              <a:r>
                <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渠道续航管理</a:t>
              </a:r>
              <a:endPar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p:txBody>
        </p:sp>
      </p:grpSp>
      <p:grpSp>
        <p:nvGrpSpPr>
          <p:cNvPr id="133" name="组合 132"/>
          <p:cNvGrpSpPr/>
          <p:nvPr/>
        </p:nvGrpSpPr>
        <p:grpSpPr>
          <a:xfrm rot="0">
            <a:off x="990443" y="4495165"/>
            <a:ext cx="1708860" cy="868045"/>
            <a:chOff x="1514" y="6621"/>
            <a:chExt cx="2794" cy="1833"/>
          </a:xfrm>
        </p:grpSpPr>
        <p:sp>
          <p:nvSpPr>
            <p:cNvPr id="131" name="五边形 130"/>
            <p:cNvSpPr/>
            <p:nvPr>
              <p:custDataLst>
                <p:tags r:id="rId8"/>
              </p:custDataLst>
            </p:nvPr>
          </p:nvSpPr>
          <p:spPr>
            <a:xfrm>
              <a:off x="1514" y="6621"/>
              <a:ext cx="2794" cy="322"/>
            </a:xfrm>
            <a:prstGeom prst="homePlate">
              <a:avLst/>
            </a:prstGeom>
            <a:noFill/>
            <a:ln>
              <a:noFill/>
            </a:ln>
            <a:extLst>
              <a:ext uri="{909E8E84-426E-40DD-AFC4-6F175D3DCCD1}">
                <a14:hiddenFill xmlns:a14="http://schemas.microsoft.com/office/drawing/2010/main">
                  <a:solidFill>
                    <a:srgbClr val="40B0FF"/>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00000"/>
                </a:lnSpc>
              </a:pPr>
              <a:r>
                <a:rPr lang="zh-CN" altLang="en-US" sz="1000" b="1">
                  <a:solidFill>
                    <a:schemeClr val="accent1"/>
                  </a:solidFill>
                </a:rPr>
                <a:t>渠道汇聚能力</a:t>
              </a:r>
              <a:endParaRPr lang="zh-CN" altLang="en-US" sz="1000" b="1">
                <a:solidFill>
                  <a:schemeClr val="accent1"/>
                </a:solidFill>
              </a:endParaRPr>
            </a:p>
          </p:txBody>
        </p:sp>
        <p:sp>
          <p:nvSpPr>
            <p:cNvPr id="132" name="文本框 131"/>
            <p:cNvSpPr txBox="1"/>
            <p:nvPr>
              <p:custDataLst>
                <p:tags r:id="rId9"/>
              </p:custDataLst>
            </p:nvPr>
          </p:nvSpPr>
          <p:spPr>
            <a:xfrm>
              <a:off x="1572" y="6900"/>
              <a:ext cx="2695" cy="1554"/>
            </a:xfrm>
            <a:prstGeom prst="rect">
              <a:avLst/>
            </a:prstGeom>
            <a:noFill/>
          </p:spPr>
          <p:txBody>
            <a:bodyPr wrap="square" rtlCol="0" anchor="t">
              <a:noAutofit/>
            </a:bodyPr>
            <a:p>
              <a:pPr marL="136525" indent="-136525" algn="l" fontAlgn="auto">
                <a:lnSpc>
                  <a:spcPct val="100000"/>
                </a:lnSpc>
                <a:spcBef>
                  <a:spcPts val="0"/>
                </a:spcBef>
                <a:spcAft>
                  <a:spcPts val="0"/>
                </a:spcAft>
                <a:buFont typeface="Arial" panose="020B0604020202020204" pitchFamily="34" charset="0"/>
                <a:buChar char="•"/>
              </a:pPr>
              <a:r>
                <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渠道编码管理：</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拉通渠道、触点、产品编码统一管理及编码统一发放；</a:t>
              </a:r>
              <a:endPar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a:p>
              <a:pPr marL="136525" indent="-136525" algn="l" fontAlgn="auto">
                <a:lnSpc>
                  <a:spcPct val="100000"/>
                </a:lnSpc>
                <a:spcBef>
                  <a:spcPts val="0"/>
                </a:spcBef>
                <a:spcAft>
                  <a:spcPts val="0"/>
                </a:spcAft>
                <a:buFont typeface="Arial" panose="020B0604020202020204" pitchFamily="34" charset="0"/>
                <a:buChar char="•"/>
              </a:pPr>
              <a:r>
                <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渠道触客数据直接采集</a:t>
              </a:r>
              <a:endPar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p:txBody>
        </p:sp>
      </p:grpSp>
      <p:sp>
        <p:nvSpPr>
          <p:cNvPr id="7" name="文本框 6"/>
          <p:cNvSpPr txBox="1"/>
          <p:nvPr>
            <p:custDataLst>
              <p:tags r:id="rId10"/>
            </p:custDataLst>
          </p:nvPr>
        </p:nvSpPr>
        <p:spPr>
          <a:xfrm>
            <a:off x="9785985" y="3762375"/>
            <a:ext cx="2061210" cy="616585"/>
          </a:xfrm>
          <a:prstGeom prst="rect">
            <a:avLst/>
          </a:prstGeom>
          <a:noFill/>
        </p:spPr>
        <p:txBody>
          <a:bodyPr wrap="square" rtlCol="0">
            <a:noAutofit/>
          </a:bodyPr>
          <a:lstStyle/>
          <a:p>
            <a:pPr lvl="0" algn="l">
              <a:lnSpc>
                <a:spcPct val="100000"/>
              </a:lnSpc>
              <a:buClrTx/>
              <a:buSzTx/>
              <a:buFontTx/>
            </a:pPr>
            <a:r>
              <a:rPr lang="zh-CN" altLang="en-US" sz="800">
                <a:solidFill>
                  <a:schemeClr val="tx1"/>
                </a:solidFill>
                <a:latin typeface="微软雅黑" panose="020B0503020204020204" pitchFamily="34" charset="-122"/>
                <a:ea typeface="微软雅黑" panose="020B0503020204020204" pitchFamily="34" charset="-122"/>
                <a:sym typeface="+mn-ea"/>
              </a:rPr>
              <a:t>结合渠道效能及发展进行持续评估分析，通过智能分析</a:t>
            </a:r>
            <a:r>
              <a:rPr lang="en-US" altLang="zh-CN" sz="800">
                <a:solidFill>
                  <a:schemeClr val="tx1"/>
                </a:solidFill>
                <a:latin typeface="微软雅黑" panose="020B0503020204020204" pitchFamily="34" charset="-122"/>
                <a:ea typeface="微软雅黑" panose="020B0503020204020204" pitchFamily="34" charset="-122"/>
                <a:sym typeface="+mn-ea"/>
              </a:rPr>
              <a:t>BI</a:t>
            </a:r>
            <a:r>
              <a:rPr lang="zh-CN" altLang="en-US" sz="800">
                <a:solidFill>
                  <a:schemeClr val="tx1"/>
                </a:solidFill>
                <a:latin typeface="微软雅黑" panose="020B0503020204020204" pitchFamily="34" charset="-122"/>
                <a:ea typeface="微软雅黑" panose="020B0503020204020204" pitchFamily="34" charset="-122"/>
                <a:sym typeface="+mn-ea"/>
              </a:rPr>
              <a:t>工具进行动态报表生成、</a:t>
            </a:r>
            <a:r>
              <a:rPr lang="zh-CN" altLang="en-US" sz="800">
                <a:solidFill>
                  <a:srgbClr val="C00000"/>
                </a:solidFill>
                <a:latin typeface="微软雅黑" panose="020B0503020204020204" pitchFamily="34" charset="-122"/>
                <a:ea typeface="微软雅黑" panose="020B0503020204020204" pitchFamily="34" charset="-122"/>
                <a:sym typeface="+mn-ea"/>
              </a:rPr>
              <a:t>渠道效能评估，联合评估、效能提升建议</a:t>
            </a:r>
            <a:r>
              <a:rPr lang="zh-CN" altLang="en-US" sz="800">
                <a:solidFill>
                  <a:schemeClr val="accent1">
                    <a:lumMod val="75000"/>
                  </a:schemeClr>
                </a:solidFill>
                <a:latin typeface="微软雅黑" panose="020B0503020204020204" pitchFamily="34" charset="-122"/>
                <a:ea typeface="微软雅黑" panose="020B0503020204020204" pitchFamily="34" charset="-122"/>
                <a:sym typeface="+mn-ea"/>
              </a:rPr>
              <a:t>。</a:t>
            </a:r>
            <a:endParaRPr lang="zh-CN" altLang="en-US" sz="800">
              <a:solidFill>
                <a:schemeClr val="accent1">
                  <a:lumMod val="75000"/>
                </a:schemeClr>
              </a:solidFill>
              <a:latin typeface="微软雅黑" panose="020B0503020204020204" pitchFamily="34" charset="-122"/>
              <a:ea typeface="微软雅黑" panose="020B0503020204020204" pitchFamily="34" charset="-122"/>
              <a:sym typeface="+mn-ea"/>
            </a:endParaRPr>
          </a:p>
        </p:txBody>
      </p:sp>
      <p:sp>
        <p:nvSpPr>
          <p:cNvPr id="163" name="文本框 162"/>
          <p:cNvSpPr txBox="1"/>
          <p:nvPr>
            <p:custDataLst>
              <p:tags r:id="rId11"/>
            </p:custDataLst>
          </p:nvPr>
        </p:nvSpPr>
        <p:spPr>
          <a:xfrm>
            <a:off x="1056005" y="3733800"/>
            <a:ext cx="1518285" cy="460375"/>
          </a:xfrm>
          <a:prstGeom prst="rect">
            <a:avLst/>
          </a:prstGeom>
          <a:noFill/>
        </p:spPr>
        <p:txBody>
          <a:bodyPr wrap="square" rtlCol="0">
            <a:spAutoFit/>
          </a:bodyPr>
          <a:p>
            <a:pPr indent="0" fontAlgn="auto">
              <a:lnSpc>
                <a:spcPct val="100000"/>
              </a:lnSpc>
            </a:pPr>
            <a:r>
              <a:rPr lang="zh-CN" sz="800">
                <a:latin typeface="微软雅黑" panose="020B0503020204020204" pitchFamily="34" charset="-122"/>
                <a:ea typeface="微软雅黑" panose="020B0503020204020204" pitchFamily="34" charset="-122"/>
              </a:rPr>
              <a:t>完善规范流程，渠道、触点编码统一发放</a:t>
            </a:r>
            <a:endParaRPr lang="zh-CN" sz="800">
              <a:latin typeface="微软雅黑" panose="020B0503020204020204" pitchFamily="34" charset="-122"/>
              <a:ea typeface="微软雅黑" panose="020B0503020204020204" pitchFamily="34" charset="-122"/>
            </a:endParaRPr>
          </a:p>
          <a:p>
            <a:pPr indent="0" fontAlgn="auto">
              <a:lnSpc>
                <a:spcPct val="100000"/>
              </a:lnSpc>
            </a:pPr>
            <a:r>
              <a:rPr lang="zh-CN" sz="800">
                <a:latin typeface="微软雅黑" panose="020B0503020204020204" pitchFamily="34" charset="-122"/>
                <a:ea typeface="微软雅黑" panose="020B0503020204020204" pitchFamily="34" charset="-122"/>
              </a:rPr>
              <a:t>触客数据统一汇聚</a:t>
            </a:r>
            <a:endParaRPr lang="zh-CN" sz="800">
              <a:latin typeface="微软雅黑" panose="020B0503020204020204" pitchFamily="34" charset="-122"/>
              <a:ea typeface="微软雅黑" panose="020B0503020204020204" pitchFamily="34" charset="-122"/>
            </a:endParaRPr>
          </a:p>
        </p:txBody>
      </p:sp>
      <p:sp>
        <p:nvSpPr>
          <p:cNvPr id="164" name="文本框 163"/>
          <p:cNvSpPr txBox="1"/>
          <p:nvPr>
            <p:custDataLst>
              <p:tags r:id="rId12"/>
            </p:custDataLst>
          </p:nvPr>
        </p:nvSpPr>
        <p:spPr>
          <a:xfrm>
            <a:off x="2832100" y="3762375"/>
            <a:ext cx="2059940" cy="576580"/>
          </a:xfrm>
          <a:prstGeom prst="rect">
            <a:avLst/>
          </a:prstGeom>
          <a:noFill/>
        </p:spPr>
        <p:txBody>
          <a:bodyPr wrap="square" rtlCol="0">
            <a:noAutofit/>
          </a:bodyPr>
          <a:p>
            <a:pPr lvl="0" algn="l">
              <a:lnSpc>
                <a:spcPct val="120000"/>
              </a:lnSpc>
              <a:spcBef>
                <a:spcPts val="0"/>
              </a:spcBef>
              <a:spcAft>
                <a:spcPts val="0"/>
              </a:spcAft>
              <a:buClrTx/>
              <a:buSzTx/>
              <a:buFontTx/>
            </a:pPr>
            <a:r>
              <a:rPr sz="800">
                <a:latin typeface="微软雅黑" panose="020B0503020204020204" pitchFamily="34" charset="-122"/>
                <a:ea typeface="微软雅黑" panose="020B0503020204020204" pitchFamily="34" charset="-122"/>
                <a:sym typeface="+mn-ea"/>
              </a:rPr>
              <a:t>平台支撑</a:t>
            </a:r>
            <a:r>
              <a:rPr sz="800">
                <a:solidFill>
                  <a:srgbClr val="C00000"/>
                </a:solidFill>
                <a:latin typeface="微软雅黑" panose="020B0503020204020204" pitchFamily="34" charset="-122"/>
                <a:ea typeface="微软雅黑" panose="020B0503020204020204" pitchFamily="34" charset="-122"/>
                <a:sym typeface="+mn-ea"/>
              </a:rPr>
              <a:t>一级IOP</a:t>
            </a:r>
            <a:r>
              <a:rPr sz="800">
                <a:latin typeface="微软雅黑" panose="020B0503020204020204" pitchFamily="34" charset="-122"/>
                <a:ea typeface="微软雅黑" panose="020B0503020204020204" pitchFamily="34" charset="-122"/>
                <a:sym typeface="+mn-ea"/>
              </a:rPr>
              <a:t>、</a:t>
            </a:r>
            <a:r>
              <a:rPr sz="800">
                <a:solidFill>
                  <a:srgbClr val="C00000"/>
                </a:solidFill>
                <a:latin typeface="微软雅黑" panose="020B0503020204020204" pitchFamily="34" charset="-122"/>
                <a:ea typeface="微软雅黑" panose="020B0503020204020204" pitchFamily="34" charset="-122"/>
                <a:sym typeface="+mn-ea"/>
              </a:rPr>
              <a:t>省专公司投放接入，任务智能派单，智能策划</a:t>
            </a:r>
            <a:r>
              <a:rPr lang="zh-CN" sz="800">
                <a:solidFill>
                  <a:srgbClr val="C00000"/>
                </a:solidFill>
                <a:latin typeface="微软雅黑" panose="020B0503020204020204" pitchFamily="34" charset="-122"/>
                <a:ea typeface="微软雅黑" panose="020B0503020204020204" pitchFamily="34" charset="-122"/>
                <a:sym typeface="+mn-ea"/>
              </a:rPr>
              <a:t>配置、</a:t>
            </a:r>
            <a:r>
              <a:rPr sz="800">
                <a:latin typeface="微软雅黑" panose="020B0503020204020204" pitchFamily="34" charset="-122"/>
                <a:ea typeface="微软雅黑" panose="020B0503020204020204" pitchFamily="34" charset="-122"/>
                <a:sym typeface="+mn-ea"/>
              </a:rPr>
              <a:t>AI智能生成投放话术，</a:t>
            </a:r>
            <a:r>
              <a:rPr lang="zh-CN" sz="800">
                <a:latin typeface="微软雅黑" panose="020B0503020204020204" pitchFamily="34" charset="-122"/>
                <a:ea typeface="微软雅黑" panose="020B0503020204020204" pitchFamily="34" charset="-122"/>
                <a:sym typeface="+mn-ea"/>
              </a:rPr>
              <a:t>预估投放压力等</a:t>
            </a:r>
            <a:r>
              <a:rPr sz="800">
                <a:latin typeface="微软雅黑" panose="020B0503020204020204" pitchFamily="34" charset="-122"/>
                <a:ea typeface="微软雅黑" panose="020B0503020204020204" pitchFamily="34" charset="-122"/>
                <a:sym typeface="+mn-ea"/>
              </a:rPr>
              <a:t>。</a:t>
            </a:r>
            <a:endParaRPr sz="800">
              <a:latin typeface="微软雅黑" panose="020B0503020204020204" pitchFamily="34" charset="-122"/>
              <a:ea typeface="微软雅黑" panose="020B0503020204020204" pitchFamily="34" charset="-122"/>
              <a:sym typeface="+mn-ea"/>
            </a:endParaRPr>
          </a:p>
        </p:txBody>
      </p:sp>
      <p:sp>
        <p:nvSpPr>
          <p:cNvPr id="165" name="文本框 164"/>
          <p:cNvSpPr txBox="1"/>
          <p:nvPr>
            <p:custDataLst>
              <p:tags r:id="rId13"/>
            </p:custDataLst>
          </p:nvPr>
        </p:nvSpPr>
        <p:spPr>
          <a:xfrm>
            <a:off x="5116830" y="3762375"/>
            <a:ext cx="2125980" cy="460375"/>
          </a:xfrm>
          <a:prstGeom prst="rect">
            <a:avLst/>
          </a:prstGeom>
          <a:noFill/>
        </p:spPr>
        <p:txBody>
          <a:bodyPr wrap="square" rtlCol="0">
            <a:spAutoFit/>
          </a:bodyPr>
          <a:p>
            <a:pPr lvl="0" algn="l">
              <a:lnSpc>
                <a:spcPct val="100000"/>
              </a:lnSpc>
              <a:buClrTx/>
              <a:buSzTx/>
              <a:buFontTx/>
            </a:pPr>
            <a:r>
              <a:rPr lang="zh-CN" sz="800">
                <a:latin typeface="微软雅黑" panose="020B0503020204020204" pitchFamily="34" charset="-122"/>
                <a:ea typeface="微软雅黑" panose="020B0503020204020204" pitchFamily="34" charset="-122"/>
                <a:sym typeface="+mn-ea"/>
              </a:rPr>
              <a:t>拉通线上线下渠道，实现线上渠道如</a:t>
            </a:r>
            <a:r>
              <a:rPr sz="800">
                <a:latin typeface="微软雅黑" panose="020B0503020204020204" pitchFamily="34" charset="-122"/>
                <a:ea typeface="微软雅黑" panose="020B0503020204020204" pitchFamily="34" charset="-122"/>
                <a:sym typeface="+mn-ea"/>
              </a:rPr>
              <a:t>1+N移动体系APP</a:t>
            </a:r>
            <a:r>
              <a:rPr lang="zh-CN" sz="800">
                <a:latin typeface="微软雅黑" panose="020B0503020204020204" pitchFamily="34" charset="-122"/>
                <a:ea typeface="微软雅黑" panose="020B0503020204020204" pitchFamily="34" charset="-122"/>
                <a:sym typeface="+mn-ea"/>
              </a:rPr>
              <a:t>，</a:t>
            </a:r>
            <a:r>
              <a:rPr lang="zh-CN" sz="800">
                <a:solidFill>
                  <a:srgbClr val="C00000"/>
                </a:solidFill>
                <a:latin typeface="微软雅黑" panose="020B0503020204020204" pitchFamily="34" charset="-122"/>
                <a:ea typeface="微软雅黑" panose="020B0503020204020204" pitchFamily="34" charset="-122"/>
                <a:sym typeface="+mn-ea"/>
              </a:rPr>
              <a:t>线下渠道如智慧营业厅的全域触达，统一调度</a:t>
            </a:r>
            <a:r>
              <a:rPr lang="zh-CN" sz="800">
                <a:latin typeface="微软雅黑" panose="020B0503020204020204" pitchFamily="34" charset="-122"/>
                <a:ea typeface="微软雅黑" panose="020B0503020204020204" pitchFamily="34" charset="-122"/>
                <a:sym typeface="+mn-ea"/>
              </a:rPr>
              <a:t>。</a:t>
            </a:r>
            <a:endParaRPr lang="zh-CN" sz="800">
              <a:latin typeface="微软雅黑" panose="020B0503020204020204" pitchFamily="34" charset="-122"/>
              <a:ea typeface="微软雅黑" panose="020B0503020204020204" pitchFamily="34" charset="-122"/>
              <a:sym typeface="+mn-ea"/>
            </a:endParaRPr>
          </a:p>
        </p:txBody>
      </p:sp>
      <p:sp>
        <p:nvSpPr>
          <p:cNvPr id="167" name="文本框 166"/>
          <p:cNvSpPr txBox="1"/>
          <p:nvPr>
            <p:custDataLst>
              <p:tags r:id="rId14"/>
            </p:custDataLst>
          </p:nvPr>
        </p:nvSpPr>
        <p:spPr>
          <a:xfrm>
            <a:off x="7611110" y="3762375"/>
            <a:ext cx="1969135" cy="616585"/>
          </a:xfrm>
          <a:prstGeom prst="rect">
            <a:avLst/>
          </a:prstGeom>
          <a:noFill/>
        </p:spPr>
        <p:txBody>
          <a:bodyPr wrap="square" rtlCol="0">
            <a:noAutofit/>
          </a:bodyPr>
          <a:p>
            <a:pPr lvl="0" algn="l">
              <a:lnSpc>
                <a:spcPct val="100000"/>
              </a:lnSpc>
              <a:buClrTx/>
              <a:buSzTx/>
              <a:buFontTx/>
            </a:pPr>
            <a:r>
              <a:rPr lang="zh-CN" altLang="en-US" sz="800">
                <a:solidFill>
                  <a:schemeClr val="tx1"/>
                </a:solidFill>
                <a:latin typeface="微软雅黑" panose="020B0503020204020204" pitchFamily="34" charset="-122"/>
                <a:ea typeface="微软雅黑" panose="020B0503020204020204" pitchFamily="34" charset="-122"/>
                <a:sym typeface="+mn-ea"/>
              </a:rPr>
              <a:t>平台提供全流程可视化看板，实时</a:t>
            </a:r>
            <a:r>
              <a:rPr lang="zh-CN" altLang="en-US" sz="800">
                <a:solidFill>
                  <a:srgbClr val="C00000"/>
                </a:solidFill>
                <a:latin typeface="微软雅黑" panose="020B0503020204020204" pitchFamily="34" charset="-122"/>
                <a:ea typeface="微软雅黑" panose="020B0503020204020204" pitchFamily="34" charset="-122"/>
                <a:sym typeface="+mn-ea"/>
              </a:rPr>
              <a:t>监测投放效果</a:t>
            </a:r>
            <a:r>
              <a:rPr lang="zh-CN" altLang="en-US" sz="800">
                <a:solidFill>
                  <a:schemeClr val="tx1"/>
                </a:solidFill>
                <a:latin typeface="微软雅黑" panose="020B0503020204020204" pitchFamily="34" charset="-122"/>
                <a:ea typeface="微软雅黑" panose="020B0503020204020204" pitchFamily="34" charset="-122"/>
                <a:sym typeface="+mn-ea"/>
              </a:rPr>
              <a:t>、触点曝光量及重大投放对业务系统影响及</a:t>
            </a:r>
            <a:r>
              <a:rPr lang="zh-CN" altLang="en-US" sz="800">
                <a:solidFill>
                  <a:srgbClr val="C00000"/>
                </a:solidFill>
                <a:latin typeface="微软雅黑" panose="020B0503020204020204" pitchFamily="34" charset="-122"/>
                <a:ea typeface="微软雅黑" panose="020B0503020204020204" pitchFamily="34" charset="-122"/>
                <a:sym typeface="+mn-ea"/>
              </a:rPr>
              <a:t>分析预警展示</a:t>
            </a:r>
            <a:r>
              <a:rPr lang="zh-CN" altLang="en-US" sz="800">
                <a:solidFill>
                  <a:schemeClr val="accent1">
                    <a:lumMod val="75000"/>
                  </a:schemeClr>
                </a:solidFill>
                <a:latin typeface="微软雅黑" panose="020B0503020204020204" pitchFamily="34" charset="-122"/>
                <a:ea typeface="微软雅黑" panose="020B0503020204020204" pitchFamily="34" charset="-122"/>
                <a:sym typeface="+mn-ea"/>
              </a:rPr>
              <a:t>。</a:t>
            </a:r>
            <a:endParaRPr lang="zh-CN" altLang="en-US" sz="800">
              <a:solidFill>
                <a:schemeClr val="accent1">
                  <a:lumMod val="75000"/>
                </a:schemeClr>
              </a:solidFill>
              <a:latin typeface="微软雅黑" panose="020B0503020204020204" pitchFamily="34" charset="-122"/>
              <a:ea typeface="微软雅黑" panose="020B0503020204020204" pitchFamily="34" charset="-122"/>
              <a:sym typeface="+mn-ea"/>
            </a:endParaRPr>
          </a:p>
        </p:txBody>
      </p:sp>
      <p:grpSp>
        <p:nvGrpSpPr>
          <p:cNvPr id="184" name="组合 183"/>
          <p:cNvGrpSpPr/>
          <p:nvPr/>
        </p:nvGrpSpPr>
        <p:grpSpPr>
          <a:xfrm>
            <a:off x="9790430" y="4480560"/>
            <a:ext cx="2060575" cy="793750"/>
            <a:chOff x="11806" y="6957"/>
            <a:chExt cx="3245" cy="1250"/>
          </a:xfrm>
        </p:grpSpPr>
        <p:sp>
          <p:nvSpPr>
            <p:cNvPr id="182" name="五边形 181"/>
            <p:cNvSpPr/>
            <p:nvPr>
              <p:custDataLst>
                <p:tags r:id="rId15"/>
              </p:custDataLst>
            </p:nvPr>
          </p:nvSpPr>
          <p:spPr>
            <a:xfrm>
              <a:off x="12113" y="6957"/>
              <a:ext cx="2923" cy="322"/>
            </a:xfrm>
            <a:prstGeom prst="homePlate">
              <a:avLst/>
            </a:prstGeom>
            <a:noFill/>
            <a:ln>
              <a:noFill/>
            </a:ln>
            <a:extLst>
              <a:ext uri="{909E8E84-426E-40DD-AFC4-6F175D3DCCD1}">
                <a14:hiddenFill xmlns:a14="http://schemas.microsoft.com/office/drawing/2010/main">
                  <a:solidFill>
                    <a:srgbClr val="40B0FF"/>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00000"/>
                </a:lnSpc>
              </a:pPr>
              <a:r>
                <a:rPr lang="zh-CN" altLang="en-US" sz="1000" b="1">
                  <a:solidFill>
                    <a:schemeClr val="accent1"/>
                  </a:solidFill>
                </a:rPr>
                <a:t>效能评估</a:t>
              </a:r>
              <a:endParaRPr lang="zh-CN" altLang="en-US" sz="1000" b="1">
                <a:solidFill>
                  <a:schemeClr val="accent1"/>
                </a:solidFill>
              </a:endParaRPr>
            </a:p>
          </p:txBody>
        </p:sp>
        <p:sp>
          <p:nvSpPr>
            <p:cNvPr id="183" name="文本框 182"/>
            <p:cNvSpPr txBox="1"/>
            <p:nvPr>
              <p:custDataLst>
                <p:tags r:id="rId16"/>
              </p:custDataLst>
            </p:nvPr>
          </p:nvSpPr>
          <p:spPr>
            <a:xfrm>
              <a:off x="11806" y="7236"/>
              <a:ext cx="3245" cy="971"/>
            </a:xfrm>
            <a:prstGeom prst="rect">
              <a:avLst/>
            </a:prstGeom>
            <a:noFill/>
          </p:spPr>
          <p:txBody>
            <a:bodyPr wrap="square" rtlCol="0" anchor="t">
              <a:noAutofit/>
            </a:bodyPr>
            <a:p>
              <a:pPr marL="136525" indent="-136525" algn="l" fontAlgn="auto">
                <a:lnSpc>
                  <a:spcPct val="100000"/>
                </a:lnSpc>
                <a:spcBef>
                  <a:spcPts val="0"/>
                </a:spcBef>
                <a:spcAft>
                  <a:spcPts val="0"/>
                </a:spcAft>
                <a:buClrTx/>
                <a:buSzTx/>
                <a:buFont typeface="Arial" panose="020B0604020202020204" pitchFamily="34" charset="0"/>
                <a:buChar char="•"/>
              </a:pPr>
              <a:r>
                <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渠道效能评估：</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渠道投放、转化等多维度效果</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分析，衡量渠道综合效益；</a:t>
              </a:r>
              <a:endPar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a:p>
              <a:pPr marL="136525" indent="-136525" algn="l" fontAlgn="auto">
                <a:lnSpc>
                  <a:spcPct val="100000"/>
                </a:lnSpc>
                <a:spcBef>
                  <a:spcPts val="0"/>
                </a:spcBef>
                <a:spcAft>
                  <a:spcPts val="0"/>
                </a:spcAft>
                <a:buClrTx/>
                <a:buSzTx/>
                <a:buFont typeface="Arial" panose="020B0604020202020204" pitchFamily="34" charset="0"/>
                <a:buChar char="•"/>
              </a:pPr>
              <a:r>
                <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投放效果评估：</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支持触点投放运营决策监控与分析</a:t>
              </a:r>
              <a:endPar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a:p>
              <a:pPr marL="136525" indent="-136525" algn="l" fontAlgn="auto">
                <a:lnSpc>
                  <a:spcPct val="100000"/>
                </a:lnSpc>
                <a:spcBef>
                  <a:spcPts val="0"/>
                </a:spcBef>
                <a:spcAft>
                  <a:spcPts val="0"/>
                </a:spcAft>
                <a:buClrTx/>
                <a:buSzTx/>
                <a:buFont typeface="Arial" panose="020B0604020202020204" pitchFamily="34" charset="0"/>
                <a:buChar char="•"/>
              </a:pPr>
              <a:endPar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p:txBody>
        </p:sp>
      </p:grpSp>
      <p:grpSp>
        <p:nvGrpSpPr>
          <p:cNvPr id="23" name="组合 22"/>
          <p:cNvGrpSpPr/>
          <p:nvPr/>
        </p:nvGrpSpPr>
        <p:grpSpPr>
          <a:xfrm>
            <a:off x="6950710" y="1881505"/>
            <a:ext cx="4896485" cy="304800"/>
            <a:chOff x="12533" y="2963"/>
            <a:chExt cx="6124" cy="480"/>
          </a:xfrm>
        </p:grpSpPr>
        <p:sp>
          <p:nvSpPr>
            <p:cNvPr id="2" name="五边形 1"/>
            <p:cNvSpPr/>
            <p:nvPr>
              <p:custDataLst>
                <p:tags r:id="rId17"/>
              </p:custDataLst>
            </p:nvPr>
          </p:nvSpPr>
          <p:spPr>
            <a:xfrm>
              <a:off x="15393" y="2963"/>
              <a:ext cx="3264" cy="480"/>
            </a:xfrm>
            <a:prstGeom prst="homePlate">
              <a:avLst/>
            </a:prstGeom>
            <a:solidFill>
              <a:srgbClr val="5CACE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000" b="1" dirty="0">
                  <a:solidFill>
                    <a:srgbClr val="FFFF00"/>
                  </a:solidFill>
                  <a:sym typeface="+mn-ea"/>
                </a:rPr>
                <a:t>⑤</a:t>
              </a:r>
              <a:r>
                <a:rPr kumimoji="1" lang="zh-CN" sz="1000" b="1" dirty="0">
                  <a:solidFill>
                    <a:srgbClr val="FFFF00"/>
                  </a:solidFill>
                </a:rPr>
                <a:t>效</a:t>
              </a:r>
              <a:r>
                <a:rPr kumimoji="1" lang="zh-CN" sz="1000" b="1" dirty="0">
                  <a:solidFill>
                    <a:srgbClr val="FFFF00"/>
                  </a:solidFill>
                </a:rPr>
                <a:t>能评估</a:t>
              </a:r>
              <a:endParaRPr kumimoji="1" lang="zh-CN" sz="1000" b="1" dirty="0">
                <a:solidFill>
                  <a:srgbClr val="FFFF00"/>
                </a:solidFill>
              </a:endParaRPr>
            </a:p>
          </p:txBody>
        </p:sp>
        <p:sp>
          <p:nvSpPr>
            <p:cNvPr id="3" name="五边形 2"/>
            <p:cNvSpPr/>
            <p:nvPr>
              <p:custDataLst>
                <p:tags r:id="rId18"/>
              </p:custDataLst>
            </p:nvPr>
          </p:nvSpPr>
          <p:spPr>
            <a:xfrm>
              <a:off x="12533" y="2963"/>
              <a:ext cx="3289" cy="480"/>
            </a:xfrm>
            <a:prstGeom prst="homePlate">
              <a:avLst/>
            </a:prstGeom>
            <a:solidFill>
              <a:srgbClr val="5CACE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000" b="1" dirty="0">
                  <a:solidFill>
                    <a:srgbClr val="FFFF00"/>
                  </a:solidFill>
                  <a:sym typeface="+mn-ea"/>
                </a:rPr>
                <a:t>④</a:t>
              </a:r>
              <a:r>
                <a:rPr kumimoji="1" lang="zh-CN" altLang="en-US" sz="1000" b="1" dirty="0">
                  <a:solidFill>
                    <a:srgbClr val="FFFF00"/>
                  </a:solidFill>
                </a:rPr>
                <a:t>实时监测与</a:t>
              </a:r>
              <a:r>
                <a:rPr kumimoji="1" lang="zh-CN" altLang="en-US" sz="1000" b="1" dirty="0">
                  <a:solidFill>
                    <a:srgbClr val="FFFF00"/>
                  </a:solidFill>
                </a:rPr>
                <a:t>预警</a:t>
              </a:r>
              <a:endParaRPr kumimoji="1" lang="zh-CN" altLang="en-US" sz="1000" b="1" dirty="0">
                <a:solidFill>
                  <a:srgbClr val="FFFF00"/>
                </a:solidFill>
              </a:endParaRPr>
            </a:p>
          </p:txBody>
        </p:sp>
      </p:grpSp>
      <p:grpSp>
        <p:nvGrpSpPr>
          <p:cNvPr id="15" name="组合 14"/>
          <p:cNvGrpSpPr/>
          <p:nvPr/>
        </p:nvGrpSpPr>
        <p:grpSpPr>
          <a:xfrm>
            <a:off x="960120" y="1881505"/>
            <a:ext cx="6216739" cy="306705"/>
            <a:chOff x="1512" y="2963"/>
            <a:chExt cx="8581" cy="483"/>
          </a:xfrm>
        </p:grpSpPr>
        <p:sp>
          <p:nvSpPr>
            <p:cNvPr id="9" name="五边形 8"/>
            <p:cNvSpPr/>
            <p:nvPr>
              <p:custDataLst>
                <p:tags r:id="rId19"/>
              </p:custDataLst>
            </p:nvPr>
          </p:nvSpPr>
          <p:spPr>
            <a:xfrm>
              <a:off x="6872" y="2966"/>
              <a:ext cx="3221" cy="480"/>
            </a:xfrm>
            <a:prstGeom prst="homePlate">
              <a:avLst/>
            </a:prstGeom>
            <a:solidFill>
              <a:srgbClr val="5CACE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000" b="1" dirty="0">
                  <a:solidFill>
                    <a:srgbClr val="FFFF00"/>
                  </a:solidFill>
                </a:rPr>
                <a:t>③统一调度智能</a:t>
              </a:r>
              <a:r>
                <a:rPr kumimoji="1" lang="zh-CN" altLang="en-US" sz="1000" b="1" dirty="0">
                  <a:solidFill>
                    <a:srgbClr val="FFFF00"/>
                  </a:solidFill>
                </a:rPr>
                <a:t>投放</a:t>
              </a:r>
              <a:endParaRPr kumimoji="1" lang="zh-CN" altLang="en-US" sz="1000" b="1" dirty="0">
                <a:solidFill>
                  <a:srgbClr val="FFFF00"/>
                </a:solidFill>
              </a:endParaRPr>
            </a:p>
          </p:txBody>
        </p:sp>
        <p:sp>
          <p:nvSpPr>
            <p:cNvPr id="10" name="五边形 9"/>
            <p:cNvSpPr/>
            <p:nvPr>
              <p:custDataLst>
                <p:tags r:id="rId20"/>
              </p:custDataLst>
            </p:nvPr>
          </p:nvSpPr>
          <p:spPr>
            <a:xfrm>
              <a:off x="4411" y="2963"/>
              <a:ext cx="2798" cy="480"/>
            </a:xfrm>
            <a:prstGeom prst="homePlate">
              <a:avLst/>
            </a:prstGeom>
            <a:solidFill>
              <a:srgbClr val="5CACE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000" b="1" dirty="0">
                  <a:solidFill>
                    <a:srgbClr val="FFFF00"/>
                  </a:solidFill>
                  <a:sym typeface="+mn-ea"/>
                </a:rPr>
                <a:t>②投放统筹</a:t>
              </a:r>
              <a:endParaRPr kumimoji="1" lang="zh-CN" altLang="en-US" sz="1000" b="1" dirty="0">
                <a:solidFill>
                  <a:srgbClr val="FFFF00"/>
                </a:solidFill>
                <a:sym typeface="+mn-ea"/>
              </a:endParaRPr>
            </a:p>
          </p:txBody>
        </p:sp>
        <p:sp>
          <p:nvSpPr>
            <p:cNvPr id="11" name="五边形 10"/>
            <p:cNvSpPr/>
            <p:nvPr>
              <p:custDataLst>
                <p:tags r:id="rId21"/>
              </p:custDataLst>
            </p:nvPr>
          </p:nvSpPr>
          <p:spPr>
            <a:xfrm>
              <a:off x="1512" y="2963"/>
              <a:ext cx="3142" cy="483"/>
            </a:xfrm>
            <a:prstGeom prst="homePlate">
              <a:avLst/>
            </a:prstGeom>
            <a:solidFill>
              <a:srgbClr val="5CACE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000" b="1" dirty="0">
                  <a:solidFill>
                    <a:srgbClr val="FFFF00"/>
                  </a:solidFill>
                </a:rPr>
                <a:t>①渠道</a:t>
              </a:r>
              <a:r>
                <a:rPr kumimoji="1" lang="zh-CN" altLang="en-US" sz="1000" b="1" dirty="0">
                  <a:solidFill>
                    <a:srgbClr val="FFFF00"/>
                  </a:solidFill>
                </a:rPr>
                <a:t>管理</a:t>
              </a:r>
              <a:endParaRPr kumimoji="1" lang="zh-CN" altLang="en-US" sz="1000" b="1" dirty="0">
                <a:solidFill>
                  <a:srgbClr val="FFFF00"/>
                </a:solidFill>
              </a:endParaRPr>
            </a:p>
          </p:txBody>
        </p:sp>
      </p:grpSp>
      <p:grpSp>
        <p:nvGrpSpPr>
          <p:cNvPr id="20" name="组合 19"/>
          <p:cNvGrpSpPr/>
          <p:nvPr/>
        </p:nvGrpSpPr>
        <p:grpSpPr>
          <a:xfrm rot="0">
            <a:off x="7542249" y="4455160"/>
            <a:ext cx="2167225" cy="948063"/>
            <a:chOff x="9438" y="6621"/>
            <a:chExt cx="4041" cy="1475"/>
          </a:xfrm>
        </p:grpSpPr>
        <p:sp>
          <p:nvSpPr>
            <p:cNvPr id="21" name="燕尾形 20"/>
            <p:cNvSpPr/>
            <p:nvPr>
              <p:custDataLst>
                <p:tags r:id="rId22"/>
              </p:custDataLst>
            </p:nvPr>
          </p:nvSpPr>
          <p:spPr>
            <a:xfrm>
              <a:off x="9461" y="6621"/>
              <a:ext cx="4018" cy="338"/>
            </a:xfrm>
            <a:prstGeom prst="chevron">
              <a:avLst/>
            </a:prstGeom>
            <a:noFill/>
            <a:ln>
              <a:noFill/>
            </a:ln>
            <a:extLst>
              <a:ext uri="{909E8E84-426E-40DD-AFC4-6F175D3DCCD1}">
                <a14:hiddenFill xmlns:a14="http://schemas.microsoft.com/office/drawing/2010/main">
                  <a:solidFill>
                    <a:srgbClr val="40B0FF"/>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00000"/>
                </a:lnSpc>
              </a:pPr>
              <a:r>
                <a:rPr lang="zh-CN" altLang="en-US" sz="1000" b="1">
                  <a:solidFill>
                    <a:schemeClr val="accent1"/>
                  </a:solidFill>
                  <a:highlight>
                    <a:srgbClr val="000000">
                      <a:alpha val="0"/>
                    </a:srgbClr>
                  </a:highlight>
                </a:rPr>
                <a:t>实时监测</a:t>
              </a:r>
              <a:r>
                <a:rPr lang="zh-CN" altLang="en-US" sz="1000" b="1">
                  <a:solidFill>
                    <a:schemeClr val="accent1"/>
                  </a:solidFill>
                  <a:highlight>
                    <a:srgbClr val="000000">
                      <a:alpha val="0"/>
                    </a:srgbClr>
                  </a:highlight>
                </a:rPr>
                <a:t>预警能力</a:t>
              </a:r>
              <a:endParaRPr lang="zh-CN" altLang="en-US" sz="1000" b="1">
                <a:solidFill>
                  <a:schemeClr val="accent1"/>
                </a:solidFill>
                <a:highlight>
                  <a:srgbClr val="000000">
                    <a:alpha val="0"/>
                  </a:srgbClr>
                </a:highlight>
              </a:endParaRPr>
            </a:p>
          </p:txBody>
        </p:sp>
        <p:sp>
          <p:nvSpPr>
            <p:cNvPr id="22" name="文本框 21"/>
            <p:cNvSpPr txBox="1"/>
            <p:nvPr>
              <p:custDataLst>
                <p:tags r:id="rId23"/>
              </p:custDataLst>
            </p:nvPr>
          </p:nvSpPr>
          <p:spPr>
            <a:xfrm>
              <a:off x="9438" y="6893"/>
              <a:ext cx="3841" cy="1203"/>
            </a:xfrm>
            <a:prstGeom prst="rect">
              <a:avLst/>
            </a:prstGeom>
            <a:noFill/>
          </p:spPr>
          <p:txBody>
            <a:bodyPr wrap="square" rtlCol="0" anchor="t">
              <a:noAutofit/>
            </a:bodyPr>
            <a:p>
              <a:pPr marL="136525" indent="-136525" algn="l" fontAlgn="auto">
                <a:lnSpc>
                  <a:spcPct val="100000"/>
                </a:lnSpc>
                <a:spcBef>
                  <a:spcPts val="0"/>
                </a:spcBef>
                <a:spcAft>
                  <a:spcPts val="0"/>
                </a:spcAft>
                <a:buFont typeface="Arial" panose="020B0604020202020204" pitchFamily="34" charset="0"/>
                <a:buChar char="•"/>
              </a:pPr>
              <a:r>
                <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实时监测能力</a:t>
              </a:r>
              <a:r>
                <a:rPr kumimoji="1"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提供投放效能、投放</a:t>
              </a:r>
              <a:r>
                <a:rPr kumimoji="1"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效果</a:t>
              </a:r>
              <a:r>
                <a:rPr kumimoji="1" lang="zh-CN" altLang="en-US"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及业务系统压力、容量等监测；</a:t>
              </a:r>
              <a:endPar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a:p>
              <a:pPr marL="136525" indent="-136525" algn="l" fontAlgn="auto">
                <a:lnSpc>
                  <a:spcPct val="100000"/>
                </a:lnSpc>
                <a:spcBef>
                  <a:spcPts val="0"/>
                </a:spcBef>
                <a:spcAft>
                  <a:spcPts val="0"/>
                </a:spcAft>
                <a:buFont typeface="Arial" panose="020B0604020202020204" pitchFamily="34" charset="0"/>
                <a:buChar char="•"/>
              </a:pPr>
              <a:r>
                <a:rPr kumimoji="1" lang="zh-CN" sz="8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预警分析展示：</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支持投放对业务系统影响，及</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超出预估量预警</a:t>
              </a:r>
              <a:r>
                <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提示</a:t>
              </a:r>
              <a:endParaRPr kumimoji="1" lang="zh-CN" sz="8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p:txBody>
        </p:sp>
      </p:grpSp>
      <p:sp>
        <p:nvSpPr>
          <p:cNvPr id="61" name="矩形 60"/>
          <p:cNvSpPr/>
          <p:nvPr>
            <p:custDataLst>
              <p:tags r:id="rId24"/>
            </p:custDataLst>
          </p:nvPr>
        </p:nvSpPr>
        <p:spPr>
          <a:xfrm>
            <a:off x="7073265" y="2146300"/>
            <a:ext cx="2428240" cy="229235"/>
          </a:xfrm>
          <a:prstGeom prst="rect">
            <a:avLst/>
          </a:prstGeom>
        </p:spPr>
        <p:txBody>
          <a:bodyPr wrap="square">
            <a:noAutofit/>
          </a:bodyPr>
          <a:p>
            <a:pPr algn="ctr">
              <a:defRPr/>
            </a:pPr>
            <a:r>
              <a:rPr lang="zh-CN" altLang="en-US" sz="1000" b="1" dirty="0">
                <a:solidFill>
                  <a:schemeClr val="tx2"/>
                </a:solidFill>
                <a:latin typeface="微软雅黑" panose="020B0503020204020204" pitchFamily="34" charset="-122"/>
                <a:ea typeface="微软雅黑" panose="020B0503020204020204" pitchFamily="34" charset="-122"/>
              </a:rPr>
              <a:t>市场、集省专运营、</a:t>
            </a:r>
            <a:r>
              <a:rPr lang="zh-CN" altLang="en-US" sz="1000" b="1" dirty="0">
                <a:solidFill>
                  <a:schemeClr val="tx2"/>
                </a:solidFill>
                <a:latin typeface="微软雅黑" panose="020B0503020204020204" pitchFamily="34" charset="-122"/>
                <a:ea typeface="微软雅黑" panose="020B0503020204020204" pitchFamily="34" charset="-122"/>
                <a:sym typeface="+mn-ea"/>
              </a:rPr>
              <a:t>运维</a:t>
            </a:r>
            <a:r>
              <a:rPr lang="zh-CN" altLang="en-US" sz="1000" b="1" dirty="0">
                <a:solidFill>
                  <a:schemeClr val="tx2"/>
                </a:solidFill>
                <a:latin typeface="微软雅黑" panose="020B0503020204020204" pitchFamily="34" charset="-122"/>
                <a:ea typeface="微软雅黑" panose="020B0503020204020204" pitchFamily="34" charset="-122"/>
              </a:rPr>
              <a:t>人员</a:t>
            </a:r>
            <a:endParaRPr lang="zh-CN" altLang="en-US" sz="1000" b="1" dirty="0">
              <a:solidFill>
                <a:schemeClr val="tx2"/>
              </a:solidFill>
              <a:latin typeface="微软雅黑" panose="020B0503020204020204" pitchFamily="34" charset="-122"/>
              <a:ea typeface="微软雅黑" panose="020B0503020204020204" pitchFamily="34" charset="-122"/>
            </a:endParaRPr>
          </a:p>
        </p:txBody>
      </p:sp>
      <p:sp>
        <p:nvSpPr>
          <p:cNvPr id="62" name="矩形 61"/>
          <p:cNvSpPr/>
          <p:nvPr>
            <p:custDataLst>
              <p:tags r:id="rId25"/>
            </p:custDataLst>
          </p:nvPr>
        </p:nvSpPr>
        <p:spPr>
          <a:xfrm>
            <a:off x="5200650" y="2134235"/>
            <a:ext cx="1749425" cy="274955"/>
          </a:xfrm>
          <a:prstGeom prst="rect">
            <a:avLst/>
          </a:prstGeom>
        </p:spPr>
        <p:txBody>
          <a:bodyPr wrap="square">
            <a:noAutofit/>
          </a:bodyPr>
          <a:p>
            <a:pPr algn="ctr">
              <a:defRPr/>
            </a:pPr>
            <a:r>
              <a:rPr lang="zh-CN" altLang="en-US" sz="1000" b="1" dirty="0">
                <a:solidFill>
                  <a:schemeClr val="tx2"/>
                </a:solidFill>
                <a:latin typeface="微软雅黑" panose="020B0503020204020204" pitchFamily="34" charset="-122"/>
                <a:ea typeface="微软雅黑" panose="020B0503020204020204" pitchFamily="34" charset="-122"/>
              </a:rPr>
              <a:t>集省专运营人员、产品</a:t>
            </a:r>
            <a:r>
              <a:rPr lang="zh-CN" altLang="en-US" sz="1000" b="1" dirty="0">
                <a:solidFill>
                  <a:schemeClr val="tx2"/>
                </a:solidFill>
                <a:latin typeface="微软雅黑" panose="020B0503020204020204" pitchFamily="34" charset="-122"/>
                <a:ea typeface="微软雅黑" panose="020B0503020204020204" pitchFamily="34" charset="-122"/>
              </a:rPr>
              <a:t>经理</a:t>
            </a:r>
            <a:endParaRPr lang="zh-CN" altLang="en-US" sz="1000" b="1" dirty="0">
              <a:solidFill>
                <a:schemeClr val="tx2"/>
              </a:solidFill>
              <a:latin typeface="微软雅黑" panose="020B0503020204020204" pitchFamily="34" charset="-122"/>
              <a:ea typeface="微软雅黑" panose="020B0503020204020204" pitchFamily="34" charset="-122"/>
            </a:endParaRPr>
          </a:p>
        </p:txBody>
      </p:sp>
      <p:sp>
        <p:nvSpPr>
          <p:cNvPr id="63" name="矩形 62"/>
          <p:cNvSpPr/>
          <p:nvPr>
            <p:custDataLst>
              <p:tags r:id="rId26"/>
            </p:custDataLst>
          </p:nvPr>
        </p:nvSpPr>
        <p:spPr>
          <a:xfrm>
            <a:off x="2973705" y="2149475"/>
            <a:ext cx="1749425" cy="274955"/>
          </a:xfrm>
          <a:prstGeom prst="rect">
            <a:avLst/>
          </a:prstGeom>
        </p:spPr>
        <p:txBody>
          <a:bodyPr wrap="square">
            <a:noAutofit/>
          </a:bodyPr>
          <a:p>
            <a:pPr algn="ctr">
              <a:defRPr/>
            </a:pPr>
            <a:r>
              <a:rPr lang="zh-CN" altLang="en-US" sz="1000" b="1" dirty="0">
                <a:solidFill>
                  <a:schemeClr val="tx2"/>
                </a:solidFill>
                <a:latin typeface="微软雅黑" panose="020B0503020204020204" pitchFamily="34" charset="-122"/>
                <a:ea typeface="微软雅黑" panose="020B0503020204020204" pitchFamily="34" charset="-122"/>
              </a:rPr>
              <a:t>集省专运营人员</a:t>
            </a:r>
            <a:endParaRPr lang="zh-CN" altLang="en-US" sz="1000" b="1" dirty="0">
              <a:solidFill>
                <a:schemeClr val="tx2"/>
              </a:solidFill>
              <a:latin typeface="微软雅黑" panose="020B0503020204020204" pitchFamily="34" charset="-122"/>
              <a:ea typeface="微软雅黑" panose="020B0503020204020204" pitchFamily="34" charset="-122"/>
            </a:endParaRPr>
          </a:p>
        </p:txBody>
      </p:sp>
      <p:sp>
        <p:nvSpPr>
          <p:cNvPr id="65" name="矩形 64"/>
          <p:cNvSpPr/>
          <p:nvPr>
            <p:custDataLst>
              <p:tags r:id="rId27"/>
            </p:custDataLst>
          </p:nvPr>
        </p:nvSpPr>
        <p:spPr>
          <a:xfrm>
            <a:off x="9539605" y="2150110"/>
            <a:ext cx="2202180" cy="252095"/>
          </a:xfrm>
          <a:prstGeom prst="rect">
            <a:avLst/>
          </a:prstGeom>
        </p:spPr>
        <p:txBody>
          <a:bodyPr wrap="square">
            <a:noAutofit/>
          </a:bodyPr>
          <a:p>
            <a:pPr algn="ctr">
              <a:defRPr/>
            </a:pPr>
            <a:r>
              <a:rPr lang="zh-CN" altLang="en-US" sz="1000" b="1" dirty="0">
                <a:solidFill>
                  <a:schemeClr val="tx2"/>
                </a:solidFill>
                <a:latin typeface="微软雅黑" panose="020B0503020204020204" pitchFamily="34" charset="-122"/>
                <a:ea typeface="微软雅黑" panose="020B0503020204020204" pitchFamily="34" charset="-122"/>
              </a:rPr>
              <a:t>市场、集省专运营人员、产品</a:t>
            </a:r>
            <a:r>
              <a:rPr lang="zh-CN" altLang="en-US" sz="1000" b="1" dirty="0">
                <a:solidFill>
                  <a:schemeClr val="tx2"/>
                </a:solidFill>
                <a:latin typeface="微软雅黑" panose="020B0503020204020204" pitchFamily="34" charset="-122"/>
                <a:ea typeface="微软雅黑" panose="020B0503020204020204" pitchFamily="34" charset="-122"/>
              </a:rPr>
              <a:t>经理</a:t>
            </a:r>
            <a:endParaRPr lang="zh-CN" altLang="en-US" sz="1000" b="1" dirty="0">
              <a:solidFill>
                <a:schemeClr val="tx2"/>
              </a:solidFill>
              <a:latin typeface="微软雅黑" panose="020B0503020204020204" pitchFamily="34" charset="-122"/>
              <a:ea typeface="微软雅黑" panose="020B0503020204020204" pitchFamily="34" charset="-122"/>
            </a:endParaRPr>
          </a:p>
        </p:txBody>
      </p:sp>
      <p:sp>
        <p:nvSpPr>
          <p:cNvPr id="66" name="矩形 65"/>
          <p:cNvSpPr/>
          <p:nvPr>
            <p:custDataLst>
              <p:tags r:id="rId28"/>
            </p:custDataLst>
          </p:nvPr>
        </p:nvSpPr>
        <p:spPr>
          <a:xfrm>
            <a:off x="929005" y="2174875"/>
            <a:ext cx="1749425" cy="274955"/>
          </a:xfrm>
          <a:prstGeom prst="rect">
            <a:avLst/>
          </a:prstGeom>
        </p:spPr>
        <p:txBody>
          <a:bodyPr wrap="square">
            <a:noAutofit/>
          </a:bodyPr>
          <a:p>
            <a:pPr algn="ctr">
              <a:defRPr/>
            </a:pPr>
            <a:r>
              <a:rPr lang="zh-CN" altLang="en-US" sz="1000" b="1" dirty="0">
                <a:solidFill>
                  <a:schemeClr val="tx2"/>
                </a:solidFill>
                <a:latin typeface="微软雅黑" panose="020B0503020204020204" pitchFamily="34" charset="-122"/>
                <a:ea typeface="微软雅黑" panose="020B0503020204020204" pitchFamily="34" charset="-122"/>
              </a:rPr>
              <a:t>渠道运营人员</a:t>
            </a:r>
            <a:endParaRPr lang="zh-CN" altLang="en-US" sz="1000" b="1" dirty="0">
              <a:solidFill>
                <a:schemeClr val="tx2"/>
              </a:solidFill>
              <a:latin typeface="微软雅黑" panose="020B0503020204020204" pitchFamily="34" charset="-122"/>
              <a:ea typeface="微软雅黑" panose="020B0503020204020204" pitchFamily="34" charset="-122"/>
            </a:endParaRPr>
          </a:p>
        </p:txBody>
      </p:sp>
      <p:sp>
        <p:nvSpPr>
          <p:cNvPr id="67" name="矩形 66"/>
          <p:cNvSpPr/>
          <p:nvPr>
            <p:custDataLst>
              <p:tags r:id="rId29"/>
            </p:custDataLst>
          </p:nvPr>
        </p:nvSpPr>
        <p:spPr>
          <a:xfrm>
            <a:off x="7510780" y="5803900"/>
            <a:ext cx="4400550" cy="828040"/>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0000" rtlCol="0" anchor="ctr" anchorCtr="0"/>
          <a:p>
            <a:pPr algn="ctr">
              <a:lnSpc>
                <a:spcPct val="130000"/>
              </a:lnSpc>
            </a:pPr>
            <a:r>
              <a:rPr lang="zh-CN" altLang="en-US"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实现端到端渠道运营</a:t>
            </a:r>
            <a:endParaRPr lang="zh-CN" altLang="en-US"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9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智能排查工具升级，提升运营效率；</a:t>
            </a:r>
            <a:r>
              <a:rPr lang="zh-CN" altLang="en-US" sz="9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聚焦核心运营指标，</a:t>
            </a:r>
            <a:r>
              <a:rPr lang="zh-CN" altLang="en-US" sz="9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构建渠道运营效能全视图及渠道评估分析</a:t>
            </a:r>
            <a:r>
              <a:rPr lang="zh-CN" altLang="en-US" sz="9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；构建厅店数据一点维护、多点同步能力</a:t>
            </a:r>
            <a:r>
              <a:rPr kumimoji="1" lang="zh-CN" altLang="en-US" sz="900" kern="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zh-CN" altLang="en-US" sz="900" kern="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9" name="五边形 68"/>
          <p:cNvSpPr/>
          <p:nvPr>
            <p:custDataLst>
              <p:tags r:id="rId30"/>
            </p:custDataLst>
          </p:nvPr>
        </p:nvSpPr>
        <p:spPr>
          <a:xfrm>
            <a:off x="901065" y="4238625"/>
            <a:ext cx="11095355" cy="252730"/>
          </a:xfrm>
          <a:prstGeom prst="homePlate">
            <a:avLst/>
          </a:prstGeom>
          <a:solidFill>
            <a:srgbClr val="5CACE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sz="1000" b="1" dirty="0">
                <a:solidFill>
                  <a:srgbClr val="FFFF00"/>
                </a:solidFill>
              </a:rPr>
              <a:t>全渠道运营</a:t>
            </a:r>
            <a:r>
              <a:rPr kumimoji="1" lang="zh-CN" sz="1000" b="1" dirty="0">
                <a:solidFill>
                  <a:srgbClr val="FFFF00"/>
                </a:solidFill>
              </a:rPr>
              <a:t>平台</a:t>
            </a:r>
            <a:endParaRPr kumimoji="1" lang="zh-CN" sz="1000" b="1" dirty="0">
              <a:solidFill>
                <a:srgbClr val="FFFF00"/>
              </a:solidFill>
            </a:endParaRPr>
          </a:p>
        </p:txBody>
      </p:sp>
      <p:grpSp>
        <p:nvGrpSpPr>
          <p:cNvPr id="5" name="组合 4"/>
          <p:cNvGrpSpPr/>
          <p:nvPr/>
        </p:nvGrpSpPr>
        <p:grpSpPr>
          <a:xfrm>
            <a:off x="1015365" y="2392045"/>
            <a:ext cx="10430510" cy="1280795"/>
            <a:chOff x="1704" y="4082"/>
            <a:chExt cx="16191" cy="2411"/>
          </a:xfrm>
        </p:grpSpPr>
        <p:grpSp>
          <p:nvGrpSpPr>
            <p:cNvPr id="16" name="组合 15"/>
            <p:cNvGrpSpPr/>
            <p:nvPr/>
          </p:nvGrpSpPr>
          <p:grpSpPr>
            <a:xfrm>
              <a:off x="1704" y="4133"/>
              <a:ext cx="2408" cy="1372"/>
              <a:chOff x="2439" y="7580"/>
              <a:chExt cx="2408" cy="1372"/>
            </a:xfrm>
            <a:solidFill>
              <a:schemeClr val="bg1"/>
            </a:solidFill>
          </p:grpSpPr>
          <p:sp>
            <p:nvSpPr>
              <p:cNvPr id="18" name="圆角矩形 17"/>
              <p:cNvSpPr/>
              <p:nvPr>
                <p:custDataLst>
                  <p:tags r:id="rId31"/>
                </p:custDataLst>
              </p:nvPr>
            </p:nvSpPr>
            <p:spPr>
              <a:xfrm>
                <a:off x="2439" y="7580"/>
                <a:ext cx="2409" cy="394"/>
              </a:xfrm>
              <a:prstGeom prst="roundRect">
                <a:avLst/>
              </a:prstGeom>
              <a:grp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solidFill>
                      <a:schemeClr val="tx1"/>
                    </a:solidFill>
                  </a:rPr>
                  <a:t>中国移动</a:t>
                </a:r>
                <a:r>
                  <a:rPr lang="en-US" altLang="zh-CN" sz="900">
                    <a:solidFill>
                      <a:schemeClr val="tx1"/>
                    </a:solidFill>
                  </a:rPr>
                  <a:t>APP</a:t>
                </a:r>
                <a:endParaRPr lang="en-US" altLang="zh-CN" sz="900">
                  <a:solidFill>
                    <a:schemeClr val="tx1"/>
                  </a:solidFill>
                </a:endParaRPr>
              </a:p>
            </p:txBody>
          </p:sp>
          <p:sp>
            <p:nvSpPr>
              <p:cNvPr id="25" name="圆角矩形 24"/>
              <p:cNvSpPr/>
              <p:nvPr>
                <p:custDataLst>
                  <p:tags r:id="rId32"/>
                </p:custDataLst>
              </p:nvPr>
            </p:nvSpPr>
            <p:spPr>
              <a:xfrm>
                <a:off x="2439" y="8069"/>
                <a:ext cx="2409" cy="394"/>
              </a:xfrm>
              <a:prstGeom prst="roundRect">
                <a:avLst/>
              </a:prstGeom>
              <a:grp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solidFill>
                      <a:schemeClr val="tx1"/>
                    </a:solidFill>
                  </a:rPr>
                  <a:t>智慧营业厅</a:t>
                </a:r>
                <a:endParaRPr lang="zh-CN" altLang="en-US" sz="900">
                  <a:solidFill>
                    <a:schemeClr val="tx1"/>
                  </a:solidFill>
                </a:endParaRPr>
              </a:p>
            </p:txBody>
          </p:sp>
          <p:sp>
            <p:nvSpPr>
              <p:cNvPr id="27" name="圆角矩形 26"/>
              <p:cNvSpPr/>
              <p:nvPr>
                <p:custDataLst>
                  <p:tags r:id="rId33"/>
                </p:custDataLst>
              </p:nvPr>
            </p:nvSpPr>
            <p:spPr>
              <a:xfrm>
                <a:off x="2439" y="8558"/>
                <a:ext cx="2409" cy="394"/>
              </a:xfrm>
              <a:prstGeom prst="roundRect">
                <a:avLst/>
              </a:prstGeom>
              <a:grp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solidFill>
                      <a:schemeClr val="tx1"/>
                    </a:solidFill>
                  </a:rPr>
                  <a:t>企业微信</a:t>
                </a:r>
                <a:endParaRPr lang="zh-CN" altLang="en-US" sz="900">
                  <a:solidFill>
                    <a:schemeClr val="tx1"/>
                  </a:solidFill>
                </a:endParaRPr>
              </a:p>
            </p:txBody>
          </p:sp>
        </p:grpSp>
        <p:sp>
          <p:nvSpPr>
            <p:cNvPr id="157" name="圆角矩形 156"/>
            <p:cNvSpPr/>
            <p:nvPr>
              <p:custDataLst>
                <p:tags r:id="rId34"/>
              </p:custDataLst>
            </p:nvPr>
          </p:nvSpPr>
          <p:spPr>
            <a:xfrm>
              <a:off x="1704" y="5605"/>
              <a:ext cx="2409" cy="394"/>
            </a:xfrm>
            <a:prstGeom prst="round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solidFill>
                    <a:schemeClr val="tx1"/>
                  </a:solidFill>
                </a:rPr>
                <a:t>热线渠道</a:t>
              </a:r>
              <a:endParaRPr lang="zh-CN" altLang="en-US" sz="900">
                <a:solidFill>
                  <a:schemeClr val="tx1"/>
                </a:solidFill>
              </a:endParaRPr>
            </a:p>
          </p:txBody>
        </p:sp>
        <p:sp>
          <p:nvSpPr>
            <p:cNvPr id="158" name="圆角矩形 157"/>
            <p:cNvSpPr/>
            <p:nvPr>
              <p:custDataLst>
                <p:tags r:id="rId35"/>
              </p:custDataLst>
            </p:nvPr>
          </p:nvSpPr>
          <p:spPr>
            <a:xfrm>
              <a:off x="1704" y="6099"/>
              <a:ext cx="2409" cy="394"/>
            </a:xfrm>
            <a:prstGeom prst="round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solidFill>
                    <a:schemeClr val="tx1"/>
                  </a:solidFill>
                </a:rPr>
                <a:t>互联网渠道</a:t>
              </a:r>
              <a:endParaRPr lang="zh-CN" altLang="en-US" sz="900">
                <a:solidFill>
                  <a:schemeClr val="tx1"/>
                </a:solidFill>
              </a:endParaRPr>
            </a:p>
          </p:txBody>
        </p:sp>
        <p:sp>
          <p:nvSpPr>
            <p:cNvPr id="159" name="圆角矩形 158"/>
            <p:cNvSpPr/>
            <p:nvPr>
              <p:custDataLst>
                <p:tags r:id="rId36"/>
              </p:custDataLst>
            </p:nvPr>
          </p:nvSpPr>
          <p:spPr>
            <a:xfrm>
              <a:off x="4400" y="4133"/>
              <a:ext cx="588" cy="2360"/>
            </a:xfrm>
            <a:prstGeom prst="roundRect">
              <a:avLst/>
            </a:prstGeom>
            <a:solidFill>
              <a:srgbClr val="E5F0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solidFill>
                    <a:schemeClr val="tx1"/>
                  </a:solidFill>
                </a:rPr>
                <a:t>渠道触客</a:t>
              </a:r>
              <a:endParaRPr lang="zh-CN" altLang="en-US" sz="900">
                <a:solidFill>
                  <a:schemeClr val="tx1"/>
                </a:solidFill>
              </a:endParaRPr>
            </a:p>
            <a:p>
              <a:pPr algn="ctr"/>
              <a:r>
                <a:rPr lang="zh-CN" altLang="en-US" sz="900">
                  <a:solidFill>
                    <a:schemeClr val="tx1"/>
                  </a:solidFill>
                </a:rPr>
                <a:t>数据</a:t>
              </a:r>
              <a:endParaRPr lang="zh-CN" altLang="en-US" sz="900">
                <a:solidFill>
                  <a:schemeClr val="tx1"/>
                </a:solidFill>
              </a:endParaRPr>
            </a:p>
            <a:p>
              <a:pPr algn="ctr"/>
              <a:r>
                <a:rPr lang="zh-CN" altLang="en-US" sz="900">
                  <a:solidFill>
                    <a:schemeClr val="tx1"/>
                  </a:solidFill>
                </a:rPr>
                <a:t>直采</a:t>
              </a:r>
              <a:endParaRPr lang="zh-CN" altLang="en-US" sz="900">
                <a:solidFill>
                  <a:schemeClr val="tx1"/>
                </a:solidFill>
              </a:endParaRPr>
            </a:p>
          </p:txBody>
        </p:sp>
        <p:sp>
          <p:nvSpPr>
            <p:cNvPr id="161" name="右大括号 160"/>
            <p:cNvSpPr/>
            <p:nvPr/>
          </p:nvSpPr>
          <p:spPr>
            <a:xfrm>
              <a:off x="4219" y="4210"/>
              <a:ext cx="152" cy="2281"/>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600"/>
            </a:p>
          </p:txBody>
        </p:sp>
        <p:grpSp>
          <p:nvGrpSpPr>
            <p:cNvPr id="210" name="组合 209"/>
            <p:cNvGrpSpPr/>
            <p:nvPr/>
          </p:nvGrpSpPr>
          <p:grpSpPr>
            <a:xfrm>
              <a:off x="15827" y="4291"/>
              <a:ext cx="2068" cy="1372"/>
              <a:chOff x="2439" y="7580"/>
              <a:chExt cx="2408" cy="1372"/>
            </a:xfrm>
            <a:solidFill>
              <a:schemeClr val="bg1"/>
            </a:solidFill>
          </p:grpSpPr>
          <p:sp>
            <p:nvSpPr>
              <p:cNvPr id="211" name="圆角矩形 210"/>
              <p:cNvSpPr/>
              <p:nvPr>
                <p:custDataLst>
                  <p:tags r:id="rId37"/>
                </p:custDataLst>
              </p:nvPr>
            </p:nvSpPr>
            <p:spPr>
              <a:xfrm>
                <a:off x="2439" y="7580"/>
                <a:ext cx="2409" cy="394"/>
              </a:xfrm>
              <a:prstGeom prst="roundRect">
                <a:avLst/>
              </a:prstGeom>
              <a:grp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solidFill>
                      <a:schemeClr val="accent1"/>
                    </a:solidFill>
                  </a:rPr>
                  <a:t>渠道多维工具</a:t>
                </a:r>
                <a:r>
                  <a:rPr lang="zh-CN" altLang="en-US" sz="900">
                    <a:solidFill>
                      <a:schemeClr val="accent1"/>
                    </a:solidFill>
                  </a:rPr>
                  <a:t>报表</a:t>
                </a:r>
                <a:endParaRPr lang="zh-CN" altLang="en-US" sz="900">
                  <a:solidFill>
                    <a:schemeClr val="accent1"/>
                  </a:solidFill>
                </a:endParaRPr>
              </a:p>
            </p:txBody>
          </p:sp>
          <p:sp>
            <p:nvSpPr>
              <p:cNvPr id="212" name="圆角矩形 211"/>
              <p:cNvSpPr/>
              <p:nvPr>
                <p:custDataLst>
                  <p:tags r:id="rId38"/>
                </p:custDataLst>
              </p:nvPr>
            </p:nvSpPr>
            <p:spPr>
              <a:xfrm>
                <a:off x="2439" y="8069"/>
                <a:ext cx="2409" cy="394"/>
              </a:xfrm>
              <a:prstGeom prst="roundRect">
                <a:avLst/>
              </a:prstGeom>
              <a:grp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solidFill>
                      <a:schemeClr val="accent1"/>
                    </a:solidFill>
                  </a:rPr>
                  <a:t>渠道投放效果</a:t>
                </a:r>
                <a:r>
                  <a:rPr lang="zh-CN" altLang="en-US" sz="900">
                    <a:solidFill>
                      <a:schemeClr val="accent1"/>
                    </a:solidFill>
                  </a:rPr>
                  <a:t>分析</a:t>
                </a:r>
                <a:endParaRPr lang="zh-CN" altLang="en-US" sz="900">
                  <a:solidFill>
                    <a:schemeClr val="accent1"/>
                  </a:solidFill>
                </a:endParaRPr>
              </a:p>
            </p:txBody>
          </p:sp>
          <p:sp>
            <p:nvSpPr>
              <p:cNvPr id="213" name="圆角矩形 212"/>
              <p:cNvSpPr/>
              <p:nvPr>
                <p:custDataLst>
                  <p:tags r:id="rId39"/>
                </p:custDataLst>
              </p:nvPr>
            </p:nvSpPr>
            <p:spPr>
              <a:xfrm>
                <a:off x="2439" y="8558"/>
                <a:ext cx="2409" cy="394"/>
              </a:xfrm>
              <a:prstGeom prst="roundRect">
                <a:avLst/>
              </a:prstGeom>
              <a:grp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solidFill>
                      <a:schemeClr val="accent1"/>
                    </a:solidFill>
                  </a:rPr>
                  <a:t>渠道运营</a:t>
                </a:r>
                <a:r>
                  <a:rPr lang="zh-CN" altLang="en-US" sz="900">
                    <a:solidFill>
                      <a:schemeClr val="accent1"/>
                    </a:solidFill>
                  </a:rPr>
                  <a:t>分析</a:t>
                </a:r>
                <a:endParaRPr lang="zh-CN" altLang="en-US" sz="900">
                  <a:solidFill>
                    <a:schemeClr val="accent1"/>
                  </a:solidFill>
                </a:endParaRPr>
              </a:p>
            </p:txBody>
          </p:sp>
        </p:grpSp>
        <p:grpSp>
          <p:nvGrpSpPr>
            <p:cNvPr id="221" name="组合 220"/>
            <p:cNvGrpSpPr/>
            <p:nvPr/>
          </p:nvGrpSpPr>
          <p:grpSpPr>
            <a:xfrm>
              <a:off x="5459" y="4232"/>
              <a:ext cx="5993" cy="2203"/>
              <a:chOff x="3287" y="4243"/>
              <a:chExt cx="6301" cy="2203"/>
            </a:xfrm>
          </p:grpSpPr>
          <p:sp>
            <p:nvSpPr>
              <p:cNvPr id="229" name="矩形 228"/>
              <p:cNvSpPr/>
              <p:nvPr>
                <p:custDataLst>
                  <p:tags r:id="rId40"/>
                </p:custDataLst>
              </p:nvPr>
            </p:nvSpPr>
            <p:spPr>
              <a:xfrm>
                <a:off x="3287" y="4269"/>
                <a:ext cx="3274" cy="211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p>
            </p:txBody>
          </p:sp>
          <p:pic>
            <p:nvPicPr>
              <p:cNvPr id="235" name="picture 855"/>
              <p:cNvPicPr>
                <a:picLocks noChangeAspect="1"/>
              </p:cNvPicPr>
              <p:nvPr>
                <p:custDataLst>
                  <p:tags r:id="rId41"/>
                </p:custDataLst>
              </p:nvPr>
            </p:nvPicPr>
            <p:blipFill>
              <a:blip r:embed="rId42"/>
              <a:srcRect t="24209" r="-9524" b="30183"/>
              <a:stretch>
                <a:fillRect/>
              </a:stretch>
            </p:blipFill>
            <p:spPr>
              <a:xfrm>
                <a:off x="6451" y="4243"/>
                <a:ext cx="602" cy="2203"/>
              </a:xfrm>
              <a:prstGeom prst="rect">
                <a:avLst/>
              </a:prstGeom>
            </p:spPr>
          </p:pic>
          <p:sp>
            <p:nvSpPr>
              <p:cNvPr id="237" name="矩形 236"/>
              <p:cNvSpPr/>
              <p:nvPr>
                <p:custDataLst>
                  <p:tags r:id="rId43"/>
                </p:custDataLst>
              </p:nvPr>
            </p:nvSpPr>
            <p:spPr>
              <a:xfrm>
                <a:off x="7012" y="4269"/>
                <a:ext cx="2576" cy="676"/>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网：</a:t>
                </a:r>
                <a:r>
                  <a:rPr lang="en-US" altLang="zh-CN"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1+N</a:t>
                </a:r>
                <a:r>
                  <a:rPr lang="zh-CN" altLang="en-US"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全网精推送</a:t>
                </a:r>
                <a:endParaRPr lang="zh-CN" altLang="en-US"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8" name="矩形 237"/>
              <p:cNvSpPr/>
              <p:nvPr>
                <p:custDataLst>
                  <p:tags r:id="rId44"/>
                </p:custDataLst>
              </p:nvPr>
            </p:nvSpPr>
            <p:spPr>
              <a:xfrm>
                <a:off x="7012" y="4997"/>
                <a:ext cx="2576" cy="626"/>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店：</a:t>
                </a:r>
                <a:r>
                  <a:rPr lang="zh-CN"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服务办理点对点精准推送</a:t>
                </a:r>
                <a:endParaRPr lang="zh-CN"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9" name="矩形 238"/>
              <p:cNvSpPr/>
              <p:nvPr>
                <p:custDataLst>
                  <p:tags r:id="rId45"/>
                </p:custDataLst>
              </p:nvPr>
            </p:nvSpPr>
            <p:spPr>
              <a:xfrm>
                <a:off x="7012" y="5672"/>
                <a:ext cx="2576" cy="626"/>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人：</a:t>
                </a:r>
                <a:r>
                  <a:rPr lang="zh-CN"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商机推送、</a:t>
                </a:r>
                <a:r>
                  <a:rPr lang="zh-CN" altLang="en-US"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流失提醒等</a:t>
                </a:r>
                <a:endParaRPr lang="zh-CN" altLang="en-US" sz="9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2" name="文本框 241"/>
              <p:cNvSpPr txBox="1"/>
              <p:nvPr>
                <p:custDataLst>
                  <p:tags r:id="rId46"/>
                </p:custDataLst>
              </p:nvPr>
            </p:nvSpPr>
            <p:spPr>
              <a:xfrm>
                <a:off x="6378" y="4939"/>
                <a:ext cx="710" cy="938"/>
              </a:xfrm>
              <a:prstGeom prst="rect">
                <a:avLst/>
              </a:prstGeom>
              <a:noFill/>
            </p:spPr>
            <p:txBody>
              <a:bodyPr wrap="square" rtlCol="0">
                <a:noAutofit/>
              </a:bodyPr>
              <a:p>
                <a:pPr algn="ctr"/>
                <a:r>
                  <a:rPr lang="zh-CN" altLang="en-US" sz="900">
                    <a:latin typeface="微软雅黑" panose="020B0503020204020204" pitchFamily="34" charset="-122"/>
                    <a:ea typeface="微软雅黑" panose="020B0503020204020204" pitchFamily="34" charset="-122"/>
                  </a:rPr>
                  <a:t>线上</a:t>
                </a: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p>
                <a:pPr algn="ctr"/>
                <a:r>
                  <a:rPr lang="zh-CN" altLang="en-US" sz="900">
                    <a:latin typeface="微软雅黑" panose="020B0503020204020204" pitchFamily="34" charset="-122"/>
                    <a:ea typeface="微软雅黑" panose="020B0503020204020204" pitchFamily="34" charset="-122"/>
                  </a:rPr>
                  <a:t>线下</a:t>
                </a:r>
                <a:endParaRPr lang="zh-CN" altLang="en-US" sz="900">
                  <a:latin typeface="微软雅黑" panose="020B0503020204020204" pitchFamily="34" charset="-122"/>
                  <a:ea typeface="微软雅黑" panose="020B0503020204020204" pitchFamily="34" charset="-122"/>
                </a:endParaRPr>
              </a:p>
            </p:txBody>
          </p:sp>
        </p:grpSp>
        <p:pic>
          <p:nvPicPr>
            <p:cNvPr id="248" name="picture 855"/>
            <p:cNvPicPr>
              <a:picLocks noChangeAspect="1"/>
            </p:cNvPicPr>
            <p:nvPr>
              <p:custDataLst>
                <p:tags r:id="rId47"/>
              </p:custDataLst>
            </p:nvPr>
          </p:nvPicPr>
          <p:blipFill>
            <a:blip r:embed="rId42"/>
            <a:srcRect t="24209" r="-9524" b="30183"/>
            <a:stretch>
              <a:fillRect/>
            </a:stretch>
          </p:blipFill>
          <p:spPr>
            <a:xfrm>
              <a:off x="4925" y="4133"/>
              <a:ext cx="573" cy="2203"/>
            </a:xfrm>
            <a:prstGeom prst="rect">
              <a:avLst/>
            </a:prstGeom>
          </p:spPr>
        </p:pic>
        <p:pic>
          <p:nvPicPr>
            <p:cNvPr id="249" name="picture 855"/>
            <p:cNvPicPr>
              <a:picLocks noChangeAspect="1"/>
            </p:cNvPicPr>
            <p:nvPr>
              <p:custDataLst>
                <p:tags r:id="rId48"/>
              </p:custDataLst>
            </p:nvPr>
          </p:nvPicPr>
          <p:blipFill>
            <a:blip r:embed="rId42"/>
            <a:srcRect t="24209" r="-9524" b="30183"/>
            <a:stretch>
              <a:fillRect/>
            </a:stretch>
          </p:blipFill>
          <p:spPr>
            <a:xfrm>
              <a:off x="11606" y="4169"/>
              <a:ext cx="573" cy="2203"/>
            </a:xfrm>
            <a:prstGeom prst="rect">
              <a:avLst/>
            </a:prstGeom>
          </p:spPr>
        </p:pic>
        <p:pic>
          <p:nvPicPr>
            <p:cNvPr id="250" name="picture 855"/>
            <p:cNvPicPr>
              <a:picLocks noChangeAspect="1"/>
            </p:cNvPicPr>
            <p:nvPr>
              <p:custDataLst>
                <p:tags r:id="rId49"/>
              </p:custDataLst>
            </p:nvPr>
          </p:nvPicPr>
          <p:blipFill>
            <a:blip r:embed="rId42"/>
            <a:srcRect t="24209" r="-9524" b="30183"/>
            <a:stretch>
              <a:fillRect/>
            </a:stretch>
          </p:blipFill>
          <p:spPr>
            <a:xfrm>
              <a:off x="15004" y="4082"/>
              <a:ext cx="573" cy="2203"/>
            </a:xfrm>
            <a:prstGeom prst="rect">
              <a:avLst/>
            </a:prstGeom>
          </p:spPr>
        </p:pic>
        <p:sp>
          <p:nvSpPr>
            <p:cNvPr id="255" name="文本框 254"/>
            <p:cNvSpPr txBox="1"/>
            <p:nvPr>
              <p:custDataLst>
                <p:tags r:id="rId50"/>
              </p:custDataLst>
            </p:nvPr>
          </p:nvSpPr>
          <p:spPr>
            <a:xfrm>
              <a:off x="5476" y="4244"/>
              <a:ext cx="2898" cy="1932"/>
            </a:xfrm>
            <a:prstGeom prst="rect">
              <a:avLst/>
            </a:prstGeom>
            <a:noFill/>
          </p:spPr>
          <p:txBody>
            <a:bodyPr wrap="square" rtlCol="0" anchor="t">
              <a:noAutofit/>
            </a:bodyPr>
            <a:p>
              <a:pPr marL="171450" indent="-171450" algn="l" fontAlgn="auto">
                <a:lnSpc>
                  <a:spcPct val="110000"/>
                </a:lnSpc>
                <a:spcBef>
                  <a:spcPts val="0"/>
                </a:spcBef>
                <a:spcAft>
                  <a:spcPts val="0"/>
                </a:spcAft>
                <a:buFont typeface="Wingdings" panose="05000000000000000000" charset="0"/>
                <a:buChar char=""/>
              </a:pPr>
              <a:r>
                <a:rPr kumimoji="1" lang="zh-CN" sz="9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智能策划能力：</a:t>
              </a:r>
              <a:r>
                <a:rPr kumimoji="1" lang="zh-CN" sz="9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触点投放智能匹配，提升转化效率；</a:t>
              </a:r>
              <a:endParaRPr kumimoji="1" sz="9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a:p>
              <a:pPr marL="171450" indent="-171450" algn="l" fontAlgn="auto">
                <a:lnSpc>
                  <a:spcPct val="110000"/>
                </a:lnSpc>
                <a:spcBef>
                  <a:spcPts val="0"/>
                </a:spcBef>
                <a:spcAft>
                  <a:spcPts val="0"/>
                </a:spcAft>
                <a:buFont typeface="Wingdings" panose="05000000000000000000" charset="0"/>
                <a:buChar char=""/>
              </a:pPr>
              <a:r>
                <a:rPr kumimoji="1" sz="9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实时</a:t>
              </a:r>
              <a:r>
                <a:rPr kumimoji="1" lang="zh-CN" sz="9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触客事件能力</a:t>
              </a:r>
              <a:r>
                <a:rPr kumimoji="1" sz="9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，投放事件汇聚</a:t>
              </a:r>
              <a:r>
                <a:rPr kumimoji="1" lang="zh-CN" sz="9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a:t>
              </a:r>
              <a:r>
                <a:rPr kumimoji="1" sz="9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对客群</a:t>
              </a:r>
              <a:r>
                <a:rPr kumimoji="1" lang="zh-CN" sz="9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精准</a:t>
              </a:r>
              <a:r>
                <a:rPr kumimoji="1" sz="9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匹配</a:t>
              </a:r>
              <a:r>
                <a:rPr kumimoji="1" lang="zh-CN" sz="9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，实现高效投放；</a:t>
              </a:r>
              <a:endParaRPr kumimoji="1" lang="zh-CN" sz="9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a:p>
              <a:pPr marL="171450" indent="-171450" algn="l" fontAlgn="auto">
                <a:lnSpc>
                  <a:spcPct val="110000"/>
                </a:lnSpc>
                <a:spcBef>
                  <a:spcPts val="0"/>
                </a:spcBef>
                <a:spcAft>
                  <a:spcPts val="0"/>
                </a:spcAft>
                <a:buFont typeface="Wingdings" panose="05000000000000000000" charset="0"/>
                <a:buChar char=""/>
              </a:pPr>
              <a:r>
                <a:rPr kumimoji="1" lang="zh-CN" sz="900" b="1"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触客流程编排</a:t>
              </a:r>
              <a:r>
                <a:rPr kumimoji="1" lang="zh-CN" sz="9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：投放用户、触点</a:t>
              </a:r>
              <a:r>
                <a:rPr kumimoji="1" lang="zh-CN" sz="9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等流程编排。</a:t>
              </a:r>
              <a:endParaRPr kumimoji="1" lang="zh-CN" sz="9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endParaRPr>
            </a:p>
          </p:txBody>
        </p:sp>
        <p:grpSp>
          <p:nvGrpSpPr>
            <p:cNvPr id="259" name="组合 258"/>
            <p:cNvGrpSpPr/>
            <p:nvPr/>
          </p:nvGrpSpPr>
          <p:grpSpPr>
            <a:xfrm>
              <a:off x="12286" y="4127"/>
              <a:ext cx="1329" cy="1315"/>
              <a:chOff x="12818" y="3956"/>
              <a:chExt cx="1521" cy="1637"/>
            </a:xfrm>
          </p:grpSpPr>
          <p:pic>
            <p:nvPicPr>
              <p:cNvPr id="256" name="图片 255" descr="21578956"/>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2818" y="3956"/>
                <a:ext cx="1521" cy="1637"/>
              </a:xfrm>
              <a:prstGeom prst="rect">
                <a:avLst/>
              </a:prstGeom>
            </p:spPr>
          </p:pic>
          <p:sp>
            <p:nvSpPr>
              <p:cNvPr id="257" name="圆角矩形 256"/>
              <p:cNvSpPr/>
              <p:nvPr>
                <p:custDataLst>
                  <p:tags r:id="rId53"/>
                </p:custDataLst>
              </p:nvPr>
            </p:nvSpPr>
            <p:spPr>
              <a:xfrm>
                <a:off x="12970" y="4277"/>
                <a:ext cx="1220" cy="773"/>
              </a:xfrm>
              <a:prstGeom prst="roundRect">
                <a:avLst/>
              </a:prstGeom>
              <a:noFill/>
              <a:ln>
                <a:noFill/>
              </a:ln>
              <a:extLst>
                <a:ext uri="{909E8E84-426E-40DD-AFC4-6F175D3DCCD1}">
                  <a14:hiddenFill xmlns:a14="http://schemas.microsoft.com/office/drawing/2010/main">
                    <a:solidFill>
                      <a:schemeClr val="accent1">
                        <a:lumMod val="20000"/>
                        <a:lumOff val="8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900">
                    <a:solidFill>
                      <a:schemeClr val="accent1"/>
                    </a:solidFill>
                  </a:rPr>
                  <a:t>实时渠道触客监</a:t>
                </a:r>
                <a:r>
                  <a:rPr lang="zh-CN" altLang="en-US" sz="900">
                    <a:solidFill>
                      <a:schemeClr val="accent1"/>
                    </a:solidFill>
                  </a:rPr>
                  <a:t>测</a:t>
                </a:r>
                <a:endParaRPr lang="zh-CN" altLang="en-US" sz="900">
                  <a:solidFill>
                    <a:schemeClr val="accent1"/>
                  </a:solidFill>
                </a:endParaRPr>
              </a:p>
            </p:txBody>
          </p:sp>
        </p:grpSp>
        <p:pic>
          <p:nvPicPr>
            <p:cNvPr id="258" name="图片 257" descr="21544479"/>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12296" y="5210"/>
              <a:ext cx="1329" cy="1260"/>
            </a:xfrm>
            <a:prstGeom prst="rect">
              <a:avLst/>
            </a:prstGeom>
          </p:spPr>
        </p:pic>
        <p:sp>
          <p:nvSpPr>
            <p:cNvPr id="260" name="文本框 259"/>
            <p:cNvSpPr txBox="1"/>
            <p:nvPr/>
          </p:nvSpPr>
          <p:spPr>
            <a:xfrm>
              <a:off x="13447" y="6057"/>
              <a:ext cx="1977" cy="430"/>
            </a:xfrm>
            <a:prstGeom prst="rect">
              <a:avLst/>
            </a:prstGeom>
            <a:noFill/>
          </p:spPr>
          <p:txBody>
            <a:bodyPr wrap="square" rtlCol="0" anchor="t">
              <a:noAutofit/>
            </a:bodyPr>
            <a:p>
              <a:pPr algn="ctr"/>
              <a:r>
                <a:rPr lang="zh-CN" altLang="en-US" sz="900">
                  <a:solidFill>
                    <a:schemeClr val="accent1"/>
                  </a:solidFill>
                  <a:sym typeface="+mn-ea"/>
                </a:rPr>
                <a:t>投放压力智能预警</a:t>
              </a:r>
              <a:endParaRPr kumimoji="1" lang="zh-CN" altLang="en-US" sz="900" dirty="0" smtClean="0">
                <a:solidFill>
                  <a:schemeClr val="accent1"/>
                </a:solidFill>
                <a:latin typeface="微软雅黑" panose="020B0503020204020204" pitchFamily="34" charset="-122"/>
                <a:ea typeface="微软雅黑" panose="020B0503020204020204" pitchFamily="34" charset="-122"/>
                <a:sym typeface="+mn-ea"/>
              </a:endParaRPr>
            </a:p>
          </p:txBody>
        </p:sp>
        <p:sp>
          <p:nvSpPr>
            <p:cNvPr id="261" name="文本框 260"/>
            <p:cNvSpPr txBox="1"/>
            <p:nvPr>
              <p:custDataLst>
                <p:tags r:id="rId56"/>
              </p:custDataLst>
            </p:nvPr>
          </p:nvSpPr>
          <p:spPr>
            <a:xfrm>
              <a:off x="13636" y="4103"/>
              <a:ext cx="1560" cy="1262"/>
            </a:xfrm>
            <a:prstGeom prst="rect">
              <a:avLst/>
            </a:prstGeom>
            <a:noFill/>
          </p:spPr>
          <p:txBody>
            <a:bodyPr wrap="square" rtlCol="0" anchor="t">
              <a:noAutofit/>
            </a:bodyPr>
            <a:p>
              <a:pPr marL="171450" indent="-171450" algn="l">
                <a:buFont typeface="Arial" panose="020B0604020202020204" pitchFamily="34" charset="0"/>
                <a:buChar char="•"/>
              </a:pPr>
              <a:r>
                <a:rPr kumimoji="1" lang="zh-CN" altLang="en-US" sz="900" dirty="0" smtClean="0">
                  <a:solidFill>
                    <a:schemeClr val="accent1"/>
                  </a:solidFill>
                  <a:latin typeface="微软雅黑" panose="020B0503020204020204" pitchFamily="34" charset="-122"/>
                  <a:ea typeface="微软雅黑" panose="020B0503020204020204" pitchFamily="34" charset="-122"/>
                  <a:sym typeface="+mn-ea"/>
                </a:rPr>
                <a:t>总触客量</a:t>
              </a:r>
              <a:endParaRPr kumimoji="1" lang="zh-CN" altLang="en-US" sz="900" dirty="0" smtClean="0">
                <a:solidFill>
                  <a:schemeClr val="accent1"/>
                </a:solidFill>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kumimoji="1" lang="zh-CN" altLang="en-US" sz="900" dirty="0" smtClean="0">
                  <a:solidFill>
                    <a:schemeClr val="accent1"/>
                  </a:solidFill>
                  <a:latin typeface="微软雅黑" panose="020B0503020204020204" pitchFamily="34" charset="-122"/>
                  <a:ea typeface="微软雅黑" panose="020B0503020204020204" pitchFamily="34" charset="-122"/>
                  <a:sym typeface="+mn-ea"/>
                </a:rPr>
                <a:t>渠道触客</a:t>
              </a:r>
              <a:endParaRPr kumimoji="1" lang="zh-CN" altLang="en-US" sz="900" dirty="0" smtClean="0">
                <a:solidFill>
                  <a:schemeClr val="accent1"/>
                </a:solidFill>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kumimoji="1" lang="zh-CN" altLang="en-US" sz="900" dirty="0" smtClean="0">
                  <a:solidFill>
                    <a:schemeClr val="accent1"/>
                  </a:solidFill>
                  <a:latin typeface="微软雅黑" panose="020B0503020204020204" pitchFamily="34" charset="-122"/>
                  <a:ea typeface="微软雅黑" panose="020B0503020204020204" pitchFamily="34" charset="-122"/>
                  <a:sym typeface="+mn-ea"/>
                </a:rPr>
                <a:t>订单转化</a:t>
              </a:r>
              <a:endParaRPr kumimoji="1" lang="zh-CN" altLang="en-US" sz="900" dirty="0" smtClean="0">
                <a:solidFill>
                  <a:schemeClr val="accent1"/>
                </a:solidFill>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kumimoji="1" lang="en-US" altLang="zh-CN" sz="900" dirty="0" smtClean="0">
                  <a:solidFill>
                    <a:schemeClr val="accent1"/>
                  </a:solidFill>
                  <a:latin typeface="微软雅黑" panose="020B0503020204020204" pitchFamily="34" charset="-122"/>
                  <a:ea typeface="微软雅黑" panose="020B0503020204020204" pitchFamily="34" charset="-122"/>
                  <a:sym typeface="+mn-ea"/>
                </a:rPr>
                <a:t>APP</a:t>
              </a:r>
              <a:r>
                <a:rPr kumimoji="1" lang="zh-CN" altLang="en-US" sz="900" dirty="0" smtClean="0">
                  <a:solidFill>
                    <a:schemeClr val="accent1"/>
                  </a:solidFill>
                  <a:latin typeface="微软雅黑" panose="020B0503020204020204" pitchFamily="34" charset="-122"/>
                  <a:ea typeface="微软雅黑" panose="020B0503020204020204" pitchFamily="34" charset="-122"/>
                  <a:sym typeface="+mn-ea"/>
                </a:rPr>
                <a:t>渗透率</a:t>
              </a:r>
              <a:endParaRPr kumimoji="1" lang="zh-CN" altLang="en-US" sz="900" dirty="0" smtClean="0">
                <a:solidFill>
                  <a:schemeClr val="accent1"/>
                </a:solidFill>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kumimoji="1" lang="en-US" altLang="zh-CN" sz="900" dirty="0" smtClean="0">
                  <a:solidFill>
                    <a:schemeClr val="accent1"/>
                  </a:solidFill>
                  <a:latin typeface="微软雅黑" panose="020B0503020204020204" pitchFamily="34" charset="-122"/>
                  <a:ea typeface="微软雅黑" panose="020B0503020204020204" pitchFamily="34" charset="-122"/>
                  <a:sym typeface="+mn-ea"/>
                </a:rPr>
                <a:t>......</a:t>
              </a:r>
              <a:endParaRPr kumimoji="1" lang="zh-CN" altLang="en-US" sz="900" dirty="0" smtClean="0">
                <a:solidFill>
                  <a:schemeClr val="accent1"/>
                </a:solidFill>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endParaRPr kumimoji="1" lang="zh-CN" altLang="en-US" sz="900" dirty="0" smtClean="0">
                <a:solidFill>
                  <a:schemeClr val="accent1"/>
                </a:solidFill>
                <a:latin typeface="微软雅黑" panose="020B0503020204020204" pitchFamily="34" charset="-122"/>
                <a:ea typeface="微软雅黑" panose="020B0503020204020204" pitchFamily="34" charset="-122"/>
                <a:sym typeface="+mn-ea"/>
              </a:endParaRPr>
            </a:p>
          </p:txBody>
        </p:sp>
        <p:sp>
          <p:nvSpPr>
            <p:cNvPr id="262" name="文本框 261"/>
            <p:cNvSpPr txBox="1"/>
            <p:nvPr>
              <p:custDataLst>
                <p:tags r:id="rId57"/>
              </p:custDataLst>
            </p:nvPr>
          </p:nvSpPr>
          <p:spPr>
            <a:xfrm>
              <a:off x="13627" y="5391"/>
              <a:ext cx="1560" cy="676"/>
            </a:xfrm>
            <a:prstGeom prst="rect">
              <a:avLst/>
            </a:prstGeom>
            <a:noFill/>
          </p:spPr>
          <p:txBody>
            <a:bodyPr wrap="square" rtlCol="0" anchor="t">
              <a:noAutofit/>
            </a:bodyPr>
            <a:p>
              <a:pPr marL="171450" indent="-171450" algn="l">
                <a:buFont typeface="Arial" panose="020B0604020202020204" pitchFamily="34" charset="0"/>
                <a:buChar char="•"/>
              </a:pPr>
              <a:r>
                <a:rPr kumimoji="1" lang="zh-CN" altLang="en-US" sz="900" dirty="0" smtClean="0">
                  <a:solidFill>
                    <a:schemeClr val="accent1"/>
                  </a:solidFill>
                  <a:latin typeface="微软雅黑" panose="020B0503020204020204" pitchFamily="34" charset="-122"/>
                  <a:ea typeface="微软雅黑" panose="020B0503020204020204" pitchFamily="34" charset="-122"/>
                  <a:sym typeface="+mn-ea"/>
                </a:rPr>
                <a:t>峰值预警</a:t>
              </a:r>
              <a:endParaRPr kumimoji="1" lang="zh-CN" altLang="en-US" sz="900" dirty="0" smtClean="0">
                <a:solidFill>
                  <a:schemeClr val="accent1"/>
                </a:solidFill>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kumimoji="1" lang="zh-CN" altLang="en-US" sz="900" dirty="0" smtClean="0">
                  <a:solidFill>
                    <a:schemeClr val="accent1"/>
                  </a:solidFill>
                  <a:latin typeface="微软雅黑" panose="020B0503020204020204" pitchFamily="34" charset="-122"/>
                  <a:ea typeface="微软雅黑" panose="020B0503020204020204" pitchFamily="34" charset="-122"/>
                  <a:sym typeface="+mn-ea"/>
                </a:rPr>
                <a:t>预估预警</a:t>
              </a:r>
              <a:endParaRPr kumimoji="1" lang="zh-CN" altLang="en-US" sz="900" dirty="0" smtClean="0">
                <a:solidFill>
                  <a:schemeClr val="accent1"/>
                </a:solidFill>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kumimoji="1" lang="en-US" altLang="zh-CN" sz="900" dirty="0" smtClean="0">
                  <a:solidFill>
                    <a:schemeClr val="accent1"/>
                  </a:solidFill>
                  <a:latin typeface="微软雅黑" panose="020B0503020204020204" pitchFamily="34" charset="-122"/>
                  <a:ea typeface="微软雅黑" panose="020B0503020204020204" pitchFamily="34" charset="-122"/>
                  <a:sym typeface="+mn-ea"/>
                </a:rPr>
                <a:t>......</a:t>
              </a:r>
              <a:endParaRPr kumimoji="1" lang="zh-CN" altLang="en-US" sz="900" dirty="0" smtClean="0">
                <a:solidFill>
                  <a:schemeClr val="accent1"/>
                </a:solidFill>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endParaRPr kumimoji="1" lang="zh-CN" altLang="en-US" sz="900" dirty="0" smtClean="0">
                <a:solidFill>
                  <a:schemeClr val="accent1"/>
                </a:solidFill>
                <a:latin typeface="微软雅黑" panose="020B0503020204020204" pitchFamily="34" charset="-122"/>
                <a:ea typeface="微软雅黑" panose="020B0503020204020204" pitchFamily="34" charset="-122"/>
                <a:sym typeface="+mn-ea"/>
              </a:endParaRPr>
            </a:p>
          </p:txBody>
        </p:sp>
      </p:grpSp>
      <p:grpSp>
        <p:nvGrpSpPr>
          <p:cNvPr id="24" name="组 13"/>
          <p:cNvGrpSpPr/>
          <p:nvPr/>
        </p:nvGrpSpPr>
        <p:grpSpPr>
          <a:xfrm>
            <a:off x="10506192" y="4989960"/>
            <a:ext cx="1620285" cy="1782705"/>
            <a:chOff x="7775541" y="3646905"/>
            <a:chExt cx="1360242" cy="1496595"/>
          </a:xfrm>
        </p:grpSpPr>
        <p:sp>
          <p:nvSpPr>
            <p:cNvPr id="29" name="任意形状 6"/>
            <p:cNvSpPr/>
            <p:nvPr/>
          </p:nvSpPr>
          <p:spPr>
            <a:xfrm rot="16200000">
              <a:off x="7707364" y="3715081"/>
              <a:ext cx="1496595" cy="1360242"/>
            </a:xfrm>
            <a:custGeom>
              <a:avLst/>
              <a:gdLst>
                <a:gd name="connsiteX0" fmla="*/ 1496595 w 1496595"/>
                <a:gd name="connsiteY0" fmla="*/ 1360242 h 1360242"/>
                <a:gd name="connsiteX1" fmla="*/ 956557 w 1496595"/>
                <a:gd name="connsiteY1" fmla="*/ 1360242 h 1360242"/>
                <a:gd name="connsiteX2" fmla="*/ 0 w 1496595"/>
                <a:gd name="connsiteY2" fmla="*/ 490836 h 1360242"/>
                <a:gd name="connsiteX3" fmla="*/ 0 w 1496595"/>
                <a:gd name="connsiteY3" fmla="*/ 0 h 1360242"/>
              </a:gdLst>
              <a:ahLst/>
              <a:cxnLst>
                <a:cxn ang="0">
                  <a:pos x="connsiteX0" y="connsiteY0"/>
                </a:cxn>
                <a:cxn ang="0">
                  <a:pos x="connsiteX1" y="connsiteY1"/>
                </a:cxn>
                <a:cxn ang="0">
                  <a:pos x="connsiteX2" y="connsiteY2"/>
                </a:cxn>
                <a:cxn ang="0">
                  <a:pos x="connsiteX3" y="connsiteY3"/>
                </a:cxn>
              </a:cxnLst>
              <a:rect l="l" t="t" r="r" b="b"/>
              <a:pathLst>
                <a:path w="1496595" h="1360242">
                  <a:moveTo>
                    <a:pt x="1496595" y="1360242"/>
                  </a:moveTo>
                  <a:lnTo>
                    <a:pt x="956557" y="1360242"/>
                  </a:lnTo>
                  <a:lnTo>
                    <a:pt x="0" y="490836"/>
                  </a:lnTo>
                  <a:lnTo>
                    <a:pt x="0" y="0"/>
                  </a:lnTo>
                  <a:close/>
                </a:path>
              </a:pathLst>
            </a:custGeom>
            <a:solidFill>
              <a:srgbClr val="EF954D">
                <a:lumMod val="60000"/>
                <a:lumOff val="40000"/>
                <a:alpha val="72000"/>
              </a:srgbClr>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dirty="0">
                <a:ln>
                  <a:noFill/>
                </a:ln>
                <a:solidFill>
                  <a:srgbClr val="000000">
                    <a:lumMod val="85000"/>
                    <a:lumOff val="15000"/>
                  </a:srgbClr>
                </a:solidFill>
                <a:effectLst/>
                <a:uLnTx/>
                <a:uFillTx/>
                <a:latin typeface="Arial" panose="020B0604020202020204"/>
                <a:ea typeface="黑体" panose="02010609060101010101" charset="-122"/>
                <a:cs typeface="+mn-ea"/>
                <a:sym typeface="+mn-lt"/>
              </a:endParaRPr>
            </a:p>
          </p:txBody>
        </p:sp>
        <p:sp>
          <p:nvSpPr>
            <p:cNvPr id="30" name="文本框 29"/>
            <p:cNvSpPr txBox="1"/>
            <p:nvPr/>
          </p:nvSpPr>
          <p:spPr>
            <a:xfrm rot="18696404">
              <a:off x="8126099" y="4369720"/>
              <a:ext cx="832150" cy="3609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暂定</a:t>
              </a:r>
              <a:endParaRPr kumimoji="1" lang="en-US" altLang="zh-CN"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（内容将更新</a:t>
              </a:r>
              <a:r>
                <a:rPr kumimoji="1" lang="en-US" altLang="zh-CN"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a:t>
              </a:r>
              <a:endPar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1130" y="274320"/>
            <a:ext cx="9697085" cy="486410"/>
          </a:xfrm>
        </p:spPr>
        <p:txBody>
          <a:bodyPr>
            <a:normAutofit/>
          </a:bodyPr>
          <a:lstStyle/>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路径图|</a:t>
            </a:r>
            <a:r>
              <a:rPr lang="zh-CN" altLang="en-US">
                <a:sym typeface="+mn-ea"/>
              </a:rPr>
              <a:t>构建三屏联动的数智前台，加速推动数智化转型</a:t>
            </a:r>
            <a:endParaRPr dirty="0">
              <a:sym typeface="+mn-ea"/>
            </a:endParaRPr>
          </a:p>
        </p:txBody>
      </p:sp>
      <p:sp>
        <p:nvSpPr>
          <p:cNvPr id="177" name="文本占位符 176"/>
          <p:cNvSpPr>
            <a:spLocks noGrp="1"/>
          </p:cNvSpPr>
          <p:nvPr>
            <p:ph type="body" sz="quarter" idx="10"/>
          </p:nvPr>
        </p:nvSpPr>
        <p:spPr>
          <a:xfrm>
            <a:off x="332740" y="909320"/>
            <a:ext cx="11690350" cy="655955"/>
          </a:xfrm>
        </p:spPr>
        <p:txBody>
          <a:bodyPr/>
          <a:lstStyle/>
          <a:p>
            <a:pPr>
              <a:lnSpc>
                <a:spcPct val="100000"/>
              </a:lnSpc>
            </a:pPr>
            <a:r>
              <a:rPr lang="zh-CN" altLang="en-US" dirty="0"/>
              <a:t>深化存增一体运营，加快推动精细运营，构建高效协同的市场运营工作台，汇聚智慧大脑、产品、渠道等运营类平台能力，通过数据、</a:t>
            </a:r>
            <a:r>
              <a:rPr lang="en-US" altLang="zh-CN" dirty="0"/>
              <a:t>AI</a:t>
            </a:r>
            <a:r>
              <a:rPr dirty="0"/>
              <a:t>驱动，提供</a:t>
            </a:r>
            <a:r>
              <a:rPr lang="zh-CN" altLang="en-US" dirty="0">
                <a:solidFill>
                  <a:srgbClr val="C00000">
                    <a:alpha val="100000"/>
                  </a:srgbClr>
                </a:solidFill>
              </a:rPr>
              <a:t>“洞察问题-策略生成-执行监控-效果评估”</a:t>
            </a:r>
            <a:r>
              <a:rPr lang="zh-CN" altLang="en-US" dirty="0"/>
              <a:t>的智能化运营前台，实现</a:t>
            </a:r>
            <a:r>
              <a:rPr lang="zh-CN" altLang="en-US" dirty="0">
                <a:solidFill>
                  <a:srgbClr val="C00000">
                    <a:alpha val="100000"/>
                  </a:srgbClr>
                </a:solidFill>
              </a:rPr>
              <a:t>运营态势智能感知，客户需求精准洞察、按需施策，运营流程全线贯穿，执行效果闭环评估</a:t>
            </a:r>
            <a:r>
              <a:rPr lang="zh-CN" altLang="en-US" dirty="0"/>
              <a:t>。</a:t>
            </a:r>
            <a:endParaRPr lang="zh-CN" altLang="en-US" dirty="0"/>
          </a:p>
        </p:txBody>
      </p:sp>
      <p:grpSp>
        <p:nvGrpSpPr>
          <p:cNvPr id="67" name="组合 66"/>
          <p:cNvGrpSpPr/>
          <p:nvPr/>
        </p:nvGrpSpPr>
        <p:grpSpPr>
          <a:xfrm>
            <a:off x="8538845" y="1565910"/>
            <a:ext cx="3434820" cy="5097145"/>
            <a:chOff x="14821" y="2466"/>
            <a:chExt cx="4035" cy="8027"/>
          </a:xfrm>
        </p:grpSpPr>
        <p:grpSp>
          <p:nvGrpSpPr>
            <p:cNvPr id="5" name="组合 4"/>
            <p:cNvGrpSpPr/>
            <p:nvPr/>
          </p:nvGrpSpPr>
          <p:grpSpPr>
            <a:xfrm>
              <a:off x="14821" y="2466"/>
              <a:ext cx="4035" cy="8027"/>
              <a:chOff x="10542" y="2881"/>
              <a:chExt cx="4645" cy="8027"/>
            </a:xfrm>
          </p:grpSpPr>
          <p:grpSp>
            <p:nvGrpSpPr>
              <p:cNvPr id="6" name="组合 5"/>
              <p:cNvGrpSpPr/>
              <p:nvPr/>
            </p:nvGrpSpPr>
            <p:grpSpPr>
              <a:xfrm rot="0">
                <a:off x="10542" y="2881"/>
                <a:ext cx="4645" cy="8027"/>
                <a:chOff x="398" y="2975"/>
                <a:chExt cx="9512" cy="8027"/>
              </a:xfrm>
            </p:grpSpPr>
            <p:sp>
              <p:nvSpPr>
                <p:cNvPr id="9" name="Rectangle 45"/>
                <p:cNvSpPr/>
                <p:nvPr/>
              </p:nvSpPr>
              <p:spPr>
                <a:xfrm>
                  <a:off x="398" y="3322"/>
                  <a:ext cx="9512" cy="7680"/>
                </a:xfrm>
                <a:prstGeom prst="roundRect">
                  <a:avLst>
                    <a:gd name="adj" fmla="val 2799"/>
                  </a:avLst>
                </a:prstGeom>
                <a:solidFill>
                  <a:srgbClr val="FFFFFF"/>
                </a:solidFill>
                <a:ln w="9525" cap="flat" cmpd="sng" algn="ctr">
                  <a:solidFill>
                    <a:schemeClr val="bg1">
                      <a:lumMod val="75000"/>
                    </a:schemeClr>
                  </a:solidFill>
                  <a:prstDash val="solid"/>
                  <a:miter lim="800000"/>
                </a:ln>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custDataLst>
                    <p:tags r:id="rId1"/>
                  </p:custDataLst>
                </p:nvPr>
              </p:nvSpPr>
              <p:spPr>
                <a:xfrm>
                  <a:off x="768" y="3531"/>
                  <a:ext cx="8774" cy="434"/>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强化入口收敛、能力贯通</a:t>
                  </a:r>
                  <a:endParaRPr kumimoji="0" lang="zh-CN"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文本框 10"/>
                <p:cNvSpPr txBox="1"/>
                <p:nvPr/>
              </p:nvSpPr>
              <p:spPr>
                <a:xfrm>
                  <a:off x="1642" y="2975"/>
                  <a:ext cx="7002" cy="517"/>
                </a:xfrm>
                <a:prstGeom prst="rect">
                  <a:avLst/>
                </a:prstGeom>
                <a:solidFill>
                  <a:srgbClr val="0070C0"/>
                </a:solidFill>
                <a:ln>
                  <a:solidFill>
                    <a:srgbClr val="E7F1FE"/>
                  </a:solidFill>
                </a:ln>
              </p:spPr>
              <p:txBody>
                <a:bodyPr wrap="square" rtlCol="0">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rPr>
                    <a:t>工作台定位</a:t>
                  </a:r>
                  <a:endParaRPr kumimoji="0" lang="zh-CN"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grpSp>
          <p:grpSp>
            <p:nvGrpSpPr>
              <p:cNvPr id="12" name="组合 11"/>
              <p:cNvGrpSpPr/>
              <p:nvPr/>
            </p:nvGrpSpPr>
            <p:grpSpPr>
              <a:xfrm>
                <a:off x="10723" y="3835"/>
                <a:ext cx="4361" cy="2857"/>
                <a:chOff x="11177" y="4004"/>
                <a:chExt cx="7998" cy="3930"/>
              </a:xfrm>
            </p:grpSpPr>
            <p:sp>
              <p:nvSpPr>
                <p:cNvPr id="13" name="矩形 12"/>
                <p:cNvSpPr/>
                <p:nvPr>
                  <p:custDataLst>
                    <p:tags r:id="rId2"/>
                  </p:custDataLst>
                </p:nvPr>
              </p:nvSpPr>
              <p:spPr>
                <a:xfrm>
                  <a:off x="11177" y="4054"/>
                  <a:ext cx="7859" cy="3704"/>
                </a:xfrm>
                <a:prstGeom prst="rect">
                  <a:avLst/>
                </a:prstGeom>
                <a:solidFill>
                  <a:srgbClr val="E6F1F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07950" tIns="107950" rIns="179705" bIns="71755" numCol="1" spcCol="0" rtlCol="0" fromWordArt="0" anchor="ctr" anchorCtr="0" forceAA="0" compatLnSpc="1">
                  <a:noAutofit/>
                </a:bodyPr>
                <a:lstStyle>
                  <a:defPPr>
                    <a:defRPr lang="en-US"/>
                  </a:defPPr>
                  <a:lvl1pPr marL="171450" marR="0" lvl="0" indent="-171450" fontAlgn="auto">
                    <a:lnSpc>
                      <a:spcPct val="150000"/>
                    </a:lnSpc>
                    <a:spcBef>
                      <a:spcPts val="0"/>
                    </a:spcBef>
                    <a:spcAft>
                      <a:spcPts val="0"/>
                    </a:spcAft>
                    <a:buClrTx/>
                    <a:buSzTx/>
                    <a:buFont typeface="Arial" panose="020B0604020202020204" pitchFamily="34" charset="0"/>
                    <a:buChar char="•"/>
                    <a:defRPr kumimoji="1" sz="1200" b="0" i="0" u="none" strike="noStrike" cap="none" spc="0" normalizeH="0" baseline="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ea"/>
                    </a:defRPr>
                  </a:lvl1pPr>
                </a:lstStyle>
                <a:p>
                  <a:pPr marL="0" marR="0" lvl="0" indent="-171450" algn="l" defTabSz="457200" rtl="0" eaLnBrk="1" fontAlgn="auto" latinLnBrk="0" hangingPunct="1">
                    <a:lnSpc>
                      <a:spcPct val="120000"/>
                    </a:lnSpc>
                    <a:spcBef>
                      <a:spcPts val="0"/>
                    </a:spcBef>
                    <a:spcAft>
                      <a:spcPts val="600"/>
                    </a:spcAft>
                    <a:buClrTx/>
                    <a:buSzTx/>
                    <a:buFontTx/>
                    <a:buNone/>
                    <a:defRPr/>
                  </a:pPr>
                  <a:endParaRPr kumimoji="1" lang="zh-CN" altLang="en-US" sz="1000" b="0" i="0" u="none" strike="noStrike" kern="1200" cap="none" spc="0" normalizeH="0" baseline="0" noProof="0" dirty="0">
                    <a:ln>
                      <a:noFill/>
                    </a:ln>
                    <a:solidFill>
                      <a:srgbClr val="EEEFEE">
                        <a:lumMod val="25000"/>
                      </a:srgbClr>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1253" y="4004"/>
                  <a:ext cx="7922" cy="3930"/>
                </a:xfrm>
                <a:prstGeom prst="rect">
                  <a:avLst/>
                </a:prstGeom>
                <a:noFill/>
              </p:spPr>
              <p:txBody>
                <a:bodyPr wrap="square" lIns="71755" rIns="36195" rtlCol="0" anchor="t">
                  <a:noAutofit/>
                </a:bodyPr>
                <a:lstStyle/>
                <a:p>
                  <a:pPr marL="114300" lvl="0" indent="-114300" algn="l" fontAlgn="auto">
                    <a:lnSpc>
                      <a:spcPct val="100000"/>
                    </a:lnSpc>
                    <a:spcAft>
                      <a:spcPts val="300"/>
                    </a:spcAft>
                    <a:buClrTx/>
                    <a:buSzTx/>
                    <a:buFont typeface="Arial" panose="020B0604020202020204" pitchFamily="34" charset="0"/>
                    <a:buChar char="•"/>
                  </a:pPr>
                  <a:r>
                    <a:rPr lang="zh-CN" altLang="en-US" sz="1100" b="1" dirty="0">
                      <a:ln>
                        <a:noFill/>
                      </a:ln>
                      <a:solidFill>
                        <a:srgbClr val="0070C0"/>
                      </a:solidFill>
                      <a:effectLst/>
                      <a:uLnTx/>
                      <a:uFillTx/>
                      <a:sym typeface="+mn-ea"/>
                    </a:rPr>
                    <a:t>收敛</a:t>
                  </a:r>
                  <a:r>
                    <a:rPr lang="zh-CN" altLang="en-US" sz="1100" b="1" dirty="0">
                      <a:ln>
                        <a:noFill/>
                      </a:ln>
                      <a:solidFill>
                        <a:srgbClr val="0070C0"/>
                      </a:solidFill>
                      <a:effectLst/>
                      <a:uLnTx/>
                      <a:uFillTx/>
                      <a:sym typeface="+mn-ea"/>
                    </a:rPr>
                    <a:t>运营能力</a:t>
                  </a:r>
                  <a:r>
                    <a:rPr lang="zh-CN" altLang="en-US" sz="1100" b="1" dirty="0">
                      <a:ln>
                        <a:noFill/>
                      </a:ln>
                      <a:solidFill>
                        <a:srgbClr val="0070C0"/>
                      </a:solidFill>
                      <a:effectLst/>
                      <a:uLnTx/>
                      <a:uFillTx/>
                      <a:sym typeface="+mn-ea"/>
                    </a:rPr>
                    <a:t>：</a:t>
                  </a:r>
                  <a:r>
                    <a:rPr lang="zh-CN" altLang="en-US" sz="1100" dirty="0">
                      <a:ln>
                        <a:noFill/>
                      </a:ln>
                      <a:effectLst/>
                      <a:uLnTx/>
                      <a:uFillTx/>
                      <a:sym typeface="+mn-ea"/>
                    </a:rPr>
                    <a:t>目前市场各类运营平台入口、数据、能力分散，通过运营平台的入口、能力汇聚收敛，打造运营类平台的统一入口。</a:t>
                  </a:r>
                  <a:endParaRPr lang="zh-CN" altLang="en-US" sz="1100" dirty="0">
                    <a:ln>
                      <a:noFill/>
                    </a:ln>
                    <a:effectLst/>
                    <a:uLnTx/>
                    <a:uFillTx/>
                    <a:sym typeface="+mn-ea"/>
                  </a:endParaRPr>
                </a:p>
                <a:p>
                  <a:pPr marL="114300" lvl="0" indent="-114300" algn="l" fontAlgn="auto">
                    <a:lnSpc>
                      <a:spcPct val="100000"/>
                    </a:lnSpc>
                    <a:spcAft>
                      <a:spcPts val="300"/>
                    </a:spcAft>
                    <a:buClrTx/>
                    <a:buSzTx/>
                    <a:buFont typeface="Arial" panose="020B0604020202020204" pitchFamily="34" charset="0"/>
                    <a:buChar char="•"/>
                  </a:pPr>
                  <a:r>
                    <a:rPr lang="zh-CN" altLang="en-US" sz="1100" b="1" dirty="0">
                      <a:ln>
                        <a:noFill/>
                      </a:ln>
                      <a:solidFill>
                        <a:srgbClr val="0070C0"/>
                      </a:solidFill>
                      <a:effectLst/>
                      <a:uLnTx/>
                      <a:uFillTx/>
                      <a:sym typeface="+mn-ea"/>
                    </a:rPr>
                    <a:t>贯通运营场景，实现自动化运营：</a:t>
                  </a:r>
                  <a:r>
                    <a:rPr lang="zh-CN" altLang="en-US" sz="1100" dirty="0">
                      <a:ln>
                        <a:noFill/>
                      </a:ln>
                      <a:effectLst/>
                      <a:uLnTx/>
                      <a:uFillTx/>
                      <a:sym typeface="+mn-ea"/>
                    </a:rPr>
                    <a:t>贯通“察策打评”运营全流程，面向管理实现重点指标一屏看全，面向运营，实现“洞察问题-策略生成-执行监控-效果评估”的智能化运营</a:t>
                  </a:r>
                  <a:endParaRPr lang="zh-CN" altLang="en-US" sz="1100" dirty="0">
                    <a:ln>
                      <a:noFill/>
                    </a:ln>
                    <a:effectLst/>
                    <a:uLnTx/>
                    <a:uFillTx/>
                    <a:sym typeface="+mn-ea"/>
                  </a:endParaRPr>
                </a:p>
                <a:p>
                  <a:pPr marL="114300" lvl="0" indent="-114300" algn="l" fontAlgn="auto">
                    <a:lnSpc>
                      <a:spcPct val="100000"/>
                    </a:lnSpc>
                    <a:spcAft>
                      <a:spcPts val="300"/>
                    </a:spcAft>
                    <a:buClrTx/>
                    <a:buSzTx/>
                    <a:buFont typeface="Arial" panose="020B0604020202020204" pitchFamily="34" charset="0"/>
                    <a:buChar char="•"/>
                  </a:pPr>
                  <a:r>
                    <a:rPr lang="zh-CN" altLang="en-US" sz="1100" b="1" dirty="0">
                      <a:ln>
                        <a:noFill/>
                      </a:ln>
                      <a:solidFill>
                        <a:srgbClr val="0070C0"/>
                      </a:solidFill>
                      <a:effectLst/>
                      <a:uLnTx/>
                      <a:uFillTx/>
                      <a:sym typeface="+mn-ea"/>
                    </a:rPr>
                    <a:t>各类运营中心：</a:t>
                  </a:r>
                  <a:r>
                    <a:rPr lang="zh-CN" altLang="en-US" sz="1100" dirty="0">
                      <a:ln>
                        <a:noFill/>
                      </a:ln>
                      <a:effectLst/>
                      <a:uLnTx/>
                      <a:uFillTx/>
                      <a:sym typeface="+mn-ea"/>
                    </a:rPr>
                    <a:t>聚焦本领域运营能力构建，并与统一工作台拉通数据、流程、能力等</a:t>
                  </a:r>
                  <a:endParaRPr lang="zh-CN" altLang="en-US" sz="1100" dirty="0">
                    <a:ln>
                      <a:noFill/>
                    </a:ln>
                    <a:effectLst/>
                    <a:uLnTx/>
                    <a:uFillTx/>
                    <a:sym typeface="+mn-ea"/>
                  </a:endParaRPr>
                </a:p>
                <a:p>
                  <a:pPr marL="114300" lvl="0" indent="-114300" algn="l" fontAlgn="auto">
                    <a:lnSpc>
                      <a:spcPct val="100000"/>
                    </a:lnSpc>
                    <a:spcAft>
                      <a:spcPts val="300"/>
                    </a:spcAft>
                    <a:buClrTx/>
                    <a:buSzTx/>
                    <a:buFont typeface="Arial" panose="020B0604020202020204" pitchFamily="34" charset="0"/>
                    <a:buChar char="•"/>
                  </a:pPr>
                  <a:endParaRPr lang="zh-CN" altLang="en-US" sz="1100" dirty="0">
                    <a:ln>
                      <a:noFill/>
                    </a:ln>
                    <a:effectLst/>
                    <a:uLnTx/>
                    <a:uFillTx/>
                    <a:sym typeface="+mn-ea"/>
                  </a:endParaRPr>
                </a:p>
              </p:txBody>
            </p:sp>
          </p:grpSp>
        </p:grpSp>
        <p:grpSp>
          <p:nvGrpSpPr>
            <p:cNvPr id="365" name="组合 364"/>
            <p:cNvGrpSpPr/>
            <p:nvPr/>
          </p:nvGrpSpPr>
          <p:grpSpPr>
            <a:xfrm>
              <a:off x="14991" y="6368"/>
              <a:ext cx="3760" cy="3929"/>
              <a:chOff x="15178" y="3061"/>
              <a:chExt cx="3760" cy="3929"/>
            </a:xfrm>
          </p:grpSpPr>
          <p:sp>
            <p:nvSpPr>
              <p:cNvPr id="362" name="文本框 361"/>
              <p:cNvSpPr txBox="1"/>
              <p:nvPr>
                <p:custDataLst>
                  <p:tags r:id="rId4"/>
                </p:custDataLst>
              </p:nvPr>
            </p:nvSpPr>
            <p:spPr>
              <a:xfrm>
                <a:off x="15216" y="3061"/>
                <a:ext cx="3722" cy="434"/>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流程贯通、两级协同构建</a:t>
                </a:r>
                <a:endParaRPr kumimoji="0" lang="zh-CN"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63" name="矩形 362"/>
              <p:cNvSpPr/>
              <p:nvPr>
                <p:custDataLst>
                  <p:tags r:id="rId5"/>
                </p:custDataLst>
              </p:nvPr>
            </p:nvSpPr>
            <p:spPr>
              <a:xfrm>
                <a:off x="15178" y="3504"/>
                <a:ext cx="3723" cy="3486"/>
              </a:xfrm>
              <a:prstGeom prst="rect">
                <a:avLst/>
              </a:prstGeom>
              <a:solidFill>
                <a:srgbClr val="E6F1F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07950" tIns="107950" rIns="179705" bIns="71755" numCol="1" spcCol="0" rtlCol="0" fromWordArt="0" anchor="ctr" anchorCtr="0" forceAA="0" compatLnSpc="1">
                <a:noAutofit/>
              </a:bodyPr>
              <a:lstStyle>
                <a:defPPr>
                  <a:defRPr lang="en-US"/>
                </a:defPPr>
                <a:lvl1pPr marL="171450" marR="0" lvl="0" indent="-171450" fontAlgn="auto">
                  <a:lnSpc>
                    <a:spcPct val="150000"/>
                  </a:lnSpc>
                  <a:spcBef>
                    <a:spcPts val="0"/>
                  </a:spcBef>
                  <a:spcAft>
                    <a:spcPts val="0"/>
                  </a:spcAft>
                  <a:buClrTx/>
                  <a:buSzTx/>
                  <a:buFont typeface="Arial" panose="020B0604020202020204" pitchFamily="34" charset="0"/>
                  <a:buChar char="•"/>
                  <a:defRPr kumimoji="1" sz="1200" b="0" i="0" u="none" strike="noStrike" cap="none" spc="0" normalizeH="0" baseline="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ea"/>
                  </a:defRPr>
                </a:lvl1pPr>
              </a:lstStyle>
              <a:p>
                <a:pPr marL="0" marR="0" lvl="0" indent="-171450" algn="l" defTabSz="457200" rtl="0" eaLnBrk="1" fontAlgn="auto" latinLnBrk="0" hangingPunct="1">
                  <a:lnSpc>
                    <a:spcPct val="120000"/>
                  </a:lnSpc>
                  <a:spcBef>
                    <a:spcPts val="0"/>
                  </a:spcBef>
                  <a:spcAft>
                    <a:spcPts val="600"/>
                  </a:spcAft>
                  <a:buClrTx/>
                  <a:buSzTx/>
                  <a:buFontTx/>
                  <a:buNone/>
                  <a:defRPr/>
                </a:pPr>
                <a:endParaRPr kumimoji="1" lang="zh-CN" altLang="en-US" sz="1000" b="0" i="0" u="none" strike="noStrike" kern="1200" cap="none" spc="0" normalizeH="0" baseline="0" noProof="0" dirty="0">
                  <a:ln>
                    <a:noFill/>
                  </a:ln>
                  <a:solidFill>
                    <a:srgbClr val="EEEFEE">
                      <a:lumMod val="25000"/>
                    </a:srgbClr>
                  </a:solidFill>
                  <a:effectLst/>
                  <a:uLnTx/>
                  <a:uFillTx/>
                  <a:latin typeface="微软雅黑" panose="020B0503020204020204" pitchFamily="34" charset="-122"/>
                  <a:ea typeface="微软雅黑" panose="020B0503020204020204" pitchFamily="34" charset="-122"/>
                  <a:cs typeface="+mn-ea"/>
                  <a:sym typeface="+mn-ea"/>
                </a:endParaRPr>
              </a:p>
            </p:txBody>
          </p:sp>
          <p:sp>
            <p:nvSpPr>
              <p:cNvPr id="364" name="文本框 363"/>
              <p:cNvSpPr txBox="1"/>
              <p:nvPr>
                <p:custDataLst>
                  <p:tags r:id="rId6"/>
                </p:custDataLst>
              </p:nvPr>
            </p:nvSpPr>
            <p:spPr>
              <a:xfrm>
                <a:off x="15185" y="3677"/>
                <a:ext cx="3753" cy="3198"/>
              </a:xfrm>
              <a:prstGeom prst="rect">
                <a:avLst/>
              </a:prstGeom>
              <a:noFill/>
            </p:spPr>
            <p:txBody>
              <a:bodyPr wrap="square" lIns="71755" rIns="36195" rtlCol="0" anchor="t">
                <a:noAutofit/>
              </a:bodyPr>
              <a:lstStyle/>
              <a:p>
                <a:pPr marL="114300" lvl="0" indent="-114300" algn="l" fontAlgn="auto">
                  <a:lnSpc>
                    <a:spcPct val="100000"/>
                  </a:lnSpc>
                  <a:spcAft>
                    <a:spcPts val="300"/>
                  </a:spcAft>
                  <a:buClrTx/>
                  <a:buSzTx/>
                  <a:buFont typeface="Arial" panose="020B0604020202020204" pitchFamily="34" charset="0"/>
                  <a:buChar char="•"/>
                </a:pPr>
                <a:r>
                  <a:rPr lang="zh-CN" altLang="en-US" sz="1100" b="1" dirty="0">
                    <a:ln>
                      <a:noFill/>
                    </a:ln>
                    <a:solidFill>
                      <a:srgbClr val="0070C0"/>
                    </a:solidFill>
                    <a:effectLst/>
                    <a:uLnTx/>
                    <a:uFillTx/>
                    <a:sym typeface="+mn-ea"/>
                  </a:rPr>
                  <a:t>两级工作台统一功能框架，按照集团规范迭代规划建设</a:t>
                </a:r>
                <a:endParaRPr lang="zh-CN" altLang="en-US" sz="1100" b="1" dirty="0">
                  <a:ln>
                    <a:noFill/>
                  </a:ln>
                  <a:solidFill>
                    <a:srgbClr val="0070C0"/>
                  </a:solidFill>
                  <a:effectLst/>
                  <a:uLnTx/>
                  <a:uFillTx/>
                  <a:sym typeface="+mn-ea"/>
                </a:endParaRPr>
              </a:p>
              <a:p>
                <a:pPr marL="114300" lvl="0" indent="-114300" algn="l" fontAlgn="auto">
                  <a:lnSpc>
                    <a:spcPct val="100000"/>
                  </a:lnSpc>
                  <a:spcAft>
                    <a:spcPts val="300"/>
                  </a:spcAft>
                  <a:buClrTx/>
                  <a:buSzTx/>
                  <a:buFont typeface="Arial" panose="020B0604020202020204" pitchFamily="34" charset="0"/>
                  <a:buChar char="•"/>
                </a:pPr>
                <a:r>
                  <a:rPr lang="zh-CN" altLang="en-US" sz="1100" b="1" dirty="0">
                    <a:ln>
                      <a:noFill/>
                    </a:ln>
                    <a:solidFill>
                      <a:srgbClr val="0070C0"/>
                    </a:solidFill>
                    <a:effectLst/>
                    <a:uLnTx/>
                    <a:uFillTx/>
                    <a:sym typeface="+mn-ea"/>
                  </a:rPr>
                  <a:t>一级市场运营工作台：</a:t>
                </a:r>
                <a:r>
                  <a:rPr lang="zh-CN" altLang="en-US" sz="1100" dirty="0">
                    <a:ln>
                      <a:noFill/>
                    </a:ln>
                    <a:solidFill>
                      <a:schemeClr val="tx1"/>
                    </a:solidFill>
                    <a:effectLst/>
                    <a:uLnTx/>
                    <a:uFillTx/>
                    <a:sym typeface="+mn-ea"/>
                  </a:rPr>
                  <a:t>重</a:t>
                </a:r>
                <a:r>
                  <a:rPr lang="zh-CN" altLang="en-US" sz="1100" dirty="0">
                    <a:ln>
                      <a:noFill/>
                    </a:ln>
                    <a:effectLst/>
                    <a:uLnTx/>
                    <a:uFillTx/>
                    <a:sym typeface="+mn-ea"/>
                  </a:rPr>
                  <a:t>点在拉通集省专运营通路，聚焦全网统一的、跨省、跨域的运营场景、数据视图、问题洞察和调度</a:t>
                </a:r>
                <a:endParaRPr lang="zh-CN" altLang="en-US" sz="1100" dirty="0">
                  <a:ln>
                    <a:noFill/>
                  </a:ln>
                  <a:effectLst/>
                  <a:uLnTx/>
                  <a:uFillTx/>
                  <a:sym typeface="+mn-ea"/>
                </a:endParaRPr>
              </a:p>
              <a:p>
                <a:pPr marL="114300" lvl="0" indent="-114300" algn="l" fontAlgn="auto">
                  <a:lnSpc>
                    <a:spcPct val="100000"/>
                  </a:lnSpc>
                  <a:spcAft>
                    <a:spcPts val="300"/>
                  </a:spcAft>
                  <a:buClrTx/>
                  <a:buSzTx/>
                  <a:buFont typeface="Arial" panose="020B0604020202020204" pitchFamily="34" charset="0"/>
                  <a:buChar char="•"/>
                </a:pPr>
                <a:r>
                  <a:rPr lang="zh-CN" altLang="en-US" sz="1100" b="1" dirty="0">
                    <a:ln>
                      <a:noFill/>
                    </a:ln>
                    <a:solidFill>
                      <a:srgbClr val="0070C0"/>
                    </a:solidFill>
                    <a:effectLst/>
                    <a:uLnTx/>
                    <a:uFillTx/>
                    <a:sym typeface="+mn-ea"/>
                  </a:rPr>
                  <a:t>省公司市场运营工作台：</a:t>
                </a:r>
                <a:r>
                  <a:rPr lang="zh-CN" altLang="en-US" sz="1100" dirty="0">
                    <a:ln>
                      <a:noFill/>
                    </a:ln>
                    <a:effectLst/>
                    <a:uLnTx/>
                    <a:uFillTx/>
                    <a:sym typeface="+mn-ea"/>
                  </a:rPr>
                  <a:t>重点在支撑拉通本省的运营类平台、运营能力，支撑本省个性化运营场景，以及承接一级工作台的任务工单等内容</a:t>
                </a:r>
                <a:endParaRPr lang="zh-CN" altLang="en-US" sz="1100" dirty="0">
                  <a:ln>
                    <a:noFill/>
                  </a:ln>
                  <a:effectLst/>
                  <a:uLnTx/>
                  <a:uFillTx/>
                  <a:sym typeface="+mn-ea"/>
                </a:endParaRPr>
              </a:p>
              <a:p>
                <a:pPr marL="114300" lvl="0" indent="-114300" algn="l" fontAlgn="auto">
                  <a:lnSpc>
                    <a:spcPct val="100000"/>
                  </a:lnSpc>
                  <a:spcAft>
                    <a:spcPts val="300"/>
                  </a:spcAft>
                  <a:buClrTx/>
                  <a:buSzTx/>
                  <a:buFont typeface="Arial" panose="020B0604020202020204" pitchFamily="34" charset="0"/>
                  <a:buChar char="•"/>
                </a:pPr>
                <a:r>
                  <a:rPr lang="zh-CN" altLang="en-US" sz="1100" dirty="0">
                    <a:ln>
                      <a:noFill/>
                    </a:ln>
                    <a:solidFill>
                      <a:srgbClr val="0070BF"/>
                    </a:solidFill>
                    <a:effectLst/>
                    <a:uLnTx/>
                    <a:uFillTx/>
                    <a:sym typeface="+mn-ea"/>
                  </a:rPr>
                  <a:t>专业公司运营平台：</a:t>
                </a:r>
                <a:r>
                  <a:rPr lang="zh-CN" altLang="en-US" sz="1100" dirty="0">
                    <a:ln>
                      <a:noFill/>
                    </a:ln>
                    <a:effectLst/>
                    <a:uLnTx/>
                    <a:uFillTx/>
                    <a:sym typeface="+mn-ea"/>
                  </a:rPr>
                  <a:t>按需构建，主要承接一级工作台任务，开展本专业领域专项运营和产品服务提升</a:t>
                </a:r>
                <a:endParaRPr lang="zh-CN" altLang="en-US" sz="1100" dirty="0">
                  <a:ln>
                    <a:noFill/>
                  </a:ln>
                  <a:effectLst/>
                  <a:uLnTx/>
                  <a:uFillTx/>
                  <a:sym typeface="+mn-ea"/>
                </a:endParaRPr>
              </a:p>
            </p:txBody>
          </p:sp>
        </p:grpSp>
      </p:grpSp>
      <p:sp>
        <p:nvSpPr>
          <p:cNvPr id="4" name="Rectangle 45"/>
          <p:cNvSpPr/>
          <p:nvPr/>
        </p:nvSpPr>
        <p:spPr>
          <a:xfrm>
            <a:off x="332740" y="1786255"/>
            <a:ext cx="8028940" cy="4876165"/>
          </a:xfrm>
          <a:prstGeom prst="roundRect">
            <a:avLst>
              <a:gd name="adj" fmla="val 2799"/>
            </a:avLst>
          </a:prstGeom>
          <a:solidFill>
            <a:srgbClr val="FFFFFF"/>
          </a:solidFill>
          <a:ln w="9525" cap="flat" cmpd="sng" algn="ctr">
            <a:solidFill>
              <a:schemeClr val="bg1">
                <a:lumMod val="75000"/>
              </a:schemeClr>
            </a:solidFill>
            <a:prstDash val="solid"/>
            <a:miter lim="800000"/>
          </a:ln>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1315085" y="1627505"/>
            <a:ext cx="6064885" cy="329565"/>
          </a:xfrm>
          <a:prstGeom prst="rect">
            <a:avLst/>
          </a:prstGeom>
          <a:solidFill>
            <a:srgbClr val="0070C0"/>
          </a:solidFill>
          <a:ln>
            <a:solidFill>
              <a:srgbClr val="E7F1FE"/>
            </a:solidFill>
          </a:ln>
        </p:spPr>
        <p:txBody>
          <a:bodyPr wrap="square" rtlCol="0">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rPr>
              <a:t>建强构建三屏联动、两级协同的市场</a:t>
            </a:r>
            <a:r>
              <a:rPr kumimoji="0" lang="zh-CN" sz="14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OPPOSans B" panose="00020600040101010101" pitchFamily="18" charset="-122"/>
              </a:rPr>
              <a:t>运营工作台</a:t>
            </a:r>
            <a:endParaRPr kumimoji="0" lang="zh-CN" sz="14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grpSp>
        <p:nvGrpSpPr>
          <p:cNvPr id="65" name="组合 64"/>
          <p:cNvGrpSpPr/>
          <p:nvPr/>
        </p:nvGrpSpPr>
        <p:grpSpPr>
          <a:xfrm>
            <a:off x="150495" y="4233545"/>
            <a:ext cx="8161020" cy="2304415"/>
            <a:chOff x="179" y="6667"/>
            <a:chExt cx="13550" cy="3629"/>
          </a:xfrm>
        </p:grpSpPr>
        <p:grpSp>
          <p:nvGrpSpPr>
            <p:cNvPr id="16" name="组合 15"/>
            <p:cNvGrpSpPr/>
            <p:nvPr/>
          </p:nvGrpSpPr>
          <p:grpSpPr>
            <a:xfrm rot="0">
              <a:off x="231" y="8764"/>
              <a:ext cx="13498" cy="1532"/>
              <a:chOff x="450" y="8445"/>
              <a:chExt cx="13498" cy="1599"/>
            </a:xfrm>
          </p:grpSpPr>
          <p:sp>
            <p:nvSpPr>
              <p:cNvPr id="17" name="文本框 16"/>
              <p:cNvSpPr txBox="1"/>
              <p:nvPr/>
            </p:nvSpPr>
            <p:spPr>
              <a:xfrm>
                <a:off x="450" y="8445"/>
                <a:ext cx="1320" cy="1364"/>
              </a:xfrm>
              <a:prstGeom prst="rect">
                <a:avLst/>
              </a:prstGeom>
            </p:spPr>
            <p:txBody>
              <a:bodyPr wrap="square" rtlCol="0" anchor="t" anchorCtr="0">
                <a:spAutoFit/>
              </a:bodyPr>
              <a:p>
                <a:pPr lvl="0" algn="ctr">
                  <a:buClrTx/>
                  <a:buSzTx/>
                  <a:buFontTx/>
                </a:pPr>
                <a:r>
                  <a:rPr lang="zh-CN" altLang="en-US" sz="1600" b="1" dirty="0">
                    <a:solidFill>
                      <a:srgbClr val="0070C0"/>
                    </a:solidFill>
                    <a:latin typeface="微软雅黑" panose="020B0503020204020204" pitchFamily="34" charset="-122"/>
                    <a:ea typeface="微软雅黑" panose="020B0503020204020204" pitchFamily="34" charset="-122"/>
                    <a:sym typeface="+mn-ea"/>
                  </a:rPr>
                  <a:t>生</a:t>
                </a:r>
                <a:endParaRPr lang="zh-CN" altLang="en-US" sz="1600" b="1" dirty="0">
                  <a:solidFill>
                    <a:srgbClr val="0070C0"/>
                  </a:solidFill>
                  <a:latin typeface="微软雅黑" panose="020B0503020204020204" pitchFamily="34" charset="-122"/>
                  <a:ea typeface="微软雅黑" panose="020B0503020204020204" pitchFamily="34" charset="-122"/>
                  <a:sym typeface="+mn-ea"/>
                </a:endParaRPr>
              </a:p>
              <a:p>
                <a:pPr lvl="0" algn="ctr">
                  <a:buClrTx/>
                  <a:buSzTx/>
                  <a:buFontTx/>
                </a:pPr>
                <a:r>
                  <a:rPr lang="zh-CN" altLang="en-US" sz="1600" b="1" dirty="0">
                    <a:solidFill>
                      <a:srgbClr val="0070C0"/>
                    </a:solidFill>
                    <a:latin typeface="微软雅黑" panose="020B0503020204020204" pitchFamily="34" charset="-122"/>
                    <a:ea typeface="微软雅黑" panose="020B0503020204020204" pitchFamily="34" charset="-122"/>
                    <a:sym typeface="+mn-ea"/>
                  </a:rPr>
                  <a:t>产</a:t>
                </a:r>
                <a:endParaRPr lang="zh-CN" altLang="en-US" sz="1600" b="1" dirty="0">
                  <a:solidFill>
                    <a:srgbClr val="0070C0"/>
                  </a:solidFill>
                  <a:latin typeface="微软雅黑" panose="020B0503020204020204" pitchFamily="34" charset="-122"/>
                  <a:ea typeface="微软雅黑" panose="020B0503020204020204" pitchFamily="34" charset="-122"/>
                  <a:sym typeface="+mn-ea"/>
                </a:endParaRPr>
              </a:p>
              <a:p>
                <a:pPr lvl="0" algn="ctr">
                  <a:buClrTx/>
                  <a:buSzTx/>
                  <a:buFontTx/>
                </a:pPr>
                <a:r>
                  <a:rPr lang="zh-CN" altLang="en-US" sz="1600" b="1" dirty="0">
                    <a:solidFill>
                      <a:srgbClr val="0070C0"/>
                    </a:solidFill>
                    <a:latin typeface="微软雅黑" panose="020B0503020204020204" pitchFamily="34" charset="-122"/>
                    <a:ea typeface="微软雅黑" panose="020B0503020204020204" pitchFamily="34" charset="-122"/>
                    <a:sym typeface="+mn-ea"/>
                  </a:rPr>
                  <a:t>层</a:t>
                </a:r>
                <a:endParaRPr lang="zh-CN" altLang="en-US" sz="1000" dirty="0">
                  <a:solidFill>
                    <a:srgbClr val="0070C0"/>
                  </a:solidFill>
                  <a:latin typeface="微软雅黑" panose="020B0503020204020204" pitchFamily="34" charset="-122"/>
                  <a:ea typeface="微软雅黑" panose="020B0503020204020204" pitchFamily="34" charset="-122"/>
                  <a:sym typeface="+mn-ea"/>
                </a:endParaRPr>
              </a:p>
            </p:txBody>
          </p:sp>
          <p:grpSp>
            <p:nvGrpSpPr>
              <p:cNvPr id="18" name="组合 17"/>
              <p:cNvGrpSpPr/>
              <p:nvPr/>
            </p:nvGrpSpPr>
            <p:grpSpPr>
              <a:xfrm>
                <a:off x="1365" y="8497"/>
                <a:ext cx="12583" cy="1547"/>
                <a:chOff x="873671" y="5621565"/>
                <a:chExt cx="7990205" cy="1172308"/>
              </a:xfrm>
            </p:grpSpPr>
            <p:grpSp>
              <p:nvGrpSpPr>
                <p:cNvPr id="19" name="组合 18"/>
                <p:cNvGrpSpPr/>
                <p:nvPr/>
              </p:nvGrpSpPr>
              <p:grpSpPr>
                <a:xfrm>
                  <a:off x="873671" y="5621565"/>
                  <a:ext cx="7990205" cy="1172308"/>
                  <a:chOff x="2155" y="7440"/>
                  <a:chExt cx="12583" cy="1250"/>
                </a:xfrm>
              </p:grpSpPr>
              <p:grpSp>
                <p:nvGrpSpPr>
                  <p:cNvPr id="20" name="组合 19"/>
                  <p:cNvGrpSpPr/>
                  <p:nvPr/>
                </p:nvGrpSpPr>
                <p:grpSpPr>
                  <a:xfrm>
                    <a:off x="2155" y="7440"/>
                    <a:ext cx="12583" cy="1250"/>
                    <a:chOff x="1699" y="9680"/>
                    <a:chExt cx="12914" cy="1250"/>
                  </a:xfrm>
                </p:grpSpPr>
                <p:sp>
                  <p:nvSpPr>
                    <p:cNvPr id="21" name="梯形 20"/>
                    <p:cNvSpPr/>
                    <p:nvPr>
                      <p:custDataLst>
                        <p:tags r:id="rId7"/>
                      </p:custDataLst>
                    </p:nvPr>
                  </p:nvSpPr>
                  <p:spPr>
                    <a:xfrm>
                      <a:off x="1699" y="9680"/>
                      <a:ext cx="12914" cy="1250"/>
                    </a:xfrm>
                    <a:prstGeom prst="trapezoid">
                      <a:avLst>
                        <a:gd name="adj" fmla="val 60570"/>
                      </a:avLst>
                    </a:prstGeom>
                    <a:solidFill>
                      <a:srgbClr val="025DA9">
                        <a:lumMod val="60000"/>
                        <a:lumOff val="40000"/>
                        <a:alpha val="10000"/>
                      </a:srgbClr>
                    </a:solidFill>
                    <a:ln w="6350" cap="sq" cmpd="sng" algn="ctr">
                      <a:gradFill>
                        <a:gsLst>
                          <a:gs pos="0">
                            <a:schemeClr val="accent1">
                              <a:lumMod val="5000"/>
                              <a:lumOff val="95000"/>
                            </a:schemeClr>
                          </a:gs>
                          <a:gs pos="100000">
                            <a:srgbClr val="00B0F0"/>
                          </a:gs>
                        </a:gsLst>
                        <a:lin ang="5400000" scaled="1"/>
                      </a:gradFill>
                      <a:prstDash val="sysDot"/>
                    </a:ln>
                    <a:effectLst/>
                  </p:spPr>
                  <p:txBody>
                    <a:bodyPr rot="0" spcFirstLastPara="0" vert="horz" wrap="square" lIns="0" tIns="0" rIns="0" bIns="0" numCol="1" spcCol="0" rtlCol="0" fromWordArt="0" anchor="t" anchorCtr="0" forceAA="0" compatLnSpc="0">
                      <a:noAutofit/>
                    </a:bodyPr>
                    <a:p>
                      <a:pPr lvl="0" algn="ctr">
                        <a:lnSpc>
                          <a:spcPct val="150000"/>
                        </a:lnSpc>
                        <a:spcAft>
                          <a:spcPts val="300"/>
                        </a:spcAft>
                        <a:buClrTx/>
                        <a:buSzTx/>
                        <a:buFontTx/>
                      </a:pPr>
                      <a:r>
                        <a:rPr lang="zh-CN" altLang="en-US" sz="1335" b="1" kern="0" dirty="0">
                          <a:latin typeface="微软雅黑" panose="020B0503020204020204" pitchFamily="34" charset="-122"/>
                          <a:ea typeface="微软雅黑" panose="020B0503020204020204" pitchFamily="34" charset="-122"/>
                          <a:sym typeface="+mn-ea"/>
                        </a:rPr>
                        <a:t>     </a:t>
                      </a:r>
                      <a:endParaRPr lang="zh-CN" altLang="en-US" sz="1335" b="1" kern="0" dirty="0">
                        <a:latin typeface="微软雅黑" panose="020B0503020204020204" pitchFamily="34" charset="-122"/>
                        <a:ea typeface="微软雅黑" panose="020B0503020204020204" pitchFamily="34" charset="-122"/>
                        <a:sym typeface="+mn-ea"/>
                      </a:endParaRPr>
                    </a:p>
                  </p:txBody>
                </p:sp>
                <p:sp>
                  <p:nvSpPr>
                    <p:cNvPr id="22" name="矩形 21"/>
                    <p:cNvSpPr/>
                    <p:nvPr>
                      <p:custDataLst>
                        <p:tags r:id="rId8"/>
                      </p:custDataLst>
                    </p:nvPr>
                  </p:nvSpPr>
                  <p:spPr>
                    <a:xfrm>
                      <a:off x="4221" y="10052"/>
                      <a:ext cx="7948" cy="320"/>
                    </a:xfrm>
                    <a:prstGeom prst="rect">
                      <a:avLst/>
                    </a:prstGeom>
                    <a:solidFill>
                      <a:schemeClr val="bg1"/>
                    </a:solidFill>
                    <a:ln>
                      <a:solidFill>
                        <a:schemeClr val="accent1">
                          <a:lumMod val="20000"/>
                          <a:lumOff val="80000"/>
                        </a:schemeClr>
                      </a:solidFill>
                    </a:ln>
                  </p:spPr>
                  <p:txBody>
                    <a:bodyPr wrap="square" lIns="0" tIns="0" rIns="0" bIns="0" rtlCol="0" anchor="ctr" anchorCtr="0">
                      <a:noAutofit/>
                    </a:bodyPr>
                    <a:p>
                      <a:pPr lvl="0" algn="ctr">
                        <a:buClrTx/>
                        <a:buSzTx/>
                        <a:buFontTx/>
                      </a:pPr>
                      <a:r>
                        <a:rPr lang="zh-CN" sz="1000" dirty="0">
                          <a:latin typeface="微软雅黑" panose="020B0503020204020204" pitchFamily="34" charset="-122"/>
                          <a:ea typeface="微软雅黑" panose="020B0503020204020204" pitchFamily="34" charset="-122"/>
                          <a:sym typeface="+mn-ea"/>
                        </a:rPr>
                        <a:t>一级业务支撑系统：客户中心、产商品中心、订单中心、结算中心等</a:t>
                      </a: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sym typeface="+mn-ea"/>
                      </a:endParaRPr>
                    </a:p>
                  </p:txBody>
                </p:sp>
              </p:grpSp>
              <p:sp>
                <p:nvSpPr>
                  <p:cNvPr id="23" name="矩形: 圆角 543"/>
                  <p:cNvSpPr/>
                  <p:nvPr>
                    <p:custDataLst>
                      <p:tags r:id="rId9"/>
                    </p:custDataLst>
                  </p:nvPr>
                </p:nvSpPr>
                <p:spPr>
                  <a:xfrm>
                    <a:off x="6082" y="7485"/>
                    <a:ext cx="4728" cy="347"/>
                  </a:xfrm>
                  <a:prstGeom prst="roundRect">
                    <a:avLst>
                      <a:gd name="adj" fmla="val 7424"/>
                    </a:avLst>
                  </a:prstGeom>
                  <a:noFill/>
                  <a:ln>
                    <a:noFill/>
                  </a:ln>
                  <a:effectLst/>
                  <a:extLst>
                    <a:ext uri="{909E8E84-426E-40DD-AFC4-6F175D3DCCD1}">
                      <a14:hiddenFill xmlns:a14="http://schemas.microsoft.com/office/drawing/2010/main">
                        <a:solidFill>
                          <a:srgbClr val="5B9BD5"/>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algn="ctr"/>
                    <a:r>
                      <a:rPr lang="zh-CN" altLang="en-US" sz="1200" b="1" kern="0" dirty="0">
                        <a:solidFill>
                          <a:srgbClr val="0070C0"/>
                        </a:solidFill>
                        <a:latin typeface="+mn-ea"/>
                        <a:sym typeface="+mn-ea"/>
                      </a:rPr>
                      <a:t>业务支撑系统</a:t>
                    </a:r>
                    <a:endParaRPr lang="zh-CN" altLang="en-US" sz="1200" b="1" kern="0" dirty="0">
                      <a:solidFill>
                        <a:srgbClr val="0070C0"/>
                      </a:solidFill>
                      <a:latin typeface="+mn-ea"/>
                      <a:sym typeface="+mn-ea"/>
                    </a:endParaRPr>
                  </a:p>
                </p:txBody>
              </p:sp>
              <p:sp>
                <p:nvSpPr>
                  <p:cNvPr id="24" name="矩形 23"/>
                  <p:cNvSpPr/>
                  <p:nvPr>
                    <p:custDataLst>
                      <p:tags r:id="rId10"/>
                    </p:custDataLst>
                  </p:nvPr>
                </p:nvSpPr>
                <p:spPr>
                  <a:xfrm>
                    <a:off x="8533" y="8273"/>
                    <a:ext cx="3824" cy="320"/>
                  </a:xfrm>
                  <a:prstGeom prst="rect">
                    <a:avLst/>
                  </a:prstGeom>
                  <a:solidFill>
                    <a:schemeClr val="bg1"/>
                  </a:solidFill>
                  <a:ln>
                    <a:solidFill>
                      <a:schemeClr val="accent1">
                        <a:lumMod val="20000"/>
                        <a:lumOff val="80000"/>
                      </a:schemeClr>
                    </a:solidFill>
                  </a:ln>
                </p:spPr>
                <p:txBody>
                  <a:bodyPr wrap="square" lIns="0" tIns="0" rIns="0" bIns="0" rtlCol="0" anchor="ctr" anchorCtr="0">
                    <a:noAutofit/>
                  </a:bodyPr>
                  <a:p>
                    <a:pPr lvl="0" algn="ctr">
                      <a:buClrTx/>
                      <a:buSzTx/>
                      <a:buFontTx/>
                    </a:pPr>
                    <a:r>
                      <a:rPr lang="zh-CN" altLang="en-US" sz="1000" dirty="0">
                        <a:latin typeface="微软雅黑" panose="020B0503020204020204" pitchFamily="34" charset="-122"/>
                        <a:ea typeface="微软雅黑" panose="020B0503020204020204" pitchFamily="34" charset="-122"/>
                        <a:sym typeface="+mn-ea"/>
                      </a:rPr>
                      <a:t>专业公司自有产品业务支撑系统</a:t>
                    </a:r>
                    <a:endParaRPr lang="zh-CN" altLang="en-US" sz="1000" dirty="0">
                      <a:latin typeface="微软雅黑" panose="020B0503020204020204" pitchFamily="34" charset="-122"/>
                      <a:ea typeface="微软雅黑" panose="020B0503020204020204" pitchFamily="34" charset="-122"/>
                      <a:sym typeface="+mn-ea"/>
                    </a:endParaRPr>
                  </a:p>
                </p:txBody>
              </p:sp>
            </p:grpSp>
            <p:sp>
              <p:nvSpPr>
                <p:cNvPr id="25" name="矩形 24"/>
                <p:cNvSpPr/>
                <p:nvPr>
                  <p:custDataLst>
                    <p:tags r:id="rId11"/>
                  </p:custDataLst>
                </p:nvPr>
              </p:nvSpPr>
              <p:spPr>
                <a:xfrm>
                  <a:off x="2434094" y="6404010"/>
                  <a:ext cx="2387524" cy="300355"/>
                </a:xfrm>
                <a:prstGeom prst="rect">
                  <a:avLst/>
                </a:prstGeom>
                <a:solidFill>
                  <a:schemeClr val="bg1"/>
                </a:solidFill>
                <a:ln>
                  <a:solidFill>
                    <a:schemeClr val="accent1">
                      <a:lumMod val="20000"/>
                      <a:lumOff val="80000"/>
                    </a:schemeClr>
                  </a:solidFill>
                </a:ln>
              </p:spPr>
              <p:txBody>
                <a:bodyPr wrap="square" lIns="0" tIns="0" rIns="0" bIns="0" rtlCol="0" anchor="ctr" anchorCtr="0">
                  <a:noAutofit/>
                </a:bodyPr>
                <a:p>
                  <a:pPr lvl="0" algn="ctr">
                    <a:buClrTx/>
                    <a:buSzTx/>
                    <a:buFontTx/>
                  </a:pPr>
                  <a:r>
                    <a:rPr lang="zh-CN" sz="1000" dirty="0">
                      <a:latin typeface="微软雅黑" panose="020B0503020204020204" pitchFamily="34" charset="-122"/>
                      <a:ea typeface="微软雅黑" panose="020B0503020204020204" pitchFamily="34" charset="-122"/>
                      <a:sym typeface="+mn-ea"/>
                    </a:rPr>
                    <a:t>省级业务支撑系统：</a:t>
                  </a:r>
                  <a:r>
                    <a:rPr lang="en-US" altLang="zh-CN" sz="1000" dirty="0">
                      <a:latin typeface="微软雅黑" panose="020B0503020204020204" pitchFamily="34" charset="-122"/>
                      <a:ea typeface="微软雅黑" panose="020B0503020204020204" pitchFamily="34" charset="-122"/>
                      <a:sym typeface="+mn-ea"/>
                    </a:rPr>
                    <a:t>CRM</a:t>
                  </a:r>
                  <a:r>
                    <a:rPr lang="zh-CN" altLang="en-US" sz="1000" dirty="0">
                      <a:latin typeface="微软雅黑" panose="020B0503020204020204" pitchFamily="34" charset="-122"/>
                      <a:ea typeface="微软雅黑" panose="020B0503020204020204" pitchFamily="34" charset="-122"/>
                      <a:sym typeface="+mn-ea"/>
                    </a:rPr>
                    <a:t>、</a:t>
                  </a:r>
                  <a:r>
                    <a:rPr lang="en-US" altLang="zh-CN" sz="1000" dirty="0">
                      <a:latin typeface="微软雅黑" panose="020B0503020204020204" pitchFamily="34" charset="-122"/>
                      <a:ea typeface="微软雅黑" panose="020B0503020204020204" pitchFamily="34" charset="-122"/>
                      <a:sym typeface="+mn-ea"/>
                    </a:rPr>
                    <a:t>BOSS</a:t>
                  </a:r>
                  <a:r>
                    <a:rPr lang="zh-CN" sz="1000" dirty="0">
                      <a:latin typeface="微软雅黑" panose="020B0503020204020204" pitchFamily="34" charset="-122"/>
                      <a:ea typeface="微软雅黑" panose="020B0503020204020204" pitchFamily="34" charset="-122"/>
                      <a:sym typeface="+mn-ea"/>
                    </a:rPr>
                    <a:t>等</a:t>
                  </a: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sym typeface="+mn-ea"/>
                  </a:endParaRPr>
                </a:p>
              </p:txBody>
            </p:sp>
            <p:grpSp>
              <p:nvGrpSpPr>
                <p:cNvPr id="26" name="组合 25"/>
                <p:cNvGrpSpPr/>
                <p:nvPr/>
              </p:nvGrpSpPr>
              <p:grpSpPr>
                <a:xfrm>
                  <a:off x="4540317" y="6263728"/>
                  <a:ext cx="667385" cy="162560"/>
                  <a:chOff x="6172" y="7933"/>
                  <a:chExt cx="1051" cy="256"/>
                </a:xfrm>
              </p:grpSpPr>
              <p:sp>
                <p:nvSpPr>
                  <p:cNvPr id="27" name="箭头: 下 34"/>
                  <p:cNvSpPr/>
                  <p:nvPr/>
                </p:nvSpPr>
                <p:spPr>
                  <a:xfrm rot="10800000">
                    <a:off x="6776" y="7933"/>
                    <a:ext cx="447" cy="229"/>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8" name="箭头: 下 34"/>
                  <p:cNvSpPr/>
                  <p:nvPr/>
                </p:nvSpPr>
                <p:spPr>
                  <a:xfrm>
                    <a:off x="6172" y="7960"/>
                    <a:ext cx="447" cy="229"/>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grpSp>
            <p:sp>
              <p:nvSpPr>
                <p:cNvPr id="29" name="矩形 28"/>
                <p:cNvSpPr/>
                <p:nvPr>
                  <p:custDataLst>
                    <p:tags r:id="rId12"/>
                  </p:custDataLst>
                </p:nvPr>
              </p:nvSpPr>
              <p:spPr>
                <a:xfrm>
                  <a:off x="1394937" y="5958913"/>
                  <a:ext cx="955373" cy="743990"/>
                </a:xfrm>
                <a:prstGeom prst="rect">
                  <a:avLst/>
                </a:prstGeom>
                <a:solidFill>
                  <a:schemeClr val="bg1"/>
                </a:solidFill>
                <a:ln>
                  <a:solidFill>
                    <a:schemeClr val="accent1">
                      <a:lumMod val="20000"/>
                      <a:lumOff val="80000"/>
                    </a:schemeClr>
                  </a:solidFill>
                </a:ln>
              </p:spPr>
              <p:txBody>
                <a:bodyPr wrap="square" lIns="0" tIns="0" rIns="0" bIns="0" rtlCol="0" anchor="ctr" anchorCtr="0">
                  <a:noAutofit/>
                </a:bodyPr>
                <a:p>
                  <a:pPr lvl="0" algn="ctr">
                    <a:buClrTx/>
                    <a:buSzTx/>
                    <a:buFontTx/>
                  </a:pPr>
                  <a:r>
                    <a:rPr lang="zh-CN" altLang="en-US" sz="1000" dirty="0">
                      <a:latin typeface="微软雅黑" panose="020B0503020204020204" pitchFamily="34" charset="-122"/>
                      <a:ea typeface="微软雅黑" panose="020B0503020204020204" pitchFamily="34" charset="-122"/>
                      <a:sym typeface="+mn-ea"/>
                    </a:rPr>
                    <a:t>梧桐大数据分布式协同平台</a:t>
                  </a:r>
                  <a:endParaRPr lang="en-US" altLang="zh-CN" sz="1000" dirty="0">
                    <a:latin typeface="微软雅黑" panose="020B0503020204020204" pitchFamily="34" charset="-122"/>
                    <a:ea typeface="微软雅黑" panose="020B0503020204020204" pitchFamily="34" charset="-122"/>
                    <a:sym typeface="+mn-ea"/>
                  </a:endParaRPr>
                </a:p>
              </p:txBody>
            </p:sp>
            <p:sp>
              <p:nvSpPr>
                <p:cNvPr id="30" name="矩形 29"/>
                <p:cNvSpPr/>
                <p:nvPr>
                  <p:custDataLst>
                    <p:tags r:id="rId13"/>
                  </p:custDataLst>
                </p:nvPr>
              </p:nvSpPr>
              <p:spPr>
                <a:xfrm>
                  <a:off x="7410865" y="5961374"/>
                  <a:ext cx="955373" cy="743990"/>
                </a:xfrm>
                <a:prstGeom prst="rect">
                  <a:avLst/>
                </a:prstGeom>
                <a:solidFill>
                  <a:schemeClr val="bg1"/>
                </a:solidFill>
                <a:ln>
                  <a:solidFill>
                    <a:schemeClr val="accent1">
                      <a:lumMod val="20000"/>
                      <a:lumOff val="80000"/>
                    </a:schemeClr>
                  </a:solidFill>
                </a:ln>
              </p:spPr>
              <p:txBody>
                <a:bodyPr wrap="square" lIns="0" tIns="0" rIns="0" bIns="0" rtlCol="0" anchor="ctr" anchorCtr="0">
                  <a:noAutofit/>
                </a:bodyPr>
                <a:p>
                  <a:pPr lvl="0" algn="ctr">
                    <a:buClrTx/>
                    <a:buSzTx/>
                    <a:buFontTx/>
                  </a:pPr>
                  <a:r>
                    <a:rPr lang="zh-CN" altLang="en-US" sz="1000" dirty="0">
                      <a:latin typeface="微软雅黑" panose="020B0503020204020204" pitchFamily="34" charset="-122"/>
                      <a:ea typeface="微软雅黑" panose="020B0503020204020204" pitchFamily="34" charset="-122"/>
                      <a:sym typeface="+mn-ea"/>
                    </a:rPr>
                    <a:t>磐智平台</a:t>
                  </a:r>
                  <a:endParaRPr lang="en-US" altLang="zh-CN" sz="1000" dirty="0">
                    <a:latin typeface="微软雅黑" panose="020B0503020204020204" pitchFamily="34" charset="-122"/>
                    <a:ea typeface="微软雅黑" panose="020B0503020204020204" pitchFamily="34" charset="-122"/>
                    <a:sym typeface="+mn-ea"/>
                  </a:endParaRPr>
                </a:p>
              </p:txBody>
            </p:sp>
          </p:grpSp>
        </p:grpSp>
        <p:grpSp>
          <p:nvGrpSpPr>
            <p:cNvPr id="32" name="组合 31"/>
            <p:cNvGrpSpPr/>
            <p:nvPr/>
          </p:nvGrpSpPr>
          <p:grpSpPr>
            <a:xfrm rot="0">
              <a:off x="179" y="6812"/>
              <a:ext cx="12951" cy="1962"/>
              <a:chOff x="434" y="5215"/>
              <a:chExt cx="12951" cy="3481"/>
            </a:xfrm>
          </p:grpSpPr>
          <p:grpSp>
            <p:nvGrpSpPr>
              <p:cNvPr id="33" name="组合 32"/>
              <p:cNvGrpSpPr/>
              <p:nvPr/>
            </p:nvGrpSpPr>
            <p:grpSpPr>
              <a:xfrm>
                <a:off x="434" y="5215"/>
                <a:ext cx="12951" cy="3481"/>
                <a:chOff x="434" y="4930"/>
                <a:chExt cx="12951" cy="3481"/>
              </a:xfrm>
            </p:grpSpPr>
            <p:sp>
              <p:nvSpPr>
                <p:cNvPr id="34" name="文本框 33"/>
                <p:cNvSpPr txBox="1"/>
                <p:nvPr/>
              </p:nvSpPr>
              <p:spPr>
                <a:xfrm>
                  <a:off x="434" y="4930"/>
                  <a:ext cx="1320" cy="2319"/>
                </a:xfrm>
                <a:prstGeom prst="rect">
                  <a:avLst/>
                </a:prstGeom>
              </p:spPr>
              <p:txBody>
                <a:bodyPr wrap="square" rtlCol="0" anchor="t" anchorCtr="0">
                  <a:spAutoFit/>
                </a:bodyPr>
                <a:p>
                  <a:pPr lvl="0" algn="ctr">
                    <a:buClrTx/>
                    <a:buSzTx/>
                    <a:buFontTx/>
                  </a:pPr>
                  <a:r>
                    <a:rPr lang="zh-CN" altLang="en-US" sz="1600" b="1" dirty="0">
                      <a:solidFill>
                        <a:srgbClr val="0070C0"/>
                      </a:solidFill>
                      <a:latin typeface="微软雅黑" panose="020B0503020204020204" pitchFamily="34" charset="-122"/>
                      <a:ea typeface="微软雅黑" panose="020B0503020204020204" pitchFamily="34" charset="-122"/>
                      <a:sym typeface="+mn-ea"/>
                    </a:rPr>
                    <a:t>运</a:t>
                  </a:r>
                  <a:endParaRPr lang="zh-CN" altLang="en-US" sz="1600" b="1" dirty="0">
                    <a:solidFill>
                      <a:srgbClr val="0070C0"/>
                    </a:solidFill>
                    <a:latin typeface="微软雅黑" panose="020B0503020204020204" pitchFamily="34" charset="-122"/>
                    <a:ea typeface="微软雅黑" panose="020B0503020204020204" pitchFamily="34" charset="-122"/>
                    <a:sym typeface="+mn-ea"/>
                  </a:endParaRPr>
                </a:p>
                <a:p>
                  <a:pPr lvl="0" algn="ctr">
                    <a:buClrTx/>
                    <a:buSzTx/>
                    <a:buFontTx/>
                  </a:pPr>
                  <a:r>
                    <a:rPr lang="zh-CN" altLang="en-US" sz="1600" b="1" dirty="0">
                      <a:solidFill>
                        <a:srgbClr val="0070C0"/>
                      </a:solidFill>
                      <a:latin typeface="微软雅黑" panose="020B0503020204020204" pitchFamily="34" charset="-122"/>
                      <a:ea typeface="微软雅黑" panose="020B0503020204020204" pitchFamily="34" charset="-122"/>
                      <a:sym typeface="+mn-ea"/>
                    </a:rPr>
                    <a:t>营</a:t>
                  </a:r>
                  <a:endParaRPr lang="zh-CN" altLang="en-US" sz="1600" b="1" dirty="0">
                    <a:solidFill>
                      <a:srgbClr val="0070C0"/>
                    </a:solidFill>
                    <a:latin typeface="微软雅黑" panose="020B0503020204020204" pitchFamily="34" charset="-122"/>
                    <a:ea typeface="微软雅黑" panose="020B0503020204020204" pitchFamily="34" charset="-122"/>
                    <a:sym typeface="+mn-ea"/>
                  </a:endParaRPr>
                </a:p>
                <a:p>
                  <a:pPr lvl="0" algn="ctr">
                    <a:buClrTx/>
                    <a:buSzTx/>
                    <a:buFontTx/>
                  </a:pPr>
                  <a:r>
                    <a:rPr lang="zh-CN" altLang="en-US" sz="1600" b="1" dirty="0">
                      <a:solidFill>
                        <a:srgbClr val="0070C0"/>
                      </a:solidFill>
                      <a:latin typeface="微软雅黑" panose="020B0503020204020204" pitchFamily="34" charset="-122"/>
                      <a:ea typeface="微软雅黑" panose="020B0503020204020204" pitchFamily="34" charset="-122"/>
                      <a:sym typeface="+mn-ea"/>
                    </a:rPr>
                    <a:t>层</a:t>
                  </a:r>
                  <a:endParaRPr lang="zh-CN" altLang="en-US" sz="1000" dirty="0">
                    <a:solidFill>
                      <a:srgbClr val="0070C0"/>
                    </a:solidFill>
                    <a:latin typeface="微软雅黑" panose="020B0503020204020204" pitchFamily="34" charset="-122"/>
                    <a:ea typeface="微软雅黑" panose="020B0503020204020204" pitchFamily="34" charset="-122"/>
                    <a:sym typeface="+mn-ea"/>
                  </a:endParaRPr>
                </a:p>
              </p:txBody>
            </p:sp>
            <p:grpSp>
              <p:nvGrpSpPr>
                <p:cNvPr id="35" name="组合 34"/>
                <p:cNvGrpSpPr/>
                <p:nvPr/>
              </p:nvGrpSpPr>
              <p:grpSpPr>
                <a:xfrm>
                  <a:off x="1944" y="5988"/>
                  <a:ext cx="11441" cy="2423"/>
                  <a:chOff x="1263100" y="4104356"/>
                  <a:chExt cx="7265035" cy="1836698"/>
                </a:xfrm>
              </p:grpSpPr>
              <p:sp>
                <p:nvSpPr>
                  <p:cNvPr id="36" name="Rectangle 256"/>
                  <p:cNvSpPr/>
                  <p:nvPr>
                    <p:custDataLst>
                      <p:tags r:id="rId14"/>
                    </p:custDataLst>
                  </p:nvPr>
                </p:nvSpPr>
                <p:spPr>
                  <a:xfrm>
                    <a:off x="1263100" y="4104356"/>
                    <a:ext cx="7265035" cy="1785802"/>
                  </a:xfrm>
                  <a:prstGeom prst="rect">
                    <a:avLst/>
                  </a:prstGeom>
                  <a:noFill/>
                  <a:ln w="12700" cap="sq" cmpd="sng" algn="ctr">
                    <a:solidFill>
                      <a:schemeClr val="bg1">
                        <a:lumMod val="95000"/>
                      </a:schemeClr>
                    </a:solidFill>
                    <a:prstDash val="solid"/>
                  </a:ln>
                  <a:effectLst/>
                </p:spPr>
                <p:txBody>
                  <a:bodyPr rot="0" spcFirstLastPara="0" vert="horz" wrap="square" lIns="0" tIns="0" rIns="0" bIns="0" numCol="1" spcCol="0" rtlCol="0" fromWordArt="0" anchor="t" anchorCtr="0" forceAA="0" compatLnSpc="0">
                    <a:noAutofit/>
                  </a:bodyPr>
                  <a:p>
                    <a:pPr lvl="0" algn="ctr">
                      <a:lnSpc>
                        <a:spcPct val="150000"/>
                      </a:lnSpc>
                      <a:spcAft>
                        <a:spcPts val="300"/>
                      </a:spcAft>
                      <a:buClrTx/>
                      <a:buSzTx/>
                      <a:buFontTx/>
                    </a:pPr>
                    <a:endParaRPr lang="zh-CN" altLang="en-US" sz="1335" b="1" kern="0" dirty="0">
                      <a:latin typeface="微软雅黑" panose="020B0503020204020204" pitchFamily="34" charset="-122"/>
                      <a:ea typeface="微软雅黑" panose="020B0503020204020204" pitchFamily="34" charset="-122"/>
                      <a:sym typeface="+mn-ea"/>
                    </a:endParaRPr>
                  </a:p>
                </p:txBody>
              </p:sp>
              <p:grpSp>
                <p:nvGrpSpPr>
                  <p:cNvPr id="37" name="组合 36"/>
                  <p:cNvGrpSpPr/>
                  <p:nvPr/>
                </p:nvGrpSpPr>
                <p:grpSpPr>
                  <a:xfrm>
                    <a:off x="1353512" y="4207777"/>
                    <a:ext cx="3948430" cy="1733277"/>
                    <a:chOff x="1353512" y="4207777"/>
                    <a:chExt cx="3948430" cy="1733277"/>
                  </a:xfrm>
                </p:grpSpPr>
                <p:sp>
                  <p:nvSpPr>
                    <p:cNvPr id="38" name="矩形 37"/>
                    <p:cNvSpPr/>
                    <p:nvPr>
                      <p:custDataLst>
                        <p:tags r:id="rId15"/>
                      </p:custDataLst>
                    </p:nvPr>
                  </p:nvSpPr>
                  <p:spPr>
                    <a:xfrm>
                      <a:off x="1691326" y="4527597"/>
                      <a:ext cx="813225" cy="348077"/>
                    </a:xfrm>
                    <a:prstGeom prst="rect">
                      <a:avLst/>
                    </a:prstGeom>
                    <a:solidFill>
                      <a:srgbClr val="EEF5FB"/>
                    </a:solidFill>
                    <a:ln>
                      <a:noFill/>
                    </a:ln>
                  </p:spPr>
                  <p:txBody>
                    <a:bodyPr wrap="square" lIns="0" tIns="0" rIns="0" bIns="0" rtlCol="0" anchor="ctr" anchorCtr="0">
                      <a:noAutofit/>
                    </a:bodyPr>
                    <a:p>
                      <a:pPr lvl="0" algn="ctr">
                        <a:buClrTx/>
                        <a:buSzTx/>
                        <a:buFontTx/>
                      </a:pPr>
                      <a:r>
                        <a:rPr lang="zh-CN" altLang="en-US" sz="1000" dirty="0">
                          <a:latin typeface="微软雅黑" panose="020B0503020204020204" pitchFamily="34" charset="-122"/>
                          <a:ea typeface="微软雅黑" panose="020B0503020204020204" pitchFamily="34" charset="-122"/>
                          <a:sym typeface="+mn-ea"/>
                        </a:rPr>
                        <a:t>智慧大脑</a:t>
                      </a:r>
                      <a:endParaRPr lang="zh-CN" altLang="en-US" sz="1000" dirty="0">
                        <a:latin typeface="微软雅黑" panose="020B0503020204020204" pitchFamily="34" charset="-122"/>
                        <a:ea typeface="微软雅黑" panose="020B0503020204020204" pitchFamily="34" charset="-122"/>
                        <a:sym typeface="+mn-ea"/>
                      </a:endParaRPr>
                    </a:p>
                  </p:txBody>
                </p:sp>
                <p:sp>
                  <p:nvSpPr>
                    <p:cNvPr id="39" name="矩形 38"/>
                    <p:cNvSpPr/>
                    <p:nvPr>
                      <p:custDataLst>
                        <p:tags r:id="rId16"/>
                      </p:custDataLst>
                    </p:nvPr>
                  </p:nvSpPr>
                  <p:spPr>
                    <a:xfrm>
                      <a:off x="2944862" y="4531849"/>
                      <a:ext cx="813225" cy="340645"/>
                    </a:xfrm>
                    <a:prstGeom prst="rect">
                      <a:avLst/>
                    </a:prstGeom>
                    <a:solidFill>
                      <a:srgbClr val="EEF5FB"/>
                    </a:solidFill>
                    <a:ln>
                      <a:noFill/>
                    </a:ln>
                  </p:spPr>
                  <p:txBody>
                    <a:bodyPr wrap="square" lIns="0" tIns="0" rIns="0" bIns="0" rtlCol="0" anchor="ctr" anchorCtr="0">
                      <a:noAutofit/>
                    </a:bodyPr>
                    <a:p>
                      <a:pPr lvl="0" algn="ctr">
                        <a:buClrTx/>
                        <a:buSzTx/>
                        <a:buFontTx/>
                      </a:pPr>
                      <a:r>
                        <a:rPr lang="zh-CN" altLang="en-US" sz="1000" dirty="0">
                          <a:latin typeface="微软雅黑" panose="020B0503020204020204" pitchFamily="34" charset="-122"/>
                          <a:ea typeface="微软雅黑" panose="020B0503020204020204" pitchFamily="34" charset="-122"/>
                          <a:sym typeface="+mn-ea"/>
                        </a:rPr>
                        <a:t>产品运营能力</a:t>
                      </a:r>
                      <a:endParaRPr lang="zh-CN" altLang="en-US" sz="1000" dirty="0">
                        <a:latin typeface="微软雅黑" panose="020B0503020204020204" pitchFamily="34" charset="-122"/>
                        <a:ea typeface="微软雅黑" panose="020B0503020204020204" pitchFamily="34" charset="-122"/>
                        <a:sym typeface="+mn-ea"/>
                      </a:endParaRPr>
                    </a:p>
                  </p:txBody>
                </p:sp>
                <p:sp>
                  <p:nvSpPr>
                    <p:cNvPr id="40" name="矩形: 圆角 543"/>
                    <p:cNvSpPr/>
                    <p:nvPr>
                      <p:custDataLst>
                        <p:tags r:id="rId17"/>
                      </p:custDataLst>
                    </p:nvPr>
                  </p:nvSpPr>
                  <p:spPr>
                    <a:xfrm>
                      <a:off x="1528137" y="4250925"/>
                      <a:ext cx="3417570" cy="265933"/>
                    </a:xfrm>
                    <a:prstGeom prst="roundRect">
                      <a:avLst>
                        <a:gd name="adj" fmla="val 7424"/>
                      </a:avLst>
                    </a:prstGeom>
                    <a:noFill/>
                    <a:ln>
                      <a:noFill/>
                    </a:ln>
                    <a:effectLst/>
                    <a:extLst>
                      <a:ext uri="{909E8E84-426E-40DD-AFC4-6F175D3DCCD1}">
                        <a14:hiddenFill xmlns:a14="http://schemas.microsoft.com/office/drawing/2010/main">
                          <a:solidFill>
                            <a:srgbClr val="5B9BD5"/>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algn="ctr"/>
                      <a:r>
                        <a:rPr lang="zh-CN" altLang="en-US" sz="1200" b="1" kern="0" dirty="0">
                          <a:solidFill>
                            <a:srgbClr val="0070C0"/>
                          </a:solidFill>
                          <a:latin typeface="微软雅黑" panose="020B0503020204020204" pitchFamily="34" charset="-122"/>
                          <a:ea typeface="微软雅黑" panose="020B0503020204020204" pitchFamily="34" charset="-122"/>
                          <a:sym typeface="+mn-ea"/>
                        </a:rPr>
                        <a:t>业务运营能力</a:t>
                      </a:r>
                      <a:endParaRPr lang="zh-CN" altLang="en-US" sz="1200" b="1" kern="0" dirty="0">
                        <a:solidFill>
                          <a:srgbClr val="0070C0"/>
                        </a:solidFill>
                        <a:latin typeface="微软雅黑" panose="020B0503020204020204" pitchFamily="34" charset="-122"/>
                        <a:ea typeface="微软雅黑" panose="020B0503020204020204" pitchFamily="34" charset="-122"/>
                        <a:sym typeface="+mn-ea"/>
                      </a:endParaRPr>
                    </a:p>
                  </p:txBody>
                </p:sp>
                <p:sp>
                  <p:nvSpPr>
                    <p:cNvPr id="41" name="文本框 40"/>
                    <p:cNvSpPr txBox="1"/>
                    <p:nvPr/>
                  </p:nvSpPr>
                  <p:spPr>
                    <a:xfrm>
                      <a:off x="1668908" y="4837803"/>
                      <a:ext cx="883061" cy="780002"/>
                    </a:xfrm>
                    <a:prstGeom prst="rect">
                      <a:avLst/>
                    </a:prstGeom>
                    <a:noFill/>
                  </p:spPr>
                  <p:txBody>
                    <a:bodyPr wrap="square" rtlCol="0">
                      <a:spAutoFit/>
                    </a:bodyPr>
                    <a:p>
                      <a:r>
                        <a:rPr lang="zh-CN" altLang="en-US" sz="900" dirty="0">
                          <a:solidFill>
                            <a:schemeClr val="bg1">
                              <a:lumMod val="75000"/>
                            </a:schemeClr>
                          </a:solidFill>
                          <a:effectLst/>
                          <a:latin typeface="微软雅黑" panose="020B0503020204020204" pitchFamily="34" charset="-122"/>
                          <a:ea typeface="微软雅黑" panose="020B0503020204020204" pitchFamily="34" charset="-122"/>
                        </a:rPr>
                        <a:t>挖掘客户潛在需求</a:t>
                      </a:r>
                      <a:endParaRPr lang="zh-CN" altLang="en-US" sz="900" dirty="0">
                        <a:solidFill>
                          <a:schemeClr val="bg1">
                            <a:lumMod val="75000"/>
                          </a:schemeClr>
                        </a:solidFill>
                        <a:effectLst/>
                        <a:latin typeface="微软雅黑" panose="020B0503020204020204" pitchFamily="34" charset="-122"/>
                        <a:ea typeface="微软雅黑" panose="020B0503020204020204" pitchFamily="34" charset="-122"/>
                      </a:endParaRPr>
                    </a:p>
                  </p:txBody>
                </p:sp>
                <p:sp>
                  <p:nvSpPr>
                    <p:cNvPr id="42" name="文本框 41"/>
                    <p:cNvSpPr txBox="1"/>
                    <p:nvPr/>
                  </p:nvSpPr>
                  <p:spPr>
                    <a:xfrm>
                      <a:off x="1478626" y="5388008"/>
                      <a:ext cx="3631565" cy="535243"/>
                    </a:xfrm>
                    <a:prstGeom prst="rect">
                      <a:avLst/>
                    </a:prstGeom>
                    <a:noFill/>
                  </p:spPr>
                  <p:txBody>
                    <a:bodyPr wrap="square" rtlCol="0">
                      <a:spAutoFit/>
                    </a:bodyPr>
                    <a:p>
                      <a:pPr algn="ctr"/>
                      <a:r>
                        <a:rPr lang="zh-CN" altLang="en-US" sz="1050" b="1" dirty="0">
                          <a:solidFill>
                            <a:srgbClr val="0070C0"/>
                          </a:solidFill>
                          <a:effectLst/>
                        </a:rPr>
                        <a:t>实现 客户</a:t>
                      </a:r>
                      <a:r>
                        <a:rPr lang="en-US" altLang="zh-CN" sz="1050" b="1" dirty="0">
                          <a:solidFill>
                            <a:srgbClr val="0070C0"/>
                          </a:solidFill>
                        </a:rPr>
                        <a:t>-</a:t>
                      </a:r>
                      <a:r>
                        <a:rPr lang="zh-CN" altLang="en-US" sz="1050" b="1" dirty="0">
                          <a:solidFill>
                            <a:srgbClr val="0070C0"/>
                          </a:solidFill>
                          <a:effectLst/>
                        </a:rPr>
                        <a:t>产品</a:t>
                      </a:r>
                      <a:r>
                        <a:rPr lang="en-US" altLang="zh-CN" sz="1050" b="1" dirty="0">
                          <a:solidFill>
                            <a:srgbClr val="0070C0"/>
                          </a:solidFill>
                        </a:rPr>
                        <a:t>-</a:t>
                      </a:r>
                      <a:r>
                        <a:rPr lang="zh-CN" altLang="en-US" sz="1050" b="1" dirty="0">
                          <a:solidFill>
                            <a:srgbClr val="0070C0"/>
                          </a:solidFill>
                          <a:effectLst/>
                        </a:rPr>
                        <a:t>渠道</a:t>
                      </a:r>
                      <a:r>
                        <a:rPr lang="en-US" altLang="zh-CN" sz="1050" b="1" dirty="0">
                          <a:solidFill>
                            <a:srgbClr val="0070C0"/>
                          </a:solidFill>
                          <a:effectLst/>
                        </a:rPr>
                        <a:t>-</a:t>
                      </a:r>
                      <a:r>
                        <a:rPr lang="zh-CN" altLang="en-US" sz="1050" b="1" dirty="0">
                          <a:solidFill>
                            <a:srgbClr val="0070C0"/>
                          </a:solidFill>
                          <a:effectLst/>
                        </a:rPr>
                        <a:t>重点场景</a:t>
                      </a:r>
                      <a:r>
                        <a:rPr lang="en-US" altLang="zh-CN" sz="1050" b="1" dirty="0">
                          <a:solidFill>
                            <a:srgbClr val="0070C0"/>
                          </a:solidFill>
                          <a:effectLst/>
                        </a:rPr>
                        <a:t> </a:t>
                      </a:r>
                      <a:r>
                        <a:rPr lang="zh-CN" altLang="en-US" sz="1050" b="1" dirty="0">
                          <a:solidFill>
                            <a:srgbClr val="0070C0"/>
                          </a:solidFill>
                          <a:effectLst/>
                        </a:rPr>
                        <a:t>的运营</a:t>
                      </a:r>
                      <a:endParaRPr lang="zh-CN" altLang="en-US" sz="1050" b="1" dirty="0">
                        <a:solidFill>
                          <a:srgbClr val="0070C0"/>
                        </a:solidFill>
                        <a:effectLst/>
                      </a:endParaRPr>
                    </a:p>
                  </p:txBody>
                </p:sp>
                <p:sp>
                  <p:nvSpPr>
                    <p:cNvPr id="43" name="Rectangle 256"/>
                    <p:cNvSpPr/>
                    <p:nvPr>
                      <p:custDataLst>
                        <p:tags r:id="rId18"/>
                      </p:custDataLst>
                    </p:nvPr>
                  </p:nvSpPr>
                  <p:spPr>
                    <a:xfrm>
                      <a:off x="1353512" y="4207777"/>
                      <a:ext cx="3948430" cy="1562956"/>
                    </a:xfrm>
                    <a:prstGeom prst="rect">
                      <a:avLst/>
                    </a:prstGeom>
                    <a:noFill/>
                    <a:ln w="3175" cap="sq" cmpd="sng" algn="ctr">
                      <a:solidFill>
                        <a:schemeClr val="bg1">
                          <a:lumMod val="85000"/>
                        </a:schemeClr>
                      </a:solidFill>
                      <a:prstDash val="dash"/>
                    </a:ln>
                    <a:effectLst/>
                  </p:spPr>
                  <p:txBody>
                    <a:bodyPr rot="0" spcFirstLastPara="0" vert="horz" wrap="square" lIns="0" tIns="0" rIns="0" bIns="0" numCol="1" spcCol="0" rtlCol="0" fromWordArt="0" anchor="t" anchorCtr="0" forceAA="0" compatLnSpc="0">
                      <a:noAutofit/>
                    </a:bodyPr>
                    <a:p>
                      <a:pPr lvl="0" algn="ctr">
                        <a:lnSpc>
                          <a:spcPct val="150000"/>
                        </a:lnSpc>
                        <a:spcAft>
                          <a:spcPts val="300"/>
                        </a:spcAft>
                        <a:buClrTx/>
                        <a:buSzTx/>
                        <a:buFontTx/>
                      </a:pPr>
                      <a:endParaRPr lang="zh-CN" altLang="en-US" sz="1335" b="1" kern="0" dirty="0">
                        <a:latin typeface="微软雅黑" panose="020B0503020204020204" pitchFamily="34" charset="-122"/>
                        <a:ea typeface="微软雅黑" panose="020B0503020204020204" pitchFamily="34" charset="-122"/>
                        <a:sym typeface="+mn-ea"/>
                      </a:endParaRPr>
                    </a:p>
                  </p:txBody>
                </p:sp>
                <p:sp>
                  <p:nvSpPr>
                    <p:cNvPr id="44" name="矩形 43"/>
                    <p:cNvSpPr/>
                    <p:nvPr>
                      <p:custDataLst>
                        <p:tags r:id="rId19"/>
                      </p:custDataLst>
                    </p:nvPr>
                  </p:nvSpPr>
                  <p:spPr>
                    <a:xfrm>
                      <a:off x="4135424" y="4535299"/>
                      <a:ext cx="813225" cy="340645"/>
                    </a:xfrm>
                    <a:prstGeom prst="rect">
                      <a:avLst/>
                    </a:prstGeom>
                    <a:solidFill>
                      <a:srgbClr val="EEF5FB"/>
                    </a:solidFill>
                    <a:ln>
                      <a:noFill/>
                    </a:ln>
                  </p:spPr>
                  <p:txBody>
                    <a:bodyPr wrap="square" lIns="0" tIns="0" rIns="0" bIns="0" rtlCol="0" anchor="ctr" anchorCtr="0">
                      <a:noAutofit/>
                    </a:bodyPr>
                    <a:p>
                      <a:pPr lvl="0" algn="ctr">
                        <a:buClrTx/>
                        <a:buSzTx/>
                        <a:buFontTx/>
                      </a:pPr>
                      <a:r>
                        <a:rPr lang="zh-CN" altLang="en-US" sz="1000" dirty="0">
                          <a:latin typeface="微软雅黑" panose="020B0503020204020204" pitchFamily="34" charset="-122"/>
                          <a:ea typeface="微软雅黑" panose="020B0503020204020204" pitchFamily="34" charset="-122"/>
                          <a:sym typeface="+mn-ea"/>
                        </a:rPr>
                        <a:t>渠道运营能力</a:t>
                      </a:r>
                      <a:endParaRPr lang="zh-CN" altLang="en-US" sz="1000" dirty="0">
                        <a:latin typeface="微软雅黑" panose="020B0503020204020204" pitchFamily="34" charset="-122"/>
                        <a:ea typeface="微软雅黑" panose="020B0503020204020204" pitchFamily="34" charset="-122"/>
                        <a:sym typeface="+mn-ea"/>
                      </a:endParaRPr>
                    </a:p>
                  </p:txBody>
                </p:sp>
                <p:sp>
                  <p:nvSpPr>
                    <p:cNvPr id="45" name="文本框 44"/>
                    <p:cNvSpPr txBox="1"/>
                    <p:nvPr/>
                  </p:nvSpPr>
                  <p:spPr>
                    <a:xfrm>
                      <a:off x="2915134" y="4867879"/>
                      <a:ext cx="883061" cy="780002"/>
                    </a:xfrm>
                    <a:prstGeom prst="rect">
                      <a:avLst/>
                    </a:prstGeom>
                    <a:noFill/>
                  </p:spPr>
                  <p:txBody>
                    <a:bodyPr wrap="square" rtlCol="0">
                      <a:spAutoFit/>
                    </a:bodyPr>
                    <a:p>
                      <a:r>
                        <a:rPr lang="zh-CN" altLang="en-US" sz="900" dirty="0">
                          <a:solidFill>
                            <a:schemeClr val="bg1">
                              <a:lumMod val="75000"/>
                            </a:schemeClr>
                          </a:solidFill>
                          <a:effectLst/>
                          <a:latin typeface="微软雅黑" panose="020B0503020204020204" pitchFamily="34" charset="-122"/>
                          <a:ea typeface="微软雅黑" panose="020B0503020204020204" pitchFamily="34" charset="-122"/>
                        </a:rPr>
                        <a:t>智能化封装</a:t>
                      </a:r>
                      <a:endParaRPr lang="zh-CN" altLang="en-US" sz="900" dirty="0">
                        <a:solidFill>
                          <a:schemeClr val="bg1">
                            <a:lumMod val="75000"/>
                          </a:schemeClr>
                        </a:solidFill>
                        <a:effectLst/>
                        <a:latin typeface="微软雅黑" panose="020B0503020204020204" pitchFamily="34" charset="-122"/>
                        <a:ea typeface="微软雅黑" panose="020B0503020204020204" pitchFamily="34" charset="-122"/>
                      </a:endParaRPr>
                    </a:p>
                    <a:p>
                      <a:r>
                        <a:rPr lang="zh-CN" altLang="en-US" sz="900" dirty="0">
                          <a:solidFill>
                            <a:schemeClr val="bg1">
                              <a:lumMod val="75000"/>
                            </a:schemeClr>
                          </a:solidFill>
                          <a:effectLst/>
                          <a:latin typeface="微软雅黑" panose="020B0503020204020204" pitchFamily="34" charset="-122"/>
                          <a:ea typeface="微软雅黑" panose="020B0503020204020204" pitchFamily="34" charset="-122"/>
                        </a:rPr>
                        <a:t>融合商品</a:t>
                      </a:r>
                      <a:endParaRPr lang="zh-CN" altLang="en-US" sz="900" dirty="0">
                        <a:solidFill>
                          <a:schemeClr val="bg1">
                            <a:lumMod val="75000"/>
                          </a:schemeClr>
                        </a:solidFill>
                        <a:effectLst/>
                        <a:latin typeface="微软雅黑" panose="020B0503020204020204" pitchFamily="34" charset="-122"/>
                        <a:ea typeface="微软雅黑" panose="020B0503020204020204" pitchFamily="34" charset="-122"/>
                      </a:endParaRPr>
                    </a:p>
                  </p:txBody>
                </p:sp>
                <p:sp>
                  <p:nvSpPr>
                    <p:cNvPr id="46" name="文本框 45"/>
                    <p:cNvSpPr txBox="1"/>
                    <p:nvPr/>
                  </p:nvSpPr>
                  <p:spPr>
                    <a:xfrm>
                      <a:off x="4084060" y="4867879"/>
                      <a:ext cx="883061" cy="1073175"/>
                    </a:xfrm>
                    <a:prstGeom prst="rect">
                      <a:avLst/>
                    </a:prstGeom>
                    <a:noFill/>
                  </p:spPr>
                  <p:txBody>
                    <a:bodyPr wrap="square" rtlCol="0">
                      <a:spAutoFit/>
                    </a:bodyPr>
                    <a:p>
                      <a:r>
                        <a:rPr lang="zh-CN" altLang="en-US" sz="900" dirty="0">
                          <a:solidFill>
                            <a:schemeClr val="bg1">
                              <a:lumMod val="75000"/>
                            </a:schemeClr>
                          </a:solidFill>
                          <a:effectLst/>
                          <a:latin typeface="微软雅黑" panose="020B0503020204020204" pitchFamily="34" charset="-122"/>
                          <a:ea typeface="微软雅黑" panose="020B0503020204020204" pitchFamily="34" charset="-122"/>
                        </a:rPr>
                        <a:t>全渠道触点、渠道智能协同</a:t>
                      </a:r>
                      <a:endParaRPr lang="zh-CN" altLang="en-US" sz="900" dirty="0">
                        <a:solidFill>
                          <a:schemeClr val="bg1">
                            <a:lumMod val="75000"/>
                          </a:schemeClr>
                        </a:solidFill>
                        <a:effectLst/>
                        <a:latin typeface="微软雅黑" panose="020B0503020204020204" pitchFamily="34" charset="-122"/>
                        <a:ea typeface="微软雅黑" panose="020B0503020204020204" pitchFamily="34" charset="-122"/>
                      </a:endParaRPr>
                    </a:p>
                  </p:txBody>
                </p:sp>
              </p:grpSp>
              <p:grpSp>
                <p:nvGrpSpPr>
                  <p:cNvPr id="47" name="组合 46"/>
                  <p:cNvGrpSpPr/>
                  <p:nvPr/>
                </p:nvGrpSpPr>
                <p:grpSpPr>
                  <a:xfrm>
                    <a:off x="5428557" y="4212028"/>
                    <a:ext cx="2983865" cy="1538700"/>
                    <a:chOff x="5428557" y="4212028"/>
                    <a:chExt cx="2983865" cy="1538700"/>
                  </a:xfrm>
                </p:grpSpPr>
                <p:sp>
                  <p:nvSpPr>
                    <p:cNvPr id="48" name="矩形 47"/>
                    <p:cNvSpPr/>
                    <p:nvPr>
                      <p:custDataLst>
                        <p:tags r:id="rId20"/>
                      </p:custDataLst>
                    </p:nvPr>
                  </p:nvSpPr>
                  <p:spPr>
                    <a:xfrm>
                      <a:off x="5673026" y="4516688"/>
                      <a:ext cx="813225" cy="506105"/>
                    </a:xfrm>
                    <a:prstGeom prst="rect">
                      <a:avLst/>
                    </a:prstGeom>
                    <a:solidFill>
                      <a:srgbClr val="EEF5FB"/>
                    </a:solidFill>
                    <a:ln>
                      <a:noFill/>
                    </a:ln>
                  </p:spPr>
                  <p:txBody>
                    <a:bodyPr wrap="square" lIns="0" tIns="0" rIns="0" bIns="0" rtlCol="0" anchor="ctr" anchorCtr="0">
                      <a:noAutofit/>
                    </a:bodyPr>
                    <a:p>
                      <a:pPr lvl="0" algn="ctr">
                        <a:buClrTx/>
                        <a:buSzTx/>
                        <a:buFontTx/>
                      </a:pPr>
                      <a:r>
                        <a:rPr lang="zh-CN" altLang="en-US" sz="1000" dirty="0">
                          <a:latin typeface="微软雅黑" panose="020B0503020204020204" pitchFamily="34" charset="-122"/>
                          <a:ea typeface="微软雅黑" panose="020B0503020204020204" pitchFamily="34" charset="-122"/>
                          <a:sym typeface="+mn-ea"/>
                        </a:rPr>
                        <a:t>数据分析能力</a:t>
                      </a:r>
                      <a:endParaRPr lang="zh-CN" altLang="en-US" sz="1000" dirty="0">
                        <a:latin typeface="微软雅黑" panose="020B0503020204020204" pitchFamily="34" charset="-122"/>
                        <a:ea typeface="微软雅黑" panose="020B0503020204020204" pitchFamily="34" charset="-122"/>
                        <a:sym typeface="+mn-ea"/>
                      </a:endParaRPr>
                    </a:p>
                  </p:txBody>
                </p:sp>
                <p:sp>
                  <p:nvSpPr>
                    <p:cNvPr id="49" name="矩形 48"/>
                    <p:cNvSpPr/>
                    <p:nvPr>
                      <p:custDataLst>
                        <p:tags r:id="rId21"/>
                      </p:custDataLst>
                    </p:nvPr>
                  </p:nvSpPr>
                  <p:spPr>
                    <a:xfrm>
                      <a:off x="5681962" y="5078814"/>
                      <a:ext cx="813225" cy="495300"/>
                    </a:xfrm>
                    <a:prstGeom prst="rect">
                      <a:avLst/>
                    </a:prstGeom>
                    <a:solidFill>
                      <a:srgbClr val="EEF5FB"/>
                    </a:solidFill>
                    <a:ln>
                      <a:noFill/>
                    </a:ln>
                  </p:spPr>
                  <p:txBody>
                    <a:bodyPr wrap="square" lIns="0" tIns="0" rIns="0" bIns="0" rtlCol="0" anchor="ctr" anchorCtr="0">
                      <a:noAutofit/>
                    </a:bodyPr>
                    <a:p>
                      <a:pPr lvl="0" algn="ctr">
                        <a:buClrTx/>
                        <a:buSzTx/>
                        <a:buFontTx/>
                      </a:pPr>
                      <a:r>
                        <a:rPr lang="en-US" altLang="zh-CN" sz="1000" dirty="0">
                          <a:latin typeface="微软雅黑" panose="020B0503020204020204" pitchFamily="34" charset="-122"/>
                          <a:ea typeface="微软雅黑" panose="020B0503020204020204" pitchFamily="34" charset="-122"/>
                          <a:sym typeface="+mn-ea"/>
                        </a:rPr>
                        <a:t>AI</a:t>
                      </a:r>
                      <a:r>
                        <a:rPr lang="zh-CN" altLang="en-US" sz="1000" dirty="0">
                          <a:latin typeface="微软雅黑" panose="020B0503020204020204" pitchFamily="34" charset="-122"/>
                          <a:ea typeface="微软雅黑" panose="020B0503020204020204" pitchFamily="34" charset="-122"/>
                          <a:sym typeface="+mn-ea"/>
                        </a:rPr>
                        <a:t>编排能力</a:t>
                      </a:r>
                      <a:endParaRPr lang="zh-CN" altLang="en-US" sz="1000" dirty="0">
                        <a:latin typeface="微软雅黑" panose="020B0503020204020204" pitchFamily="34" charset="-122"/>
                        <a:ea typeface="微软雅黑" panose="020B0503020204020204" pitchFamily="34" charset="-122"/>
                        <a:sym typeface="+mn-ea"/>
                      </a:endParaRPr>
                    </a:p>
                  </p:txBody>
                </p:sp>
                <p:sp>
                  <p:nvSpPr>
                    <p:cNvPr id="50" name="矩形: 圆角 543"/>
                    <p:cNvSpPr/>
                    <p:nvPr>
                      <p:custDataLst>
                        <p:tags r:id="rId22"/>
                      </p:custDataLst>
                    </p:nvPr>
                  </p:nvSpPr>
                  <p:spPr>
                    <a:xfrm>
                      <a:off x="5595562" y="4240073"/>
                      <a:ext cx="2816860" cy="295612"/>
                    </a:xfrm>
                    <a:prstGeom prst="roundRect">
                      <a:avLst>
                        <a:gd name="adj" fmla="val 7424"/>
                      </a:avLst>
                    </a:prstGeom>
                    <a:noFill/>
                    <a:ln>
                      <a:noFill/>
                    </a:ln>
                    <a:effectLst/>
                    <a:extLst>
                      <a:ext uri="{909E8E84-426E-40DD-AFC4-6F175D3DCCD1}">
                        <a14:hiddenFill xmlns:a14="http://schemas.microsoft.com/office/drawing/2010/main">
                          <a:solidFill>
                            <a:srgbClr val="5B9BD5"/>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algn="ctr"/>
                      <a:r>
                        <a:rPr lang="zh-CN" altLang="en-US" sz="1200" b="1" kern="0" dirty="0">
                          <a:solidFill>
                            <a:srgbClr val="0070C0"/>
                          </a:solidFill>
                          <a:latin typeface="微软雅黑" panose="020B0503020204020204" pitchFamily="34" charset="-122"/>
                          <a:ea typeface="微软雅黑" panose="020B0503020204020204" pitchFamily="34" charset="-122"/>
                          <a:sym typeface="+mn-ea"/>
                        </a:rPr>
                        <a:t>基础运营能力</a:t>
                      </a:r>
                      <a:endParaRPr lang="zh-CN" altLang="en-US" sz="1200" b="1" kern="0" dirty="0">
                        <a:solidFill>
                          <a:srgbClr val="0070C0"/>
                        </a:solidFill>
                        <a:latin typeface="微软雅黑" panose="020B0503020204020204" pitchFamily="34" charset="-122"/>
                        <a:ea typeface="微软雅黑" panose="020B0503020204020204" pitchFamily="34" charset="-122"/>
                        <a:sym typeface="+mn-ea"/>
                      </a:endParaRPr>
                    </a:p>
                  </p:txBody>
                </p:sp>
                <p:sp>
                  <p:nvSpPr>
                    <p:cNvPr id="51" name="Rectangle 256"/>
                    <p:cNvSpPr/>
                    <p:nvPr>
                      <p:custDataLst>
                        <p:tags r:id="rId23"/>
                      </p:custDataLst>
                    </p:nvPr>
                  </p:nvSpPr>
                  <p:spPr>
                    <a:xfrm>
                      <a:off x="5428557" y="4212028"/>
                      <a:ext cx="2983230" cy="1538700"/>
                    </a:xfrm>
                    <a:prstGeom prst="rect">
                      <a:avLst/>
                    </a:prstGeom>
                    <a:noFill/>
                    <a:ln w="3175" cap="sq" cmpd="sng" algn="ctr">
                      <a:solidFill>
                        <a:schemeClr val="bg1">
                          <a:lumMod val="85000"/>
                        </a:schemeClr>
                      </a:solidFill>
                      <a:prstDash val="dash"/>
                    </a:ln>
                    <a:effectLst/>
                  </p:spPr>
                  <p:txBody>
                    <a:bodyPr rot="0" spcFirstLastPara="0" vert="horz" wrap="square" lIns="0" tIns="0" rIns="0" bIns="0" numCol="1" spcCol="0" rtlCol="0" fromWordArt="0" anchor="t" anchorCtr="0" forceAA="0" compatLnSpc="0">
                      <a:noAutofit/>
                    </a:bodyPr>
                    <a:p>
                      <a:pPr lvl="0" algn="ctr">
                        <a:lnSpc>
                          <a:spcPct val="150000"/>
                        </a:lnSpc>
                        <a:spcAft>
                          <a:spcPts val="300"/>
                        </a:spcAft>
                        <a:buClrTx/>
                        <a:buSzTx/>
                        <a:buFontTx/>
                      </a:pPr>
                      <a:endParaRPr lang="zh-CN" altLang="en-US" sz="1335" b="1" kern="0" dirty="0">
                        <a:latin typeface="微软雅黑" panose="020B0503020204020204" pitchFamily="34" charset="-122"/>
                        <a:ea typeface="微软雅黑" panose="020B0503020204020204" pitchFamily="34" charset="-122"/>
                        <a:sym typeface="+mn-ea"/>
                      </a:endParaRPr>
                    </a:p>
                  </p:txBody>
                </p:sp>
                <p:sp>
                  <p:nvSpPr>
                    <p:cNvPr id="52" name="矩形 51"/>
                    <p:cNvSpPr/>
                    <p:nvPr>
                      <p:custDataLst>
                        <p:tags r:id="rId24"/>
                      </p:custDataLst>
                    </p:nvPr>
                  </p:nvSpPr>
                  <p:spPr>
                    <a:xfrm>
                      <a:off x="6560104" y="4528180"/>
                      <a:ext cx="813225" cy="495300"/>
                    </a:xfrm>
                    <a:prstGeom prst="rect">
                      <a:avLst/>
                    </a:prstGeom>
                    <a:solidFill>
                      <a:srgbClr val="EEF5FB"/>
                    </a:solidFill>
                    <a:ln>
                      <a:noFill/>
                    </a:ln>
                  </p:spPr>
                  <p:txBody>
                    <a:bodyPr wrap="square" lIns="0" tIns="0" rIns="0" bIns="0" rtlCol="0" anchor="ctr" anchorCtr="0">
                      <a:noAutofit/>
                    </a:bodyPr>
                    <a:p>
                      <a:pPr lvl="0" algn="ctr">
                        <a:buClrTx/>
                        <a:buSzTx/>
                        <a:buFontTx/>
                      </a:pPr>
                      <a:r>
                        <a:rPr lang="zh-CN" altLang="en-US" sz="1000" dirty="0">
                          <a:latin typeface="微软雅黑" panose="020B0503020204020204" pitchFamily="34" charset="-122"/>
                          <a:ea typeface="微软雅黑" panose="020B0503020204020204" pitchFamily="34" charset="-122"/>
                          <a:sym typeface="+mn-ea"/>
                        </a:rPr>
                        <a:t>指挥调度能力</a:t>
                      </a:r>
                      <a:endParaRPr lang="zh-CN" altLang="en-US" sz="1000" dirty="0">
                        <a:latin typeface="微软雅黑" panose="020B0503020204020204" pitchFamily="34" charset="-122"/>
                        <a:ea typeface="微软雅黑" panose="020B0503020204020204" pitchFamily="34" charset="-122"/>
                        <a:sym typeface="+mn-ea"/>
                      </a:endParaRPr>
                    </a:p>
                  </p:txBody>
                </p:sp>
                <p:sp>
                  <p:nvSpPr>
                    <p:cNvPr id="53" name="矩形 52"/>
                    <p:cNvSpPr/>
                    <p:nvPr>
                      <p:custDataLst>
                        <p:tags r:id="rId25"/>
                      </p:custDataLst>
                    </p:nvPr>
                  </p:nvSpPr>
                  <p:spPr>
                    <a:xfrm>
                      <a:off x="7445054" y="4531048"/>
                      <a:ext cx="813225" cy="495300"/>
                    </a:xfrm>
                    <a:prstGeom prst="rect">
                      <a:avLst/>
                    </a:prstGeom>
                    <a:solidFill>
                      <a:srgbClr val="EEF5FB"/>
                    </a:solidFill>
                    <a:ln>
                      <a:noFill/>
                    </a:ln>
                  </p:spPr>
                  <p:txBody>
                    <a:bodyPr wrap="square" lIns="0" tIns="0" rIns="0" bIns="0" rtlCol="0" anchor="ctr" anchorCtr="0">
                      <a:noAutofit/>
                    </a:bodyPr>
                    <a:p>
                      <a:pPr lvl="0" algn="ctr">
                        <a:buClrTx/>
                        <a:buSzTx/>
                        <a:buFontTx/>
                      </a:pPr>
                      <a:r>
                        <a:rPr lang="zh-CN" altLang="en-US" sz="1000" dirty="0">
                          <a:latin typeface="微软雅黑" panose="020B0503020204020204" pitchFamily="34" charset="-122"/>
                          <a:ea typeface="微软雅黑" panose="020B0503020204020204" pitchFamily="34" charset="-122"/>
                          <a:sym typeface="+mn-ea"/>
                        </a:rPr>
                        <a:t>流程治理能力</a:t>
                      </a:r>
                      <a:endParaRPr lang="zh-CN" altLang="en-US" sz="1000" dirty="0">
                        <a:latin typeface="微软雅黑" panose="020B0503020204020204" pitchFamily="34" charset="-122"/>
                        <a:ea typeface="微软雅黑" panose="020B0503020204020204" pitchFamily="34" charset="-122"/>
                        <a:sym typeface="+mn-ea"/>
                      </a:endParaRPr>
                    </a:p>
                  </p:txBody>
                </p:sp>
              </p:grpSp>
            </p:grpSp>
          </p:grpSp>
          <p:sp>
            <p:nvSpPr>
              <p:cNvPr id="54" name="矩形 53"/>
              <p:cNvSpPr/>
              <p:nvPr>
                <p:custDataLst>
                  <p:tags r:id="rId26"/>
                </p:custDataLst>
              </p:nvPr>
            </p:nvSpPr>
            <p:spPr>
              <a:xfrm>
                <a:off x="10294" y="7574"/>
                <a:ext cx="1281" cy="653"/>
              </a:xfrm>
              <a:prstGeom prst="rect">
                <a:avLst/>
              </a:prstGeom>
              <a:solidFill>
                <a:srgbClr val="EEF5FB"/>
              </a:solidFill>
              <a:ln>
                <a:noFill/>
              </a:ln>
            </p:spPr>
            <p:txBody>
              <a:bodyPr wrap="square" lIns="0" tIns="0" rIns="0" bIns="0" rtlCol="0" anchor="ctr" anchorCtr="0">
                <a:noAutofit/>
              </a:bodyPr>
              <a:p>
                <a:pPr lvl="0" algn="ctr">
                  <a:buClrTx/>
                  <a:buSzTx/>
                  <a:buFontTx/>
                </a:pPr>
                <a:r>
                  <a:rPr lang="zh-CN" altLang="en-US" sz="1000" dirty="0">
                    <a:latin typeface="微软雅黑" panose="020B0503020204020204" pitchFamily="34" charset="-122"/>
                    <a:ea typeface="微软雅黑" panose="020B0503020204020204" pitchFamily="34" charset="-122"/>
                    <a:sym typeface="+mn-ea"/>
                  </a:rPr>
                  <a:t>客响流转能力</a:t>
                </a:r>
                <a:endParaRPr lang="zh-CN" altLang="en-US" sz="1000" dirty="0">
                  <a:latin typeface="微软雅黑" panose="020B0503020204020204" pitchFamily="34" charset="-122"/>
                  <a:ea typeface="微软雅黑" panose="020B0503020204020204" pitchFamily="34" charset="-122"/>
                  <a:sym typeface="+mn-ea"/>
                </a:endParaRPr>
              </a:p>
            </p:txBody>
          </p:sp>
          <p:sp>
            <p:nvSpPr>
              <p:cNvPr id="55" name="矩形 54"/>
              <p:cNvSpPr/>
              <p:nvPr>
                <p:custDataLst>
                  <p:tags r:id="rId27"/>
                </p:custDataLst>
              </p:nvPr>
            </p:nvSpPr>
            <p:spPr>
              <a:xfrm>
                <a:off x="11675" y="7559"/>
                <a:ext cx="1281" cy="653"/>
              </a:xfrm>
              <a:prstGeom prst="rect">
                <a:avLst/>
              </a:prstGeom>
              <a:solidFill>
                <a:srgbClr val="EEF5FB"/>
              </a:solidFill>
              <a:ln>
                <a:noFill/>
              </a:ln>
            </p:spPr>
            <p:txBody>
              <a:bodyPr wrap="square" lIns="0" tIns="0" rIns="0" bIns="0" rtlCol="0" anchor="ctr" anchorCtr="0">
                <a:noAutofit/>
              </a:bodyPr>
              <a:p>
                <a:pPr lvl="0" algn="ctr">
                  <a:buClrTx/>
                  <a:buSzTx/>
                  <a:buFontTx/>
                </a:pPr>
                <a:r>
                  <a:rPr lang="zh-CN" sz="1000" dirty="0">
                    <a:latin typeface="微软雅黑" panose="020B0503020204020204" pitchFamily="34" charset="-122"/>
                    <a:ea typeface="微软雅黑" panose="020B0503020204020204" pitchFamily="34" charset="-122"/>
                    <a:sym typeface="+mn-ea"/>
                  </a:rPr>
                  <a:t>订单可视能力</a:t>
                </a:r>
                <a:endParaRPr lang="zh-CN" sz="1000" dirty="0">
                  <a:latin typeface="微软雅黑" panose="020B0503020204020204" pitchFamily="34" charset="-122"/>
                  <a:ea typeface="微软雅黑" panose="020B0503020204020204" pitchFamily="34" charset="-122"/>
                  <a:sym typeface="+mn-ea"/>
                </a:endParaRPr>
              </a:p>
            </p:txBody>
          </p:sp>
        </p:grpSp>
        <p:grpSp>
          <p:nvGrpSpPr>
            <p:cNvPr id="3" name="组合 2"/>
            <p:cNvGrpSpPr/>
            <p:nvPr/>
          </p:nvGrpSpPr>
          <p:grpSpPr>
            <a:xfrm>
              <a:off x="1552" y="6667"/>
              <a:ext cx="11695" cy="785"/>
              <a:chOff x="1552" y="6085"/>
              <a:chExt cx="11695" cy="1052"/>
            </a:xfrm>
          </p:grpSpPr>
          <p:sp>
            <p:nvSpPr>
              <p:cNvPr id="31" name="Freeform 22"/>
              <p:cNvSpPr/>
              <p:nvPr>
                <p:custDataLst>
                  <p:tags r:id="rId28"/>
                </p:custDataLst>
              </p:nvPr>
            </p:nvSpPr>
            <p:spPr bwMode="auto">
              <a:xfrm rot="10800000" flipV="1">
                <a:off x="3360" y="6814"/>
                <a:ext cx="7567" cy="323"/>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chemeClr val="accent1">
                      <a:lumMod val="5000"/>
                      <a:lumOff val="95000"/>
                      <a:alpha val="0"/>
                    </a:schemeClr>
                  </a:gs>
                  <a:gs pos="40000">
                    <a:schemeClr val="accent1">
                      <a:lumMod val="45000"/>
                      <a:lumOff val="55000"/>
                      <a:alpha val="44000"/>
                    </a:schemeClr>
                  </a:gs>
                  <a:gs pos="74000">
                    <a:schemeClr val="accent1">
                      <a:lumMod val="45000"/>
                      <a:lumOff val="55000"/>
                      <a:alpha val="61000"/>
                    </a:schemeClr>
                  </a:gs>
                  <a:gs pos="100000">
                    <a:schemeClr val="accent1">
                      <a:lumMod val="60000"/>
                      <a:lumOff val="40000"/>
                      <a:alpha val="28000"/>
                    </a:schemeClr>
                  </a:gs>
                </a:gsLst>
                <a:lin ang="162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0" name="任意多边形 86"/>
              <p:cNvSpPr/>
              <p:nvPr/>
            </p:nvSpPr>
            <p:spPr>
              <a:xfrm>
                <a:off x="1552" y="6094"/>
                <a:ext cx="11695" cy="688"/>
              </a:xfrm>
              <a:custGeom>
                <a:avLst/>
                <a:gdLst>
                  <a:gd name="connsiteX0" fmla="*/ 2649 w 25696"/>
                  <a:gd name="connsiteY0" fmla="*/ 25 h 2051"/>
                  <a:gd name="connsiteX1" fmla="*/ 22790 w 25696"/>
                  <a:gd name="connsiteY1" fmla="*/ 0 h 2051"/>
                  <a:gd name="connsiteX2" fmla="*/ 25696 w 25696"/>
                  <a:gd name="connsiteY2" fmla="*/ 2051 h 2051"/>
                  <a:gd name="connsiteX3" fmla="*/ 0 w 25696"/>
                  <a:gd name="connsiteY3" fmla="*/ 2051 h 2051"/>
                  <a:gd name="connsiteX4" fmla="*/ 2649 w 25696"/>
                  <a:gd name="connsiteY4" fmla="*/ 25 h 2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96" h="2051">
                    <a:moveTo>
                      <a:pt x="2649" y="25"/>
                    </a:moveTo>
                    <a:lnTo>
                      <a:pt x="22790" y="0"/>
                    </a:lnTo>
                    <a:lnTo>
                      <a:pt x="25696" y="2051"/>
                    </a:lnTo>
                    <a:lnTo>
                      <a:pt x="0" y="2051"/>
                    </a:lnTo>
                    <a:lnTo>
                      <a:pt x="2649" y="25"/>
                    </a:lnTo>
                    <a:close/>
                  </a:path>
                </a:pathLst>
              </a:custGeom>
              <a:gradFill>
                <a:gsLst>
                  <a:gs pos="0">
                    <a:srgbClr val="0070C0"/>
                  </a:gs>
                  <a:gs pos="68000">
                    <a:srgbClr val="D2EDFF"/>
                  </a:gs>
                  <a:gs pos="100000">
                    <a:schemeClr val="bg1"/>
                  </a:gs>
                </a:gsLst>
                <a:lin ang="16200000" scaled="0"/>
              </a:gra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31" name="文本框 130"/>
              <p:cNvSpPr txBox="1"/>
              <p:nvPr/>
            </p:nvSpPr>
            <p:spPr>
              <a:xfrm>
                <a:off x="2435" y="6085"/>
                <a:ext cx="10030" cy="712"/>
              </a:xfrm>
              <a:prstGeom prst="rect">
                <a:avLst/>
              </a:prstGeom>
              <a:noFill/>
            </p:spPr>
            <p:txBody>
              <a:bodyPr wrap="square">
                <a:spAutoFit/>
              </a:bodyPr>
              <a:p>
                <a:pPr lvl="0" algn="ctr">
                  <a:buClrTx/>
                  <a:buSzTx/>
                  <a:buFontTx/>
                </a:pP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pitchFamily="2" charset="-122"/>
                  </a:rPr>
                  <a:t>运营入口收敛、能力贯通</a:t>
                </a:r>
                <a:endParaRPr lang="en-US" altLang="zh-CN"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pitchFamily="2" charset="-122"/>
                </a:endParaRPr>
              </a:p>
            </p:txBody>
          </p:sp>
        </p:grpSp>
      </p:grpSp>
      <p:sp>
        <p:nvSpPr>
          <p:cNvPr id="15" name="文本框 14"/>
          <p:cNvSpPr txBox="1"/>
          <p:nvPr/>
        </p:nvSpPr>
        <p:spPr>
          <a:xfrm>
            <a:off x="2045335" y="2121535"/>
            <a:ext cx="5909310" cy="276225"/>
          </a:xfrm>
          <a:prstGeom prst="rect">
            <a:avLst/>
          </a:prstGeom>
        </p:spPr>
        <p:txBody>
          <a:bodyPr wrap="square" rtlCol="0" anchor="t" anchorCtr="0">
            <a:spAutoFit/>
          </a:bodyPr>
          <a:p>
            <a:pPr lvl="0" algn="ctr">
              <a:buClrTx/>
              <a:buSzTx/>
              <a:buFontTx/>
            </a:pPr>
            <a:r>
              <a:rPr lang="zh-CN" altLang="en-US" sz="1200" b="1" dirty="0">
                <a:solidFill>
                  <a:srgbClr val="0070C0"/>
                </a:solidFill>
                <a:latin typeface="微软雅黑" panose="020B0503020204020204" pitchFamily="34" charset="-122"/>
                <a:ea typeface="微软雅黑" panose="020B0503020204020204" pitchFamily="34" charset="-122"/>
                <a:sym typeface="+mn-ea"/>
              </a:rPr>
              <a:t>面向</a:t>
            </a:r>
            <a:r>
              <a:rPr lang="zh-CN" altLang="en-US" sz="1200" b="1" dirty="0">
                <a:solidFill>
                  <a:srgbClr val="FF0000"/>
                </a:solidFill>
                <a:latin typeface="微软雅黑" panose="020B0503020204020204" pitchFamily="34" charset="-122"/>
                <a:ea typeface="微软雅黑" panose="020B0503020204020204" pitchFamily="34" charset="-122"/>
                <a:sym typeface="+mn-ea"/>
              </a:rPr>
              <a:t>运营</a:t>
            </a:r>
            <a:r>
              <a:rPr lang="zh-CN" altLang="en-US" sz="1200" b="1" dirty="0">
                <a:solidFill>
                  <a:srgbClr val="0070C0"/>
                </a:solidFill>
                <a:latin typeface="微软雅黑" panose="020B0503020204020204" pitchFamily="34" charset="-122"/>
                <a:ea typeface="微软雅黑" panose="020B0503020204020204" pitchFamily="34" charset="-122"/>
                <a:sym typeface="+mn-ea"/>
              </a:rPr>
              <a:t>：提供</a:t>
            </a:r>
            <a:r>
              <a:rPr lang="zh-CN" sz="1200" b="1" dirty="0">
                <a:solidFill>
                  <a:srgbClr val="0070C0"/>
                </a:solidFill>
                <a:latin typeface="微软雅黑" panose="020B0503020204020204" pitchFamily="34" charset="-122"/>
                <a:ea typeface="微软雅黑" panose="020B0503020204020204" pitchFamily="34" charset="-122"/>
                <a:sym typeface="+mn-ea"/>
              </a:rPr>
              <a:t>“洞察问题</a:t>
            </a:r>
            <a:r>
              <a:rPr lang="en-US" altLang="zh-CN" sz="1200" b="1" dirty="0">
                <a:solidFill>
                  <a:srgbClr val="0070C0"/>
                </a:solidFill>
                <a:latin typeface="微软雅黑" panose="020B0503020204020204" pitchFamily="34" charset="-122"/>
                <a:ea typeface="微软雅黑" panose="020B0503020204020204" pitchFamily="34" charset="-122"/>
                <a:sym typeface="+mn-ea"/>
              </a:rPr>
              <a:t>-</a:t>
            </a:r>
            <a:r>
              <a:rPr lang="zh-CN" altLang="en-US" sz="1200" b="1" dirty="0">
                <a:solidFill>
                  <a:srgbClr val="0070C0"/>
                </a:solidFill>
                <a:latin typeface="微软雅黑" panose="020B0503020204020204" pitchFamily="34" charset="-122"/>
                <a:ea typeface="微软雅黑" panose="020B0503020204020204" pitchFamily="34" charset="-122"/>
                <a:sym typeface="+mn-ea"/>
              </a:rPr>
              <a:t>策略生成</a:t>
            </a:r>
            <a:r>
              <a:rPr lang="en-US" altLang="zh-CN" sz="1200" b="1" dirty="0">
                <a:solidFill>
                  <a:srgbClr val="0070C0"/>
                </a:solidFill>
                <a:latin typeface="微软雅黑" panose="020B0503020204020204" pitchFamily="34" charset="-122"/>
                <a:ea typeface="微软雅黑" panose="020B0503020204020204" pitchFamily="34" charset="-122"/>
                <a:sym typeface="+mn-ea"/>
              </a:rPr>
              <a:t>-</a:t>
            </a:r>
            <a:r>
              <a:rPr lang="zh-CN" altLang="en-US" sz="1200" b="1" dirty="0">
                <a:solidFill>
                  <a:srgbClr val="0070C0"/>
                </a:solidFill>
                <a:latin typeface="微软雅黑" panose="020B0503020204020204" pitchFamily="34" charset="-122"/>
                <a:ea typeface="微软雅黑" panose="020B0503020204020204" pitchFamily="34" charset="-122"/>
                <a:sym typeface="+mn-ea"/>
              </a:rPr>
              <a:t>执行监控</a:t>
            </a:r>
            <a:r>
              <a:rPr lang="en-US" altLang="zh-CN" sz="1200" b="1" dirty="0">
                <a:solidFill>
                  <a:srgbClr val="0070C0"/>
                </a:solidFill>
                <a:latin typeface="微软雅黑" panose="020B0503020204020204" pitchFamily="34" charset="-122"/>
                <a:ea typeface="微软雅黑" panose="020B0503020204020204" pitchFamily="34" charset="-122"/>
                <a:sym typeface="+mn-ea"/>
              </a:rPr>
              <a:t>-</a:t>
            </a:r>
            <a:r>
              <a:rPr lang="zh-CN" altLang="en-US" sz="1200" b="1" dirty="0">
                <a:solidFill>
                  <a:srgbClr val="0070C0"/>
                </a:solidFill>
                <a:latin typeface="微软雅黑" panose="020B0503020204020204" pitchFamily="34" charset="-122"/>
                <a:ea typeface="微软雅黑" panose="020B0503020204020204" pitchFamily="34" charset="-122"/>
                <a:sym typeface="+mn-ea"/>
              </a:rPr>
              <a:t>效果评估</a:t>
            </a:r>
            <a:r>
              <a:rPr lang="zh-CN" sz="1200" b="1" dirty="0">
                <a:solidFill>
                  <a:srgbClr val="0070C0"/>
                </a:solidFill>
                <a:latin typeface="微软雅黑" panose="020B0503020204020204" pitchFamily="34" charset="-122"/>
                <a:ea typeface="微软雅黑" panose="020B0503020204020204" pitchFamily="34" charset="-122"/>
                <a:sym typeface="+mn-ea"/>
              </a:rPr>
              <a:t>”的智能化运营前台</a:t>
            </a:r>
            <a:endParaRPr lang="zh-CN" sz="1200" b="1" dirty="0">
              <a:solidFill>
                <a:srgbClr val="FF0000"/>
              </a:solidFill>
              <a:latin typeface="微软雅黑" panose="020B0503020204020204" pitchFamily="34" charset="-122"/>
              <a:ea typeface="微软雅黑" panose="020B0503020204020204" pitchFamily="34" charset="-122"/>
              <a:sym typeface="+mn-ea"/>
            </a:endParaRPr>
          </a:p>
        </p:txBody>
      </p:sp>
      <p:sp>
        <p:nvSpPr>
          <p:cNvPr id="59" name="文本框 58"/>
          <p:cNvSpPr txBox="1"/>
          <p:nvPr/>
        </p:nvSpPr>
        <p:spPr>
          <a:xfrm>
            <a:off x="379730" y="2127250"/>
            <a:ext cx="1655445" cy="276225"/>
          </a:xfrm>
          <a:prstGeom prst="rect">
            <a:avLst/>
          </a:prstGeom>
        </p:spPr>
        <p:txBody>
          <a:bodyPr wrap="square" rtlCol="0" anchor="t" anchorCtr="0">
            <a:spAutoFit/>
          </a:bodyPr>
          <a:p>
            <a:pPr lvl="0" algn="ctr">
              <a:buClrTx/>
              <a:buSzTx/>
              <a:buFontTx/>
            </a:pPr>
            <a:r>
              <a:rPr lang="zh-CN" altLang="en-US" sz="1200" b="1" dirty="0">
                <a:solidFill>
                  <a:srgbClr val="0070C0"/>
                </a:solidFill>
                <a:latin typeface="微软雅黑" panose="020B0503020204020204" pitchFamily="34" charset="-122"/>
                <a:ea typeface="微软雅黑" panose="020B0503020204020204" pitchFamily="34" charset="-122"/>
                <a:sym typeface="+mn-ea"/>
              </a:rPr>
              <a:t>面向</a:t>
            </a:r>
            <a:r>
              <a:rPr lang="zh-CN" altLang="en-US" sz="1200" b="1" dirty="0">
                <a:solidFill>
                  <a:srgbClr val="FF0000"/>
                </a:solidFill>
                <a:latin typeface="微软雅黑" panose="020B0503020204020204" pitchFamily="34" charset="-122"/>
                <a:ea typeface="微软雅黑" panose="020B0503020204020204" pitchFamily="34" charset="-122"/>
                <a:sym typeface="+mn-ea"/>
              </a:rPr>
              <a:t>管理：</a:t>
            </a:r>
            <a:r>
              <a:rPr lang="zh-CN" altLang="en-US" sz="1200" dirty="0">
                <a:solidFill>
                  <a:schemeClr val="accent1"/>
                </a:solidFill>
                <a:latin typeface="微软雅黑" panose="020B0503020204020204" pitchFamily="34" charset="-122"/>
                <a:ea typeface="微软雅黑" panose="020B0503020204020204" pitchFamily="34" charset="-122"/>
                <a:sym typeface="+mn-ea"/>
              </a:rPr>
              <a:t>一屏看全</a:t>
            </a:r>
            <a:endParaRPr lang="zh-CN" altLang="en-US" sz="1200" dirty="0">
              <a:solidFill>
                <a:schemeClr val="accent1"/>
              </a:solidFill>
              <a:latin typeface="微软雅黑" panose="020B0503020204020204" pitchFamily="34" charset="-122"/>
              <a:ea typeface="微软雅黑" panose="020B0503020204020204" pitchFamily="34" charset="-122"/>
              <a:sym typeface="+mn-ea"/>
            </a:endParaRPr>
          </a:p>
        </p:txBody>
      </p:sp>
      <p:sp>
        <p:nvSpPr>
          <p:cNvPr id="135" name="文本框 134"/>
          <p:cNvSpPr txBox="1"/>
          <p:nvPr/>
        </p:nvSpPr>
        <p:spPr>
          <a:xfrm>
            <a:off x="2133600" y="2950845"/>
            <a:ext cx="517525" cy="368300"/>
          </a:xfrm>
          <a:prstGeom prst="rect">
            <a:avLst/>
          </a:prstGeom>
          <a:noFill/>
        </p:spPr>
        <p:txBody>
          <a:bodyPr wrap="square" rtlCol="0">
            <a:spAutoFit/>
          </a:bodyPr>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FFFFFF"/>
                </a:solidFill>
                <a:effectLst/>
                <a:uLnTx/>
                <a:uFillTx/>
                <a:latin typeface="+mn-ea"/>
                <a:cs typeface="思源黑体 CN Regular" panose="020B0500000000000000" charset="-122"/>
              </a:rPr>
              <a:t>客诉</a:t>
            </a:r>
            <a:endParaRPr kumimoji="0" lang="zh-CN" altLang="en-US" sz="900" b="1" i="0" u="none" strike="noStrike" kern="0" cap="none" spc="0" normalizeH="0" baseline="0" noProof="0" dirty="0">
              <a:ln>
                <a:noFill/>
              </a:ln>
              <a:solidFill>
                <a:srgbClr val="FFFFFF"/>
              </a:solidFill>
              <a:effectLst/>
              <a:uLnTx/>
              <a:uFillTx/>
              <a:latin typeface="+mn-ea"/>
              <a:cs typeface="思源黑体 CN Regular" panose="020B0500000000000000"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rgbClr val="FFFFFF"/>
                </a:solidFill>
                <a:effectLst/>
                <a:uLnTx/>
                <a:uFillTx/>
                <a:latin typeface="+mn-ea"/>
                <a:cs typeface="思源黑体 CN Regular" panose="020B0500000000000000" charset="-122"/>
              </a:rPr>
              <a:t>跟踪</a:t>
            </a:r>
            <a:endParaRPr kumimoji="0" lang="zh-CN" altLang="en-US" sz="900" b="1" i="0" u="none" strike="noStrike" kern="0" cap="none" spc="0" normalizeH="0" baseline="0" noProof="0" dirty="0">
              <a:ln>
                <a:noFill/>
              </a:ln>
              <a:solidFill>
                <a:srgbClr val="FFFFFF"/>
              </a:solidFill>
              <a:effectLst/>
              <a:uLnTx/>
              <a:uFillTx/>
              <a:latin typeface="+mn-ea"/>
              <a:cs typeface="思源黑体 CN Regular" panose="020B0500000000000000" charset="-122"/>
            </a:endParaRPr>
          </a:p>
        </p:txBody>
      </p:sp>
      <p:grpSp>
        <p:nvGrpSpPr>
          <p:cNvPr id="64" name="组合 63"/>
          <p:cNvGrpSpPr/>
          <p:nvPr/>
        </p:nvGrpSpPr>
        <p:grpSpPr>
          <a:xfrm>
            <a:off x="536575" y="2675890"/>
            <a:ext cx="7325360" cy="1506728"/>
            <a:chOff x="2061" y="4671"/>
            <a:chExt cx="7898" cy="1956"/>
          </a:xfrm>
        </p:grpSpPr>
        <p:grpSp>
          <p:nvGrpSpPr>
            <p:cNvPr id="161" name="组合 160"/>
            <p:cNvGrpSpPr/>
            <p:nvPr/>
          </p:nvGrpSpPr>
          <p:grpSpPr>
            <a:xfrm rot="0">
              <a:off x="3199" y="4671"/>
              <a:ext cx="1087" cy="1956"/>
              <a:chOff x="3205" y="4293"/>
              <a:chExt cx="1087" cy="1399"/>
            </a:xfrm>
          </p:grpSpPr>
          <p:sp>
            <p:nvSpPr>
              <p:cNvPr id="208" name="矩形 71"/>
              <p:cNvSpPr/>
              <p:nvPr/>
            </p:nvSpPr>
            <p:spPr>
              <a:xfrm>
                <a:off x="3250" y="4293"/>
                <a:ext cx="1042" cy="580"/>
              </a:xfrm>
              <a:prstGeom prst="rect">
                <a:avLst/>
              </a:prstGeom>
              <a:solidFill>
                <a:srgbClr val="0070BF"/>
              </a:solidFill>
              <a:ln w="3175" cap="flat" cmpd="sng" algn="ctr">
                <a:noFill/>
                <a:prstDash val="dash"/>
                <a:miter lim="800000"/>
              </a:ln>
              <a:effectLst/>
            </p:spPr>
            <p:txBody>
              <a:bodyPr rot="0" spcFirstLastPara="0" vertOverflow="overflow" horzOverflow="overflow" vert="horz" wrap="square" lIns="91416" tIns="45708" rIns="91416" bIns="45708" numCol="1" spcCol="0" rtlCol="0" fromWordArt="0" anchor="ctr" anchorCtr="0" forceAA="0" compatLnSpc="1">
                <a:noAutofit/>
              </a:bodyPr>
              <a:p>
                <a:pPr lvl="0" algn="ctr">
                  <a:spcBef>
                    <a:spcPts val="0"/>
                  </a:spcBef>
                  <a:spcAft>
                    <a:spcPts val="0"/>
                  </a:spcAft>
                  <a:buClrTx/>
                  <a:buSzTx/>
                  <a:buFontTx/>
                  <a:defRPr/>
                </a:pPr>
                <a:r>
                  <a:rPr lang="zh-CN" altLang="en-US" sz="1000" b="1" kern="0" noProof="0" dirty="0">
                    <a:ln>
                      <a:noFill/>
                    </a:ln>
                    <a:solidFill>
                      <a:schemeClr val="bg1"/>
                    </a:solidFill>
                    <a:effectLst/>
                    <a:uLnTx/>
                    <a:uFillTx/>
                    <a:latin typeface="+mn-ea"/>
                    <a:sym typeface="+mn-ea"/>
                  </a:rPr>
                  <a:t>存量运营</a:t>
                </a:r>
                <a:endParaRPr lang="zh-CN" altLang="en-US" sz="1000" b="1" kern="0" noProof="0" dirty="0">
                  <a:ln>
                    <a:noFill/>
                  </a:ln>
                  <a:solidFill>
                    <a:schemeClr val="bg1"/>
                  </a:solidFill>
                  <a:effectLst/>
                  <a:uLnTx/>
                  <a:uFillTx/>
                  <a:latin typeface="+mn-ea"/>
                  <a:sym typeface="+mn-ea"/>
                </a:endParaRPr>
              </a:p>
            </p:txBody>
          </p:sp>
          <p:sp>
            <p:nvSpPr>
              <p:cNvPr id="154" name="文本框 153"/>
              <p:cNvSpPr txBox="1"/>
              <p:nvPr/>
            </p:nvSpPr>
            <p:spPr>
              <a:xfrm>
                <a:off x="3205" y="4893"/>
                <a:ext cx="1042" cy="799"/>
              </a:xfrm>
              <a:prstGeom prst="rect">
                <a:avLst/>
              </a:prstGeom>
              <a:noFill/>
            </p:spPr>
            <p:txBody>
              <a:bodyPr wrap="square" rtlCol="0">
                <a:spAutoFit/>
              </a:bodyPr>
              <a:p>
                <a:r>
                  <a:rPr lang="zh-CN" altLang="en-US" sz="1000" dirty="0">
                    <a:solidFill>
                      <a:srgbClr val="0070C0"/>
                    </a:solidFill>
                    <a:effectLst/>
                    <a:latin typeface="Helvetica" pitchFamily="2" charset="0"/>
                  </a:rPr>
                  <a:t>量质构效评价、中高端保有等指标全览</a:t>
                </a:r>
                <a:r>
                  <a:rPr lang="en-US" altLang="zh-CN" sz="1000" dirty="0">
                    <a:solidFill>
                      <a:srgbClr val="0070C0"/>
                    </a:solidFill>
                    <a:effectLst/>
                    <a:latin typeface="Helvetica" pitchFamily="2" charset="0"/>
                  </a:rPr>
                  <a:t>...</a:t>
                </a:r>
                <a:endParaRPr lang="en-US" altLang="zh-CN" sz="1000" dirty="0">
                  <a:solidFill>
                    <a:srgbClr val="0070C0"/>
                  </a:solidFill>
                  <a:effectLst/>
                  <a:latin typeface="Helvetica" pitchFamily="2" charset="0"/>
                </a:endParaRPr>
              </a:p>
              <a:p>
                <a:r>
                  <a:rPr lang="zh-CN" altLang="en-US" sz="1000" dirty="0">
                    <a:solidFill>
                      <a:srgbClr val="0070C0"/>
                    </a:solidFill>
                    <a:effectLst/>
                    <a:latin typeface="Helvetica" pitchFamily="2" charset="0"/>
                  </a:rPr>
                  <a:t>指标预警、流失洞察</a:t>
                </a:r>
                <a:r>
                  <a:rPr lang="en-US" altLang="zh-CN" sz="1000" dirty="0">
                    <a:solidFill>
                      <a:srgbClr val="0070C0"/>
                    </a:solidFill>
                    <a:effectLst/>
                    <a:latin typeface="Helvetica" pitchFamily="2" charset="0"/>
                  </a:rPr>
                  <a:t>..</a:t>
                </a:r>
                <a:endParaRPr lang="en-US" altLang="zh-CN" sz="1000" dirty="0">
                  <a:solidFill>
                    <a:srgbClr val="0070C0"/>
                  </a:solidFill>
                  <a:effectLst/>
                  <a:latin typeface="Helvetica" pitchFamily="2" charset="0"/>
                </a:endParaRPr>
              </a:p>
            </p:txBody>
          </p:sp>
        </p:grpSp>
        <p:grpSp>
          <p:nvGrpSpPr>
            <p:cNvPr id="157" name="组合 156"/>
            <p:cNvGrpSpPr/>
            <p:nvPr/>
          </p:nvGrpSpPr>
          <p:grpSpPr>
            <a:xfrm rot="0">
              <a:off x="4337" y="4671"/>
              <a:ext cx="1087" cy="1956"/>
              <a:chOff x="3405" y="4493"/>
              <a:chExt cx="1087" cy="1399"/>
            </a:xfrm>
          </p:grpSpPr>
          <p:sp>
            <p:nvSpPr>
              <p:cNvPr id="155" name="矩形 71"/>
              <p:cNvSpPr/>
              <p:nvPr/>
            </p:nvSpPr>
            <p:spPr>
              <a:xfrm>
                <a:off x="3450" y="4493"/>
                <a:ext cx="1042" cy="580"/>
              </a:xfrm>
              <a:prstGeom prst="rect">
                <a:avLst/>
              </a:prstGeom>
              <a:solidFill>
                <a:srgbClr val="0070BF"/>
              </a:solidFill>
              <a:ln w="3175" cap="flat" cmpd="sng" algn="ctr">
                <a:noFill/>
                <a:prstDash val="dash"/>
                <a:miter lim="800000"/>
              </a:ln>
              <a:effectLst/>
            </p:spPr>
            <p:txBody>
              <a:bodyPr rot="0" spcFirstLastPara="0" vertOverflow="overflow" horzOverflow="overflow" vert="horz" wrap="square" lIns="91416" tIns="45708" rIns="91416" bIns="45708" numCol="1" spcCol="0" rtlCol="0" fromWordArt="0" anchor="ctr" anchorCtr="0" forceAA="0" compatLnSpc="1">
                <a:noAutofit/>
              </a:bodyPr>
              <a:p>
                <a:pPr lvl="0" algn="ctr">
                  <a:spcBef>
                    <a:spcPts val="0"/>
                  </a:spcBef>
                  <a:spcAft>
                    <a:spcPts val="0"/>
                  </a:spcAft>
                  <a:buClrTx/>
                  <a:buSzTx/>
                  <a:buFontTx/>
                  <a:defRPr/>
                </a:pPr>
                <a:r>
                  <a:rPr lang="zh-CN" altLang="en-US" sz="1000" b="1" kern="0" noProof="0" dirty="0">
                    <a:ln>
                      <a:noFill/>
                    </a:ln>
                    <a:solidFill>
                      <a:schemeClr val="bg1"/>
                    </a:solidFill>
                    <a:effectLst/>
                    <a:uLnTx/>
                    <a:uFillTx/>
                    <a:latin typeface="+mn-ea"/>
                    <a:sym typeface="+mn-ea"/>
                  </a:rPr>
                  <a:t>细分市场</a:t>
                </a:r>
                <a:endParaRPr lang="zh-CN" altLang="en-US" sz="1000" b="1" kern="0" noProof="0" dirty="0">
                  <a:ln>
                    <a:noFill/>
                  </a:ln>
                  <a:solidFill>
                    <a:schemeClr val="bg1"/>
                  </a:solidFill>
                  <a:effectLst/>
                  <a:uLnTx/>
                  <a:uFillTx/>
                  <a:latin typeface="+mn-ea"/>
                  <a:sym typeface="+mn-ea"/>
                </a:endParaRPr>
              </a:p>
            </p:txBody>
          </p:sp>
          <p:sp>
            <p:nvSpPr>
              <p:cNvPr id="156" name="文本框 155"/>
              <p:cNvSpPr txBox="1"/>
              <p:nvPr/>
            </p:nvSpPr>
            <p:spPr>
              <a:xfrm>
                <a:off x="3405" y="5093"/>
                <a:ext cx="1042" cy="799"/>
              </a:xfrm>
              <a:prstGeom prst="rect">
                <a:avLst/>
              </a:prstGeom>
              <a:noFill/>
            </p:spPr>
            <p:txBody>
              <a:bodyPr wrap="square" rtlCol="0">
                <a:spAutoFit/>
              </a:bodyPr>
              <a:p>
                <a:r>
                  <a:rPr lang="zh-CN" sz="1000" dirty="0">
                    <a:solidFill>
                      <a:srgbClr val="0070C0"/>
                    </a:solidFill>
                    <a:effectLst/>
                    <a:latin typeface="Helvetica" pitchFamily="2" charset="0"/>
                  </a:rPr>
                  <a:t>银发、国际、沿街等重点客群指标全览</a:t>
                </a:r>
                <a:endParaRPr lang="zh-CN" sz="1000" dirty="0">
                  <a:solidFill>
                    <a:srgbClr val="0070C0"/>
                  </a:solidFill>
                  <a:effectLst/>
                  <a:latin typeface="Helvetica" pitchFamily="2" charset="0"/>
                </a:endParaRPr>
              </a:p>
              <a:p>
                <a:r>
                  <a:rPr lang="zh-CN" sz="1000" dirty="0">
                    <a:solidFill>
                      <a:srgbClr val="0070C0"/>
                    </a:solidFill>
                    <a:effectLst/>
                    <a:latin typeface="Helvetica" pitchFamily="2" charset="0"/>
                  </a:rPr>
                  <a:t>精细营销调度</a:t>
                </a:r>
                <a:r>
                  <a:rPr lang="en-US" altLang="zh-CN" sz="1000" dirty="0">
                    <a:solidFill>
                      <a:srgbClr val="0070C0"/>
                    </a:solidFill>
                    <a:effectLst/>
                    <a:latin typeface="Helvetica" pitchFamily="2" charset="0"/>
                  </a:rPr>
                  <a:t>..</a:t>
                </a:r>
                <a:endParaRPr lang="en-US" altLang="zh-CN" sz="1000" dirty="0">
                  <a:solidFill>
                    <a:srgbClr val="0070C0"/>
                  </a:solidFill>
                  <a:effectLst/>
                  <a:latin typeface="Helvetica" pitchFamily="2" charset="0"/>
                </a:endParaRPr>
              </a:p>
            </p:txBody>
          </p:sp>
        </p:grpSp>
        <p:grpSp>
          <p:nvGrpSpPr>
            <p:cNvPr id="158" name="组合 157"/>
            <p:cNvGrpSpPr/>
            <p:nvPr/>
          </p:nvGrpSpPr>
          <p:grpSpPr>
            <a:xfrm rot="0">
              <a:off x="5475" y="4671"/>
              <a:ext cx="1087" cy="1956"/>
              <a:chOff x="3405" y="4493"/>
              <a:chExt cx="1087" cy="1399"/>
            </a:xfrm>
          </p:grpSpPr>
          <p:sp>
            <p:nvSpPr>
              <p:cNvPr id="159" name="矩形 71"/>
              <p:cNvSpPr/>
              <p:nvPr/>
            </p:nvSpPr>
            <p:spPr>
              <a:xfrm>
                <a:off x="3450" y="4493"/>
                <a:ext cx="1042" cy="580"/>
              </a:xfrm>
              <a:prstGeom prst="rect">
                <a:avLst/>
              </a:prstGeom>
              <a:solidFill>
                <a:srgbClr val="0070BF"/>
              </a:solidFill>
              <a:ln w="3175" cap="flat" cmpd="sng" algn="ctr">
                <a:noFill/>
                <a:prstDash val="dash"/>
                <a:miter lim="800000"/>
              </a:ln>
              <a:effectLst/>
            </p:spPr>
            <p:txBody>
              <a:bodyPr rot="0" spcFirstLastPara="0" vertOverflow="overflow" horzOverflow="overflow" vert="horz" wrap="square" lIns="91416" tIns="45708" rIns="91416" bIns="45708" numCol="1" spcCol="0" rtlCol="0" fromWordArt="0" anchor="ctr" anchorCtr="0" forceAA="0" compatLnSpc="1">
                <a:noAutofit/>
              </a:bodyPr>
              <a:p>
                <a:pPr lvl="0" algn="ctr">
                  <a:spcBef>
                    <a:spcPts val="0"/>
                  </a:spcBef>
                  <a:spcAft>
                    <a:spcPts val="0"/>
                  </a:spcAft>
                  <a:buClrTx/>
                  <a:buSzTx/>
                  <a:buFontTx/>
                  <a:defRPr/>
                </a:pPr>
                <a:r>
                  <a:rPr lang="zh-CN" altLang="en-US" sz="1000" b="1" kern="0" noProof="0" dirty="0">
                    <a:ln>
                      <a:noFill/>
                    </a:ln>
                    <a:solidFill>
                      <a:schemeClr val="bg1"/>
                    </a:solidFill>
                    <a:effectLst/>
                    <a:uLnTx/>
                    <a:uFillTx/>
                    <a:latin typeface="+mn-ea"/>
                    <a:sym typeface="+mn-ea"/>
                  </a:rPr>
                  <a:t>产品运营</a:t>
                </a:r>
                <a:endParaRPr lang="zh-CN" altLang="en-US" sz="1000" b="1" kern="0" noProof="0" dirty="0">
                  <a:ln>
                    <a:noFill/>
                  </a:ln>
                  <a:solidFill>
                    <a:schemeClr val="bg1"/>
                  </a:solidFill>
                  <a:effectLst/>
                  <a:uLnTx/>
                  <a:uFillTx/>
                  <a:latin typeface="+mn-ea"/>
                  <a:sym typeface="+mn-ea"/>
                </a:endParaRPr>
              </a:p>
            </p:txBody>
          </p:sp>
          <p:sp>
            <p:nvSpPr>
              <p:cNvPr id="160" name="文本框 159"/>
              <p:cNvSpPr txBox="1"/>
              <p:nvPr/>
            </p:nvSpPr>
            <p:spPr>
              <a:xfrm>
                <a:off x="3405" y="5093"/>
                <a:ext cx="1042" cy="799"/>
              </a:xfrm>
              <a:prstGeom prst="rect">
                <a:avLst/>
              </a:prstGeom>
              <a:noFill/>
            </p:spPr>
            <p:txBody>
              <a:bodyPr wrap="square" rtlCol="0">
                <a:spAutoFit/>
              </a:bodyPr>
              <a:p>
                <a:r>
                  <a:rPr lang="en-US" altLang="zh-CN" sz="1000" dirty="0">
                    <a:solidFill>
                      <a:srgbClr val="0070C0"/>
                    </a:solidFill>
                    <a:effectLst/>
                    <a:latin typeface="Helvetica" pitchFamily="2" charset="0"/>
                  </a:rPr>
                  <a:t>5+9</a:t>
                </a:r>
                <a:r>
                  <a:rPr lang="zh-CN" altLang="en-US" sz="1000" dirty="0">
                    <a:solidFill>
                      <a:srgbClr val="0070C0"/>
                    </a:solidFill>
                    <a:effectLst/>
                    <a:latin typeface="Helvetica" pitchFamily="2" charset="0"/>
                  </a:rPr>
                  <a:t>业务重点指标全览</a:t>
                </a:r>
                <a:endParaRPr lang="zh-CN" sz="1000" dirty="0">
                  <a:solidFill>
                    <a:srgbClr val="0070C0"/>
                  </a:solidFill>
                  <a:effectLst/>
                  <a:latin typeface="Helvetica" pitchFamily="2" charset="0"/>
                </a:endParaRPr>
              </a:p>
              <a:p>
                <a:r>
                  <a:rPr lang="zh-CN" sz="1000" dirty="0">
                    <a:solidFill>
                      <a:srgbClr val="0070C0"/>
                    </a:solidFill>
                    <a:effectLst/>
                    <a:latin typeface="Helvetica" pitchFamily="2" charset="0"/>
                  </a:rPr>
                  <a:t>短板灭灯调度、产品问题运营</a:t>
                </a:r>
                <a:r>
                  <a:rPr lang="en-US" altLang="zh-CN" sz="1000" dirty="0">
                    <a:solidFill>
                      <a:srgbClr val="0070C0"/>
                    </a:solidFill>
                    <a:effectLst/>
                    <a:latin typeface="Helvetica" pitchFamily="2" charset="0"/>
                  </a:rPr>
                  <a:t>..</a:t>
                </a:r>
                <a:endParaRPr lang="en-US" altLang="zh-CN" sz="1000" dirty="0">
                  <a:solidFill>
                    <a:srgbClr val="0070C0"/>
                  </a:solidFill>
                  <a:effectLst/>
                  <a:latin typeface="Helvetica" pitchFamily="2" charset="0"/>
                </a:endParaRPr>
              </a:p>
            </p:txBody>
          </p:sp>
        </p:grpSp>
        <p:grpSp>
          <p:nvGrpSpPr>
            <p:cNvPr id="162" name="组合 161"/>
            <p:cNvGrpSpPr/>
            <p:nvPr/>
          </p:nvGrpSpPr>
          <p:grpSpPr>
            <a:xfrm rot="0">
              <a:off x="6613" y="4671"/>
              <a:ext cx="1087" cy="1756"/>
              <a:chOff x="3405" y="4493"/>
              <a:chExt cx="1087" cy="1256"/>
            </a:xfrm>
          </p:grpSpPr>
          <p:sp>
            <p:nvSpPr>
              <p:cNvPr id="163" name="矩形 71"/>
              <p:cNvSpPr/>
              <p:nvPr/>
            </p:nvSpPr>
            <p:spPr>
              <a:xfrm>
                <a:off x="3450" y="4493"/>
                <a:ext cx="1042" cy="580"/>
              </a:xfrm>
              <a:prstGeom prst="rect">
                <a:avLst/>
              </a:prstGeom>
              <a:solidFill>
                <a:srgbClr val="0070BF"/>
              </a:solidFill>
              <a:ln w="3175" cap="flat" cmpd="sng" algn="ctr">
                <a:noFill/>
                <a:prstDash val="dash"/>
                <a:miter lim="800000"/>
              </a:ln>
              <a:effectLst/>
            </p:spPr>
            <p:txBody>
              <a:bodyPr rot="0" spcFirstLastPara="0" vertOverflow="overflow" horzOverflow="overflow" vert="horz" wrap="square" lIns="91416" tIns="45708" rIns="91416" bIns="45708" numCol="1" spcCol="0" rtlCol="0" fromWordArt="0" anchor="ctr" anchorCtr="0" forceAA="0" compatLnSpc="1">
                <a:noAutofit/>
              </a:bodyPr>
              <a:p>
                <a:pPr lvl="0" algn="ctr">
                  <a:spcBef>
                    <a:spcPts val="0"/>
                  </a:spcBef>
                  <a:spcAft>
                    <a:spcPts val="0"/>
                  </a:spcAft>
                  <a:buClrTx/>
                  <a:buSzTx/>
                  <a:buFontTx/>
                  <a:defRPr/>
                </a:pPr>
                <a:r>
                  <a:rPr lang="zh-CN" altLang="en-US" sz="1000" b="1" kern="0" noProof="0" dirty="0">
                    <a:ln>
                      <a:noFill/>
                    </a:ln>
                    <a:solidFill>
                      <a:schemeClr val="bg1"/>
                    </a:solidFill>
                    <a:effectLst/>
                    <a:uLnTx/>
                    <a:uFillTx/>
                    <a:latin typeface="+mn-ea"/>
                    <a:sym typeface="+mn-ea"/>
                  </a:rPr>
                  <a:t>渠道运营</a:t>
                </a:r>
                <a:endParaRPr lang="zh-CN" altLang="en-US" sz="1000" b="1" kern="0" noProof="0" dirty="0">
                  <a:ln>
                    <a:noFill/>
                  </a:ln>
                  <a:solidFill>
                    <a:schemeClr val="bg1"/>
                  </a:solidFill>
                  <a:effectLst/>
                  <a:uLnTx/>
                  <a:uFillTx/>
                  <a:latin typeface="+mn-ea"/>
                  <a:sym typeface="+mn-ea"/>
                </a:endParaRPr>
              </a:p>
            </p:txBody>
          </p:sp>
          <p:sp>
            <p:nvSpPr>
              <p:cNvPr id="164" name="文本框 163"/>
              <p:cNvSpPr txBox="1"/>
              <p:nvPr/>
            </p:nvSpPr>
            <p:spPr>
              <a:xfrm>
                <a:off x="3405" y="5093"/>
                <a:ext cx="1042" cy="656"/>
              </a:xfrm>
              <a:prstGeom prst="rect">
                <a:avLst/>
              </a:prstGeom>
              <a:noFill/>
            </p:spPr>
            <p:txBody>
              <a:bodyPr wrap="square" rtlCol="0">
                <a:spAutoFit/>
              </a:bodyPr>
              <a:p>
                <a:r>
                  <a:rPr lang="zh-CN" sz="1000" dirty="0">
                    <a:solidFill>
                      <a:srgbClr val="0070C0"/>
                    </a:solidFill>
                    <a:effectLst/>
                    <a:latin typeface="Helvetica" pitchFamily="2" charset="0"/>
                  </a:rPr>
                  <a:t>线上线下渠道效能评价</a:t>
                </a:r>
                <a:endParaRPr lang="zh-CN" sz="1000" dirty="0">
                  <a:solidFill>
                    <a:srgbClr val="0070C0"/>
                  </a:solidFill>
                  <a:effectLst/>
                  <a:latin typeface="Helvetica" pitchFamily="2" charset="0"/>
                </a:endParaRPr>
              </a:p>
              <a:p>
                <a:r>
                  <a:rPr lang="zh-CN" sz="1000" dirty="0">
                    <a:solidFill>
                      <a:srgbClr val="0070C0"/>
                    </a:solidFill>
                    <a:effectLst/>
                    <a:latin typeface="Helvetica" pitchFamily="2" charset="0"/>
                  </a:rPr>
                  <a:t>问题发现及调度运营</a:t>
                </a:r>
                <a:r>
                  <a:rPr lang="en-US" altLang="zh-CN" sz="1000" dirty="0">
                    <a:solidFill>
                      <a:srgbClr val="0070C0"/>
                    </a:solidFill>
                    <a:effectLst/>
                    <a:latin typeface="Helvetica" pitchFamily="2" charset="0"/>
                  </a:rPr>
                  <a:t>..</a:t>
                </a:r>
                <a:endParaRPr lang="en-US" altLang="zh-CN" sz="1000" dirty="0">
                  <a:solidFill>
                    <a:srgbClr val="0070C0"/>
                  </a:solidFill>
                  <a:effectLst/>
                  <a:latin typeface="Helvetica" pitchFamily="2" charset="0"/>
                </a:endParaRPr>
              </a:p>
            </p:txBody>
          </p:sp>
        </p:grpSp>
        <p:grpSp>
          <p:nvGrpSpPr>
            <p:cNvPr id="166" name="组合 165"/>
            <p:cNvGrpSpPr/>
            <p:nvPr/>
          </p:nvGrpSpPr>
          <p:grpSpPr>
            <a:xfrm rot="0">
              <a:off x="7751" y="4671"/>
              <a:ext cx="1087" cy="1873"/>
              <a:chOff x="3405" y="4493"/>
              <a:chExt cx="1087" cy="1340"/>
            </a:xfrm>
          </p:grpSpPr>
          <p:sp>
            <p:nvSpPr>
              <p:cNvPr id="167" name="矩形 71"/>
              <p:cNvSpPr/>
              <p:nvPr/>
            </p:nvSpPr>
            <p:spPr>
              <a:xfrm>
                <a:off x="3450" y="4493"/>
                <a:ext cx="1042" cy="580"/>
              </a:xfrm>
              <a:prstGeom prst="rect">
                <a:avLst/>
              </a:prstGeom>
              <a:solidFill>
                <a:srgbClr val="0070BF"/>
              </a:solidFill>
              <a:ln w="3175" cap="flat" cmpd="sng" algn="ctr">
                <a:noFill/>
                <a:prstDash val="dash"/>
                <a:miter lim="800000"/>
              </a:ln>
              <a:effectLst/>
            </p:spPr>
            <p:txBody>
              <a:bodyPr rot="0" spcFirstLastPara="0" vertOverflow="overflow" horzOverflow="overflow" vert="horz" wrap="square" lIns="91416" tIns="45708" rIns="91416" bIns="45708" numCol="1" spcCol="0" rtlCol="0" fromWordArt="0" anchor="ctr" anchorCtr="0" forceAA="0" compatLnSpc="1">
                <a:noAutofit/>
              </a:bodyPr>
              <a:p>
                <a:pPr lvl="0" algn="ctr">
                  <a:spcBef>
                    <a:spcPts val="0"/>
                  </a:spcBef>
                  <a:spcAft>
                    <a:spcPts val="0"/>
                  </a:spcAft>
                  <a:buClrTx/>
                  <a:buSzTx/>
                  <a:buFontTx/>
                  <a:defRPr/>
                </a:pPr>
                <a:r>
                  <a:rPr lang="zh-CN" altLang="en-US" sz="1000" b="1" kern="0" noProof="0" dirty="0">
                    <a:ln>
                      <a:noFill/>
                    </a:ln>
                    <a:solidFill>
                      <a:schemeClr val="bg1"/>
                    </a:solidFill>
                    <a:effectLst/>
                    <a:uLnTx/>
                    <a:uFillTx/>
                    <a:latin typeface="+mn-ea"/>
                    <a:sym typeface="+mn-ea"/>
                  </a:rPr>
                  <a:t>一线赋能</a:t>
                </a:r>
                <a:endParaRPr lang="zh-CN" altLang="en-US" sz="1000" b="1" kern="0" noProof="0" dirty="0">
                  <a:ln>
                    <a:noFill/>
                  </a:ln>
                  <a:solidFill>
                    <a:schemeClr val="bg1"/>
                  </a:solidFill>
                  <a:effectLst/>
                  <a:uLnTx/>
                  <a:uFillTx/>
                  <a:latin typeface="+mn-ea"/>
                  <a:sym typeface="+mn-ea"/>
                </a:endParaRPr>
              </a:p>
            </p:txBody>
          </p:sp>
          <p:sp>
            <p:nvSpPr>
              <p:cNvPr id="168" name="文本框 167"/>
              <p:cNvSpPr txBox="1"/>
              <p:nvPr/>
            </p:nvSpPr>
            <p:spPr>
              <a:xfrm>
                <a:off x="3405" y="5093"/>
                <a:ext cx="1042" cy="740"/>
              </a:xfrm>
              <a:prstGeom prst="rect">
                <a:avLst/>
              </a:prstGeom>
              <a:noFill/>
            </p:spPr>
            <p:txBody>
              <a:bodyPr wrap="square" rtlCol="0">
                <a:spAutoFit/>
              </a:bodyPr>
              <a:p>
                <a:r>
                  <a:rPr lang="zh-CN" sz="1000" dirty="0">
                    <a:solidFill>
                      <a:srgbClr val="0070C0"/>
                    </a:solidFill>
                    <a:effectLst/>
                    <a:latin typeface="Helvetica" pitchFamily="2" charset="0"/>
                  </a:rPr>
                  <a:t>复杂订单流程治理</a:t>
                </a:r>
                <a:endParaRPr lang="zh-CN" sz="1000" dirty="0">
                  <a:solidFill>
                    <a:srgbClr val="0070C0"/>
                  </a:solidFill>
                  <a:effectLst/>
                  <a:latin typeface="Helvetica" pitchFamily="2" charset="0"/>
                </a:endParaRPr>
              </a:p>
              <a:p>
                <a:r>
                  <a:rPr lang="zh-CN" sz="1000" dirty="0">
                    <a:solidFill>
                      <a:srgbClr val="0070C0"/>
                    </a:solidFill>
                    <a:effectLst/>
                    <a:latin typeface="Helvetica" pitchFamily="2" charset="0"/>
                  </a:rPr>
                  <a:t>基础业务稽核</a:t>
                </a:r>
                <a:r>
                  <a:rPr lang="en-US" altLang="zh-CN" sz="1000" dirty="0">
                    <a:solidFill>
                      <a:srgbClr val="0070C0"/>
                    </a:solidFill>
                    <a:effectLst/>
                    <a:latin typeface="Helvetica" pitchFamily="2" charset="0"/>
                  </a:rPr>
                  <a:t>...</a:t>
                </a:r>
                <a:endParaRPr lang="en-US" altLang="zh-CN" sz="1000" dirty="0">
                  <a:solidFill>
                    <a:srgbClr val="0070C0"/>
                  </a:solidFill>
                  <a:effectLst/>
                  <a:latin typeface="Helvetica" pitchFamily="2" charset="0"/>
                </a:endParaRPr>
              </a:p>
            </p:txBody>
          </p:sp>
        </p:grpSp>
        <p:grpSp>
          <p:nvGrpSpPr>
            <p:cNvPr id="169" name="组合 168"/>
            <p:cNvGrpSpPr/>
            <p:nvPr/>
          </p:nvGrpSpPr>
          <p:grpSpPr>
            <a:xfrm rot="0">
              <a:off x="8889" y="4671"/>
              <a:ext cx="1070" cy="1364"/>
              <a:chOff x="3450" y="4493"/>
              <a:chExt cx="1070" cy="976"/>
            </a:xfrm>
          </p:grpSpPr>
          <p:sp>
            <p:nvSpPr>
              <p:cNvPr id="170" name="矩形 71"/>
              <p:cNvSpPr/>
              <p:nvPr/>
            </p:nvSpPr>
            <p:spPr>
              <a:xfrm>
                <a:off x="3450" y="4493"/>
                <a:ext cx="1042" cy="580"/>
              </a:xfrm>
              <a:prstGeom prst="rect">
                <a:avLst/>
              </a:prstGeom>
              <a:solidFill>
                <a:srgbClr val="0070BF"/>
              </a:solidFill>
              <a:ln w="3175" cap="flat" cmpd="sng" algn="ctr">
                <a:noFill/>
                <a:prstDash val="dash"/>
                <a:miter lim="800000"/>
              </a:ln>
              <a:effectLst/>
            </p:spPr>
            <p:txBody>
              <a:bodyPr rot="0" spcFirstLastPara="0" vertOverflow="overflow" horzOverflow="overflow" vert="horz" wrap="square" lIns="91416" tIns="45708" rIns="91416" bIns="45708" numCol="1" spcCol="0" rtlCol="0" fromWordArt="0" anchor="ctr" anchorCtr="0" forceAA="0" compatLnSpc="1">
                <a:noAutofit/>
              </a:bodyPr>
              <a:p>
                <a:pPr lvl="0" algn="ctr">
                  <a:spcBef>
                    <a:spcPts val="0"/>
                  </a:spcBef>
                  <a:spcAft>
                    <a:spcPts val="0"/>
                  </a:spcAft>
                  <a:buClrTx/>
                  <a:buSzTx/>
                  <a:buFontTx/>
                  <a:defRPr/>
                </a:pPr>
                <a:r>
                  <a:rPr lang="zh-CN" altLang="en-US" sz="1000" b="1" kern="0" noProof="0" dirty="0">
                    <a:ln>
                      <a:noFill/>
                    </a:ln>
                    <a:solidFill>
                      <a:schemeClr val="bg1"/>
                    </a:solidFill>
                    <a:effectLst/>
                    <a:uLnTx/>
                    <a:uFillTx/>
                    <a:latin typeface="+mn-ea"/>
                    <a:sym typeface="+mn-ea"/>
                  </a:rPr>
                  <a:t>服务反馈</a:t>
                </a:r>
                <a:endParaRPr lang="zh-CN" altLang="en-US" sz="1000" b="1" kern="0" noProof="0" dirty="0">
                  <a:ln>
                    <a:noFill/>
                  </a:ln>
                  <a:solidFill>
                    <a:schemeClr val="bg1"/>
                  </a:solidFill>
                  <a:effectLst/>
                  <a:uLnTx/>
                  <a:uFillTx/>
                  <a:latin typeface="+mn-ea"/>
                  <a:sym typeface="+mn-ea"/>
                </a:endParaRPr>
              </a:p>
            </p:txBody>
          </p:sp>
          <p:sp>
            <p:nvSpPr>
              <p:cNvPr id="171" name="文本框 170"/>
              <p:cNvSpPr txBox="1"/>
              <p:nvPr/>
            </p:nvSpPr>
            <p:spPr>
              <a:xfrm>
                <a:off x="3478" y="5127"/>
                <a:ext cx="1042" cy="342"/>
              </a:xfrm>
              <a:prstGeom prst="rect">
                <a:avLst/>
              </a:prstGeom>
              <a:noFill/>
            </p:spPr>
            <p:txBody>
              <a:bodyPr wrap="square" rtlCol="0">
                <a:spAutoFit/>
              </a:bodyPr>
              <a:p>
                <a:r>
                  <a:rPr lang="zh-CN" sz="1000" dirty="0">
                    <a:solidFill>
                      <a:srgbClr val="0070C0"/>
                    </a:solidFill>
                    <a:effectLst/>
                    <a:latin typeface="Helvetica" pitchFamily="2" charset="0"/>
                  </a:rPr>
                  <a:t>服务指标拉通预警</a:t>
                </a:r>
                <a:r>
                  <a:rPr lang="en-US" altLang="zh-CN" sz="1000" dirty="0">
                    <a:solidFill>
                      <a:srgbClr val="0070C0"/>
                    </a:solidFill>
                    <a:effectLst/>
                    <a:latin typeface="Helvetica" pitchFamily="2" charset="0"/>
                  </a:rPr>
                  <a:t>...</a:t>
                </a:r>
                <a:endParaRPr lang="en-US" altLang="zh-CN" sz="1000" dirty="0">
                  <a:solidFill>
                    <a:srgbClr val="0070C0"/>
                  </a:solidFill>
                  <a:effectLst/>
                  <a:latin typeface="Helvetica" pitchFamily="2" charset="0"/>
                </a:endParaRPr>
              </a:p>
            </p:txBody>
          </p:sp>
        </p:grpSp>
        <p:grpSp>
          <p:nvGrpSpPr>
            <p:cNvPr id="60" name="组合 59"/>
            <p:cNvGrpSpPr/>
            <p:nvPr/>
          </p:nvGrpSpPr>
          <p:grpSpPr>
            <a:xfrm rot="0">
              <a:off x="2061" y="4671"/>
              <a:ext cx="1087" cy="1356"/>
              <a:chOff x="3205" y="4293"/>
              <a:chExt cx="1087" cy="970"/>
            </a:xfrm>
          </p:grpSpPr>
          <p:sp>
            <p:nvSpPr>
              <p:cNvPr id="62" name="矩形 71"/>
              <p:cNvSpPr/>
              <p:nvPr/>
            </p:nvSpPr>
            <p:spPr>
              <a:xfrm>
                <a:off x="3250" y="4293"/>
                <a:ext cx="1042" cy="580"/>
              </a:xfrm>
              <a:prstGeom prst="rect">
                <a:avLst/>
              </a:prstGeom>
              <a:solidFill>
                <a:srgbClr val="0070BF"/>
              </a:solidFill>
              <a:ln w="3175" cap="flat" cmpd="sng" algn="ctr">
                <a:noFill/>
                <a:prstDash val="dash"/>
                <a:miter lim="800000"/>
              </a:ln>
              <a:effectLst/>
            </p:spPr>
            <p:txBody>
              <a:bodyPr rot="0" spcFirstLastPara="0" vertOverflow="overflow" horzOverflow="overflow" vert="horz" wrap="square" lIns="91416" tIns="45708" rIns="91416" bIns="45708" numCol="1" spcCol="0" rtlCol="0" fromWordArt="0" anchor="ctr" anchorCtr="0" forceAA="0" compatLnSpc="1">
                <a:noAutofit/>
              </a:bodyPr>
              <a:p>
                <a:pPr lvl="0" algn="ctr">
                  <a:spcBef>
                    <a:spcPts val="0"/>
                  </a:spcBef>
                  <a:spcAft>
                    <a:spcPts val="0"/>
                  </a:spcAft>
                  <a:buClrTx/>
                  <a:buSzTx/>
                  <a:buFontTx/>
                  <a:defRPr/>
                </a:pPr>
                <a:r>
                  <a:rPr lang="zh-CN" altLang="en-US" sz="1000" b="1" kern="0" noProof="0" dirty="0">
                    <a:ln>
                      <a:noFill/>
                    </a:ln>
                    <a:solidFill>
                      <a:schemeClr val="bg1"/>
                    </a:solidFill>
                    <a:effectLst/>
                    <a:uLnTx/>
                    <a:uFillTx/>
                    <a:latin typeface="+mn-ea"/>
                    <a:sym typeface="+mn-ea"/>
                  </a:rPr>
                  <a:t>运营总览</a:t>
                </a:r>
                <a:endParaRPr lang="zh-CN" altLang="en-US" sz="1000" b="1" kern="0" noProof="0" dirty="0">
                  <a:ln>
                    <a:noFill/>
                  </a:ln>
                  <a:solidFill>
                    <a:schemeClr val="bg1"/>
                  </a:solidFill>
                  <a:effectLst/>
                  <a:uLnTx/>
                  <a:uFillTx/>
                  <a:latin typeface="+mn-ea"/>
                  <a:sym typeface="+mn-ea"/>
                </a:endParaRPr>
              </a:p>
            </p:txBody>
          </p:sp>
          <p:sp>
            <p:nvSpPr>
              <p:cNvPr id="63" name="文本框 62"/>
              <p:cNvSpPr txBox="1"/>
              <p:nvPr/>
            </p:nvSpPr>
            <p:spPr>
              <a:xfrm>
                <a:off x="3205" y="4893"/>
                <a:ext cx="1042" cy="370"/>
              </a:xfrm>
              <a:prstGeom prst="rect">
                <a:avLst/>
              </a:prstGeom>
              <a:noFill/>
            </p:spPr>
            <p:txBody>
              <a:bodyPr wrap="square" rtlCol="0">
                <a:spAutoFit/>
              </a:bodyPr>
              <a:p>
                <a:r>
                  <a:rPr lang="zh-CN" altLang="en-US" sz="1000" dirty="0">
                    <a:solidFill>
                      <a:srgbClr val="0070C0"/>
                    </a:solidFill>
                    <a:effectLst/>
                    <a:latin typeface="Helvetica" pitchFamily="2" charset="0"/>
                  </a:rPr>
                  <a:t>收入、经营发展重要指标</a:t>
                </a:r>
                <a:r>
                  <a:rPr lang="en-US" altLang="zh-CN" sz="1000" dirty="0">
                    <a:solidFill>
                      <a:srgbClr val="0070C0"/>
                    </a:solidFill>
                    <a:effectLst/>
                    <a:latin typeface="Helvetica" pitchFamily="2" charset="0"/>
                  </a:rPr>
                  <a:t>...</a:t>
                </a:r>
                <a:endParaRPr lang="en-US" altLang="zh-CN" sz="1000" dirty="0">
                  <a:solidFill>
                    <a:srgbClr val="0070C0"/>
                  </a:solidFill>
                  <a:effectLst/>
                  <a:latin typeface="Helvetica" pitchFamily="2" charset="0"/>
                </a:endParaRPr>
              </a:p>
            </p:txBody>
          </p:sp>
        </p:grpSp>
      </p:grpSp>
      <p:sp>
        <p:nvSpPr>
          <p:cNvPr id="66" name="圆角矩形 65"/>
          <p:cNvSpPr/>
          <p:nvPr>
            <p:custDataLst>
              <p:tags r:id="rId29"/>
            </p:custDataLst>
          </p:nvPr>
        </p:nvSpPr>
        <p:spPr>
          <a:xfrm>
            <a:off x="448945" y="2546985"/>
            <a:ext cx="7501890" cy="1628775"/>
          </a:xfrm>
          <a:prstGeom prst="roundRect">
            <a:avLst>
              <a:gd name="adj" fmla="val 0"/>
            </a:avLst>
          </a:prstGeom>
          <a:noFill/>
          <a:ln w="12700" cap="sq" cmpd="sng" algn="ctr">
            <a:gradFill>
              <a:gsLst>
                <a:gs pos="100000">
                  <a:schemeClr val="accent1">
                    <a:lumMod val="5000"/>
                    <a:lumOff val="95000"/>
                  </a:schemeClr>
                </a:gs>
                <a:gs pos="2000">
                  <a:schemeClr val="bg1">
                    <a:lumMod val="85000"/>
                  </a:schemeClr>
                </a:gs>
              </a:gsLst>
              <a:lin ang="5400000" scaled="1"/>
            </a:gradFill>
            <a:prstDash val="solid"/>
          </a:ln>
          <a:effectLst/>
        </p:spPr>
        <p:txBody>
          <a:bodyPr rot="0" spcFirstLastPara="0" vert="horz" wrap="square" lIns="0" tIns="0" rIns="0" bIns="0" numCol="1" spcCol="0" rtlCol="0" fromWordArt="0" anchor="t" anchorCtr="0" forceAA="0" compatLnSpc="0">
            <a:noAutofit/>
          </a:bodyPr>
          <a:p>
            <a:pPr lvl="0" algn="ctr">
              <a:lnSpc>
                <a:spcPct val="150000"/>
              </a:lnSpc>
              <a:spcAft>
                <a:spcPts val="300"/>
              </a:spcAft>
              <a:buClrTx/>
              <a:buSzTx/>
              <a:buFontTx/>
            </a:pPr>
            <a:endParaRPr lang="zh-CN" altLang="en-US" sz="1335" b="1" kern="0"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sym typeface="+mn-ea"/>
              </a:rPr>
              <a:t> </a:t>
            </a: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路径图|</a:t>
            </a:r>
            <a:r>
              <a:rPr lang="zh-CN" altLang="en-US">
                <a:sym typeface="+mn-ea"/>
              </a:rPr>
              <a:t>建立保障机制</a:t>
            </a:r>
            <a:endParaRPr lang="zh-CN" altLang="en-US">
              <a:sym typeface="+mn-ea"/>
            </a:endParaRPr>
          </a:p>
        </p:txBody>
      </p:sp>
      <p:sp>
        <p:nvSpPr>
          <p:cNvPr id="126" name="文本占位符 125"/>
          <p:cNvSpPr>
            <a:spLocks noGrp="1"/>
          </p:cNvSpPr>
          <p:nvPr>
            <p:ph type="body" sz="quarter" idx="10"/>
          </p:nvPr>
        </p:nvSpPr>
        <p:spPr>
          <a:xfrm>
            <a:off x="0" y="931545"/>
            <a:ext cx="12178665" cy="403860"/>
          </a:xfrm>
        </p:spPr>
        <p:txBody>
          <a:bodyPr/>
          <a:lstStyle/>
          <a:p>
            <a:pPr>
              <a:lnSpc>
                <a:spcPct val="100000"/>
              </a:lnSpc>
            </a:pPr>
            <a:r>
              <a:rPr>
                <a:sym typeface="+mn-ea"/>
              </a:rPr>
              <a:t>协同业务部门，建立</a:t>
            </a:r>
            <a:r>
              <a:rPr>
                <a:solidFill>
                  <a:srgbClr val="C00000">
                    <a:alpha val="100000"/>
                  </a:srgbClr>
                </a:solidFill>
                <a:sym typeface="+mn-ea"/>
              </a:rPr>
              <a:t>多级转型保障机制</a:t>
            </a:r>
            <a:r>
              <a:rPr>
                <a:sym typeface="+mn-ea"/>
              </a:rPr>
              <a:t>，重点</a:t>
            </a:r>
            <a:r>
              <a:rPr>
                <a:solidFill>
                  <a:srgbClr val="C00000">
                    <a:alpha val="100000"/>
                  </a:srgbClr>
                </a:solidFill>
                <a:sym typeface="+mn-ea"/>
              </a:rPr>
              <a:t>纵向打通</a:t>
            </a:r>
            <a:r>
              <a:rPr lang="en-US" altLang="zh-CN">
                <a:solidFill>
                  <a:srgbClr val="C00000">
                    <a:alpha val="100000"/>
                  </a:srgbClr>
                </a:solidFill>
                <a:sym typeface="+mn-ea"/>
              </a:rPr>
              <a:t>1</a:t>
            </a:r>
            <a:r>
              <a:rPr>
                <a:solidFill>
                  <a:srgbClr val="C00000">
                    <a:alpha val="100000"/>
                  </a:srgbClr>
                </a:solidFill>
                <a:sym typeface="+mn-ea"/>
              </a:rPr>
              <a:t>个集</a:t>
            </a:r>
            <a:r>
              <a:rPr lang="en-US" altLang="zh-CN">
                <a:solidFill>
                  <a:srgbClr val="C00000">
                    <a:alpha val="100000"/>
                  </a:srgbClr>
                </a:solidFill>
                <a:sym typeface="+mn-ea"/>
              </a:rPr>
              <a:t>-</a:t>
            </a:r>
            <a:r>
              <a:rPr>
                <a:solidFill>
                  <a:srgbClr val="C00000">
                    <a:alpha val="100000"/>
                  </a:srgbClr>
                </a:solidFill>
                <a:sym typeface="+mn-ea"/>
              </a:rPr>
              <a:t>省</a:t>
            </a:r>
            <a:r>
              <a:rPr lang="en-US" altLang="zh-CN">
                <a:solidFill>
                  <a:srgbClr val="C00000">
                    <a:alpha val="100000"/>
                  </a:srgbClr>
                </a:solidFill>
                <a:sym typeface="+mn-ea"/>
              </a:rPr>
              <a:t>-</a:t>
            </a:r>
            <a:r>
              <a:rPr>
                <a:solidFill>
                  <a:srgbClr val="C00000">
                    <a:alpha val="100000"/>
                  </a:srgbClr>
                </a:solidFill>
                <a:sym typeface="+mn-ea"/>
              </a:rPr>
              <a:t>专</a:t>
            </a:r>
            <a:r>
              <a:rPr lang="en-US" altLang="zh-CN">
                <a:solidFill>
                  <a:srgbClr val="C00000">
                    <a:alpha val="100000"/>
                  </a:srgbClr>
                </a:solidFill>
                <a:sym typeface="+mn-ea"/>
              </a:rPr>
              <a:t>-</a:t>
            </a:r>
            <a:r>
              <a:rPr>
                <a:solidFill>
                  <a:srgbClr val="C00000">
                    <a:alpha val="100000"/>
                  </a:srgbClr>
                </a:solidFill>
                <a:sym typeface="+mn-ea"/>
              </a:rPr>
              <a:t>市</a:t>
            </a:r>
            <a:r>
              <a:rPr lang="en-US" altLang="zh-CN">
                <a:solidFill>
                  <a:srgbClr val="C00000">
                    <a:alpha val="100000"/>
                  </a:srgbClr>
                </a:solidFill>
                <a:sym typeface="+mn-ea"/>
              </a:rPr>
              <a:t>-</a:t>
            </a:r>
            <a:r>
              <a:rPr>
                <a:solidFill>
                  <a:srgbClr val="C00000">
                    <a:alpha val="100000"/>
                  </a:srgbClr>
                </a:solidFill>
                <a:sym typeface="+mn-ea"/>
              </a:rPr>
              <a:t>县</a:t>
            </a:r>
            <a:r>
              <a:rPr lang="en-US" altLang="zh-CN">
                <a:solidFill>
                  <a:srgbClr val="C00000">
                    <a:alpha val="100000"/>
                  </a:srgbClr>
                </a:solidFill>
                <a:sym typeface="+mn-ea"/>
              </a:rPr>
              <a:t>-</a:t>
            </a:r>
            <a:r>
              <a:rPr>
                <a:solidFill>
                  <a:srgbClr val="C00000">
                    <a:alpha val="100000"/>
                  </a:srgbClr>
                </a:solidFill>
                <a:sym typeface="+mn-ea"/>
              </a:rPr>
              <a:t>格专职运营专职团队</a:t>
            </a:r>
            <a:r>
              <a:rPr>
                <a:sym typeface="+mn-ea"/>
              </a:rPr>
              <a:t>，</a:t>
            </a:r>
            <a:r>
              <a:rPr>
                <a:solidFill>
                  <a:srgbClr val="C00000">
                    <a:alpha val="100000"/>
                  </a:srgbClr>
                </a:solidFill>
                <a:sym typeface="+mn-ea"/>
              </a:rPr>
              <a:t>横向拉通</a:t>
            </a:r>
            <a:r>
              <a:rPr lang="en-US" altLang="zh-CN">
                <a:solidFill>
                  <a:srgbClr val="C00000">
                    <a:alpha val="100000"/>
                  </a:srgbClr>
                </a:solidFill>
                <a:sym typeface="+mn-ea"/>
              </a:rPr>
              <a:t>N</a:t>
            </a:r>
            <a:r>
              <a:rPr>
                <a:solidFill>
                  <a:srgbClr val="C00000">
                    <a:alpha val="100000"/>
                  </a:srgbClr>
                </a:solidFill>
                <a:sym typeface="+mn-ea"/>
              </a:rPr>
              <a:t>个业务与IT虚拟联合团队</a:t>
            </a:r>
            <a:r>
              <a:rPr>
                <a:sym typeface="+mn-ea"/>
              </a:rPr>
              <a:t>，构建</a:t>
            </a:r>
            <a:r>
              <a:rPr lang="en-US" altLang="zh-CN">
                <a:solidFill>
                  <a:srgbClr val="C00000">
                    <a:alpha val="100000"/>
                  </a:srgbClr>
                </a:solidFill>
                <a:sym typeface="+mn-ea"/>
              </a:rPr>
              <a:t>1</a:t>
            </a:r>
            <a:r>
              <a:rPr>
                <a:solidFill>
                  <a:srgbClr val="C00000">
                    <a:alpha val="100000"/>
                  </a:srgbClr>
                </a:solidFill>
                <a:sym typeface="+mn-ea"/>
              </a:rPr>
              <a:t>套考核评价机制</a:t>
            </a:r>
            <a:r>
              <a:rPr>
                <a:sym typeface="+mn-ea"/>
              </a:rPr>
              <a:t>，确保转型工作高效落地。</a:t>
            </a:r>
            <a:endParaRPr lang="zh-CN" altLang="en-US" dirty="0"/>
          </a:p>
        </p:txBody>
      </p:sp>
      <p:grpSp>
        <p:nvGrpSpPr>
          <p:cNvPr id="4" name="组合 3"/>
          <p:cNvGrpSpPr/>
          <p:nvPr/>
        </p:nvGrpSpPr>
        <p:grpSpPr>
          <a:xfrm>
            <a:off x="318135" y="1620520"/>
            <a:ext cx="3796665" cy="3248660"/>
            <a:chOff x="436" y="2747"/>
            <a:chExt cx="5979" cy="5116"/>
          </a:xfrm>
        </p:grpSpPr>
        <p:sp>
          <p:nvSpPr>
            <p:cNvPr id="105" name="圆角矩形 104"/>
            <p:cNvSpPr/>
            <p:nvPr/>
          </p:nvSpPr>
          <p:spPr>
            <a:xfrm>
              <a:off x="436" y="3022"/>
              <a:ext cx="5979" cy="4841"/>
            </a:xfrm>
            <a:prstGeom prst="roundRect">
              <a:avLst>
                <a:gd name="adj" fmla="val 3057"/>
              </a:avLst>
            </a:prstGeom>
            <a:gradFill>
              <a:gsLst>
                <a:gs pos="25000">
                  <a:schemeClr val="bg1"/>
                </a:gs>
                <a:gs pos="100000">
                  <a:schemeClr val="bg1">
                    <a:alpha val="0"/>
                  </a:schemeClr>
                </a:gs>
              </a:gsLst>
              <a:lin ang="5400000" scaled="0"/>
            </a:gradFill>
            <a:ln>
              <a:gradFill>
                <a:gsLst>
                  <a:gs pos="100000">
                    <a:schemeClr val="accent1">
                      <a:alpha val="0"/>
                    </a:schemeClr>
                  </a:gs>
                  <a:gs pos="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文本框 113"/>
            <p:cNvSpPr txBox="1"/>
            <p:nvPr/>
          </p:nvSpPr>
          <p:spPr>
            <a:xfrm>
              <a:off x="801" y="3575"/>
              <a:ext cx="5547" cy="725"/>
            </a:xfrm>
            <a:prstGeom prst="rect">
              <a:avLst/>
            </a:prstGeom>
            <a:noFill/>
          </p:spPr>
          <p:txBody>
            <a:bodyPr wrap="square" rtlCol="0">
              <a:spAutoFit/>
            </a:bodyPr>
            <a:p>
              <a:pPr algn="ctr"/>
              <a:r>
                <a:rPr lang="zh-CN" altLang="en-US" sz="1200" b="1">
                  <a:solidFill>
                    <a:srgbClr val="C00000"/>
                  </a:solidFill>
                  <a:latin typeface="微软雅黑" panose="020B0503020204020204" pitchFamily="34" charset="-122"/>
                  <a:ea typeface="微软雅黑" panose="020B0503020204020204" pitchFamily="34" charset="-122"/>
                </a:rPr>
                <a:t>纵向</a:t>
              </a:r>
              <a:r>
                <a:rPr lang="zh-CN" altLang="en-US" sz="1200" b="1">
                  <a:latin typeface="微软雅黑" panose="020B0503020204020204" pitchFamily="34" charset="-122"/>
                  <a:ea typeface="微软雅黑" panose="020B0503020204020204" pitchFamily="34" charset="-122"/>
                </a:rPr>
                <a:t>拉通</a:t>
              </a:r>
              <a:r>
                <a:rPr lang="en-US" altLang="zh-CN" sz="1200" b="1">
                  <a:latin typeface="微软雅黑" panose="020B0503020204020204" pitchFamily="34" charset="-122"/>
                  <a:ea typeface="微软雅黑" panose="020B0503020204020204" pitchFamily="34" charset="-122"/>
                </a:rPr>
                <a:t> </a:t>
              </a:r>
              <a:r>
                <a:rPr lang="zh-CN" altLang="en-US" sz="1200" b="1">
                  <a:solidFill>
                    <a:srgbClr val="C00000"/>
                  </a:solidFill>
                  <a:latin typeface="微软雅黑" panose="020B0503020204020204" pitchFamily="34" charset="-122"/>
                  <a:ea typeface="微软雅黑" panose="020B0503020204020204" pitchFamily="34" charset="-122"/>
                </a:rPr>
                <a:t>集</a:t>
              </a:r>
              <a:r>
                <a:rPr lang="en-US" altLang="zh-CN" sz="1200" b="1">
                  <a:solidFill>
                    <a:srgbClr val="C00000"/>
                  </a:solidFill>
                  <a:latin typeface="微软雅黑" panose="020B0503020204020204" pitchFamily="34" charset="-122"/>
                  <a:ea typeface="微软雅黑" panose="020B0503020204020204" pitchFamily="34" charset="-122"/>
                </a:rPr>
                <a:t>-</a:t>
              </a:r>
              <a:r>
                <a:rPr lang="zh-CN" altLang="en-US" sz="1200" b="1">
                  <a:solidFill>
                    <a:srgbClr val="C00000"/>
                  </a:solidFill>
                  <a:latin typeface="微软雅黑" panose="020B0503020204020204" pitchFamily="34" charset="-122"/>
                  <a:ea typeface="微软雅黑" panose="020B0503020204020204" pitchFamily="34" charset="-122"/>
                </a:rPr>
                <a:t>省</a:t>
              </a:r>
              <a:r>
                <a:rPr lang="en-US" altLang="zh-CN" sz="1200" b="1">
                  <a:solidFill>
                    <a:srgbClr val="C00000"/>
                  </a:solidFill>
                  <a:latin typeface="微软雅黑" panose="020B0503020204020204" pitchFamily="34" charset="-122"/>
                  <a:ea typeface="微软雅黑" panose="020B0503020204020204" pitchFamily="34" charset="-122"/>
                </a:rPr>
                <a:t>-</a:t>
              </a:r>
              <a:r>
                <a:rPr lang="zh-CN" altLang="en-US" sz="1200" b="1">
                  <a:solidFill>
                    <a:srgbClr val="C00000"/>
                  </a:solidFill>
                  <a:latin typeface="微软雅黑" panose="020B0503020204020204" pitchFamily="34" charset="-122"/>
                  <a:ea typeface="微软雅黑" panose="020B0503020204020204" pitchFamily="34" charset="-122"/>
                </a:rPr>
                <a:t>专</a:t>
              </a:r>
              <a:r>
                <a:rPr lang="en-US" altLang="zh-CN" sz="1200" b="1">
                  <a:solidFill>
                    <a:srgbClr val="C00000"/>
                  </a:solidFill>
                  <a:latin typeface="微软雅黑" panose="020B0503020204020204" pitchFamily="34" charset="-122"/>
                  <a:ea typeface="微软雅黑" panose="020B0503020204020204" pitchFamily="34" charset="-122"/>
                </a:rPr>
                <a:t>-</a:t>
              </a:r>
              <a:r>
                <a:rPr lang="zh-CN" altLang="en-US" sz="1200" b="1">
                  <a:solidFill>
                    <a:srgbClr val="C00000"/>
                  </a:solidFill>
                  <a:latin typeface="微软雅黑" panose="020B0503020204020204" pitchFamily="34" charset="-122"/>
                  <a:ea typeface="微软雅黑" panose="020B0503020204020204" pitchFamily="34" charset="-122"/>
                </a:rPr>
                <a:t>市</a:t>
              </a:r>
              <a:r>
                <a:rPr lang="en-US" altLang="zh-CN" sz="1200" b="1">
                  <a:solidFill>
                    <a:srgbClr val="C00000"/>
                  </a:solidFill>
                  <a:latin typeface="微软雅黑" panose="020B0503020204020204" pitchFamily="34" charset="-122"/>
                  <a:ea typeface="微软雅黑" panose="020B0503020204020204" pitchFamily="34" charset="-122"/>
                </a:rPr>
                <a:t>-</a:t>
              </a:r>
              <a:r>
                <a:rPr lang="zh-CN" altLang="en-US" sz="1200" b="1">
                  <a:solidFill>
                    <a:srgbClr val="C00000"/>
                  </a:solidFill>
                  <a:latin typeface="微软雅黑" panose="020B0503020204020204" pitchFamily="34" charset="-122"/>
                  <a:ea typeface="微软雅黑" panose="020B0503020204020204" pitchFamily="34" charset="-122"/>
                </a:rPr>
                <a:t>县</a:t>
              </a:r>
              <a:r>
                <a:rPr lang="en-US" altLang="zh-CN" sz="1200" b="1">
                  <a:solidFill>
                    <a:srgbClr val="C00000"/>
                  </a:solidFill>
                  <a:latin typeface="微软雅黑" panose="020B0503020204020204" pitchFamily="34" charset="-122"/>
                  <a:ea typeface="微软雅黑" panose="020B0503020204020204" pitchFamily="34" charset="-122"/>
                </a:rPr>
                <a:t>-</a:t>
              </a:r>
              <a:r>
                <a:rPr lang="zh-CN" altLang="en-US" sz="1200" b="1">
                  <a:solidFill>
                    <a:srgbClr val="C00000"/>
                  </a:solidFill>
                  <a:latin typeface="微软雅黑" panose="020B0503020204020204" pitchFamily="34" charset="-122"/>
                  <a:ea typeface="微软雅黑" panose="020B0503020204020204" pitchFamily="34" charset="-122"/>
                </a:rPr>
                <a:t>格</a:t>
              </a:r>
              <a:r>
                <a:rPr lang="en-US" altLang="zh-CN" sz="1200" b="1">
                  <a:solidFill>
                    <a:srgbClr val="C00000"/>
                  </a:solidFill>
                  <a:latin typeface="微软雅黑" panose="020B0503020204020204" pitchFamily="34" charset="-122"/>
                  <a:ea typeface="微软雅黑" panose="020B0503020204020204" pitchFamily="34" charset="-122"/>
                </a:rPr>
                <a:t> </a:t>
              </a:r>
              <a:r>
                <a:rPr lang="zh-CN" altLang="en-US" sz="1200" b="1">
                  <a:solidFill>
                    <a:srgbClr val="C00000"/>
                  </a:solidFill>
                  <a:latin typeface="微软雅黑" panose="020B0503020204020204" pitchFamily="34" charset="-122"/>
                  <a:ea typeface="微软雅黑" panose="020B0503020204020204" pitchFamily="34" charset="-122"/>
                </a:rPr>
                <a:t>市场运营</a:t>
              </a:r>
              <a:r>
                <a:rPr lang="zh-CN" altLang="en-US" sz="1200" b="1">
                  <a:latin typeface="微软雅黑" panose="020B0503020204020204" pitchFamily="34" charset="-122"/>
                  <a:ea typeface="微软雅黑" panose="020B0503020204020204" pitchFamily="34" charset="-122"/>
                </a:rPr>
                <a:t>人员，</a:t>
              </a:r>
              <a:endParaRPr lang="zh-CN" altLang="en-US" sz="1200" b="1">
                <a:latin typeface="微软雅黑" panose="020B0503020204020204" pitchFamily="34" charset="-122"/>
                <a:ea typeface="微软雅黑" panose="020B0503020204020204" pitchFamily="34" charset="-122"/>
              </a:endParaRPr>
            </a:p>
            <a:p>
              <a:pPr algn="ctr"/>
              <a:r>
                <a:rPr lang="zh-CN" altLang="en-US" sz="1200" b="1">
                  <a:latin typeface="微软雅黑" panose="020B0503020204020204" pitchFamily="34" charset="-122"/>
                  <a:ea typeface="微软雅黑" panose="020B0503020204020204" pitchFamily="34" charset="-122"/>
                </a:rPr>
                <a:t>组建</a:t>
              </a:r>
              <a:r>
                <a:rPr lang="zh-CN" altLang="en-US" sz="1200" b="1">
                  <a:solidFill>
                    <a:schemeClr val="tx1"/>
                  </a:solidFill>
                  <a:latin typeface="微软雅黑" panose="020B0503020204020204" pitchFamily="34" charset="-122"/>
                  <a:ea typeface="微软雅黑" panose="020B0503020204020204" pitchFamily="34" charset="-122"/>
                </a:rPr>
                <a:t>专职运营团队</a:t>
              </a:r>
              <a:endParaRPr lang="zh-CN" altLang="en-US" sz="1200" b="1">
                <a:solidFill>
                  <a:schemeClr val="tx1"/>
                </a:solidFill>
                <a:latin typeface="微软雅黑" panose="020B0503020204020204" pitchFamily="34" charset="-122"/>
                <a:ea typeface="微软雅黑" panose="020B0503020204020204" pitchFamily="34" charset="-122"/>
              </a:endParaRPr>
            </a:p>
          </p:txBody>
        </p:sp>
        <p:sp>
          <p:nvSpPr>
            <p:cNvPr id="22" name="Rectangle 2"/>
            <p:cNvSpPr/>
            <p:nvPr/>
          </p:nvSpPr>
          <p:spPr>
            <a:xfrm>
              <a:off x="876" y="2747"/>
              <a:ext cx="5046" cy="739"/>
            </a:xfrm>
            <a:prstGeom prst="roundRect">
              <a:avLst/>
            </a:prstGeom>
            <a:gradFill>
              <a:gsLst>
                <a:gs pos="100000">
                  <a:schemeClr val="accent1">
                    <a:lumMod val="60000"/>
                    <a:lumOff val="40000"/>
                  </a:schemeClr>
                </a:gs>
                <a:gs pos="2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个专职运营团队</a:t>
              </a:r>
              <a:endParaRPr lang="zh-CN"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42" name="组合 41"/>
          <p:cNvGrpSpPr/>
          <p:nvPr/>
        </p:nvGrpSpPr>
        <p:grpSpPr>
          <a:xfrm>
            <a:off x="506095" y="2650490"/>
            <a:ext cx="3436620" cy="2705100"/>
            <a:chOff x="1460" y="4655"/>
            <a:chExt cx="5412" cy="4260"/>
          </a:xfrm>
        </p:grpSpPr>
        <p:sp>
          <p:nvSpPr>
            <p:cNvPr id="28" name="矩形 27"/>
            <p:cNvSpPr/>
            <p:nvPr/>
          </p:nvSpPr>
          <p:spPr>
            <a:xfrm>
              <a:off x="1460" y="4655"/>
              <a:ext cx="5412" cy="620"/>
            </a:xfrm>
            <a:prstGeom prst="rect">
              <a:avLst/>
            </a:prstGeom>
            <a:solidFill>
              <a:srgbClr val="D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定目标：</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运营目标制定及拆解，业务指标整体监控</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矩形 31"/>
            <p:cNvSpPr/>
            <p:nvPr/>
          </p:nvSpPr>
          <p:spPr>
            <a:xfrm>
              <a:off x="1460" y="5383"/>
              <a:ext cx="5412" cy="620"/>
            </a:xfrm>
            <a:prstGeom prst="rect">
              <a:avLst/>
            </a:prstGeom>
            <a:solidFill>
              <a:srgbClr val="D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省调度：</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省级运营目标制定及拆解，省内业务运营</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指标监控，省内运营工作调度与落实</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矩形 32"/>
            <p:cNvSpPr/>
            <p:nvPr/>
          </p:nvSpPr>
          <p:spPr>
            <a:xfrm>
              <a:off x="1460" y="6111"/>
              <a:ext cx="5412" cy="620"/>
            </a:xfrm>
            <a:prstGeom prst="rect">
              <a:avLst/>
            </a:prstGeom>
            <a:solidFill>
              <a:srgbClr val="D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供产品：</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提供运营需要的产品、数据等要素，全量</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产品纳入一级产品原子库，便于分省封装调度</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矩形 33"/>
            <p:cNvSpPr/>
            <p:nvPr/>
          </p:nvSpPr>
          <p:spPr>
            <a:xfrm>
              <a:off x="1460" y="6839"/>
              <a:ext cx="5412" cy="620"/>
            </a:xfrm>
            <a:prstGeom prst="rect">
              <a:avLst/>
            </a:prstGeom>
            <a:solidFill>
              <a:srgbClr val="D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重战训：</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做好运营工作本地市的承接，做好一线战训工作部署</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矩形 34"/>
            <p:cNvSpPr/>
            <p:nvPr/>
          </p:nvSpPr>
          <p:spPr>
            <a:xfrm>
              <a:off x="1460" y="7567"/>
              <a:ext cx="5412" cy="620"/>
            </a:xfrm>
            <a:prstGeom prst="rect">
              <a:avLst/>
            </a:prstGeom>
            <a:solidFill>
              <a:srgbClr val="D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稳支撑：</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做好工单转派和重点客情维系，支撑一线工作执行落地</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矩形 35"/>
            <p:cNvSpPr/>
            <p:nvPr/>
          </p:nvSpPr>
          <p:spPr>
            <a:xfrm>
              <a:off x="1460" y="8295"/>
              <a:ext cx="5412" cy="620"/>
            </a:xfrm>
            <a:prstGeom prst="rect">
              <a:avLst/>
            </a:prstGeom>
            <a:solidFill>
              <a:srgbClr val="D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强执行：</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执行运营任务，反馈结果，强化客户维系</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a:off x="1599" y="4700"/>
              <a:ext cx="535" cy="4173"/>
              <a:chOff x="1599" y="4089"/>
              <a:chExt cx="700" cy="4282"/>
            </a:xfrm>
          </p:grpSpPr>
          <p:sp>
            <p:nvSpPr>
              <p:cNvPr id="5" name="椭圆 4"/>
              <p:cNvSpPr/>
              <p:nvPr/>
            </p:nvSpPr>
            <p:spPr>
              <a:xfrm>
                <a:off x="1599" y="4089"/>
                <a:ext cx="700" cy="577"/>
              </a:xfrm>
              <a:prstGeom prst="ellipse">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accent1"/>
                    </a:solidFill>
                  </a:rPr>
                  <a:t>集</a:t>
                </a:r>
                <a:endParaRPr lang="zh-CN" altLang="en-US" sz="1200" b="1">
                  <a:solidFill>
                    <a:schemeClr val="accent1"/>
                  </a:solidFill>
                </a:endParaRPr>
              </a:p>
            </p:txBody>
          </p:sp>
          <p:sp>
            <p:nvSpPr>
              <p:cNvPr id="18" name="椭圆 17"/>
              <p:cNvSpPr/>
              <p:nvPr/>
            </p:nvSpPr>
            <p:spPr>
              <a:xfrm>
                <a:off x="1599" y="4814"/>
                <a:ext cx="700" cy="577"/>
              </a:xfrm>
              <a:prstGeom prst="ellipse">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accent1"/>
                    </a:solidFill>
                  </a:rPr>
                  <a:t>省</a:t>
                </a:r>
                <a:endParaRPr lang="zh-CN" altLang="en-US" sz="1200" b="1">
                  <a:solidFill>
                    <a:schemeClr val="accent1"/>
                  </a:solidFill>
                </a:endParaRPr>
              </a:p>
            </p:txBody>
          </p:sp>
          <p:sp>
            <p:nvSpPr>
              <p:cNvPr id="21" name="椭圆 20"/>
              <p:cNvSpPr/>
              <p:nvPr/>
            </p:nvSpPr>
            <p:spPr>
              <a:xfrm>
                <a:off x="1599" y="6341"/>
                <a:ext cx="700" cy="577"/>
              </a:xfrm>
              <a:prstGeom prst="ellipse">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accent1"/>
                    </a:solidFill>
                  </a:rPr>
                  <a:t>市</a:t>
                </a:r>
                <a:endParaRPr lang="zh-CN" altLang="en-US" sz="1200" b="1">
                  <a:solidFill>
                    <a:schemeClr val="accent1"/>
                  </a:solidFill>
                </a:endParaRPr>
              </a:p>
            </p:txBody>
          </p:sp>
          <p:sp>
            <p:nvSpPr>
              <p:cNvPr id="24" name="椭圆 23"/>
              <p:cNvSpPr/>
              <p:nvPr/>
            </p:nvSpPr>
            <p:spPr>
              <a:xfrm>
                <a:off x="1599" y="7795"/>
                <a:ext cx="700" cy="577"/>
              </a:xfrm>
              <a:prstGeom prst="ellipse">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accent1"/>
                    </a:solidFill>
                  </a:rPr>
                  <a:t>格</a:t>
                </a:r>
                <a:endParaRPr lang="zh-CN" altLang="en-US" sz="1200" b="1">
                  <a:solidFill>
                    <a:schemeClr val="accent1"/>
                  </a:solidFill>
                </a:endParaRPr>
              </a:p>
            </p:txBody>
          </p:sp>
          <p:sp>
            <p:nvSpPr>
              <p:cNvPr id="25" name="椭圆 24"/>
              <p:cNvSpPr/>
              <p:nvPr/>
            </p:nvSpPr>
            <p:spPr>
              <a:xfrm>
                <a:off x="1599" y="5570"/>
                <a:ext cx="700" cy="577"/>
              </a:xfrm>
              <a:prstGeom prst="ellipse">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accent1"/>
                    </a:solidFill>
                  </a:rPr>
                  <a:t>专</a:t>
                </a:r>
                <a:endParaRPr lang="zh-CN" altLang="en-US" sz="1200" b="1">
                  <a:solidFill>
                    <a:schemeClr val="accent1"/>
                  </a:solidFill>
                </a:endParaRPr>
              </a:p>
            </p:txBody>
          </p:sp>
          <p:sp>
            <p:nvSpPr>
              <p:cNvPr id="26" name="椭圆 25"/>
              <p:cNvSpPr/>
              <p:nvPr/>
            </p:nvSpPr>
            <p:spPr>
              <a:xfrm>
                <a:off x="1599" y="7068"/>
                <a:ext cx="700" cy="577"/>
              </a:xfrm>
              <a:prstGeom prst="ellipse">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accent1"/>
                    </a:solidFill>
                  </a:rPr>
                  <a:t>县</a:t>
                </a:r>
                <a:endParaRPr lang="zh-CN" altLang="en-US" sz="1200" b="1">
                  <a:solidFill>
                    <a:schemeClr val="accent1"/>
                  </a:solidFill>
                </a:endParaRPr>
              </a:p>
            </p:txBody>
          </p:sp>
        </p:grpSp>
      </p:grpSp>
      <p:sp>
        <p:nvSpPr>
          <p:cNvPr id="44" name="加号 43"/>
          <p:cNvSpPr/>
          <p:nvPr/>
        </p:nvSpPr>
        <p:spPr>
          <a:xfrm>
            <a:off x="4179570" y="1569720"/>
            <a:ext cx="392430" cy="392430"/>
          </a:xfrm>
          <a:prstGeom prst="mathPlus">
            <a:avLst/>
          </a:prstGeom>
          <a:solidFill>
            <a:srgbClr val="00B0F0"/>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45" name="组合 44"/>
          <p:cNvGrpSpPr/>
          <p:nvPr/>
        </p:nvGrpSpPr>
        <p:grpSpPr>
          <a:xfrm>
            <a:off x="4639310" y="1612265"/>
            <a:ext cx="3796665" cy="3735070"/>
            <a:chOff x="436" y="2747"/>
            <a:chExt cx="5979" cy="5882"/>
          </a:xfrm>
        </p:grpSpPr>
        <p:sp>
          <p:nvSpPr>
            <p:cNvPr id="46" name="圆角矩形 45"/>
            <p:cNvSpPr/>
            <p:nvPr/>
          </p:nvSpPr>
          <p:spPr>
            <a:xfrm>
              <a:off x="436" y="3022"/>
              <a:ext cx="5979" cy="5607"/>
            </a:xfrm>
            <a:prstGeom prst="roundRect">
              <a:avLst>
                <a:gd name="adj" fmla="val 3057"/>
              </a:avLst>
            </a:prstGeom>
            <a:gradFill>
              <a:gsLst>
                <a:gs pos="25000">
                  <a:schemeClr val="bg1"/>
                </a:gs>
                <a:gs pos="100000">
                  <a:schemeClr val="bg1">
                    <a:alpha val="0"/>
                  </a:schemeClr>
                </a:gs>
              </a:gsLst>
              <a:lin ang="5400000" scaled="0"/>
            </a:gradFill>
            <a:ln>
              <a:gradFill>
                <a:gsLst>
                  <a:gs pos="100000">
                    <a:schemeClr val="accent1">
                      <a:alpha val="0"/>
                    </a:schemeClr>
                  </a:gs>
                  <a:gs pos="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 name="文本框 48"/>
            <p:cNvSpPr txBox="1"/>
            <p:nvPr/>
          </p:nvSpPr>
          <p:spPr>
            <a:xfrm>
              <a:off x="801" y="3575"/>
              <a:ext cx="5547" cy="933"/>
            </a:xfrm>
            <a:prstGeom prst="rect">
              <a:avLst/>
            </a:prstGeom>
            <a:noFill/>
          </p:spPr>
          <p:txBody>
            <a:bodyPr wrap="square" rtlCol="0">
              <a:noAutofit/>
            </a:bodyPr>
            <a:p>
              <a:pPr indent="0" algn="ctr" fontAlgn="auto">
                <a:lnSpc>
                  <a:spcPct val="120000"/>
                </a:lnSpc>
              </a:pPr>
              <a:r>
                <a:rPr lang="zh-CN" altLang="en-US" sz="1200" b="1">
                  <a:solidFill>
                    <a:srgbClr val="C00000"/>
                  </a:solidFill>
                  <a:latin typeface="微软雅黑" panose="020B0503020204020204" pitchFamily="34" charset="-122"/>
                  <a:ea typeface="微软雅黑" panose="020B0503020204020204" pitchFamily="34" charset="-122"/>
                </a:rPr>
                <a:t>横向</a:t>
              </a:r>
              <a:r>
                <a:rPr lang="zh-CN" altLang="en-US" sz="1200" b="1">
                  <a:latin typeface="微软雅黑" panose="020B0503020204020204" pitchFamily="34" charset="-122"/>
                  <a:ea typeface="微软雅黑" panose="020B0503020204020204" pitchFamily="34" charset="-122"/>
                </a:rPr>
                <a:t>拉通</a:t>
              </a:r>
              <a:r>
                <a:rPr lang="en-US" altLang="zh-CN" sz="1200" b="1">
                  <a:latin typeface="微软雅黑" panose="020B0503020204020204" pitchFamily="34" charset="-122"/>
                  <a:ea typeface="微软雅黑" panose="020B0503020204020204" pitchFamily="34" charset="-122"/>
                </a:rPr>
                <a:t> </a:t>
              </a:r>
              <a:r>
                <a:rPr lang="zh-CN" sz="1200" b="1">
                  <a:solidFill>
                    <a:srgbClr val="C00000"/>
                  </a:solidFill>
                  <a:latin typeface="微软雅黑" panose="020B0503020204020204" pitchFamily="34" charset="-122"/>
                  <a:ea typeface="微软雅黑" panose="020B0503020204020204" pitchFamily="34" charset="-122"/>
                </a:rPr>
                <a:t>市场部</a:t>
              </a:r>
              <a:r>
                <a:rPr lang="en-US" altLang="zh-CN" sz="1200" b="1">
                  <a:solidFill>
                    <a:srgbClr val="C00000"/>
                  </a:solidFill>
                  <a:latin typeface="微软雅黑" panose="020B0503020204020204" pitchFamily="34" charset="-122"/>
                  <a:ea typeface="微软雅黑" panose="020B0503020204020204" pitchFamily="34" charset="-122"/>
                </a:rPr>
                <a:t>+IT</a:t>
              </a:r>
              <a:r>
                <a:rPr lang="en-US" altLang="zh-CN" sz="1200" b="1">
                  <a:latin typeface="微软雅黑" panose="020B0503020204020204" pitchFamily="34" charset="-122"/>
                  <a:ea typeface="微软雅黑" panose="020B0503020204020204" pitchFamily="34" charset="-122"/>
                </a:rPr>
                <a:t> </a:t>
              </a:r>
              <a:r>
                <a:rPr lang="zh-CN" altLang="en-US" sz="1200" b="1">
                  <a:solidFill>
                    <a:srgbClr val="C00000"/>
                  </a:solidFill>
                  <a:latin typeface="微软雅黑" panose="020B0503020204020204" pitchFamily="34" charset="-122"/>
                  <a:ea typeface="微软雅黑" panose="020B0503020204020204" pitchFamily="34" charset="-122"/>
                </a:rPr>
                <a:t>支撑</a:t>
              </a:r>
              <a:r>
                <a:rPr lang="zh-CN" altLang="en-US" sz="1200" b="1">
                  <a:latin typeface="微软雅黑" panose="020B0503020204020204" pitchFamily="34" charset="-122"/>
                  <a:ea typeface="微软雅黑" panose="020B0503020204020204" pitchFamily="34" charset="-122"/>
                </a:rPr>
                <a:t>人员组建虚拟运营</a:t>
              </a:r>
              <a:r>
                <a:rPr lang="zh-CN" altLang="en-US" sz="1200" b="1">
                  <a:solidFill>
                    <a:schemeClr val="tx1"/>
                  </a:solidFill>
                  <a:latin typeface="微软雅黑" panose="020B0503020204020204" pitchFamily="34" charset="-122"/>
                  <a:ea typeface="微软雅黑" panose="020B0503020204020204" pitchFamily="34" charset="-122"/>
                </a:rPr>
                <a:t>团队</a:t>
              </a:r>
              <a:endParaRPr lang="zh-CN" altLang="en-US" sz="1200" b="1">
                <a:solidFill>
                  <a:schemeClr val="tx1"/>
                </a:solidFill>
                <a:latin typeface="微软雅黑" panose="020B0503020204020204" pitchFamily="34" charset="-122"/>
                <a:ea typeface="微软雅黑" panose="020B0503020204020204" pitchFamily="34" charset="-122"/>
              </a:endParaRPr>
            </a:p>
            <a:p>
              <a:pPr indent="0" algn="ctr" fontAlgn="auto">
                <a:lnSpc>
                  <a:spcPct val="120000"/>
                </a:lnSpc>
              </a:pPr>
              <a:r>
                <a:rPr lang="zh-CN" altLang="en-US" sz="1200" b="1">
                  <a:solidFill>
                    <a:schemeClr val="tx1"/>
                  </a:solidFill>
                  <a:latin typeface="微软雅黑" panose="020B0503020204020204" pitchFamily="34" charset="-122"/>
                  <a:ea typeface="微软雅黑" panose="020B0503020204020204" pitchFamily="34" charset="-122"/>
                </a:rPr>
                <a:t>确保</a:t>
              </a:r>
              <a:r>
                <a:rPr lang="zh-CN" altLang="en-US" sz="1200" b="1">
                  <a:solidFill>
                    <a:srgbClr val="C00000"/>
                  </a:solidFill>
                  <a:latin typeface="微软雅黑" panose="020B0503020204020204" pitchFamily="34" charset="-122"/>
                  <a:ea typeface="微软雅黑" panose="020B0503020204020204" pitchFamily="34" charset="-122"/>
                </a:rPr>
                <a:t>核心运营场景</a:t>
              </a:r>
              <a:r>
                <a:rPr lang="zh-CN" altLang="en-US" sz="1200" b="1">
                  <a:solidFill>
                    <a:schemeClr val="tx1"/>
                  </a:solidFill>
                  <a:latin typeface="微软雅黑" panose="020B0503020204020204" pitchFamily="34" charset="-122"/>
                  <a:ea typeface="微软雅黑" panose="020B0503020204020204" pitchFamily="34" charset="-122"/>
                </a:rPr>
                <a:t>有明确的联合运营团队</a:t>
              </a:r>
              <a:endParaRPr lang="zh-CN" altLang="en-US" sz="1200" b="1">
                <a:solidFill>
                  <a:schemeClr val="tx1"/>
                </a:solidFill>
                <a:latin typeface="微软雅黑" panose="020B0503020204020204" pitchFamily="34" charset="-122"/>
                <a:ea typeface="微软雅黑" panose="020B0503020204020204" pitchFamily="34" charset="-122"/>
              </a:endParaRPr>
            </a:p>
          </p:txBody>
        </p:sp>
        <p:sp>
          <p:nvSpPr>
            <p:cNvPr id="50" name="Rectangle 2"/>
            <p:cNvSpPr/>
            <p:nvPr/>
          </p:nvSpPr>
          <p:spPr>
            <a:xfrm>
              <a:off x="876" y="2747"/>
              <a:ext cx="5046" cy="739"/>
            </a:xfrm>
            <a:prstGeom prst="roundRect">
              <a:avLst/>
            </a:prstGeom>
            <a:gradFill>
              <a:gsLst>
                <a:gs pos="100000">
                  <a:schemeClr val="accent1">
                    <a:lumMod val="60000"/>
                    <a:lumOff val="40000"/>
                  </a:schemeClr>
                </a:gs>
                <a:gs pos="2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N </a:t>
              </a:r>
              <a:r>
                <a:rPr lang="zh-CN"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个联合虚拟团队</a:t>
              </a:r>
              <a:endParaRPr lang="zh-CN"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51" name="下箭头 50"/>
          <p:cNvSpPr/>
          <p:nvPr/>
        </p:nvSpPr>
        <p:spPr>
          <a:xfrm>
            <a:off x="5991257" y="2755998"/>
            <a:ext cx="1124951" cy="233280"/>
          </a:xfrm>
          <a:prstGeom prst="down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p>
        </p:txBody>
      </p:sp>
      <p:grpSp>
        <p:nvGrpSpPr>
          <p:cNvPr id="125" name="组合 124"/>
          <p:cNvGrpSpPr/>
          <p:nvPr/>
        </p:nvGrpSpPr>
        <p:grpSpPr>
          <a:xfrm>
            <a:off x="4786630" y="3020695"/>
            <a:ext cx="3542030" cy="2195195"/>
            <a:chOff x="8487" y="5303"/>
            <a:chExt cx="5578" cy="3457"/>
          </a:xfrm>
        </p:grpSpPr>
        <p:grpSp>
          <p:nvGrpSpPr>
            <p:cNvPr id="71" name="组合 70"/>
            <p:cNvGrpSpPr/>
            <p:nvPr/>
          </p:nvGrpSpPr>
          <p:grpSpPr>
            <a:xfrm>
              <a:off x="8504" y="5749"/>
              <a:ext cx="2477" cy="971"/>
              <a:chOff x="8771" y="5566"/>
              <a:chExt cx="2952" cy="485"/>
            </a:xfrm>
          </p:grpSpPr>
          <p:grpSp>
            <p:nvGrpSpPr>
              <p:cNvPr id="70" name="组合 69"/>
              <p:cNvGrpSpPr/>
              <p:nvPr/>
            </p:nvGrpSpPr>
            <p:grpSpPr>
              <a:xfrm>
                <a:off x="8771" y="5566"/>
                <a:ext cx="2952" cy="485"/>
                <a:chOff x="8771" y="5566"/>
                <a:chExt cx="2952" cy="485"/>
              </a:xfrm>
            </p:grpSpPr>
            <p:sp>
              <p:nvSpPr>
                <p:cNvPr id="52" name="矩形 51"/>
                <p:cNvSpPr/>
                <p:nvPr/>
              </p:nvSpPr>
              <p:spPr>
                <a:xfrm>
                  <a:off x="8771" y="5567"/>
                  <a:ext cx="1351" cy="48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b="1" dirty="0">
                      <a:solidFill>
                        <a:schemeClr val="bg1"/>
                      </a:solidFill>
                      <a:latin typeface="微软雅黑" panose="020B0503020204020204" pitchFamily="34" charset="-122"/>
                      <a:ea typeface="微软雅黑" panose="020B0503020204020204" pitchFamily="34" charset="-122"/>
                    </a:rPr>
                    <a:t>客群洞察需要</a:t>
                  </a:r>
                  <a:endParaRPr lang="en-US" altLang="zh-CN" sz="1000" b="1" dirty="0">
                    <a:solidFill>
                      <a:schemeClr val="bg1"/>
                    </a:solidFill>
                    <a:latin typeface="微软雅黑" panose="020B0503020204020204" pitchFamily="34" charset="-122"/>
                    <a:ea typeface="微软雅黑" panose="020B0503020204020204" pitchFamily="34" charset="-122"/>
                  </a:endParaRPr>
                </a:p>
              </p:txBody>
            </p:sp>
            <p:sp>
              <p:nvSpPr>
                <p:cNvPr id="56" name="矩形 55"/>
                <p:cNvSpPr/>
                <p:nvPr/>
              </p:nvSpPr>
              <p:spPr>
                <a:xfrm>
                  <a:off x="10262" y="5566"/>
                  <a:ext cx="1461" cy="4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银发客户</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沿街商铺</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国际客户</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67" name="流程图: 合并 66"/>
              <p:cNvSpPr/>
              <p:nvPr/>
            </p:nvSpPr>
            <p:spPr>
              <a:xfrm rot="16200000">
                <a:off x="10047" y="5712"/>
                <a:ext cx="429" cy="184"/>
              </a:xfrm>
              <a:prstGeom prst="flowChartMerg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p>
            </p:txBody>
          </p:sp>
        </p:grpSp>
        <p:sp>
          <p:nvSpPr>
            <p:cNvPr id="73" name="文本框 72"/>
            <p:cNvSpPr txBox="1"/>
            <p:nvPr/>
          </p:nvSpPr>
          <p:spPr>
            <a:xfrm>
              <a:off x="8487" y="5324"/>
              <a:ext cx="1688" cy="386"/>
            </a:xfrm>
            <a:prstGeom prst="rect">
              <a:avLst/>
            </a:prstGeom>
            <a:noFill/>
          </p:spPr>
          <p:txBody>
            <a:bodyPr wrap="square" rtlCol="0">
              <a:spAutoFit/>
            </a:bodyPr>
            <a:p>
              <a:r>
                <a:rPr lang="zh-CN" altLang="en-US" sz="1000" b="1">
                  <a:latin typeface="微软雅黑" panose="020B0503020204020204" pitchFamily="34" charset="-122"/>
                  <a:ea typeface="微软雅黑" panose="020B0503020204020204" pitchFamily="34" charset="-122"/>
                </a:rPr>
                <a:t>市场运营人员</a:t>
              </a:r>
              <a:endParaRPr lang="zh-CN" altLang="en-US" sz="1000" b="1">
                <a:latin typeface="微软雅黑" panose="020B0503020204020204" pitchFamily="34" charset="-122"/>
                <a:ea typeface="微软雅黑" panose="020B0503020204020204" pitchFamily="34" charset="-122"/>
              </a:endParaRPr>
            </a:p>
          </p:txBody>
        </p:sp>
        <p:grpSp>
          <p:nvGrpSpPr>
            <p:cNvPr id="74" name="组合 73"/>
            <p:cNvGrpSpPr/>
            <p:nvPr/>
          </p:nvGrpSpPr>
          <p:grpSpPr>
            <a:xfrm>
              <a:off x="11589" y="5715"/>
              <a:ext cx="2477" cy="971"/>
              <a:chOff x="8771" y="5566"/>
              <a:chExt cx="2952" cy="485"/>
            </a:xfrm>
          </p:grpSpPr>
          <p:grpSp>
            <p:nvGrpSpPr>
              <p:cNvPr id="75" name="组合 74"/>
              <p:cNvGrpSpPr/>
              <p:nvPr/>
            </p:nvGrpSpPr>
            <p:grpSpPr>
              <a:xfrm>
                <a:off x="8771" y="5566"/>
                <a:ext cx="2952" cy="485"/>
                <a:chOff x="8771" y="5566"/>
                <a:chExt cx="2952" cy="485"/>
              </a:xfrm>
            </p:grpSpPr>
            <p:sp>
              <p:nvSpPr>
                <p:cNvPr id="76" name="矩形 75"/>
                <p:cNvSpPr/>
                <p:nvPr/>
              </p:nvSpPr>
              <p:spPr>
                <a:xfrm>
                  <a:off x="8771" y="5567"/>
                  <a:ext cx="1351" cy="48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b="1" dirty="0">
                      <a:solidFill>
                        <a:schemeClr val="bg1"/>
                      </a:solidFill>
                      <a:latin typeface="微软雅黑" panose="020B0503020204020204" pitchFamily="34" charset="-122"/>
                      <a:ea typeface="微软雅黑" panose="020B0503020204020204" pitchFamily="34" charset="-122"/>
                    </a:rPr>
                    <a:t>模型标签构建</a:t>
                  </a:r>
                  <a:endParaRPr lang="en-US" altLang="zh-CN" sz="1000" b="1" dirty="0">
                    <a:solidFill>
                      <a:schemeClr val="bg1"/>
                    </a:solidFill>
                    <a:latin typeface="微软雅黑" panose="020B0503020204020204" pitchFamily="34" charset="-122"/>
                    <a:ea typeface="微软雅黑" panose="020B0503020204020204" pitchFamily="34" charset="-122"/>
                  </a:endParaRPr>
                </a:p>
              </p:txBody>
            </p:sp>
            <p:sp>
              <p:nvSpPr>
                <p:cNvPr id="77" name="矩形 76"/>
                <p:cNvSpPr/>
                <p:nvPr/>
              </p:nvSpPr>
              <p:spPr>
                <a:xfrm>
                  <a:off x="10262" y="5566"/>
                  <a:ext cx="1461" cy="4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汇数据</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mn-ea"/>
                    </a:rPr>
                    <a:t>建模型</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理标签</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78" name="流程图: 合并 77"/>
              <p:cNvSpPr/>
              <p:nvPr/>
            </p:nvSpPr>
            <p:spPr>
              <a:xfrm rot="16200000">
                <a:off x="10047" y="5712"/>
                <a:ext cx="429" cy="184"/>
              </a:xfrm>
              <a:prstGeom prst="flowChartMerg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p>
            </p:txBody>
          </p:sp>
        </p:grpSp>
        <p:grpSp>
          <p:nvGrpSpPr>
            <p:cNvPr id="79" name="组合 78"/>
            <p:cNvGrpSpPr/>
            <p:nvPr/>
          </p:nvGrpSpPr>
          <p:grpSpPr>
            <a:xfrm>
              <a:off x="8504" y="6818"/>
              <a:ext cx="2477" cy="971"/>
              <a:chOff x="8771" y="5566"/>
              <a:chExt cx="2952" cy="485"/>
            </a:xfrm>
          </p:grpSpPr>
          <p:grpSp>
            <p:nvGrpSpPr>
              <p:cNvPr id="80" name="组合 79"/>
              <p:cNvGrpSpPr/>
              <p:nvPr/>
            </p:nvGrpSpPr>
            <p:grpSpPr>
              <a:xfrm>
                <a:off x="8771" y="5566"/>
                <a:ext cx="2952" cy="485"/>
                <a:chOff x="8771" y="5566"/>
                <a:chExt cx="2952" cy="485"/>
              </a:xfrm>
            </p:grpSpPr>
            <p:sp>
              <p:nvSpPr>
                <p:cNvPr id="81" name="矩形 80"/>
                <p:cNvSpPr/>
                <p:nvPr/>
              </p:nvSpPr>
              <p:spPr>
                <a:xfrm>
                  <a:off x="8771" y="5567"/>
                  <a:ext cx="1351" cy="48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b="1" dirty="0">
                      <a:solidFill>
                        <a:schemeClr val="bg1"/>
                      </a:solidFill>
                      <a:latin typeface="微软雅黑" panose="020B0503020204020204" pitchFamily="34" charset="-122"/>
                      <a:ea typeface="微软雅黑" panose="020B0503020204020204" pitchFamily="34" charset="-122"/>
                    </a:rPr>
                    <a:t>运营要素配置</a:t>
                  </a:r>
                  <a:endParaRPr lang="en-US" altLang="zh-CN" sz="1000" b="1" dirty="0">
                    <a:solidFill>
                      <a:schemeClr val="bg1"/>
                    </a:solidFill>
                    <a:latin typeface="微软雅黑" panose="020B0503020204020204" pitchFamily="34" charset="-122"/>
                    <a:ea typeface="微软雅黑" panose="020B0503020204020204" pitchFamily="34" charset="-122"/>
                  </a:endParaRPr>
                </a:p>
              </p:txBody>
            </p:sp>
            <p:sp>
              <p:nvSpPr>
                <p:cNvPr id="82" name="矩形 81"/>
                <p:cNvSpPr/>
                <p:nvPr/>
              </p:nvSpPr>
              <p:spPr>
                <a:xfrm>
                  <a:off x="10262" y="5566"/>
                  <a:ext cx="1461" cy="4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配产品</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配渠道</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配话术</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83" name="流程图: 合并 82"/>
              <p:cNvSpPr/>
              <p:nvPr/>
            </p:nvSpPr>
            <p:spPr>
              <a:xfrm rot="16200000">
                <a:off x="10047" y="5712"/>
                <a:ext cx="429" cy="184"/>
              </a:xfrm>
              <a:prstGeom prst="flowChartMerg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p>
            </p:txBody>
          </p:sp>
        </p:grpSp>
        <p:grpSp>
          <p:nvGrpSpPr>
            <p:cNvPr id="84" name="组合 83"/>
            <p:cNvGrpSpPr/>
            <p:nvPr/>
          </p:nvGrpSpPr>
          <p:grpSpPr>
            <a:xfrm>
              <a:off x="11589" y="6824"/>
              <a:ext cx="2477" cy="971"/>
              <a:chOff x="8771" y="5566"/>
              <a:chExt cx="2952" cy="485"/>
            </a:xfrm>
          </p:grpSpPr>
          <p:grpSp>
            <p:nvGrpSpPr>
              <p:cNvPr id="87" name="组合 86"/>
              <p:cNvGrpSpPr/>
              <p:nvPr/>
            </p:nvGrpSpPr>
            <p:grpSpPr>
              <a:xfrm>
                <a:off x="8771" y="5566"/>
                <a:ext cx="2952" cy="485"/>
                <a:chOff x="8771" y="5566"/>
                <a:chExt cx="2952" cy="485"/>
              </a:xfrm>
            </p:grpSpPr>
            <p:sp>
              <p:nvSpPr>
                <p:cNvPr id="88" name="矩形 87"/>
                <p:cNvSpPr/>
                <p:nvPr/>
              </p:nvSpPr>
              <p:spPr>
                <a:xfrm>
                  <a:off x="8771" y="5567"/>
                  <a:ext cx="1351" cy="48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b="1" dirty="0">
                      <a:solidFill>
                        <a:schemeClr val="bg1"/>
                      </a:solidFill>
                      <a:latin typeface="微软雅黑" panose="020B0503020204020204" pitchFamily="34" charset="-122"/>
                      <a:ea typeface="微软雅黑" panose="020B0503020204020204" pitchFamily="34" charset="-122"/>
                    </a:rPr>
                    <a:t>运营能力建设</a:t>
                  </a:r>
                  <a:endParaRPr lang="en-US" altLang="zh-CN" sz="1000" b="1" dirty="0">
                    <a:solidFill>
                      <a:schemeClr val="bg1"/>
                    </a:solidFill>
                    <a:latin typeface="微软雅黑" panose="020B0503020204020204" pitchFamily="34" charset="-122"/>
                    <a:ea typeface="微软雅黑" panose="020B0503020204020204" pitchFamily="34" charset="-122"/>
                  </a:endParaRPr>
                </a:p>
              </p:txBody>
            </p:sp>
            <p:sp>
              <p:nvSpPr>
                <p:cNvPr id="90" name="矩形 89"/>
                <p:cNvSpPr/>
                <p:nvPr/>
              </p:nvSpPr>
              <p:spPr>
                <a:xfrm>
                  <a:off x="10262" y="5566"/>
                  <a:ext cx="1461" cy="4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产品封装</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渠道调度</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营销策略</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93" name="流程图: 合并 92"/>
              <p:cNvSpPr/>
              <p:nvPr/>
            </p:nvSpPr>
            <p:spPr>
              <a:xfrm rot="16200000">
                <a:off x="10047" y="5712"/>
                <a:ext cx="429" cy="184"/>
              </a:xfrm>
              <a:prstGeom prst="flowChartMerg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p>
            </p:txBody>
          </p:sp>
        </p:grpSp>
        <p:grpSp>
          <p:nvGrpSpPr>
            <p:cNvPr id="98" name="组合 97"/>
            <p:cNvGrpSpPr/>
            <p:nvPr/>
          </p:nvGrpSpPr>
          <p:grpSpPr>
            <a:xfrm>
              <a:off x="8504" y="7896"/>
              <a:ext cx="2477" cy="850"/>
              <a:chOff x="8771" y="5566"/>
              <a:chExt cx="2952" cy="485"/>
            </a:xfrm>
          </p:grpSpPr>
          <p:grpSp>
            <p:nvGrpSpPr>
              <p:cNvPr id="104" name="组合 103"/>
              <p:cNvGrpSpPr/>
              <p:nvPr/>
            </p:nvGrpSpPr>
            <p:grpSpPr>
              <a:xfrm>
                <a:off x="8771" y="5566"/>
                <a:ext cx="2952" cy="485"/>
                <a:chOff x="8771" y="5566"/>
                <a:chExt cx="2952" cy="485"/>
              </a:xfrm>
            </p:grpSpPr>
            <p:sp>
              <p:nvSpPr>
                <p:cNvPr id="108" name="矩形 107"/>
                <p:cNvSpPr/>
                <p:nvPr/>
              </p:nvSpPr>
              <p:spPr>
                <a:xfrm>
                  <a:off x="8771" y="5567"/>
                  <a:ext cx="1351" cy="48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b="1" dirty="0">
                      <a:solidFill>
                        <a:schemeClr val="bg1"/>
                      </a:solidFill>
                      <a:latin typeface="微软雅黑" panose="020B0503020204020204" pitchFamily="34" charset="-122"/>
                      <a:ea typeface="微软雅黑" panose="020B0503020204020204" pitchFamily="34" charset="-122"/>
                    </a:rPr>
                    <a:t>调度执行监控</a:t>
                  </a:r>
                  <a:endParaRPr lang="en-US" altLang="zh-CN" sz="1000" b="1" dirty="0">
                    <a:solidFill>
                      <a:schemeClr val="bg1"/>
                    </a:solidFill>
                    <a:latin typeface="微软雅黑" panose="020B0503020204020204" pitchFamily="34" charset="-122"/>
                    <a:ea typeface="微软雅黑" panose="020B0503020204020204" pitchFamily="34" charset="-122"/>
                  </a:endParaRPr>
                </a:p>
              </p:txBody>
            </p:sp>
            <p:sp>
              <p:nvSpPr>
                <p:cNvPr id="109" name="矩形 108"/>
                <p:cNvSpPr/>
                <p:nvPr/>
              </p:nvSpPr>
              <p:spPr>
                <a:xfrm>
                  <a:off x="10262" y="5566"/>
                  <a:ext cx="1461" cy="4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派单调度</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一线执行</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效果查看</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112" name="流程图: 合并 111"/>
              <p:cNvSpPr/>
              <p:nvPr/>
            </p:nvSpPr>
            <p:spPr>
              <a:xfrm rot="16200000">
                <a:off x="10047" y="5712"/>
                <a:ext cx="429" cy="184"/>
              </a:xfrm>
              <a:prstGeom prst="flowChartMerg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p>
            </p:txBody>
          </p:sp>
        </p:grpSp>
        <p:grpSp>
          <p:nvGrpSpPr>
            <p:cNvPr id="116" name="组合 115"/>
            <p:cNvGrpSpPr/>
            <p:nvPr/>
          </p:nvGrpSpPr>
          <p:grpSpPr>
            <a:xfrm>
              <a:off x="11589" y="7910"/>
              <a:ext cx="2477" cy="850"/>
              <a:chOff x="8771" y="5566"/>
              <a:chExt cx="2952" cy="485"/>
            </a:xfrm>
          </p:grpSpPr>
          <p:grpSp>
            <p:nvGrpSpPr>
              <p:cNvPr id="117" name="组合 116"/>
              <p:cNvGrpSpPr/>
              <p:nvPr/>
            </p:nvGrpSpPr>
            <p:grpSpPr>
              <a:xfrm>
                <a:off x="8771" y="5566"/>
                <a:ext cx="2952" cy="485"/>
                <a:chOff x="8771" y="5566"/>
                <a:chExt cx="2952" cy="485"/>
              </a:xfrm>
            </p:grpSpPr>
            <p:sp>
              <p:nvSpPr>
                <p:cNvPr id="118" name="矩形 117"/>
                <p:cNvSpPr/>
                <p:nvPr/>
              </p:nvSpPr>
              <p:spPr>
                <a:xfrm>
                  <a:off x="8771" y="5567"/>
                  <a:ext cx="1351" cy="48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b="1" dirty="0">
                      <a:solidFill>
                        <a:schemeClr val="bg1"/>
                      </a:solidFill>
                      <a:latin typeface="微软雅黑" panose="020B0503020204020204" pitchFamily="34" charset="-122"/>
                      <a:ea typeface="微软雅黑" panose="020B0503020204020204" pitchFamily="34" charset="-122"/>
                    </a:rPr>
                    <a:t>执行分析能力</a:t>
                  </a:r>
                  <a:endParaRPr lang="en-US" altLang="zh-CN" sz="1000" b="1" dirty="0">
                    <a:solidFill>
                      <a:schemeClr val="bg1"/>
                    </a:solidFill>
                    <a:latin typeface="微软雅黑" panose="020B0503020204020204" pitchFamily="34" charset="-122"/>
                    <a:ea typeface="微软雅黑" panose="020B0503020204020204" pitchFamily="34" charset="-122"/>
                  </a:endParaRPr>
                </a:p>
              </p:txBody>
            </p:sp>
            <p:sp>
              <p:nvSpPr>
                <p:cNvPr id="119" name="矩形 118"/>
                <p:cNvSpPr/>
                <p:nvPr/>
              </p:nvSpPr>
              <p:spPr>
                <a:xfrm>
                  <a:off x="10262" y="5566"/>
                  <a:ext cx="1461" cy="4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指挥调度</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流程监控</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效果评估</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120" name="流程图: 合并 119"/>
              <p:cNvSpPr/>
              <p:nvPr/>
            </p:nvSpPr>
            <p:spPr>
              <a:xfrm rot="16200000">
                <a:off x="10047" y="5712"/>
                <a:ext cx="429" cy="184"/>
              </a:xfrm>
              <a:prstGeom prst="flowChartMerg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p>
            </p:txBody>
          </p:sp>
        </p:grpSp>
        <p:sp>
          <p:nvSpPr>
            <p:cNvPr id="121" name="文本框 120"/>
            <p:cNvSpPr txBox="1"/>
            <p:nvPr/>
          </p:nvSpPr>
          <p:spPr>
            <a:xfrm>
              <a:off x="11589" y="5303"/>
              <a:ext cx="1688" cy="386"/>
            </a:xfrm>
            <a:prstGeom prst="rect">
              <a:avLst/>
            </a:prstGeom>
            <a:noFill/>
          </p:spPr>
          <p:txBody>
            <a:bodyPr wrap="square" rtlCol="0">
              <a:spAutoFit/>
            </a:bodyPr>
            <a:p>
              <a:r>
                <a:rPr lang="en-US" altLang="zh-CN" sz="1000" b="1">
                  <a:latin typeface="微软雅黑" panose="020B0503020204020204" pitchFamily="34" charset="-122"/>
                  <a:ea typeface="微软雅黑" panose="020B0503020204020204" pitchFamily="34" charset="-122"/>
                </a:rPr>
                <a:t>IT</a:t>
              </a:r>
              <a:r>
                <a:rPr lang="zh-CN" altLang="en-US" sz="1000" b="1">
                  <a:latin typeface="微软雅黑" panose="020B0503020204020204" pitchFamily="34" charset="-122"/>
                  <a:ea typeface="微软雅黑" panose="020B0503020204020204" pitchFamily="34" charset="-122"/>
                </a:rPr>
                <a:t>支撑人员</a:t>
              </a:r>
              <a:endParaRPr lang="zh-CN" altLang="en-US" sz="1000" b="1">
                <a:latin typeface="微软雅黑" panose="020B0503020204020204" pitchFamily="34" charset="-122"/>
                <a:ea typeface="微软雅黑" panose="020B0503020204020204" pitchFamily="34" charset="-122"/>
              </a:endParaRPr>
            </a:p>
          </p:txBody>
        </p:sp>
        <p:sp>
          <p:nvSpPr>
            <p:cNvPr id="122" name="redo-arrow_108783"/>
            <p:cNvSpPr/>
            <p:nvPr/>
          </p:nvSpPr>
          <p:spPr>
            <a:xfrm>
              <a:off x="10836" y="6720"/>
              <a:ext cx="790" cy="525"/>
            </a:xfrm>
            <a:custGeom>
              <a:avLst/>
              <a:gdLst>
                <a:gd name="T0" fmla="*/ 924 w 2190"/>
                <a:gd name="T1" fmla="*/ 0 h 2667"/>
                <a:gd name="T2" fmla="*/ 2190 w 2190"/>
                <a:gd name="T3" fmla="*/ 228 h 2667"/>
                <a:gd name="T4" fmla="*/ 1545 w 2190"/>
                <a:gd name="T5" fmla="*/ 1378 h 2667"/>
                <a:gd name="T6" fmla="*/ 1394 w 2190"/>
                <a:gd name="T7" fmla="*/ 1036 h 2667"/>
                <a:gd name="T8" fmla="*/ 267 w 2190"/>
                <a:gd name="T9" fmla="*/ 2667 h 2667"/>
                <a:gd name="T10" fmla="*/ 1083 w 2190"/>
                <a:gd name="T11" fmla="*/ 349 h 2667"/>
                <a:gd name="T12" fmla="*/ 924 w 2190"/>
                <a:gd name="T13" fmla="*/ 0 h 2667"/>
              </a:gdLst>
              <a:ahLst/>
              <a:cxnLst>
                <a:cxn ang="0">
                  <a:pos x="T0" y="T1"/>
                </a:cxn>
                <a:cxn ang="0">
                  <a:pos x="T2" y="T3"/>
                </a:cxn>
                <a:cxn ang="0">
                  <a:pos x="T4" y="T5"/>
                </a:cxn>
                <a:cxn ang="0">
                  <a:pos x="T6" y="T7"/>
                </a:cxn>
                <a:cxn ang="0">
                  <a:pos x="T8" y="T9"/>
                </a:cxn>
                <a:cxn ang="0">
                  <a:pos x="T10" y="T11"/>
                </a:cxn>
                <a:cxn ang="0">
                  <a:pos x="T12" y="T13"/>
                </a:cxn>
              </a:cxnLst>
              <a:rect l="0" t="0" r="r" b="b"/>
              <a:pathLst>
                <a:path w="2190" h="2667">
                  <a:moveTo>
                    <a:pt x="924" y="0"/>
                  </a:moveTo>
                  <a:lnTo>
                    <a:pt x="2190" y="228"/>
                  </a:lnTo>
                  <a:lnTo>
                    <a:pt x="1545" y="1378"/>
                  </a:lnTo>
                  <a:lnTo>
                    <a:pt x="1394" y="1036"/>
                  </a:lnTo>
                  <a:cubicBezTo>
                    <a:pt x="746" y="1329"/>
                    <a:pt x="281" y="1937"/>
                    <a:pt x="267" y="2667"/>
                  </a:cubicBezTo>
                  <a:cubicBezTo>
                    <a:pt x="0" y="1803"/>
                    <a:pt x="416" y="911"/>
                    <a:pt x="1083" y="349"/>
                  </a:cubicBezTo>
                  <a:lnTo>
                    <a:pt x="924"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3" name="redo-arrow_108783"/>
            <p:cNvSpPr/>
            <p:nvPr/>
          </p:nvSpPr>
          <p:spPr>
            <a:xfrm rot="10380000">
              <a:off x="10865" y="7153"/>
              <a:ext cx="790" cy="525"/>
            </a:xfrm>
            <a:custGeom>
              <a:avLst/>
              <a:gdLst>
                <a:gd name="T0" fmla="*/ 924 w 2190"/>
                <a:gd name="T1" fmla="*/ 0 h 2667"/>
                <a:gd name="T2" fmla="*/ 2190 w 2190"/>
                <a:gd name="T3" fmla="*/ 228 h 2667"/>
                <a:gd name="T4" fmla="*/ 1545 w 2190"/>
                <a:gd name="T5" fmla="*/ 1378 h 2667"/>
                <a:gd name="T6" fmla="*/ 1394 w 2190"/>
                <a:gd name="T7" fmla="*/ 1036 h 2667"/>
                <a:gd name="T8" fmla="*/ 267 w 2190"/>
                <a:gd name="T9" fmla="*/ 2667 h 2667"/>
                <a:gd name="T10" fmla="*/ 1083 w 2190"/>
                <a:gd name="T11" fmla="*/ 349 h 2667"/>
                <a:gd name="T12" fmla="*/ 924 w 2190"/>
                <a:gd name="T13" fmla="*/ 0 h 2667"/>
              </a:gdLst>
              <a:ahLst/>
              <a:cxnLst>
                <a:cxn ang="0">
                  <a:pos x="T0" y="T1"/>
                </a:cxn>
                <a:cxn ang="0">
                  <a:pos x="T2" y="T3"/>
                </a:cxn>
                <a:cxn ang="0">
                  <a:pos x="T4" y="T5"/>
                </a:cxn>
                <a:cxn ang="0">
                  <a:pos x="T6" y="T7"/>
                </a:cxn>
                <a:cxn ang="0">
                  <a:pos x="T8" y="T9"/>
                </a:cxn>
                <a:cxn ang="0">
                  <a:pos x="T10" y="T11"/>
                </a:cxn>
                <a:cxn ang="0">
                  <a:pos x="T12" y="T13"/>
                </a:cxn>
              </a:cxnLst>
              <a:rect l="0" t="0" r="r" b="b"/>
              <a:pathLst>
                <a:path w="2190" h="2667">
                  <a:moveTo>
                    <a:pt x="924" y="0"/>
                  </a:moveTo>
                  <a:lnTo>
                    <a:pt x="2190" y="228"/>
                  </a:lnTo>
                  <a:lnTo>
                    <a:pt x="1545" y="1378"/>
                  </a:lnTo>
                  <a:lnTo>
                    <a:pt x="1394" y="1036"/>
                  </a:lnTo>
                  <a:cubicBezTo>
                    <a:pt x="746" y="1329"/>
                    <a:pt x="281" y="1937"/>
                    <a:pt x="267" y="2667"/>
                  </a:cubicBezTo>
                  <a:cubicBezTo>
                    <a:pt x="0" y="1803"/>
                    <a:pt x="416" y="911"/>
                    <a:pt x="1083" y="349"/>
                  </a:cubicBezTo>
                  <a:lnTo>
                    <a:pt x="924"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4" name="文本框 123"/>
            <p:cNvSpPr txBox="1"/>
            <p:nvPr/>
          </p:nvSpPr>
          <p:spPr>
            <a:xfrm>
              <a:off x="10926" y="6240"/>
              <a:ext cx="831" cy="1598"/>
            </a:xfrm>
            <a:prstGeom prst="rect">
              <a:avLst/>
            </a:prstGeom>
            <a:noFill/>
          </p:spPr>
          <p:txBody>
            <a:bodyPr wrap="square" rtlCol="0">
              <a:spAutoFit/>
            </a:bodyPr>
            <a:p>
              <a:r>
                <a:rPr lang="zh-CN" sz="1000" b="1">
                  <a:solidFill>
                    <a:srgbClr val="C00000"/>
                  </a:solidFill>
                  <a:latin typeface="微软雅黑" panose="020B0503020204020204" pitchFamily="34" charset="-122"/>
                  <a:ea typeface="微软雅黑" panose="020B0503020204020204" pitchFamily="34" charset="-122"/>
                </a:rPr>
                <a:t>通过运营</a:t>
              </a:r>
              <a:endParaRPr lang="zh-CN" sz="1000" b="1">
                <a:solidFill>
                  <a:srgbClr val="C00000"/>
                </a:solidFill>
                <a:latin typeface="微软雅黑" panose="020B0503020204020204" pitchFamily="34" charset="-122"/>
                <a:ea typeface="微软雅黑" panose="020B0503020204020204" pitchFamily="34" charset="-122"/>
              </a:endParaRPr>
            </a:p>
            <a:p>
              <a:endParaRPr lang="zh-CN" sz="1000" b="1">
                <a:solidFill>
                  <a:srgbClr val="C00000"/>
                </a:solidFill>
                <a:latin typeface="微软雅黑" panose="020B0503020204020204" pitchFamily="34" charset="-122"/>
                <a:ea typeface="微软雅黑" panose="020B0503020204020204" pitchFamily="34" charset="-122"/>
              </a:endParaRPr>
            </a:p>
            <a:p>
              <a:r>
                <a:rPr lang="zh-CN" sz="1000" b="1">
                  <a:solidFill>
                    <a:srgbClr val="C00000"/>
                  </a:solidFill>
                  <a:latin typeface="微软雅黑" panose="020B0503020204020204" pitchFamily="34" charset="-122"/>
                  <a:ea typeface="微软雅黑" panose="020B0503020204020204" pitchFamily="34" charset="-122"/>
                </a:rPr>
                <a:t>不断迭代优化</a:t>
              </a:r>
              <a:endParaRPr lang="zh-CN" sz="1000" b="1">
                <a:solidFill>
                  <a:srgbClr val="C00000"/>
                </a:solidFill>
                <a:latin typeface="微软雅黑" panose="020B0503020204020204" pitchFamily="34" charset="-122"/>
                <a:ea typeface="微软雅黑" panose="020B0503020204020204" pitchFamily="34" charset="-122"/>
              </a:endParaRPr>
            </a:p>
          </p:txBody>
        </p:sp>
      </p:grpSp>
      <p:grpSp>
        <p:nvGrpSpPr>
          <p:cNvPr id="156" name="组合 155"/>
          <p:cNvGrpSpPr/>
          <p:nvPr/>
        </p:nvGrpSpPr>
        <p:grpSpPr>
          <a:xfrm>
            <a:off x="8943975" y="1604010"/>
            <a:ext cx="2985135" cy="3569970"/>
            <a:chOff x="436" y="2747"/>
            <a:chExt cx="5979" cy="5116"/>
          </a:xfrm>
        </p:grpSpPr>
        <p:sp>
          <p:nvSpPr>
            <p:cNvPr id="157" name="圆角矩形 156"/>
            <p:cNvSpPr/>
            <p:nvPr/>
          </p:nvSpPr>
          <p:spPr>
            <a:xfrm>
              <a:off x="436" y="3022"/>
              <a:ext cx="5979" cy="4841"/>
            </a:xfrm>
            <a:prstGeom prst="roundRect">
              <a:avLst>
                <a:gd name="adj" fmla="val 3057"/>
              </a:avLst>
            </a:prstGeom>
            <a:gradFill>
              <a:gsLst>
                <a:gs pos="25000">
                  <a:schemeClr val="bg1"/>
                </a:gs>
                <a:gs pos="100000">
                  <a:schemeClr val="bg1">
                    <a:alpha val="0"/>
                  </a:schemeClr>
                </a:gs>
              </a:gsLst>
              <a:lin ang="5400000" scaled="0"/>
            </a:gradFill>
            <a:ln>
              <a:gradFill>
                <a:gsLst>
                  <a:gs pos="100000">
                    <a:schemeClr val="accent1">
                      <a:alpha val="0"/>
                    </a:schemeClr>
                  </a:gs>
                  <a:gs pos="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 name="文本框 157"/>
            <p:cNvSpPr txBox="1"/>
            <p:nvPr/>
          </p:nvSpPr>
          <p:spPr>
            <a:xfrm>
              <a:off x="801" y="3575"/>
              <a:ext cx="5547" cy="660"/>
            </a:xfrm>
            <a:prstGeom prst="rect">
              <a:avLst/>
            </a:prstGeom>
            <a:noFill/>
          </p:spPr>
          <p:txBody>
            <a:bodyPr wrap="square" rtlCol="0">
              <a:spAutoFit/>
            </a:bodyPr>
            <a:p>
              <a:pPr algn="ctr"/>
              <a:r>
                <a:rPr lang="zh-CN" sz="1200" b="1">
                  <a:solidFill>
                    <a:schemeClr val="tx1"/>
                  </a:solidFill>
                  <a:latin typeface="微软雅黑" panose="020B0503020204020204" pitchFamily="34" charset="-122"/>
                  <a:ea typeface="微软雅黑" panose="020B0503020204020204" pitchFamily="34" charset="-122"/>
                </a:rPr>
                <a:t>设置</a:t>
              </a:r>
              <a:r>
                <a:rPr lang="zh-CN" sz="1200" b="1">
                  <a:solidFill>
                    <a:srgbClr val="C00000"/>
                  </a:solidFill>
                  <a:latin typeface="微软雅黑" panose="020B0503020204020204" pitchFamily="34" charset="-122"/>
                  <a:ea typeface="微软雅黑" panose="020B0503020204020204" pitchFamily="34" charset="-122"/>
                </a:rPr>
                <a:t>考核评价</a:t>
              </a:r>
              <a:r>
                <a:rPr lang="zh-CN" sz="1200" b="1">
                  <a:solidFill>
                    <a:schemeClr val="tx1"/>
                  </a:solidFill>
                  <a:latin typeface="微软雅黑" panose="020B0503020204020204" pitchFamily="34" charset="-122"/>
                  <a:ea typeface="微软雅黑" panose="020B0503020204020204" pitchFamily="34" charset="-122"/>
                </a:rPr>
                <a:t>机制</a:t>
              </a:r>
              <a:endParaRPr lang="zh-CN" sz="1200" b="1">
                <a:solidFill>
                  <a:schemeClr val="tx1"/>
                </a:solidFill>
                <a:latin typeface="微软雅黑" panose="020B0503020204020204" pitchFamily="34" charset="-122"/>
                <a:ea typeface="微软雅黑" panose="020B0503020204020204" pitchFamily="34" charset="-122"/>
              </a:endParaRPr>
            </a:p>
            <a:p>
              <a:pPr algn="ctr"/>
              <a:r>
                <a:rPr lang="zh-CN" sz="1200" b="1">
                  <a:solidFill>
                    <a:schemeClr val="tx1"/>
                  </a:solidFill>
                  <a:latin typeface="微软雅黑" panose="020B0503020204020204" pitchFamily="34" charset="-122"/>
                  <a:ea typeface="微软雅黑" panose="020B0503020204020204" pitchFamily="34" charset="-122"/>
                </a:rPr>
                <a:t>确保运营工作高效落地</a:t>
              </a:r>
              <a:endParaRPr lang="zh-CN" sz="1200" b="1">
                <a:solidFill>
                  <a:schemeClr val="tx1"/>
                </a:solidFill>
                <a:latin typeface="微软雅黑" panose="020B0503020204020204" pitchFamily="34" charset="-122"/>
                <a:ea typeface="微软雅黑" panose="020B0503020204020204" pitchFamily="34" charset="-122"/>
              </a:endParaRPr>
            </a:p>
          </p:txBody>
        </p:sp>
        <p:sp>
          <p:nvSpPr>
            <p:cNvPr id="159" name="Rectangle 2"/>
            <p:cNvSpPr/>
            <p:nvPr/>
          </p:nvSpPr>
          <p:spPr>
            <a:xfrm>
              <a:off x="876" y="2747"/>
              <a:ext cx="5046" cy="739"/>
            </a:xfrm>
            <a:prstGeom prst="roundRect">
              <a:avLst/>
            </a:prstGeom>
            <a:gradFill>
              <a:gsLst>
                <a:gs pos="100000">
                  <a:schemeClr val="accent1">
                    <a:lumMod val="60000"/>
                    <a:lumOff val="40000"/>
                  </a:schemeClr>
                </a:gs>
                <a:gs pos="2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b="1">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套考核评价机制</a:t>
              </a:r>
              <a:endParaRPr lang="zh-CN"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160" name="加号 159"/>
          <p:cNvSpPr/>
          <p:nvPr/>
        </p:nvSpPr>
        <p:spPr>
          <a:xfrm>
            <a:off x="8498840" y="1569720"/>
            <a:ext cx="392430" cy="392430"/>
          </a:xfrm>
          <a:prstGeom prst="mathPlus">
            <a:avLst/>
          </a:prstGeom>
          <a:solidFill>
            <a:srgbClr val="00B0F0"/>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161" name="组合 160"/>
          <p:cNvGrpSpPr/>
          <p:nvPr/>
        </p:nvGrpSpPr>
        <p:grpSpPr>
          <a:xfrm>
            <a:off x="466725" y="5466093"/>
            <a:ext cx="11403330" cy="1246622"/>
            <a:chOff x="436" y="7702"/>
            <a:chExt cx="17958" cy="2712"/>
          </a:xfrm>
        </p:grpSpPr>
        <p:sp>
          <p:nvSpPr>
            <p:cNvPr id="162" name="等腰三角形 161"/>
            <p:cNvSpPr/>
            <p:nvPr/>
          </p:nvSpPr>
          <p:spPr>
            <a:xfrm flipV="1">
              <a:off x="3508" y="7702"/>
              <a:ext cx="11829" cy="705"/>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p>
          </p:txBody>
        </p:sp>
        <p:sp>
          <p:nvSpPr>
            <p:cNvPr id="163" name="矩形 162"/>
            <p:cNvSpPr/>
            <p:nvPr/>
          </p:nvSpPr>
          <p:spPr>
            <a:xfrm>
              <a:off x="436" y="8495"/>
              <a:ext cx="17957" cy="1919"/>
            </a:xfrm>
            <a:prstGeom prst="rect">
              <a:avLst/>
            </a:prstGeom>
            <a:solidFill>
              <a:schemeClr val="bg1"/>
            </a:solidFill>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rtlCol="0" anchor="ctr"/>
            <a:p>
              <a:pPr algn="ctr"/>
              <a:endParaRPr lang="zh-CN" altLang="en-US" sz="1600"/>
            </a:p>
          </p:txBody>
        </p:sp>
        <p:sp>
          <p:nvSpPr>
            <p:cNvPr id="164" name="矩形 163"/>
            <p:cNvSpPr/>
            <p:nvPr/>
          </p:nvSpPr>
          <p:spPr>
            <a:xfrm>
              <a:off x="1068" y="8779"/>
              <a:ext cx="3121" cy="48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dirty="0">
                  <a:solidFill>
                    <a:schemeClr val="bg1"/>
                  </a:solidFill>
                  <a:latin typeface="微软雅黑" panose="020B0503020204020204" pitchFamily="34" charset="-122"/>
                  <a:ea typeface="微软雅黑" panose="020B0503020204020204" pitchFamily="34" charset="-122"/>
                </a:rPr>
                <a:t>洞察客户需求</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165" name="矩形 164"/>
            <p:cNvSpPr/>
            <p:nvPr/>
          </p:nvSpPr>
          <p:spPr>
            <a:xfrm>
              <a:off x="5546" y="8779"/>
              <a:ext cx="3121" cy="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dirty="0">
                  <a:solidFill>
                    <a:schemeClr val="bg1"/>
                  </a:solidFill>
                  <a:latin typeface="微软雅黑" panose="020B0503020204020204" pitchFamily="34" charset="-122"/>
                  <a:ea typeface="微软雅黑" panose="020B0503020204020204" pitchFamily="34" charset="-122"/>
                </a:rPr>
                <a:t>管理客户运营要素</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166" name="矩形 165"/>
            <p:cNvSpPr/>
            <p:nvPr/>
          </p:nvSpPr>
          <p:spPr>
            <a:xfrm>
              <a:off x="10485" y="8779"/>
              <a:ext cx="3121" cy="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dirty="0">
                  <a:solidFill>
                    <a:schemeClr val="bg1"/>
                  </a:solidFill>
                  <a:latin typeface="微软雅黑" panose="020B0503020204020204" pitchFamily="34" charset="-122"/>
                  <a:ea typeface="微软雅黑" panose="020B0503020204020204" pitchFamily="34" charset="-122"/>
                </a:rPr>
                <a:t>开展客户运营</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167" name="矩形 166"/>
            <p:cNvSpPr/>
            <p:nvPr/>
          </p:nvSpPr>
          <p:spPr>
            <a:xfrm>
              <a:off x="14813" y="8779"/>
              <a:ext cx="3121" cy="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dirty="0">
                  <a:solidFill>
                    <a:schemeClr val="bg1"/>
                  </a:solidFill>
                  <a:latin typeface="微软雅黑" panose="020B0503020204020204" pitchFamily="34" charset="-122"/>
                  <a:ea typeface="微软雅黑" panose="020B0503020204020204" pitchFamily="34" charset="-122"/>
                </a:rPr>
                <a:t>提升全员客户思维</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168" name="文本框 167"/>
            <p:cNvSpPr txBox="1"/>
            <p:nvPr/>
          </p:nvSpPr>
          <p:spPr>
            <a:xfrm>
              <a:off x="4628" y="9332"/>
              <a:ext cx="4999" cy="1002"/>
            </a:xfrm>
            <a:prstGeom prst="rect">
              <a:avLst/>
            </a:prstGeom>
            <a:noFill/>
          </p:spPr>
          <p:txBody>
            <a:bodyPr wrap="square" rtlCol="0">
              <a:spAutoFit/>
            </a:bodyPr>
            <a:p>
              <a:pPr algn="ctr">
                <a:buClrTx/>
                <a:buSzTx/>
                <a:buFontTx/>
              </a:pPr>
              <a:r>
                <a:rPr lang="zh-CN" sz="1200" b="1" dirty="0">
                  <a:solidFill>
                    <a:schemeClr val="tx1"/>
                  </a:solidFill>
                  <a:latin typeface="微软雅黑" panose="020B0503020204020204" pitchFamily="34" charset="-122"/>
                  <a:ea typeface="微软雅黑" panose="020B0503020204020204" pitchFamily="34" charset="-122"/>
                  <a:sym typeface="+mn-ea"/>
                </a:rPr>
                <a:t>管理标签、产品、渠道等运营要素</a:t>
              </a:r>
              <a:endParaRPr lang="zh-CN" sz="1200" b="1" dirty="0">
                <a:solidFill>
                  <a:schemeClr val="tx1"/>
                </a:solidFill>
                <a:latin typeface="微软雅黑" panose="020B0503020204020204" pitchFamily="34" charset="-122"/>
                <a:ea typeface="微软雅黑" panose="020B0503020204020204" pitchFamily="34" charset="-122"/>
                <a:sym typeface="+mn-ea"/>
              </a:endParaRPr>
            </a:p>
            <a:p>
              <a:pPr algn="ctr">
                <a:buClrTx/>
                <a:buSzTx/>
                <a:buFontTx/>
              </a:pPr>
              <a:r>
                <a:rPr lang="zh-CN" sz="1200" b="1" dirty="0">
                  <a:solidFill>
                    <a:schemeClr val="tx1"/>
                  </a:solidFill>
                  <a:latin typeface="微软雅黑" panose="020B0503020204020204" pitchFamily="34" charset="-122"/>
                  <a:ea typeface="微软雅黑" panose="020B0503020204020204" pitchFamily="34" charset="-122"/>
                  <a:sym typeface="+mn-ea"/>
                </a:rPr>
                <a:t>推动平台建设，一屏管理调度各运营要素</a:t>
              </a:r>
              <a:endParaRPr lang="zh-CN" sz="1200" b="1" dirty="0">
                <a:solidFill>
                  <a:schemeClr val="tx1"/>
                </a:solidFill>
                <a:latin typeface="微软雅黑" panose="020B0503020204020204" pitchFamily="34" charset="-122"/>
                <a:ea typeface="微软雅黑" panose="020B0503020204020204" pitchFamily="34" charset="-122"/>
                <a:sym typeface="+mn-ea"/>
              </a:endParaRPr>
            </a:p>
          </p:txBody>
        </p:sp>
        <p:sp>
          <p:nvSpPr>
            <p:cNvPr id="169" name="文本框 168"/>
            <p:cNvSpPr txBox="1"/>
            <p:nvPr/>
          </p:nvSpPr>
          <p:spPr>
            <a:xfrm>
              <a:off x="9714" y="9296"/>
              <a:ext cx="4891" cy="1116"/>
            </a:xfrm>
            <a:prstGeom prst="rect">
              <a:avLst/>
            </a:prstGeom>
            <a:noFill/>
          </p:spPr>
          <p:txBody>
            <a:bodyPr wrap="square" rtlCol="0">
              <a:noAutofit/>
            </a:bodyPr>
            <a:p>
              <a:pPr algn="ctr">
                <a:buClrTx/>
                <a:buSzTx/>
                <a:buFontTx/>
              </a:pPr>
              <a:r>
                <a:rPr lang="zh-CN" sz="1200" b="1" dirty="0">
                  <a:solidFill>
                    <a:schemeClr val="tx1"/>
                  </a:solidFill>
                  <a:latin typeface="微软雅黑" panose="020B0503020204020204" pitchFamily="34" charset="-122"/>
                  <a:ea typeface="微软雅黑" panose="020B0503020204020204" pitchFamily="34" charset="-122"/>
                  <a:sym typeface="+mn-ea"/>
                </a:rPr>
                <a:t>聚焦业务目标，开展客户全生命周期运营</a:t>
              </a:r>
              <a:endParaRPr lang="zh-CN" sz="1200" b="1" dirty="0">
                <a:solidFill>
                  <a:schemeClr val="tx1"/>
                </a:solidFill>
                <a:latin typeface="微软雅黑" panose="020B0503020204020204" pitchFamily="34" charset="-122"/>
                <a:ea typeface="微软雅黑" panose="020B0503020204020204" pitchFamily="34" charset="-122"/>
                <a:sym typeface="+mn-ea"/>
              </a:endParaRPr>
            </a:p>
            <a:p>
              <a:pPr algn="ctr">
                <a:buClrTx/>
                <a:buSzTx/>
                <a:buFontTx/>
              </a:pPr>
              <a:r>
                <a:rPr lang="zh-CN" sz="1200" b="1" dirty="0">
                  <a:solidFill>
                    <a:schemeClr val="tx1"/>
                  </a:solidFill>
                  <a:latin typeface="微软雅黑" panose="020B0503020204020204" pitchFamily="34" charset="-122"/>
                  <a:ea typeface="微软雅黑" panose="020B0503020204020204" pitchFamily="34" charset="-122"/>
                  <a:sym typeface="+mn-ea"/>
                </a:rPr>
                <a:t>持续迭代标签等运营要素及运营能力</a:t>
              </a:r>
              <a:endParaRPr lang="zh-CN" sz="1200" b="1" dirty="0">
                <a:solidFill>
                  <a:schemeClr val="tx1"/>
                </a:solidFill>
                <a:latin typeface="微软雅黑" panose="020B0503020204020204" pitchFamily="34" charset="-122"/>
                <a:ea typeface="微软雅黑" panose="020B0503020204020204" pitchFamily="34" charset="-122"/>
                <a:sym typeface="+mn-ea"/>
              </a:endParaRPr>
            </a:p>
            <a:p>
              <a:pPr algn="ctr">
                <a:buClrTx/>
                <a:buSzTx/>
                <a:buFontTx/>
              </a:pPr>
              <a:endParaRPr lang="zh-CN" sz="1200" b="1" dirty="0">
                <a:solidFill>
                  <a:schemeClr val="tx1"/>
                </a:solidFill>
                <a:latin typeface="微软雅黑" panose="020B0503020204020204" pitchFamily="34" charset="-122"/>
                <a:ea typeface="微软雅黑" panose="020B0503020204020204" pitchFamily="34" charset="-122"/>
                <a:sym typeface="+mn-ea"/>
              </a:endParaRPr>
            </a:p>
          </p:txBody>
        </p:sp>
        <p:sp>
          <p:nvSpPr>
            <p:cNvPr id="170" name="文本框 169"/>
            <p:cNvSpPr txBox="1"/>
            <p:nvPr/>
          </p:nvSpPr>
          <p:spPr>
            <a:xfrm>
              <a:off x="14670" y="9273"/>
              <a:ext cx="3724" cy="1002"/>
            </a:xfrm>
            <a:prstGeom prst="rect">
              <a:avLst/>
            </a:prstGeom>
            <a:noFill/>
          </p:spPr>
          <p:txBody>
            <a:bodyPr wrap="square" rtlCol="0">
              <a:spAutoFit/>
            </a:bodyPr>
            <a:p>
              <a:pPr algn="ctr"/>
              <a:r>
                <a:rPr lang="zh-CN" sz="1200" b="1" dirty="0">
                  <a:solidFill>
                    <a:schemeClr val="tx1"/>
                  </a:solidFill>
                  <a:latin typeface="微软雅黑" panose="020B0503020204020204" pitchFamily="34" charset="-122"/>
                  <a:ea typeface="微软雅黑" panose="020B0503020204020204" pitchFamily="34" charset="-122"/>
                  <a:sym typeface="+mn-ea"/>
                </a:rPr>
                <a:t>常态开展客户思维培训</a:t>
              </a:r>
              <a:endParaRPr lang="zh-CN" sz="1200" b="1" dirty="0">
                <a:solidFill>
                  <a:schemeClr val="tx1"/>
                </a:solidFill>
                <a:latin typeface="微软雅黑" panose="020B0503020204020204" pitchFamily="34" charset="-122"/>
                <a:ea typeface="微软雅黑" panose="020B0503020204020204" pitchFamily="34" charset="-122"/>
                <a:sym typeface="+mn-ea"/>
              </a:endParaRPr>
            </a:p>
            <a:p>
              <a:pPr algn="ctr"/>
              <a:r>
                <a:rPr lang="zh-CN" sz="1200" b="1" dirty="0">
                  <a:solidFill>
                    <a:schemeClr val="tx1"/>
                  </a:solidFill>
                  <a:latin typeface="微软雅黑" panose="020B0503020204020204" pitchFamily="34" charset="-122"/>
                  <a:ea typeface="微软雅黑" panose="020B0503020204020204" pitchFamily="34" charset="-122"/>
                  <a:sym typeface="+mn-ea"/>
                </a:rPr>
                <a:t>以数据、</a:t>
              </a:r>
              <a:r>
                <a:rPr lang="en-US" altLang="zh-CN" sz="1200" b="1" dirty="0">
                  <a:solidFill>
                    <a:schemeClr val="tx1"/>
                  </a:solidFill>
                  <a:latin typeface="微软雅黑" panose="020B0503020204020204" pitchFamily="34" charset="-122"/>
                  <a:ea typeface="微软雅黑" panose="020B0503020204020204" pitchFamily="34" charset="-122"/>
                  <a:sym typeface="+mn-ea"/>
                </a:rPr>
                <a:t>AI</a:t>
              </a:r>
              <a:r>
                <a:rPr lang="zh-CN" altLang="en-US" sz="1200" b="1" dirty="0">
                  <a:solidFill>
                    <a:schemeClr val="tx1"/>
                  </a:solidFill>
                  <a:latin typeface="微软雅黑" panose="020B0503020204020204" pitchFamily="34" charset="-122"/>
                  <a:ea typeface="微软雅黑" panose="020B0503020204020204" pitchFamily="34" charset="-122"/>
                  <a:sym typeface="+mn-ea"/>
                </a:rPr>
                <a:t>持续驱动能力升级</a:t>
              </a:r>
              <a:endParaRPr lang="zh-CN" altLang="en-US" sz="1200" b="1" dirty="0">
                <a:solidFill>
                  <a:schemeClr val="tx1"/>
                </a:solidFill>
                <a:latin typeface="微软雅黑" panose="020B0503020204020204" pitchFamily="34" charset="-122"/>
                <a:ea typeface="微软雅黑" panose="020B0503020204020204" pitchFamily="34" charset="-122"/>
                <a:sym typeface="+mn-ea"/>
              </a:endParaRPr>
            </a:p>
          </p:txBody>
        </p:sp>
        <p:sp>
          <p:nvSpPr>
            <p:cNvPr id="171" name="文本框 170"/>
            <p:cNvSpPr txBox="1"/>
            <p:nvPr/>
          </p:nvSpPr>
          <p:spPr>
            <a:xfrm>
              <a:off x="8641" y="7725"/>
              <a:ext cx="1794" cy="600"/>
            </a:xfrm>
            <a:prstGeom prst="rect">
              <a:avLst/>
            </a:prstGeom>
            <a:noFill/>
          </p:spPr>
          <p:txBody>
            <a:bodyPr wrap="square" rtlCol="0">
              <a:spAutoFit/>
            </a:bodyPr>
            <a:p>
              <a:pPr algn="ctr">
                <a:buClrTx/>
                <a:buSzTx/>
                <a:buFontTx/>
              </a:pPr>
              <a:r>
                <a:rPr lang="zh-CN" altLang="en-US" sz="1200" b="1" dirty="0">
                  <a:solidFill>
                    <a:schemeClr val="tx1"/>
                  </a:solidFill>
                  <a:latin typeface="微软雅黑" panose="020B0503020204020204" pitchFamily="34" charset="-122"/>
                  <a:ea typeface="微软雅黑" panose="020B0503020204020204" pitchFamily="34" charset="-122"/>
                </a:rPr>
                <a:t>团队职责</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grpSp>
      <p:sp>
        <p:nvSpPr>
          <p:cNvPr id="172" name="文本框 171"/>
          <p:cNvSpPr txBox="1"/>
          <p:nvPr/>
        </p:nvSpPr>
        <p:spPr>
          <a:xfrm>
            <a:off x="316230" y="6200140"/>
            <a:ext cx="3048000" cy="460375"/>
          </a:xfrm>
          <a:prstGeom prst="rect">
            <a:avLst/>
          </a:prstGeom>
          <a:noFill/>
        </p:spPr>
        <p:txBody>
          <a:bodyPr wrap="square" rtlCol="0">
            <a:spAutoFit/>
          </a:bodyPr>
          <a:p>
            <a:pPr algn="ctr">
              <a:buClrTx/>
              <a:buSzTx/>
              <a:buFontTx/>
            </a:pPr>
            <a:r>
              <a:rPr lang="zh-CN" sz="1200" b="1" dirty="0">
                <a:solidFill>
                  <a:schemeClr val="tx1"/>
                </a:solidFill>
                <a:latin typeface="微软雅黑" panose="020B0503020204020204" pitchFamily="34" charset="-122"/>
                <a:ea typeface="微软雅黑" panose="020B0503020204020204" pitchFamily="34" charset="-122"/>
                <a:sym typeface="+mn-ea"/>
              </a:rPr>
              <a:t>洞察客户全生命周期需求，</a:t>
            </a:r>
            <a:endParaRPr lang="zh-CN" sz="1200" b="1" dirty="0">
              <a:solidFill>
                <a:schemeClr val="tx1"/>
              </a:solidFill>
              <a:latin typeface="微软雅黑" panose="020B0503020204020204" pitchFamily="34" charset="-122"/>
              <a:ea typeface="微软雅黑" panose="020B0503020204020204" pitchFamily="34" charset="-122"/>
              <a:sym typeface="+mn-ea"/>
            </a:endParaRPr>
          </a:p>
          <a:p>
            <a:pPr algn="ctr">
              <a:buClrTx/>
              <a:buSzTx/>
              <a:buFontTx/>
            </a:pPr>
            <a:r>
              <a:rPr lang="zh-CN" sz="1200" b="1" dirty="0">
                <a:solidFill>
                  <a:schemeClr val="tx1"/>
                </a:solidFill>
                <a:latin typeface="微软雅黑" panose="020B0503020204020204" pitchFamily="34" charset="-122"/>
                <a:ea typeface="微软雅黑" panose="020B0503020204020204" pitchFamily="34" charset="-122"/>
                <a:sym typeface="+mn-ea"/>
              </a:rPr>
              <a:t>推动运营能力开发和建设</a:t>
            </a:r>
            <a:endParaRPr lang="zh-CN" sz="1200" b="1" dirty="0">
              <a:solidFill>
                <a:schemeClr val="tx1"/>
              </a:solidFill>
              <a:latin typeface="微软雅黑" panose="020B0503020204020204" pitchFamily="34" charset="-122"/>
              <a:ea typeface="微软雅黑" panose="020B0503020204020204" pitchFamily="34" charset="-122"/>
              <a:sym typeface="+mn-ea"/>
            </a:endParaRPr>
          </a:p>
        </p:txBody>
      </p:sp>
      <p:grpSp>
        <p:nvGrpSpPr>
          <p:cNvPr id="181" name="组合 180"/>
          <p:cNvGrpSpPr/>
          <p:nvPr/>
        </p:nvGrpSpPr>
        <p:grpSpPr>
          <a:xfrm>
            <a:off x="9147858" y="3167380"/>
            <a:ext cx="2705100" cy="1559560"/>
            <a:chOff x="13742" y="5460"/>
            <a:chExt cx="4601" cy="2140"/>
          </a:xfrm>
        </p:grpSpPr>
        <p:sp>
          <p:nvSpPr>
            <p:cNvPr id="173" name="矩形 172"/>
            <p:cNvSpPr/>
            <p:nvPr/>
          </p:nvSpPr>
          <p:spPr>
            <a:xfrm>
              <a:off x="13805" y="6203"/>
              <a:ext cx="1120" cy="57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b="1" dirty="0">
                  <a:solidFill>
                    <a:schemeClr val="bg1"/>
                  </a:solidFill>
                  <a:latin typeface="微软雅黑" panose="020B0503020204020204" pitchFamily="34" charset="-122"/>
                  <a:ea typeface="微软雅黑" panose="020B0503020204020204" pitchFamily="34" charset="-122"/>
                </a:rPr>
                <a:t>建设</a:t>
              </a:r>
              <a:endParaRPr lang="zh-CN" altLang="en-US" sz="1000" b="1" dirty="0">
                <a:solidFill>
                  <a:schemeClr val="bg1"/>
                </a:solidFill>
                <a:latin typeface="微软雅黑" panose="020B0503020204020204" pitchFamily="34" charset="-122"/>
                <a:ea typeface="微软雅黑" panose="020B0503020204020204" pitchFamily="34" charset="-122"/>
              </a:endParaRPr>
            </a:p>
            <a:p>
              <a:pPr algn="ctr"/>
              <a:r>
                <a:rPr lang="zh-CN" altLang="en-US" sz="1000" b="1" dirty="0">
                  <a:solidFill>
                    <a:schemeClr val="bg1"/>
                  </a:solidFill>
                  <a:latin typeface="微软雅黑" panose="020B0503020204020204" pitchFamily="34" charset="-122"/>
                  <a:ea typeface="微软雅黑" panose="020B0503020204020204" pitchFamily="34" charset="-122"/>
                </a:rPr>
                <a:t>成效</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174" name="矩形 173"/>
            <p:cNvSpPr/>
            <p:nvPr/>
          </p:nvSpPr>
          <p:spPr>
            <a:xfrm>
              <a:off x="15414" y="6209"/>
              <a:ext cx="1090" cy="56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b="1" dirty="0">
                  <a:solidFill>
                    <a:schemeClr val="bg1"/>
                  </a:solidFill>
                  <a:latin typeface="微软雅黑" panose="020B0503020204020204" pitchFamily="34" charset="-122"/>
                  <a:ea typeface="微软雅黑" panose="020B0503020204020204" pitchFamily="34" charset="-122"/>
                  <a:sym typeface="+mn-ea"/>
                </a:rPr>
                <a:t>使用</a:t>
              </a:r>
              <a:endParaRPr lang="zh-CN" altLang="en-US" sz="1000" b="1" dirty="0">
                <a:solidFill>
                  <a:schemeClr val="bg1"/>
                </a:solidFill>
                <a:latin typeface="微软雅黑" panose="020B0503020204020204" pitchFamily="34" charset="-122"/>
                <a:ea typeface="微软雅黑" panose="020B0503020204020204" pitchFamily="34" charset="-122"/>
                <a:sym typeface="+mn-ea"/>
              </a:endParaRPr>
            </a:p>
            <a:p>
              <a:pPr lvl="0" algn="ctr">
                <a:buClrTx/>
                <a:buSzTx/>
                <a:buFontTx/>
              </a:pPr>
              <a:r>
                <a:rPr lang="zh-CN" altLang="en-US" sz="1000" b="1" dirty="0">
                  <a:solidFill>
                    <a:schemeClr val="bg1"/>
                  </a:solidFill>
                  <a:latin typeface="微软雅黑" panose="020B0503020204020204" pitchFamily="34" charset="-122"/>
                  <a:ea typeface="微软雅黑" panose="020B0503020204020204" pitchFamily="34" charset="-122"/>
                  <a:sym typeface="+mn-ea"/>
                </a:rPr>
                <a:t>成效</a:t>
              </a:r>
              <a:endParaRPr lang="zh-CN" altLang="en-US" sz="1000" b="1" dirty="0">
                <a:solidFill>
                  <a:schemeClr val="bg1"/>
                </a:solidFill>
                <a:latin typeface="微软雅黑" panose="020B0503020204020204" pitchFamily="34" charset="-122"/>
                <a:ea typeface="微软雅黑" panose="020B0503020204020204" pitchFamily="34" charset="-122"/>
                <a:sym typeface="+mn-ea"/>
              </a:endParaRPr>
            </a:p>
          </p:txBody>
        </p:sp>
        <p:sp>
          <p:nvSpPr>
            <p:cNvPr id="175" name="文本框 174"/>
            <p:cNvSpPr txBox="1"/>
            <p:nvPr/>
          </p:nvSpPr>
          <p:spPr>
            <a:xfrm>
              <a:off x="14865" y="6100"/>
              <a:ext cx="543" cy="632"/>
            </a:xfrm>
            <a:prstGeom prst="rect">
              <a:avLst/>
            </a:prstGeom>
            <a:noFill/>
          </p:spPr>
          <p:txBody>
            <a:bodyPr wrap="square" rtlCol="0">
              <a:spAutoFit/>
            </a:bodyPr>
            <a:p>
              <a:r>
                <a:rPr lang="en-US" altLang="zh-CN" sz="2400" b="1"/>
                <a:t>+</a:t>
              </a:r>
              <a:endParaRPr lang="en-US" altLang="zh-CN" sz="2400" b="1"/>
            </a:p>
          </p:txBody>
        </p:sp>
        <p:sp>
          <p:nvSpPr>
            <p:cNvPr id="176" name="矩形 175"/>
            <p:cNvSpPr/>
            <p:nvPr/>
          </p:nvSpPr>
          <p:spPr>
            <a:xfrm>
              <a:off x="17056" y="6210"/>
              <a:ext cx="1090" cy="56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b="1" dirty="0">
                  <a:solidFill>
                    <a:schemeClr val="bg1"/>
                  </a:solidFill>
                  <a:latin typeface="微软雅黑" panose="020B0503020204020204" pitchFamily="34" charset="-122"/>
                  <a:ea typeface="微软雅黑" panose="020B0503020204020204" pitchFamily="34" charset="-122"/>
                  <a:sym typeface="+mn-ea"/>
                </a:rPr>
                <a:t>治理</a:t>
              </a:r>
              <a:endParaRPr lang="zh-CN" altLang="en-US" sz="1000" b="1" dirty="0">
                <a:solidFill>
                  <a:schemeClr val="bg1"/>
                </a:solidFill>
                <a:latin typeface="微软雅黑" panose="020B0503020204020204" pitchFamily="34" charset="-122"/>
                <a:ea typeface="微软雅黑" panose="020B0503020204020204" pitchFamily="34" charset="-122"/>
                <a:sym typeface="+mn-ea"/>
              </a:endParaRPr>
            </a:p>
            <a:p>
              <a:pPr lvl="0" algn="ctr">
                <a:buClrTx/>
                <a:buSzTx/>
                <a:buFontTx/>
              </a:pPr>
              <a:r>
                <a:rPr lang="zh-CN" altLang="en-US" sz="1000" b="1" dirty="0">
                  <a:solidFill>
                    <a:schemeClr val="bg1"/>
                  </a:solidFill>
                  <a:latin typeface="微软雅黑" panose="020B0503020204020204" pitchFamily="34" charset="-122"/>
                  <a:ea typeface="微软雅黑" panose="020B0503020204020204" pitchFamily="34" charset="-122"/>
                  <a:sym typeface="+mn-ea"/>
                </a:rPr>
                <a:t>成效</a:t>
              </a:r>
              <a:endParaRPr lang="zh-CN" altLang="en-US" sz="1000" b="1" dirty="0">
                <a:solidFill>
                  <a:schemeClr val="bg1"/>
                </a:solidFill>
                <a:latin typeface="微软雅黑" panose="020B0503020204020204" pitchFamily="34" charset="-122"/>
                <a:ea typeface="微软雅黑" panose="020B0503020204020204" pitchFamily="34" charset="-122"/>
                <a:sym typeface="+mn-ea"/>
              </a:endParaRPr>
            </a:p>
          </p:txBody>
        </p:sp>
        <p:sp>
          <p:nvSpPr>
            <p:cNvPr id="177" name="文本框 176"/>
            <p:cNvSpPr txBox="1"/>
            <p:nvPr/>
          </p:nvSpPr>
          <p:spPr>
            <a:xfrm>
              <a:off x="16507" y="6101"/>
              <a:ext cx="543" cy="632"/>
            </a:xfrm>
            <a:prstGeom prst="rect">
              <a:avLst/>
            </a:prstGeom>
            <a:noFill/>
          </p:spPr>
          <p:txBody>
            <a:bodyPr wrap="square" rtlCol="0">
              <a:spAutoFit/>
            </a:bodyPr>
            <a:p>
              <a:r>
                <a:rPr lang="en-US" altLang="zh-CN" sz="2400" b="1"/>
                <a:t>+</a:t>
              </a:r>
              <a:endParaRPr lang="en-US" altLang="zh-CN" sz="2400" b="1"/>
            </a:p>
          </p:txBody>
        </p:sp>
        <p:sp>
          <p:nvSpPr>
            <p:cNvPr id="178" name="椭圆 177"/>
            <p:cNvSpPr/>
            <p:nvPr/>
          </p:nvSpPr>
          <p:spPr>
            <a:xfrm>
              <a:off x="13742" y="5460"/>
              <a:ext cx="4601" cy="2140"/>
            </a:xfrm>
            <a:prstGeom prst="ellipse">
              <a:avLst/>
            </a:prstGeom>
            <a:noFill/>
            <a:ln>
              <a:solidFill>
                <a:schemeClr val="bg1">
                  <a:lumMod val="8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p>
          </p:txBody>
        </p:sp>
        <p:sp>
          <p:nvSpPr>
            <p:cNvPr id="179" name="文本框 178"/>
            <p:cNvSpPr txBox="1"/>
            <p:nvPr/>
          </p:nvSpPr>
          <p:spPr>
            <a:xfrm>
              <a:off x="15104" y="5534"/>
              <a:ext cx="1946" cy="378"/>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强化考核评价</a:t>
              </a:r>
              <a:endParaRPr lang="zh-CN" altLang="en-US" sz="1200" b="1">
                <a:latin typeface="微软雅黑" panose="020B0503020204020204" pitchFamily="34" charset="-122"/>
                <a:ea typeface="微软雅黑" panose="020B0503020204020204" pitchFamily="34" charset="-122"/>
              </a:endParaRPr>
            </a:p>
          </p:txBody>
        </p:sp>
        <p:sp>
          <p:nvSpPr>
            <p:cNvPr id="180" name="文本框 179"/>
            <p:cNvSpPr txBox="1"/>
            <p:nvPr/>
          </p:nvSpPr>
          <p:spPr>
            <a:xfrm>
              <a:off x="14124" y="6939"/>
              <a:ext cx="4132" cy="547"/>
            </a:xfrm>
            <a:prstGeom prst="rect">
              <a:avLst/>
            </a:prstGeom>
            <a:noFill/>
          </p:spPr>
          <p:txBody>
            <a:bodyPr wrap="square" rtlCol="0">
              <a:spAutoFit/>
            </a:bodyPr>
            <a:p>
              <a:r>
                <a:rPr lang="zh-CN" altLang="en-US" sz="1000" b="1">
                  <a:latin typeface="微软雅黑" panose="020B0503020204020204" pitchFamily="34" charset="-122"/>
                  <a:ea typeface="微软雅黑" panose="020B0503020204020204" pitchFamily="34" charset="-122"/>
                </a:rPr>
                <a:t>通过建设成效、使用成效、治理成效三个维度来评价考核数智化转型运营成效</a:t>
              </a:r>
              <a:endParaRPr lang="zh-CN" altLang="en-US" sz="1000" b="1">
                <a:latin typeface="微软雅黑" panose="020B0503020204020204" pitchFamily="34" charset="-122"/>
                <a:ea typeface="微软雅黑" panose="020B0503020204020204" pitchFamily="34" charset="-122"/>
              </a:endParaRPr>
            </a:p>
          </p:txBody>
        </p:sp>
      </p:grpSp>
      <p:sp>
        <p:nvSpPr>
          <p:cNvPr id="182" name="下箭头 181"/>
          <p:cNvSpPr/>
          <p:nvPr/>
        </p:nvSpPr>
        <p:spPr>
          <a:xfrm>
            <a:off x="9948577" y="2741393"/>
            <a:ext cx="1124951" cy="233280"/>
          </a:xfrm>
          <a:prstGeom prst="down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线连接符 4"/>
          <p:cNvCxnSpPr/>
          <p:nvPr/>
        </p:nvCxnSpPr>
        <p:spPr>
          <a:xfrm>
            <a:off x="3344633" y="1228165"/>
            <a:ext cx="0" cy="4545106"/>
          </a:xfrm>
          <a:prstGeom prst="line">
            <a:avLst/>
          </a:prstGeom>
          <a:ln>
            <a:gradFill>
              <a:gsLst>
                <a:gs pos="0">
                  <a:schemeClr val="accent1">
                    <a:alpha val="0"/>
                  </a:schemeClr>
                </a:gs>
                <a:gs pos="29000">
                  <a:schemeClr val="accent1"/>
                </a:gs>
                <a:gs pos="8300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519889" y="1443318"/>
            <a:ext cx="824743" cy="1200329"/>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1" lang="zh-CN" altLang="en-US"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目录</a:t>
            </a:r>
            <a:endParaRPr kumimoji="1" lang="zh-CN" altLang="en-US"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rot="5400000">
            <a:off x="1775612" y="3518823"/>
            <a:ext cx="2491708" cy="646331"/>
          </a:xfrm>
          <a:prstGeom prst="rect">
            <a:avLst/>
          </a:prstGeom>
          <a:noFill/>
        </p:spPr>
        <p:txBody>
          <a:bodyPr wrap="none"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EEEFEE"/>
                </a:solidFill>
                <a:effectLst/>
                <a:uLnTx/>
                <a:uFillTx/>
                <a:latin typeface="微软雅黑" panose="020B0503020204020204" pitchFamily="34" charset="-122"/>
                <a:ea typeface="微软雅黑" panose="020B0503020204020204" pitchFamily="34" charset="-122"/>
                <a:cs typeface="+mn-cs"/>
              </a:rPr>
              <a:t>CONTENT</a:t>
            </a:r>
            <a:endParaRPr kumimoji="1" lang="zh-CN" altLang="en-US" sz="3600" b="1" i="0" u="none" strike="noStrike" kern="1200" cap="none" spc="0" normalizeH="0" baseline="0" noProof="0" dirty="0">
              <a:ln>
                <a:noFill/>
              </a:ln>
              <a:solidFill>
                <a:srgbClr val="EEEFEE"/>
              </a:solidFill>
              <a:effectLst/>
              <a:uLnTx/>
              <a:uFillTx/>
              <a:latin typeface="微软雅黑" panose="020B0503020204020204" pitchFamily="34" charset="-122"/>
              <a:ea typeface="微软雅黑" panose="020B0503020204020204" pitchFamily="34" charset="-122"/>
              <a:cs typeface="+mn-cs"/>
            </a:endParaRPr>
          </a:p>
        </p:txBody>
      </p:sp>
      <p:sp>
        <p:nvSpPr>
          <p:cNvPr id="8" name="Parallelogram 16"/>
          <p:cNvSpPr/>
          <p:nvPr>
            <p:custDataLst>
              <p:tags r:id="rId1"/>
            </p:custDataLst>
          </p:nvPr>
        </p:nvSpPr>
        <p:spPr>
          <a:xfrm>
            <a:off x="4455160" y="2550160"/>
            <a:ext cx="4114800" cy="501650"/>
          </a:xfrm>
          <a:prstGeom prst="parallelogram">
            <a:avLst>
              <a:gd name="adj" fmla="val 35345"/>
            </a:avLst>
          </a:prstGeom>
          <a:solidFill>
            <a:srgbClr val="F2F2F2"/>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2000" b="1" dirty="0">
              <a:solidFill>
                <a:srgbClr val="FFFFFF"/>
              </a:solidFill>
              <a:latin typeface="微软雅黑" panose="020B0503020204020204" pitchFamily="34" charset="-122"/>
              <a:ea typeface="微软雅黑" panose="020B0503020204020204" pitchFamily="34" charset="-122"/>
              <a:sym typeface="+mn-ea"/>
            </a:endParaRPr>
          </a:p>
        </p:txBody>
      </p:sp>
      <p:sp>
        <p:nvSpPr>
          <p:cNvPr id="9" name="Parallelogram 2"/>
          <p:cNvSpPr/>
          <p:nvPr>
            <p:custDataLst>
              <p:tags r:id="rId2"/>
            </p:custDataLst>
          </p:nvPr>
        </p:nvSpPr>
        <p:spPr>
          <a:xfrm>
            <a:off x="3852545" y="2550160"/>
            <a:ext cx="780415" cy="501650"/>
          </a:xfrm>
          <a:prstGeom prst="parallelogram">
            <a:avLst>
              <a:gd name="adj" fmla="val 35345"/>
            </a:avLst>
          </a:prstGeom>
          <a:solidFill>
            <a:schemeClr val="tx1">
              <a:lumMod val="50000"/>
              <a:lumOff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r>
              <a:rPr kumimoji="1" lang="en-US" altLang="zh-CN" sz="2000" b="1">
                <a:solidFill>
                  <a:srgbClr val="FFFFFF"/>
                </a:solidFill>
                <a:latin typeface="微软雅黑" panose="020B0503020204020204" pitchFamily="34" charset="-122"/>
                <a:ea typeface="微软雅黑" panose="020B0503020204020204" pitchFamily="34" charset="-122"/>
                <a:sym typeface="+mn-ea"/>
              </a:rPr>
              <a:t>02</a:t>
            </a:r>
            <a:endParaRPr kumimoji="1" lang="en-US" altLang="zh-CN" sz="2000" b="1">
              <a:solidFill>
                <a:srgbClr val="FFFFFF"/>
              </a:solidFill>
              <a:latin typeface="微软雅黑" panose="020B0503020204020204" pitchFamily="34" charset="-122"/>
              <a:ea typeface="微软雅黑" panose="020B0503020204020204" pitchFamily="34" charset="-122"/>
              <a:sym typeface="+mn-ea"/>
            </a:endParaRPr>
          </a:p>
        </p:txBody>
      </p:sp>
      <p:sp>
        <p:nvSpPr>
          <p:cNvPr id="10" name="文本框 18"/>
          <p:cNvSpPr/>
          <p:nvPr>
            <p:custDataLst>
              <p:tags r:id="rId3"/>
            </p:custDataLst>
          </p:nvPr>
        </p:nvSpPr>
        <p:spPr>
          <a:xfrm flipH="1">
            <a:off x="4643120" y="2602230"/>
            <a:ext cx="3778885" cy="398780"/>
          </a:xfrm>
          <a:prstGeom prst="rect">
            <a:avLst/>
          </a:prstGeom>
          <a:noFill/>
          <a:ln w="28575">
            <a:noFill/>
          </a:ln>
          <a:extLst>
            <a:ext uri="{909E8E84-426E-40DD-AFC4-6F175D3DCCD1}">
              <a14:hiddenFill xmlns:a14="http://schemas.microsoft.com/office/drawing/2010/main">
                <a:solidFill>
                  <a:srgbClr val="0070C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r>
              <a:rPr kumimoji="1" lang="zh-CN" altLang="en-US" sz="2400" b="1">
                <a:solidFill>
                  <a:schemeClr val="tx1">
                    <a:lumMod val="50000"/>
                    <a:lumOff val="50000"/>
                  </a:schemeClr>
                </a:solidFill>
                <a:latin typeface="微软雅黑" panose="020B0503020204020204" pitchFamily="34" charset="-122"/>
                <a:ea typeface="微软雅黑" panose="020B0503020204020204" pitchFamily="34" charset="-122"/>
                <a:sym typeface="+mn-ea"/>
              </a:rPr>
              <a:t>规划路径</a:t>
            </a:r>
            <a:endParaRPr kumimoji="1" lang="zh-CN" altLang="en-US" sz="2400" b="1">
              <a:solidFill>
                <a:schemeClr val="tx1">
                  <a:lumMod val="50000"/>
                  <a:lumOff val="50000"/>
                </a:schemeClr>
              </a:solidFill>
              <a:latin typeface="微软雅黑" panose="020B0503020204020204" pitchFamily="34" charset="-122"/>
              <a:ea typeface="微软雅黑" panose="020B0503020204020204" pitchFamily="34" charset="-122"/>
              <a:sym typeface="+mn-ea"/>
            </a:endParaRPr>
          </a:p>
        </p:txBody>
      </p:sp>
      <p:sp>
        <p:nvSpPr>
          <p:cNvPr id="26" name="Parallelogram 16"/>
          <p:cNvSpPr/>
          <p:nvPr/>
        </p:nvSpPr>
        <p:spPr>
          <a:xfrm>
            <a:off x="4465320" y="1664970"/>
            <a:ext cx="4114800" cy="501650"/>
          </a:xfrm>
          <a:prstGeom prst="parallelogram">
            <a:avLst>
              <a:gd name="adj" fmla="val 35345"/>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2000" b="1" dirty="0">
              <a:solidFill>
                <a:srgbClr val="FFFFFF"/>
              </a:solidFill>
              <a:latin typeface="微软雅黑" panose="020B0503020204020204" pitchFamily="34" charset="-122"/>
              <a:ea typeface="微软雅黑" panose="020B0503020204020204" pitchFamily="34" charset="-122"/>
              <a:sym typeface="+mn-ea"/>
            </a:endParaRPr>
          </a:p>
        </p:txBody>
      </p:sp>
      <p:sp>
        <p:nvSpPr>
          <p:cNvPr id="27" name="Parallelogram 2"/>
          <p:cNvSpPr/>
          <p:nvPr/>
        </p:nvSpPr>
        <p:spPr>
          <a:xfrm>
            <a:off x="3862705" y="1664970"/>
            <a:ext cx="780415" cy="501650"/>
          </a:xfrm>
          <a:prstGeom prst="parallelogram">
            <a:avLst>
              <a:gd name="adj" fmla="val 35345"/>
            </a:avLst>
          </a:prstGeom>
          <a:solidFill>
            <a:schemeClr val="accent4">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kumimoji="1" lang="en-US" altLang="zh-CN" sz="2000" b="1">
                <a:solidFill>
                  <a:srgbClr val="FFFFFF"/>
                </a:solidFill>
                <a:latin typeface="微软雅黑" panose="020B0503020204020204" pitchFamily="34" charset="-122"/>
                <a:ea typeface="微软雅黑" panose="020B0503020204020204" pitchFamily="34" charset="-122"/>
              </a:rPr>
              <a:t>01</a:t>
            </a:r>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28" name="文本框 18"/>
          <p:cNvSpPr/>
          <p:nvPr/>
        </p:nvSpPr>
        <p:spPr>
          <a:xfrm flipH="1">
            <a:off x="4700270" y="1685925"/>
            <a:ext cx="3731260" cy="460375"/>
          </a:xfrm>
          <a:prstGeom prst="rect">
            <a:avLst/>
          </a:prstGeom>
          <a:noFill/>
          <a:ln w="28575">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r>
              <a:rPr kumimoji="1" lang="zh-CN" altLang="en-US" sz="2400" b="1" dirty="0">
                <a:solidFill>
                  <a:schemeClr val="accent4">
                    <a:lumMod val="50000"/>
                  </a:schemeClr>
                </a:solidFill>
                <a:latin typeface="微软雅黑" panose="020B0503020204020204" pitchFamily="34" charset="-122"/>
                <a:ea typeface="微软雅黑" panose="020B0503020204020204" pitchFamily="34" charset="-122"/>
                <a:sym typeface="+mn-ea"/>
              </a:rPr>
              <a:t>问题</a:t>
            </a:r>
            <a:r>
              <a:rPr kumimoji="1" lang="zh-CN" altLang="en-US" sz="2400" b="1" dirty="0">
                <a:solidFill>
                  <a:schemeClr val="accent4">
                    <a:lumMod val="50000"/>
                  </a:schemeClr>
                </a:solidFill>
                <a:latin typeface="微软雅黑" panose="020B0503020204020204" pitchFamily="34" charset="-122"/>
                <a:ea typeface="微软雅黑" panose="020B0503020204020204" pitchFamily="34" charset="-122"/>
                <a:sym typeface="+mn-ea"/>
              </a:rPr>
              <a:t>分析</a:t>
            </a:r>
            <a:endParaRPr kumimoji="1" lang="zh-CN" altLang="en-US" sz="2400" b="1" dirty="0">
              <a:solidFill>
                <a:schemeClr val="accent4">
                  <a:lumMod val="50000"/>
                </a:schemeClr>
              </a:solidFill>
              <a:latin typeface="微软雅黑" panose="020B0503020204020204" pitchFamily="34" charset="-122"/>
              <a:ea typeface="微软雅黑" panose="020B0503020204020204" pitchFamily="34" charset="-122"/>
              <a:sym typeface="+mn-ea"/>
            </a:endParaRPr>
          </a:p>
        </p:txBody>
      </p:sp>
      <p:sp>
        <p:nvSpPr>
          <p:cNvPr id="30" name="Parallelogram 16"/>
          <p:cNvSpPr/>
          <p:nvPr/>
        </p:nvSpPr>
        <p:spPr>
          <a:xfrm>
            <a:off x="4384675" y="3455670"/>
            <a:ext cx="4114800" cy="501650"/>
          </a:xfrm>
          <a:prstGeom prst="parallelogram">
            <a:avLst>
              <a:gd name="adj" fmla="val 35345"/>
            </a:avLst>
          </a:prstGeom>
          <a:solidFill>
            <a:srgbClr val="E5F0F9"/>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1" name="Parallelogram 2"/>
          <p:cNvSpPr/>
          <p:nvPr/>
        </p:nvSpPr>
        <p:spPr>
          <a:xfrm>
            <a:off x="3782060" y="3455670"/>
            <a:ext cx="780415" cy="501650"/>
          </a:xfrm>
          <a:prstGeom prst="parallelogram">
            <a:avLst>
              <a:gd name="adj" fmla="val 35345"/>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kumimoji="1" lang="en-US" altLang="zh-CN" sz="2000" b="1" dirty="0">
                <a:solidFill>
                  <a:srgbClr val="FFFFFF"/>
                </a:solidFill>
                <a:latin typeface="微软雅黑" panose="020B0503020204020204" pitchFamily="34" charset="-122"/>
                <a:ea typeface="微软雅黑" panose="020B0503020204020204" pitchFamily="34" charset="-122"/>
              </a:rPr>
              <a:t>03</a:t>
            </a:r>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2" name="文本框 18"/>
          <p:cNvSpPr txBox="1"/>
          <p:nvPr/>
        </p:nvSpPr>
        <p:spPr>
          <a:xfrm flipH="1">
            <a:off x="4619625" y="3476625"/>
            <a:ext cx="3731260" cy="460375"/>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rtlCol="0">
            <a:spAutoFit/>
          </a:bodyPr>
          <a:lstStyle>
            <a:defPPr>
              <a:defRPr lang="zh-CN"/>
            </a:defPPr>
            <a:lvl1pPr marR="0" lvl="0" indent="0" algn="ctr" defTabSz="457200" fontAlgn="auto">
              <a:lnSpc>
                <a:spcPct val="100000"/>
              </a:lnSpc>
              <a:spcBef>
                <a:spcPts val="0"/>
              </a:spcBef>
              <a:spcAft>
                <a:spcPts val="0"/>
              </a:spcAft>
              <a:buClrTx/>
              <a:buSzTx/>
              <a:buFontTx/>
              <a:buNone/>
              <a:defRPr kumimoji="0" sz="2400" b="1" i="0" u="none" strike="noStrike" cap="none" spc="0" normalizeH="0" baseline="0">
                <a:ln>
                  <a:noFill/>
                </a:ln>
                <a:solidFill>
                  <a:srgbClr val="0070C0"/>
                </a:solidFill>
                <a:effectLst/>
                <a:uLnTx/>
                <a:uFillTx/>
                <a:latin typeface="微软雅黑" panose="020B0503020204020204" pitchFamily="34" charset="-122"/>
                <a:ea typeface="微软雅黑" panose="020B0503020204020204" pitchFamily="34" charset="-122"/>
              </a:defRPr>
            </a:lvl1pPr>
          </a:lstStyle>
          <a:p>
            <a:r>
              <a:rPr lang="zh-CN" altLang="en-US" dirty="0">
                <a:solidFill>
                  <a:schemeClr val="accent1"/>
                </a:solidFill>
              </a:rPr>
              <a:t>行动计划</a:t>
            </a:r>
            <a:endParaRPr lang="zh-CN" altLang="en-US" dirty="0">
              <a:solidFill>
                <a:schemeClr val="accent1"/>
              </a:solidFill>
            </a:endParaRPr>
          </a:p>
        </p:txBody>
      </p:sp>
      <p:grpSp>
        <p:nvGrpSpPr>
          <p:cNvPr id="14" name="组合 13"/>
          <p:cNvGrpSpPr/>
          <p:nvPr/>
        </p:nvGrpSpPr>
        <p:grpSpPr>
          <a:xfrm>
            <a:off x="3782060" y="4330700"/>
            <a:ext cx="4717415" cy="501650"/>
            <a:chOff x="5956" y="7316"/>
            <a:chExt cx="7429" cy="790"/>
          </a:xfrm>
          <a:solidFill>
            <a:schemeClr val="bg1">
              <a:lumMod val="95000"/>
            </a:schemeClr>
          </a:solidFill>
        </p:grpSpPr>
        <p:sp>
          <p:nvSpPr>
            <p:cNvPr id="34" name="Parallelogram 16"/>
            <p:cNvSpPr/>
            <p:nvPr/>
          </p:nvSpPr>
          <p:spPr>
            <a:xfrm>
              <a:off x="6905" y="7316"/>
              <a:ext cx="6480" cy="790"/>
            </a:xfrm>
            <a:prstGeom prst="parallelogram">
              <a:avLst>
                <a:gd name="adj" fmla="val 35345"/>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5" name="Parallelogram 2"/>
            <p:cNvSpPr/>
            <p:nvPr/>
          </p:nvSpPr>
          <p:spPr>
            <a:xfrm>
              <a:off x="5956" y="7316"/>
              <a:ext cx="1229" cy="790"/>
            </a:xfrm>
            <a:prstGeom prst="parallelogram">
              <a:avLst>
                <a:gd name="adj" fmla="val 35345"/>
              </a:avLst>
            </a:prstGeom>
            <a:solidFill>
              <a:schemeClr val="bg1">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kumimoji="1" lang="en-US" altLang="zh-CN" sz="2000" b="1" dirty="0">
                  <a:solidFill>
                    <a:srgbClr val="FFFFFF"/>
                  </a:solidFill>
                  <a:latin typeface="微软雅黑" panose="020B0503020204020204" pitchFamily="34" charset="-122"/>
                  <a:ea typeface="微软雅黑" panose="020B0503020204020204" pitchFamily="34" charset="-122"/>
                </a:rPr>
                <a:t>04</a:t>
              </a:r>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6" name="文本框 18"/>
            <p:cNvSpPr txBox="1"/>
            <p:nvPr/>
          </p:nvSpPr>
          <p:spPr>
            <a:xfrm flipH="1">
              <a:off x="7303" y="7349"/>
              <a:ext cx="5876" cy="725"/>
            </a:xfrm>
            <a:prstGeom prst="rect">
              <a:avLst/>
            </a:prstGeom>
            <a:grpFill/>
          </p:spPr>
          <p:txBody>
            <a:bodyPr wrap="square" rtlCol="0">
              <a:spAutoFit/>
            </a:bodyPr>
            <a:lstStyle>
              <a:defPPr>
                <a:defRPr lang="zh-CN"/>
              </a:defPPr>
              <a:lvl1pPr marR="0" lvl="0" indent="0" algn="ctr" defTabSz="457200" fontAlgn="auto">
                <a:lnSpc>
                  <a:spcPct val="100000"/>
                </a:lnSpc>
                <a:spcBef>
                  <a:spcPts val="0"/>
                </a:spcBef>
                <a:spcAft>
                  <a:spcPts val="0"/>
                </a:spcAft>
                <a:buClrTx/>
                <a:buSzTx/>
                <a:buFontTx/>
                <a:buNone/>
                <a:defRPr kumimoji="0" sz="2400" b="1" i="0" u="none" strike="noStrike" cap="none" spc="0" normalizeH="0" baseline="0">
                  <a:ln>
                    <a:noFill/>
                  </a:ln>
                  <a:solidFill>
                    <a:srgbClr val="0070C0"/>
                  </a:solidFill>
                  <a:effectLst/>
                  <a:uLnTx/>
                  <a:uFillTx/>
                  <a:latin typeface="微软雅黑" panose="020B0503020204020204" pitchFamily="34" charset="-122"/>
                  <a:ea typeface="微软雅黑" panose="020B0503020204020204" pitchFamily="34" charset="-122"/>
                </a:defRPr>
              </a:lvl1pPr>
            </a:lstStyle>
            <a:p>
              <a:r>
                <a:rPr lang="zh-CN" altLang="en-US" dirty="0">
                  <a:solidFill>
                    <a:schemeClr val="bg1">
                      <a:lumMod val="50000"/>
                    </a:schemeClr>
                  </a:solidFill>
                  <a:sym typeface="+mn-ea"/>
                </a:rPr>
                <a:t>任务清单</a:t>
              </a:r>
              <a:endParaRPr lang="zh-CN" altLang="en-US" dirty="0">
                <a:solidFill>
                  <a:schemeClr val="bg1">
                    <a:lumMod val="50000"/>
                  </a:schemeClr>
                </a:solidFill>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矩形 30"/>
          <p:cNvSpPr/>
          <p:nvPr/>
        </p:nvSpPr>
        <p:spPr>
          <a:xfrm>
            <a:off x="906463" y="5730875"/>
            <a:ext cx="10782300" cy="1077913"/>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6195" marR="0" lvl="0" indent="0" algn="l" defTabSz="914400" rtl="0" eaLnBrk="1" fontAlgn="base" latinLnBrk="0" hangingPunct="1">
              <a:lnSpc>
                <a:spcPct val="150000"/>
              </a:lnSpc>
              <a:spcBef>
                <a:spcPct val="0"/>
              </a:spcBef>
              <a:spcAft>
                <a:spcPct val="0"/>
              </a:spcAft>
              <a:buClr>
                <a:schemeClr val="accent1"/>
              </a:buClr>
              <a:buSzTx/>
              <a:buFontTx/>
              <a:buNone/>
              <a:defRPr/>
            </a:pPr>
            <a:endParaRPr kumimoji="0" lang="en-US" altLang="zh-CN" sz="1200" b="0" i="0" u="none" strike="noStrike" kern="1200" cap="none" spc="0" normalizeH="0" baseline="0" noProof="1">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p:nvSpPr>
        <p:spPr>
          <a:xfrm>
            <a:off x="1030288" y="4240213"/>
            <a:ext cx="10755313" cy="1370013"/>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76530" marR="0" lvl="0" indent="-140335" algn="l" defTabSz="914400" rtl="0" eaLnBrk="1" fontAlgn="base" latinLnBrk="0" hangingPunct="1">
              <a:lnSpc>
                <a:spcPct val="150000"/>
              </a:lnSpc>
              <a:spcBef>
                <a:spcPct val="0"/>
              </a:spcBef>
              <a:spcAft>
                <a:spcPct val="0"/>
              </a:spcAft>
              <a:buClr>
                <a:schemeClr val="accent1"/>
              </a:buClr>
              <a:buSzTx/>
              <a:buFont typeface="Arial" panose="020B0604020202020204" pitchFamily="34" charset="0"/>
              <a:buChar char="•"/>
              <a:defRPr/>
            </a:pPr>
            <a:r>
              <a:rPr kumimoji="0" lang="zh-CN" altLang="en-US" sz="1200" b="1" i="0" u="none" strike="noStrike" kern="1200" cap="none" spc="0" normalizeH="0" baseline="0" noProof="1">
                <a:ln>
                  <a:noFill/>
                </a:ln>
                <a:solidFill>
                  <a:prstClr val="black"/>
                </a:solidFill>
                <a:effectLst/>
                <a:uLnTx/>
                <a:uFillTx/>
                <a:latin typeface="微软雅黑" panose="020B0503020204020204" pitchFamily="34" charset="-122"/>
                <a:ea typeface="微软雅黑" panose="020B0503020204020204" pitchFamily="34" charset="-122"/>
                <a:cs typeface="+mn-cs"/>
              </a:rPr>
              <a:t>总部：</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整体统筹，明确数据采集需求，制定全国统一的数据指标统一唯一标准，</a:t>
            </a:r>
            <a:r>
              <a:rPr kumimoji="0" lang="zh-CN" altLang="en-US" sz="1200" b="0" i="0" u="none" strike="noStrike" kern="1200" cap="none" spc="0" normalizeH="0" baseline="0" noProof="1">
                <a:ln>
                  <a:noFill/>
                </a:ln>
                <a:solidFill>
                  <a:prstClr val="black"/>
                </a:solidFill>
                <a:effectLst/>
                <a:uLnTx/>
                <a:uFillTx/>
                <a:latin typeface="微软雅黑" panose="020B0503020204020204" pitchFamily="34" charset="-122"/>
                <a:ea typeface="微软雅黑" panose="020B0503020204020204" pitchFamily="34" charset="-122"/>
                <a:cs typeface="+mn-cs"/>
              </a:rPr>
              <a:t>制定技术方案，进行全网数据采集、标准化处理和标准化映射管理以及指标统计展示改造开发</a:t>
            </a:r>
            <a:r>
              <a:rPr kumimoji="0" lang="zh-CN" altLang="en-US" sz="1200" b="0" i="0" u="none" strike="noStrike" kern="1200" cap="none" spc="0" normalizeH="0" baseline="0" noProof="1">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 </a:t>
            </a:r>
            <a:endParaRPr kumimoji="0" lang="en-US" altLang="zh-CN" sz="1200" b="0" i="0" u="none" strike="noStrike" kern="1200" cap="none" spc="0" normalizeH="0" baseline="0" noProof="1">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76530" marR="0" lvl="0" indent="-140335" algn="l" defTabSz="914400" rtl="0" eaLnBrk="1" fontAlgn="base" latinLnBrk="0" hangingPunct="1">
              <a:lnSpc>
                <a:spcPct val="150000"/>
              </a:lnSpc>
              <a:spcBef>
                <a:spcPct val="0"/>
              </a:spcBef>
              <a:spcAft>
                <a:spcPct val="0"/>
              </a:spcAft>
              <a:buClr>
                <a:schemeClr val="accent1"/>
              </a:buClr>
              <a:buSzTx/>
              <a:buFont typeface="Arial" panose="020B0604020202020204" pitchFamily="34" charset="0"/>
              <a:buChar char="•"/>
              <a:defRPr/>
            </a:pPr>
            <a:r>
              <a:rPr kumimoji="0" lang="zh-CN" altLang="en-US" sz="1200" b="1" i="0" u="none" strike="noStrike" kern="1200" cap="none" spc="0" normalizeH="0" baseline="0" noProof="1">
                <a:ln>
                  <a:noFill/>
                </a:ln>
                <a:solidFill>
                  <a:prstClr val="black"/>
                </a:solidFill>
                <a:effectLst/>
                <a:uLnTx/>
                <a:uFillTx/>
                <a:latin typeface="微软雅黑" panose="020B0503020204020204" pitchFamily="34" charset="-122"/>
                <a:ea typeface="微软雅黑" panose="020B0503020204020204" pitchFamily="34" charset="-122"/>
                <a:cs typeface="+mn-cs"/>
              </a:rPr>
              <a:t>省公司：</a:t>
            </a:r>
            <a:r>
              <a:rPr kumimoji="0" lang="zh-CN" altLang="en-US" sz="1200" b="0" i="0" u="none" strike="noStrike" kern="1200" cap="none" spc="0" normalizeH="0" baseline="0" noProof="1">
                <a:ln>
                  <a:noFill/>
                </a:ln>
                <a:solidFill>
                  <a:prstClr val="black"/>
                </a:solidFill>
                <a:effectLst/>
                <a:uLnTx/>
                <a:uFillTx/>
                <a:latin typeface="微软雅黑" panose="020B0503020204020204" pitchFamily="34" charset="-122"/>
                <a:ea typeface="微软雅黑" panose="020B0503020204020204" pitchFamily="34" charset="-122"/>
                <a:cs typeface="+mn-cs"/>
              </a:rPr>
              <a:t>评审技术方案，</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梳理并配置维护唯一标准维护省内标准与唯一标准的映射关系，</a:t>
            </a:r>
            <a:r>
              <a:rPr kumimoji="0" lang="zh-CN" altLang="en-US" sz="1200" b="0" i="0" u="none" strike="noStrike" kern="1200" cap="none" spc="0" normalizeH="0" baseline="0" noProof="1">
                <a:ln>
                  <a:noFill/>
                </a:ln>
                <a:solidFill>
                  <a:prstClr val="black"/>
                </a:solidFill>
                <a:effectLst/>
                <a:uLnTx/>
                <a:uFillTx/>
                <a:latin typeface="微软雅黑" panose="020B0503020204020204" pitchFamily="34" charset="-122"/>
                <a:ea typeface="微软雅黑" panose="020B0503020204020204" pitchFamily="34" charset="-122"/>
                <a:cs typeface="+mn-cs"/>
              </a:rPr>
              <a:t>基于标准数据模型梳理表、字段等映射关系并进行配置维护，进行省侧的直采的资源申请和开发改造，配合网格系统完成接口规范制定及相关数据采集、接口开发工作。</a:t>
            </a:r>
            <a:r>
              <a:rPr kumimoji="0" lang="zh-CN" altLang="en-US" sz="1200" b="1" i="0" u="none" strike="noStrike" kern="1200" cap="none" spc="0" normalizeH="0" baseline="0" noProof="1">
                <a:ln>
                  <a:noFill/>
                </a:ln>
                <a:solidFill>
                  <a:prstClr val="black"/>
                </a:solidFill>
                <a:effectLst/>
                <a:uLnTx/>
                <a:uFillTx/>
                <a:latin typeface="微软雅黑" panose="020B0503020204020204" pitchFamily="34" charset="-122"/>
                <a:ea typeface="微软雅黑" panose="020B0503020204020204" pitchFamily="34" charset="-122"/>
                <a:cs typeface="+mn-cs"/>
              </a:rPr>
              <a:t>在线公司</a:t>
            </a:r>
            <a:r>
              <a:rPr kumimoji="0" lang="zh-CN" altLang="en-US" sz="1200" b="0" i="0" u="none" strike="noStrike" kern="1200" cap="none" spc="0" normalizeH="0" baseline="0" noProof="1">
                <a:ln>
                  <a:noFill/>
                </a:ln>
                <a:solidFill>
                  <a:prstClr val="black"/>
                </a:solidFill>
                <a:effectLst/>
                <a:uLnTx/>
                <a:uFillTx/>
                <a:latin typeface="微软雅黑" panose="020B0503020204020204" pitchFamily="34" charset="-122"/>
                <a:ea typeface="微软雅黑" panose="020B0503020204020204" pitchFamily="34" charset="-122"/>
                <a:cs typeface="+mn-cs"/>
              </a:rPr>
              <a:t>负责提供中国移动APP、热线、微厅及支付宝渠道的实时数据，按照工作计划完成数据采集、指标统计、接口开发工作。</a:t>
            </a:r>
            <a:endParaRPr kumimoji="0" lang="zh-CN" altLang="en-US" sz="1200" b="0" i="0" u="none" strike="noStrike" kern="1200" cap="none" spc="0" normalizeH="0" baseline="0" noProof="1">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矩形 5"/>
          <p:cNvSpPr/>
          <p:nvPr/>
        </p:nvSpPr>
        <p:spPr>
          <a:xfrm>
            <a:off x="365125" y="1776413"/>
            <a:ext cx="1754188" cy="2435225"/>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71450" marR="0" lvl="0" indent="-171450" algn="l" defTabSz="914400" rtl="0" eaLnBrk="1" fontAlgn="auto" latinLnBrk="0" hangingPunct="1">
              <a:lnSpc>
                <a:spcPct val="150000"/>
              </a:lnSpc>
              <a:spcBef>
                <a:spcPts val="0"/>
              </a:spcBef>
              <a:spcAft>
                <a:spcPct val="0"/>
              </a:spcAft>
              <a:buClrTx/>
              <a:buSzTx/>
              <a:buFont typeface="Arial" panose="020B0604020202020204" pitchFamily="34" charset="0"/>
              <a:buChar char="•"/>
              <a:defRPr/>
            </a:pPr>
            <a:r>
              <a:rPr kumimoji="1"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rPr>
              <a:t>当前数据指标统计存在数据及时性差，缺少</a:t>
            </a:r>
            <a:r>
              <a:rPr kumimoji="0" lang="zh-CN" altLang="en-US" sz="11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关键指标准实时统计与展示能力</a:t>
            </a:r>
            <a:endParaRPr kumimoji="0" lang="en-US" altLang="zh-CN" sz="11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171450" marR="0" lvl="0" indent="-171450" algn="l" defTabSz="914400" rtl="0" eaLnBrk="1" fontAlgn="auto" latinLnBrk="0" hangingPunct="1">
              <a:lnSpc>
                <a:spcPct val="150000"/>
              </a:lnSpc>
              <a:spcBef>
                <a:spcPts val="0"/>
              </a:spcBef>
              <a:spcAft>
                <a:spcPct val="0"/>
              </a:spcAft>
              <a:buClrTx/>
              <a:buSzTx/>
              <a:buFont typeface="Arial" panose="020B0604020202020204" pitchFamily="34" charset="0"/>
              <a:buChar char="•"/>
              <a:defRPr/>
            </a:pPr>
            <a:r>
              <a:rPr kumimoji="0" lang="zh-CN" altLang="en-US" sz="11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各省数据业务场景、产品形态不统一，差异化巨大，溯源生产数据困难</a:t>
            </a:r>
            <a:endParaRPr kumimoji="1"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endParaRPr>
          </a:p>
        </p:txBody>
      </p:sp>
      <p:sp>
        <p:nvSpPr>
          <p:cNvPr id="8" name="矩形 7"/>
          <p:cNvSpPr/>
          <p:nvPr/>
        </p:nvSpPr>
        <p:spPr>
          <a:xfrm>
            <a:off x="2519363" y="1774825"/>
            <a:ext cx="6623050" cy="230028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85750" marR="0" lvl="0" indent="-285750" algn="l" defTabSz="914400" rtl="0" eaLnBrk="1" fontAlgn="auto" latinLnBrk="0" hangingPunct="1">
              <a:lnSpc>
                <a:spcPct val="130000"/>
              </a:lnSpc>
              <a:spcBef>
                <a:spcPts val="300"/>
              </a:spcBef>
              <a:spcAft>
                <a:spcPct val="0"/>
              </a:spcAft>
              <a:buClr>
                <a:schemeClr val="accent1"/>
              </a:buClr>
              <a:buSzTx/>
              <a:buFont typeface="Arial" panose="020B0604020202020204" pitchFamily="34" charset="0"/>
              <a:buChar char="•"/>
              <a:defRPr/>
            </a:pPr>
            <a:r>
              <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举措</a:t>
            </a:r>
            <a:r>
              <a:rPr kumimoji="0" lang="en-US" altLang="zh-CN"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1-</a:t>
            </a:r>
            <a:r>
              <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建设数据直采通道：</a:t>
            </a:r>
            <a:r>
              <a:rPr kumimoji="1"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基于云原生模型构建</a:t>
            </a:r>
            <a:r>
              <a:rPr kumimoji="1"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31</a:t>
            </a:r>
            <a:r>
              <a:rPr kumimoji="1"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省数据直采通道，汇聚</a:t>
            </a:r>
            <a:r>
              <a:rPr kumimoji="1"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31</a:t>
            </a:r>
            <a:r>
              <a:rPr kumimoji="1"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省客户数据、订购数据及相关维表</a:t>
            </a:r>
            <a:r>
              <a:rPr kumimoji="1"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数据，并收敛权益等数据；</a:t>
            </a:r>
            <a:endParaRPr kumimoji="1" lang="en-US" altLang="zh-CN" sz="12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4400" rtl="0" eaLnBrk="1" fontAlgn="auto" latinLnBrk="0" hangingPunct="1">
              <a:lnSpc>
                <a:spcPct val="130000"/>
              </a:lnSpc>
              <a:spcBef>
                <a:spcPts val="300"/>
              </a:spcBef>
              <a:spcAft>
                <a:spcPct val="0"/>
              </a:spcAft>
              <a:buClr>
                <a:schemeClr val="accent1"/>
              </a:buClr>
              <a:buSzTx/>
              <a:buFont typeface="Arial" panose="020B0604020202020204" pitchFamily="34" charset="0"/>
              <a:buChar char="•"/>
              <a:defRPr/>
            </a:pPr>
            <a:r>
              <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举措</a:t>
            </a:r>
            <a:r>
              <a:rPr kumimoji="0" lang="en-US" altLang="zh-CN"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2-</a:t>
            </a:r>
            <a:r>
              <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建设数据标准化处理</a:t>
            </a:r>
            <a:r>
              <a:rPr kumimoji="0" lang="zh-CN" altLang="en-US" sz="12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能力：</a:t>
            </a:r>
            <a:r>
              <a:rPr kumimoji="1" lang="zh-CN" altLang="en-US" sz="12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基于模型映射和业务映射统一标准，建设数据标准化处理加工能力，为大屏展示提供数据支撑。</a:t>
            </a:r>
            <a:endParaRPr kumimoji="1" lang="zh-CN" altLang="en-US" sz="12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4400" rtl="0" eaLnBrk="1" fontAlgn="auto" latinLnBrk="0" hangingPunct="1">
              <a:lnSpc>
                <a:spcPct val="130000"/>
              </a:lnSpc>
              <a:spcBef>
                <a:spcPts val="300"/>
              </a:spcBef>
              <a:spcAft>
                <a:spcPct val="0"/>
              </a:spcAft>
              <a:buClr>
                <a:schemeClr val="accent1"/>
              </a:buClr>
              <a:buSzTx/>
              <a:buFont typeface="Arial" panose="020B0604020202020204" pitchFamily="34" charset="0"/>
              <a:buChar char="•"/>
              <a:defRPr/>
            </a:pPr>
            <a:r>
              <a:rPr kumimoji="1" lang="zh-CN" altLang="en-US" sz="12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举措</a:t>
            </a:r>
            <a:r>
              <a:rPr kumimoji="1" lang="en-US" altLang="zh-CN" sz="12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3-</a:t>
            </a:r>
            <a:r>
              <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汇聚多渠道数据：</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实时汇聚中国移动APP、热线、互联网、网格通、企业微信多渠道触客数据，实现核心渠道触客数据拉通，消除数据孤岛。</a:t>
            </a:r>
            <a:endParaRPr kumimoji="1" lang="zh-CN" altLang="en-US" sz="12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4400" rtl="0" eaLnBrk="1" fontAlgn="auto" latinLnBrk="0" hangingPunct="1">
              <a:lnSpc>
                <a:spcPct val="130000"/>
              </a:lnSpc>
              <a:spcBef>
                <a:spcPts val="300"/>
              </a:spcBef>
              <a:spcAft>
                <a:spcPct val="0"/>
              </a:spcAft>
              <a:buClr>
                <a:schemeClr val="accent1"/>
              </a:buClr>
              <a:buSzTx/>
              <a:buFont typeface="Arial" panose="020B0604020202020204" pitchFamily="34" charset="0"/>
              <a:buChar char="•"/>
              <a:defRPr/>
            </a:pPr>
            <a:r>
              <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举措</a:t>
            </a:r>
            <a:r>
              <a:rPr kumimoji="0" lang="en-US" altLang="zh-CN"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4</a:t>
            </a:r>
            <a:r>
              <a:rPr kumimoji="0" lang="en-US" altLang="zh-CN"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2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实现指标构建与展示：</a:t>
            </a:r>
            <a:r>
              <a:rPr kumimoji="1" lang="zh-CN" altLang="en-US" sz="12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基于统一口径对指标进行统一计算和统一展示，建设实时数据接入、数据解析、指标计算和指标落地能力，实现关键指标准实时展示。</a:t>
            </a:r>
            <a:endParaRPr kumimoji="1" lang="zh-CN" altLang="en-US" sz="12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 name="矩形 9"/>
          <p:cNvSpPr/>
          <p:nvPr/>
        </p:nvSpPr>
        <p:spPr>
          <a:xfrm>
            <a:off x="9561513" y="1909763"/>
            <a:ext cx="2224088" cy="216535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marR="0" lvl="0" indent="-228600" algn="l" defTabSz="914400" rtl="0" eaLnBrk="1" fontAlgn="auto" latinLnBrk="0" hangingPunct="1">
              <a:lnSpc>
                <a:spcPct val="150000"/>
              </a:lnSpc>
              <a:spcBef>
                <a:spcPct val="0"/>
              </a:spcBef>
              <a:spcAft>
                <a:spcPct val="0"/>
              </a:spcAft>
              <a:buClr>
                <a:schemeClr val="accent1"/>
              </a:buClr>
              <a:buSzTx/>
              <a:buFont typeface="Wingdings" panose="05000000000000000000" pitchFamily="2" charset="2"/>
              <a:buChar char="ü"/>
              <a:defRPr/>
            </a:pPr>
            <a:r>
              <a:rPr kumimoji="1" lang="zh-CN" altLang="en-US" sz="12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标准数据分钟级推送大数据，实现关键指标大屏准实时动态展示</a:t>
            </a:r>
            <a:endParaRPr kumimoji="1" lang="en-US" altLang="zh-CN" sz="12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p>
            <a:pPr marL="228600" marR="0" lvl="0" indent="-228600" algn="l" defTabSz="914400" rtl="0" eaLnBrk="1" fontAlgn="auto" latinLnBrk="0" hangingPunct="1">
              <a:lnSpc>
                <a:spcPct val="150000"/>
              </a:lnSpc>
              <a:spcBef>
                <a:spcPct val="0"/>
              </a:spcBef>
              <a:spcAft>
                <a:spcPct val="0"/>
              </a:spcAft>
              <a:buClr>
                <a:schemeClr val="accent1"/>
              </a:buClr>
              <a:buSzTx/>
              <a:buFont typeface="Wingdings" panose="05000000000000000000" pitchFamily="2" charset="2"/>
              <a:buChar char="ü"/>
              <a:defRPr/>
            </a:pPr>
            <a:r>
              <a:rPr kumimoji="1" lang="zh-CN" altLang="en-US" sz="12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完成拉通5个核心渠道触客数据，完成构建16个触客指标体系</a:t>
            </a:r>
            <a:endParaRPr kumimoji="1" lang="zh-CN" altLang="en-US" sz="12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126" name="矩形 4"/>
          <p:cNvSpPr/>
          <p:nvPr/>
        </p:nvSpPr>
        <p:spPr>
          <a:xfrm>
            <a:off x="346075" y="1541463"/>
            <a:ext cx="1754188" cy="336550"/>
          </a:xfrm>
          <a:prstGeom prst="rect">
            <a:avLst/>
          </a:prstGeom>
          <a:solidFill>
            <a:srgbClr val="DFF2FF"/>
          </a:solidFill>
          <a:ln w="9525" cap="flat" cmpd="sng">
            <a:solidFill>
              <a:srgbClr val="DFF2FF"/>
            </a:solidFill>
            <a:prstDash val="solid"/>
            <a:round/>
            <a:headEnd type="none" w="med" len="med"/>
            <a:tailEnd type="none" w="med" len="med"/>
          </a:ln>
        </p:spPr>
        <p:txBody>
          <a:bodyPr anchor="ctr" anchorCtr="0"/>
          <a:p>
            <a:pPr algn="ctr">
              <a:lnSpc>
                <a:spcPct val="120000"/>
              </a:lnSpc>
              <a:buClr>
                <a:srgbClr val="C00000"/>
              </a:buClr>
              <a:buFontTx/>
            </a:pPr>
            <a:r>
              <a:rPr lang="zh-CN" altLang="en-US" sz="1400" b="1" dirty="0">
                <a:solidFill>
                  <a:schemeClr val="accent1"/>
                </a:solidFill>
                <a:latin typeface="微软雅黑" panose="020B0503020204020204" pitchFamily="34" charset="-122"/>
                <a:ea typeface="微软雅黑" panose="020B0503020204020204" pitchFamily="34" charset="-122"/>
              </a:rPr>
              <a:t>痛点</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5127" name="矩形 6"/>
          <p:cNvSpPr/>
          <p:nvPr/>
        </p:nvSpPr>
        <p:spPr>
          <a:xfrm>
            <a:off x="2519363" y="1557338"/>
            <a:ext cx="6623050" cy="334962"/>
          </a:xfrm>
          <a:prstGeom prst="rect">
            <a:avLst/>
          </a:prstGeom>
          <a:solidFill>
            <a:srgbClr val="DFF2FF"/>
          </a:solidFill>
          <a:ln w="9525" cap="flat" cmpd="sng">
            <a:solidFill>
              <a:srgbClr val="DFF2FF"/>
            </a:solidFill>
            <a:prstDash val="solid"/>
            <a:round/>
            <a:headEnd type="none" w="med" len="med"/>
            <a:tailEnd type="none" w="med" len="med"/>
          </a:ln>
        </p:spPr>
        <p:txBody>
          <a:bodyPr anchor="ctr" anchorCtr="0"/>
          <a:p>
            <a:pPr algn="ctr">
              <a:lnSpc>
                <a:spcPct val="120000"/>
              </a:lnSpc>
              <a:buClr>
                <a:srgbClr val="C00000"/>
              </a:buClr>
              <a:buFontTx/>
            </a:pPr>
            <a:r>
              <a:rPr lang="zh-CN" altLang="en-US" sz="1400" b="1" dirty="0">
                <a:solidFill>
                  <a:schemeClr val="accent1"/>
                </a:solidFill>
                <a:latin typeface="微软雅黑" panose="020B0503020204020204" pitchFamily="34" charset="-122"/>
                <a:ea typeface="微软雅黑" panose="020B0503020204020204" pitchFamily="34" charset="-122"/>
              </a:rPr>
              <a:t>举措要点</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5128" name="矩形 8"/>
          <p:cNvSpPr/>
          <p:nvPr/>
        </p:nvSpPr>
        <p:spPr>
          <a:xfrm>
            <a:off x="9561513" y="1543050"/>
            <a:ext cx="2224087" cy="352425"/>
          </a:xfrm>
          <a:prstGeom prst="rect">
            <a:avLst/>
          </a:prstGeom>
          <a:solidFill>
            <a:srgbClr val="DFF2FF"/>
          </a:solidFill>
          <a:ln w="9525" cap="flat" cmpd="sng">
            <a:solidFill>
              <a:srgbClr val="DFF2FF"/>
            </a:solidFill>
            <a:prstDash val="solid"/>
            <a:round/>
            <a:headEnd type="none" w="med" len="med"/>
            <a:tailEnd type="none" w="med" len="med"/>
          </a:ln>
        </p:spPr>
        <p:txBody>
          <a:bodyPr anchor="ctr" anchorCtr="0"/>
          <a:p>
            <a:pPr algn="ctr">
              <a:lnSpc>
                <a:spcPct val="120000"/>
              </a:lnSpc>
              <a:buClr>
                <a:srgbClr val="C00000"/>
              </a:buClr>
              <a:buFontTx/>
            </a:pPr>
            <a:r>
              <a:rPr lang="en-US" altLang="zh-CN" sz="1400" b="1" dirty="0">
                <a:solidFill>
                  <a:schemeClr val="accent1"/>
                </a:solidFill>
                <a:latin typeface="微软雅黑" panose="020B0503020204020204" pitchFamily="34" charset="-122"/>
                <a:ea typeface="微软雅黑" panose="020B0503020204020204" pitchFamily="34" charset="-122"/>
              </a:rPr>
              <a:t>2025</a:t>
            </a:r>
            <a:r>
              <a:rPr lang="zh-CN" altLang="en-US" sz="1400" b="1" dirty="0">
                <a:solidFill>
                  <a:schemeClr val="accent1"/>
                </a:solidFill>
                <a:latin typeface="微软雅黑" panose="020B0503020204020204" pitchFamily="34" charset="-122"/>
                <a:ea typeface="微软雅黑" panose="020B0503020204020204" pitchFamily="34" charset="-122"/>
              </a:rPr>
              <a:t>年成效指标</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5130" name="矩形 12"/>
          <p:cNvSpPr>
            <a:spLocks noChangeArrowheads="1"/>
          </p:cNvSpPr>
          <p:nvPr/>
        </p:nvSpPr>
        <p:spPr bwMode="auto">
          <a:xfrm>
            <a:off x="3965575" y="6096000"/>
            <a:ext cx="298831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lnSpc>
                <a:spcPct val="90000"/>
              </a:lnSpc>
              <a:spcBef>
                <a:spcPts val="1000"/>
              </a:spcBef>
              <a:buFont typeface="Arial" panose="020B0604020202020204" pitchFamily="34" charset="0"/>
              <a:buChar char="•"/>
              <a:defRPr sz="2400">
                <a:solidFill>
                  <a:schemeClr val="tx1"/>
                </a:solidFill>
                <a:latin typeface="Arial" panose="020B0604020202020204" pitchFamily="34" charset="0"/>
                <a:ea typeface="黑体" panose="02010609060101010101" charset="-122"/>
              </a:defRPr>
            </a:lvl1pPr>
            <a:lvl2pPr marL="742950" indent="-28575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黑体" panose="02010609060101010101" charset="-122"/>
              </a:defRPr>
            </a:lvl2pPr>
            <a:lvl3pPr marL="11430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9pPr>
          </a:lstStyle>
          <a:p>
            <a:pPr marL="171450" marR="0" lvl="0" indent="-171450" algn="l" defTabSz="914400" rtl="0" eaLnBrk="1" fontAlgn="base" latinLnBrk="0" hangingPunct="1">
              <a:lnSpc>
                <a:spcPct val="120000"/>
              </a:lnSpc>
              <a:spcBef>
                <a:spcPct val="0"/>
              </a:spcBef>
              <a:spcAft>
                <a:spcPct val="0"/>
              </a:spcAft>
              <a:buClr>
                <a:schemeClr val="accent1"/>
              </a:buClr>
              <a:buSzTx/>
              <a:buFont typeface="Wingdings" panose="05000000000000000000" pitchFamily="2" charset="2"/>
              <a:buChar char="n"/>
              <a:defRPr/>
            </a:pPr>
            <a:r>
              <a:rPr kumimoji="0" lang="zh-CN" altLang="en-US" sz="1000" b="1" i="0" u="none" strike="noStrike" kern="1200" cap="none" spc="0" normalizeH="0" baseline="0" noProof="0" dirty="0">
                <a:ln>
                  <a:noFill/>
                </a:ln>
                <a:solidFill>
                  <a:schemeClr val="tx1"/>
                </a:solidFill>
                <a:effectLst/>
                <a:uLnTx/>
                <a:uFillTx/>
                <a:latin typeface="+mn-lt"/>
                <a:ea typeface="+mn-ea"/>
                <a:cs typeface="+mn-cs"/>
                <a:sym typeface="黑体" panose="02010609060101010101" charset="-122"/>
              </a:rPr>
              <a:t>第二批试点省对接：</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rPr>
              <a:t>第二批试点省数据直采对接，共</a:t>
            </a:r>
            <a:r>
              <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rPr>
              <a:t>17</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rPr>
              <a:t>省（江苏、天津等</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rPr>
              <a:t>）</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endParaRPr>
          </a:p>
          <a:p>
            <a:pPr marL="171450" marR="0" lvl="0" indent="-171450" algn="l" defTabSz="914400" rtl="0" eaLnBrk="1" fontAlgn="base" latinLnBrk="0" hangingPunct="1">
              <a:lnSpc>
                <a:spcPct val="120000"/>
              </a:lnSpc>
              <a:spcBef>
                <a:spcPct val="0"/>
              </a:spcBef>
              <a:spcAft>
                <a:spcPct val="0"/>
              </a:spcAft>
              <a:buClr>
                <a:schemeClr val="accent1"/>
              </a:buClr>
              <a:buSzTx/>
              <a:buFont typeface="Wingdings" panose="05000000000000000000" pitchFamily="2" charset="2"/>
              <a:buChar char="n"/>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触客数据完成与大屏数据联调工作，上线智慧驾驶舱触客相关大屏</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131" name="矩形 13"/>
          <p:cNvSpPr>
            <a:spLocks noChangeArrowheads="1"/>
          </p:cNvSpPr>
          <p:nvPr/>
        </p:nvSpPr>
        <p:spPr bwMode="auto">
          <a:xfrm>
            <a:off x="9164638" y="6088063"/>
            <a:ext cx="21717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lnSpc>
                <a:spcPct val="90000"/>
              </a:lnSpc>
              <a:spcBef>
                <a:spcPts val="1000"/>
              </a:spcBef>
              <a:buFont typeface="Arial" panose="020B0604020202020204" pitchFamily="34" charset="0"/>
              <a:buChar char="•"/>
              <a:defRPr sz="2400">
                <a:solidFill>
                  <a:schemeClr val="tx1"/>
                </a:solidFill>
                <a:latin typeface="Arial" panose="020B0604020202020204" pitchFamily="34" charset="0"/>
                <a:ea typeface="黑体" panose="02010609060101010101" charset="-122"/>
              </a:defRPr>
            </a:lvl1pPr>
            <a:lvl2pPr marL="742950" indent="-28575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黑体" panose="02010609060101010101" charset="-122"/>
              </a:defRPr>
            </a:lvl2pPr>
            <a:lvl3pPr marL="11430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9pPr>
          </a:lstStyle>
          <a:p>
            <a:pPr marL="171450" marR="0" lvl="0" indent="-171450" algn="l" defTabSz="914400" rtl="0" eaLnBrk="1" fontAlgn="base" latinLnBrk="0" hangingPunct="1">
              <a:lnSpc>
                <a:spcPct val="120000"/>
              </a:lnSpc>
              <a:spcBef>
                <a:spcPct val="0"/>
              </a:spcBef>
              <a:spcAft>
                <a:spcPct val="0"/>
              </a:spcAft>
              <a:buClr>
                <a:schemeClr val="accent1"/>
              </a:buClr>
              <a:buSzTx/>
              <a:buFont typeface="Wingdings" panose="05000000000000000000" pitchFamily="2" charset="2"/>
              <a:buChar char="n"/>
              <a:defRPr/>
            </a:pPr>
            <a:r>
              <a:rPr kumimoji="0" lang="zh-CN" altLang="en-US" sz="1000" b="1" i="0" u="none" strike="noStrike" kern="1200" cap="none" spc="0" normalizeH="0" baseline="0" noProof="0" dirty="0">
                <a:ln>
                  <a:noFill/>
                </a:ln>
                <a:solidFill>
                  <a:schemeClr val="tx1"/>
                </a:solidFill>
                <a:effectLst/>
                <a:uLnTx/>
                <a:uFillTx/>
                <a:latin typeface="+mn-lt"/>
                <a:ea typeface="+mn-ea"/>
                <a:cs typeface="+mn-cs"/>
              </a:rPr>
              <a:t>实现数据准实时统计展示：</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完成关键指标计算</a:t>
            </a:r>
            <a:r>
              <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大屏展示。</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endParaRPr>
          </a:p>
        </p:txBody>
      </p:sp>
      <p:sp>
        <p:nvSpPr>
          <p:cNvPr id="15" name="箭头: 右 40"/>
          <p:cNvSpPr/>
          <p:nvPr/>
        </p:nvSpPr>
        <p:spPr>
          <a:xfrm>
            <a:off x="1100138" y="5730875"/>
            <a:ext cx="10588625" cy="384175"/>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5132" name="文本框 15"/>
          <p:cNvSpPr txBox="1"/>
          <p:nvPr/>
        </p:nvSpPr>
        <p:spPr>
          <a:xfrm>
            <a:off x="4733925" y="5789613"/>
            <a:ext cx="1352550" cy="276225"/>
          </a:xfrm>
          <a:prstGeom prst="rect">
            <a:avLst/>
          </a:prstGeom>
          <a:noFill/>
          <a:ln w="9525">
            <a:noFill/>
          </a:ln>
        </p:spPr>
        <p:txBody>
          <a:bodyPr anchor="t" anchorCtr="0">
            <a:spAutoFit/>
          </a:bodyPr>
          <a:p>
            <a:pPr>
              <a:buFontTx/>
            </a:pPr>
            <a:r>
              <a:rPr lang="en-US" altLang="zh-CN" sz="1200" b="1" dirty="0">
                <a:solidFill>
                  <a:schemeClr val="accent1"/>
                </a:solidFill>
                <a:latin typeface="微软雅黑" panose="020B0503020204020204" pitchFamily="34" charset="-122"/>
                <a:ea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rPr>
              <a:t>6</a:t>
            </a:r>
            <a:r>
              <a:rPr lang="zh-CN" altLang="en-US" sz="1200" b="1" dirty="0">
                <a:solidFill>
                  <a:schemeClr val="accent1"/>
                </a:solidFill>
                <a:latin typeface="微软雅黑" panose="020B0503020204020204" pitchFamily="34" charset="-122"/>
                <a:ea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endParaRPr>
          </a:p>
        </p:txBody>
      </p:sp>
      <p:sp>
        <p:nvSpPr>
          <p:cNvPr id="5133" name="文本框 16"/>
          <p:cNvSpPr txBox="1"/>
          <p:nvPr/>
        </p:nvSpPr>
        <p:spPr>
          <a:xfrm>
            <a:off x="9672638" y="5794375"/>
            <a:ext cx="1352550" cy="274638"/>
          </a:xfrm>
          <a:prstGeom prst="rect">
            <a:avLst/>
          </a:prstGeom>
          <a:noFill/>
          <a:ln w="9525">
            <a:noFill/>
          </a:ln>
        </p:spPr>
        <p:txBody>
          <a:bodyPr anchor="t" anchorCtr="0">
            <a:spAutoFit/>
          </a:bodyPr>
          <a:p>
            <a:pPr>
              <a:buFontTx/>
            </a:pPr>
            <a:r>
              <a:rPr lang="en-US" altLang="zh-CN" sz="1200" b="1" dirty="0">
                <a:solidFill>
                  <a:schemeClr val="accent1"/>
                </a:solidFill>
                <a:latin typeface="微软雅黑" panose="020B0503020204020204" pitchFamily="34" charset="-122"/>
                <a:ea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rPr>
              <a:t>9</a:t>
            </a:r>
            <a:r>
              <a:rPr lang="zh-CN" altLang="en-US" sz="1200" b="1" dirty="0">
                <a:solidFill>
                  <a:schemeClr val="accent1"/>
                </a:solidFill>
                <a:latin typeface="微软雅黑" panose="020B0503020204020204" pitchFamily="34" charset="-122"/>
                <a:ea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endParaRPr>
          </a:p>
        </p:txBody>
      </p:sp>
      <p:sp>
        <p:nvSpPr>
          <p:cNvPr id="5134" name="矩形 17"/>
          <p:cNvSpPr/>
          <p:nvPr/>
        </p:nvSpPr>
        <p:spPr>
          <a:xfrm>
            <a:off x="328613" y="5705475"/>
            <a:ext cx="655637" cy="1103313"/>
          </a:xfrm>
          <a:prstGeom prst="rect">
            <a:avLst/>
          </a:prstGeom>
          <a:solidFill>
            <a:srgbClr val="DFF2FF"/>
          </a:solidFill>
          <a:ln w="9525" cap="flat" cmpd="sng">
            <a:solidFill>
              <a:srgbClr val="DFF2FF"/>
            </a:solidFill>
            <a:prstDash val="solid"/>
            <a:round/>
            <a:headEnd type="none" w="med" len="med"/>
            <a:tailEnd type="none" w="med" len="med"/>
          </a:ln>
        </p:spPr>
        <p:txBody>
          <a:bodyPr anchor="ctr" anchorCtr="0"/>
          <a:p>
            <a:pPr algn="ctr">
              <a:lnSpc>
                <a:spcPct val="120000"/>
              </a:lnSpc>
              <a:buClr>
                <a:srgbClr val="C00000"/>
              </a:buClr>
              <a:buFontTx/>
            </a:pPr>
            <a:r>
              <a:rPr lang="zh-CN" altLang="en-US" sz="1400" b="1" dirty="0">
                <a:solidFill>
                  <a:schemeClr val="accent1"/>
                </a:solidFill>
                <a:latin typeface="微软雅黑" panose="020B0503020204020204" pitchFamily="34" charset="-122"/>
                <a:ea typeface="微软雅黑" panose="020B0503020204020204" pitchFamily="34" charset="-122"/>
              </a:rPr>
              <a:t>里程碑</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5135" name="矩形 18"/>
          <p:cNvSpPr/>
          <p:nvPr/>
        </p:nvSpPr>
        <p:spPr>
          <a:xfrm>
            <a:off x="365125" y="4252913"/>
            <a:ext cx="638175" cy="1357312"/>
          </a:xfrm>
          <a:prstGeom prst="rect">
            <a:avLst/>
          </a:prstGeom>
          <a:solidFill>
            <a:srgbClr val="DFF2FF"/>
          </a:solidFill>
          <a:ln w="9525" cap="flat" cmpd="sng">
            <a:solidFill>
              <a:srgbClr val="DFF2FF"/>
            </a:solidFill>
            <a:prstDash val="solid"/>
            <a:round/>
            <a:headEnd type="none" w="med" len="med"/>
            <a:tailEnd type="none" w="med" len="med"/>
          </a:ln>
        </p:spPr>
        <p:txBody>
          <a:bodyPr anchor="ctr" anchorCtr="0"/>
          <a:p>
            <a:pPr algn="ctr">
              <a:lnSpc>
                <a:spcPct val="120000"/>
              </a:lnSpc>
              <a:buClr>
                <a:srgbClr val="C00000"/>
              </a:buClr>
              <a:buFontTx/>
            </a:pPr>
            <a:r>
              <a:rPr lang="zh-CN" altLang="en-US" sz="1400" b="1" dirty="0">
                <a:solidFill>
                  <a:schemeClr val="accent1"/>
                </a:solidFill>
                <a:latin typeface="微软雅黑" panose="020B0503020204020204" pitchFamily="34" charset="-122"/>
                <a:ea typeface="微软雅黑" panose="020B0503020204020204" pitchFamily="34" charset="-122"/>
              </a:rPr>
              <a:t>职责分工</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24" name="Freeform 22"/>
          <p:cNvSpPr/>
          <p:nvPr/>
        </p:nvSpPr>
        <p:spPr bwMode="auto">
          <a:xfrm rot="16200000" flipV="1">
            <a:off x="615156" y="2853531"/>
            <a:ext cx="3419475" cy="449263"/>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5" name="Freeform 22"/>
          <p:cNvSpPr/>
          <p:nvPr/>
        </p:nvSpPr>
        <p:spPr bwMode="auto">
          <a:xfrm rot="16200000" flipV="1">
            <a:off x="7654131" y="2856706"/>
            <a:ext cx="3425825" cy="449263"/>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146" name="文本占位符 125"/>
          <p:cNvSpPr>
            <a:spLocks noGrp="1" noChangeArrowheads="1"/>
          </p:cNvSpPr>
          <p:nvPr>
            <p:ph type="body" sz="quarter" idx="10"/>
          </p:nvPr>
        </p:nvSpPr>
        <p:spPr>
          <a:xfrm>
            <a:off x="0" y="931863"/>
            <a:ext cx="12179300" cy="539750"/>
          </a:xfrm>
        </p:spPr>
        <p:txBody>
          <a:bodyPr vert="horz" wrap="square" lIns="540000" tIns="45720" rIns="540000" bIns="45720" numCol="1" anchor="t" anchorCtr="0" compatLnSpc="1"/>
          <a:lstStyle/>
          <a:p>
            <a:pPr marL="0" marR="0" lvl="0" indent="-285750" algn="l" defTabSz="914400" rtl="0" eaLnBrk="1" fontAlgn="base" latinLnBrk="0" hangingPunct="1">
              <a:lnSpc>
                <a:spcPct val="100000"/>
              </a:lnSpc>
              <a:spcBef>
                <a:spcPts val="1000"/>
              </a:spcBef>
              <a:spcAft>
                <a:spcPct val="0"/>
              </a:spcAft>
              <a:buClr>
                <a:srgbClr val="009CE2"/>
              </a:buClr>
              <a:buSzTx/>
              <a:buFont typeface="Wingdings" panose="05000000000000000000" pitchFamily="2" charset="2"/>
              <a:buChar char="n"/>
              <a:defRPr/>
            </a:pPr>
            <a:r>
              <a:rPr kumimoji="0" lang="zh-CN" altLang="en-US" sz="1400" b="1" i="0" u="none" strike="noStrike" kern="0" cap="none" spc="0" normalizeH="0" baseline="0" noProof="1" smtClean="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汇聚</a:t>
            </a:r>
            <a:r>
              <a:rPr kumimoji="0" lang="zh-CN" altLang="zh-CN" sz="1400" b="1" i="0" u="none" strike="noStrike" kern="0" cap="none" spc="0" normalizeH="0" baseline="0" noProof="1" smtClean="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31</a:t>
            </a:r>
            <a:r>
              <a:rPr kumimoji="0" lang="zh-CN" altLang="en-US" sz="1400" b="1" i="0" u="none" strike="noStrike" kern="0" cap="none" spc="0" normalizeH="0" baseline="0" noProof="1" smtClean="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省数据及触客数据，构建从源端直接采集数据并进行数据标准化处理、计算的通道，为指标的大屏展示提供数据支撑</a:t>
            </a:r>
            <a:r>
              <a:rPr kumimoji="0" lang="zh-CN" altLang="en-US" sz="1400" b="1" i="0" u="none" strike="noStrike" kern="0" cap="none" spc="0" normalizeH="0" baseline="0" noProof="1" smtClean="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，打造集省专数据融通体系</a:t>
            </a:r>
            <a:r>
              <a:rPr kumimoji="0" lang="zh-CN" altLang="en-US" sz="1400" b="1" i="0" u="none" strike="noStrike" kern="0" cap="none" spc="0" normalizeH="0" baseline="0" noProof="1" smtClean="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400" b="1" i="0" u="none" strike="noStrike" kern="0" cap="none" spc="0" normalizeH="0" baseline="0" noProof="1" smtClean="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聚焦</a:t>
            </a:r>
            <a:r>
              <a:rPr kumimoji="0" lang="zh-CN" altLang="zh-CN" sz="1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重点指标</a:t>
            </a:r>
            <a:r>
              <a:rPr kumimoji="0" lang="zh-CN" altLang="en-US" sz="1400" b="1" i="0" u="none" strike="noStrike" kern="0" cap="none" spc="0" normalizeH="0" baseline="0" noProof="1" smtClean="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zh-CN" sz="1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自上而下溯源</a:t>
            </a:r>
            <a:r>
              <a:rPr kumimoji="0" lang="en-US" altLang="zh-CN" sz="1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31</a:t>
            </a:r>
            <a:r>
              <a:rPr kumimoji="0" lang="zh-CN" altLang="zh-CN" sz="1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省生产数据</a:t>
            </a:r>
            <a:r>
              <a:rPr kumimoji="0" lang="zh-CN" altLang="en-US" sz="1400" b="1" i="0" u="none" strike="noStrike" kern="0" cap="none" spc="0" normalizeH="0" baseline="0" noProof="1" smtClean="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，逐步实现关键指标以实时、日为周期的结果输出。</a:t>
            </a:r>
            <a:endParaRPr kumimoji="0" lang="zh-CN" altLang="en-US" sz="1400" b="1" i="0" u="none" strike="noStrike" kern="0" cap="none" spc="0" normalizeH="0" baseline="0" noProof="1" smtClean="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139" name="文本框 15"/>
          <p:cNvSpPr txBox="1"/>
          <p:nvPr/>
        </p:nvSpPr>
        <p:spPr>
          <a:xfrm>
            <a:off x="1906588" y="5784850"/>
            <a:ext cx="1352550" cy="276225"/>
          </a:xfrm>
          <a:prstGeom prst="rect">
            <a:avLst/>
          </a:prstGeom>
          <a:noFill/>
          <a:ln w="9525">
            <a:noFill/>
          </a:ln>
        </p:spPr>
        <p:txBody>
          <a:bodyPr anchor="t" anchorCtr="0">
            <a:spAutoFit/>
          </a:bodyPr>
          <a:p>
            <a:pPr>
              <a:buFontTx/>
            </a:pPr>
            <a:r>
              <a:rPr lang="en-US" altLang="zh-CN" sz="1200" b="1" dirty="0">
                <a:solidFill>
                  <a:schemeClr val="accent1"/>
                </a:solidFill>
                <a:latin typeface="微软雅黑" panose="020B0503020204020204" pitchFamily="34" charset="-122"/>
                <a:ea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endParaRPr>
          </a:p>
        </p:txBody>
      </p:sp>
      <p:sp>
        <p:nvSpPr>
          <p:cNvPr id="5140" name="文本框 15"/>
          <p:cNvSpPr txBox="1"/>
          <p:nvPr/>
        </p:nvSpPr>
        <p:spPr>
          <a:xfrm>
            <a:off x="7542213" y="5784850"/>
            <a:ext cx="1352550" cy="276225"/>
          </a:xfrm>
          <a:prstGeom prst="rect">
            <a:avLst/>
          </a:prstGeom>
          <a:noFill/>
          <a:ln w="9525">
            <a:noFill/>
          </a:ln>
        </p:spPr>
        <p:txBody>
          <a:bodyPr anchor="t" anchorCtr="0">
            <a:spAutoFit/>
          </a:bodyPr>
          <a:p>
            <a:pPr>
              <a:buFontTx/>
            </a:pPr>
            <a:r>
              <a:rPr lang="en-US" altLang="zh-CN" sz="1200" b="1" dirty="0">
                <a:solidFill>
                  <a:schemeClr val="accent1"/>
                </a:solidFill>
                <a:latin typeface="微软雅黑" panose="020B0503020204020204" pitchFamily="34" charset="-122"/>
                <a:ea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rPr>
              <a:t>7</a:t>
            </a:r>
            <a:r>
              <a:rPr lang="zh-CN" altLang="en-US" sz="1200" b="1" dirty="0">
                <a:solidFill>
                  <a:schemeClr val="accent1"/>
                </a:solidFill>
                <a:latin typeface="微软雅黑" panose="020B0503020204020204" pitchFamily="34" charset="-122"/>
                <a:ea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endParaRPr>
          </a:p>
        </p:txBody>
      </p:sp>
      <p:sp>
        <p:nvSpPr>
          <p:cNvPr id="2" name="矩形 12"/>
          <p:cNvSpPr>
            <a:spLocks noChangeArrowheads="1"/>
          </p:cNvSpPr>
          <p:nvPr/>
        </p:nvSpPr>
        <p:spPr bwMode="auto">
          <a:xfrm>
            <a:off x="1128713" y="6022975"/>
            <a:ext cx="27305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lnSpc>
                <a:spcPct val="90000"/>
              </a:lnSpc>
              <a:spcBef>
                <a:spcPts val="1000"/>
              </a:spcBef>
              <a:buFont typeface="Arial" panose="020B0604020202020204" pitchFamily="34" charset="0"/>
              <a:buChar char="•"/>
              <a:defRPr sz="2400">
                <a:solidFill>
                  <a:schemeClr val="tx1"/>
                </a:solidFill>
                <a:latin typeface="Arial" panose="020B0604020202020204" pitchFamily="34" charset="0"/>
                <a:ea typeface="黑体" panose="02010609060101010101" charset="-122"/>
              </a:defRPr>
            </a:lvl1pPr>
            <a:lvl2pPr marL="742950" indent="-28575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黑体" panose="02010609060101010101" charset="-122"/>
              </a:defRPr>
            </a:lvl2pPr>
            <a:lvl3pPr marL="11430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9pPr>
          </a:lstStyle>
          <a:p>
            <a:pPr marL="171450" marR="0" lvl="0" indent="-171450" algn="l" defTabSz="914400" rtl="0" eaLnBrk="1" fontAlgn="base" latinLnBrk="0" hangingPunct="1">
              <a:lnSpc>
                <a:spcPct val="120000"/>
              </a:lnSpc>
              <a:spcBef>
                <a:spcPct val="0"/>
              </a:spcBef>
              <a:spcAft>
                <a:spcPct val="0"/>
              </a:spcAft>
              <a:buClr>
                <a:schemeClr val="accent1"/>
              </a:buClr>
              <a:buSzTx/>
              <a:buFont typeface="Wingdings" panose="05000000000000000000" pitchFamily="2" charset="2"/>
              <a:buChar char="n"/>
              <a:defRPr/>
            </a:pPr>
            <a:r>
              <a:rPr kumimoji="0" lang="zh-CN" altLang="en-US" sz="1000" b="1" i="0" u="none" strike="noStrike" kern="1200" cap="none" spc="0" normalizeH="0" baseline="0" noProof="0" dirty="0">
                <a:ln>
                  <a:noFill/>
                </a:ln>
                <a:solidFill>
                  <a:schemeClr val="tx1"/>
                </a:solidFill>
                <a:effectLst/>
                <a:uLnTx/>
                <a:uFillTx/>
                <a:latin typeface="+mn-lt"/>
                <a:ea typeface="+mn-ea"/>
                <a:cs typeface="+mn-cs"/>
                <a:sym typeface="+mn-ea"/>
              </a:rPr>
              <a:t>数据加工能力构建：</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rPr>
              <a:t>完成</a:t>
            </a:r>
            <a:r>
              <a:rPr kumimoji="0" lang="zh-CN" altLang="en-US" sz="1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Arial" panose="020B0604020202020204" pitchFamily="34" charset="0"/>
              </a:rPr>
              <a:t>客户、订购数据</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rPr>
              <a:t>省内模型与标准模型的映射程序开发</a:t>
            </a:r>
            <a:endPar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endParaRPr>
          </a:p>
          <a:p>
            <a:pPr marL="171450" marR="0" lvl="0" indent="-171450" algn="l" defTabSz="914400" rtl="0" eaLnBrk="1" fontAlgn="base" latinLnBrk="0" hangingPunct="1">
              <a:lnSpc>
                <a:spcPct val="120000"/>
              </a:lnSpc>
              <a:spcBef>
                <a:spcPct val="0"/>
              </a:spcBef>
              <a:spcAft>
                <a:spcPct val="0"/>
              </a:spcAft>
              <a:buClr>
                <a:schemeClr val="accent1"/>
              </a:buClr>
              <a:buSzTx/>
              <a:buFont typeface="Wingdings" panose="05000000000000000000" pitchFamily="2" charset="2"/>
              <a:buChar char="n"/>
              <a:defRPr/>
            </a:pPr>
            <a:r>
              <a:rPr kumimoji="0" lang="zh-CN" altLang="en-US" sz="1000" b="1" i="0" u="none" strike="noStrike" kern="1200" cap="none" spc="0" normalizeH="0" baseline="0" noProof="0" dirty="0">
                <a:ln>
                  <a:noFill/>
                </a:ln>
                <a:solidFill>
                  <a:schemeClr val="tx1"/>
                </a:solidFill>
                <a:effectLst/>
                <a:uLnTx/>
                <a:uFillTx/>
                <a:latin typeface="+mn-lt"/>
                <a:ea typeface="+mn-ea"/>
                <a:cs typeface="+mn-cs"/>
                <a:sym typeface="黑体" panose="02010609060101010101" charset="-122"/>
              </a:rPr>
              <a:t>第一批试点省对接：</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rPr>
              <a:t>第一批试点省数据直采对接，</a:t>
            </a:r>
            <a:r>
              <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rPr>
              <a:t>7</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rPr>
              <a:t>个云原生省份（河北、浙江等</a:t>
            </a:r>
            <a:r>
              <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rPr>
              <a:t> </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rPr>
              <a:t>）</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147" name="矩形 12"/>
          <p:cNvSpPr>
            <a:spLocks noChangeArrowheads="1"/>
          </p:cNvSpPr>
          <p:nvPr/>
        </p:nvSpPr>
        <p:spPr bwMode="auto">
          <a:xfrm>
            <a:off x="7099300" y="6076950"/>
            <a:ext cx="196850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lnSpc>
                <a:spcPct val="90000"/>
              </a:lnSpc>
              <a:spcBef>
                <a:spcPts val="1000"/>
              </a:spcBef>
              <a:buFont typeface="Arial" panose="020B0604020202020204" pitchFamily="34" charset="0"/>
              <a:buChar char="•"/>
              <a:defRPr sz="2400">
                <a:solidFill>
                  <a:schemeClr val="tx1"/>
                </a:solidFill>
                <a:latin typeface="Arial" panose="020B0604020202020204" pitchFamily="34" charset="0"/>
                <a:ea typeface="黑体" panose="02010609060101010101" charset="-122"/>
              </a:defRPr>
            </a:lvl1pPr>
            <a:lvl2pPr marL="742950" indent="-28575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黑体" panose="02010609060101010101" charset="-122"/>
              </a:defRPr>
            </a:lvl2pPr>
            <a:lvl3pPr marL="11430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9pPr>
          </a:lstStyle>
          <a:p>
            <a:pPr marL="171450" marR="0" lvl="0" indent="-171450" algn="l" defTabSz="914400" rtl="0" eaLnBrk="1" fontAlgn="base" latinLnBrk="0" hangingPunct="1">
              <a:lnSpc>
                <a:spcPct val="120000"/>
              </a:lnSpc>
              <a:spcBef>
                <a:spcPct val="0"/>
              </a:spcBef>
              <a:spcAft>
                <a:spcPct val="0"/>
              </a:spcAft>
              <a:buClr>
                <a:schemeClr val="accent1"/>
              </a:buClr>
              <a:buSzTx/>
              <a:buFont typeface="Wingdings" panose="05000000000000000000" pitchFamily="2" charset="2"/>
              <a:buChar char="n"/>
              <a:defRPr/>
            </a:pPr>
            <a:r>
              <a:rPr kumimoji="0" lang="zh-CN" altLang="en-US" sz="1000" b="1" i="0" u="none" strike="noStrike" kern="1200" cap="none" spc="0" normalizeH="0" baseline="0" noProof="0" dirty="0">
                <a:ln>
                  <a:noFill/>
                </a:ln>
                <a:solidFill>
                  <a:schemeClr val="tx1"/>
                </a:solidFill>
                <a:effectLst/>
                <a:uLnTx/>
                <a:uFillTx/>
                <a:latin typeface="+mn-lt"/>
                <a:ea typeface="+mn-ea"/>
                <a:cs typeface="+mn-cs"/>
              </a:rPr>
              <a:t>全量省对接完成：</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完成第三批试点省数据直采对接，共</a:t>
            </a:r>
            <a:r>
              <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7</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省（江西、广西</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黑体" panose="02010609060101010101" charset="-122"/>
              </a:rPr>
              <a:t>等</a:t>
            </a: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143" name="标题 1"/>
          <p:cNvSpPr txBox="1"/>
          <p:nvPr/>
        </p:nvSpPr>
        <p:spPr>
          <a:xfrm>
            <a:off x="150813" y="274638"/>
            <a:ext cx="9577387" cy="485775"/>
          </a:xfrm>
          <a:prstGeom prst="rect">
            <a:avLst/>
          </a:prstGeom>
          <a:noFill/>
          <a:ln w="9525">
            <a:noFill/>
          </a:ln>
        </p:spPr>
        <p:txBody>
          <a:bodyPr anchor="ctr" anchorCtr="0"/>
          <a:p>
            <a:pPr>
              <a:lnSpc>
                <a:spcPct val="90000"/>
              </a:lnSpc>
              <a:buFontTx/>
            </a:pPr>
            <a:r>
              <a:rPr lang="zh-CN" altLang="en-US" sz="2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施工图|</a:t>
            </a:r>
            <a:r>
              <a:rPr lang="zh-CN" altLang="en-US" sz="24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重点</a:t>
            </a:r>
            <a:r>
              <a:rPr lang="zh-CN" altLang="zh-CN" sz="2400" b="1" dirty="0">
                <a:solidFill>
                  <a:srgbClr val="0070C0"/>
                </a:solidFill>
                <a:latin typeface="微软雅黑" panose="020B0503020204020204" pitchFamily="34" charset="-122"/>
                <a:ea typeface="微软雅黑" panose="020B0503020204020204" pitchFamily="34" charset="-122"/>
              </a:rPr>
              <a:t>数据实时采集</a:t>
            </a:r>
            <a:endParaRPr lang="zh-CN" altLang="zh-CN" sz="2400" b="1" dirty="0">
              <a:solidFill>
                <a:srgbClr val="0070C0"/>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434455" y="309245"/>
            <a:ext cx="3748405" cy="1059815"/>
          </a:xfrm>
          <a:prstGeom prst="rect">
            <a:avLst/>
          </a:prstGeom>
          <a:solidFill>
            <a:srgbClr val="C00000"/>
          </a:solidFill>
        </p:spPr>
        <p:txBody>
          <a:bodyPr wrap="square" rtlCol="0">
            <a:noAutofit/>
          </a:bodyPr>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请华为更新，晓华姐审阅，请汪尚补充下触客直采内容，都写在一页</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聚焦数据直采</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002662" y="5570874"/>
            <a:ext cx="10782301" cy="100747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195" fontAlgn="base">
              <a:lnSpc>
                <a:spcPct val="150000"/>
              </a:lnSpc>
              <a:spcBef>
                <a:spcPct val="0"/>
              </a:spcBef>
              <a:spcAft>
                <a:spcPct val="0"/>
              </a:spcAft>
              <a:buClr>
                <a:schemeClr val="accent1"/>
              </a:buClr>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6" name="矩形 5"/>
          <p:cNvSpPr/>
          <p:nvPr/>
        </p:nvSpPr>
        <p:spPr>
          <a:xfrm>
            <a:off x="365124" y="1908718"/>
            <a:ext cx="1753870"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0" indent="-171450" algn="l" fontAlgn="auto">
              <a:lnSpc>
                <a:spcPct val="150000"/>
              </a:lnSpc>
              <a:spcBef>
                <a:spcPts val="0"/>
              </a:spcBef>
              <a:buClrTx/>
              <a:buSzTx/>
              <a:buFont typeface="Arial" panose="020B0604020202020204" pitchFamily="34" charset="0"/>
              <a:buChar char="•"/>
              <a:defRPr/>
            </a:pPr>
            <a:r>
              <a:rPr kumimoji="1" 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xx</a:t>
            </a:r>
            <a:endParaRPr kumimoji="1" 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8" name="矩形 7"/>
          <p:cNvSpPr/>
          <p:nvPr/>
        </p:nvSpPr>
        <p:spPr>
          <a:xfrm>
            <a:off x="2519044" y="1914879"/>
            <a:ext cx="6486576"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30000"/>
              </a:lnSpc>
              <a:buClr>
                <a:schemeClr val="accent1"/>
              </a:buClr>
              <a:buFont typeface="Arial" panose="020B0604020202020204" pitchFamily="34" charset="0"/>
              <a:buChar char="•"/>
            </a:pPr>
            <a:r>
              <a:rPr kumimoji="1" 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xxx</a:t>
            </a:r>
            <a:endParaRPr 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10" name="矩形 9"/>
          <p:cNvSpPr/>
          <p:nvPr/>
        </p:nvSpPr>
        <p:spPr>
          <a:xfrm>
            <a:off x="9444958" y="2032994"/>
            <a:ext cx="2340005" cy="176015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171450" indent="-171450">
              <a:buClr>
                <a:schemeClr val="accent1"/>
              </a:buClr>
              <a:buFont typeface="Arial" panose="020B0604020202020204" pitchFamily="34" charset="0"/>
              <a:buChar char="•"/>
            </a:pPr>
            <a:r>
              <a:rPr lang="en-US" sz="1200" b="1" dirty="0">
                <a:solidFill>
                  <a:schemeClr val="tx1"/>
                </a:solidFill>
                <a:latin typeface="微软雅黑" panose="020B0503020204020204" pitchFamily="34" charset="-122"/>
                <a:ea typeface="微软雅黑" panose="020B0503020204020204" pitchFamily="34" charset="-122"/>
                <a:sym typeface="+mn-ea"/>
              </a:rPr>
              <a:t>xxx</a:t>
            </a:r>
            <a:endParaRPr 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nvPr>
        </p:nvSpPr>
        <p:spPr/>
        <p:txBody>
          <a:bodyPr>
            <a:normAutofit/>
          </a:bodyPr>
          <a:lstStyle/>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施工图|</a:t>
            </a:r>
            <a:r>
              <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rPr>
              <a:t>加快数据开放共享</a:t>
            </a:r>
            <a:endPar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endParaRPr>
          </a:p>
        </p:txBody>
      </p:sp>
      <p:sp>
        <p:nvSpPr>
          <p:cNvPr id="5" name="矩形 4"/>
          <p:cNvSpPr/>
          <p:nvPr/>
        </p:nvSpPr>
        <p:spPr>
          <a:xfrm>
            <a:off x="365124" y="1692677"/>
            <a:ext cx="1753870" cy="337820"/>
          </a:xfrm>
          <a:prstGeom prst="rect">
            <a:avLst/>
          </a:prstGeom>
          <a:solidFill>
            <a:srgbClr val="DFF2FF"/>
          </a:solidFill>
          <a:ln>
            <a:solidFill>
              <a:srgbClr val="DFF2FF"/>
            </a:solidFill>
          </a:ln>
        </p:spPr>
        <p:txBody>
          <a:bodyPr wrap="square" anchor="ctr"/>
          <a:lstStyle/>
          <a:p>
            <a:pPr marL="0" lvl="0" indent="0" algn="ctr" defTabSz="913765">
              <a:lnSpc>
                <a:spcPct val="120000"/>
              </a:lnSpc>
              <a:spcBef>
                <a:spcPts val="0"/>
              </a:spcBef>
              <a:spcAft>
                <a:spcPts val="0"/>
              </a:spcAft>
              <a:buClr>
                <a:srgbClr val="C00000"/>
              </a:buClr>
              <a:buSzTx/>
              <a:buFontTx/>
              <a:buNone/>
            </a:pPr>
            <a:r>
              <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rPr>
              <a:t>痛点</a:t>
            </a:r>
            <a:endPar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endParaRPr>
          </a:p>
        </p:txBody>
      </p:sp>
      <p:sp>
        <p:nvSpPr>
          <p:cNvPr id="7" name="矩形 6"/>
          <p:cNvSpPr/>
          <p:nvPr/>
        </p:nvSpPr>
        <p:spPr>
          <a:xfrm>
            <a:off x="2519044" y="1688867"/>
            <a:ext cx="6486576" cy="33591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举措要点</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9" name="矩形 8"/>
          <p:cNvSpPr/>
          <p:nvPr/>
        </p:nvSpPr>
        <p:spPr>
          <a:xfrm>
            <a:off x="9444958" y="1675797"/>
            <a:ext cx="2340005" cy="35115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en-US" altLang="zh-CN" sz="1400" b="1" dirty="0">
                <a:solidFill>
                  <a:schemeClr val="accent1"/>
                </a:solidFill>
                <a:latin typeface="微软雅黑" panose="020B0503020204020204" pitchFamily="34" charset="-122"/>
                <a:ea typeface="微软雅黑" panose="020B0503020204020204" pitchFamily="34" charset="-122"/>
              </a:rPr>
              <a:t>2025</a:t>
            </a:r>
            <a:r>
              <a:rPr lang="zh-CN" altLang="en-US" sz="1400" b="1" dirty="0">
                <a:solidFill>
                  <a:schemeClr val="accent1"/>
                </a:solidFill>
                <a:latin typeface="微软雅黑" panose="020B0503020204020204" pitchFamily="34" charset="-122"/>
                <a:ea typeface="微软雅黑" panose="020B0503020204020204" pitchFamily="34" charset="-122"/>
              </a:rPr>
              <a:t>年成效指标</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3" name="矩形 12"/>
          <p:cNvSpPr/>
          <p:nvPr/>
        </p:nvSpPr>
        <p:spPr>
          <a:xfrm>
            <a:off x="4157704" y="5640096"/>
            <a:ext cx="4099835"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en-US" altLang="zh-CN" sz="1000" dirty="0">
                <a:effectLst/>
              </a:rPr>
              <a:t>xx</a:t>
            </a:r>
            <a:r>
              <a:rPr lang="zh-CN" altLang="en-US" sz="1000" dirty="0">
                <a:effectLst/>
              </a:rPr>
              <a:t>：</a:t>
            </a:r>
            <a:r>
              <a:rPr lang="en-US" sz="1000" dirty="0">
                <a:effectLst/>
              </a:rPr>
              <a:t>xxx</a:t>
            </a:r>
            <a:endParaRPr lang="en-US" sz="1000" dirty="0">
              <a:latin typeface="微软雅黑" panose="020B0503020204020204" pitchFamily="34" charset="-122"/>
              <a:ea typeface="微软雅黑" panose="020B0503020204020204" pitchFamily="34" charset="-122"/>
              <a:sym typeface="+mn-ea"/>
            </a:endParaRPr>
          </a:p>
        </p:txBody>
      </p:sp>
      <p:sp>
        <p:nvSpPr>
          <p:cNvPr id="14" name="矩形 13"/>
          <p:cNvSpPr/>
          <p:nvPr/>
        </p:nvSpPr>
        <p:spPr>
          <a:xfrm>
            <a:off x="8295579" y="5640096"/>
            <a:ext cx="3420806"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zh-CN" altLang="en-US" sz="1000" dirty="0">
                <a:effectLst/>
              </a:rPr>
              <a:t>：</a:t>
            </a:r>
            <a:r>
              <a:rPr lang="en-US" sz="1000" b="0" i="0" dirty="0">
                <a:effectLst/>
                <a:latin typeface="Inter"/>
              </a:rPr>
              <a:t>xxx</a:t>
            </a:r>
            <a:endParaRPr lang="en-US" sz="1000" dirty="0">
              <a:latin typeface="微软雅黑" panose="020B0503020204020204" pitchFamily="34" charset="-122"/>
              <a:ea typeface="微软雅黑" panose="020B0503020204020204" pitchFamily="34" charset="-122"/>
            </a:endParaRPr>
          </a:p>
        </p:txBody>
      </p:sp>
      <p:sp>
        <p:nvSpPr>
          <p:cNvPr id="15" name="箭头: 右 40"/>
          <p:cNvSpPr/>
          <p:nvPr/>
        </p:nvSpPr>
        <p:spPr>
          <a:xfrm>
            <a:off x="1127761" y="4829470"/>
            <a:ext cx="10588624" cy="520700"/>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5729300" y="4970502"/>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9398016" y="4970653"/>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2027</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矩形 17"/>
          <p:cNvSpPr/>
          <p:nvPr/>
        </p:nvSpPr>
        <p:spPr>
          <a:xfrm>
            <a:off x="358139" y="5269221"/>
            <a:ext cx="644525" cy="1440858"/>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里程碑</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9" name="矩形 18"/>
          <p:cNvSpPr/>
          <p:nvPr/>
        </p:nvSpPr>
        <p:spPr>
          <a:xfrm>
            <a:off x="365124" y="3828435"/>
            <a:ext cx="640080" cy="1373604"/>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职责分工</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21" name="矩形 20"/>
          <p:cNvSpPr/>
          <p:nvPr/>
        </p:nvSpPr>
        <p:spPr>
          <a:xfrm>
            <a:off x="1059183" y="5640096"/>
            <a:ext cx="3194046"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en-US" altLang="zh-CN" sz="1000" b="1" dirty="0">
                <a:effectLst/>
              </a:rPr>
              <a:t>xxx</a:t>
            </a:r>
            <a:r>
              <a:rPr lang="zh-CN" altLang="en-US" sz="1000" dirty="0">
                <a:effectLst/>
              </a:rPr>
              <a:t>：</a:t>
            </a:r>
            <a:r>
              <a:rPr lang="en-US" altLang="zh-CN" sz="1000" dirty="0">
                <a:effectLst/>
              </a:rPr>
              <a:t>xxx</a:t>
            </a:r>
            <a:endParaRPr lang="en-US" altLang="zh-CN" sz="1000" dirty="0">
              <a:effectLst/>
            </a:endParaRPr>
          </a:p>
        </p:txBody>
      </p:sp>
      <p:sp>
        <p:nvSpPr>
          <p:cNvPr id="22" name="文本框 21"/>
          <p:cNvSpPr txBox="1"/>
          <p:nvPr/>
        </p:nvSpPr>
        <p:spPr>
          <a:xfrm>
            <a:off x="2307896" y="4971109"/>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Freeform 22"/>
          <p:cNvSpPr/>
          <p:nvPr/>
        </p:nvSpPr>
        <p:spPr bwMode="auto">
          <a:xfrm rot="16200000" flipV="1">
            <a:off x="1485578" y="2636178"/>
            <a:ext cx="1714827"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5" name="Freeform 22"/>
          <p:cNvSpPr/>
          <p:nvPr/>
        </p:nvSpPr>
        <p:spPr bwMode="auto">
          <a:xfrm rot="16200000" flipV="1">
            <a:off x="8074719" y="2636178"/>
            <a:ext cx="2329385"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3" name="文本占位符 2"/>
          <p:cNvSpPr>
            <a:spLocks noGrp="1"/>
          </p:cNvSpPr>
          <p:nvPr>
            <p:ph type="body" sz="quarter" idx="10"/>
          </p:nvPr>
        </p:nvSpPr>
        <p:spPr>
          <a:xfrm>
            <a:off x="85241" y="931284"/>
            <a:ext cx="11856202" cy="753277"/>
          </a:xfrm>
        </p:spPr>
        <p:txBody>
          <a:bodyPr lIns="180000" tIns="45720" rIns="180000" bIns="45720"/>
          <a:lstStyle/>
          <a:p>
            <a:pPr marL="0" lvl="1" indent="-254000" algn="l" defTabSz="457200" eaLnBrk="0">
              <a:lnSpc>
                <a:spcPct val="109000"/>
              </a:lnSpc>
              <a:spcBef>
                <a:spcPts val="0"/>
              </a:spcBef>
              <a:spcAft>
                <a:spcPts val="0"/>
              </a:spcAft>
              <a:buClrTx/>
              <a:buSzTx/>
              <a:buFontTx/>
              <a:buNone/>
              <a:defRPr/>
            </a:pPr>
            <a:r>
              <a:rPr lang="en-US" alt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rPr>
              <a:t>xxx</a:t>
            </a:r>
            <a:endParaRPr lang="en-US" alt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endParaRPr>
          </a:p>
        </p:txBody>
      </p:sp>
      <p:sp>
        <p:nvSpPr>
          <p:cNvPr id="26" name="矩形 25"/>
          <p:cNvSpPr/>
          <p:nvPr/>
        </p:nvSpPr>
        <p:spPr>
          <a:xfrm>
            <a:off x="1002662" y="3834190"/>
            <a:ext cx="10782301" cy="137360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总部：</a:t>
            </a:r>
            <a:r>
              <a:rPr lang="en-US" sz="1100" dirty="0">
                <a:solidFill>
                  <a:prstClr val="black"/>
                </a:solidFill>
                <a:latin typeface="微软雅黑" panose="020B0503020204020204" pitchFamily="34" charset="-122"/>
                <a:ea typeface="微软雅黑" panose="020B0503020204020204" pitchFamily="34" charset="-122"/>
              </a:rPr>
              <a:t>xxx</a:t>
            </a:r>
            <a:endParaRPr lang="en-US" altLang="zh-CN"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省专：</a:t>
            </a:r>
            <a:r>
              <a:rPr lang="en-US" altLang="zh-CN" sz="1100" dirty="0">
                <a:solidFill>
                  <a:prstClr val="black"/>
                </a:solidFill>
                <a:latin typeface="微软雅黑" panose="020B0503020204020204" pitchFamily="34" charset="-122"/>
                <a:ea typeface="微软雅黑" panose="020B0503020204020204" pitchFamily="34" charset="-122"/>
              </a:rPr>
              <a:t>xxx</a:t>
            </a:r>
            <a:endParaRPr lang="zh-CN" altLang="en-US"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地市：</a:t>
            </a:r>
            <a:r>
              <a:rPr lang="en-US" sz="1100" dirty="0">
                <a:solidFill>
                  <a:prstClr val="black"/>
                </a:solidFill>
                <a:latin typeface="微软雅黑" panose="020B0503020204020204" pitchFamily="34" charset="-122"/>
                <a:ea typeface="微软雅黑" panose="020B0503020204020204" pitchFamily="34" charset="-122"/>
              </a:rPr>
              <a:t>xxx</a:t>
            </a:r>
            <a:endParaRPr lang="en-US" sz="1100" dirty="0">
              <a:solidFill>
                <a:prstClr val="black"/>
              </a:solidFill>
              <a:latin typeface="微软雅黑" panose="020B0503020204020204" pitchFamily="34" charset="-122"/>
              <a:ea typeface="微软雅黑" panose="020B0503020204020204" pitchFamily="34" charset="-122"/>
            </a:endParaRPr>
          </a:p>
        </p:txBody>
      </p:sp>
      <p:sp>
        <p:nvSpPr>
          <p:cNvPr id="39" name="箭头: 右 40"/>
          <p:cNvSpPr/>
          <p:nvPr/>
        </p:nvSpPr>
        <p:spPr>
          <a:xfrm>
            <a:off x="1059183" y="5210302"/>
            <a:ext cx="10588625" cy="358065"/>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5661028"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nvSpPr>
        <p:spPr>
          <a:xfrm>
            <a:off x="932942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文本框 41"/>
          <p:cNvSpPr txBox="1"/>
          <p:nvPr/>
        </p:nvSpPr>
        <p:spPr>
          <a:xfrm>
            <a:off x="223901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002662" y="5570874"/>
            <a:ext cx="10782301" cy="100747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195" fontAlgn="base">
              <a:lnSpc>
                <a:spcPct val="150000"/>
              </a:lnSpc>
              <a:spcBef>
                <a:spcPct val="0"/>
              </a:spcBef>
              <a:spcAft>
                <a:spcPct val="0"/>
              </a:spcAft>
              <a:buClr>
                <a:schemeClr val="accent1"/>
              </a:buClr>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6" name="矩形 5"/>
          <p:cNvSpPr/>
          <p:nvPr/>
        </p:nvSpPr>
        <p:spPr>
          <a:xfrm>
            <a:off x="365124" y="1908718"/>
            <a:ext cx="1753870"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0" indent="-171450" algn="l" fontAlgn="auto">
              <a:lnSpc>
                <a:spcPct val="150000"/>
              </a:lnSpc>
              <a:spcBef>
                <a:spcPts val="0"/>
              </a:spcBef>
              <a:buClrTx/>
              <a:buSzTx/>
              <a:buFont typeface="Arial" panose="020B0604020202020204" pitchFamily="34" charset="0"/>
              <a:buChar char="•"/>
              <a:defRPr/>
            </a:pPr>
            <a:r>
              <a:rPr kumimoji="1" lang="zh-CN" alt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数据底座不坚实，数据偏差大</a:t>
            </a:r>
            <a:endParaRPr kumimoji="1" lang="en-US" altLang="zh-CN"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a:p>
            <a:pPr marL="171450" lvl="0" indent="-171450" algn="l" fontAlgn="auto">
              <a:lnSpc>
                <a:spcPct val="150000"/>
              </a:lnSpc>
              <a:spcBef>
                <a:spcPts val="0"/>
              </a:spcBef>
              <a:buClrTx/>
              <a:buSzTx/>
              <a:buFont typeface="Arial" panose="020B0604020202020204" pitchFamily="34" charset="0"/>
              <a:buChar char="•"/>
              <a:defRPr/>
            </a:pPr>
            <a:r>
              <a:rPr kumimoji="1" lang="zh-CN" alt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信息交互不通畅，数据孤岛现象严重</a:t>
            </a:r>
            <a:endParaRPr kumimoji="1" lang="en-US" altLang="zh-CN"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a:p>
            <a:pPr marL="171450" lvl="0" indent="-171450" algn="l" fontAlgn="auto">
              <a:lnSpc>
                <a:spcPct val="150000"/>
              </a:lnSpc>
              <a:spcBef>
                <a:spcPts val="0"/>
              </a:spcBef>
              <a:buClrTx/>
              <a:buSzTx/>
              <a:buFont typeface="Arial" panose="020B0604020202020204" pitchFamily="34" charset="0"/>
              <a:buChar char="•"/>
              <a:defRPr/>
            </a:pPr>
            <a:r>
              <a:rPr kumimoji="1" lang="zh-CN" alt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运营策略不丰富，难以满足客户个性化需求</a:t>
            </a:r>
            <a:endParaRPr kumimoji="1" lang="zh-CN" alt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8" name="矩形 7"/>
          <p:cNvSpPr/>
          <p:nvPr/>
        </p:nvSpPr>
        <p:spPr>
          <a:xfrm>
            <a:off x="2519044" y="1914879"/>
            <a:ext cx="6486576"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30000"/>
              </a:lnSpc>
              <a:buClr>
                <a:schemeClr val="accent1"/>
              </a:buClr>
              <a:buFont typeface="Arial" panose="020B0604020202020204" pitchFamily="34" charset="0"/>
              <a:buChar char="•"/>
            </a:pPr>
            <a:r>
              <a:rPr kumimoji="1"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拉通全生命周期客户数据</a:t>
            </a:r>
            <a:r>
              <a:rPr lang="zh-CN" altLang="en-US" sz="1200" b="1" dirty="0">
                <a:solidFill>
                  <a:schemeClr val="tx1"/>
                </a:solidFill>
                <a:latin typeface="微软雅黑" panose="020B0503020204020204" pitchFamily="34" charset="-122"/>
                <a:ea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sym typeface="+mn-ea"/>
              </a:rPr>
              <a:t>①拉通集省专全网客户数据，加快标签重构，深度汇集</a:t>
            </a:r>
            <a:r>
              <a:rPr lang="en-US" altLang="zh-CN" sz="1200" dirty="0">
                <a:solidFill>
                  <a:schemeClr val="tx1"/>
                </a:solidFill>
                <a:latin typeface="微软雅黑" panose="020B0503020204020204" pitchFamily="34" charset="-122"/>
                <a:ea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sym typeface="+mn-ea"/>
              </a:rPr>
              <a:t>四度三维</a:t>
            </a:r>
            <a:r>
              <a:rPr lang="en-US" altLang="zh-CN" sz="1200" dirty="0">
                <a:solidFill>
                  <a:schemeClr val="tx1"/>
                </a:solidFill>
                <a:latin typeface="微软雅黑" panose="020B0503020204020204" pitchFamily="34" charset="-122"/>
                <a:ea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sym typeface="+mn-ea"/>
              </a:rPr>
              <a:t>客户属性②统一客群细分模型，实现总部统筹管理，省专配合的数据互通模式。</a:t>
            </a:r>
            <a:endParaRPr lang="en-US" altLang="zh-CN" sz="1200" dirty="0">
              <a:solidFill>
                <a:schemeClr val="tx1"/>
              </a:solidFill>
              <a:latin typeface="微软雅黑" panose="020B0503020204020204" pitchFamily="34" charset="-122"/>
              <a:ea typeface="微软雅黑" panose="020B0503020204020204" pitchFamily="34" charset="-122"/>
              <a:sym typeface="+mn-ea"/>
            </a:endParaRPr>
          </a:p>
          <a:p>
            <a:pPr marL="285750" indent="-285750">
              <a:lnSpc>
                <a:spcPct val="130000"/>
              </a:lnSpc>
              <a:buClr>
                <a:schemeClr val="accent1"/>
              </a:buClr>
              <a:buFont typeface="Arial" panose="020B0604020202020204" pitchFamily="34" charset="0"/>
              <a:buChar char="•"/>
            </a:pPr>
            <a:r>
              <a:rPr lang="zh-CN" altLang="en-US" sz="1200" b="1" dirty="0">
                <a:solidFill>
                  <a:schemeClr val="tx1"/>
                </a:solidFill>
                <a:latin typeface="微软雅黑" panose="020B0503020204020204" pitchFamily="34" charset="-122"/>
                <a:ea typeface="微软雅黑" panose="020B0503020204020204" pitchFamily="34" charset="-122"/>
                <a:sym typeface="+mn-ea"/>
              </a:rPr>
              <a:t>增强客户洞察能力：</a:t>
            </a:r>
            <a:r>
              <a:rPr lang="zh-CN" altLang="en-US" sz="1200" dirty="0">
                <a:solidFill>
                  <a:schemeClr val="tx1"/>
                </a:solidFill>
                <a:latin typeface="微软雅黑" panose="020B0503020204020204" pitchFamily="34" charset="-122"/>
                <a:ea typeface="微软雅黑" panose="020B0503020204020204" pitchFamily="34" charset="-122"/>
                <a:sym typeface="+mn-ea"/>
              </a:rPr>
              <a:t> ①全面整合客户订购、投诉等数据，生成融合客户画像②借助深度学习算法，构建全面的客户业务洞察、投诉风险识别、意图预判等能力，精准洞察客户需求。</a:t>
            </a:r>
            <a:endParaRPr lang="en-US" altLang="zh-CN" sz="1200" dirty="0">
              <a:solidFill>
                <a:schemeClr val="tx1"/>
              </a:solidFill>
              <a:latin typeface="微软雅黑" panose="020B0503020204020204" pitchFamily="34" charset="-122"/>
              <a:ea typeface="微软雅黑" panose="020B0503020204020204" pitchFamily="34" charset="-122"/>
              <a:sym typeface="+mn-ea"/>
            </a:endParaRPr>
          </a:p>
          <a:p>
            <a:pPr marL="285750" indent="-285750">
              <a:lnSpc>
                <a:spcPct val="130000"/>
              </a:lnSpc>
              <a:buClr>
                <a:schemeClr val="accent1"/>
              </a:buClr>
              <a:buFont typeface="Arial" panose="020B0604020202020204" pitchFamily="34" charset="0"/>
              <a:buChar char="•"/>
            </a:pPr>
            <a:r>
              <a:rPr lang="zh-CN" altLang="en-US" sz="1200" b="1" dirty="0">
                <a:solidFill>
                  <a:schemeClr val="tx1"/>
                </a:solidFill>
                <a:latin typeface="微软雅黑" panose="020B0503020204020204" pitchFamily="34" charset="-122"/>
                <a:ea typeface="微软雅黑" panose="020B0503020204020204" pitchFamily="34" charset="-122"/>
                <a:sym typeface="+mn-ea"/>
              </a:rPr>
              <a:t>构建自动化客户运营体系：</a:t>
            </a:r>
            <a:r>
              <a:rPr lang="zh-CN" altLang="en-US" sz="1200" dirty="0">
                <a:solidFill>
                  <a:schemeClr val="tx1"/>
                </a:solidFill>
                <a:latin typeface="微软雅黑" panose="020B0503020204020204" pitchFamily="34" charset="-122"/>
                <a:ea typeface="微软雅黑" panose="020B0503020204020204" pitchFamily="34" charset="-122"/>
                <a:sym typeface="+mn-ea"/>
              </a:rPr>
              <a:t> ①建设策略统一调度能力引擎，实时自动化策略生成和上线。②基于全网客户洞察体系，利用自动化技术实现周期性和事件触发的精细化运营，建成数据内生驱动的自动化运营体系，深度赋能一级集中化运营支撑。</a:t>
            </a:r>
            <a:endParaRPr lang="en-US" altLang="zh-CN" sz="1200" dirty="0">
              <a:solidFill>
                <a:schemeClr val="tx1"/>
              </a:solidFill>
              <a:latin typeface="微软雅黑" panose="020B0503020204020204" pitchFamily="34" charset="-122"/>
              <a:ea typeface="微软雅黑" panose="020B0503020204020204" pitchFamily="34" charset="-122"/>
              <a:sym typeface="+mn-ea"/>
            </a:endParaRPr>
          </a:p>
        </p:txBody>
      </p:sp>
      <p:sp>
        <p:nvSpPr>
          <p:cNvPr id="10" name="矩形 9"/>
          <p:cNvSpPr/>
          <p:nvPr/>
        </p:nvSpPr>
        <p:spPr>
          <a:xfrm>
            <a:off x="9444958" y="2032994"/>
            <a:ext cx="2340005" cy="176015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171450" indent="-171450">
              <a:buClr>
                <a:schemeClr val="accent1"/>
              </a:buClr>
              <a:buFont typeface="Arial" panose="020B0604020202020204" pitchFamily="34" charset="0"/>
              <a:buChar char="•"/>
            </a:pPr>
            <a:r>
              <a:rPr lang="zh-CN" altLang="en-US" sz="1200" b="1" dirty="0">
                <a:solidFill>
                  <a:schemeClr val="tx1"/>
                </a:solidFill>
                <a:latin typeface="微软雅黑" panose="020B0503020204020204" pitchFamily="34" charset="-122"/>
                <a:ea typeface="微软雅黑" panose="020B0503020204020204" pitchFamily="34" charset="-122"/>
                <a:sym typeface="+mn-ea"/>
              </a:rPr>
              <a:t>数据融通见成效</a:t>
            </a:r>
            <a:endParaRPr lang="en-US" altLang="zh-CN" sz="1200" b="1" dirty="0">
              <a:solidFill>
                <a:schemeClr val="tx1"/>
              </a:solidFill>
              <a:latin typeface="微软雅黑" panose="020B0503020204020204" pitchFamily="34" charset="-122"/>
              <a:ea typeface="微软雅黑" panose="020B0503020204020204" pitchFamily="34" charset="-122"/>
              <a:sym typeface="+mn-ea"/>
            </a:endParaRPr>
          </a:p>
          <a:p>
            <a:pPr>
              <a:buClr>
                <a:schemeClr val="accent1"/>
              </a:buClr>
            </a:pPr>
            <a:r>
              <a:rPr lang="zh-CN" altLang="en-US" sz="1200" dirty="0">
                <a:solidFill>
                  <a:schemeClr val="tx1"/>
                </a:solidFill>
                <a:latin typeface="微软雅黑" panose="020B0503020204020204" pitchFamily="34" charset="-122"/>
                <a:ea typeface="微软雅黑" panose="020B0503020204020204" pitchFamily="34" charset="-122"/>
                <a:sym typeface="+mn-ea"/>
              </a:rPr>
              <a:t>数据一致性提升</a:t>
            </a:r>
            <a:r>
              <a:rPr lang="en-US" altLang="zh-CN" sz="1200" dirty="0">
                <a:solidFill>
                  <a:schemeClr val="tx1"/>
                </a:solidFill>
                <a:latin typeface="微软雅黑" panose="020B0503020204020204" pitchFamily="34" charset="-122"/>
                <a:ea typeface="微软雅黑" panose="020B0503020204020204" pitchFamily="34" charset="-122"/>
                <a:sym typeface="+mn-ea"/>
              </a:rPr>
              <a:t>10%</a:t>
            </a:r>
            <a:r>
              <a:rPr lang="zh-CN" altLang="en-US" sz="1200" dirty="0">
                <a:solidFill>
                  <a:schemeClr val="tx1"/>
                </a:solidFill>
                <a:latin typeface="微软雅黑" panose="020B0503020204020204" pitchFamily="34" charset="-122"/>
                <a:ea typeface="微软雅黑" panose="020B0503020204020204" pitchFamily="34" charset="-122"/>
                <a:sym typeface="+mn-ea"/>
              </a:rPr>
              <a:t>；客群细分完成率</a:t>
            </a:r>
            <a:r>
              <a:rPr lang="en-US" altLang="zh-CN" sz="1200" dirty="0">
                <a:solidFill>
                  <a:schemeClr val="tx1"/>
                </a:solidFill>
                <a:latin typeface="微软雅黑" panose="020B0503020204020204" pitchFamily="34" charset="-122"/>
                <a:ea typeface="微软雅黑" panose="020B0503020204020204" pitchFamily="34" charset="-122"/>
                <a:sym typeface="+mn-ea"/>
              </a:rPr>
              <a:t>100%</a:t>
            </a:r>
            <a:endParaRPr lang="en-US" altLang="zh-CN" sz="1200" dirty="0">
              <a:solidFill>
                <a:schemeClr val="tx1"/>
              </a:solidFill>
              <a:latin typeface="微软雅黑" panose="020B0503020204020204" pitchFamily="34" charset="-122"/>
              <a:ea typeface="微软雅黑" panose="020B0503020204020204" pitchFamily="34" charset="-122"/>
              <a:sym typeface="+mn-ea"/>
            </a:endParaRPr>
          </a:p>
          <a:p>
            <a:pPr marL="171450" indent="-171450">
              <a:buClr>
                <a:schemeClr val="accent1"/>
              </a:buClr>
              <a:buFont typeface="Arial" panose="020B0604020202020204" pitchFamily="34" charset="0"/>
              <a:buChar char="•"/>
            </a:pPr>
            <a:r>
              <a:rPr lang="zh-CN" altLang="en-US" sz="1200" b="1" dirty="0">
                <a:solidFill>
                  <a:schemeClr val="tx1"/>
                </a:solidFill>
                <a:latin typeface="微软雅黑" panose="020B0503020204020204" pitchFamily="34" charset="-122"/>
                <a:ea typeface="微软雅黑" panose="020B0503020204020204" pitchFamily="34" charset="-122"/>
                <a:sym typeface="+mn-ea"/>
              </a:rPr>
              <a:t>客户洞察更精准</a:t>
            </a:r>
            <a:endParaRPr lang="en-US" altLang="zh-CN" sz="1200" b="1" dirty="0">
              <a:solidFill>
                <a:schemeClr val="tx1"/>
              </a:solidFill>
              <a:latin typeface="微软雅黑" panose="020B0503020204020204" pitchFamily="34" charset="-122"/>
              <a:ea typeface="微软雅黑" panose="020B0503020204020204" pitchFamily="34" charset="-122"/>
              <a:sym typeface="+mn-ea"/>
            </a:endParaRPr>
          </a:p>
          <a:p>
            <a:pPr>
              <a:buClr>
                <a:schemeClr val="accent1"/>
              </a:buClr>
            </a:pPr>
            <a:r>
              <a:rPr lang="zh-CN" altLang="en-US" sz="1200" dirty="0">
                <a:solidFill>
                  <a:schemeClr val="tx1"/>
                </a:solidFill>
                <a:latin typeface="微软雅黑" panose="020B0503020204020204" pitchFamily="34" charset="-122"/>
                <a:ea typeface="微软雅黑" panose="020B0503020204020204" pitchFamily="34" charset="-122"/>
                <a:sym typeface="+mn-ea"/>
              </a:rPr>
              <a:t>识别</a:t>
            </a:r>
            <a:r>
              <a:rPr lang="en-US" altLang="zh-CN" sz="1200" dirty="0">
                <a:solidFill>
                  <a:schemeClr val="tx1"/>
                </a:solidFill>
                <a:latin typeface="微软雅黑" panose="020B0503020204020204" pitchFamily="34" charset="-122"/>
                <a:ea typeface="微软雅黑" panose="020B0503020204020204" pitchFamily="34" charset="-122"/>
                <a:sym typeface="+mn-ea"/>
              </a:rPr>
              <a:t>50%</a:t>
            </a:r>
            <a:r>
              <a:rPr lang="zh-CN" altLang="en-US" sz="1200" dirty="0">
                <a:solidFill>
                  <a:schemeClr val="tx1"/>
                </a:solidFill>
                <a:latin typeface="微软雅黑" panose="020B0503020204020204" pitchFamily="34" charset="-122"/>
                <a:ea typeface="微软雅黑" panose="020B0503020204020204" pitchFamily="34" charset="-122"/>
                <a:sym typeface="+mn-ea"/>
              </a:rPr>
              <a:t>投诉和离网风险；预测</a:t>
            </a:r>
            <a:r>
              <a:rPr lang="en-US" altLang="zh-CN" sz="1200" dirty="0">
                <a:solidFill>
                  <a:schemeClr val="tx1"/>
                </a:solidFill>
                <a:latin typeface="微软雅黑" panose="020B0503020204020204" pitchFamily="34" charset="-122"/>
                <a:ea typeface="微软雅黑" panose="020B0503020204020204" pitchFamily="34" charset="-122"/>
                <a:sym typeface="+mn-ea"/>
              </a:rPr>
              <a:t>50%</a:t>
            </a:r>
            <a:r>
              <a:rPr lang="zh-CN" altLang="en-US" sz="1200" dirty="0">
                <a:solidFill>
                  <a:schemeClr val="tx1"/>
                </a:solidFill>
                <a:latin typeface="微软雅黑" panose="020B0503020204020204" pitchFamily="34" charset="-122"/>
                <a:ea typeface="微软雅黑" panose="020B0503020204020204" pitchFamily="34" charset="-122"/>
                <a:sym typeface="+mn-ea"/>
              </a:rPr>
              <a:t>客户需求</a:t>
            </a:r>
            <a:endParaRPr lang="en-US" altLang="zh-CN" sz="1200" dirty="0">
              <a:solidFill>
                <a:schemeClr val="tx1"/>
              </a:solidFill>
              <a:latin typeface="微软雅黑" panose="020B0503020204020204" pitchFamily="34" charset="-122"/>
              <a:ea typeface="微软雅黑" panose="020B0503020204020204" pitchFamily="34" charset="-122"/>
              <a:sym typeface="+mn-ea"/>
            </a:endParaRPr>
          </a:p>
          <a:p>
            <a:pPr marL="171450" indent="-171450">
              <a:buClr>
                <a:schemeClr val="accent1"/>
              </a:buClr>
              <a:buFont typeface="Arial" panose="020B0604020202020204" pitchFamily="34" charset="0"/>
              <a:buChar char="•"/>
            </a:pPr>
            <a:r>
              <a:rPr lang="zh-CN" altLang="en-US" sz="1200" b="1" dirty="0">
                <a:solidFill>
                  <a:schemeClr val="tx1"/>
                </a:solidFill>
                <a:latin typeface="微软雅黑" panose="020B0503020204020204" pitchFamily="34" charset="-122"/>
                <a:ea typeface="微软雅黑" panose="020B0503020204020204" pitchFamily="34" charset="-122"/>
                <a:sym typeface="+mn-ea"/>
              </a:rPr>
              <a:t>客群运营效果凸显</a:t>
            </a:r>
            <a:endParaRPr lang="en-US" altLang="zh-CN" sz="1200" b="1" dirty="0">
              <a:solidFill>
                <a:schemeClr val="tx1"/>
              </a:solidFill>
              <a:latin typeface="微软雅黑" panose="020B0503020204020204" pitchFamily="34" charset="-122"/>
              <a:ea typeface="微软雅黑" panose="020B0503020204020204" pitchFamily="34" charset="-122"/>
              <a:sym typeface="+mn-ea"/>
            </a:endParaRPr>
          </a:p>
          <a:p>
            <a:pPr>
              <a:buClr>
                <a:schemeClr val="accent1"/>
              </a:buClr>
            </a:pPr>
            <a:r>
              <a:rPr lang="zh-CN" altLang="en-US" sz="1200" dirty="0">
                <a:solidFill>
                  <a:schemeClr val="tx1"/>
                </a:solidFill>
                <a:latin typeface="微软雅黑" panose="020B0503020204020204" pitchFamily="34" charset="-122"/>
                <a:ea typeface="微软雅黑" panose="020B0503020204020204" pitchFamily="34" charset="-122"/>
                <a:sym typeface="+mn-ea"/>
              </a:rPr>
              <a:t>用户投诉和离网率减低</a:t>
            </a:r>
            <a:r>
              <a:rPr lang="en-US" altLang="zh-CN" sz="1200" dirty="0">
                <a:solidFill>
                  <a:schemeClr val="tx1"/>
                </a:solidFill>
                <a:latin typeface="微软雅黑" panose="020B0503020204020204" pitchFamily="34" charset="-122"/>
                <a:ea typeface="微软雅黑" panose="020B0503020204020204" pitchFamily="34" charset="-122"/>
                <a:sym typeface="+mn-ea"/>
              </a:rPr>
              <a:t>10%</a:t>
            </a:r>
            <a:r>
              <a:rPr lang="zh-CN" altLang="en-US" sz="1200" dirty="0">
                <a:solidFill>
                  <a:schemeClr val="tx1"/>
                </a:solidFill>
                <a:latin typeface="微软雅黑" panose="020B0503020204020204" pitchFamily="34" charset="-122"/>
                <a:ea typeface="微软雅黑" panose="020B0503020204020204" pitchFamily="34" charset="-122"/>
                <a:sym typeface="+mn-ea"/>
              </a:rPr>
              <a:t>；银发</a:t>
            </a:r>
            <a:r>
              <a:rPr lang="en-US" altLang="zh-CN" sz="1200" dirty="0">
                <a:solidFill>
                  <a:schemeClr val="tx1"/>
                </a:solidFill>
                <a:latin typeface="微软雅黑" panose="020B0503020204020204" pitchFamily="34" charset="-122"/>
                <a:ea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sym typeface="+mn-ea"/>
              </a:rPr>
              <a:t>沿街市场销售额提升</a:t>
            </a:r>
            <a:r>
              <a:rPr lang="en-US" altLang="zh-CN" sz="1200" dirty="0">
                <a:solidFill>
                  <a:schemeClr val="tx1"/>
                </a:solidFill>
                <a:latin typeface="微软雅黑" panose="020B0503020204020204" pitchFamily="34" charset="-122"/>
                <a:ea typeface="微软雅黑" panose="020B0503020204020204" pitchFamily="34" charset="-122"/>
                <a:sym typeface="+mn-ea"/>
              </a:rPr>
              <a:t>10%</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nvPr>
        </p:nvSpPr>
        <p:spPr/>
        <p:txBody>
          <a:bodyPr>
            <a:normAutofit/>
          </a:bodyPr>
          <a:lstStyle/>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施工图|</a:t>
            </a:r>
            <a:r>
              <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rPr>
              <a:t>多维分析智能用数</a:t>
            </a:r>
            <a:endPar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endParaRPr>
          </a:p>
        </p:txBody>
      </p:sp>
      <p:sp>
        <p:nvSpPr>
          <p:cNvPr id="5" name="矩形 4"/>
          <p:cNvSpPr/>
          <p:nvPr/>
        </p:nvSpPr>
        <p:spPr>
          <a:xfrm>
            <a:off x="365124" y="1692677"/>
            <a:ext cx="1753870" cy="337820"/>
          </a:xfrm>
          <a:prstGeom prst="rect">
            <a:avLst/>
          </a:prstGeom>
          <a:solidFill>
            <a:srgbClr val="DFF2FF"/>
          </a:solidFill>
          <a:ln>
            <a:solidFill>
              <a:srgbClr val="DFF2FF"/>
            </a:solidFill>
          </a:ln>
        </p:spPr>
        <p:txBody>
          <a:bodyPr wrap="square" anchor="ctr"/>
          <a:lstStyle/>
          <a:p>
            <a:pPr marL="0" lvl="0" indent="0" algn="ctr" defTabSz="913765">
              <a:lnSpc>
                <a:spcPct val="120000"/>
              </a:lnSpc>
              <a:spcBef>
                <a:spcPts val="0"/>
              </a:spcBef>
              <a:spcAft>
                <a:spcPts val="0"/>
              </a:spcAft>
              <a:buClr>
                <a:srgbClr val="C00000"/>
              </a:buClr>
              <a:buSzTx/>
              <a:buFontTx/>
              <a:buNone/>
            </a:pPr>
            <a:r>
              <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rPr>
              <a:t>痛点</a:t>
            </a:r>
            <a:endPar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endParaRPr>
          </a:p>
        </p:txBody>
      </p:sp>
      <p:sp>
        <p:nvSpPr>
          <p:cNvPr id="7" name="矩形 6"/>
          <p:cNvSpPr/>
          <p:nvPr/>
        </p:nvSpPr>
        <p:spPr>
          <a:xfrm>
            <a:off x="2519044" y="1688867"/>
            <a:ext cx="6486576" cy="33591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举措要点</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9" name="矩形 8"/>
          <p:cNvSpPr/>
          <p:nvPr/>
        </p:nvSpPr>
        <p:spPr>
          <a:xfrm>
            <a:off x="9444958" y="1675797"/>
            <a:ext cx="2340005" cy="35115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en-US" altLang="zh-CN" sz="1400" b="1" dirty="0">
                <a:solidFill>
                  <a:schemeClr val="accent1"/>
                </a:solidFill>
                <a:latin typeface="微软雅黑" panose="020B0503020204020204" pitchFamily="34" charset="-122"/>
                <a:ea typeface="微软雅黑" panose="020B0503020204020204" pitchFamily="34" charset="-122"/>
              </a:rPr>
              <a:t>2025</a:t>
            </a:r>
            <a:r>
              <a:rPr lang="zh-CN" altLang="en-US" sz="1400" b="1" dirty="0">
                <a:solidFill>
                  <a:schemeClr val="accent1"/>
                </a:solidFill>
                <a:latin typeface="微软雅黑" panose="020B0503020204020204" pitchFamily="34" charset="-122"/>
                <a:ea typeface="微软雅黑" panose="020B0503020204020204" pitchFamily="34" charset="-122"/>
              </a:rPr>
              <a:t>年成效指标</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3" name="矩形 12"/>
          <p:cNvSpPr/>
          <p:nvPr/>
        </p:nvSpPr>
        <p:spPr>
          <a:xfrm>
            <a:off x="4157704" y="5640096"/>
            <a:ext cx="4099835" cy="815351"/>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zh-CN" altLang="en-US" sz="1000" b="1" dirty="0">
                <a:effectLst/>
              </a:rPr>
              <a:t>构建全方位客户洞察能力</a:t>
            </a:r>
            <a:r>
              <a:rPr lang="zh-CN" altLang="en-US" sz="1000" dirty="0">
                <a:effectLst/>
              </a:rPr>
              <a:t>：构建全面的客户业务洞察、投诉风险识别、意图预判等能力，赋能存量客户的精准运营</a:t>
            </a:r>
            <a:r>
              <a:rPr lang="zh-CN" altLang="en-US"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sym typeface="+mn-ea"/>
            </a:endParaRPr>
          </a:p>
          <a:p>
            <a:pPr marL="171450" indent="-171450">
              <a:lnSpc>
                <a:spcPct val="120000"/>
              </a:lnSpc>
              <a:buClr>
                <a:schemeClr val="accent1"/>
              </a:buClr>
              <a:buFont typeface="Wingdings" panose="05000000000000000000" pitchFamily="2" charset="2"/>
              <a:buChar char="n"/>
            </a:pPr>
            <a:r>
              <a:rPr lang="zh-CN" altLang="en-US" sz="1000" b="1" dirty="0">
                <a:effectLst/>
              </a:rPr>
              <a:t>构建辅助运营能力</a:t>
            </a:r>
            <a:r>
              <a:rPr lang="zh-CN" altLang="en-US" sz="1000" dirty="0">
                <a:effectLst/>
              </a:rPr>
              <a:t>：建设策略自动</a:t>
            </a:r>
            <a:r>
              <a:rPr lang="zh-CN" altLang="en-US" sz="1000" dirty="0"/>
              <a:t>化生成和上线能力，</a:t>
            </a:r>
            <a:r>
              <a:rPr lang="zh-CN" altLang="en-US" sz="1000" dirty="0">
                <a:effectLst/>
              </a:rPr>
              <a:t>基于全网客户洞察体系，利用自动化技术实现周期性</a:t>
            </a:r>
            <a:r>
              <a:rPr lang="zh-CN" altLang="en-US" sz="1000" dirty="0"/>
              <a:t>和</a:t>
            </a:r>
            <a:r>
              <a:rPr lang="zh-CN" altLang="en-US" sz="1000" dirty="0">
                <a:effectLst/>
              </a:rPr>
              <a:t>事件触发的精细化运营</a:t>
            </a:r>
            <a:r>
              <a:rPr lang="zh-CN" altLang="en-US"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sym typeface="+mn-ea"/>
            </a:endParaRPr>
          </a:p>
        </p:txBody>
      </p:sp>
      <p:sp>
        <p:nvSpPr>
          <p:cNvPr id="14" name="矩形 13"/>
          <p:cNvSpPr/>
          <p:nvPr/>
        </p:nvSpPr>
        <p:spPr>
          <a:xfrm>
            <a:off x="8295579" y="5640096"/>
            <a:ext cx="3420806" cy="815351"/>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zh-CN" altLang="en-US" sz="1000" b="1" dirty="0">
                <a:effectLst/>
              </a:rPr>
              <a:t>完成自动化智能运营支撑体系建设</a:t>
            </a:r>
            <a:r>
              <a:rPr lang="zh-CN" altLang="en-US" sz="1000" dirty="0">
                <a:effectLst/>
              </a:rPr>
              <a:t>：</a:t>
            </a:r>
            <a:r>
              <a:rPr lang="zh-CN" altLang="en-US" sz="1000" b="0" i="0" dirty="0">
                <a:effectLst/>
                <a:latin typeface="Inter"/>
              </a:rPr>
              <a:t>以客户生命周期为核心、完成由数据驱动的自动化精准运营体系建设。</a:t>
            </a:r>
            <a:endParaRPr lang="en-US" altLang="zh-CN" sz="1000" b="0" i="0" dirty="0">
              <a:effectLst/>
              <a:latin typeface="Inter"/>
            </a:endParaRPr>
          </a:p>
          <a:p>
            <a:pPr marL="171450" indent="-171450">
              <a:lnSpc>
                <a:spcPct val="120000"/>
              </a:lnSpc>
              <a:buClr>
                <a:schemeClr val="accent1"/>
              </a:buClr>
              <a:buFont typeface="Wingdings" panose="05000000000000000000" pitchFamily="2" charset="2"/>
              <a:buChar char="n"/>
            </a:pPr>
            <a:r>
              <a:rPr lang="zh-CN" altLang="en-US" sz="1000" b="1" dirty="0">
                <a:effectLst/>
              </a:rPr>
              <a:t>实现精准化运营支撑</a:t>
            </a:r>
            <a:r>
              <a:rPr lang="zh-CN" altLang="en-US" sz="1000" dirty="0">
                <a:effectLst/>
              </a:rPr>
              <a:t>：将完整的客户洞察及服务体系深度嵌入</a:t>
            </a:r>
            <a:r>
              <a:rPr lang="zh-CN" altLang="en-US" sz="1000" dirty="0"/>
              <a:t>业务</a:t>
            </a:r>
            <a:r>
              <a:rPr lang="zh-CN" altLang="en-US" sz="1000" dirty="0">
                <a:effectLst/>
              </a:rPr>
              <a:t>流程，</a:t>
            </a:r>
            <a:r>
              <a:rPr lang="zh-CN" altLang="en-US" sz="1000" b="0" i="0" dirty="0">
                <a:effectLst/>
                <a:latin typeface="Inter"/>
              </a:rPr>
              <a:t> 深度赋能一级集中化运营支撑。</a:t>
            </a:r>
            <a:endParaRPr lang="zh-CN" altLang="en-US" sz="1000" dirty="0">
              <a:latin typeface="微软雅黑" panose="020B0503020204020204" pitchFamily="34" charset="-122"/>
              <a:ea typeface="微软雅黑" panose="020B0503020204020204" pitchFamily="34" charset="-122"/>
            </a:endParaRPr>
          </a:p>
        </p:txBody>
      </p:sp>
      <p:sp>
        <p:nvSpPr>
          <p:cNvPr id="15" name="箭头: 右 40"/>
          <p:cNvSpPr/>
          <p:nvPr/>
        </p:nvSpPr>
        <p:spPr>
          <a:xfrm>
            <a:off x="1127761" y="4829470"/>
            <a:ext cx="10588624" cy="520700"/>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5729300" y="4970502"/>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9398016" y="4970653"/>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2027</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矩形 17"/>
          <p:cNvSpPr/>
          <p:nvPr/>
        </p:nvSpPr>
        <p:spPr>
          <a:xfrm>
            <a:off x="358139" y="5269221"/>
            <a:ext cx="644525" cy="1440858"/>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里程碑</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9" name="矩形 18"/>
          <p:cNvSpPr/>
          <p:nvPr/>
        </p:nvSpPr>
        <p:spPr>
          <a:xfrm>
            <a:off x="365124" y="3828435"/>
            <a:ext cx="640080" cy="1373604"/>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职责分工</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21" name="矩形 20"/>
          <p:cNvSpPr/>
          <p:nvPr/>
        </p:nvSpPr>
        <p:spPr>
          <a:xfrm>
            <a:off x="1059183" y="5640096"/>
            <a:ext cx="3194046" cy="815351"/>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zh-CN" altLang="en-US" sz="1000" b="1" dirty="0">
                <a:effectLst/>
              </a:rPr>
              <a:t>数据汇聚与底层库搭建</a:t>
            </a:r>
            <a:r>
              <a:rPr lang="zh-CN" altLang="en-US" sz="1000" dirty="0">
                <a:effectLst/>
              </a:rPr>
              <a:t>：深度汇集一级及省级客户的各类特征数据，形成全面的客户底层信息库；</a:t>
            </a:r>
            <a:endParaRPr lang="zh-CN" altLang="en-US" sz="1000" dirty="0">
              <a:effectLst/>
            </a:endParaRPr>
          </a:p>
          <a:p>
            <a:pPr marL="171450" indent="-171450">
              <a:lnSpc>
                <a:spcPct val="120000"/>
              </a:lnSpc>
              <a:buClr>
                <a:schemeClr val="accent1"/>
              </a:buClr>
              <a:buFont typeface="Wingdings" panose="05000000000000000000" pitchFamily="2" charset="2"/>
              <a:buChar char="n"/>
            </a:pPr>
            <a:r>
              <a:rPr lang="zh-CN" altLang="en-US" sz="1000" b="1" dirty="0"/>
              <a:t>构建初步</a:t>
            </a:r>
            <a:r>
              <a:rPr lang="zh-CN" altLang="en-US" sz="1000" b="1" dirty="0">
                <a:effectLst/>
              </a:rPr>
              <a:t>用户洞察能力</a:t>
            </a:r>
            <a:r>
              <a:rPr lang="zh-CN" altLang="en-US" sz="1000" dirty="0">
                <a:effectLst/>
              </a:rPr>
              <a:t>：通过智能算法与大数据分析平台，生成高度整合的个人用户服务统一视图；</a:t>
            </a:r>
            <a:endParaRPr lang="zh-CN" altLang="en-US" sz="1000" dirty="0">
              <a:effectLst/>
            </a:endParaRPr>
          </a:p>
        </p:txBody>
      </p:sp>
      <p:sp>
        <p:nvSpPr>
          <p:cNvPr id="22" name="文本框 21"/>
          <p:cNvSpPr txBox="1"/>
          <p:nvPr/>
        </p:nvSpPr>
        <p:spPr>
          <a:xfrm>
            <a:off x="2307896" y="4971109"/>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Freeform 22"/>
          <p:cNvSpPr/>
          <p:nvPr/>
        </p:nvSpPr>
        <p:spPr bwMode="auto">
          <a:xfrm rot="16200000" flipV="1">
            <a:off x="1485578" y="2636178"/>
            <a:ext cx="1714827"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5" name="Freeform 22"/>
          <p:cNvSpPr/>
          <p:nvPr/>
        </p:nvSpPr>
        <p:spPr bwMode="auto">
          <a:xfrm rot="16200000" flipV="1">
            <a:off x="8074719" y="2636178"/>
            <a:ext cx="2329385"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3" name="文本占位符 2"/>
          <p:cNvSpPr>
            <a:spLocks noGrp="1"/>
          </p:cNvSpPr>
          <p:nvPr>
            <p:ph type="body" sz="quarter" idx="10"/>
          </p:nvPr>
        </p:nvSpPr>
        <p:spPr>
          <a:xfrm>
            <a:off x="85241" y="931284"/>
            <a:ext cx="11856202" cy="753277"/>
          </a:xfrm>
        </p:spPr>
        <p:txBody>
          <a:bodyPr lIns="180000" tIns="45720" rIns="180000" bIns="45720"/>
          <a:lstStyle/>
          <a:p>
            <a:pPr marL="0" lvl="1" indent="-254000" algn="l" defTabSz="457200" eaLnBrk="0">
              <a:lnSpc>
                <a:spcPct val="109000"/>
              </a:lnSpc>
              <a:spcBef>
                <a:spcPts val="0"/>
              </a:spcBef>
              <a:spcAft>
                <a:spcPts val="0"/>
              </a:spcAft>
              <a:buClrTx/>
              <a:buSzTx/>
              <a:buFontTx/>
              <a:buNone/>
              <a:defRPr/>
            </a:pPr>
            <a:r>
              <a:rPr lang="zh-CN" altLang="en-US"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rPr>
              <a:t>针对集省专融通不顺畅、客户洞察不全面等痛点，总部牵头建设客群统一模型，搭建客户集中运营平台，集约化建设智慧洞察和智慧策略等能力，构建精细运营体系；省专公司加大集约平台、工具的穿透应用，配合数据共享互通，做好本省精准营销和协同运营能力的建设，执行并开展沿街、银发、国际等客群的统一推广。</a:t>
            </a:r>
            <a:endParaRPr lang="zh-CN" altLang="en-US"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endParaRPr>
          </a:p>
        </p:txBody>
      </p:sp>
      <p:sp>
        <p:nvSpPr>
          <p:cNvPr id="26" name="矩形 25"/>
          <p:cNvSpPr/>
          <p:nvPr/>
        </p:nvSpPr>
        <p:spPr>
          <a:xfrm>
            <a:off x="1002662" y="3834190"/>
            <a:ext cx="10782301" cy="137360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总部：</a:t>
            </a:r>
            <a:r>
              <a:rPr lang="zh-CN" altLang="en-US" sz="1100" dirty="0">
                <a:solidFill>
                  <a:prstClr val="black"/>
                </a:solidFill>
                <a:latin typeface="微软雅黑" panose="020B0503020204020204" pitchFamily="34" charset="-122"/>
                <a:ea typeface="微软雅黑" panose="020B0503020204020204" pitchFamily="34" charset="-122"/>
              </a:rPr>
              <a:t>出具细分市场整体规划，构建客群统一细分模型，输出细分客群清单；拉通客户全生命周期数据，构建数智运营平台，基于</a:t>
            </a:r>
            <a:r>
              <a:rPr lang="en-US" altLang="zh-CN" sz="1100" dirty="0">
                <a:solidFill>
                  <a:prstClr val="black"/>
                </a:solidFill>
                <a:latin typeface="微软雅黑" panose="020B0503020204020204" pitchFamily="34" charset="-122"/>
                <a:ea typeface="微软雅黑" panose="020B0503020204020204" pitchFamily="34" charset="-122"/>
              </a:rPr>
              <a:t>AI</a:t>
            </a:r>
            <a:r>
              <a:rPr lang="zh-CN" altLang="en-US" sz="1100" dirty="0">
                <a:solidFill>
                  <a:prstClr val="black"/>
                </a:solidFill>
                <a:latin typeface="微软雅黑" panose="020B0503020204020204" pitchFamily="34" charset="-122"/>
                <a:ea typeface="微软雅黑" panose="020B0503020204020204" pitchFamily="34" charset="-122"/>
              </a:rPr>
              <a:t>升级数智营销能力；强化产品、渠道集约化运营平台建设，强化统一运营支撑能力。</a:t>
            </a:r>
            <a:endParaRPr lang="en-US" altLang="zh-CN"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省专：</a:t>
            </a:r>
            <a:r>
              <a:rPr lang="zh-CN" altLang="en-US" sz="1100" dirty="0">
                <a:solidFill>
                  <a:prstClr val="black"/>
                </a:solidFill>
                <a:latin typeface="微软雅黑" panose="020B0503020204020204" pitchFamily="34" charset="-122"/>
                <a:ea typeface="微软雅黑" panose="020B0503020204020204" pitchFamily="34" charset="-122"/>
              </a:rPr>
              <a:t>负责配合做好客户全生命周期数据共享互通，做好平台、一线营销工具穿透；做好细分市场运营体系在本单位的落地执行，建设本单位精准营销和协同运营能力，承接总部集约策略任务，执行并开展沿街、银发、国际等客群的统一推广。</a:t>
            </a:r>
            <a:endParaRPr lang="zh-CN" altLang="en-US"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地市：</a:t>
            </a:r>
            <a:r>
              <a:rPr sz="1100" dirty="0">
                <a:solidFill>
                  <a:prstClr val="black"/>
                </a:solidFill>
                <a:latin typeface="微软雅黑" panose="020B0503020204020204" pitchFamily="34" charset="-122"/>
                <a:ea typeface="微软雅黑" panose="020B0503020204020204" pitchFamily="34" charset="-122"/>
              </a:rPr>
              <a:t>负责做好营销</a:t>
            </a:r>
            <a:r>
              <a:rPr lang="zh-CN" sz="1100" dirty="0">
                <a:solidFill>
                  <a:prstClr val="black"/>
                </a:solidFill>
                <a:latin typeface="微软雅黑" panose="020B0503020204020204" pitchFamily="34" charset="-122"/>
                <a:ea typeface="微软雅黑" panose="020B0503020204020204" pitchFamily="34" charset="-122"/>
              </a:rPr>
              <a:t>策略工单</a:t>
            </a:r>
            <a:r>
              <a:rPr sz="1100" dirty="0" err="1">
                <a:solidFill>
                  <a:prstClr val="black"/>
                </a:solidFill>
                <a:latin typeface="微软雅黑" panose="020B0503020204020204" pitchFamily="34" charset="-122"/>
                <a:ea typeface="微软雅黑" panose="020B0503020204020204" pitchFamily="34" charset="-122"/>
              </a:rPr>
              <a:t>的组织和调度，网格做好接单和营销交付</a:t>
            </a:r>
            <a:r>
              <a:rPr lang="zh-CN" altLang="en-US" sz="1100" dirty="0">
                <a:solidFill>
                  <a:prstClr val="black"/>
                </a:solidFill>
                <a:latin typeface="微软雅黑" panose="020B0503020204020204" pitchFamily="34" charset="-122"/>
                <a:ea typeface="微软雅黑" panose="020B0503020204020204" pitchFamily="34" charset="-122"/>
              </a:rPr>
              <a:t>。</a:t>
            </a:r>
            <a:endParaRPr sz="1100" dirty="0">
              <a:solidFill>
                <a:prstClr val="black"/>
              </a:solidFill>
              <a:latin typeface="微软雅黑" panose="020B0503020204020204" pitchFamily="34" charset="-122"/>
              <a:ea typeface="微软雅黑" panose="020B0503020204020204" pitchFamily="34" charset="-122"/>
            </a:endParaRPr>
          </a:p>
        </p:txBody>
      </p:sp>
      <p:sp>
        <p:nvSpPr>
          <p:cNvPr id="39" name="箭头: 右 40"/>
          <p:cNvSpPr/>
          <p:nvPr/>
        </p:nvSpPr>
        <p:spPr>
          <a:xfrm>
            <a:off x="1059183" y="5210302"/>
            <a:ext cx="10588625" cy="358065"/>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5661028"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nvSpPr>
        <p:spPr>
          <a:xfrm>
            <a:off x="932942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文本框 41"/>
          <p:cNvSpPr txBox="1"/>
          <p:nvPr/>
        </p:nvSpPr>
        <p:spPr>
          <a:xfrm>
            <a:off x="223901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文本框 19"/>
          <p:cNvSpPr txBox="1"/>
          <p:nvPr/>
        </p:nvSpPr>
        <p:spPr>
          <a:xfrm>
            <a:off x="6434455" y="309245"/>
            <a:ext cx="3748405" cy="878205"/>
          </a:xfrm>
          <a:prstGeom prst="rect">
            <a:avLst/>
          </a:prstGeom>
          <a:solidFill>
            <a:srgbClr val="C00000"/>
          </a:solidFill>
        </p:spPr>
        <p:txBody>
          <a:bodyPr wrap="square" rtlCol="0">
            <a:noAutofit/>
          </a:bodyPr>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请华为更新，</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聚焦智慧大脑</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002662" y="5570874"/>
            <a:ext cx="10782301" cy="100747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195" fontAlgn="base">
              <a:lnSpc>
                <a:spcPct val="150000"/>
              </a:lnSpc>
              <a:spcBef>
                <a:spcPct val="0"/>
              </a:spcBef>
              <a:spcAft>
                <a:spcPct val="0"/>
              </a:spcAft>
              <a:buClr>
                <a:schemeClr val="accent1"/>
              </a:buClr>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6" name="矩形 5"/>
          <p:cNvSpPr/>
          <p:nvPr/>
        </p:nvSpPr>
        <p:spPr>
          <a:xfrm>
            <a:off x="365124" y="1908718"/>
            <a:ext cx="1753870"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0" indent="-171450" algn="l" fontAlgn="auto">
              <a:lnSpc>
                <a:spcPct val="150000"/>
              </a:lnSpc>
              <a:spcBef>
                <a:spcPts val="0"/>
              </a:spcBef>
              <a:buClrTx/>
              <a:buSzTx/>
              <a:buFont typeface="Arial" panose="020B0604020202020204" pitchFamily="34" charset="0"/>
              <a:buChar char="•"/>
              <a:defRPr/>
            </a:pPr>
            <a:r>
              <a:rPr kumimoji="1" lang="zh-CN" alt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各省家庭模型不统一，集省专协同难，数据不集中，业务运营和管理难以开展</a:t>
            </a:r>
            <a:endParaRPr kumimoji="1" lang="zh-CN" alt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a:p>
            <a:pPr marL="171450" lvl="0" indent="-171450" algn="l" fontAlgn="auto">
              <a:lnSpc>
                <a:spcPct val="150000"/>
              </a:lnSpc>
              <a:spcBef>
                <a:spcPts val="0"/>
              </a:spcBef>
              <a:buClrTx/>
              <a:buSzTx/>
              <a:buFont typeface="Arial" panose="020B0604020202020204" pitchFamily="34" charset="0"/>
              <a:buChar char="•"/>
              <a:defRPr/>
            </a:pPr>
            <a:r>
              <a:rPr kumimoji="1" lang="zh-CN" alt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以单卡运营为主，缺少家庭统一支撑和运营。</a:t>
            </a:r>
            <a:endParaRPr kumimoji="1" lang="en-US" altLang="zh-CN"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8" name="矩形 7"/>
          <p:cNvSpPr/>
          <p:nvPr/>
        </p:nvSpPr>
        <p:spPr>
          <a:xfrm>
            <a:off x="2519044" y="1914879"/>
            <a:ext cx="6486576"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30000"/>
              </a:lnSpc>
              <a:buClr>
                <a:schemeClr val="accent1"/>
              </a:buClr>
              <a:buFont typeface="Arial" panose="020B0604020202020204" pitchFamily="34" charset="0"/>
              <a:buChar char="•"/>
            </a:pPr>
            <a:r>
              <a:rPr lang="zh-CN" altLang="en-US" sz="1200" b="1" dirty="0">
                <a:solidFill>
                  <a:schemeClr val="tx1"/>
                </a:solidFill>
                <a:latin typeface="微软雅黑" panose="020B0503020204020204" pitchFamily="34" charset="-122"/>
                <a:ea typeface="微软雅黑" panose="020B0503020204020204" pitchFamily="34" charset="-122"/>
                <a:sym typeface="+mn-ea"/>
              </a:rPr>
              <a:t>建设全网统一家庭账户体系：</a:t>
            </a:r>
            <a:r>
              <a:rPr lang="zh-CN" altLang="en-US" sz="1200" dirty="0">
                <a:solidFill>
                  <a:schemeClr val="tx1"/>
                </a:solidFill>
                <a:latin typeface="微软雅黑" panose="020B0503020204020204" pitchFamily="34" charset="-122"/>
                <a:ea typeface="微软雅黑" panose="020B0503020204020204" pitchFamily="34" charset="-122"/>
                <a:sym typeface="+mn-ea"/>
              </a:rPr>
              <a:t>①</a:t>
            </a:r>
            <a:r>
              <a:rPr kumimoji="1" lang="zh-CN" altLang="en-US" sz="1200" dirty="0">
                <a:solidFill>
                  <a:schemeClr val="tx1"/>
                </a:solidFill>
                <a:latin typeface="微软雅黑" panose="020B0503020204020204" pitchFamily="34" charset="-122"/>
                <a:ea typeface="微软雅黑" panose="020B0503020204020204" pitchFamily="34" charset="-122"/>
              </a:rPr>
              <a:t>规划构建</a:t>
            </a:r>
            <a:r>
              <a:rPr kumimoji="1" lang="en-US" altLang="zh-CN" sz="1200" dirty="0">
                <a:solidFill>
                  <a:schemeClr val="tx1"/>
                </a:solidFill>
                <a:latin typeface="微软雅黑" panose="020B0503020204020204" pitchFamily="34" charset="-122"/>
                <a:ea typeface="微软雅黑" panose="020B0503020204020204" pitchFamily="34" charset="-122"/>
              </a:rPr>
              <a:t>31</a:t>
            </a:r>
            <a:r>
              <a:rPr kumimoji="1" lang="zh-CN" altLang="en-US" sz="1200" dirty="0">
                <a:solidFill>
                  <a:schemeClr val="tx1"/>
                </a:solidFill>
                <a:latin typeface="微软雅黑" panose="020B0503020204020204" pitchFamily="34" charset="-122"/>
                <a:ea typeface="微软雅黑" panose="020B0503020204020204" pitchFamily="34" charset="-122"/>
              </a:rPr>
              <a:t>省标准一致、支持跨省联动的全网统一家庭账户体系，打造统一计费和支付能力</a:t>
            </a:r>
            <a:r>
              <a:rPr lang="zh-CN" altLang="en-US" sz="1200" dirty="0">
                <a:solidFill>
                  <a:schemeClr val="tx1"/>
                </a:solidFill>
                <a:latin typeface="微软雅黑" panose="020B0503020204020204" pitchFamily="34" charset="-122"/>
                <a:ea typeface="微软雅黑" panose="020B0503020204020204" pitchFamily="34" charset="-122"/>
                <a:sym typeface="+mn-ea"/>
              </a:rPr>
              <a:t>②支撑</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家庭圈业务，</a:t>
            </a:r>
            <a:r>
              <a:rPr kumimoji="1" lang="zh-CN" altLang="en-US" sz="1200" dirty="0">
                <a:solidFill>
                  <a:schemeClr val="tx1"/>
                </a:solidFill>
                <a:latin typeface="微软雅黑" panose="020B0503020204020204" pitchFamily="34" charset="-122"/>
                <a:ea typeface="微软雅黑" panose="020B0503020204020204" pitchFamily="34" charset="-122"/>
              </a:rPr>
              <a:t>深化家庭融合支撑，挖掘家庭客户潜力</a:t>
            </a:r>
            <a:endParaRPr lang="en-US" altLang="zh-CN" sz="1200" dirty="0">
              <a:solidFill>
                <a:schemeClr val="tx1"/>
              </a:solidFill>
              <a:latin typeface="微软雅黑" panose="020B0503020204020204" pitchFamily="34" charset="-122"/>
              <a:ea typeface="微软雅黑" panose="020B0503020204020204" pitchFamily="34" charset="-122"/>
              <a:sym typeface="+mn-ea"/>
            </a:endParaRPr>
          </a:p>
          <a:p>
            <a:pPr marL="285750" indent="-285750">
              <a:lnSpc>
                <a:spcPct val="130000"/>
              </a:lnSpc>
              <a:buClr>
                <a:schemeClr val="accent1"/>
              </a:buClr>
              <a:buFont typeface="Arial" panose="020B0604020202020204" pitchFamily="34" charset="0"/>
              <a:buChar char="•"/>
            </a:pPr>
            <a:r>
              <a:rPr lang="zh-CN" altLang="en-US" sz="1200" b="1" dirty="0">
                <a:solidFill>
                  <a:schemeClr val="tx1"/>
                </a:solidFill>
                <a:latin typeface="微软雅黑" panose="020B0503020204020204" pitchFamily="34" charset="-122"/>
                <a:ea typeface="微软雅黑" panose="020B0503020204020204" pitchFamily="34" charset="-122"/>
                <a:sym typeface="+mn-ea"/>
              </a:rPr>
              <a:t>建设家庭业务支撑和运营能力：</a:t>
            </a:r>
            <a:r>
              <a:rPr lang="zh-CN" altLang="en-US" sz="1200" dirty="0">
                <a:solidFill>
                  <a:schemeClr val="tx1"/>
                </a:solidFill>
                <a:latin typeface="微软雅黑" panose="020B0503020204020204" pitchFamily="34" charset="-122"/>
                <a:ea typeface="微软雅黑" panose="020B0503020204020204" pitchFamily="34" charset="-122"/>
                <a:sym typeface="+mn-ea"/>
              </a:rPr>
              <a:t> ①</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依托家庭圈和家庭统一账号</a:t>
            </a:r>
            <a:r>
              <a:rPr kumimoji="1" lang="zh-CN" altLang="en-US" sz="1200" dirty="0">
                <a:solidFill>
                  <a:schemeClr val="tx1"/>
                </a:solidFill>
                <a:latin typeface="微软雅黑" panose="020B0503020204020204" pitchFamily="34" charset="-122"/>
                <a:ea typeface="微软雅黑" panose="020B0503020204020204" pitchFamily="34" charset="-122"/>
                <a:sym typeface="+mn-ea"/>
              </a:rPr>
              <a:t>，建设池化能力，推动家庭运营转型</a:t>
            </a:r>
            <a:r>
              <a:rPr lang="zh-CN" altLang="en-US" sz="1200" dirty="0">
                <a:solidFill>
                  <a:schemeClr val="tx1"/>
                </a:solidFill>
                <a:latin typeface="微软雅黑" panose="020B0503020204020204" pitchFamily="34" charset="-122"/>
                <a:ea typeface="微软雅黑" panose="020B0503020204020204" pitchFamily="34" charset="-122"/>
                <a:sym typeface="+mn-ea"/>
              </a:rPr>
              <a:t>②借助深度学习算法，构建全面的家庭客户业务洞察，赋能</a:t>
            </a:r>
            <a:r>
              <a:rPr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家庭客户融合运营</a:t>
            </a:r>
            <a:r>
              <a:rPr lang="zh-CN" altLang="en-US" sz="1200" noProof="0" dirty="0">
                <a:ln>
                  <a:noFill/>
                </a:ln>
                <a:solidFill>
                  <a:schemeClr val="tx1"/>
                </a:solidFill>
                <a:uLnTx/>
                <a:uFillTx/>
                <a:latin typeface="Inter"/>
                <a:ea typeface="微软雅黑" panose="020B0503020204020204" pitchFamily="34" charset="-122"/>
                <a:sym typeface="+mn-ea"/>
              </a:rPr>
              <a:t>，推进单号卡运营向家庭运营转型，分散家庭运营向集中家庭运营转型</a:t>
            </a:r>
            <a:endParaRPr lang="en-US" altLang="zh-CN" sz="1200" dirty="0">
              <a:solidFill>
                <a:schemeClr val="tx1"/>
              </a:solidFill>
              <a:latin typeface="微软雅黑" panose="020B0503020204020204" pitchFamily="34" charset="-122"/>
              <a:ea typeface="微软雅黑" panose="020B0503020204020204" pitchFamily="34" charset="-122"/>
              <a:sym typeface="+mn-ea"/>
            </a:endParaRPr>
          </a:p>
        </p:txBody>
      </p:sp>
      <p:sp>
        <p:nvSpPr>
          <p:cNvPr id="10" name="矩形 9"/>
          <p:cNvSpPr/>
          <p:nvPr/>
        </p:nvSpPr>
        <p:spPr>
          <a:xfrm>
            <a:off x="9444958" y="2032994"/>
            <a:ext cx="2340005" cy="176015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171450" indent="-171450">
              <a:lnSpc>
                <a:spcPct val="150000"/>
              </a:lnSpc>
              <a:buClr>
                <a:schemeClr val="accent1"/>
              </a:buClr>
              <a:buFont typeface="Wingdings" panose="05000000000000000000" pitchFamily="2" charset="2"/>
              <a:buChar char="ü"/>
            </a:pPr>
            <a:r>
              <a:rPr lang="zh-CN" altLang="en-US" sz="1000" dirty="0">
                <a:solidFill>
                  <a:schemeClr val="tx1"/>
                </a:solidFill>
                <a:latin typeface="微软雅黑" panose="020B0503020204020204" pitchFamily="34" charset="-122"/>
                <a:ea typeface="微软雅黑" panose="020B0503020204020204" pitchFamily="34" charset="-122"/>
                <a:sym typeface="+mn-ea"/>
              </a:rPr>
              <a:t>家庭圈客户发展</a:t>
            </a:r>
            <a:r>
              <a:rPr lang="en-US" altLang="zh-CN" sz="1000" dirty="0">
                <a:solidFill>
                  <a:schemeClr val="tx1"/>
                </a:solidFill>
                <a:latin typeface="微软雅黑" panose="020B0503020204020204" pitchFamily="34" charset="-122"/>
                <a:ea typeface="微软雅黑" panose="020B0503020204020204" pitchFamily="34" charset="-122"/>
                <a:sym typeface="+mn-ea"/>
              </a:rPr>
              <a:t>1000</a:t>
            </a:r>
            <a:r>
              <a:rPr lang="zh-CN" altLang="en-US" sz="1000" dirty="0">
                <a:solidFill>
                  <a:schemeClr val="tx1"/>
                </a:solidFill>
                <a:latin typeface="微软雅黑" panose="020B0503020204020204" pitchFamily="34" charset="-122"/>
                <a:ea typeface="微软雅黑" panose="020B0503020204020204" pitchFamily="34" charset="-122"/>
                <a:sym typeface="+mn-ea"/>
              </a:rPr>
              <a:t>万</a:t>
            </a:r>
            <a:endParaRPr lang="en-US" altLang="zh-CN" sz="1000" dirty="0">
              <a:solidFill>
                <a:schemeClr val="tx1"/>
              </a:solidFill>
              <a:latin typeface="微软雅黑" panose="020B0503020204020204" pitchFamily="34" charset="-122"/>
              <a:ea typeface="微软雅黑" panose="020B0503020204020204" pitchFamily="34" charset="-122"/>
              <a:sym typeface="+mn-ea"/>
            </a:endParaRPr>
          </a:p>
          <a:p>
            <a:pPr marL="171450" indent="-171450">
              <a:lnSpc>
                <a:spcPct val="150000"/>
              </a:lnSpc>
              <a:buClr>
                <a:schemeClr val="accent1"/>
              </a:buClr>
              <a:buFont typeface="Wingdings" panose="05000000000000000000" pitchFamily="2" charset="2"/>
              <a:buChar char="ü"/>
            </a:pPr>
            <a:r>
              <a:rPr lang="zh-CN" altLang="en-US" sz="1000" dirty="0">
                <a:solidFill>
                  <a:schemeClr val="tx1"/>
                </a:solidFill>
                <a:latin typeface="微软雅黑" panose="020B0503020204020204" pitchFamily="34" charset="-122"/>
                <a:ea typeface="微软雅黑" panose="020B0503020204020204" pitchFamily="34" charset="-122"/>
                <a:sym typeface="+mn-ea"/>
              </a:rPr>
              <a:t>家庭融合业务占比提升</a:t>
            </a:r>
            <a:r>
              <a:rPr lang="en-US" altLang="zh-CN" sz="1000" dirty="0">
                <a:solidFill>
                  <a:schemeClr val="tx1"/>
                </a:solidFill>
                <a:latin typeface="微软雅黑" panose="020B0503020204020204" pitchFamily="34" charset="-122"/>
                <a:ea typeface="微软雅黑" panose="020B0503020204020204" pitchFamily="34" charset="-122"/>
                <a:sym typeface="+mn-ea"/>
              </a:rPr>
              <a:t>20%</a:t>
            </a:r>
            <a:endParaRPr lang="en-US" altLang="zh-CN" sz="1000" dirty="0">
              <a:solidFill>
                <a:schemeClr val="tx1"/>
              </a:solidFill>
              <a:latin typeface="微软雅黑" panose="020B0503020204020204" pitchFamily="34" charset="-122"/>
              <a:ea typeface="微软雅黑" panose="020B0503020204020204" pitchFamily="34" charset="-122"/>
              <a:sym typeface="+mn-ea"/>
            </a:endParaRPr>
          </a:p>
          <a:p>
            <a:pPr marL="171450" indent="-171450">
              <a:lnSpc>
                <a:spcPct val="150000"/>
              </a:lnSpc>
              <a:buClr>
                <a:schemeClr val="accent1"/>
              </a:buClr>
              <a:buFont typeface="Wingdings" panose="05000000000000000000" pitchFamily="2" charset="2"/>
              <a:buChar char="ü"/>
            </a:pPr>
            <a:r>
              <a:rPr lang="zh-CN" altLang="en-US" sz="1000" dirty="0">
                <a:solidFill>
                  <a:schemeClr val="tx1"/>
                </a:solidFill>
                <a:latin typeface="微软雅黑" panose="020B0503020204020204" pitchFamily="34" charset="-122"/>
                <a:ea typeface="微软雅黑" panose="020B0503020204020204" pitchFamily="34" charset="-122"/>
                <a:sym typeface="+mn-ea"/>
              </a:rPr>
              <a:t>家庭综合</a:t>
            </a:r>
            <a:r>
              <a:rPr lang="en-US" altLang="zh-CN" sz="1000" dirty="0">
                <a:solidFill>
                  <a:schemeClr val="tx1"/>
                </a:solidFill>
                <a:latin typeface="微软雅黑" panose="020B0503020204020204" pitchFamily="34" charset="-122"/>
                <a:ea typeface="微软雅黑" panose="020B0503020204020204" pitchFamily="34" charset="-122"/>
                <a:sym typeface="+mn-ea"/>
              </a:rPr>
              <a:t>ARPU</a:t>
            </a:r>
            <a:r>
              <a:rPr lang="zh-CN" altLang="en-US" sz="1000" dirty="0">
                <a:solidFill>
                  <a:schemeClr val="tx1"/>
                </a:solidFill>
                <a:latin typeface="微软雅黑" panose="020B0503020204020204" pitchFamily="34" charset="-122"/>
                <a:ea typeface="微软雅黑" panose="020B0503020204020204" pitchFamily="34" charset="-122"/>
                <a:sym typeface="+mn-ea"/>
              </a:rPr>
              <a:t>提升</a:t>
            </a:r>
            <a:r>
              <a:rPr lang="en-US" altLang="zh-CN" sz="1000" dirty="0">
                <a:solidFill>
                  <a:schemeClr val="tx1"/>
                </a:solidFill>
                <a:latin typeface="微软雅黑" panose="020B0503020204020204" pitchFamily="34" charset="-122"/>
                <a:ea typeface="微软雅黑" panose="020B0503020204020204" pitchFamily="34" charset="-122"/>
                <a:sym typeface="+mn-ea"/>
              </a:rPr>
              <a:t>10%</a:t>
            </a:r>
            <a:endParaRPr lang="en-US" altLang="zh-CN" sz="1000" dirty="0">
              <a:solidFill>
                <a:schemeClr val="tx1"/>
              </a:solidFill>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nvPr>
        </p:nvSpPr>
        <p:spPr/>
        <p:txBody>
          <a:bodyPr>
            <a:normAutofit/>
          </a:bodyPr>
          <a:lstStyle/>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施工图|</a:t>
            </a:r>
            <a:r>
              <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rPr>
              <a:t>全领域客户账号统一</a:t>
            </a:r>
            <a:endParaRPr lang="zh-CN" altLang="en-US" dirty="0"/>
          </a:p>
        </p:txBody>
      </p:sp>
      <p:sp>
        <p:nvSpPr>
          <p:cNvPr id="5" name="矩形 4"/>
          <p:cNvSpPr/>
          <p:nvPr/>
        </p:nvSpPr>
        <p:spPr>
          <a:xfrm>
            <a:off x="365124" y="1692677"/>
            <a:ext cx="1753870" cy="337820"/>
          </a:xfrm>
          <a:prstGeom prst="rect">
            <a:avLst/>
          </a:prstGeom>
          <a:solidFill>
            <a:srgbClr val="DFF2FF"/>
          </a:solidFill>
          <a:ln>
            <a:solidFill>
              <a:srgbClr val="DFF2FF"/>
            </a:solidFill>
          </a:ln>
        </p:spPr>
        <p:txBody>
          <a:bodyPr wrap="square" anchor="ctr"/>
          <a:lstStyle/>
          <a:p>
            <a:pPr marL="0" lvl="0" indent="0" algn="ctr" defTabSz="913765">
              <a:lnSpc>
                <a:spcPct val="120000"/>
              </a:lnSpc>
              <a:spcBef>
                <a:spcPts val="0"/>
              </a:spcBef>
              <a:spcAft>
                <a:spcPts val="0"/>
              </a:spcAft>
              <a:buClr>
                <a:srgbClr val="C00000"/>
              </a:buClr>
              <a:buSzTx/>
              <a:buFontTx/>
              <a:buNone/>
            </a:pPr>
            <a:r>
              <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rPr>
              <a:t>痛点</a:t>
            </a:r>
            <a:endPar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endParaRPr>
          </a:p>
        </p:txBody>
      </p:sp>
      <p:sp>
        <p:nvSpPr>
          <p:cNvPr id="7" name="矩形 6"/>
          <p:cNvSpPr/>
          <p:nvPr/>
        </p:nvSpPr>
        <p:spPr>
          <a:xfrm>
            <a:off x="2519044" y="1688867"/>
            <a:ext cx="6486576" cy="33591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举措要点</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9" name="矩形 8"/>
          <p:cNvSpPr/>
          <p:nvPr/>
        </p:nvSpPr>
        <p:spPr>
          <a:xfrm>
            <a:off x="9444958" y="1675797"/>
            <a:ext cx="2340005" cy="35115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en-US" altLang="zh-CN" sz="1400" b="1" dirty="0">
                <a:solidFill>
                  <a:schemeClr val="accent1"/>
                </a:solidFill>
                <a:latin typeface="微软雅黑" panose="020B0503020204020204" pitchFamily="34" charset="-122"/>
                <a:ea typeface="微软雅黑" panose="020B0503020204020204" pitchFamily="34" charset="-122"/>
              </a:rPr>
              <a:t>2025</a:t>
            </a:r>
            <a:r>
              <a:rPr lang="zh-CN" altLang="en-US" sz="1400" b="1" dirty="0">
                <a:solidFill>
                  <a:schemeClr val="accent1"/>
                </a:solidFill>
                <a:latin typeface="微软雅黑" panose="020B0503020204020204" pitchFamily="34" charset="-122"/>
                <a:ea typeface="微软雅黑" panose="020B0503020204020204" pitchFamily="34" charset="-122"/>
              </a:rPr>
              <a:t>年成效指标</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3" name="矩形 12"/>
          <p:cNvSpPr/>
          <p:nvPr/>
        </p:nvSpPr>
        <p:spPr>
          <a:xfrm>
            <a:off x="4157704" y="5640096"/>
            <a:ext cx="4099835" cy="1000017"/>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zh-CN" altLang="en-US" sz="1000" b="1" dirty="0">
                <a:latin typeface="微软雅黑" panose="020B0503020204020204" pitchFamily="34" charset="-122"/>
                <a:ea typeface="微软雅黑" panose="020B0503020204020204" pitchFamily="34" charset="-122"/>
                <a:sym typeface="+mn-ea"/>
              </a:rPr>
              <a:t>初步家庭圈能力构建</a:t>
            </a:r>
            <a:r>
              <a:rPr lang="zh-CN" altLang="en-US" sz="1000" dirty="0">
                <a:latin typeface="微软雅黑" panose="020B0503020204020204" pitchFamily="34" charset="-122"/>
                <a:ea typeface="微软雅黑" panose="020B0503020204020204" pitchFamily="34" charset="-122"/>
                <a:sym typeface="+mn-ea"/>
              </a:rPr>
              <a:t>：实现家庭成员间互相授权进行代查代办</a:t>
            </a:r>
            <a:r>
              <a:rPr lang="zh-CN" altLang="en-US" sz="1000" dirty="0">
                <a:effectLst/>
              </a:rPr>
              <a:t>；</a:t>
            </a:r>
            <a:r>
              <a:rPr lang="zh-CN" altLang="en-US" sz="1000" dirty="0">
                <a:solidFill>
                  <a:srgbClr val="000000"/>
                </a:solidFill>
                <a:latin typeface="微软雅黑" panose="020B0503020204020204" pitchFamily="34" charset="-122"/>
                <a:ea typeface="微软雅黑" panose="020B0503020204020204" pitchFamily="34" charset="-122"/>
              </a:rPr>
              <a:t>支撑跨省代付、亲密付等能力，拓展家庭圈业务覆盖范围，支撑家庭圈进一步发展。</a:t>
            </a:r>
            <a:endParaRPr lang="en-US" altLang="zh-CN" sz="1000" dirty="0">
              <a:solidFill>
                <a:srgbClr val="000000"/>
              </a:solidFill>
              <a:latin typeface="微软雅黑" panose="020B0503020204020204" pitchFamily="34" charset="-122"/>
              <a:ea typeface="微软雅黑" panose="020B0503020204020204" pitchFamily="34" charset="-122"/>
            </a:endParaRPr>
          </a:p>
          <a:p>
            <a:pPr marL="171450" indent="-171450">
              <a:lnSpc>
                <a:spcPct val="120000"/>
              </a:lnSpc>
              <a:buClr>
                <a:schemeClr val="accent1"/>
              </a:buClr>
              <a:buFont typeface="Wingdings" panose="05000000000000000000" pitchFamily="2" charset="2"/>
              <a:buChar char="n"/>
            </a:pPr>
            <a:r>
              <a:rPr lang="zh-CN" altLang="en-US" sz="1000" b="1" dirty="0">
                <a:effectLst/>
              </a:rPr>
              <a:t>完善家庭业务支撑体系</a:t>
            </a:r>
            <a:r>
              <a:rPr lang="zh-CN" altLang="en-US" sz="1000" dirty="0">
                <a:effectLst/>
              </a:rPr>
              <a:t>：</a:t>
            </a:r>
            <a:r>
              <a:rPr kumimoji="0" lang="zh-CN" altLang="en-US" sz="10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优化订购能力支持</a:t>
            </a:r>
            <a:r>
              <a:rPr kumimoji="0" lang="zh-CN" altLang="en-US" sz="1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家庭业务订购、退订、变更</a:t>
            </a:r>
            <a:r>
              <a:rPr lang="zh-CN" altLang="en-US" sz="1000" dirty="0">
                <a:latin typeface="微软雅黑" panose="020B0503020204020204" pitchFamily="34" charset="-122"/>
                <a:ea typeface="微软雅黑" panose="020B0503020204020204" pitchFamily="34" charset="-122"/>
                <a:sym typeface="+mn-ea"/>
              </a:rPr>
              <a:t>；实现家庭权益、设备、资源的共享共用</a:t>
            </a:r>
            <a:r>
              <a:rPr lang="zh-CN" altLang="en-US" sz="1000" dirty="0">
                <a:solidFill>
                  <a:srgbClr val="000000"/>
                </a:solidFill>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sym typeface="+mn-ea"/>
            </a:endParaRPr>
          </a:p>
        </p:txBody>
      </p:sp>
      <p:sp>
        <p:nvSpPr>
          <p:cNvPr id="14" name="矩形 13"/>
          <p:cNvSpPr/>
          <p:nvPr/>
        </p:nvSpPr>
        <p:spPr>
          <a:xfrm>
            <a:off x="8161867" y="5640096"/>
            <a:ext cx="3554518" cy="448649"/>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zh-CN" altLang="en-US" sz="1000" b="1" dirty="0">
                <a:effectLst/>
              </a:rPr>
              <a:t>实现家庭融合运营支撑</a:t>
            </a:r>
            <a:r>
              <a:rPr lang="zh-CN" altLang="en-US" sz="1000" dirty="0">
                <a:effectLst/>
              </a:rPr>
              <a:t>：将家庭融合业务深度嵌入智能化业务平台，</a:t>
            </a:r>
            <a:r>
              <a:rPr lang="zh-CN" altLang="en-US" sz="1000" b="0" i="0" dirty="0">
                <a:effectLst/>
                <a:latin typeface="Inter"/>
              </a:rPr>
              <a:t> 推进以家庭为中心的融合运营。</a:t>
            </a:r>
            <a:endParaRPr lang="zh-CN" altLang="en-US" sz="1000" dirty="0">
              <a:latin typeface="微软雅黑" panose="020B0503020204020204" pitchFamily="34" charset="-122"/>
              <a:ea typeface="微软雅黑" panose="020B0503020204020204" pitchFamily="34" charset="-122"/>
            </a:endParaRPr>
          </a:p>
        </p:txBody>
      </p:sp>
      <p:sp>
        <p:nvSpPr>
          <p:cNvPr id="15" name="箭头: 右 40"/>
          <p:cNvSpPr/>
          <p:nvPr/>
        </p:nvSpPr>
        <p:spPr>
          <a:xfrm>
            <a:off x="1127761" y="4829470"/>
            <a:ext cx="10588624" cy="520700"/>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5729300" y="4970502"/>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9398016" y="4970653"/>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2027</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矩形 17"/>
          <p:cNvSpPr/>
          <p:nvPr/>
        </p:nvSpPr>
        <p:spPr>
          <a:xfrm>
            <a:off x="358139" y="5269221"/>
            <a:ext cx="644525" cy="1440858"/>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里程碑</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9" name="矩形 18"/>
          <p:cNvSpPr/>
          <p:nvPr/>
        </p:nvSpPr>
        <p:spPr>
          <a:xfrm>
            <a:off x="365124" y="3828435"/>
            <a:ext cx="640080" cy="1373604"/>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职责分工</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21" name="矩形 20"/>
          <p:cNvSpPr/>
          <p:nvPr/>
        </p:nvSpPr>
        <p:spPr>
          <a:xfrm>
            <a:off x="1059183" y="5640096"/>
            <a:ext cx="3194046" cy="815351"/>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zh-CN" altLang="en-US" sz="1000" b="1" dirty="0">
                <a:effectLst/>
              </a:rPr>
              <a:t>统一家庭模型</a:t>
            </a:r>
            <a:r>
              <a:rPr lang="zh-CN" altLang="en-US" sz="1000" dirty="0">
                <a:effectLst/>
              </a:rPr>
              <a:t>：</a:t>
            </a:r>
            <a:r>
              <a:rPr lang="zh-CN" altLang="en-US" sz="1000" dirty="0">
                <a:solidFill>
                  <a:prstClr val="black"/>
                </a:solidFill>
                <a:latin typeface="微软雅黑" panose="020B0503020204020204" pitchFamily="34" charset="-122"/>
                <a:ea typeface="微软雅黑" panose="020B0503020204020204" pitchFamily="34" charset="-122"/>
                <a:sym typeface="+mn-ea"/>
              </a:rPr>
              <a:t>对于客户、账号、群组、成员等关键实体定义全网统一规范，完成一级家庭模型识别。</a:t>
            </a:r>
            <a:endParaRPr lang="en-US" altLang="zh-CN" sz="1000" dirty="0">
              <a:solidFill>
                <a:prstClr val="black"/>
              </a:solidFill>
              <a:latin typeface="微软雅黑" panose="020B0503020204020204" pitchFamily="34" charset="-122"/>
              <a:ea typeface="微软雅黑" panose="020B0503020204020204" pitchFamily="34" charset="-122"/>
            </a:endParaRPr>
          </a:p>
          <a:p>
            <a:pPr marL="171450" indent="-171450">
              <a:lnSpc>
                <a:spcPct val="120000"/>
              </a:lnSpc>
              <a:buClr>
                <a:schemeClr val="accent1"/>
              </a:buClr>
              <a:buFont typeface="Wingdings" panose="05000000000000000000" pitchFamily="2" charset="2"/>
              <a:buChar char="n"/>
            </a:pPr>
            <a:r>
              <a:rPr lang="zh-CN" altLang="en-US" sz="1000" b="1" dirty="0">
                <a:effectLst/>
              </a:rPr>
              <a:t>存量家庭模型升级</a:t>
            </a:r>
            <a:r>
              <a:rPr lang="zh-CN" altLang="en-US" sz="1000" dirty="0">
                <a:effectLst/>
              </a:rPr>
              <a:t>：汇总家庭数据，</a:t>
            </a:r>
            <a:r>
              <a:rPr lang="zh-CN" altLang="en-US" sz="1000" dirty="0">
                <a:solidFill>
                  <a:prstClr val="black"/>
                </a:solidFill>
                <a:latin typeface="微软雅黑" panose="020B0503020204020204" pitchFamily="34" charset="-122"/>
                <a:ea typeface="微软雅黑" panose="020B0503020204020204" pitchFamily="34" charset="-122"/>
              </a:rPr>
              <a:t>存量家庭客户、账户、群组等相关数据按照家庭客户模型升级</a:t>
            </a:r>
            <a:r>
              <a:rPr lang="zh-CN" altLang="en-US" sz="1000" dirty="0"/>
              <a:t>；</a:t>
            </a:r>
            <a:endParaRPr lang="en-US" altLang="zh-CN" sz="1000" dirty="0">
              <a:effectLst/>
            </a:endParaRPr>
          </a:p>
        </p:txBody>
      </p:sp>
      <p:sp>
        <p:nvSpPr>
          <p:cNvPr id="22" name="文本框 21"/>
          <p:cNvSpPr txBox="1"/>
          <p:nvPr/>
        </p:nvSpPr>
        <p:spPr>
          <a:xfrm>
            <a:off x="2307896" y="4971109"/>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Freeform 22"/>
          <p:cNvSpPr/>
          <p:nvPr/>
        </p:nvSpPr>
        <p:spPr bwMode="auto">
          <a:xfrm rot="16200000" flipV="1">
            <a:off x="1485578" y="2636178"/>
            <a:ext cx="1714827"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5" name="Freeform 22"/>
          <p:cNvSpPr/>
          <p:nvPr/>
        </p:nvSpPr>
        <p:spPr bwMode="auto">
          <a:xfrm rot="16200000" flipV="1">
            <a:off x="8074719" y="2636178"/>
            <a:ext cx="2329385"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3" name="文本占位符 2"/>
          <p:cNvSpPr>
            <a:spLocks noGrp="1"/>
          </p:cNvSpPr>
          <p:nvPr>
            <p:ph type="body" sz="quarter" idx="10"/>
          </p:nvPr>
        </p:nvSpPr>
        <p:spPr>
          <a:xfrm>
            <a:off x="85241" y="931285"/>
            <a:ext cx="11856202" cy="647598"/>
          </a:xfrm>
        </p:spPr>
        <p:txBody>
          <a:bodyPr lIns="180000" tIns="45720" rIns="180000" bIns="45720"/>
          <a:lstStyle/>
          <a:p>
            <a:pPr marL="0" lvl="1" indent="-254000" algn="l" defTabSz="457200" eaLnBrk="0">
              <a:lnSpc>
                <a:spcPct val="109000"/>
              </a:lnSpc>
              <a:spcBef>
                <a:spcPts val="0"/>
              </a:spcBef>
              <a:spcAft>
                <a:spcPts val="0"/>
              </a:spcAft>
              <a:buClrTx/>
              <a:buSzTx/>
              <a:buFontTx/>
              <a:buNone/>
              <a:defRPr/>
            </a:pPr>
            <a:r>
              <a:rPr kumimoji="0" lang="zh-CN" altLang="en-US" sz="1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整合家庭客户信息及业务，构建统一家庭客户和家庭账号管理体系，形成完备的家庭客户管理能力。支撑包括家庭共享，家庭资源管理</a:t>
            </a:r>
            <a:r>
              <a:rPr lang="zh-CN" altLang="en-US" sz="1400" dirty="0">
                <a:solidFill>
                  <a:prstClr val="black"/>
                </a:solidFill>
                <a:latin typeface="微软雅黑" panose="020B0503020204020204" pitchFamily="34" charset="-122"/>
                <a:ea typeface="微软雅黑" panose="020B0503020204020204" pitchFamily="34" charset="-122"/>
              </a:rPr>
              <a:t>和</a:t>
            </a:r>
            <a:r>
              <a:rPr kumimoji="0" lang="zh-CN" altLang="en-US" sz="1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家庭代办业务等多样灵活的业务场景，引导市场主体从聚焦个人向重视家庭转变，推动从个人向家庭运营模式升级</a:t>
            </a:r>
            <a:endParaRPr lang="zh-CN" altLang="en-US" sz="1400"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endParaRPr>
          </a:p>
        </p:txBody>
      </p:sp>
      <p:sp>
        <p:nvSpPr>
          <p:cNvPr id="26" name="矩形 25"/>
          <p:cNvSpPr/>
          <p:nvPr/>
        </p:nvSpPr>
        <p:spPr>
          <a:xfrm>
            <a:off x="1002662" y="3834190"/>
            <a:ext cx="10782301" cy="137360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总部：</a:t>
            </a:r>
            <a:r>
              <a:rPr lang="zh-CN" altLang="en-US" sz="1100" dirty="0">
                <a:solidFill>
                  <a:prstClr val="black"/>
                </a:solidFill>
                <a:latin typeface="微软雅黑" panose="020B0503020204020204" pitchFamily="34" charset="-122"/>
                <a:ea typeface="微软雅黑" panose="020B0503020204020204" pitchFamily="34" charset="-122"/>
              </a:rPr>
              <a:t>制定家庭关键实体（客户、账户）统一模型规范，构建统一家庭数据集中管理流程，建设基于跨省家庭的融合营销支撑能力。</a:t>
            </a:r>
            <a:endParaRPr lang="en-US" altLang="zh-CN"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省专：</a:t>
            </a:r>
            <a:r>
              <a:rPr lang="zh-CN" altLang="en-US" sz="1100" dirty="0">
                <a:solidFill>
                  <a:prstClr val="black"/>
                </a:solidFill>
                <a:latin typeface="微软雅黑" panose="020B0503020204020204" pitchFamily="34" charset="-122"/>
                <a:ea typeface="微软雅黑" panose="020B0503020204020204" pitchFamily="34" charset="-122"/>
              </a:rPr>
              <a:t>按照统一模型标准，做好家庭模型的适配和数据穿透；建设本单位的家庭融合受理和家庭融合营销能力，承接总部任务开展，推动家庭圈功能本省落实。</a:t>
            </a:r>
            <a:endParaRPr lang="zh-CN" altLang="en-US"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地市：</a:t>
            </a:r>
            <a:r>
              <a:rPr lang="zh-CN" altLang="en-US" sz="1100" dirty="0">
                <a:solidFill>
                  <a:prstClr val="black"/>
                </a:solidFill>
                <a:latin typeface="微软雅黑" panose="020B0503020204020204" pitchFamily="34" charset="-122"/>
                <a:ea typeface="微软雅黑" panose="020B0503020204020204" pitchFamily="34" charset="-122"/>
              </a:rPr>
              <a:t>协同省专做好数据收集和一致性管理，负责做好本单位业务办理和营销交付。</a:t>
            </a:r>
            <a:endParaRPr sz="1100" dirty="0">
              <a:solidFill>
                <a:prstClr val="black"/>
              </a:solidFill>
              <a:latin typeface="微软雅黑" panose="020B0503020204020204" pitchFamily="34" charset="-122"/>
              <a:ea typeface="微软雅黑" panose="020B0503020204020204" pitchFamily="34" charset="-122"/>
            </a:endParaRPr>
          </a:p>
        </p:txBody>
      </p:sp>
      <p:sp>
        <p:nvSpPr>
          <p:cNvPr id="39" name="箭头: 右 40"/>
          <p:cNvSpPr/>
          <p:nvPr/>
        </p:nvSpPr>
        <p:spPr>
          <a:xfrm>
            <a:off x="1059183" y="5210302"/>
            <a:ext cx="10588625" cy="358065"/>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5661028"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nvSpPr>
        <p:spPr>
          <a:xfrm>
            <a:off x="932942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文本框 41"/>
          <p:cNvSpPr txBox="1"/>
          <p:nvPr/>
        </p:nvSpPr>
        <p:spPr>
          <a:xfrm>
            <a:off x="223901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nvSpPr>
        <p:spPr>
          <a:xfrm>
            <a:off x="6434455" y="309245"/>
            <a:ext cx="3748405" cy="878205"/>
          </a:xfrm>
          <a:prstGeom prst="rect">
            <a:avLst/>
          </a:prstGeom>
          <a:solidFill>
            <a:srgbClr val="C00000"/>
          </a:solidFill>
        </p:spPr>
        <p:txBody>
          <a:bodyPr wrap="square" rtlCol="0">
            <a:noAutofit/>
          </a:bodyPr>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请华为更新，</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统一编码、家庭账户、</a:t>
            </a:r>
            <a:r>
              <a:rPr kumimoji="1" lang="en-US" altLang="zh-CN" sz="1400" dirty="0" smtClean="0">
                <a:solidFill>
                  <a:schemeClr val="bg1"/>
                </a:solidFill>
                <a:latin typeface="微软雅黑" panose="020B0503020204020204" pitchFamily="34" charset="-122"/>
                <a:ea typeface="微软雅黑" panose="020B0503020204020204" pitchFamily="34" charset="-122"/>
              </a:rPr>
              <a:t>iop</a:t>
            </a:r>
            <a:r>
              <a:rPr kumimoji="1" lang="zh-CN" altLang="en-US" sz="1400" dirty="0" smtClean="0">
                <a:solidFill>
                  <a:schemeClr val="bg1"/>
                </a:solidFill>
                <a:latin typeface="微软雅黑" panose="020B0503020204020204" pitchFamily="34" charset="-122"/>
                <a:ea typeface="微软雅黑" panose="020B0503020204020204" pitchFamily="34" charset="-122"/>
              </a:rPr>
              <a:t>这边的家庭视图</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前后端的请同步更新</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002662" y="5570874"/>
            <a:ext cx="10782301" cy="100747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195" fontAlgn="base">
              <a:lnSpc>
                <a:spcPct val="150000"/>
              </a:lnSpc>
              <a:spcBef>
                <a:spcPct val="0"/>
              </a:spcBef>
              <a:spcAft>
                <a:spcPct val="0"/>
              </a:spcAft>
              <a:buClr>
                <a:schemeClr val="accent1"/>
              </a:buClr>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6" name="矩形 5"/>
          <p:cNvSpPr/>
          <p:nvPr/>
        </p:nvSpPr>
        <p:spPr>
          <a:xfrm>
            <a:off x="365124" y="1908718"/>
            <a:ext cx="1753870"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0" indent="-171450" algn="l" fontAlgn="auto">
              <a:lnSpc>
                <a:spcPct val="150000"/>
              </a:lnSpc>
              <a:spcBef>
                <a:spcPts val="0"/>
              </a:spcBef>
              <a:buClrTx/>
              <a:buSzTx/>
              <a:buFont typeface="Arial" panose="020B0604020202020204" pitchFamily="34" charset="0"/>
              <a:buChar char="•"/>
              <a:defRPr/>
            </a:pPr>
            <a:r>
              <a:rPr kumimoji="1" 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xx</a:t>
            </a:r>
            <a:endParaRPr kumimoji="1" 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8" name="矩形 7"/>
          <p:cNvSpPr/>
          <p:nvPr/>
        </p:nvSpPr>
        <p:spPr>
          <a:xfrm>
            <a:off x="2519044" y="1914879"/>
            <a:ext cx="6486576"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30000"/>
              </a:lnSpc>
              <a:buClr>
                <a:schemeClr val="accent1"/>
              </a:buClr>
              <a:buFont typeface="Arial" panose="020B0604020202020204" pitchFamily="34" charset="0"/>
              <a:buChar char="•"/>
            </a:pPr>
            <a:r>
              <a:rPr kumimoji="1" 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xxx</a:t>
            </a:r>
            <a:endParaRPr 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10" name="矩形 9"/>
          <p:cNvSpPr/>
          <p:nvPr/>
        </p:nvSpPr>
        <p:spPr>
          <a:xfrm>
            <a:off x="9444958" y="2032994"/>
            <a:ext cx="2340005" cy="176015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171450" indent="-171450">
              <a:buClr>
                <a:schemeClr val="accent1"/>
              </a:buClr>
              <a:buFont typeface="Arial" panose="020B0604020202020204" pitchFamily="34" charset="0"/>
              <a:buChar char="•"/>
            </a:pPr>
            <a:r>
              <a:rPr lang="en-US" sz="1200" b="1" dirty="0">
                <a:solidFill>
                  <a:schemeClr val="tx1"/>
                </a:solidFill>
                <a:latin typeface="微软雅黑" panose="020B0503020204020204" pitchFamily="34" charset="-122"/>
                <a:ea typeface="微软雅黑" panose="020B0503020204020204" pitchFamily="34" charset="-122"/>
                <a:sym typeface="+mn-ea"/>
              </a:rPr>
              <a:t>xxx</a:t>
            </a:r>
            <a:endParaRPr 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nvPr>
        </p:nvSpPr>
        <p:spPr/>
        <p:txBody>
          <a:bodyPr>
            <a:normAutofit/>
          </a:bodyPr>
          <a:lstStyle/>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施工图|</a:t>
            </a:r>
            <a:r>
              <a:rPr lang="zh-CN" altLang="en-US">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全时空</a:t>
            </a:r>
            <a:r>
              <a:rPr kumimoji="1" lang="zh-CN" altLang="en-US" kern="0" noProof="0">
                <a:ln>
                  <a:noFill/>
                </a:ln>
                <a:solidFill>
                  <a:srgbClr val="0070C0"/>
                </a:solidFill>
                <a:effectLst/>
                <a:uLnTx/>
                <a:uFillTx/>
                <a:latin typeface="微软雅黑" panose="020B0503020204020204" pitchFamily="34" charset="-122"/>
                <a:ea typeface="微软雅黑" panose="020B0503020204020204" pitchFamily="34" charset="-122"/>
                <a:cs typeface="+mn-cs"/>
                <a:sym typeface="+mn-ea"/>
              </a:rPr>
              <a:t>客户融合洞察</a:t>
            </a:r>
            <a:endParaRPr kumimoji="1" lang="zh-CN" altLang="en-US" kern="0" noProof="0">
              <a:ln>
                <a:noFill/>
              </a:ln>
              <a:solidFill>
                <a:srgbClr val="0070C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 name="矩形 4"/>
          <p:cNvSpPr/>
          <p:nvPr/>
        </p:nvSpPr>
        <p:spPr>
          <a:xfrm>
            <a:off x="365124" y="1692677"/>
            <a:ext cx="1753870" cy="337820"/>
          </a:xfrm>
          <a:prstGeom prst="rect">
            <a:avLst/>
          </a:prstGeom>
          <a:solidFill>
            <a:srgbClr val="DFF2FF"/>
          </a:solidFill>
          <a:ln>
            <a:solidFill>
              <a:srgbClr val="DFF2FF"/>
            </a:solidFill>
          </a:ln>
        </p:spPr>
        <p:txBody>
          <a:bodyPr wrap="square" anchor="ctr"/>
          <a:lstStyle/>
          <a:p>
            <a:pPr marL="0" lvl="0" indent="0" algn="ctr" defTabSz="913765">
              <a:lnSpc>
                <a:spcPct val="120000"/>
              </a:lnSpc>
              <a:spcBef>
                <a:spcPts val="0"/>
              </a:spcBef>
              <a:spcAft>
                <a:spcPts val="0"/>
              </a:spcAft>
              <a:buClr>
                <a:srgbClr val="C00000"/>
              </a:buClr>
              <a:buSzTx/>
              <a:buFontTx/>
              <a:buNone/>
            </a:pPr>
            <a:r>
              <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rPr>
              <a:t>痛点</a:t>
            </a:r>
            <a:endPar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endParaRPr>
          </a:p>
        </p:txBody>
      </p:sp>
      <p:sp>
        <p:nvSpPr>
          <p:cNvPr id="7" name="矩形 6"/>
          <p:cNvSpPr/>
          <p:nvPr/>
        </p:nvSpPr>
        <p:spPr>
          <a:xfrm>
            <a:off x="2519044" y="1688867"/>
            <a:ext cx="6486576" cy="33591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举措要点</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9" name="矩形 8"/>
          <p:cNvSpPr/>
          <p:nvPr/>
        </p:nvSpPr>
        <p:spPr>
          <a:xfrm>
            <a:off x="9444958" y="1675797"/>
            <a:ext cx="2340005" cy="35115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en-US" altLang="zh-CN" sz="1400" b="1" dirty="0">
                <a:solidFill>
                  <a:schemeClr val="accent1"/>
                </a:solidFill>
                <a:latin typeface="微软雅黑" panose="020B0503020204020204" pitchFamily="34" charset="-122"/>
                <a:ea typeface="微软雅黑" panose="020B0503020204020204" pitchFamily="34" charset="-122"/>
              </a:rPr>
              <a:t>2025</a:t>
            </a:r>
            <a:r>
              <a:rPr lang="zh-CN" altLang="en-US" sz="1400" b="1" dirty="0">
                <a:solidFill>
                  <a:schemeClr val="accent1"/>
                </a:solidFill>
                <a:latin typeface="微软雅黑" panose="020B0503020204020204" pitchFamily="34" charset="-122"/>
                <a:ea typeface="微软雅黑" panose="020B0503020204020204" pitchFamily="34" charset="-122"/>
              </a:rPr>
              <a:t>年成效指标</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3" name="矩形 12"/>
          <p:cNvSpPr/>
          <p:nvPr/>
        </p:nvSpPr>
        <p:spPr>
          <a:xfrm>
            <a:off x="4157704" y="5640096"/>
            <a:ext cx="4099835"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en-US" altLang="zh-CN" sz="1000" dirty="0">
                <a:effectLst/>
              </a:rPr>
              <a:t>xx</a:t>
            </a:r>
            <a:r>
              <a:rPr lang="zh-CN" altLang="en-US" sz="1000" dirty="0">
                <a:effectLst/>
              </a:rPr>
              <a:t>：</a:t>
            </a:r>
            <a:r>
              <a:rPr lang="en-US" sz="1000" dirty="0">
                <a:effectLst/>
              </a:rPr>
              <a:t>xxx</a:t>
            </a:r>
            <a:endParaRPr lang="en-US" sz="1000" dirty="0">
              <a:latin typeface="微软雅黑" panose="020B0503020204020204" pitchFamily="34" charset="-122"/>
              <a:ea typeface="微软雅黑" panose="020B0503020204020204" pitchFamily="34" charset="-122"/>
              <a:sym typeface="+mn-ea"/>
            </a:endParaRPr>
          </a:p>
        </p:txBody>
      </p:sp>
      <p:sp>
        <p:nvSpPr>
          <p:cNvPr id="14" name="矩形 13"/>
          <p:cNvSpPr/>
          <p:nvPr/>
        </p:nvSpPr>
        <p:spPr>
          <a:xfrm>
            <a:off x="8295579" y="5640096"/>
            <a:ext cx="3420806"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zh-CN" altLang="en-US" sz="1000" dirty="0">
                <a:effectLst/>
              </a:rPr>
              <a:t>：</a:t>
            </a:r>
            <a:r>
              <a:rPr lang="en-US" sz="1000" b="0" i="0" dirty="0">
                <a:effectLst/>
                <a:latin typeface="Inter"/>
              </a:rPr>
              <a:t>xxx</a:t>
            </a:r>
            <a:endParaRPr lang="en-US" sz="1000" dirty="0">
              <a:latin typeface="微软雅黑" panose="020B0503020204020204" pitchFamily="34" charset="-122"/>
              <a:ea typeface="微软雅黑" panose="020B0503020204020204" pitchFamily="34" charset="-122"/>
            </a:endParaRPr>
          </a:p>
        </p:txBody>
      </p:sp>
      <p:sp>
        <p:nvSpPr>
          <p:cNvPr id="15" name="箭头: 右 40"/>
          <p:cNvSpPr/>
          <p:nvPr/>
        </p:nvSpPr>
        <p:spPr>
          <a:xfrm>
            <a:off x="1127761" y="4829470"/>
            <a:ext cx="10588624" cy="520700"/>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5729300" y="4970502"/>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9398016" y="4970653"/>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2027</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矩形 17"/>
          <p:cNvSpPr/>
          <p:nvPr/>
        </p:nvSpPr>
        <p:spPr>
          <a:xfrm>
            <a:off x="358139" y="5269221"/>
            <a:ext cx="644525" cy="1440858"/>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里程碑</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9" name="矩形 18"/>
          <p:cNvSpPr/>
          <p:nvPr/>
        </p:nvSpPr>
        <p:spPr>
          <a:xfrm>
            <a:off x="365124" y="3828435"/>
            <a:ext cx="640080" cy="1373604"/>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职责分工</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21" name="矩形 20"/>
          <p:cNvSpPr/>
          <p:nvPr/>
        </p:nvSpPr>
        <p:spPr>
          <a:xfrm>
            <a:off x="1059183" y="5640096"/>
            <a:ext cx="3194046"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en-US" altLang="zh-CN" sz="1000" b="1" dirty="0">
                <a:effectLst/>
              </a:rPr>
              <a:t>xxx</a:t>
            </a:r>
            <a:r>
              <a:rPr lang="zh-CN" altLang="en-US" sz="1000" dirty="0">
                <a:effectLst/>
              </a:rPr>
              <a:t>：</a:t>
            </a:r>
            <a:r>
              <a:rPr lang="en-US" altLang="zh-CN" sz="1000" dirty="0">
                <a:effectLst/>
              </a:rPr>
              <a:t>xxx</a:t>
            </a:r>
            <a:endParaRPr lang="en-US" altLang="zh-CN" sz="1000" dirty="0">
              <a:effectLst/>
            </a:endParaRPr>
          </a:p>
        </p:txBody>
      </p:sp>
      <p:sp>
        <p:nvSpPr>
          <p:cNvPr id="22" name="文本框 21"/>
          <p:cNvSpPr txBox="1"/>
          <p:nvPr/>
        </p:nvSpPr>
        <p:spPr>
          <a:xfrm>
            <a:off x="2307896" y="4971109"/>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Freeform 22"/>
          <p:cNvSpPr/>
          <p:nvPr/>
        </p:nvSpPr>
        <p:spPr bwMode="auto">
          <a:xfrm rot="16200000" flipV="1">
            <a:off x="1485578" y="2636178"/>
            <a:ext cx="1714827"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5" name="Freeform 22"/>
          <p:cNvSpPr/>
          <p:nvPr/>
        </p:nvSpPr>
        <p:spPr bwMode="auto">
          <a:xfrm rot="16200000" flipV="1">
            <a:off x="8074719" y="2636178"/>
            <a:ext cx="2329385"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3" name="文本占位符 2"/>
          <p:cNvSpPr>
            <a:spLocks noGrp="1"/>
          </p:cNvSpPr>
          <p:nvPr>
            <p:ph type="body" sz="quarter" idx="10"/>
          </p:nvPr>
        </p:nvSpPr>
        <p:spPr>
          <a:xfrm>
            <a:off x="85241" y="931284"/>
            <a:ext cx="11856202" cy="753277"/>
          </a:xfrm>
        </p:spPr>
        <p:txBody>
          <a:bodyPr lIns="180000" tIns="45720" rIns="180000" bIns="45720"/>
          <a:lstStyle/>
          <a:p>
            <a:pPr marL="0" lvl="1" indent="-254000" algn="l" defTabSz="457200" eaLnBrk="0">
              <a:lnSpc>
                <a:spcPct val="109000"/>
              </a:lnSpc>
              <a:spcBef>
                <a:spcPts val="0"/>
              </a:spcBef>
              <a:spcAft>
                <a:spcPts val="0"/>
              </a:spcAft>
              <a:buClrTx/>
              <a:buSzTx/>
              <a:buFontTx/>
              <a:buNone/>
              <a:defRPr/>
            </a:pPr>
            <a:r>
              <a:rPr lang="en-US" alt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rPr>
              <a:t>xxx</a:t>
            </a:r>
            <a:endParaRPr lang="en-US" alt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endParaRPr>
          </a:p>
        </p:txBody>
      </p:sp>
      <p:sp>
        <p:nvSpPr>
          <p:cNvPr id="26" name="矩形 25"/>
          <p:cNvSpPr/>
          <p:nvPr/>
        </p:nvSpPr>
        <p:spPr>
          <a:xfrm>
            <a:off x="1002662" y="3834190"/>
            <a:ext cx="10782301" cy="137360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总部：</a:t>
            </a:r>
            <a:r>
              <a:rPr lang="en-US" sz="1100" dirty="0">
                <a:solidFill>
                  <a:prstClr val="black"/>
                </a:solidFill>
                <a:latin typeface="微软雅黑" panose="020B0503020204020204" pitchFamily="34" charset="-122"/>
                <a:ea typeface="微软雅黑" panose="020B0503020204020204" pitchFamily="34" charset="-122"/>
              </a:rPr>
              <a:t>xxx</a:t>
            </a:r>
            <a:endParaRPr lang="en-US" altLang="zh-CN"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省专：</a:t>
            </a:r>
            <a:r>
              <a:rPr lang="en-US" altLang="zh-CN" sz="1100" dirty="0">
                <a:solidFill>
                  <a:prstClr val="black"/>
                </a:solidFill>
                <a:latin typeface="微软雅黑" panose="020B0503020204020204" pitchFamily="34" charset="-122"/>
                <a:ea typeface="微软雅黑" panose="020B0503020204020204" pitchFamily="34" charset="-122"/>
              </a:rPr>
              <a:t>xxx</a:t>
            </a:r>
            <a:endParaRPr lang="zh-CN" altLang="en-US"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地市：</a:t>
            </a:r>
            <a:r>
              <a:rPr lang="en-US" sz="1100" dirty="0">
                <a:solidFill>
                  <a:prstClr val="black"/>
                </a:solidFill>
                <a:latin typeface="微软雅黑" panose="020B0503020204020204" pitchFamily="34" charset="-122"/>
                <a:ea typeface="微软雅黑" panose="020B0503020204020204" pitchFamily="34" charset="-122"/>
              </a:rPr>
              <a:t>xxx</a:t>
            </a:r>
            <a:endParaRPr lang="en-US" sz="1100" dirty="0">
              <a:solidFill>
                <a:prstClr val="black"/>
              </a:solidFill>
              <a:latin typeface="微软雅黑" panose="020B0503020204020204" pitchFamily="34" charset="-122"/>
              <a:ea typeface="微软雅黑" panose="020B0503020204020204" pitchFamily="34" charset="-122"/>
            </a:endParaRPr>
          </a:p>
        </p:txBody>
      </p:sp>
      <p:sp>
        <p:nvSpPr>
          <p:cNvPr id="39" name="箭头: 右 40"/>
          <p:cNvSpPr/>
          <p:nvPr/>
        </p:nvSpPr>
        <p:spPr>
          <a:xfrm>
            <a:off x="1059183" y="5210302"/>
            <a:ext cx="10588625" cy="358065"/>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5661028"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nvSpPr>
        <p:spPr>
          <a:xfrm>
            <a:off x="932942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文本框 41"/>
          <p:cNvSpPr txBox="1"/>
          <p:nvPr/>
        </p:nvSpPr>
        <p:spPr>
          <a:xfrm>
            <a:off x="223901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nvSpPr>
        <p:spPr>
          <a:xfrm>
            <a:off x="6434455" y="309245"/>
            <a:ext cx="3748405" cy="878205"/>
          </a:xfrm>
          <a:prstGeom prst="rect">
            <a:avLst/>
          </a:prstGeom>
          <a:solidFill>
            <a:srgbClr val="C00000"/>
          </a:solidFill>
        </p:spPr>
        <p:txBody>
          <a:bodyPr wrap="square" rtlCol="0">
            <a:noAutofit/>
          </a:bodyPr>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请华为更新，聚焦在四度三维写</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821" name="标题 1"/>
          <p:cNvSpPr>
            <a:spLocks noGrp="1"/>
          </p:cNvSpPr>
          <p:nvPr>
            <p:ph type="title"/>
          </p:nvPr>
        </p:nvSpPr>
        <p:spPr/>
        <p:txBody>
          <a:bodyPr>
            <a:normAutofit/>
          </a:bodyPr>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施工图|</a:t>
            </a:r>
            <a:r>
              <a:rPr lang="zh-CN" altLang="en-US">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全产品灵活封装</a:t>
            </a:r>
            <a:r>
              <a:rPr>
                <a:solidFill>
                  <a:srgbClr val="0070C0"/>
                </a:solidFill>
                <a:sym typeface="+mn-ea"/>
              </a:rPr>
              <a:t>供给</a:t>
            </a:r>
            <a:endParaRPr lang="zh-CN" altLang="en-US" dirty="0">
              <a:solidFill>
                <a:srgbClr val="0070C0"/>
              </a:solidFill>
              <a:sym typeface="+mn-ea"/>
            </a:endParaRPr>
          </a:p>
        </p:txBody>
      </p:sp>
      <p:sp>
        <p:nvSpPr>
          <p:cNvPr id="1048822" name="文本占位符 53"/>
          <p:cNvSpPr>
            <a:spLocks noGrp="1"/>
          </p:cNvSpPr>
          <p:nvPr>
            <p:ph type="body" sz="quarter" idx="10"/>
          </p:nvPr>
        </p:nvSpPr>
        <p:spPr>
          <a:xfrm>
            <a:off x="151765" y="931545"/>
            <a:ext cx="12040235" cy="647065"/>
          </a:xfrm>
        </p:spPr>
        <p:txBody>
          <a:bodyPr lIns="90000" rIns="90000"/>
          <a:p>
            <a:pPr>
              <a:lnSpc>
                <a:spcPct val="100000"/>
              </a:lnSpc>
            </a:pPr>
            <a:r>
              <a:rPr>
                <a:sym typeface="+mn-ea"/>
              </a:rPr>
              <a:t>汇聚全网自有及生态产品，构建全网统一原子产品库，实现基于业务场景的产品灵活封装、自由组合</a:t>
            </a:r>
            <a:r>
              <a:rPr>
                <a:sym typeface="+mn-ea"/>
              </a:rPr>
              <a:t>，助力“1+N+X”产品供给体系打造</a:t>
            </a:r>
            <a:r>
              <a:rPr>
                <a:sym typeface="+mn-ea"/>
              </a:rPr>
              <a:t>，</a:t>
            </a:r>
            <a:r>
              <a:rPr>
                <a:sym typeface="+mn-ea"/>
              </a:rPr>
              <a:t>聚焦目标客户精细化营销，实现产品创新与敏捷迭代。</a:t>
            </a:r>
            <a:endParaRPr lang="zh-CN" altLang="en-US" dirty="0"/>
          </a:p>
        </p:txBody>
      </p:sp>
      <p:grpSp>
        <p:nvGrpSpPr>
          <p:cNvPr id="81" name="组合 54"/>
          <p:cNvGrpSpPr/>
          <p:nvPr/>
        </p:nvGrpSpPr>
        <p:grpSpPr>
          <a:xfrm>
            <a:off x="365125" y="4545709"/>
            <a:ext cx="11419840" cy="1013287"/>
            <a:chOff x="575" y="5809"/>
            <a:chExt cx="17984" cy="2417"/>
          </a:xfrm>
        </p:grpSpPr>
        <p:sp>
          <p:nvSpPr>
            <p:cNvPr id="1048823" name="矩形 55"/>
            <p:cNvSpPr/>
            <p:nvPr/>
          </p:nvSpPr>
          <p:spPr>
            <a:xfrm>
              <a:off x="1579" y="5811"/>
              <a:ext cx="16980" cy="2396"/>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176530" marR="0" lvl="0" indent="-140335" algn="l" defTabSz="457200" rtl="0" eaLnBrk="1" fontAlgn="base" latinLnBrk="0" hangingPunct="1">
                <a:lnSpc>
                  <a:spcPct val="150000"/>
                </a:lnSpc>
                <a:spcBef>
                  <a:spcPct val="0"/>
                </a:spcBef>
                <a:spcAft>
                  <a:spcPct val="0"/>
                </a:spcAft>
                <a:buClr>
                  <a:srgbClr val="0070BF"/>
                </a:buClr>
                <a:buSzTx/>
                <a:buFont typeface="Arial" panose="020B0604020202020204" pitchFamily="34" charset="0"/>
                <a:buChar char="•"/>
              </a:pPr>
              <a:r>
                <a:rPr kumimoji="0" lang="zh-CN" altLang="en-US" sz="11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总部：市场经营部</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牵头制定产品原子库管理</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规范、标准业务流程，整体统筹管理；</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信息技术中心</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完成细分市场原子产品库建设，升级产品自由组合及融合优惠能力，打造智能辅助及封装能力。</a:t>
              </a:r>
              <a:endParaRPr kumimoji="0" lang="en-US"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76530" marR="0" lvl="0" indent="-140335" algn="l" defTabSz="457200" rtl="0" eaLnBrk="1" fontAlgn="base" latinLnBrk="0" hangingPunct="1">
                <a:lnSpc>
                  <a:spcPct val="150000"/>
                </a:lnSpc>
                <a:spcBef>
                  <a:spcPct val="0"/>
                </a:spcBef>
                <a:spcAft>
                  <a:spcPct val="0"/>
                </a:spcAft>
                <a:buClr>
                  <a:srgbClr val="0070BF"/>
                </a:buClr>
                <a:buSzTx/>
                <a:buFont typeface="Arial" panose="020B0604020202020204" pitchFamily="34" charset="0"/>
                <a:buChar char="•"/>
              </a:pPr>
              <a:r>
                <a:rPr kumimoji="0" lang="zh-CN" altLang="en-US" sz="11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省专：业务部门牵头</a:t>
              </a: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落实</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总部要求，完成原子产品上架和细分市场融合商品打包，执行总部产品管理运营任务，</a:t>
              </a:r>
              <a:r>
                <a:rPr kumimoji="0" lang="zh-CN" altLang="en-US" sz="11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业务支撑及相关平台建设部门</a:t>
              </a:r>
              <a:r>
                <a:rPr kumimoji="0"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负责</a:t>
              </a:r>
              <a:r>
                <a:rPr kumimoji="0" 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按照数据汇聚要求，完成产商品数据上报对接</a:t>
              </a:r>
              <a:r>
                <a:rPr kumimoji="0"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a:t>
              </a:r>
              <a:r>
                <a:rPr kumimoji="0" lang="zh-CN"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承接总部建设要求</a:t>
              </a:r>
              <a:r>
                <a:rPr kumimoji="0"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实现两级融合商品标准化定义，支撑产商品融合订购、统一计费结算</a:t>
              </a: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a:t>
              </a:r>
              <a:endParaRPr kumimoji="0"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48824" name="矩形 56"/>
            <p:cNvSpPr/>
            <p:nvPr/>
          </p:nvSpPr>
          <p:spPr>
            <a:xfrm>
              <a:off x="575" y="5809"/>
              <a:ext cx="1008" cy="2417"/>
            </a:xfrm>
            <a:prstGeom prst="rect">
              <a:avLst/>
            </a:prstGeom>
            <a:solidFill>
              <a:srgbClr val="DFF2FF"/>
            </a:solidFill>
            <a:ln>
              <a:solidFill>
                <a:srgbClr val="DFF2FF"/>
              </a:solidFill>
            </a:ln>
          </p:spPr>
          <p:txBody>
            <a:bodyPr wrap="square" anchor="ctr"/>
            <a:p>
              <a:pPr marL="0" marR="0" lvl="0" indent="0" algn="ctr" defTabSz="913765" rtl="0" eaLnBrk="1" fontAlgn="auto" latinLnBrk="0" hangingPunct="1">
                <a:lnSpc>
                  <a:spcPct val="120000"/>
                </a:lnSpc>
                <a:spcBef>
                  <a:spcPts val="0"/>
                </a:spcBef>
                <a:spcAft>
                  <a:spcPts val="0"/>
                </a:spcAft>
                <a:buClr>
                  <a:srgbClr val="C00000"/>
                </a:buClr>
                <a:buSzTx/>
                <a:buFontTx/>
                <a:buNone/>
              </a:pPr>
              <a:r>
                <a:rPr kumimoji="0" lang="zh-CN" altLang="en-US" sz="1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职责分工</a:t>
              </a:r>
              <a:endParaRPr kumimoji="0" lang="zh-CN" altLang="en-US" sz="1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grpSp>
      <p:grpSp>
        <p:nvGrpSpPr>
          <p:cNvPr id="82" name="组合 57"/>
          <p:cNvGrpSpPr/>
          <p:nvPr/>
        </p:nvGrpSpPr>
        <p:grpSpPr>
          <a:xfrm>
            <a:off x="358140" y="5624156"/>
            <a:ext cx="11426825" cy="1035723"/>
            <a:chOff x="564" y="8197"/>
            <a:chExt cx="17995" cy="2471"/>
          </a:xfrm>
        </p:grpSpPr>
        <p:sp>
          <p:nvSpPr>
            <p:cNvPr id="1048825" name="矩形 58"/>
            <p:cNvSpPr/>
            <p:nvPr/>
          </p:nvSpPr>
          <p:spPr>
            <a:xfrm>
              <a:off x="1579" y="8217"/>
              <a:ext cx="16980" cy="245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36195" marR="0" lvl="0" indent="0" algn="l" defTabSz="457200" rtl="0" eaLnBrk="1" fontAlgn="base" latinLnBrk="0" hangingPunct="1">
                <a:lnSpc>
                  <a:spcPct val="150000"/>
                </a:lnSpc>
                <a:spcBef>
                  <a:spcPct val="0"/>
                </a:spcBef>
                <a:spcAft>
                  <a:spcPct val="0"/>
                </a:spcAft>
                <a:buClr>
                  <a:srgbClr val="0070BF"/>
                </a:buClr>
                <a:buSzTx/>
                <a:buFontTx/>
                <a:buNone/>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48826" name="矩形 59"/>
            <p:cNvSpPr/>
            <p:nvPr/>
          </p:nvSpPr>
          <p:spPr>
            <a:xfrm>
              <a:off x="6739" y="8959"/>
              <a:ext cx="5641" cy="1419"/>
            </a:xfrm>
            <a:prstGeom prst="rect">
              <a:avLst/>
            </a:prstGeom>
          </p:spPr>
          <p:txBody>
            <a:bodyPr wrap="square">
              <a:spAutoFit/>
            </a:bodyPr>
            <a:p>
              <a:pPr marL="171450" marR="0" lvl="0" indent="-171450" algn="l" defTabSz="457200" rtl="0" eaLnBrk="1" fontAlgn="auto" latinLnBrk="0" hangingPunct="1">
                <a:lnSpc>
                  <a:spcPct val="120000"/>
                </a:lnSpc>
                <a:spcBef>
                  <a:spcPts val="0"/>
                </a:spcBef>
                <a:spcAft>
                  <a:spcPts val="0"/>
                </a:spcAft>
                <a:buClr>
                  <a:srgbClr val="0070BF"/>
                </a:buClr>
                <a:buSzTx/>
                <a:buFont typeface="Wingdings" panose="05000000000000000000" pitchFamily="2" charset="2"/>
                <a:buChar char="n"/>
              </a:pPr>
              <a:r>
                <a:rPr kumimoji="0" lang="zh-CN" sz="105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mn-ea"/>
                </a:rPr>
                <a:t>实现细分市场产品组合、业务</a:t>
              </a:r>
              <a:r>
                <a:rPr kumimoji="0" 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流程</a:t>
              </a:r>
              <a:r>
                <a:rPr kumimoji="0" lang="zh-CN" sz="105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mn-ea"/>
                </a:rPr>
                <a:t>标准化</a:t>
              </a:r>
              <a:endParaRPr kumimoji="0" lang="zh-CN" sz="105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a:p>
              <a:pPr marL="171450" marR="0" lvl="0" indent="-171450" algn="l" defTabSz="457200" rtl="0" eaLnBrk="1" fontAlgn="auto" latinLnBrk="0" hangingPunct="1">
                <a:lnSpc>
                  <a:spcPct val="120000"/>
                </a:lnSpc>
                <a:spcBef>
                  <a:spcPts val="0"/>
                </a:spcBef>
                <a:spcAft>
                  <a:spcPts val="0"/>
                </a:spcAft>
                <a:buClr>
                  <a:srgbClr val="0070BF"/>
                </a:buClr>
                <a:buSzTx/>
                <a:buFont typeface="Wingdings" panose="05000000000000000000" pitchFamily="2" charset="2"/>
                <a:buChar char="n"/>
              </a:pPr>
              <a:r>
                <a:rPr kumimoji="0" sz="105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mn-ea"/>
                </a:rPr>
                <a:t>完成产品组合能力改造</a:t>
              </a:r>
              <a:r>
                <a:rPr kumimoji="0" lang="zh-CN" sz="105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mn-ea"/>
                </a:rPr>
                <a:t>，</a:t>
              </a:r>
              <a:r>
                <a:rPr kumimoji="0" sz="105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mn-ea"/>
                </a:rPr>
                <a:t>完善产商品AI封装</a:t>
              </a:r>
              <a:r>
                <a:rPr kumimoji="0" lang="zh-CN" sz="105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工具和产品原子库管理</a:t>
              </a:r>
              <a:r>
                <a:rPr kumimoji="0" 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机制，</a:t>
              </a:r>
              <a:r>
                <a:rPr kumimoji="0" sz="105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mn-ea"/>
                </a:rPr>
                <a:t>完成两级融合产商品货架</a:t>
              </a:r>
              <a:endParaRPr kumimoji="0" sz="105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1048827" name="矩形 60"/>
            <p:cNvSpPr/>
            <p:nvPr/>
          </p:nvSpPr>
          <p:spPr>
            <a:xfrm>
              <a:off x="13247" y="8879"/>
              <a:ext cx="5068" cy="1019"/>
            </a:xfrm>
            <a:prstGeom prst="rect">
              <a:avLst/>
            </a:prstGeom>
          </p:spPr>
          <p:txBody>
            <a:bodyPr wrap="square">
              <a:spAutoFit/>
            </a:bodyPr>
            <a:p>
              <a:pPr marL="171450" marR="0" lvl="0" indent="-171450" algn="l" defTabSz="457200" rtl="0" eaLnBrk="1" fontAlgn="auto" latinLnBrk="0" hangingPunct="1">
                <a:lnSpc>
                  <a:spcPct val="120000"/>
                </a:lnSpc>
                <a:spcBef>
                  <a:spcPts val="0"/>
                </a:spcBef>
                <a:spcAft>
                  <a:spcPts val="0"/>
                </a:spcAft>
                <a:buClr>
                  <a:srgbClr val="0070BF"/>
                </a:buClr>
                <a:buSzTx/>
                <a:buFont typeface="Wingdings" panose="05000000000000000000" pitchFamily="2" charset="2"/>
                <a:buChar char="n"/>
              </a:pPr>
              <a:r>
                <a:rPr kumimoji="0" lang="zh-CN" altLang="en-US" sz="105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完成融合优惠能力改造，完成资费设计过程智能辅助能力改造</a:t>
              </a:r>
              <a:endParaRPr kumimoji="0" lang="zh-CN" altLang="en-US" sz="105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endParaRPr>
            </a:p>
          </p:txBody>
        </p:sp>
        <p:sp>
          <p:nvSpPr>
            <p:cNvPr id="1048828" name="箭头: 右 40"/>
            <p:cNvSpPr/>
            <p:nvPr/>
          </p:nvSpPr>
          <p:spPr>
            <a:xfrm>
              <a:off x="1776" y="8197"/>
              <a:ext cx="16675" cy="820"/>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048829" name="文本框 62"/>
            <p:cNvSpPr txBox="1"/>
            <p:nvPr/>
          </p:nvSpPr>
          <p:spPr>
            <a:xfrm>
              <a:off x="8535" y="8348"/>
              <a:ext cx="2351" cy="648"/>
            </a:xfrm>
            <a:prstGeom prst="rect">
              <a:avLst/>
            </a:prstGeom>
            <a:noFill/>
          </p:spPr>
          <p:txBody>
            <a:bodyPr wrap="square" rtlCol="0">
              <a:noAutofit/>
            </a:bodyPr>
            <a:p>
              <a:pPr marL="0" marR="0" lvl="0" indent="0" algn="l" defTabSz="457200" rtl="0" eaLnBrk="1" fontAlgn="auto" latinLnBrk="0" hangingPunct="1">
                <a:lnSpc>
                  <a:spcPct val="100000"/>
                </a:lnSpc>
                <a:spcBef>
                  <a:spcPts val="0"/>
                </a:spcBef>
                <a:spcAft>
                  <a:spcPts val="0"/>
                </a:spcAft>
                <a:buClrTx/>
                <a:buSzTx/>
                <a:buFontTx/>
                <a:buNone/>
              </a:pPr>
              <a:r>
                <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2025</a:t>
              </a: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a:t>
              </a:r>
              <a:r>
                <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a:t>
              </a: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月</a:t>
              </a:r>
              <a:endPar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830" name="文本框 63"/>
            <p:cNvSpPr txBox="1"/>
            <p:nvPr/>
          </p:nvSpPr>
          <p:spPr>
            <a:xfrm>
              <a:off x="14800" y="8349"/>
              <a:ext cx="2131" cy="643"/>
            </a:xfrm>
            <a:prstGeom prst="rect">
              <a:avLst/>
            </a:prstGeom>
            <a:noFill/>
          </p:spPr>
          <p:txBody>
            <a:bodyPr wrap="square" rtlCol="0">
              <a:spAutoFit/>
            </a:bodyPr>
            <a:p>
              <a:pPr marL="0" marR="0" lvl="0" indent="0" algn="l" defTabSz="457200" rtl="0" eaLnBrk="1" fontAlgn="auto" latinLnBrk="0" hangingPunct="1">
                <a:lnSpc>
                  <a:spcPct val="100000"/>
                </a:lnSpc>
                <a:spcBef>
                  <a:spcPts val="0"/>
                </a:spcBef>
                <a:spcAft>
                  <a:spcPts val="0"/>
                </a:spcAft>
                <a:buClrTx/>
                <a:buSzTx/>
                <a:buFontTx/>
                <a:buNone/>
              </a:pPr>
              <a:r>
                <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2025</a:t>
              </a: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a:t>
              </a:r>
              <a:r>
                <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月</a:t>
              </a:r>
              <a:endPar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831" name="矩形 64"/>
            <p:cNvSpPr/>
            <p:nvPr/>
          </p:nvSpPr>
          <p:spPr>
            <a:xfrm>
              <a:off x="564" y="8217"/>
              <a:ext cx="1015" cy="2421"/>
            </a:xfrm>
            <a:prstGeom prst="rect">
              <a:avLst/>
            </a:prstGeom>
            <a:solidFill>
              <a:srgbClr val="DFF2FF"/>
            </a:solidFill>
            <a:ln>
              <a:solidFill>
                <a:srgbClr val="DFF2FF"/>
              </a:solidFill>
            </a:ln>
          </p:spPr>
          <p:txBody>
            <a:bodyPr wrap="square" anchor="ctr"/>
            <a:p>
              <a:pPr marL="0" marR="0" lvl="0" indent="0" algn="ctr" defTabSz="913765" rtl="0" eaLnBrk="1" fontAlgn="auto" latinLnBrk="0" hangingPunct="1">
                <a:lnSpc>
                  <a:spcPct val="120000"/>
                </a:lnSpc>
                <a:spcBef>
                  <a:spcPts val="0"/>
                </a:spcBef>
                <a:spcAft>
                  <a:spcPts val="0"/>
                </a:spcAft>
                <a:buClr>
                  <a:srgbClr val="C00000"/>
                </a:buClr>
                <a:buSzTx/>
                <a:buFontTx/>
                <a:buNone/>
              </a:pPr>
              <a:r>
                <a:rPr kumimoji="0" lang="zh-CN" altLang="en-US" sz="1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里程碑</a:t>
              </a:r>
              <a:endParaRPr kumimoji="0" lang="zh-CN" altLang="en-US" sz="1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048832" name="矩形 65"/>
            <p:cNvSpPr/>
            <p:nvPr/>
          </p:nvSpPr>
          <p:spPr>
            <a:xfrm>
              <a:off x="1944" y="8921"/>
              <a:ext cx="4754" cy="1419"/>
            </a:xfrm>
            <a:prstGeom prst="rect">
              <a:avLst/>
            </a:prstGeom>
          </p:spPr>
          <p:txBody>
            <a:bodyPr wrap="square">
              <a:spAutoFit/>
            </a:bodyPr>
            <a:p>
              <a:pPr marL="171450" marR="0" lvl="0" indent="-171450" algn="l" defTabSz="457200" rtl="0" eaLnBrk="1" fontAlgn="auto" latinLnBrk="0" hangingPunct="1">
                <a:lnSpc>
                  <a:spcPct val="120000"/>
                </a:lnSpc>
                <a:spcBef>
                  <a:spcPts val="0"/>
                </a:spcBef>
                <a:spcAft>
                  <a:spcPts val="0"/>
                </a:spcAft>
                <a:buClr>
                  <a:srgbClr val="0070BF"/>
                </a:buClr>
                <a:buSzTx/>
                <a:buFont typeface="Wingdings" panose="05000000000000000000" pitchFamily="2" charset="2"/>
                <a:buChar char="n"/>
              </a:pPr>
              <a:r>
                <a:rPr kumimoji="0" lang="zh-CN" altLang="en-US" sz="1050" b="1"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实现产商品AI封装</a:t>
              </a:r>
              <a:r>
                <a:rPr kumimoji="0" lang="zh-CN" altLang="en-US" sz="1050" b="1" i="0" u="none" strike="noStrike" kern="120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工具</a:t>
              </a:r>
              <a:r>
                <a:rPr kumimoji="0" lang="zh-CN" altLang="en-US" sz="1050" b="1"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功能试运行</a:t>
              </a:r>
              <a:endParaRPr kumimoji="0" lang="zh-CN" altLang="en-US" sz="1050" b="1"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algn="l" defTabSz="457200" rtl="0" eaLnBrk="1" fontAlgn="auto" latinLnBrk="0" hangingPunct="1">
                <a:lnSpc>
                  <a:spcPct val="120000"/>
                </a:lnSpc>
                <a:spcBef>
                  <a:spcPts val="0"/>
                </a:spcBef>
                <a:spcAft>
                  <a:spcPts val="0"/>
                </a:spcAft>
                <a:buClr>
                  <a:srgbClr val="0070BF"/>
                </a:buClr>
                <a:buSzTx/>
                <a:buFont typeface="Wingdings" panose="05000000000000000000" pitchFamily="2" charset="2"/>
                <a:buChar char="n"/>
              </a:pPr>
              <a:r>
                <a:rPr kumimoji="0" lang="zh-CN" altLang="en-US" sz="1050" b="1"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依托产商品中心，完成全网原子产品库管理</a:t>
              </a:r>
              <a:r>
                <a:rPr kumimoji="0" lang="zh-CN" altLang="en-US" sz="1050" b="1" i="0" u="none" strike="noStrike" kern="120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kumimoji="0" lang="zh-CN" altLang="en-US" sz="1050" b="1"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建设，实现细分市场产品</a:t>
              </a:r>
              <a:r>
                <a:rPr kumimoji="0" lang="zh-CN" altLang="en-US" sz="1050" b="1" i="0" u="none" strike="noStrike" kern="120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数据</a:t>
              </a:r>
              <a:r>
                <a:rPr kumimoji="0" lang="zh-CN" altLang="en-US" sz="1050" b="1"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汇聚</a:t>
              </a:r>
              <a:endParaRPr kumimoji="0" lang="zh-CN" altLang="en-US" sz="1050" b="1"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48833" name="文本框 66"/>
            <p:cNvSpPr txBox="1"/>
            <p:nvPr/>
          </p:nvSpPr>
          <p:spPr>
            <a:xfrm>
              <a:off x="3400" y="8349"/>
              <a:ext cx="2131" cy="657"/>
            </a:xfrm>
            <a:prstGeom prst="rect">
              <a:avLst/>
            </a:prstGeom>
            <a:noFill/>
          </p:spPr>
          <p:txBody>
            <a:bodyPr wrap="square" rtlCol="0">
              <a:spAutoFit/>
            </a:bodyPr>
            <a:p>
              <a:pPr marL="0" marR="0" lvl="0" indent="0" algn="l" defTabSz="457200" rtl="0" eaLnBrk="1" fontAlgn="auto" latinLnBrk="0" hangingPunct="1">
                <a:lnSpc>
                  <a:spcPct val="100000"/>
                </a:lnSpc>
                <a:spcBef>
                  <a:spcPts val="0"/>
                </a:spcBef>
                <a:spcAft>
                  <a:spcPts val="0"/>
                </a:spcAft>
                <a:buClrTx/>
                <a:buSzTx/>
                <a:buFontTx/>
                <a:buNone/>
              </a:pPr>
              <a:r>
                <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2025</a:t>
              </a: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a:t>
              </a:r>
              <a:r>
                <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9</a:t>
              </a:r>
              <a:r>
                <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月</a:t>
              </a:r>
              <a:endPar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83" name="组合 67"/>
          <p:cNvGrpSpPr/>
          <p:nvPr/>
        </p:nvGrpSpPr>
        <p:grpSpPr>
          <a:xfrm>
            <a:off x="365125" y="1140538"/>
            <a:ext cx="11419840" cy="3315970"/>
            <a:chOff x="575" y="2155"/>
            <a:chExt cx="17984" cy="5396"/>
          </a:xfrm>
        </p:grpSpPr>
        <p:sp>
          <p:nvSpPr>
            <p:cNvPr id="1048834" name="Freeform 22"/>
            <p:cNvSpPr/>
            <p:nvPr/>
          </p:nvSpPr>
          <p:spPr bwMode="auto">
            <a:xfrm rot="16200000" flipV="1">
              <a:off x="963" y="4500"/>
              <a:ext cx="5396" cy="706"/>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84" name="组合 69"/>
            <p:cNvGrpSpPr/>
            <p:nvPr/>
          </p:nvGrpSpPr>
          <p:grpSpPr>
            <a:xfrm>
              <a:off x="575" y="2155"/>
              <a:ext cx="17984" cy="5396"/>
              <a:chOff x="575" y="2155"/>
              <a:chExt cx="17984" cy="5396"/>
            </a:xfrm>
          </p:grpSpPr>
          <p:grpSp>
            <p:nvGrpSpPr>
              <p:cNvPr id="85" name="组合 70"/>
              <p:cNvGrpSpPr/>
              <p:nvPr/>
            </p:nvGrpSpPr>
            <p:grpSpPr>
              <a:xfrm>
                <a:off x="575" y="2910"/>
                <a:ext cx="17984" cy="4450"/>
                <a:chOff x="575" y="2761"/>
                <a:chExt cx="17984" cy="3807"/>
              </a:xfrm>
            </p:grpSpPr>
            <p:sp>
              <p:nvSpPr>
                <p:cNvPr id="1048835" name="矩形 71"/>
                <p:cNvSpPr/>
                <p:nvPr/>
              </p:nvSpPr>
              <p:spPr>
                <a:xfrm>
                  <a:off x="575" y="3128"/>
                  <a:ext cx="2762" cy="3439"/>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176530" marR="0" lvl="0" indent="-140335" algn="l" defTabSz="914400" rtl="0" eaLnBrk="1" fontAlgn="base" latinLnBrk="0" hangingPunct="1">
                    <a:lnSpc>
                      <a:spcPct val="150000"/>
                    </a:lnSpc>
                    <a:spcBef>
                      <a:spcPct val="0"/>
                    </a:spcBef>
                    <a:spcAft>
                      <a:spcPct val="0"/>
                    </a:spcAft>
                    <a:buClr>
                      <a:srgbClr val="0070BF"/>
                    </a:buClr>
                    <a:buSzTx/>
                    <a:buFont typeface="Arial" panose="020B0604020202020204" pitchFamily="34" charset="0"/>
                    <a:buChar cha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产品管理</a:t>
                  </a:r>
                  <a:r>
                    <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分散，</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数据分散</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在省专系统</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a:p>
                  <a:pPr marL="176530" marR="0" lvl="0" indent="-140335" algn="l" defTabSz="914400" rtl="0" eaLnBrk="1" fontAlgn="base" latinLnBrk="0" hangingPunct="1">
                    <a:lnSpc>
                      <a:spcPct val="150000"/>
                    </a:lnSpc>
                    <a:spcBef>
                      <a:spcPct val="0"/>
                    </a:spcBef>
                    <a:spcAft>
                      <a:spcPct val="0"/>
                    </a:spcAft>
                    <a:buClr>
                      <a:srgbClr val="0070BF"/>
                    </a:buClr>
                    <a:buSzTx/>
                    <a:buFont typeface="Arial" panose="020B0604020202020204" pitchFamily="34" charset="0"/>
                    <a:buChar cha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产品支撑模式不一，</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缺少标准化封装流程</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，跨单位自由组合能力不足</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a:p>
                  <a:pPr marL="176530" marR="0" lvl="0" indent="-140335" algn="l" defTabSz="914400" rtl="0" eaLnBrk="1" fontAlgn="base" latinLnBrk="0" hangingPunct="1">
                    <a:lnSpc>
                      <a:spcPct val="150000"/>
                    </a:lnSpc>
                    <a:spcBef>
                      <a:spcPct val="0"/>
                    </a:spcBef>
                    <a:spcAft>
                      <a:spcPct val="0"/>
                    </a:spcAft>
                    <a:buClr>
                      <a:srgbClr val="0070BF"/>
                    </a:buClr>
                    <a:buSzTx/>
                    <a:buFont typeface="Arial" panose="020B0604020202020204" pitchFamily="34" charset="0"/>
                    <a:buChar cha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产品封装</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依赖人工，</a:t>
                  </a:r>
                  <a:r>
                    <a:rPr kumimoji="0" lang="zh-CN" altLang="en-US" sz="12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灵活度不足</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48836" name="矩形 72"/>
                <p:cNvSpPr/>
                <p:nvPr/>
              </p:nvSpPr>
              <p:spPr>
                <a:xfrm>
                  <a:off x="3967" y="3125"/>
                  <a:ext cx="10705" cy="3443"/>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285750" marR="0" lvl="0" indent="-285750" algn="l" defTabSz="457200" rtl="0" eaLnBrk="1" fontAlgn="auto" latinLnBrk="0" hangingPunct="1">
                    <a:lnSpc>
                      <a:spcPts val="1800"/>
                    </a:lnSpc>
                    <a:spcBef>
                      <a:spcPts val="0"/>
                    </a:spcBef>
                    <a:spcAft>
                      <a:spcPts val="0"/>
                    </a:spcAft>
                    <a:buClr>
                      <a:srgbClr val="0070BF"/>
                    </a:buClr>
                    <a:buSzTx/>
                    <a:buFont typeface="Arial" panose="020B0604020202020204" pitchFamily="34" charset="0"/>
                    <a:buChar cha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举措</a:t>
                  </a:r>
                  <a:r>
                    <a:rPr kumimoji="0" lang="en-US" alt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1-推动产品</a:t>
                  </a:r>
                  <a:r>
                    <a:rPr kumimoji="0" lang="en-US" altLang="zh-CN"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数据</a:t>
                  </a:r>
                  <a:r>
                    <a:rPr kumimoji="0" lang="en-US" alt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汇聚</a:t>
                  </a:r>
                  <a:r>
                    <a:rPr lang="zh-CN" altLang="en-US" sz="120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依托产商品中心，</a:t>
                  </a:r>
                  <a:r>
                    <a:rPr lang="zh-CN" altLang="en-US" sz="12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收敛汇聚局数据、省专公司相关产商品数据</a:t>
                  </a:r>
                  <a:endParaRPr kumimoji="0" lang="zh-CN" altLang="en-US" sz="12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457200" rtl="0" eaLnBrk="1" fontAlgn="auto" latinLnBrk="0" hangingPunct="1">
                    <a:lnSpc>
                      <a:spcPts val="1800"/>
                    </a:lnSpc>
                    <a:spcBef>
                      <a:spcPts val="0"/>
                    </a:spcBef>
                    <a:spcAft>
                      <a:spcPts val="0"/>
                    </a:spcAft>
                    <a:buClr>
                      <a:srgbClr val="0070BF"/>
                    </a:buClr>
                    <a:buSzTx/>
                    <a:buFont typeface="Arial" panose="020B0604020202020204" pitchFamily="34" charset="0"/>
                    <a:buChar cha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举措</a:t>
                  </a:r>
                  <a:r>
                    <a:rPr kumimoji="0" lang="en-US" alt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2-</a:t>
                  </a:r>
                  <a:r>
                    <a:rPr kumimoji="0" lang="zh-CN" altLang="en-US"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构建细分市场标准化产品封装</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流程</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统一原子产品、产品、商品等业务语言，</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构建原子产品上架、封装等标准化流程，支持跨机构产商品的自由组合、融合定价</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457200" rtl="0" eaLnBrk="1" fontAlgn="auto" latinLnBrk="0" hangingPunct="1">
                    <a:lnSpc>
                      <a:spcPts val="1800"/>
                    </a:lnSpc>
                    <a:spcBef>
                      <a:spcPts val="0"/>
                    </a:spcBef>
                    <a:spcAft>
                      <a:spcPts val="0"/>
                    </a:spcAft>
                    <a:buClr>
                      <a:srgbClr val="0070BF"/>
                    </a:buClr>
                    <a:buSzTx/>
                    <a:buFont typeface="Arial" panose="020B0604020202020204" pitchFamily="34" charset="0"/>
                    <a:buChar cha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举措</a:t>
                  </a:r>
                  <a:r>
                    <a:rPr kumimoji="0" lang="en-US" alt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3-</a:t>
                  </a:r>
                  <a:r>
                    <a:rPr kumimoji="0" lang="zh-CN" altLang="en-US"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打造产品灵活封装</a:t>
                  </a:r>
                  <a:r>
                    <a:rPr kumimoji="0" lang="en-US" alt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AI</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工具</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通过自然语音识别等</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AI</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能力，</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打造具备智能配置、智能稽核等能力的</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AI</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封装工具</a:t>
                  </a:r>
                  <a:r>
                    <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，辅助产品经理快速完成融合商品封装</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457200" rtl="0" eaLnBrk="1" fontAlgn="auto" latinLnBrk="0" hangingPunct="1">
                    <a:lnSpc>
                      <a:spcPts val="1800"/>
                    </a:lnSpc>
                    <a:spcBef>
                      <a:spcPts val="0"/>
                    </a:spcBef>
                    <a:spcAft>
                      <a:spcPts val="0"/>
                    </a:spcAft>
                    <a:buClr>
                      <a:srgbClr val="0070BF"/>
                    </a:buClr>
                    <a:buSzTx/>
                    <a:buFont typeface="Arial" panose="020B0604020202020204" pitchFamily="34" charset="0"/>
                    <a:buChar cha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举措4</a:t>
                  </a:r>
                  <a:r>
                    <a:rPr kumimoji="0" lang="en-US" alt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依托产商品中心构建原子产品库管理</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平台</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构建细分市场产品原子库，</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实现</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“5+9”</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全量产品统一供给、统一纳管</a:t>
                  </a:r>
                  <a:endPar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457200" rtl="0" eaLnBrk="1" fontAlgn="auto" latinLnBrk="0" hangingPunct="1">
                    <a:lnSpc>
                      <a:spcPts val="1800"/>
                    </a:lnSpc>
                    <a:spcBef>
                      <a:spcPts val="0"/>
                    </a:spcBef>
                    <a:spcAft>
                      <a:spcPts val="0"/>
                    </a:spcAft>
                    <a:buClr>
                      <a:srgbClr val="0070BF"/>
                    </a:buClr>
                    <a:buSzTx/>
                    <a:buFont typeface="Arial" panose="020B0604020202020204" pitchFamily="34" charset="0"/>
                    <a:buChar cha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举措5</a:t>
                  </a:r>
                  <a:r>
                    <a:rPr kumimoji="0" lang="en-US" altLang="zh-CN"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mn-ea"/>
                    </a:rPr>
                    <a:t>持续完善产品原子库管理</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机制：</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明确细产品原子库集省专职责分工，</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明确产品原子库管理规范，</a:t>
                  </a:r>
                  <a:r>
                    <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包含产品引入、省专需求对接、产品封装、内外部结算等方面</a:t>
                  </a:r>
                  <a:endParaRPr kumimoji="0" lang="zh-CN" altLang="en-US" sz="120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48837" name="矩形 73"/>
                <p:cNvSpPr/>
                <p:nvPr/>
              </p:nvSpPr>
              <p:spPr>
                <a:xfrm>
                  <a:off x="15481" y="3129"/>
                  <a:ext cx="3078" cy="343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228600" marR="0" lvl="0" indent="-228600" algn="l" defTabSz="457200" rtl="0" eaLnBrk="1" fontAlgn="auto" latinLnBrk="0" hangingPunct="1">
                    <a:lnSpc>
                      <a:spcPct val="150000"/>
                    </a:lnSpc>
                    <a:spcBef>
                      <a:spcPts val="0"/>
                    </a:spcBef>
                    <a:spcAft>
                      <a:spcPts val="0"/>
                    </a:spcAft>
                    <a:buClr>
                      <a:srgbClr val="0070BF"/>
                    </a:buClr>
                    <a:buSzTx/>
                    <a:buFont typeface="Wingdings" panose="05000000000000000000" pitchFamily="2" charset="2"/>
                    <a:buChar char="ü"/>
                  </a:pP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量：</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5+9产品</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纳管率</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100%</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（除连接类）</a:t>
                  </a:r>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228600" marR="0" lvl="0" indent="-228600" algn="l" defTabSz="457200" rtl="0" eaLnBrk="1" fontAlgn="auto" latinLnBrk="0" hangingPunct="1">
                    <a:lnSpc>
                      <a:spcPct val="150000"/>
                    </a:lnSpc>
                    <a:spcBef>
                      <a:spcPts val="0"/>
                    </a:spcBef>
                    <a:spcAft>
                      <a:spcPts val="0"/>
                    </a:spcAft>
                    <a:buClr>
                      <a:srgbClr val="0070BF"/>
                    </a:buClr>
                    <a:buSzTx/>
                    <a:buFont typeface="Wingdings" panose="05000000000000000000" pitchFamily="2" charset="2"/>
                    <a:buChar char="ü"/>
                  </a:pP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质：</a:t>
                  </a:r>
                  <a:r>
                    <a:rPr kumimoji="0" sz="1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融合商品从配置到省专上架缩</a:t>
                  </a:r>
                  <a:r>
                    <a:rPr kumimoji="0" lang="zh-CN" sz="1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短至</a:t>
                  </a:r>
                  <a:r>
                    <a:rPr kumimoji="0" lang="en-US" altLang="zh-CN" sz="1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5</a:t>
                  </a:r>
                  <a:r>
                    <a:rPr kumimoji="0" lang="zh-CN" altLang="en-US" sz="1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日内</a:t>
                  </a:r>
                  <a:endParaRPr kumimoji="0" sz="1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28600" marR="0" lvl="0" indent="-228600" algn="l" defTabSz="457200" rtl="0" eaLnBrk="1" fontAlgn="auto" latinLnBrk="0" hangingPunct="1">
                    <a:lnSpc>
                      <a:spcPct val="150000"/>
                    </a:lnSpc>
                    <a:spcBef>
                      <a:spcPts val="0"/>
                    </a:spcBef>
                    <a:spcAft>
                      <a:spcPts val="0"/>
                    </a:spcAft>
                    <a:buClr>
                      <a:srgbClr val="0070BF"/>
                    </a:buClr>
                    <a:buSzTx/>
                    <a:buFont typeface="Wingdings" panose="05000000000000000000" pitchFamily="2" charset="2"/>
                    <a:buChar char="ü"/>
                  </a:pP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构：</a:t>
                  </a:r>
                  <a:r>
                    <a:rPr kumimoji="0" lang="zh-CN" altLang="en-US" sz="1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构建细分市场产品管理体系</a:t>
                  </a:r>
                  <a:endParaRPr kumimoji="0" lang="en-US" altLang="zh-CN" sz="1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28600" marR="0" lvl="0" indent="-228600" algn="l" defTabSz="457200" rtl="0" eaLnBrk="1" fontAlgn="auto" latinLnBrk="0" hangingPunct="1">
                    <a:lnSpc>
                      <a:spcPct val="150000"/>
                    </a:lnSpc>
                    <a:spcBef>
                      <a:spcPts val="0"/>
                    </a:spcBef>
                    <a:spcAft>
                      <a:spcPts val="0"/>
                    </a:spcAft>
                    <a:buClr>
                      <a:srgbClr val="0070BF"/>
                    </a:buClr>
                    <a:buSzTx/>
                    <a:buFont typeface="Wingdings" panose="05000000000000000000" pitchFamily="2" charset="2"/>
                    <a:buChar char="ü"/>
                  </a:pP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效：</a:t>
                  </a:r>
                  <a:r>
                    <a:rPr kumimoji="0" lang="zh-CN" altLang="en-US" sz="1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实现产品纳管、融合运营分析</a:t>
                  </a:r>
                  <a:endParaRPr kumimoji="0" lang="zh-CN" altLang="en-US" sz="1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48838" name="矩形 74"/>
                <p:cNvSpPr/>
                <p:nvPr/>
              </p:nvSpPr>
              <p:spPr>
                <a:xfrm>
                  <a:off x="575" y="2787"/>
                  <a:ext cx="2762" cy="423"/>
                </a:xfrm>
                <a:prstGeom prst="rect">
                  <a:avLst/>
                </a:prstGeom>
                <a:solidFill>
                  <a:srgbClr val="DFF2FF"/>
                </a:solidFill>
                <a:ln>
                  <a:solidFill>
                    <a:srgbClr val="DFF2FF"/>
                  </a:solidFill>
                </a:ln>
              </p:spPr>
              <p:txBody>
                <a:bodyPr wrap="square" anchor="ctr"/>
                <a:p>
                  <a:pPr marL="0" marR="0" lvl="0" indent="0" algn="ctr" defTabSz="913765" rtl="0" eaLnBrk="1" fontAlgn="auto" latinLnBrk="0" hangingPunct="1">
                    <a:lnSpc>
                      <a:spcPct val="120000"/>
                    </a:lnSpc>
                    <a:spcBef>
                      <a:spcPts val="0"/>
                    </a:spcBef>
                    <a:spcAft>
                      <a:spcPts val="0"/>
                    </a:spcAft>
                    <a:buClr>
                      <a:srgbClr val="C00000"/>
                    </a:buClr>
                    <a:buSzTx/>
                    <a:buFontTx/>
                    <a:buNone/>
                  </a:pPr>
                  <a:r>
                    <a:rPr kumimoji="0" lang="zh-CN" altLang="en-US" sz="1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痛点</a:t>
                  </a:r>
                  <a:endParaRPr kumimoji="0" lang="zh-CN" altLang="en-US" sz="1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048839" name="矩形 75"/>
                <p:cNvSpPr/>
                <p:nvPr/>
              </p:nvSpPr>
              <p:spPr>
                <a:xfrm>
                  <a:off x="3967" y="2782"/>
                  <a:ext cx="10705" cy="428"/>
                </a:xfrm>
                <a:prstGeom prst="rect">
                  <a:avLst/>
                </a:prstGeom>
                <a:solidFill>
                  <a:srgbClr val="DFF2FF"/>
                </a:solidFill>
                <a:ln>
                  <a:solidFill>
                    <a:srgbClr val="DFF2FF"/>
                  </a:solidFill>
                </a:ln>
              </p:spPr>
              <p:txBody>
                <a:bodyPr wrap="square" anchor="ctr"/>
                <a:p>
                  <a:pPr marL="0" marR="0" lvl="0" indent="0" algn="ctr" defTabSz="913765" rtl="0" eaLnBrk="1" fontAlgn="auto" latinLnBrk="0" hangingPunct="1">
                    <a:lnSpc>
                      <a:spcPct val="120000"/>
                    </a:lnSpc>
                    <a:spcBef>
                      <a:spcPts val="0"/>
                    </a:spcBef>
                    <a:spcAft>
                      <a:spcPts val="0"/>
                    </a:spcAft>
                    <a:buClr>
                      <a:srgbClr val="C00000"/>
                    </a:buClr>
                    <a:buSzTx/>
                    <a:buFontTx/>
                    <a:buNone/>
                  </a:pPr>
                  <a:r>
                    <a:rPr kumimoji="0" lang="zh-CN" altLang="en-US" sz="1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任务要点</a:t>
                  </a:r>
                  <a:endParaRPr kumimoji="0" lang="zh-CN" altLang="en-US" sz="1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sp>
              <p:nvSpPr>
                <p:cNvPr id="1048840" name="矩形 76"/>
                <p:cNvSpPr/>
                <p:nvPr/>
              </p:nvSpPr>
              <p:spPr>
                <a:xfrm>
                  <a:off x="15481" y="2761"/>
                  <a:ext cx="3078" cy="448"/>
                </a:xfrm>
                <a:prstGeom prst="rect">
                  <a:avLst/>
                </a:prstGeom>
                <a:solidFill>
                  <a:srgbClr val="DFF2FF"/>
                </a:solidFill>
                <a:ln>
                  <a:solidFill>
                    <a:srgbClr val="DFF2FF"/>
                  </a:solidFill>
                </a:ln>
              </p:spPr>
              <p:txBody>
                <a:bodyPr wrap="square" anchor="ctr"/>
                <a:p>
                  <a:pPr marL="0" marR="0" lvl="0" indent="0" algn="ctr" defTabSz="913765" rtl="0" eaLnBrk="1" fontAlgn="auto" latinLnBrk="0" hangingPunct="1">
                    <a:lnSpc>
                      <a:spcPct val="120000"/>
                    </a:lnSpc>
                    <a:spcBef>
                      <a:spcPts val="0"/>
                    </a:spcBef>
                    <a:spcAft>
                      <a:spcPts val="0"/>
                    </a:spcAft>
                    <a:buClr>
                      <a:srgbClr val="C00000"/>
                    </a:buClr>
                    <a:buSzTx/>
                    <a:buFontTx/>
                    <a:buNone/>
                  </a:pPr>
                  <a:r>
                    <a:rPr kumimoji="0" lang="en-US" altLang="zh-CN" sz="1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2025</a:t>
                  </a:r>
                  <a:r>
                    <a:rPr kumimoji="0" lang="zh-CN" altLang="en-US" sz="1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年成效指标</a:t>
                  </a:r>
                  <a:endParaRPr kumimoji="0" lang="zh-CN" altLang="en-US" sz="14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grpSp>
          <p:sp>
            <p:nvSpPr>
              <p:cNvPr id="1048841" name="Freeform 22"/>
              <p:cNvSpPr/>
              <p:nvPr/>
            </p:nvSpPr>
            <p:spPr bwMode="auto">
              <a:xfrm rot="16200000" flipV="1">
                <a:off x="12326" y="4500"/>
                <a:ext cx="5396" cy="706"/>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sp>
        <p:nvSpPr>
          <p:cNvPr id="21" name="文本框 20"/>
          <p:cNvSpPr txBox="1"/>
          <p:nvPr/>
        </p:nvSpPr>
        <p:spPr>
          <a:xfrm>
            <a:off x="6671310" y="309245"/>
            <a:ext cx="3511550" cy="878205"/>
          </a:xfrm>
          <a:prstGeom prst="rect">
            <a:avLst/>
          </a:prstGeom>
          <a:solidFill>
            <a:srgbClr val="C00000"/>
          </a:solidFill>
        </p:spPr>
        <p:txBody>
          <a:bodyPr wrap="square" rtlCol="0">
            <a:noAutofit/>
          </a:bodyPr>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请产品组更新</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zh-CN" sz="1400" dirty="0" smtClean="0">
                <a:solidFill>
                  <a:schemeClr val="bg1"/>
                </a:solidFill>
                <a:latin typeface="微软雅黑" panose="020B0503020204020204" pitchFamily="34" charset="-122"/>
                <a:ea typeface="微软雅黑" panose="020B0503020204020204" pitchFamily="34" charset="-122"/>
              </a:rPr>
              <a:t>根据最新工作调整内容</a:t>
            </a:r>
            <a:endParaRPr kumimoji="1" lang="zh-CN"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70840" y="1583055"/>
            <a:ext cx="1753870" cy="2036445"/>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07645" marR="0" lvl="0" indent="-171450" algn="l" defTabSz="914400" rtl="0" eaLnBrk="1" fontAlgn="base" latinLnBrk="0" hangingPunct="1">
              <a:lnSpc>
                <a:spcPct val="120000"/>
              </a:lnSpc>
              <a:spcBef>
                <a:spcPts val="0"/>
              </a:spcBef>
              <a:spcAft>
                <a:spcPts val="0"/>
              </a:spcAft>
              <a:buClr>
                <a:schemeClr val="accent1"/>
              </a:buClr>
              <a:buSzTx/>
              <a:buFont typeface="Arial" panose="020B0604020202020204" pitchFamily="34" charset="0"/>
              <a:buChar char="•"/>
              <a:defRPr/>
            </a:pPr>
            <a:r>
              <a:rPr lang="zh-CN" altLang="en-US" sz="120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渠道转化</a:t>
            </a:r>
            <a:r>
              <a:rPr lang="zh-CN" altLang="en-US" sz="120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效果低，内容重复，多次打扰</a:t>
            </a:r>
            <a:r>
              <a:rPr lang="zh-CN" altLang="en-US" sz="120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用户，影响转化效果；</a:t>
            </a:r>
            <a:endParaRPr lang="zh-CN" altLang="en-US" sz="120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endParaRPr>
          </a:p>
          <a:p>
            <a:pPr marL="207645" marR="0" lvl="0" indent="-171450" algn="l" defTabSz="914400" rtl="0" eaLnBrk="1" fontAlgn="base" latinLnBrk="0" hangingPunct="1">
              <a:lnSpc>
                <a:spcPct val="120000"/>
              </a:lnSpc>
              <a:spcBef>
                <a:spcPts val="0"/>
              </a:spcBef>
              <a:spcAft>
                <a:spcPts val="0"/>
              </a:spcAft>
              <a:buClr>
                <a:schemeClr val="accent1"/>
              </a:buClr>
              <a:buSzTx/>
              <a:buFont typeface="Arial" panose="020B0604020202020204" pitchFamily="34" charset="0"/>
              <a:buChar char="•"/>
              <a:defRPr/>
            </a:pPr>
            <a:r>
              <a:rPr lang="zh-CN" altLang="en-US" sz="120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投放效果缺乏实时监测，决策难，无法</a:t>
            </a:r>
            <a:r>
              <a:rPr lang="zh-CN" altLang="en-US" sz="120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实现一户一策</a:t>
            </a:r>
            <a:r>
              <a:rPr lang="zh-CN" altLang="en-US" sz="120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调度</a:t>
            </a:r>
            <a:endParaRPr kumimoji="1" lang="zh-CN" altLang="en-US" sz="1000" noProof="0" dirty="0">
              <a:ln>
                <a:noFill/>
              </a:ln>
              <a:solidFill>
                <a:schemeClr val="tx1"/>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8" name="矩形 7"/>
          <p:cNvSpPr/>
          <p:nvPr/>
        </p:nvSpPr>
        <p:spPr>
          <a:xfrm>
            <a:off x="2519045" y="1539240"/>
            <a:ext cx="6623685" cy="209550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ts val="1800"/>
              </a:lnSpc>
              <a:buClr>
                <a:schemeClr val="accent1"/>
              </a:buClr>
              <a:buFont typeface="Arial" panose="020B0604020202020204" pitchFamily="34" charset="0"/>
              <a:buChar char="•"/>
            </a:pPr>
            <a:r>
              <a:rPr lang="zh-CN" sz="1200" b="1" dirty="0">
                <a:solidFill>
                  <a:schemeClr val="tx1"/>
                </a:solidFill>
                <a:latin typeface="微软雅黑" panose="020B0503020204020204" pitchFamily="34" charset="-122"/>
                <a:ea typeface="微软雅黑" panose="020B0503020204020204" pitchFamily="34" charset="-122"/>
                <a:sym typeface="+mn-ea"/>
              </a:rPr>
              <a:t>智能</a:t>
            </a:r>
            <a:r>
              <a:rPr sz="1200" b="1" dirty="0">
                <a:solidFill>
                  <a:schemeClr val="tx1"/>
                </a:solidFill>
                <a:latin typeface="微软雅黑" panose="020B0503020204020204" pitchFamily="34" charset="-122"/>
                <a:ea typeface="微软雅黑" panose="020B0503020204020204" pitchFamily="34" charset="-122"/>
                <a:sym typeface="+mn-ea"/>
              </a:rPr>
              <a:t>策划</a:t>
            </a:r>
            <a:r>
              <a:rPr lang="zh-CN" sz="1200" b="1" dirty="0">
                <a:solidFill>
                  <a:schemeClr val="tx1"/>
                </a:solidFill>
                <a:latin typeface="微软雅黑" panose="020B0503020204020204" pitchFamily="34" charset="-122"/>
                <a:ea typeface="微软雅黑" panose="020B0503020204020204" pitchFamily="34" charset="-122"/>
                <a:sym typeface="+mn-ea"/>
              </a:rPr>
              <a:t>升级：</a:t>
            </a:r>
            <a:r>
              <a:rPr sz="1200" dirty="0">
                <a:solidFill>
                  <a:schemeClr val="tx1"/>
                </a:solidFill>
                <a:latin typeface="微软雅黑" panose="020B0503020204020204" pitchFamily="34" charset="-122"/>
                <a:ea typeface="微软雅黑" panose="020B0503020204020204" pitchFamily="34" charset="-122"/>
                <a:sym typeface="+mn-ea"/>
              </a:rPr>
              <a:t>体系全面革新，智能技术精准匹配客群，避免冗余推送，优化用户体验，提升精准</a:t>
            </a:r>
            <a:r>
              <a:rPr lang="zh-CN" sz="1200" dirty="0">
                <a:solidFill>
                  <a:schemeClr val="tx1"/>
                </a:solidFill>
                <a:latin typeface="微软雅黑" panose="020B0503020204020204" pitchFamily="34" charset="-122"/>
                <a:ea typeface="微软雅黑" panose="020B0503020204020204" pitchFamily="34" charset="-122"/>
                <a:sym typeface="+mn-ea"/>
              </a:rPr>
              <a:t>投放</a:t>
            </a:r>
            <a:r>
              <a:rPr lang="zh-CN" sz="1200" dirty="0">
                <a:solidFill>
                  <a:schemeClr val="tx1"/>
                </a:solidFill>
                <a:latin typeface="微软雅黑" panose="020B0503020204020204" pitchFamily="34" charset="-122"/>
                <a:ea typeface="微软雅黑" panose="020B0503020204020204" pitchFamily="34" charset="-122"/>
                <a:sym typeface="+mn-ea"/>
              </a:rPr>
              <a:t>能力</a:t>
            </a:r>
            <a:r>
              <a:rPr sz="1200" dirty="0">
                <a:solidFill>
                  <a:schemeClr val="tx1"/>
                </a:solidFill>
                <a:latin typeface="微软雅黑" panose="020B0503020204020204" pitchFamily="34" charset="-122"/>
                <a:ea typeface="微软雅黑" panose="020B0503020204020204" pitchFamily="34" charset="-122"/>
                <a:sym typeface="+mn-ea"/>
              </a:rPr>
              <a:t>。</a:t>
            </a:r>
            <a:endParaRPr sz="1200" dirty="0">
              <a:solidFill>
                <a:schemeClr val="tx1"/>
              </a:solidFill>
              <a:latin typeface="微软雅黑" panose="020B0503020204020204" pitchFamily="34" charset="-122"/>
              <a:ea typeface="微软雅黑" panose="020B0503020204020204" pitchFamily="34" charset="-122"/>
              <a:sym typeface="+mn-ea"/>
            </a:endParaRPr>
          </a:p>
          <a:p>
            <a:pPr marL="171450" indent="-171450">
              <a:lnSpc>
                <a:spcPts val="1800"/>
              </a:lnSpc>
              <a:buClr>
                <a:schemeClr val="accent1"/>
              </a:buClr>
              <a:buFont typeface="Arial" panose="020B0604020202020204" pitchFamily="34" charset="0"/>
              <a:buChar char="•"/>
            </a:pPr>
            <a:r>
              <a:rPr sz="1200" b="1" dirty="0">
                <a:solidFill>
                  <a:schemeClr val="tx1"/>
                </a:solidFill>
                <a:latin typeface="微软雅黑" panose="020B0503020204020204" pitchFamily="34" charset="-122"/>
                <a:ea typeface="微软雅黑" panose="020B0503020204020204" pitchFamily="34" charset="-122"/>
                <a:sym typeface="+mn-ea"/>
              </a:rPr>
              <a:t>1+N统一调度</a:t>
            </a:r>
            <a:r>
              <a:rPr lang="zh-CN" sz="1200" b="1" dirty="0">
                <a:solidFill>
                  <a:schemeClr val="tx1"/>
                </a:solidFill>
                <a:latin typeface="微软雅黑" panose="020B0503020204020204" pitchFamily="34" charset="-122"/>
                <a:ea typeface="微软雅黑" panose="020B0503020204020204" pitchFamily="34" charset="-122"/>
                <a:sym typeface="+mn-ea"/>
              </a:rPr>
              <a:t>：</a:t>
            </a:r>
            <a:r>
              <a:rPr kumimoji="1" lang="zh-CN" altLang="en-US" sz="12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构建</a:t>
            </a:r>
            <a:r>
              <a:rPr kumimoji="1" lang="en-US" altLang="zh-CN" sz="12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1+N APP</a:t>
            </a:r>
            <a:r>
              <a:rPr kumimoji="1" lang="zh-CN" altLang="en-US" sz="12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应用矩阵</a:t>
            </a:r>
            <a:r>
              <a:rPr kumimoji="1" lang="en-US" altLang="zh-CN" sz="12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a:t>
            </a:r>
            <a:r>
              <a:rPr kumimoji="1" lang="zh-CN" altLang="en-US" sz="120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sym typeface="+mn-ea"/>
              </a:rPr>
              <a:t>并</a:t>
            </a:r>
            <a:r>
              <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拉通各渠道投放和用户行为数据</a:t>
            </a:r>
            <a:r>
              <a:rPr kumimoji="1"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a:t>
            </a:r>
            <a:r>
              <a:rPr sz="1200" dirty="0">
                <a:solidFill>
                  <a:schemeClr val="tx1"/>
                </a:solidFill>
                <a:latin typeface="微软雅黑" panose="020B0503020204020204" pitchFamily="34" charset="-122"/>
                <a:ea typeface="微软雅黑" panose="020B0503020204020204" pitchFamily="34" charset="-122"/>
                <a:sym typeface="+mn-ea"/>
              </a:rPr>
              <a:t>投放</a:t>
            </a:r>
            <a:r>
              <a:rPr sz="1200" dirty="0">
                <a:solidFill>
                  <a:schemeClr val="tx1"/>
                </a:solidFill>
                <a:latin typeface="微软雅黑" panose="020B0503020204020204" pitchFamily="34" charset="-122"/>
                <a:ea typeface="微软雅黑" panose="020B0503020204020204" pitchFamily="34" charset="-122"/>
                <a:sym typeface="+mn-ea"/>
              </a:rPr>
              <a:t>精准触达目标客群，最大化投放效果</a:t>
            </a:r>
            <a:r>
              <a:rPr lang="zh-CN" sz="1200" dirty="0">
                <a:solidFill>
                  <a:schemeClr val="tx1"/>
                </a:solidFill>
                <a:latin typeface="微软雅黑" panose="020B0503020204020204" pitchFamily="34" charset="-122"/>
                <a:ea typeface="微软雅黑" panose="020B0503020204020204" pitchFamily="34" charset="-122"/>
                <a:sym typeface="+mn-ea"/>
              </a:rPr>
              <a:t>，</a:t>
            </a:r>
            <a:r>
              <a:rPr sz="1200" dirty="0">
                <a:solidFill>
                  <a:schemeClr val="tx1"/>
                </a:solidFill>
                <a:latin typeface="微软雅黑" panose="020B0503020204020204" pitchFamily="34" charset="-122"/>
                <a:ea typeface="微软雅黑" panose="020B0503020204020204" pitchFamily="34" charset="-122"/>
                <a:sym typeface="+mn-ea"/>
              </a:rPr>
              <a:t>提升运营效率</a:t>
            </a:r>
            <a:r>
              <a:rPr sz="1200" dirty="0">
                <a:solidFill>
                  <a:schemeClr val="tx1"/>
                </a:solidFill>
                <a:latin typeface="微软雅黑" panose="020B0503020204020204" pitchFamily="34" charset="-122"/>
                <a:ea typeface="微软雅黑" panose="020B0503020204020204" pitchFamily="34" charset="-122"/>
                <a:sym typeface="+mn-ea"/>
              </a:rPr>
              <a:t>。</a:t>
            </a:r>
            <a:endParaRPr sz="1200" dirty="0">
              <a:solidFill>
                <a:schemeClr val="tx1"/>
              </a:solidFill>
              <a:latin typeface="微软雅黑" panose="020B0503020204020204" pitchFamily="34" charset="-122"/>
              <a:ea typeface="微软雅黑" panose="020B0503020204020204" pitchFamily="34" charset="-122"/>
              <a:sym typeface="+mn-ea"/>
            </a:endParaRPr>
          </a:p>
          <a:p>
            <a:pPr marL="171450" indent="-171450">
              <a:lnSpc>
                <a:spcPts val="1800"/>
              </a:lnSpc>
              <a:buClr>
                <a:schemeClr val="accent1"/>
              </a:buClr>
              <a:buFont typeface="Arial" panose="020B0604020202020204" pitchFamily="34" charset="0"/>
              <a:buChar char="•"/>
            </a:pPr>
            <a:r>
              <a:rPr sz="1200" b="1" dirty="0">
                <a:solidFill>
                  <a:schemeClr val="tx1"/>
                </a:solidFill>
                <a:latin typeface="微软雅黑" panose="020B0503020204020204" pitchFamily="34" charset="-122"/>
                <a:ea typeface="微软雅黑" panose="020B0503020204020204" pitchFamily="34" charset="-122"/>
                <a:sym typeface="+mn-ea"/>
              </a:rPr>
              <a:t>实时投放</a:t>
            </a:r>
            <a:r>
              <a:rPr lang="zh-CN" sz="1200" b="1" dirty="0">
                <a:solidFill>
                  <a:schemeClr val="tx1"/>
                </a:solidFill>
                <a:latin typeface="微软雅黑" panose="020B0503020204020204" pitchFamily="34" charset="-122"/>
                <a:ea typeface="微软雅黑" panose="020B0503020204020204" pitchFamily="34" charset="-122"/>
                <a:sym typeface="+mn-ea"/>
              </a:rPr>
              <a:t>能力</a:t>
            </a:r>
            <a:r>
              <a:rPr sz="1200" b="1" dirty="0">
                <a:solidFill>
                  <a:schemeClr val="tx1"/>
                </a:solidFill>
                <a:latin typeface="微软雅黑" panose="020B0503020204020204" pitchFamily="34" charset="-122"/>
                <a:ea typeface="微软雅黑" panose="020B0503020204020204" pitchFamily="34" charset="-122"/>
                <a:sym typeface="+mn-ea"/>
              </a:rPr>
              <a:t>升级</a:t>
            </a:r>
            <a:r>
              <a:rPr lang="zh-CN" sz="1200" b="1" dirty="0">
                <a:solidFill>
                  <a:schemeClr val="tx1"/>
                </a:solidFill>
                <a:latin typeface="微软雅黑" panose="020B0503020204020204" pitchFamily="34" charset="-122"/>
                <a:ea typeface="微软雅黑" panose="020B0503020204020204" pitchFamily="34" charset="-122"/>
                <a:sym typeface="+mn-ea"/>
              </a:rPr>
              <a:t>：</a:t>
            </a:r>
            <a:r>
              <a:rPr sz="1200" dirty="0">
                <a:solidFill>
                  <a:schemeClr val="tx1"/>
                </a:solidFill>
                <a:latin typeface="微软雅黑" panose="020B0503020204020204" pitchFamily="34" charset="-122"/>
                <a:ea typeface="微软雅黑" panose="020B0503020204020204" pitchFamily="34" charset="-122"/>
                <a:sym typeface="+mn-ea"/>
              </a:rPr>
              <a:t>快速捕捉并分析用户行为数据，预测潜在需求，提供个性化推荐，提升转化率，注入业务增长新活力。</a:t>
            </a:r>
            <a:endParaRPr sz="1200" dirty="0">
              <a:solidFill>
                <a:schemeClr val="tx1"/>
              </a:solidFill>
              <a:latin typeface="微软雅黑" panose="020B0503020204020204" pitchFamily="34" charset="-122"/>
              <a:ea typeface="微软雅黑" panose="020B0503020204020204" pitchFamily="34" charset="-122"/>
              <a:sym typeface="+mn-ea"/>
            </a:endParaRPr>
          </a:p>
          <a:p>
            <a:pPr marL="171450" indent="-171450">
              <a:lnSpc>
                <a:spcPts val="1800"/>
              </a:lnSpc>
              <a:buClr>
                <a:schemeClr val="accent1"/>
              </a:buClr>
              <a:buFont typeface="Arial" panose="020B0604020202020204" pitchFamily="34" charset="0"/>
              <a:buChar char="•"/>
            </a:pPr>
            <a:r>
              <a:rPr lang="zh-CN" sz="1200" b="1" dirty="0">
                <a:solidFill>
                  <a:schemeClr val="tx1"/>
                </a:solidFill>
                <a:latin typeface="微软雅黑" panose="020B0503020204020204" pitchFamily="34" charset="-122"/>
                <a:ea typeface="微软雅黑" panose="020B0503020204020204" pitchFamily="34" charset="-122"/>
                <a:sym typeface="+mn-ea"/>
              </a:rPr>
              <a:t>投放效能及监测能力：</a:t>
            </a:r>
            <a:r>
              <a:rPr lang="zh-CN" sz="1200" dirty="0">
                <a:solidFill>
                  <a:schemeClr val="tx1"/>
                </a:solidFill>
                <a:latin typeface="微软雅黑" panose="020B0503020204020204" pitchFamily="34" charset="-122"/>
                <a:ea typeface="微软雅黑" panose="020B0503020204020204" pitchFamily="34" charset="-122"/>
                <a:sym typeface="+mn-ea"/>
              </a:rPr>
              <a:t>汇聚</a:t>
            </a:r>
            <a:r>
              <a:rPr sz="1200" dirty="0">
                <a:solidFill>
                  <a:schemeClr val="tx1"/>
                </a:solidFill>
                <a:latin typeface="微软雅黑" panose="020B0503020204020204" pitchFamily="34" charset="-122"/>
                <a:ea typeface="微软雅黑" panose="020B0503020204020204" pitchFamily="34" charset="-122"/>
                <a:sym typeface="+mn-ea"/>
              </a:rPr>
              <a:t>省专</a:t>
            </a:r>
            <a:r>
              <a:rPr lang="zh-CN" sz="1200" dirty="0">
                <a:solidFill>
                  <a:schemeClr val="tx1"/>
                </a:solidFill>
                <a:latin typeface="微软雅黑" panose="020B0503020204020204" pitchFamily="34" charset="-122"/>
                <a:ea typeface="微软雅黑" panose="020B0503020204020204" pitchFamily="34" charset="-122"/>
                <a:sym typeface="+mn-ea"/>
              </a:rPr>
              <a:t>公司</a:t>
            </a:r>
            <a:r>
              <a:rPr sz="1200" dirty="0">
                <a:solidFill>
                  <a:schemeClr val="tx1"/>
                </a:solidFill>
                <a:latin typeface="微软雅黑" panose="020B0503020204020204" pitchFamily="34" charset="-122"/>
                <a:ea typeface="微软雅黑" panose="020B0503020204020204" pitchFamily="34" charset="-122"/>
                <a:sym typeface="+mn-ea"/>
              </a:rPr>
              <a:t>投放</a:t>
            </a:r>
            <a:r>
              <a:rPr sz="1200" dirty="0">
                <a:solidFill>
                  <a:schemeClr val="tx1"/>
                </a:solidFill>
                <a:latin typeface="微软雅黑" panose="020B0503020204020204" pitchFamily="34" charset="-122"/>
                <a:ea typeface="微软雅黑" panose="020B0503020204020204" pitchFamily="34" charset="-122"/>
                <a:sym typeface="+mn-ea"/>
              </a:rPr>
              <a:t>数据</a:t>
            </a:r>
            <a:r>
              <a:rPr lang="zh-CN" sz="1200" dirty="0">
                <a:solidFill>
                  <a:schemeClr val="tx1"/>
                </a:solidFill>
                <a:latin typeface="微软雅黑" panose="020B0503020204020204" pitchFamily="34" charset="-122"/>
                <a:ea typeface="微软雅黑" panose="020B0503020204020204" pitchFamily="34" charset="-122"/>
                <a:sym typeface="+mn-ea"/>
              </a:rPr>
              <a:t>与</a:t>
            </a:r>
            <a:r>
              <a:rPr sz="1200" dirty="0">
                <a:solidFill>
                  <a:schemeClr val="tx1"/>
                </a:solidFill>
                <a:latin typeface="微软雅黑" panose="020B0503020204020204" pitchFamily="34" charset="-122"/>
                <a:ea typeface="微软雅黑" panose="020B0503020204020204" pitchFamily="34" charset="-122"/>
                <a:sym typeface="+mn-ea"/>
              </a:rPr>
              <a:t>整合，</a:t>
            </a:r>
            <a:r>
              <a:rPr lang="zh-CN" sz="1200" dirty="0">
                <a:solidFill>
                  <a:schemeClr val="tx1"/>
                </a:solidFill>
                <a:latin typeface="微软雅黑" panose="020B0503020204020204" pitchFamily="34" charset="-122"/>
                <a:ea typeface="微软雅黑" panose="020B0503020204020204" pitchFamily="34" charset="-122"/>
                <a:sym typeface="+mn-ea"/>
              </a:rPr>
              <a:t>实现渠道投放全局</a:t>
            </a:r>
            <a:r>
              <a:rPr sz="1200" dirty="0">
                <a:solidFill>
                  <a:schemeClr val="tx1"/>
                </a:solidFill>
                <a:latin typeface="微软雅黑" panose="020B0503020204020204" pitchFamily="34" charset="-122"/>
                <a:ea typeface="微软雅黑" panose="020B0503020204020204" pitchFamily="34" charset="-122"/>
                <a:sym typeface="+mn-ea"/>
              </a:rPr>
              <a:t>实时监测与分析，洞察市场动态，提供决策支持，制定业务统筹机制，进行业务量预估及预警。</a:t>
            </a:r>
            <a:endParaRPr sz="1200" dirty="0">
              <a:solidFill>
                <a:schemeClr val="tx1"/>
              </a:solidFill>
              <a:latin typeface="微软雅黑" panose="020B0503020204020204" pitchFamily="34" charset="-122"/>
              <a:ea typeface="微软雅黑" panose="020B0503020204020204" pitchFamily="34" charset="-122"/>
              <a:sym typeface="+mn-ea"/>
            </a:endParaRPr>
          </a:p>
        </p:txBody>
      </p:sp>
      <p:sp>
        <p:nvSpPr>
          <p:cNvPr id="10" name="矩形 9"/>
          <p:cNvSpPr/>
          <p:nvPr/>
        </p:nvSpPr>
        <p:spPr>
          <a:xfrm>
            <a:off x="9561195" y="1551940"/>
            <a:ext cx="2265680" cy="2070735"/>
          </a:xfrm>
          <a:prstGeom prst="rect">
            <a:avLst/>
          </a:prstGeom>
          <a:solidFill>
            <a:schemeClr val="bg1"/>
          </a:solidFill>
          <a:ln w="12700" cap="flat" cmpd="sng">
            <a:solidFill>
              <a:schemeClr val="bg1">
                <a:lumMod val="85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pPr marL="228600" indent="-228600">
              <a:lnSpc>
                <a:spcPct val="150000"/>
              </a:lnSpc>
              <a:buClr>
                <a:schemeClr val="accent1"/>
              </a:buClr>
              <a:buFont typeface="Wingdings" panose="05000000000000000000" pitchFamily="2" charset="2"/>
              <a:buChar char="ü"/>
            </a:pPr>
            <a:r>
              <a:rPr lang="zh-CN" altLang="en-US" sz="1200" noProof="0" dirty="0">
                <a:solidFill>
                  <a:schemeClr val="tx1"/>
                </a:solidFill>
                <a:latin typeface="+mn-ea"/>
                <a:sym typeface="+mn-ea"/>
              </a:rPr>
              <a:t>重点</a:t>
            </a:r>
            <a:r>
              <a:rPr lang="en-US" altLang="zh-CN" sz="1200" noProof="0" dirty="0">
                <a:solidFill>
                  <a:schemeClr val="tx1"/>
                </a:solidFill>
                <a:latin typeface="+mn-ea"/>
                <a:sym typeface="+mn-ea"/>
              </a:rPr>
              <a:t>APP</a:t>
            </a:r>
            <a:r>
              <a:rPr lang="zh-CN" altLang="en-US" sz="1200" noProof="0" dirty="0">
                <a:solidFill>
                  <a:schemeClr val="tx1"/>
                </a:solidFill>
                <a:latin typeface="+mn-ea"/>
                <a:sym typeface="+mn-ea"/>
              </a:rPr>
              <a:t>渗透率提升</a:t>
            </a:r>
            <a:r>
              <a:rPr lang="zh-CN" altLang="en-US" sz="1200" dirty="0">
                <a:solidFill>
                  <a:schemeClr val="tx1"/>
                </a:solidFill>
                <a:latin typeface="+mn-ea"/>
                <a:cs typeface="Arial" panose="020B0604020202020204" pitchFamily="34" charset="0"/>
                <a:sym typeface="+mn-ea"/>
              </a:rPr>
              <a:t>≥</a:t>
            </a:r>
            <a:r>
              <a:rPr lang="en-US" altLang="zh-CN" sz="1200" dirty="0">
                <a:solidFill>
                  <a:schemeClr val="tx1"/>
                </a:solidFill>
                <a:latin typeface="+mn-ea"/>
                <a:cs typeface="Arial" panose="020B0604020202020204" pitchFamily="34" charset="0"/>
                <a:sym typeface="+mn-ea"/>
              </a:rPr>
              <a:t>10%</a:t>
            </a:r>
            <a:endParaRPr kumimoji="1" lang="zh-CN" altLang="en-US" sz="1200" i="0" u="none" strike="noStrike" kern="0" cap="none" spc="0" normalizeH="0" baseline="0" noProof="0" dirty="0">
              <a:ln>
                <a:noFill/>
              </a:ln>
              <a:solidFill>
                <a:schemeClr val="tx1"/>
              </a:solidFill>
              <a:effectLst/>
              <a:uLnTx/>
              <a:uFillTx/>
              <a:latin typeface="+mn-ea"/>
            </a:endParaRPr>
          </a:p>
          <a:p>
            <a:pPr marL="228600" indent="-228600">
              <a:lnSpc>
                <a:spcPct val="150000"/>
              </a:lnSpc>
              <a:buClr>
                <a:schemeClr val="accent1"/>
              </a:buClr>
              <a:buFont typeface="Wingdings" panose="05000000000000000000" pitchFamily="2" charset="2"/>
              <a:buChar char="ü"/>
            </a:pPr>
            <a:r>
              <a:rPr lang="zh-CN" altLang="en-US" sz="1200" noProof="0" dirty="0">
                <a:solidFill>
                  <a:schemeClr val="tx1"/>
                </a:solidFill>
                <a:latin typeface="+mn-ea"/>
                <a:sym typeface="+mn-ea"/>
              </a:rPr>
              <a:t>中国移动</a:t>
            </a:r>
            <a:r>
              <a:rPr lang="en-US" altLang="zh-CN" sz="1200" noProof="0" dirty="0">
                <a:solidFill>
                  <a:schemeClr val="tx1"/>
                </a:solidFill>
                <a:latin typeface="+mn-ea"/>
                <a:sym typeface="+mn-ea"/>
              </a:rPr>
              <a:t>APP</a:t>
            </a:r>
            <a:r>
              <a:rPr lang="zh-CN" altLang="en-US" sz="1200" noProof="0" dirty="0">
                <a:solidFill>
                  <a:schemeClr val="tx1"/>
                </a:solidFill>
                <a:latin typeface="+mn-ea"/>
                <a:sym typeface="+mn-ea"/>
              </a:rPr>
              <a:t>月活</a:t>
            </a:r>
            <a:r>
              <a:rPr lang="zh-CN" altLang="en-US" sz="1200" dirty="0">
                <a:solidFill>
                  <a:schemeClr val="tx1"/>
                </a:solidFill>
                <a:latin typeface="+mn-ea"/>
                <a:cs typeface="Arial" panose="020B0604020202020204" pitchFamily="34" charset="0"/>
                <a:sym typeface="+mn-ea"/>
              </a:rPr>
              <a:t>≥</a:t>
            </a:r>
            <a:r>
              <a:rPr lang="en-US" altLang="zh-CN" sz="1200" dirty="0">
                <a:solidFill>
                  <a:schemeClr val="tx1"/>
                </a:solidFill>
                <a:latin typeface="+mn-ea"/>
                <a:cs typeface="Arial" panose="020B0604020202020204" pitchFamily="34" charset="0"/>
                <a:sym typeface="+mn-ea"/>
              </a:rPr>
              <a:t>4.0</a:t>
            </a:r>
            <a:r>
              <a:rPr lang="zh-CN" altLang="en-US" sz="1200" dirty="0">
                <a:solidFill>
                  <a:schemeClr val="tx1"/>
                </a:solidFill>
                <a:latin typeface="+mn-ea"/>
                <a:cs typeface="Arial" panose="020B0604020202020204" pitchFamily="34" charset="0"/>
                <a:sym typeface="+mn-ea"/>
              </a:rPr>
              <a:t>亿</a:t>
            </a:r>
            <a:endParaRPr lang="zh-CN" altLang="en-US" sz="1200" dirty="0">
              <a:solidFill>
                <a:schemeClr val="tx1"/>
              </a:solidFill>
              <a:latin typeface="+mn-ea"/>
              <a:cs typeface="Arial" panose="020B0604020202020204" pitchFamily="34" charset="0"/>
              <a:sym typeface="+mn-ea"/>
            </a:endParaRPr>
          </a:p>
          <a:p>
            <a:pPr marL="228600" indent="-228600">
              <a:lnSpc>
                <a:spcPct val="150000"/>
              </a:lnSpc>
              <a:buClr>
                <a:schemeClr val="accent1"/>
              </a:buClr>
              <a:buFont typeface="Wingdings" panose="05000000000000000000" pitchFamily="2" charset="2"/>
              <a:buChar char="ü"/>
            </a:pPr>
            <a:r>
              <a:rPr lang="zh-CN" altLang="en-US" sz="1200" dirty="0">
                <a:solidFill>
                  <a:schemeClr val="tx1"/>
                </a:solidFill>
                <a:latin typeface="微软雅黑" panose="020B0503020204020204" pitchFamily="34" charset="-122"/>
                <a:ea typeface="微软雅黑" panose="020B0503020204020204" pitchFamily="34" charset="-122"/>
                <a:sym typeface="+mn-ea"/>
              </a:rPr>
              <a:t>完成</a:t>
            </a:r>
            <a:r>
              <a:rPr lang="en-US" altLang="zh-CN" sz="1200" dirty="0">
                <a:solidFill>
                  <a:schemeClr val="tx1"/>
                </a:solidFill>
                <a:latin typeface="微软雅黑" panose="020B0503020204020204" pitchFamily="34" charset="-122"/>
                <a:ea typeface="微软雅黑" panose="020B0503020204020204" pitchFamily="34" charset="-122"/>
                <a:sym typeface="+mn-ea"/>
              </a:rPr>
              <a:t>20+</a:t>
            </a:r>
            <a:r>
              <a:rPr lang="zh-CN" altLang="en-US" sz="1200" dirty="0">
                <a:solidFill>
                  <a:schemeClr val="tx1"/>
                </a:solidFill>
                <a:latin typeface="微软雅黑" panose="020B0503020204020204" pitchFamily="34" charset="-122"/>
                <a:ea typeface="微软雅黑" panose="020B0503020204020204" pitchFamily="34" charset="-122"/>
                <a:sym typeface="+mn-ea"/>
              </a:rPr>
              <a:t>省分优秀投放案例</a:t>
            </a:r>
            <a:r>
              <a:rPr lang="zh-CN" altLang="en-US" sz="1200" dirty="0">
                <a:solidFill>
                  <a:schemeClr val="tx1"/>
                </a:solidFill>
                <a:latin typeface="微软雅黑" panose="020B0503020204020204" pitchFamily="34" charset="-122"/>
                <a:ea typeface="微软雅黑" panose="020B0503020204020204" pitchFamily="34" charset="-122"/>
                <a:sym typeface="+mn-ea"/>
              </a:rPr>
              <a:t>推荐</a:t>
            </a:r>
            <a:endParaRPr kumimoji="1" lang="zh-CN" altLang="en-US" sz="1200" i="0" u="none" strike="noStrike" kern="0" cap="none" spc="0" normalizeH="0" baseline="0" noProof="0" dirty="0">
              <a:ln>
                <a:noFill/>
              </a:ln>
              <a:solidFill>
                <a:schemeClr val="tx1"/>
              </a:solidFill>
              <a:effectLst/>
              <a:uLnTx/>
              <a:uFillTx/>
              <a:latin typeface="+mn-ea"/>
            </a:endParaRPr>
          </a:p>
        </p:txBody>
      </p:sp>
      <p:sp>
        <p:nvSpPr>
          <p:cNvPr id="2" name="标题 1"/>
          <p:cNvSpPr>
            <a:spLocks noGrp="1"/>
          </p:cNvSpPr>
          <p:nvPr>
            <p:ph type="title"/>
          </p:nvPr>
        </p:nvSpPr>
        <p:spPr/>
        <p:txBody>
          <a:bodyPr>
            <a:normAutofit/>
          </a:bodyPr>
          <a:lstStyle/>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施工图|</a:t>
            </a:r>
            <a:r>
              <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rPr>
              <a:t>全触点智能联动交互</a:t>
            </a:r>
            <a:endParaRPr lang="zh-CN" altLang="en-US">
              <a:sym typeface="+mn-ea"/>
            </a:endParaRPr>
          </a:p>
        </p:txBody>
      </p:sp>
      <p:sp>
        <p:nvSpPr>
          <p:cNvPr id="3" name="文本占位符 2"/>
          <p:cNvSpPr>
            <a:spLocks noGrp="1"/>
          </p:cNvSpPr>
          <p:nvPr>
            <p:ph type="body" sz="quarter" idx="10"/>
          </p:nvPr>
        </p:nvSpPr>
        <p:spPr>
          <a:xfrm>
            <a:off x="0" y="898525"/>
            <a:ext cx="12178665" cy="349250"/>
          </a:xfrm>
        </p:spPr>
        <p:txBody>
          <a:bodyPr/>
          <a:lstStyle/>
          <a:p>
            <a:r>
              <a:rPr lang="zh-CN" altLang="en-US"/>
              <a:t>聚焦于渠道营销方面痛点</a:t>
            </a:r>
            <a:r>
              <a:rPr lang="en-US" altLang="zh-CN"/>
              <a:t>，</a:t>
            </a:r>
            <a:r>
              <a:t>打造智能触客体系，实现智能</a:t>
            </a:r>
            <a:r>
              <a:rPr lang="en-US" altLang="zh-CN"/>
              <a:t>投放</a:t>
            </a:r>
            <a:r>
              <a:rPr lang="en-US" altLang="zh-CN"/>
              <a:t>管理</a:t>
            </a:r>
            <a:r>
              <a:t>、统一调度及监测能力</a:t>
            </a:r>
            <a:r>
              <a:t>升级，</a:t>
            </a:r>
            <a:r>
              <a:rPr lang="zh-CN" altLang="en-US"/>
              <a:t>全方位呈现转型路径。</a:t>
            </a:r>
            <a:endParaRPr lang="zh-CN" altLang="en-US"/>
          </a:p>
        </p:txBody>
      </p:sp>
      <p:sp>
        <p:nvSpPr>
          <p:cNvPr id="5" name="矩形 4"/>
          <p:cNvSpPr/>
          <p:nvPr/>
        </p:nvSpPr>
        <p:spPr>
          <a:xfrm>
            <a:off x="365124" y="1231689"/>
            <a:ext cx="1753870" cy="337820"/>
          </a:xfrm>
          <a:prstGeom prst="rect">
            <a:avLst/>
          </a:prstGeom>
          <a:solidFill>
            <a:srgbClr val="DFF2FF"/>
          </a:solidFill>
          <a:ln>
            <a:solidFill>
              <a:srgbClr val="DFF2FF"/>
            </a:solidFill>
          </a:ln>
        </p:spPr>
        <p:txBody>
          <a:bodyPr wrap="square" anchor="ctr"/>
          <a:lstStyle/>
          <a:p>
            <a:pPr marL="0" lvl="0" indent="0" algn="ctr" defTabSz="913765">
              <a:lnSpc>
                <a:spcPct val="120000"/>
              </a:lnSpc>
              <a:spcBef>
                <a:spcPts val="0"/>
              </a:spcBef>
              <a:spcAft>
                <a:spcPts val="0"/>
              </a:spcAft>
              <a:buClr>
                <a:srgbClr val="C00000"/>
              </a:buClr>
              <a:buSzTx/>
              <a:buFontTx/>
              <a:buNone/>
            </a:pPr>
            <a:r>
              <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rPr>
              <a:t>痛点</a:t>
            </a:r>
            <a:endPar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endParaRPr>
          </a:p>
        </p:txBody>
      </p:sp>
      <p:sp>
        <p:nvSpPr>
          <p:cNvPr id="7" name="矩形 6"/>
          <p:cNvSpPr/>
          <p:nvPr/>
        </p:nvSpPr>
        <p:spPr>
          <a:xfrm>
            <a:off x="2519044" y="1227879"/>
            <a:ext cx="6624000" cy="33591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举措要点</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9" name="矩形 8"/>
          <p:cNvSpPr/>
          <p:nvPr/>
        </p:nvSpPr>
        <p:spPr>
          <a:xfrm>
            <a:off x="9561195" y="1214755"/>
            <a:ext cx="2265680" cy="35115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en-US" altLang="zh-CN" sz="1400" b="1" dirty="0">
                <a:solidFill>
                  <a:schemeClr val="accent1"/>
                </a:solidFill>
                <a:latin typeface="微软雅黑" panose="020B0503020204020204" pitchFamily="34" charset="-122"/>
                <a:ea typeface="微软雅黑" panose="020B0503020204020204" pitchFamily="34" charset="-122"/>
              </a:rPr>
              <a:t>2025</a:t>
            </a:r>
            <a:r>
              <a:rPr lang="zh-CN" altLang="en-US" sz="1400" b="1" dirty="0">
                <a:solidFill>
                  <a:schemeClr val="accent1"/>
                </a:solidFill>
                <a:latin typeface="微软雅黑" panose="020B0503020204020204" pitchFamily="34" charset="-122"/>
                <a:ea typeface="微软雅黑" panose="020B0503020204020204" pitchFamily="34" charset="-122"/>
              </a:rPr>
              <a:t>年重点指标</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365125" y="3693795"/>
            <a:ext cx="11461750" cy="1149985"/>
            <a:chOff x="575" y="6179"/>
            <a:chExt cx="18050" cy="1571"/>
          </a:xfrm>
        </p:grpSpPr>
        <p:sp>
          <p:nvSpPr>
            <p:cNvPr id="20" name="矩形 19"/>
            <p:cNvSpPr/>
            <p:nvPr/>
          </p:nvSpPr>
          <p:spPr>
            <a:xfrm>
              <a:off x="1579" y="6179"/>
              <a:ext cx="17046" cy="153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530" indent="-140335" fontAlgn="base">
                <a:lnSpc>
                  <a:spcPct val="150000"/>
                </a:lnSpc>
                <a:spcBef>
                  <a:spcPct val="0"/>
                </a:spcBef>
                <a:spcAft>
                  <a:spcPct val="0"/>
                </a:spcAft>
                <a:buClr>
                  <a:schemeClr val="accent1"/>
                </a:buClr>
                <a:buFont typeface="Arial" panose="020B0604020202020204" pitchFamily="34" charset="0"/>
                <a:buChar char="•"/>
              </a:pPr>
              <a:r>
                <a:rPr sz="1200" b="1" dirty="0">
                  <a:solidFill>
                    <a:prstClr val="black"/>
                  </a:solidFill>
                  <a:latin typeface="微软雅黑" panose="020B0503020204020204" pitchFamily="34" charset="-122"/>
                  <a:ea typeface="微软雅黑" panose="020B0503020204020204" pitchFamily="34" charset="-122"/>
                </a:rPr>
                <a:t> 总部：</a:t>
              </a:r>
              <a:r>
                <a:rPr sz="1200" dirty="0">
                  <a:solidFill>
                    <a:prstClr val="black"/>
                  </a:solidFill>
                  <a:latin typeface="微软雅黑" panose="020B0503020204020204" pitchFamily="34" charset="-122"/>
                  <a:ea typeface="微软雅黑" panose="020B0503020204020204" pitchFamily="34" charset="-122"/>
                </a:rPr>
                <a:t>①负责定期对各省份及地市公司宣贯数智化转型成效进行检查与评估；②集中管理触点投放，轨迹数据汇聚、统一排期调度、触点续航，以及打造1+N应用矩阵，推动保活联盟建设，规范App消息服务全网服务提醒的接入。</a:t>
              </a:r>
              <a:endParaRPr sz="12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sz="1200" b="1" dirty="0">
                  <a:solidFill>
                    <a:prstClr val="black"/>
                  </a:solidFill>
                  <a:latin typeface="微软雅黑" panose="020B0503020204020204" pitchFamily="34" charset="-122"/>
                  <a:ea typeface="微软雅黑" panose="020B0503020204020204" pitchFamily="34" charset="-122"/>
                </a:rPr>
                <a:t>省专分公司：</a:t>
              </a:r>
              <a:r>
                <a:rPr sz="1200" dirty="0">
                  <a:solidFill>
                    <a:prstClr val="black"/>
                  </a:solidFill>
                  <a:latin typeface="微软雅黑" panose="020B0503020204020204" pitchFamily="34" charset="-122"/>
                  <a:ea typeface="微软雅黑" panose="020B0503020204020204" pitchFamily="34" charset="-122"/>
                </a:rPr>
                <a:t>①省专需配合精准投放落地，支撑总部触点投放数据归集统一；②省专配合渠道拓展、发展线下、异业渠道对接；</a:t>
              </a:r>
              <a:endParaRPr sz="12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sz="1200" b="1" dirty="0">
                  <a:solidFill>
                    <a:prstClr val="black"/>
                  </a:solidFill>
                  <a:latin typeface="微软雅黑" panose="020B0503020204020204" pitchFamily="34" charset="-122"/>
                  <a:ea typeface="微软雅黑" panose="020B0503020204020204" pitchFamily="34" charset="-122"/>
                </a:rPr>
                <a:t>地市：</a:t>
              </a:r>
              <a:r>
                <a:rPr sz="1200" dirty="0">
                  <a:solidFill>
                    <a:prstClr val="black"/>
                  </a:solidFill>
                  <a:latin typeface="微软雅黑" panose="020B0503020204020204" pitchFamily="34" charset="-122"/>
                  <a:ea typeface="微软雅黑" panose="020B0503020204020204" pitchFamily="34" charset="-122"/>
                </a:rPr>
                <a:t>严格执行省公司制定的渠道数智化转型实施方案，落实各项工作任务</a:t>
              </a:r>
              <a:endParaRPr sz="1200" dirty="0">
                <a:solidFill>
                  <a:prstClr val="black"/>
                </a:solidFill>
                <a:latin typeface="微软雅黑" panose="020B0503020204020204" pitchFamily="34" charset="-122"/>
                <a:ea typeface="微软雅黑" panose="020B0503020204020204" pitchFamily="34" charset="-122"/>
              </a:endParaRPr>
            </a:p>
          </p:txBody>
        </p:sp>
        <p:sp>
          <p:nvSpPr>
            <p:cNvPr id="19" name="矩形 18"/>
            <p:cNvSpPr/>
            <p:nvPr/>
          </p:nvSpPr>
          <p:spPr>
            <a:xfrm>
              <a:off x="575" y="6179"/>
              <a:ext cx="1008" cy="1571"/>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职责分工</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grpSp>
      <p:sp>
        <p:nvSpPr>
          <p:cNvPr id="24" name="Freeform 22"/>
          <p:cNvSpPr/>
          <p:nvPr/>
        </p:nvSpPr>
        <p:spPr bwMode="auto">
          <a:xfrm rot="16200000" flipV="1">
            <a:off x="1143635" y="2132965"/>
            <a:ext cx="2362200" cy="448310"/>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5" name="Freeform 22"/>
          <p:cNvSpPr/>
          <p:nvPr/>
        </p:nvSpPr>
        <p:spPr bwMode="auto">
          <a:xfrm rot="16200000" flipV="1">
            <a:off x="8126730" y="2192020"/>
            <a:ext cx="2480310" cy="448310"/>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3" name="组合 12"/>
          <p:cNvGrpSpPr/>
          <p:nvPr/>
        </p:nvGrpSpPr>
        <p:grpSpPr>
          <a:xfrm>
            <a:off x="358140" y="4806315"/>
            <a:ext cx="11468100" cy="1885870"/>
            <a:chOff x="564" y="7274"/>
            <a:chExt cx="18060" cy="3395"/>
          </a:xfrm>
        </p:grpSpPr>
        <p:sp>
          <p:nvSpPr>
            <p:cNvPr id="31" name="矩形 30"/>
            <p:cNvSpPr/>
            <p:nvPr/>
          </p:nvSpPr>
          <p:spPr>
            <a:xfrm>
              <a:off x="1579" y="7430"/>
              <a:ext cx="17045" cy="3207"/>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195" fontAlgn="base">
                <a:lnSpc>
                  <a:spcPct val="150000"/>
                </a:lnSpc>
                <a:spcBef>
                  <a:spcPct val="0"/>
                </a:spcBef>
                <a:spcAft>
                  <a:spcPct val="0"/>
                </a:spcAft>
                <a:buClr>
                  <a:schemeClr val="accent1"/>
                </a:buClr>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15" name="箭头: 右 40"/>
            <p:cNvSpPr/>
            <p:nvPr/>
          </p:nvSpPr>
          <p:spPr>
            <a:xfrm>
              <a:off x="1534" y="7274"/>
              <a:ext cx="17090" cy="820"/>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9023" y="7488"/>
              <a:ext cx="2131" cy="496"/>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14732" y="7488"/>
              <a:ext cx="2131" cy="496"/>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矩形 17"/>
            <p:cNvSpPr/>
            <p:nvPr/>
          </p:nvSpPr>
          <p:spPr>
            <a:xfrm>
              <a:off x="564" y="7430"/>
              <a:ext cx="1015" cy="3239"/>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里</a:t>
              </a:r>
              <a:endParaRPr lang="zh-CN" altLang="en-US" sz="1400" b="1" dirty="0">
                <a:solidFill>
                  <a:schemeClr val="accent1"/>
                </a:solidFill>
                <a:latin typeface="微软雅黑" panose="020B0503020204020204" pitchFamily="34" charset="-122"/>
                <a:ea typeface="微软雅黑" panose="020B0503020204020204" pitchFamily="34" charset="-122"/>
              </a:endParaRPr>
            </a:p>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程</a:t>
              </a:r>
              <a:endParaRPr lang="zh-CN" altLang="en-US" sz="1400" b="1" dirty="0">
                <a:solidFill>
                  <a:schemeClr val="accent1"/>
                </a:solidFill>
                <a:latin typeface="微软雅黑" panose="020B0503020204020204" pitchFamily="34" charset="-122"/>
                <a:ea typeface="微软雅黑" panose="020B0503020204020204" pitchFamily="34" charset="-122"/>
              </a:endParaRPr>
            </a:p>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碑</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634" y="7489"/>
              <a:ext cx="2131" cy="496"/>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2" name="文本框 61"/>
            <p:cNvSpPr txBox="1"/>
            <p:nvPr>
              <p:custDataLst>
                <p:tags r:id="rId1"/>
              </p:custDataLst>
            </p:nvPr>
          </p:nvSpPr>
          <p:spPr>
            <a:xfrm>
              <a:off x="1720" y="7982"/>
              <a:ext cx="5181" cy="2259"/>
            </a:xfrm>
            <a:prstGeom prst="rect">
              <a:avLst/>
            </a:prstGeom>
            <a:noFill/>
          </p:spPr>
          <p:txBody>
            <a:bodyPr wrap="square" rtlCol="0" anchor="t">
              <a:noAutofit/>
            </a:bodyPr>
            <a:lstStyle/>
            <a:p>
              <a:pPr marL="171450" indent="-171450" algn="l" fontAlgn="auto">
                <a:lnSpc>
                  <a:spcPts val="1800"/>
                </a:lnSpc>
                <a:buFont typeface="Arial" panose="020B0604020202020204" pitchFamily="34" charset="0"/>
                <a:buChar char="•"/>
              </a:pPr>
              <a:r>
                <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拉通渠道投放投放</a:t>
              </a:r>
              <a:r>
                <a:rPr kumimoji="1"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a:t>
              </a:r>
              <a:r>
                <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用户行为</a:t>
              </a:r>
              <a:r>
                <a:rPr kumimoji="1"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a:t>
              </a:r>
              <a:r>
                <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转化</a:t>
              </a:r>
              <a:r>
                <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效果数据</a:t>
              </a:r>
              <a:r>
                <a:rPr kumimoji="1" lang="en-US" altLang="zh-CN" sz="120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a:t>
              </a:r>
              <a:endParaRPr kumimoji="1"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171450" indent="-171450" algn="l" fontAlgn="auto">
                <a:lnSpc>
                  <a:spcPts val="1800"/>
                </a:lnSpc>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投放策划升级，支持客群智能匹配</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提升投放精准度</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gn="l" fontAlgn="auto">
                <a:lnSpc>
                  <a:spcPts val="1800"/>
                </a:lnSpc>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实时投放升级</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实时捕捉用户行为数据</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快速判断用户意图</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支持精准推荐</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1"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9" name="文本框 88"/>
            <p:cNvSpPr txBox="1"/>
            <p:nvPr>
              <p:custDataLst>
                <p:tags r:id="rId2"/>
              </p:custDataLst>
            </p:nvPr>
          </p:nvSpPr>
          <p:spPr>
            <a:xfrm>
              <a:off x="7164" y="7952"/>
              <a:ext cx="6840" cy="2550"/>
            </a:xfrm>
            <a:prstGeom prst="rect">
              <a:avLst/>
            </a:prstGeom>
            <a:noFill/>
          </p:spPr>
          <p:txBody>
            <a:bodyPr wrap="square" rtlCol="0" anchor="t">
              <a:noAutofit/>
            </a:bodyPr>
            <a:lstStyle/>
            <a:p>
              <a:pPr marL="136525" indent="-136525" algn="l" fontAlgn="auto">
                <a:lnSpc>
                  <a:spcPts val="1800"/>
                </a:lnSpc>
                <a:buFont typeface="Arial" panose="020B0604020202020204" pitchFamily="34" charset="0"/>
                <a:buChar char="•"/>
              </a:pPr>
              <a:r>
                <a:rPr kumimoji="1" lang="zh-CN" altLang="en-US" sz="1200" noProof="0" dirty="0">
                  <a:ln>
                    <a:noFill/>
                  </a:ln>
                  <a:effectLst/>
                  <a:uLnTx/>
                  <a:uFillTx/>
                  <a:latin typeface="微软雅黑" panose="020B0503020204020204" pitchFamily="34" charset="-122"/>
                  <a:ea typeface="微软雅黑" panose="020B0503020204020204" pitchFamily="34" charset="-122"/>
                  <a:sym typeface="+mn-ea"/>
                </a:rPr>
                <a:t>构建</a:t>
              </a:r>
              <a:r>
                <a:rPr kumimoji="1" lang="en-US" altLang="zh-CN" sz="1200" noProof="0" dirty="0">
                  <a:ln>
                    <a:noFill/>
                  </a:ln>
                  <a:effectLst/>
                  <a:uLnTx/>
                  <a:uFillTx/>
                  <a:latin typeface="微软雅黑" panose="020B0503020204020204" pitchFamily="34" charset="-122"/>
                  <a:ea typeface="微软雅黑" panose="020B0503020204020204" pitchFamily="34" charset="-122"/>
                  <a:sym typeface="+mn-ea"/>
                </a:rPr>
                <a:t>1+N APP</a:t>
              </a:r>
              <a:r>
                <a:rPr kumimoji="1" lang="zh-CN" altLang="en-US" sz="1200" noProof="0" dirty="0">
                  <a:ln>
                    <a:noFill/>
                  </a:ln>
                  <a:effectLst/>
                  <a:uLnTx/>
                  <a:uFillTx/>
                  <a:latin typeface="微软雅黑" panose="020B0503020204020204" pitchFamily="34" charset="-122"/>
                  <a:ea typeface="微软雅黑" panose="020B0503020204020204" pitchFamily="34" charset="-122"/>
                  <a:sym typeface="+mn-ea"/>
                </a:rPr>
                <a:t>应用矩阵</a:t>
              </a:r>
              <a:r>
                <a:rPr kumimoji="1" lang="en-US" altLang="zh-CN" sz="1200" noProof="0" dirty="0">
                  <a:ln>
                    <a:noFill/>
                  </a:ln>
                  <a:effectLst/>
                  <a:uLnTx/>
                  <a:uFillTx/>
                  <a:latin typeface="微软雅黑" panose="020B0503020204020204" pitchFamily="34" charset="-122"/>
                  <a:ea typeface="微软雅黑" panose="020B0503020204020204" pitchFamily="34" charset="-122"/>
                  <a:sym typeface="+mn-ea"/>
                </a:rPr>
                <a:t>，</a:t>
              </a:r>
              <a:r>
                <a:rPr kumimoji="1" lang="zh-CN" altLang="en-US" sz="1200" noProof="0" dirty="0">
                  <a:ln>
                    <a:noFill/>
                  </a:ln>
                  <a:effectLst/>
                  <a:uLnTx/>
                  <a:uFillTx/>
                  <a:latin typeface="微软雅黑" panose="020B0503020204020204" pitchFamily="34" charset="-122"/>
                  <a:ea typeface="微软雅黑" panose="020B0503020204020204" pitchFamily="34" charset="-122"/>
                  <a:sym typeface="+mn-ea"/>
                </a:rPr>
                <a:t>升级</a:t>
              </a:r>
              <a:r>
                <a:rPr lang="en-US" altLang="zh-CN" sz="1200" dirty="0">
                  <a:sym typeface="+mn-ea"/>
                </a:rPr>
                <a:t>APP</a:t>
              </a:r>
              <a:r>
                <a:rPr lang="zh-CN" altLang="en-US" sz="1200" dirty="0">
                  <a:sym typeface="+mn-ea"/>
                </a:rPr>
                <a:t>触点保活能力</a:t>
              </a:r>
              <a:r>
                <a:rPr lang="en-US" altLang="zh-CN" sz="1200" dirty="0">
                  <a:sym typeface="+mn-ea"/>
                </a:rPr>
                <a:t>；</a:t>
              </a:r>
              <a:endParaRPr kumimoji="1" lang="en-US" altLang="zh-CN" sz="1200" noProof="0" dirty="0">
                <a:ln>
                  <a:noFill/>
                </a:ln>
                <a:effectLst/>
                <a:uLnTx/>
                <a:uFillTx/>
                <a:latin typeface="微软雅黑" panose="020B0503020204020204" pitchFamily="34" charset="-122"/>
                <a:ea typeface="微软雅黑" panose="020B0503020204020204" pitchFamily="34" charset="-122"/>
                <a:sym typeface="+mn-ea"/>
              </a:endParaRPr>
            </a:p>
            <a:p>
              <a:pPr marL="136525" indent="-136525" algn="l" fontAlgn="auto">
                <a:lnSpc>
                  <a:spcPts val="1800"/>
                </a:lnSpc>
                <a:buFont typeface="Arial" panose="020B0604020202020204" pitchFamily="34" charset="0"/>
                <a:buChar char="•"/>
              </a:pPr>
              <a:r>
                <a:rPr kumimoji="1" lang="zh-CN" altLang="en-US" sz="1200" noProof="0" dirty="0">
                  <a:ln>
                    <a:noFill/>
                  </a:ln>
                  <a:effectLst/>
                  <a:uLnTx/>
                  <a:uFillTx/>
                  <a:latin typeface="微软雅黑" panose="020B0503020204020204" pitchFamily="34" charset="-122"/>
                  <a:ea typeface="微软雅黑" panose="020B0503020204020204" pitchFamily="34" charset="-122"/>
                  <a:sym typeface="+mn-ea"/>
                </a:rPr>
                <a:t>完成</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1+N</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统一调度能力建设</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实现触点续航和升级</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APP</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运营位投放更新</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支持业务投放智能投放；</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36525" indent="-136525" algn="l" fontAlgn="auto">
                <a:lnSpc>
                  <a:spcPts val="1800"/>
                </a:lnSpc>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汇聚集省专</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触点投放数据，进行实时监测</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实现投放投放全链路追踪</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36525" indent="-136525" algn="l" fontAlgn="auto">
                <a:lnSpc>
                  <a:spcPts val="1800"/>
                </a:lnSpc>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制定业务统筹机制</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支撑业务量预估及预警</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ts val="1800"/>
                </a:lnSpc>
                <a:buFont typeface="Arial" panose="020B0604020202020204" pitchFamily="34" charset="0"/>
                <a:buNone/>
              </a:pPr>
              <a:endParaRPr kumimoji="1"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99" name="文本框 98"/>
            <p:cNvSpPr txBox="1"/>
            <p:nvPr>
              <p:custDataLst>
                <p:tags r:id="rId3"/>
              </p:custDataLst>
            </p:nvPr>
          </p:nvSpPr>
          <p:spPr>
            <a:xfrm>
              <a:off x="14165" y="7967"/>
              <a:ext cx="4212" cy="2260"/>
            </a:xfrm>
            <a:prstGeom prst="rect">
              <a:avLst/>
            </a:prstGeom>
            <a:noFill/>
          </p:spPr>
          <p:txBody>
            <a:bodyPr wrap="square" rtlCol="0" anchor="t">
              <a:noAutofit/>
            </a:bodyPr>
            <a:lstStyle/>
            <a:p>
              <a:pPr marL="136525" indent="-136525" algn="l" fontAlgn="auto">
                <a:lnSpc>
                  <a:spcPts val="1800"/>
                </a:lnSpc>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建立效果评估机制；</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36525" indent="-136525" algn="l" fontAlgn="auto">
                <a:lnSpc>
                  <a:spcPts val="1800"/>
                </a:lnSpc>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构建渠道投放效果运营全视图；</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36525" indent="-136525" algn="l" fontAlgn="auto">
                <a:lnSpc>
                  <a:spcPts val="1800"/>
                </a:lnSpc>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支撑动态报表</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工具；</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36525" indent="-136525" algn="l" fontAlgn="auto">
                <a:lnSpc>
                  <a:spcPts val="1800"/>
                </a:lnSpc>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可视化</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搭建渠道投放运营效能分析报表</a:t>
              </a:r>
              <a:r>
                <a:rPr kumimoji="1" lang="zh-CN"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a:t>
              </a:r>
              <a:endParaRPr kumimoji="1"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21" name="文本框 20"/>
          <p:cNvSpPr txBox="1"/>
          <p:nvPr/>
        </p:nvSpPr>
        <p:spPr>
          <a:xfrm>
            <a:off x="6671310" y="309245"/>
            <a:ext cx="3511550" cy="878205"/>
          </a:xfrm>
          <a:prstGeom prst="rect">
            <a:avLst/>
          </a:prstGeom>
          <a:solidFill>
            <a:srgbClr val="C00000"/>
          </a:solidFill>
        </p:spPr>
        <p:txBody>
          <a:bodyPr wrap="square" rtlCol="0">
            <a:noAutofit/>
          </a:bodyPr>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请渠道组调整</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重点在触点智能联动（</a:t>
            </a:r>
            <a:r>
              <a:rPr kumimoji="1" lang="en-US" altLang="zh-CN" sz="1400" dirty="0" smtClean="0">
                <a:solidFill>
                  <a:schemeClr val="bg1"/>
                </a:solidFill>
                <a:latin typeface="微软雅黑" panose="020B0503020204020204" pitchFamily="34" charset="-122"/>
                <a:ea typeface="微软雅黑" panose="020B0503020204020204" pitchFamily="34" charset="-122"/>
              </a:rPr>
              <a:t>1+N</a:t>
            </a:r>
            <a:r>
              <a:rPr kumimoji="1" lang="zh-CN" altLang="en-US" sz="1400" dirty="0" smtClean="0">
                <a:solidFill>
                  <a:schemeClr val="bg1"/>
                </a:solidFill>
                <a:latin typeface="微软雅黑" panose="020B0503020204020204" pitchFamily="34" charset="-122"/>
                <a:ea typeface="微软雅黑" panose="020B0503020204020204" pitchFamily="34" charset="-122"/>
              </a:rPr>
              <a:t>），统一调度</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002662" y="5570874"/>
            <a:ext cx="10782301" cy="100747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195" fontAlgn="base">
              <a:lnSpc>
                <a:spcPct val="150000"/>
              </a:lnSpc>
              <a:spcBef>
                <a:spcPct val="0"/>
              </a:spcBef>
              <a:spcAft>
                <a:spcPct val="0"/>
              </a:spcAft>
              <a:buClr>
                <a:schemeClr val="accent1"/>
              </a:buClr>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6" name="矩形 5"/>
          <p:cNvSpPr/>
          <p:nvPr/>
        </p:nvSpPr>
        <p:spPr>
          <a:xfrm>
            <a:off x="365124" y="1908718"/>
            <a:ext cx="1753870"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0" indent="-171450" algn="l" fontAlgn="auto">
              <a:lnSpc>
                <a:spcPct val="150000"/>
              </a:lnSpc>
              <a:spcBef>
                <a:spcPts val="0"/>
              </a:spcBef>
              <a:buClrTx/>
              <a:buSzTx/>
              <a:buFont typeface="Arial" panose="020B0604020202020204" pitchFamily="34" charset="0"/>
              <a:buChar char="•"/>
              <a:defRPr/>
            </a:pPr>
            <a:r>
              <a:rPr kumimoji="1" 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xx</a:t>
            </a:r>
            <a:endParaRPr kumimoji="1" 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8" name="矩形 7"/>
          <p:cNvSpPr/>
          <p:nvPr/>
        </p:nvSpPr>
        <p:spPr>
          <a:xfrm>
            <a:off x="2519044" y="1914879"/>
            <a:ext cx="6486576"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30000"/>
              </a:lnSpc>
              <a:buClr>
                <a:schemeClr val="accent1"/>
              </a:buClr>
              <a:buFont typeface="Arial" panose="020B0604020202020204" pitchFamily="34" charset="0"/>
              <a:buChar char="•"/>
            </a:pPr>
            <a:r>
              <a:rPr kumimoji="1" 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xxx</a:t>
            </a:r>
            <a:endParaRPr 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10" name="矩形 9"/>
          <p:cNvSpPr/>
          <p:nvPr/>
        </p:nvSpPr>
        <p:spPr>
          <a:xfrm>
            <a:off x="9444958" y="2032994"/>
            <a:ext cx="2340005" cy="176015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171450" indent="-171450">
              <a:buClr>
                <a:schemeClr val="accent1"/>
              </a:buClr>
              <a:buFont typeface="Arial" panose="020B0604020202020204" pitchFamily="34" charset="0"/>
              <a:buChar char="•"/>
            </a:pPr>
            <a:r>
              <a:rPr lang="en-US" sz="1200" b="1" dirty="0">
                <a:solidFill>
                  <a:schemeClr val="tx1"/>
                </a:solidFill>
                <a:latin typeface="微软雅黑" panose="020B0503020204020204" pitchFamily="34" charset="-122"/>
                <a:ea typeface="微软雅黑" panose="020B0503020204020204" pitchFamily="34" charset="-122"/>
                <a:sym typeface="+mn-ea"/>
              </a:rPr>
              <a:t>xxx</a:t>
            </a:r>
            <a:endParaRPr 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nvPr>
        </p:nvSpPr>
        <p:spPr/>
        <p:txBody>
          <a:bodyPr>
            <a:normAutofit/>
          </a:bodyPr>
          <a:lstStyle/>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施工图|</a:t>
            </a:r>
            <a:r>
              <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rPr>
              <a:t>打造市场运营工作台</a:t>
            </a:r>
            <a:endPar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endParaRPr>
          </a:p>
        </p:txBody>
      </p:sp>
      <p:sp>
        <p:nvSpPr>
          <p:cNvPr id="5" name="矩形 4"/>
          <p:cNvSpPr/>
          <p:nvPr/>
        </p:nvSpPr>
        <p:spPr>
          <a:xfrm>
            <a:off x="365124" y="1692677"/>
            <a:ext cx="1753870" cy="337820"/>
          </a:xfrm>
          <a:prstGeom prst="rect">
            <a:avLst/>
          </a:prstGeom>
          <a:solidFill>
            <a:srgbClr val="DFF2FF"/>
          </a:solidFill>
          <a:ln>
            <a:solidFill>
              <a:srgbClr val="DFF2FF"/>
            </a:solidFill>
          </a:ln>
        </p:spPr>
        <p:txBody>
          <a:bodyPr wrap="square" anchor="ctr"/>
          <a:lstStyle/>
          <a:p>
            <a:pPr marL="0" lvl="0" indent="0" algn="ctr" defTabSz="913765">
              <a:lnSpc>
                <a:spcPct val="120000"/>
              </a:lnSpc>
              <a:spcBef>
                <a:spcPts val="0"/>
              </a:spcBef>
              <a:spcAft>
                <a:spcPts val="0"/>
              </a:spcAft>
              <a:buClr>
                <a:srgbClr val="C00000"/>
              </a:buClr>
              <a:buSzTx/>
              <a:buFontTx/>
              <a:buNone/>
            </a:pPr>
            <a:r>
              <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rPr>
              <a:t>痛点</a:t>
            </a:r>
            <a:endPar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endParaRPr>
          </a:p>
        </p:txBody>
      </p:sp>
      <p:sp>
        <p:nvSpPr>
          <p:cNvPr id="7" name="矩形 6"/>
          <p:cNvSpPr/>
          <p:nvPr/>
        </p:nvSpPr>
        <p:spPr>
          <a:xfrm>
            <a:off x="2519044" y="1688867"/>
            <a:ext cx="6486576" cy="33591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举措要点</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9" name="矩形 8"/>
          <p:cNvSpPr/>
          <p:nvPr/>
        </p:nvSpPr>
        <p:spPr>
          <a:xfrm>
            <a:off x="9444958" y="1675797"/>
            <a:ext cx="2340005" cy="35115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en-US" altLang="zh-CN" sz="1400" b="1" dirty="0">
                <a:solidFill>
                  <a:schemeClr val="accent1"/>
                </a:solidFill>
                <a:latin typeface="微软雅黑" panose="020B0503020204020204" pitchFamily="34" charset="-122"/>
                <a:ea typeface="微软雅黑" panose="020B0503020204020204" pitchFamily="34" charset="-122"/>
              </a:rPr>
              <a:t>2025</a:t>
            </a:r>
            <a:r>
              <a:rPr lang="zh-CN" altLang="en-US" sz="1400" b="1" dirty="0">
                <a:solidFill>
                  <a:schemeClr val="accent1"/>
                </a:solidFill>
                <a:latin typeface="微软雅黑" panose="020B0503020204020204" pitchFamily="34" charset="-122"/>
                <a:ea typeface="微软雅黑" panose="020B0503020204020204" pitchFamily="34" charset="-122"/>
              </a:rPr>
              <a:t>年成效指标</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3" name="矩形 12"/>
          <p:cNvSpPr/>
          <p:nvPr/>
        </p:nvSpPr>
        <p:spPr>
          <a:xfrm>
            <a:off x="4157704" y="5640096"/>
            <a:ext cx="4099835"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en-US" altLang="zh-CN" sz="1000" dirty="0">
                <a:effectLst/>
              </a:rPr>
              <a:t>xx</a:t>
            </a:r>
            <a:r>
              <a:rPr lang="zh-CN" altLang="en-US" sz="1000" dirty="0">
                <a:effectLst/>
              </a:rPr>
              <a:t>：</a:t>
            </a:r>
            <a:r>
              <a:rPr lang="en-US" sz="1000" dirty="0">
                <a:effectLst/>
              </a:rPr>
              <a:t>xxx</a:t>
            </a:r>
            <a:endParaRPr lang="en-US" sz="1000" dirty="0">
              <a:latin typeface="微软雅黑" panose="020B0503020204020204" pitchFamily="34" charset="-122"/>
              <a:ea typeface="微软雅黑" panose="020B0503020204020204" pitchFamily="34" charset="-122"/>
              <a:sym typeface="+mn-ea"/>
            </a:endParaRPr>
          </a:p>
        </p:txBody>
      </p:sp>
      <p:sp>
        <p:nvSpPr>
          <p:cNvPr id="14" name="矩形 13"/>
          <p:cNvSpPr/>
          <p:nvPr/>
        </p:nvSpPr>
        <p:spPr>
          <a:xfrm>
            <a:off x="8295579" y="5640096"/>
            <a:ext cx="3420806"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zh-CN" altLang="en-US" sz="1000" dirty="0">
                <a:effectLst/>
              </a:rPr>
              <a:t>：</a:t>
            </a:r>
            <a:r>
              <a:rPr lang="en-US" sz="1000" b="0" i="0" dirty="0">
                <a:effectLst/>
                <a:latin typeface="Inter"/>
              </a:rPr>
              <a:t>xxx</a:t>
            </a:r>
            <a:endParaRPr lang="en-US" sz="1000" dirty="0">
              <a:latin typeface="微软雅黑" panose="020B0503020204020204" pitchFamily="34" charset="-122"/>
              <a:ea typeface="微软雅黑" panose="020B0503020204020204" pitchFamily="34" charset="-122"/>
            </a:endParaRPr>
          </a:p>
        </p:txBody>
      </p:sp>
      <p:sp>
        <p:nvSpPr>
          <p:cNvPr id="15" name="箭头: 右 40"/>
          <p:cNvSpPr/>
          <p:nvPr/>
        </p:nvSpPr>
        <p:spPr>
          <a:xfrm>
            <a:off x="1127761" y="4829470"/>
            <a:ext cx="10588624" cy="520700"/>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5729300" y="4970502"/>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9398016" y="4970653"/>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2027</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矩形 17"/>
          <p:cNvSpPr/>
          <p:nvPr/>
        </p:nvSpPr>
        <p:spPr>
          <a:xfrm>
            <a:off x="358139" y="5269221"/>
            <a:ext cx="644525" cy="1440858"/>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里程碑</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9" name="矩形 18"/>
          <p:cNvSpPr/>
          <p:nvPr/>
        </p:nvSpPr>
        <p:spPr>
          <a:xfrm>
            <a:off x="365124" y="3828435"/>
            <a:ext cx="640080" cy="1373604"/>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职责分工</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21" name="矩形 20"/>
          <p:cNvSpPr/>
          <p:nvPr/>
        </p:nvSpPr>
        <p:spPr>
          <a:xfrm>
            <a:off x="1059183" y="5640096"/>
            <a:ext cx="3194046"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en-US" altLang="zh-CN" sz="1000" b="1" dirty="0">
                <a:effectLst/>
              </a:rPr>
              <a:t>xxx</a:t>
            </a:r>
            <a:r>
              <a:rPr lang="zh-CN" altLang="en-US" sz="1000" dirty="0">
                <a:effectLst/>
              </a:rPr>
              <a:t>：</a:t>
            </a:r>
            <a:r>
              <a:rPr lang="en-US" altLang="zh-CN" sz="1000" dirty="0">
                <a:effectLst/>
              </a:rPr>
              <a:t>xxx</a:t>
            </a:r>
            <a:endParaRPr lang="en-US" altLang="zh-CN" sz="1000" dirty="0">
              <a:effectLst/>
            </a:endParaRPr>
          </a:p>
        </p:txBody>
      </p:sp>
      <p:sp>
        <p:nvSpPr>
          <p:cNvPr id="22" name="文本框 21"/>
          <p:cNvSpPr txBox="1"/>
          <p:nvPr/>
        </p:nvSpPr>
        <p:spPr>
          <a:xfrm>
            <a:off x="2307896" y="4971109"/>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Freeform 22"/>
          <p:cNvSpPr/>
          <p:nvPr/>
        </p:nvSpPr>
        <p:spPr bwMode="auto">
          <a:xfrm rot="16200000" flipV="1">
            <a:off x="1485578" y="2636178"/>
            <a:ext cx="1714827"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5" name="Freeform 22"/>
          <p:cNvSpPr/>
          <p:nvPr/>
        </p:nvSpPr>
        <p:spPr bwMode="auto">
          <a:xfrm rot="16200000" flipV="1">
            <a:off x="8074719" y="2636178"/>
            <a:ext cx="2329385"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3" name="文本占位符 2"/>
          <p:cNvSpPr>
            <a:spLocks noGrp="1"/>
          </p:cNvSpPr>
          <p:nvPr>
            <p:ph type="body" sz="quarter" idx="10"/>
          </p:nvPr>
        </p:nvSpPr>
        <p:spPr>
          <a:xfrm>
            <a:off x="85241" y="931284"/>
            <a:ext cx="11856202" cy="753277"/>
          </a:xfrm>
        </p:spPr>
        <p:txBody>
          <a:bodyPr lIns="180000" tIns="45720" rIns="180000" bIns="45720"/>
          <a:lstStyle/>
          <a:p>
            <a:pPr marL="0" lvl="1" indent="-254000" algn="l" defTabSz="457200" eaLnBrk="0">
              <a:lnSpc>
                <a:spcPct val="109000"/>
              </a:lnSpc>
              <a:spcBef>
                <a:spcPts val="0"/>
              </a:spcBef>
              <a:spcAft>
                <a:spcPts val="0"/>
              </a:spcAft>
              <a:buClrTx/>
              <a:buSzTx/>
              <a:buFontTx/>
              <a:buNone/>
              <a:defRPr/>
            </a:pPr>
            <a:r>
              <a:rPr lang="en-US" alt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rPr>
              <a:t>xxx</a:t>
            </a:r>
            <a:endParaRPr lang="en-US" alt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endParaRPr>
          </a:p>
        </p:txBody>
      </p:sp>
      <p:sp>
        <p:nvSpPr>
          <p:cNvPr id="26" name="矩形 25"/>
          <p:cNvSpPr/>
          <p:nvPr/>
        </p:nvSpPr>
        <p:spPr>
          <a:xfrm>
            <a:off x="1002662" y="3834190"/>
            <a:ext cx="10782301" cy="137360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总部：</a:t>
            </a:r>
            <a:r>
              <a:rPr lang="en-US" sz="1100" dirty="0">
                <a:solidFill>
                  <a:prstClr val="black"/>
                </a:solidFill>
                <a:latin typeface="微软雅黑" panose="020B0503020204020204" pitchFamily="34" charset="-122"/>
                <a:ea typeface="微软雅黑" panose="020B0503020204020204" pitchFamily="34" charset="-122"/>
              </a:rPr>
              <a:t>xxx</a:t>
            </a:r>
            <a:endParaRPr lang="en-US" altLang="zh-CN"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省专：</a:t>
            </a:r>
            <a:r>
              <a:rPr lang="en-US" altLang="zh-CN" sz="1100" dirty="0">
                <a:solidFill>
                  <a:prstClr val="black"/>
                </a:solidFill>
                <a:latin typeface="微软雅黑" panose="020B0503020204020204" pitchFamily="34" charset="-122"/>
                <a:ea typeface="微软雅黑" panose="020B0503020204020204" pitchFamily="34" charset="-122"/>
              </a:rPr>
              <a:t>xxx</a:t>
            </a:r>
            <a:endParaRPr lang="zh-CN" altLang="en-US"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地市：</a:t>
            </a:r>
            <a:r>
              <a:rPr lang="en-US" sz="1100" dirty="0">
                <a:solidFill>
                  <a:prstClr val="black"/>
                </a:solidFill>
                <a:latin typeface="微软雅黑" panose="020B0503020204020204" pitchFamily="34" charset="-122"/>
                <a:ea typeface="微软雅黑" panose="020B0503020204020204" pitchFamily="34" charset="-122"/>
              </a:rPr>
              <a:t>xxx</a:t>
            </a:r>
            <a:endParaRPr lang="en-US" sz="1100" dirty="0">
              <a:solidFill>
                <a:prstClr val="black"/>
              </a:solidFill>
              <a:latin typeface="微软雅黑" panose="020B0503020204020204" pitchFamily="34" charset="-122"/>
              <a:ea typeface="微软雅黑" panose="020B0503020204020204" pitchFamily="34" charset="-122"/>
            </a:endParaRPr>
          </a:p>
        </p:txBody>
      </p:sp>
      <p:sp>
        <p:nvSpPr>
          <p:cNvPr id="39" name="箭头: 右 40"/>
          <p:cNvSpPr/>
          <p:nvPr/>
        </p:nvSpPr>
        <p:spPr>
          <a:xfrm>
            <a:off x="1059183" y="5210302"/>
            <a:ext cx="10588625" cy="358065"/>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5661028"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nvSpPr>
        <p:spPr>
          <a:xfrm>
            <a:off x="932942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文本框 41"/>
          <p:cNvSpPr txBox="1"/>
          <p:nvPr/>
        </p:nvSpPr>
        <p:spPr>
          <a:xfrm>
            <a:off x="223901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nvSpPr>
        <p:spPr>
          <a:xfrm>
            <a:off x="6671310" y="309245"/>
            <a:ext cx="3511550" cy="878205"/>
          </a:xfrm>
          <a:prstGeom prst="rect">
            <a:avLst/>
          </a:prstGeom>
          <a:solidFill>
            <a:srgbClr val="C00000"/>
          </a:solidFill>
        </p:spPr>
        <p:txBody>
          <a:bodyPr wrap="square" rtlCol="0">
            <a:noAutofit/>
          </a:bodyPr>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请亚信补充</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002662" y="5570874"/>
            <a:ext cx="10782301" cy="100747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195" fontAlgn="base">
              <a:lnSpc>
                <a:spcPct val="150000"/>
              </a:lnSpc>
              <a:spcBef>
                <a:spcPct val="0"/>
              </a:spcBef>
              <a:spcAft>
                <a:spcPct val="0"/>
              </a:spcAft>
              <a:buClr>
                <a:schemeClr val="accent1"/>
              </a:buClr>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6" name="矩形 5"/>
          <p:cNvSpPr/>
          <p:nvPr/>
        </p:nvSpPr>
        <p:spPr>
          <a:xfrm>
            <a:off x="365124" y="1908718"/>
            <a:ext cx="1753870"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0" indent="-171450" algn="l" fontAlgn="auto">
              <a:lnSpc>
                <a:spcPct val="150000"/>
              </a:lnSpc>
              <a:spcBef>
                <a:spcPts val="0"/>
              </a:spcBef>
              <a:buClrTx/>
              <a:buSzTx/>
              <a:buFont typeface="Arial" panose="020B0604020202020204" pitchFamily="34" charset="0"/>
              <a:buChar char="•"/>
              <a:defRPr/>
            </a:pPr>
            <a:r>
              <a:rPr kumimoji="1" 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xx</a:t>
            </a:r>
            <a:endParaRPr kumimoji="1" 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8" name="矩形 7"/>
          <p:cNvSpPr/>
          <p:nvPr/>
        </p:nvSpPr>
        <p:spPr>
          <a:xfrm>
            <a:off x="2519044" y="1914879"/>
            <a:ext cx="6486576"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30000"/>
              </a:lnSpc>
              <a:buClr>
                <a:schemeClr val="accent1"/>
              </a:buClr>
              <a:buFont typeface="Arial" panose="020B0604020202020204" pitchFamily="34" charset="0"/>
              <a:buChar char="•"/>
            </a:pPr>
            <a:r>
              <a:rPr kumimoji="1" 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xxx</a:t>
            </a:r>
            <a:endParaRPr 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10" name="矩形 9"/>
          <p:cNvSpPr/>
          <p:nvPr/>
        </p:nvSpPr>
        <p:spPr>
          <a:xfrm>
            <a:off x="9444958" y="2032994"/>
            <a:ext cx="2340005" cy="176015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171450" indent="-171450">
              <a:buClr>
                <a:schemeClr val="accent1"/>
              </a:buClr>
              <a:buFont typeface="Arial" panose="020B0604020202020204" pitchFamily="34" charset="0"/>
              <a:buChar char="•"/>
            </a:pPr>
            <a:r>
              <a:rPr lang="en-US" sz="1200" b="1" dirty="0">
                <a:solidFill>
                  <a:schemeClr val="tx1"/>
                </a:solidFill>
                <a:latin typeface="微软雅黑" panose="020B0503020204020204" pitchFamily="34" charset="-122"/>
                <a:ea typeface="微软雅黑" panose="020B0503020204020204" pitchFamily="34" charset="-122"/>
                <a:sym typeface="+mn-ea"/>
              </a:rPr>
              <a:t>xxx</a:t>
            </a:r>
            <a:endParaRPr 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nvPr>
        </p:nvSpPr>
        <p:spPr/>
        <p:txBody>
          <a:bodyPr>
            <a:normAutofit/>
          </a:bodyPr>
          <a:lstStyle/>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施工图|</a:t>
            </a:r>
            <a:r>
              <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rPr>
              <a:t>加强存量客户运营</a:t>
            </a:r>
            <a:endPar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endParaRPr>
          </a:p>
        </p:txBody>
      </p:sp>
      <p:sp>
        <p:nvSpPr>
          <p:cNvPr id="5" name="矩形 4"/>
          <p:cNvSpPr/>
          <p:nvPr/>
        </p:nvSpPr>
        <p:spPr>
          <a:xfrm>
            <a:off x="365124" y="1692677"/>
            <a:ext cx="1753870" cy="337820"/>
          </a:xfrm>
          <a:prstGeom prst="rect">
            <a:avLst/>
          </a:prstGeom>
          <a:solidFill>
            <a:srgbClr val="DFF2FF"/>
          </a:solidFill>
          <a:ln>
            <a:solidFill>
              <a:srgbClr val="DFF2FF"/>
            </a:solidFill>
          </a:ln>
        </p:spPr>
        <p:txBody>
          <a:bodyPr wrap="square" anchor="ctr"/>
          <a:lstStyle/>
          <a:p>
            <a:pPr marL="0" lvl="0" indent="0" algn="ctr" defTabSz="913765">
              <a:lnSpc>
                <a:spcPct val="120000"/>
              </a:lnSpc>
              <a:spcBef>
                <a:spcPts val="0"/>
              </a:spcBef>
              <a:spcAft>
                <a:spcPts val="0"/>
              </a:spcAft>
              <a:buClr>
                <a:srgbClr val="C00000"/>
              </a:buClr>
              <a:buSzTx/>
              <a:buFontTx/>
              <a:buNone/>
            </a:pPr>
            <a:r>
              <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rPr>
              <a:t>痛点</a:t>
            </a:r>
            <a:endPar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endParaRPr>
          </a:p>
        </p:txBody>
      </p:sp>
      <p:sp>
        <p:nvSpPr>
          <p:cNvPr id="7" name="矩形 6"/>
          <p:cNvSpPr/>
          <p:nvPr/>
        </p:nvSpPr>
        <p:spPr>
          <a:xfrm>
            <a:off x="2519044" y="1688867"/>
            <a:ext cx="6486576" cy="33591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举措要点</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9" name="矩形 8"/>
          <p:cNvSpPr/>
          <p:nvPr/>
        </p:nvSpPr>
        <p:spPr>
          <a:xfrm>
            <a:off x="9444958" y="1675797"/>
            <a:ext cx="2340005" cy="35115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en-US" altLang="zh-CN" sz="1400" b="1" dirty="0">
                <a:solidFill>
                  <a:schemeClr val="accent1"/>
                </a:solidFill>
                <a:latin typeface="微软雅黑" panose="020B0503020204020204" pitchFamily="34" charset="-122"/>
                <a:ea typeface="微软雅黑" panose="020B0503020204020204" pitchFamily="34" charset="-122"/>
              </a:rPr>
              <a:t>2025</a:t>
            </a:r>
            <a:r>
              <a:rPr lang="zh-CN" altLang="en-US" sz="1400" b="1" dirty="0">
                <a:solidFill>
                  <a:schemeClr val="accent1"/>
                </a:solidFill>
                <a:latin typeface="微软雅黑" panose="020B0503020204020204" pitchFamily="34" charset="-122"/>
                <a:ea typeface="微软雅黑" panose="020B0503020204020204" pitchFamily="34" charset="-122"/>
              </a:rPr>
              <a:t>年成效指标</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3" name="矩形 12"/>
          <p:cNvSpPr/>
          <p:nvPr/>
        </p:nvSpPr>
        <p:spPr>
          <a:xfrm>
            <a:off x="4157704" y="5640096"/>
            <a:ext cx="4099835"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en-US" altLang="zh-CN" sz="1000" dirty="0">
                <a:effectLst/>
              </a:rPr>
              <a:t>xx</a:t>
            </a:r>
            <a:r>
              <a:rPr lang="zh-CN" altLang="en-US" sz="1000" dirty="0">
                <a:effectLst/>
              </a:rPr>
              <a:t>：</a:t>
            </a:r>
            <a:r>
              <a:rPr lang="en-US" sz="1000" dirty="0">
                <a:effectLst/>
              </a:rPr>
              <a:t>xxx</a:t>
            </a:r>
            <a:endParaRPr lang="en-US" sz="1000" dirty="0">
              <a:latin typeface="微软雅黑" panose="020B0503020204020204" pitchFamily="34" charset="-122"/>
              <a:ea typeface="微软雅黑" panose="020B0503020204020204" pitchFamily="34" charset="-122"/>
              <a:sym typeface="+mn-ea"/>
            </a:endParaRPr>
          </a:p>
        </p:txBody>
      </p:sp>
      <p:sp>
        <p:nvSpPr>
          <p:cNvPr id="14" name="矩形 13"/>
          <p:cNvSpPr/>
          <p:nvPr/>
        </p:nvSpPr>
        <p:spPr>
          <a:xfrm>
            <a:off x="8295579" y="5640096"/>
            <a:ext cx="3420806"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zh-CN" altLang="en-US" sz="1000" dirty="0">
                <a:effectLst/>
              </a:rPr>
              <a:t>：</a:t>
            </a:r>
            <a:r>
              <a:rPr lang="en-US" sz="1000" b="0" i="0" dirty="0">
                <a:effectLst/>
                <a:latin typeface="Inter"/>
              </a:rPr>
              <a:t>xxx</a:t>
            </a:r>
            <a:endParaRPr lang="en-US" sz="1000" dirty="0">
              <a:latin typeface="微软雅黑" panose="020B0503020204020204" pitchFamily="34" charset="-122"/>
              <a:ea typeface="微软雅黑" panose="020B0503020204020204" pitchFamily="34" charset="-122"/>
            </a:endParaRPr>
          </a:p>
        </p:txBody>
      </p:sp>
      <p:sp>
        <p:nvSpPr>
          <p:cNvPr id="15" name="箭头: 右 40"/>
          <p:cNvSpPr/>
          <p:nvPr/>
        </p:nvSpPr>
        <p:spPr>
          <a:xfrm>
            <a:off x="1127761" y="4829470"/>
            <a:ext cx="10588624" cy="520700"/>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5729300" y="4970502"/>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9398016" y="4970653"/>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2027</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矩形 17"/>
          <p:cNvSpPr/>
          <p:nvPr/>
        </p:nvSpPr>
        <p:spPr>
          <a:xfrm>
            <a:off x="358139" y="5269221"/>
            <a:ext cx="644525" cy="1440858"/>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里程碑</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9" name="矩形 18"/>
          <p:cNvSpPr/>
          <p:nvPr/>
        </p:nvSpPr>
        <p:spPr>
          <a:xfrm>
            <a:off x="365124" y="3828435"/>
            <a:ext cx="640080" cy="1373604"/>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职责分工</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21" name="矩形 20"/>
          <p:cNvSpPr/>
          <p:nvPr/>
        </p:nvSpPr>
        <p:spPr>
          <a:xfrm>
            <a:off x="1059183" y="5640096"/>
            <a:ext cx="3194046"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en-US" altLang="zh-CN" sz="1000" b="1" dirty="0">
                <a:effectLst/>
              </a:rPr>
              <a:t>xxx</a:t>
            </a:r>
            <a:r>
              <a:rPr lang="zh-CN" altLang="en-US" sz="1000" dirty="0">
                <a:effectLst/>
              </a:rPr>
              <a:t>：</a:t>
            </a:r>
            <a:r>
              <a:rPr lang="en-US" altLang="zh-CN" sz="1000" dirty="0">
                <a:effectLst/>
              </a:rPr>
              <a:t>xxx</a:t>
            </a:r>
            <a:endParaRPr lang="en-US" altLang="zh-CN" sz="1000" dirty="0">
              <a:effectLst/>
            </a:endParaRPr>
          </a:p>
        </p:txBody>
      </p:sp>
      <p:sp>
        <p:nvSpPr>
          <p:cNvPr id="22" name="文本框 21"/>
          <p:cNvSpPr txBox="1"/>
          <p:nvPr/>
        </p:nvSpPr>
        <p:spPr>
          <a:xfrm>
            <a:off x="2307896" y="4971109"/>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Freeform 22"/>
          <p:cNvSpPr/>
          <p:nvPr/>
        </p:nvSpPr>
        <p:spPr bwMode="auto">
          <a:xfrm rot="16200000" flipV="1">
            <a:off x="1485578" y="2636178"/>
            <a:ext cx="1714827"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5" name="Freeform 22"/>
          <p:cNvSpPr/>
          <p:nvPr/>
        </p:nvSpPr>
        <p:spPr bwMode="auto">
          <a:xfrm rot="16200000" flipV="1">
            <a:off x="8074719" y="2636178"/>
            <a:ext cx="2329385"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3" name="文本占位符 2"/>
          <p:cNvSpPr>
            <a:spLocks noGrp="1"/>
          </p:cNvSpPr>
          <p:nvPr>
            <p:ph type="body" sz="quarter" idx="10"/>
          </p:nvPr>
        </p:nvSpPr>
        <p:spPr>
          <a:xfrm>
            <a:off x="85241" y="931284"/>
            <a:ext cx="11856202" cy="753277"/>
          </a:xfrm>
        </p:spPr>
        <p:txBody>
          <a:bodyPr lIns="180000" tIns="45720" rIns="180000" bIns="45720"/>
          <a:lstStyle/>
          <a:p>
            <a:pPr marL="0" lvl="1" indent="-254000" algn="l" defTabSz="457200" eaLnBrk="0">
              <a:lnSpc>
                <a:spcPct val="109000"/>
              </a:lnSpc>
              <a:spcBef>
                <a:spcPts val="0"/>
              </a:spcBef>
              <a:spcAft>
                <a:spcPts val="0"/>
              </a:spcAft>
              <a:buClrTx/>
              <a:buSzTx/>
              <a:buFontTx/>
              <a:buNone/>
              <a:defRPr/>
            </a:pPr>
            <a:r>
              <a:rPr lang="en-US" alt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rPr>
              <a:t>xxx</a:t>
            </a:r>
            <a:endParaRPr lang="en-US" alt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endParaRPr>
          </a:p>
        </p:txBody>
      </p:sp>
      <p:sp>
        <p:nvSpPr>
          <p:cNvPr id="26" name="矩形 25"/>
          <p:cNvSpPr/>
          <p:nvPr/>
        </p:nvSpPr>
        <p:spPr>
          <a:xfrm>
            <a:off x="1002662" y="3834190"/>
            <a:ext cx="10782301" cy="137360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总部：</a:t>
            </a:r>
            <a:r>
              <a:rPr lang="en-US" sz="1100" dirty="0">
                <a:solidFill>
                  <a:prstClr val="black"/>
                </a:solidFill>
                <a:latin typeface="微软雅黑" panose="020B0503020204020204" pitchFamily="34" charset="-122"/>
                <a:ea typeface="微软雅黑" panose="020B0503020204020204" pitchFamily="34" charset="-122"/>
              </a:rPr>
              <a:t>xxx</a:t>
            </a:r>
            <a:endParaRPr lang="en-US" altLang="zh-CN"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省专：</a:t>
            </a:r>
            <a:r>
              <a:rPr lang="en-US" altLang="zh-CN" sz="1100" dirty="0">
                <a:solidFill>
                  <a:prstClr val="black"/>
                </a:solidFill>
                <a:latin typeface="微软雅黑" panose="020B0503020204020204" pitchFamily="34" charset="-122"/>
                <a:ea typeface="微软雅黑" panose="020B0503020204020204" pitchFamily="34" charset="-122"/>
              </a:rPr>
              <a:t>xxx</a:t>
            </a:r>
            <a:endParaRPr lang="zh-CN" altLang="en-US"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地市：</a:t>
            </a:r>
            <a:r>
              <a:rPr lang="en-US" sz="1100" dirty="0">
                <a:solidFill>
                  <a:prstClr val="black"/>
                </a:solidFill>
                <a:latin typeface="微软雅黑" panose="020B0503020204020204" pitchFamily="34" charset="-122"/>
                <a:ea typeface="微软雅黑" panose="020B0503020204020204" pitchFamily="34" charset="-122"/>
              </a:rPr>
              <a:t>xxx</a:t>
            </a:r>
            <a:endParaRPr lang="en-US" sz="1100" dirty="0">
              <a:solidFill>
                <a:prstClr val="black"/>
              </a:solidFill>
              <a:latin typeface="微软雅黑" panose="020B0503020204020204" pitchFamily="34" charset="-122"/>
              <a:ea typeface="微软雅黑" panose="020B0503020204020204" pitchFamily="34" charset="-122"/>
            </a:endParaRPr>
          </a:p>
        </p:txBody>
      </p:sp>
      <p:sp>
        <p:nvSpPr>
          <p:cNvPr id="39" name="箭头: 右 40"/>
          <p:cNvSpPr/>
          <p:nvPr/>
        </p:nvSpPr>
        <p:spPr>
          <a:xfrm>
            <a:off x="1059183" y="5210302"/>
            <a:ext cx="10588625" cy="358065"/>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5661028"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nvSpPr>
        <p:spPr>
          <a:xfrm>
            <a:off x="932942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文本框 41"/>
          <p:cNvSpPr txBox="1"/>
          <p:nvPr/>
        </p:nvSpPr>
        <p:spPr>
          <a:xfrm>
            <a:off x="223901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7297420" y="274320"/>
            <a:ext cx="4050030" cy="1718310"/>
          </a:xfrm>
          <a:prstGeom prst="rect">
            <a:avLst/>
          </a:prstGeom>
          <a:solidFill>
            <a:srgbClr val="C00000"/>
          </a:solidFill>
        </p:spPr>
        <p:txBody>
          <a:bodyPr wrap="square" rtlCol="0">
            <a:noAutofit/>
          </a:bodyPr>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请晓许调整</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重点在存量客户运营：</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省运营平台</a:t>
            </a:r>
            <a:endParaRPr kumimoji="1" lang="zh-CN"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施工图|</a:t>
            </a:r>
            <a:r>
              <a:rPr lang="zh-CN" altLang="en-US"/>
              <a:t>建强</a:t>
            </a:r>
            <a:r>
              <a:t>产品</a:t>
            </a:r>
            <a:r>
              <a:rPr lang="zh-CN" altLang="en-US"/>
              <a:t>全生命周期</a:t>
            </a:r>
            <a:r>
              <a:t>运营</a:t>
            </a:r>
          </a:p>
        </p:txBody>
      </p:sp>
      <p:sp>
        <p:nvSpPr>
          <p:cNvPr id="126" name="文本占位符 125"/>
          <p:cNvSpPr>
            <a:spLocks noGrp="1"/>
          </p:cNvSpPr>
          <p:nvPr>
            <p:ph type="body" sz="quarter" idx="10"/>
          </p:nvPr>
        </p:nvSpPr>
        <p:spPr/>
        <p:txBody>
          <a:bodyPr/>
          <a:lstStyle/>
          <a:p>
            <a:pPr>
              <a:lnSpc>
                <a:spcPct val="100000"/>
              </a:lnSpc>
            </a:pPr>
            <a:r>
              <a:rPr>
                <a:solidFill>
                  <a:schemeClr val="tx1"/>
                </a:solidFill>
                <a:sym typeface="+mn-ea"/>
              </a:rPr>
              <a:t>以产品全生命周期数智运营为核心，</a:t>
            </a:r>
            <a:r>
              <a:rPr>
                <a:solidFill>
                  <a:srgbClr val="C00000"/>
                </a:solidFill>
                <a:sym typeface="+mn-ea"/>
              </a:rPr>
              <a:t>拉通产品运营数据，构建智能引擎</a:t>
            </a:r>
            <a:r>
              <a:rPr>
                <a:solidFill>
                  <a:schemeClr val="tx1"/>
                </a:solidFill>
                <a:sym typeface="+mn-ea"/>
              </a:rPr>
              <a:t>，</a:t>
            </a:r>
            <a:r>
              <a:rPr>
                <a:solidFill>
                  <a:srgbClr val="C00000"/>
                </a:solidFill>
                <a:sym typeface="+mn-ea"/>
              </a:rPr>
              <a:t>建强</a:t>
            </a:r>
            <a:r>
              <a:rPr>
                <a:solidFill>
                  <a:schemeClr val="tx1"/>
                </a:solidFill>
                <a:sym typeface="+mn-ea"/>
              </a:rPr>
              <a:t>面向集省专全链路、CHBN全产品、全渠道的</a:t>
            </a:r>
            <a:r>
              <a:rPr>
                <a:solidFill>
                  <a:srgbClr val="C00000"/>
                </a:solidFill>
                <a:sym typeface="+mn-ea"/>
              </a:rPr>
              <a:t>产品运营及资源统筹中枢</a:t>
            </a:r>
            <a:r>
              <a:rPr>
                <a:solidFill>
                  <a:schemeClr val="tx1"/>
                </a:solidFill>
                <a:sym typeface="+mn-ea"/>
              </a:rPr>
              <a:t>，贯通省专运营协同的</a:t>
            </a:r>
            <a:r>
              <a:rPr>
                <a:solidFill>
                  <a:schemeClr val="tx1"/>
                </a:solidFill>
                <a:sym typeface="+mn-ea"/>
              </a:rPr>
              <a:t>全流程，</a:t>
            </a:r>
            <a:r>
              <a:rPr>
                <a:solidFill>
                  <a:schemeClr val="tx1"/>
                </a:solidFill>
                <a:sym typeface="+mn-ea"/>
              </a:rPr>
              <a:t>实现产品端到端、自动化、智能化运营。</a:t>
            </a:r>
            <a:endParaRPr>
              <a:solidFill>
                <a:schemeClr val="tx1"/>
              </a:solidFill>
              <a:sym typeface="+mn-ea"/>
            </a:endParaRPr>
          </a:p>
        </p:txBody>
      </p:sp>
      <p:grpSp>
        <p:nvGrpSpPr>
          <p:cNvPr id="10" name="组合 9"/>
          <p:cNvGrpSpPr/>
          <p:nvPr/>
        </p:nvGrpSpPr>
        <p:grpSpPr>
          <a:xfrm>
            <a:off x="365125" y="4499610"/>
            <a:ext cx="11419840" cy="1007110"/>
            <a:chOff x="575" y="6142"/>
            <a:chExt cx="17984" cy="1870"/>
          </a:xfrm>
        </p:grpSpPr>
        <p:sp>
          <p:nvSpPr>
            <p:cNvPr id="11" name="矩形 10"/>
            <p:cNvSpPr/>
            <p:nvPr/>
          </p:nvSpPr>
          <p:spPr>
            <a:xfrm>
              <a:off x="1579" y="6142"/>
              <a:ext cx="16980" cy="187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a:solidFill>
                    <a:prstClr val="black"/>
                  </a:solidFill>
                  <a:latin typeface="微软雅黑" panose="020B0503020204020204" pitchFamily="34" charset="-122"/>
                  <a:ea typeface="微软雅黑" panose="020B0503020204020204" pitchFamily="34" charset="-122"/>
                  <a:sym typeface="+mn-ea"/>
                </a:rPr>
                <a:t>总部：</a:t>
              </a:r>
              <a:r>
                <a:rPr lang="zh-CN" altLang="en-US" sz="1100"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市场经营部</a:t>
              </a:r>
              <a:r>
                <a:rPr lang="zh-CN" altLang="en-US" sz="1100">
                  <a:solidFill>
                    <a:prstClr val="black"/>
                  </a:solidFill>
                  <a:latin typeface="微软雅黑" panose="020B0503020204020204" pitchFamily="34" charset="-122"/>
                  <a:ea typeface="微软雅黑" panose="020B0503020204020204" pitchFamily="34" charset="-122"/>
                  <a:sym typeface="+mn-ea"/>
                </a:rPr>
                <a:t>统筹建立标准化产商品全生命周期与协同管理规范机制</a:t>
              </a:r>
              <a:r>
                <a:rPr lang="zh-CN" altLang="en-US" sz="1100">
                  <a:solidFill>
                    <a:prstClr val="black"/>
                  </a:solidFill>
                  <a:latin typeface="微软雅黑" panose="020B0503020204020204" pitchFamily="34" charset="-122"/>
                  <a:ea typeface="微软雅黑" panose="020B0503020204020204" pitchFamily="34" charset="-122"/>
                </a:rPr>
                <a:t>；</a:t>
              </a:r>
              <a:r>
                <a:rPr lang="zh-CN" altLang="en-US" sz="1100" b="1" kern="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信息技术中心</a:t>
              </a:r>
              <a:r>
                <a:rPr lang="zh-CN" altLang="en-US" sz="1100">
                  <a:solidFill>
                    <a:prstClr val="black"/>
                  </a:solidFill>
                  <a:latin typeface="微软雅黑" panose="020B0503020204020204" pitchFamily="34" charset="-122"/>
                  <a:ea typeface="微软雅黑" panose="020B0503020204020204" pitchFamily="34" charset="-122"/>
                </a:rPr>
                <a:t>推进集省专产品运营</a:t>
              </a:r>
              <a:r>
                <a:rPr lang="en-US" altLang="zh-CN" sz="1100">
                  <a:solidFill>
                    <a:prstClr val="black"/>
                  </a:solidFill>
                  <a:latin typeface="微软雅黑" panose="020B0503020204020204" pitchFamily="34" charset="-122"/>
                  <a:ea typeface="微软雅黑" panose="020B0503020204020204" pitchFamily="34" charset="-122"/>
                </a:rPr>
                <a:t>IT</a:t>
              </a:r>
              <a:r>
                <a:rPr lang="zh-CN" altLang="en-US" sz="1100">
                  <a:solidFill>
                    <a:prstClr val="black"/>
                  </a:solidFill>
                  <a:latin typeface="微软雅黑" panose="020B0503020204020204" pitchFamily="34" charset="-122"/>
                  <a:ea typeface="微软雅黑" panose="020B0503020204020204" pitchFamily="34" charset="-122"/>
                </a:rPr>
                <a:t>系统建设；</a:t>
              </a:r>
              <a:r>
                <a:rPr lang="zh-CN" altLang="en-US" sz="1100">
                  <a:solidFill>
                    <a:prstClr val="black"/>
                  </a:solidFill>
                  <a:latin typeface="微软雅黑" panose="020B0503020204020204" pitchFamily="34" charset="-122"/>
                  <a:ea typeface="微软雅黑" panose="020B0503020204020204" pitchFamily="34" charset="-122"/>
                  <a:sym typeface="+mn-ea"/>
                </a:rPr>
                <a:t>统筹推进省专任务协同与管理能力完善，搭建高效协同支撑平台，全面提升响应与执行效率。</a:t>
              </a:r>
              <a:endParaRPr lang="en-US" altLang="zh-CN" sz="1100">
                <a:solidFill>
                  <a:prstClr val="black"/>
                </a:solidFill>
                <a:latin typeface="微软雅黑" panose="020B0503020204020204" pitchFamily="34" charset="-122"/>
                <a:ea typeface="微软雅黑" panose="020B0503020204020204" pitchFamily="34" charset="-122"/>
              </a:endParaRPr>
            </a:p>
            <a:p>
              <a:pPr marL="176530" indent="-140335" algn="l" fontAlgn="base">
                <a:lnSpc>
                  <a:spcPct val="150000"/>
                </a:lnSpc>
                <a:buClr>
                  <a:schemeClr val="accent1"/>
                </a:buClr>
                <a:buSzTx/>
                <a:buFont typeface="Arial" panose="020B0604020202020204" pitchFamily="34" charset="0"/>
                <a:buChar char="•"/>
              </a:pPr>
              <a:r>
                <a:rPr lang="zh-CN" altLang="en-US" sz="1100"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省专：省公司</a:t>
              </a:r>
              <a:r>
                <a:rPr lang="zh-CN" altLang="en-US" sz="1100">
                  <a:solidFill>
                    <a:prstClr val="black"/>
                  </a:solidFill>
                  <a:latin typeface="微软雅黑" panose="020B0503020204020204" pitchFamily="34" charset="-122"/>
                  <a:ea typeface="微软雅黑" panose="020B0503020204020204" pitchFamily="34" charset="-122"/>
                </a:rPr>
                <a:t>迅速响应并落实</a:t>
              </a:r>
              <a:r>
                <a:rPr lang="en-US" altLang="zh-CN" sz="1100" err="1">
                  <a:solidFill>
                    <a:prstClr val="black"/>
                  </a:solidFill>
                  <a:latin typeface="微软雅黑" panose="020B0503020204020204" pitchFamily="34" charset="-122"/>
                  <a:ea typeface="微软雅黑" panose="020B0503020204020204" pitchFamily="34" charset="-122"/>
                </a:rPr>
                <a:t>OKR</a:t>
              </a:r>
              <a:r>
                <a:rPr lang="zh-CN" altLang="en-US" sz="1100">
                  <a:solidFill>
                    <a:prstClr val="black"/>
                  </a:solidFill>
                  <a:latin typeface="微软雅黑" panose="020B0503020204020204" pitchFamily="34" charset="-122"/>
                  <a:ea typeface="微软雅黑" panose="020B0503020204020204" pitchFamily="34" charset="-122"/>
                </a:rPr>
                <a:t>目标整改计划，持续优化产品推广与营销策略，及时识别并协调解决产品管理、运营中的支撑需求；</a:t>
              </a:r>
              <a:r>
                <a:rPr lang="zh-CN" altLang="en-US" sz="1100" b="1">
                  <a:solidFill>
                    <a:prstClr val="black"/>
                  </a:solidFill>
                  <a:latin typeface="微软雅黑" panose="020B0503020204020204" pitchFamily="34" charset="-122"/>
                  <a:ea typeface="微软雅黑" panose="020B0503020204020204" pitchFamily="34" charset="-122"/>
                </a:rPr>
                <a:t>专业公司</a:t>
              </a:r>
              <a:r>
                <a:rPr lang="zh-CN" altLang="en-US" sz="1100">
                  <a:solidFill>
                    <a:prstClr val="black"/>
                  </a:solidFill>
                  <a:latin typeface="微软雅黑" panose="020B0503020204020204" pitchFamily="34" charset="-122"/>
                  <a:ea typeface="微软雅黑" panose="020B0503020204020204" pitchFamily="34" charset="-122"/>
                </a:rPr>
                <a:t>协同集团与省分快速响应一线产品管理与运营需求，完善产品要素供给体系，持续推进产品能力优化，全面提升产品市场竞争力。</a:t>
              </a:r>
              <a:endParaRPr lang="zh-CN" altLang="en-US" sz="1100">
                <a:solidFill>
                  <a:prstClr val="black"/>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575" y="6142"/>
              <a:ext cx="1008" cy="1871"/>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a:solidFill>
                    <a:schemeClr val="accent1"/>
                  </a:solidFill>
                  <a:latin typeface="微软雅黑" panose="020B0503020204020204" pitchFamily="34" charset="-122"/>
                  <a:ea typeface="微软雅黑" panose="020B0503020204020204" pitchFamily="34" charset="-122"/>
                </a:rPr>
                <a:t>职责分工</a:t>
              </a:r>
              <a:endParaRPr lang="zh-CN" altLang="en-US" sz="1400" b="1">
                <a:solidFill>
                  <a:schemeClr val="accent1"/>
                </a:solidFill>
                <a:latin typeface="微软雅黑" panose="020B0503020204020204" pitchFamily="34" charset="-122"/>
                <a:ea typeface="微软雅黑" panose="020B0503020204020204" pitchFamily="34" charset="-122"/>
              </a:endParaRPr>
            </a:p>
          </p:txBody>
        </p:sp>
      </p:grpSp>
      <p:grpSp>
        <p:nvGrpSpPr>
          <p:cNvPr id="15" name="组合 14"/>
          <p:cNvGrpSpPr/>
          <p:nvPr/>
        </p:nvGrpSpPr>
        <p:grpSpPr>
          <a:xfrm>
            <a:off x="358140" y="5592445"/>
            <a:ext cx="11576050" cy="1223083"/>
            <a:chOff x="564" y="8231"/>
            <a:chExt cx="18230" cy="2410"/>
          </a:xfrm>
        </p:grpSpPr>
        <p:sp>
          <p:nvSpPr>
            <p:cNvPr id="4" name="矩形 3"/>
            <p:cNvSpPr/>
            <p:nvPr/>
          </p:nvSpPr>
          <p:spPr>
            <a:xfrm>
              <a:off x="1579" y="8231"/>
              <a:ext cx="16980" cy="235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195" fontAlgn="base">
                <a:lnSpc>
                  <a:spcPct val="150000"/>
                </a:lnSpc>
                <a:spcBef>
                  <a:spcPct val="0"/>
                </a:spcBef>
                <a:spcAft>
                  <a:spcPct val="0"/>
                </a:spcAft>
                <a:buClr>
                  <a:schemeClr val="accent1"/>
                </a:buClr>
              </a:pPr>
              <a:endParaRPr lang="en-US" altLang="zh-CN" sz="1200">
                <a:solidFill>
                  <a:prstClr val="black"/>
                </a:solidFill>
                <a:latin typeface="微软雅黑" panose="020B0503020204020204" pitchFamily="34" charset="-122"/>
                <a:ea typeface="微软雅黑" panose="020B0503020204020204" pitchFamily="34" charset="-122"/>
              </a:endParaRPr>
            </a:p>
          </p:txBody>
        </p:sp>
        <p:sp>
          <p:nvSpPr>
            <p:cNvPr id="12" name="矩形 11"/>
            <p:cNvSpPr/>
            <p:nvPr/>
          </p:nvSpPr>
          <p:spPr>
            <a:xfrm>
              <a:off x="7309" y="8935"/>
              <a:ext cx="6435" cy="1613"/>
            </a:xfrm>
            <a:prstGeom prst="rect">
              <a:avLst/>
            </a:prstGeom>
          </p:spPr>
          <p:txBody>
            <a:bodyPr wrap="square">
              <a:spAutoFit/>
            </a:bodyPr>
            <a:lstStyle/>
            <a:p>
              <a:pPr marL="285750" indent="-285750" algn="l">
                <a:lnSpc>
                  <a:spcPct val="150000"/>
                </a:lnSpc>
                <a:buFont typeface="Wingdings" panose="05000000000000000000" charset="0"/>
                <a:buChar char="n"/>
              </a:pPr>
              <a:r>
                <a:rPr kumimoji="1" lang="zh-CN" altLang="en-US" sz="1050" b="1">
                  <a:effectLst/>
                  <a:latin typeface="微软雅黑" panose="020B0503020204020204" pitchFamily="34" charset="-122"/>
                  <a:ea typeface="微软雅黑" panose="020B0503020204020204" pitchFamily="34" charset="-122"/>
                  <a:sym typeface="+mn-ea"/>
                </a:rPr>
                <a:t>完成产品枢纽</a:t>
              </a:r>
              <a:r>
                <a:rPr kumimoji="1" lang="zh-CN" altLang="en-US" sz="1050" b="1">
                  <a:solidFill>
                    <a:srgbClr val="C00000"/>
                  </a:solidFill>
                  <a:effectLst/>
                  <a:latin typeface="微软雅黑" panose="020B0503020204020204" pitchFamily="34" charset="-122"/>
                  <a:ea typeface="微软雅黑" panose="020B0503020204020204" pitchFamily="34" charset="-122"/>
                  <a:sym typeface="+mn-ea"/>
                </a:rPr>
                <a:t>平台</a:t>
              </a:r>
              <a:r>
                <a:rPr kumimoji="1" lang="zh-CN" altLang="en-US" sz="1050" b="1">
                  <a:effectLst/>
                  <a:latin typeface="微软雅黑" panose="020B0503020204020204" pitchFamily="34" charset="-122"/>
                  <a:ea typeface="微软雅黑" panose="020B0503020204020204" pitchFamily="34" charset="-122"/>
                  <a:sym typeface="+mn-ea"/>
                </a:rPr>
                <a:t>一阶段功能上线，开展试运行；</a:t>
              </a:r>
              <a:r>
                <a:rPr kumimoji="1" lang="zh-CN" sz="1050" b="1">
                  <a:effectLst/>
                  <a:latin typeface="微软雅黑" panose="020B0503020204020204" pitchFamily="34" charset="-122"/>
                  <a:ea typeface="微软雅黑" panose="020B0503020204020204" pitchFamily="34" charset="-122"/>
                  <a:sym typeface="+mn-ea"/>
                </a:rPr>
                <a:t>完成省专协同调度功能上线，拉通线上协同</a:t>
              </a:r>
              <a:r>
                <a:rPr kumimoji="1" lang="zh-CN" sz="1050" b="1">
                  <a:solidFill>
                    <a:srgbClr val="C00000"/>
                  </a:solidFill>
                  <a:effectLst/>
                  <a:latin typeface="微软雅黑" panose="020B0503020204020204" pitchFamily="34" charset="-122"/>
                  <a:ea typeface="微软雅黑" panose="020B0503020204020204" pitchFamily="34" charset="-122"/>
                  <a:sym typeface="+mn-ea"/>
                </a:rPr>
                <a:t>流程</a:t>
              </a:r>
              <a:endParaRPr kumimoji="1" lang="zh-CN" sz="1050" b="1">
                <a:solidFill>
                  <a:srgbClr val="C00000"/>
                </a:solidFill>
                <a:effectLst/>
                <a:latin typeface="微软雅黑" panose="020B0503020204020204" pitchFamily="34" charset="-122"/>
                <a:ea typeface="微软雅黑" panose="020B0503020204020204" pitchFamily="34" charset="-122"/>
                <a:sym typeface="+mn-ea"/>
              </a:endParaRPr>
            </a:p>
            <a:p>
              <a:pPr marL="285750" indent="-285750" algn="l">
                <a:lnSpc>
                  <a:spcPct val="150000"/>
                </a:lnSpc>
                <a:buFont typeface="Wingdings" panose="05000000000000000000" charset="0"/>
                <a:buChar char="n"/>
              </a:pPr>
              <a:r>
                <a:rPr kumimoji="1" lang="zh-CN" sz="1050" b="1">
                  <a:solidFill>
                    <a:schemeClr val="tx1"/>
                  </a:solidFill>
                  <a:effectLst/>
                  <a:latin typeface="微软雅黑" panose="020B0503020204020204" pitchFamily="34" charset="-122"/>
                  <a:ea typeface="微软雅黑" panose="020B0503020204020204" pitchFamily="34" charset="-122"/>
                  <a:sym typeface="+mn-ea"/>
                </a:rPr>
                <a:t>完成品质管理</a:t>
              </a:r>
              <a:r>
                <a:rPr kumimoji="1" lang="zh-CN" sz="1050" b="1">
                  <a:solidFill>
                    <a:srgbClr val="C00000"/>
                  </a:solidFill>
                  <a:effectLst/>
                  <a:latin typeface="微软雅黑" panose="020B0503020204020204" pitchFamily="34" charset="-122"/>
                  <a:ea typeface="微软雅黑" panose="020B0503020204020204" pitchFamily="34" charset="-122"/>
                  <a:sym typeface="+mn-ea"/>
                </a:rPr>
                <a:t>平台</a:t>
              </a:r>
              <a:r>
                <a:rPr kumimoji="1" lang="zh-CN" sz="1050" b="1">
                  <a:solidFill>
                    <a:schemeClr val="tx1"/>
                  </a:solidFill>
                  <a:effectLst/>
                  <a:latin typeface="微软雅黑" panose="020B0503020204020204" pitchFamily="34" charset="-122"/>
                  <a:ea typeface="微软雅黑" panose="020B0503020204020204" pitchFamily="34" charset="-122"/>
                  <a:sym typeface="+mn-ea"/>
                </a:rPr>
                <a:t>体验力模型支撑、构建专家画像等功能</a:t>
              </a:r>
              <a:endParaRPr kumimoji="1" lang="zh-CN" sz="1050" b="1">
                <a:solidFill>
                  <a:schemeClr val="tx1"/>
                </a:solidFill>
                <a:effectLst/>
                <a:latin typeface="微软雅黑" panose="020B0503020204020204" pitchFamily="34" charset="-122"/>
                <a:ea typeface="微软雅黑" panose="020B0503020204020204" pitchFamily="34" charset="-122"/>
                <a:sym typeface="+mn-ea"/>
              </a:endParaRPr>
            </a:p>
          </p:txBody>
        </p:sp>
        <p:sp>
          <p:nvSpPr>
            <p:cNvPr id="23" name="箭头: 右 40"/>
            <p:cNvSpPr/>
            <p:nvPr/>
          </p:nvSpPr>
          <p:spPr>
            <a:xfrm>
              <a:off x="1776" y="8292"/>
              <a:ext cx="16675" cy="820"/>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9023" y="8514"/>
              <a:ext cx="2131" cy="543"/>
            </a:xfrm>
            <a:prstGeom prst="rect">
              <a:avLst/>
            </a:prstGeom>
            <a:noFill/>
          </p:spPr>
          <p:txBody>
            <a:bodyPr wrap="square" rtlCol="0">
              <a:spAutoFit/>
            </a:bodyPr>
            <a:lstStyle/>
            <a:p>
              <a:r>
                <a:rPr lang="en-US" altLang="zh-CN"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zh-CN" altLang="en-US"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文本框 26"/>
            <p:cNvSpPr txBox="1"/>
            <p:nvPr/>
          </p:nvSpPr>
          <p:spPr>
            <a:xfrm>
              <a:off x="14800" y="8514"/>
              <a:ext cx="2131" cy="543"/>
            </a:xfrm>
            <a:prstGeom prst="rect">
              <a:avLst/>
            </a:prstGeom>
            <a:noFill/>
          </p:spPr>
          <p:txBody>
            <a:bodyPr wrap="square" rtlCol="0">
              <a:spAutoFit/>
            </a:bodyPr>
            <a:lstStyle/>
            <a:p>
              <a:r>
                <a:rPr lang="en-US" altLang="zh-CN"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矩形 27"/>
            <p:cNvSpPr/>
            <p:nvPr/>
          </p:nvSpPr>
          <p:spPr>
            <a:xfrm>
              <a:off x="564" y="8231"/>
              <a:ext cx="1015" cy="2310"/>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a:solidFill>
                    <a:schemeClr val="accent1"/>
                  </a:solidFill>
                  <a:latin typeface="微软雅黑" panose="020B0503020204020204" pitchFamily="34" charset="-122"/>
                  <a:ea typeface="微软雅黑" panose="020B0503020204020204" pitchFamily="34" charset="-122"/>
                </a:rPr>
                <a:t>里程碑</a:t>
              </a:r>
              <a:endParaRPr lang="zh-CN" altLang="en-US" sz="1400" b="1">
                <a:solidFill>
                  <a:schemeClr val="accent1"/>
                </a:solidFill>
                <a:latin typeface="微软雅黑" panose="020B0503020204020204" pitchFamily="34" charset="-122"/>
                <a:ea typeface="微软雅黑" panose="020B0503020204020204" pitchFamily="34" charset="-122"/>
              </a:endParaRPr>
            </a:p>
          </p:txBody>
        </p:sp>
        <p:sp>
          <p:nvSpPr>
            <p:cNvPr id="30" name="矩形 29"/>
            <p:cNvSpPr/>
            <p:nvPr/>
          </p:nvSpPr>
          <p:spPr>
            <a:xfrm>
              <a:off x="1944" y="8936"/>
              <a:ext cx="4754" cy="1705"/>
            </a:xfrm>
            <a:prstGeom prst="rect">
              <a:avLst/>
            </a:prstGeom>
          </p:spPr>
          <p:txBody>
            <a:bodyPr wrap="square">
              <a:spAutoFit/>
            </a:bodyPr>
            <a:lstStyle/>
            <a:p>
              <a:pPr marL="171450" indent="-171450" algn="l">
                <a:lnSpc>
                  <a:spcPct val="120000"/>
                </a:lnSpc>
                <a:buClr>
                  <a:schemeClr val="accent1"/>
                </a:buClr>
                <a:buSzTx/>
                <a:buFont typeface="Wingdings" panose="05000000000000000000" pitchFamily="2" charset="2"/>
                <a:buChar char="n"/>
              </a:pPr>
              <a:r>
                <a:rPr lang="zh-CN" altLang="en-US" sz="1050" b="1">
                  <a:solidFill>
                    <a:prstClr val="black"/>
                  </a:solidFill>
                  <a:latin typeface="微软雅黑" panose="020B0503020204020204" pitchFamily="34" charset="-122"/>
                  <a:ea typeface="微软雅黑" panose="020B0503020204020204" pitchFamily="34" charset="-122"/>
                  <a:sym typeface="+mn-ea"/>
                </a:rPr>
                <a:t>完成产品运营重点</a:t>
              </a:r>
              <a:r>
                <a:rPr lang="zh-CN" altLang="en-US" sz="1050" b="1">
                  <a:solidFill>
                    <a:srgbClr val="C00000"/>
                  </a:solidFill>
                  <a:latin typeface="微软雅黑" panose="020B0503020204020204" pitchFamily="34" charset="-122"/>
                  <a:ea typeface="微软雅黑" panose="020B0503020204020204" pitchFamily="34" charset="-122"/>
                  <a:sym typeface="+mn-ea"/>
                </a:rPr>
                <a:t>数据</a:t>
              </a:r>
              <a:r>
                <a:rPr lang="zh-CN" altLang="en-US" sz="1050" b="1">
                  <a:solidFill>
                    <a:prstClr val="black"/>
                  </a:solidFill>
                  <a:latin typeface="微软雅黑" panose="020B0503020204020204" pitchFamily="34" charset="-122"/>
                  <a:ea typeface="微软雅黑" panose="020B0503020204020204" pitchFamily="34" charset="-122"/>
                  <a:sym typeface="+mn-ea"/>
                </a:rPr>
                <a:t>汇聚，上线</a:t>
              </a:r>
              <a:r>
                <a:rPr kumimoji="1" lang="zh-CN" sz="1050" b="1">
                  <a:effectLst/>
                  <a:latin typeface="微软雅黑" panose="020B0503020204020204" pitchFamily="34" charset="-122"/>
                  <a:ea typeface="微软雅黑" panose="020B0503020204020204" pitchFamily="34" charset="-122"/>
                  <a:sym typeface="+mn-ea"/>
                </a:rPr>
                <a:t>产品创新、产品运营、产品质量看板</a:t>
              </a:r>
              <a:endParaRPr kumimoji="1" lang="zh-CN" sz="1050" b="1">
                <a:effectLst/>
                <a:latin typeface="微软雅黑" panose="020B0503020204020204" pitchFamily="34" charset="-122"/>
                <a:ea typeface="微软雅黑" panose="020B0503020204020204" pitchFamily="34" charset="-122"/>
                <a:sym typeface="+mn-ea"/>
              </a:endParaRPr>
            </a:p>
            <a:p>
              <a:pPr marL="171450" indent="-171450" algn="l">
                <a:lnSpc>
                  <a:spcPct val="120000"/>
                </a:lnSpc>
                <a:buClr>
                  <a:schemeClr val="accent1"/>
                </a:buClr>
                <a:buSzTx/>
                <a:buFont typeface="Wingdings" panose="05000000000000000000" pitchFamily="2" charset="2"/>
                <a:buChar char="n"/>
              </a:pPr>
              <a:r>
                <a:rPr lang="zh-CN" sz="1050" b="1">
                  <a:solidFill>
                    <a:prstClr val="black"/>
                  </a:solidFill>
                  <a:latin typeface="微软雅黑" panose="020B0503020204020204" pitchFamily="34" charset="-122"/>
                  <a:ea typeface="微软雅黑" panose="020B0503020204020204" pitchFamily="34" charset="-122"/>
                  <a:sym typeface="+mn-ea"/>
                </a:rPr>
                <a:t>针对权益等重点业务，上线分维度周期性权益订购统计分析看板</a:t>
              </a:r>
              <a:endParaRPr lang="zh-CN" sz="1050" b="1">
                <a:solidFill>
                  <a:prstClr val="black"/>
                </a:solidFill>
                <a:latin typeface="微软雅黑" panose="020B0503020204020204" pitchFamily="34" charset="-122"/>
                <a:ea typeface="微软雅黑" panose="020B0503020204020204" pitchFamily="34" charset="-122"/>
                <a:sym typeface="+mn-ea"/>
              </a:endParaRPr>
            </a:p>
          </p:txBody>
        </p:sp>
        <p:sp>
          <p:nvSpPr>
            <p:cNvPr id="32" name="文本框 31"/>
            <p:cNvSpPr txBox="1"/>
            <p:nvPr/>
          </p:nvSpPr>
          <p:spPr>
            <a:xfrm>
              <a:off x="3634" y="8515"/>
              <a:ext cx="2131" cy="543"/>
            </a:xfrm>
            <a:prstGeom prst="rect">
              <a:avLst/>
            </a:prstGeom>
            <a:noFill/>
          </p:spPr>
          <p:txBody>
            <a:bodyPr wrap="square" rtlCol="0">
              <a:spAutoFit/>
            </a:bodyPr>
            <a:lstStyle/>
            <a:p>
              <a:r>
                <a:rPr lang="en-US" altLang="zh-CN"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矩形 32"/>
            <p:cNvSpPr/>
            <p:nvPr/>
          </p:nvSpPr>
          <p:spPr>
            <a:xfrm>
              <a:off x="13819" y="8916"/>
              <a:ext cx="4975" cy="954"/>
            </a:xfrm>
            <a:prstGeom prst="rect">
              <a:avLst/>
            </a:prstGeom>
          </p:spPr>
          <p:txBody>
            <a:bodyPr wrap="square">
              <a:noAutofit/>
            </a:bodyPr>
            <a:lstStyle/>
            <a:p>
              <a:pPr marL="171450" indent="-171450" algn="l">
                <a:lnSpc>
                  <a:spcPct val="120000"/>
                </a:lnSpc>
                <a:buClr>
                  <a:schemeClr val="accent1"/>
                </a:buClr>
                <a:buSzTx/>
                <a:buFont typeface="Wingdings" panose="05000000000000000000" pitchFamily="2" charset="2"/>
                <a:buChar char="n"/>
              </a:pPr>
              <a:r>
                <a:rPr lang="zh-CN" sz="1050" b="1">
                  <a:solidFill>
                    <a:prstClr val="black"/>
                  </a:solidFill>
                  <a:latin typeface="微软雅黑" panose="020B0503020204020204" pitchFamily="34" charset="-122"/>
                  <a:ea typeface="微软雅黑" panose="020B0503020204020204" pitchFamily="34" charset="-122"/>
                  <a:sym typeface="+mn-ea"/>
                </a:rPr>
                <a:t>完成短板分析等产品运营</a:t>
              </a:r>
              <a:r>
                <a:rPr lang="en-US" altLang="zh-CN" sz="1050" b="1">
                  <a:solidFill>
                    <a:prstClr val="black"/>
                  </a:solidFill>
                  <a:latin typeface="微软雅黑" panose="020B0503020204020204" pitchFamily="34" charset="-122"/>
                  <a:ea typeface="微软雅黑" panose="020B0503020204020204" pitchFamily="34" charset="-122"/>
                  <a:sym typeface="+mn-ea"/>
                </a:rPr>
                <a:t>A</a:t>
              </a:r>
              <a:r>
                <a:rPr lang="en-US" altLang="zh-CN" sz="1050" b="1">
                  <a:solidFill>
                    <a:srgbClr val="C00000"/>
                  </a:solidFill>
                  <a:latin typeface="微软雅黑" panose="020B0503020204020204" pitchFamily="34" charset="-122"/>
                  <a:ea typeface="微软雅黑" panose="020B0503020204020204" pitchFamily="34" charset="-122"/>
                  <a:sym typeface="+mn-ea"/>
                </a:rPr>
                <a:t>I</a:t>
              </a:r>
              <a:r>
                <a:rPr lang="zh-CN" altLang="en-US" sz="1050" b="1">
                  <a:solidFill>
                    <a:srgbClr val="C00000"/>
                  </a:solidFill>
                  <a:latin typeface="微软雅黑" panose="020B0503020204020204" pitchFamily="34" charset="-122"/>
                  <a:ea typeface="微软雅黑" panose="020B0503020204020204" pitchFamily="34" charset="-122"/>
                  <a:sym typeface="+mn-ea"/>
                </a:rPr>
                <a:t>洞察工具</a:t>
              </a:r>
              <a:r>
                <a:rPr lang="zh-CN" altLang="en-US" sz="1050" b="1">
                  <a:solidFill>
                    <a:prstClr val="black"/>
                  </a:solidFill>
                  <a:latin typeface="微软雅黑" panose="020B0503020204020204" pitchFamily="34" charset="-122"/>
                  <a:ea typeface="微软雅黑" panose="020B0503020204020204" pitchFamily="34" charset="-122"/>
                  <a:sym typeface="+mn-ea"/>
                </a:rPr>
                <a:t>建设，贯通集省专智能化、自动化产品洞察和运营调度，</a:t>
              </a:r>
              <a:r>
                <a:rPr kumimoji="1" lang="zh-CN" altLang="en-US" sz="1050" b="1">
                  <a:effectLst/>
                  <a:latin typeface="微软雅黑" panose="020B0503020204020204" pitchFamily="34" charset="-122"/>
                  <a:ea typeface="微软雅黑" panose="020B0503020204020204" pitchFamily="34" charset="-122"/>
                  <a:sym typeface="+mn-ea"/>
                </a:rPr>
                <a:t>完善产品运营管理</a:t>
              </a:r>
              <a:r>
                <a:rPr kumimoji="1" lang="zh-CN" altLang="en-US" sz="1050" b="1">
                  <a:solidFill>
                    <a:srgbClr val="C00000"/>
                  </a:solidFill>
                  <a:effectLst/>
                  <a:latin typeface="微软雅黑" panose="020B0503020204020204" pitchFamily="34" charset="-122"/>
                  <a:ea typeface="微软雅黑" panose="020B0503020204020204" pitchFamily="34" charset="-122"/>
                  <a:sym typeface="+mn-ea"/>
                </a:rPr>
                <a:t>机制</a:t>
              </a:r>
              <a:endParaRPr kumimoji="1" lang="zh-CN" altLang="en-US" sz="1050" b="1">
                <a:solidFill>
                  <a:srgbClr val="C00000"/>
                </a:solidFill>
                <a:effectLst/>
                <a:latin typeface="微软雅黑" panose="020B0503020204020204" pitchFamily="34" charset="-122"/>
                <a:ea typeface="微软雅黑" panose="020B0503020204020204" pitchFamily="34" charset="-122"/>
                <a:sym typeface="+mn-ea"/>
              </a:endParaRPr>
            </a:p>
            <a:p>
              <a:pPr marL="171450" indent="-171450" algn="l">
                <a:lnSpc>
                  <a:spcPct val="120000"/>
                </a:lnSpc>
                <a:buClr>
                  <a:schemeClr val="accent1"/>
                </a:buClr>
                <a:buSzTx/>
                <a:buFont typeface="Wingdings" panose="05000000000000000000" pitchFamily="2" charset="2"/>
                <a:buChar char="n"/>
              </a:pPr>
              <a:r>
                <a:rPr lang="zh-CN" altLang="en-US" sz="1050" b="1">
                  <a:solidFill>
                    <a:prstClr val="black"/>
                  </a:solidFill>
                  <a:latin typeface="微软雅黑" panose="020B0503020204020204" pitchFamily="34" charset="-122"/>
                  <a:ea typeface="微软雅黑" panose="020B0503020204020204" pitchFamily="34" charset="-122"/>
                  <a:sym typeface="+mn-ea"/>
                </a:rPr>
                <a:t>建立客户与权益业务联合分析能力，洞察问题</a:t>
              </a:r>
              <a:endParaRPr lang="zh-CN" altLang="en-US" sz="1050" b="1">
                <a:solidFill>
                  <a:prstClr val="black"/>
                </a:solidFill>
                <a:latin typeface="微软雅黑" panose="020B0503020204020204" pitchFamily="34" charset="-122"/>
                <a:ea typeface="微软雅黑" panose="020B0503020204020204" pitchFamily="34" charset="-122"/>
                <a:sym typeface="+mn-ea"/>
              </a:endParaRPr>
            </a:p>
          </p:txBody>
        </p:sp>
      </p:grpSp>
      <p:grpSp>
        <p:nvGrpSpPr>
          <p:cNvPr id="17" name="组合 16"/>
          <p:cNvGrpSpPr/>
          <p:nvPr/>
        </p:nvGrpSpPr>
        <p:grpSpPr>
          <a:xfrm>
            <a:off x="336550" y="942340"/>
            <a:ext cx="11448415" cy="3922395"/>
            <a:chOff x="530" y="1814"/>
            <a:chExt cx="18029" cy="5412"/>
          </a:xfrm>
        </p:grpSpPr>
        <p:sp>
          <p:nvSpPr>
            <p:cNvPr id="24" name="Freeform 22"/>
            <p:cNvSpPr/>
            <p:nvPr/>
          </p:nvSpPr>
          <p:spPr bwMode="auto">
            <a:xfrm rot="16200000" flipV="1">
              <a:off x="651" y="4159"/>
              <a:ext cx="5396" cy="706"/>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5" name="Freeform 22"/>
            <p:cNvSpPr/>
            <p:nvPr/>
          </p:nvSpPr>
          <p:spPr bwMode="auto">
            <a:xfrm rot="16200000" flipV="1">
              <a:off x="12219" y="4175"/>
              <a:ext cx="5396" cy="706"/>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6" name="组合 15"/>
            <p:cNvGrpSpPr/>
            <p:nvPr/>
          </p:nvGrpSpPr>
          <p:grpSpPr>
            <a:xfrm>
              <a:off x="530" y="2565"/>
              <a:ext cx="18029" cy="4058"/>
              <a:chOff x="530" y="2539"/>
              <a:chExt cx="18029" cy="3560"/>
            </a:xfrm>
          </p:grpSpPr>
          <p:sp>
            <p:nvSpPr>
              <p:cNvPr id="6" name="矩形 5"/>
              <p:cNvSpPr/>
              <p:nvPr/>
            </p:nvSpPr>
            <p:spPr>
              <a:xfrm>
                <a:off x="546" y="2955"/>
                <a:ext cx="2434" cy="313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530" marR="0" lvl="0" indent="-140335" algn="l" defTabSz="914400" rtl="0" eaLnBrk="1" fontAlgn="base" latinLnBrk="0" hangingPunct="1">
                  <a:lnSpc>
                    <a:spcPct val="150000"/>
                  </a:lnSpc>
                  <a:spcBef>
                    <a:spcPct val="0"/>
                  </a:spcBef>
                  <a:spcAft>
                    <a:spcPct val="0"/>
                  </a:spcAft>
                  <a:buClr>
                    <a:schemeClr val="accent1"/>
                  </a:buClr>
                  <a:buSzTx/>
                  <a:buFont typeface="Arial" panose="020B0604020202020204" pitchFamily="34" charset="0"/>
                  <a:buChar char="•"/>
                  <a:defRPr/>
                </a:pPr>
                <a:r>
                  <a:rPr lang="zh-CN" altLang="en-US" sz="1200" noProof="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省专协同</a:t>
                </a:r>
                <a:r>
                  <a:rPr lang="zh-CN" altLang="en-US" sz="1200" b="1" noProof="0">
                    <a:ln>
                      <a:noFill/>
                    </a:ln>
                    <a:solidFill>
                      <a:srgbClr val="C00000"/>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依赖线下流程</a:t>
                </a:r>
                <a:r>
                  <a:rPr lang="zh-CN" altLang="en-US" sz="1200" noProof="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，效率低，响应速度慢</a:t>
                </a:r>
                <a:endParaRPr lang="zh-CN" altLang="en-US" sz="1200" noProof="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endParaRPr>
              </a:p>
              <a:p>
                <a:pPr marL="176530" marR="0" lvl="0" indent="-140335" algn="l" defTabSz="914400" rtl="0" eaLnBrk="1" fontAlgn="base" latinLnBrk="0" hangingPunct="1">
                  <a:lnSpc>
                    <a:spcPct val="150000"/>
                  </a:lnSpc>
                  <a:spcBef>
                    <a:spcPct val="0"/>
                  </a:spcBef>
                  <a:spcAft>
                    <a:spcPct val="0"/>
                  </a:spcAft>
                  <a:buClr>
                    <a:schemeClr val="accent1"/>
                  </a:buClr>
                  <a:buSzTx/>
                  <a:buFont typeface="Arial" panose="020B0604020202020204" pitchFamily="34" charset="0"/>
                  <a:buChar char="•"/>
                  <a:defRPr/>
                </a:pPr>
                <a:r>
                  <a:rPr lang="zh-CN" altLang="en-US" sz="1200" noProof="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产品运营全流程</a:t>
                </a:r>
                <a:r>
                  <a:rPr lang="zh-CN" altLang="en-US" sz="1200" b="1" noProof="0">
                    <a:ln>
                      <a:noFill/>
                    </a:ln>
                    <a:solidFill>
                      <a:srgbClr val="C00000"/>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数据分散</a:t>
                </a:r>
                <a:r>
                  <a:rPr lang="zh-CN" altLang="en-US" sz="1200" noProof="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在省专各系统</a:t>
                </a:r>
                <a:endParaRPr lang="zh-CN" altLang="en-US" sz="1200" noProof="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endParaRPr>
              </a:p>
              <a:p>
                <a:pPr marL="176530" marR="0" lvl="0" indent="-140335" algn="l" defTabSz="914400" rtl="0" eaLnBrk="1" fontAlgn="base" latinLnBrk="0" hangingPunct="1">
                  <a:lnSpc>
                    <a:spcPct val="150000"/>
                  </a:lnSpc>
                  <a:spcBef>
                    <a:spcPct val="0"/>
                  </a:spcBef>
                  <a:spcAft>
                    <a:spcPct val="0"/>
                  </a:spcAft>
                  <a:buClr>
                    <a:schemeClr val="accent1"/>
                  </a:buClr>
                  <a:buSzTx/>
                  <a:buFont typeface="Arial" panose="020B0604020202020204" pitchFamily="34" charset="0"/>
                  <a:buChar char="•"/>
                  <a:defRPr/>
                </a:pPr>
                <a:r>
                  <a:rPr lang="zh-CN" altLang="en-US" sz="1200" noProof="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产品运营</a:t>
                </a:r>
                <a:r>
                  <a:rPr lang="zh-CN" altLang="en-US" sz="1200" b="1" noProof="0">
                    <a:ln>
                      <a:noFill/>
                    </a:ln>
                    <a:solidFill>
                      <a:srgbClr val="C00000"/>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分析依赖人工</a:t>
                </a:r>
                <a:r>
                  <a:rPr lang="zh-CN" altLang="en-US" sz="1200" noProof="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rPr>
                  <a:t>，智能化不足</a:t>
                </a:r>
                <a:endParaRPr lang="zh-CN" altLang="en-US" sz="1200">
                  <a:solidFill>
                    <a:schemeClr val="tx1"/>
                  </a:solidFill>
                  <a:latin typeface="微软雅黑" panose="020B0503020204020204" pitchFamily="34" charset="-122"/>
                  <a:ea typeface="微软雅黑" panose="020B0503020204020204" pitchFamily="34" charset="-122"/>
                  <a:sym typeface="+mn-ea"/>
                </a:endParaRPr>
              </a:p>
            </p:txBody>
          </p:sp>
          <p:sp>
            <p:nvSpPr>
              <p:cNvPr id="5" name="矩形 4"/>
              <p:cNvSpPr/>
              <p:nvPr/>
            </p:nvSpPr>
            <p:spPr>
              <a:xfrm>
                <a:off x="530" y="2549"/>
                <a:ext cx="2449" cy="358"/>
              </a:xfrm>
              <a:prstGeom prst="rect">
                <a:avLst/>
              </a:prstGeom>
              <a:solidFill>
                <a:srgbClr val="DFF2FF"/>
              </a:solidFill>
              <a:ln>
                <a:solidFill>
                  <a:srgbClr val="DFF2FF"/>
                </a:solidFill>
              </a:ln>
            </p:spPr>
            <p:txBody>
              <a:bodyPr wrap="square" anchor="ctr"/>
              <a:lstStyle/>
              <a:p>
                <a:pPr marL="0" lvl="0" indent="0" algn="ctr" defTabSz="913765">
                  <a:lnSpc>
                    <a:spcPct val="120000"/>
                  </a:lnSpc>
                  <a:spcBef>
                    <a:spcPts val="0"/>
                  </a:spcBef>
                  <a:spcAft>
                    <a:spcPts val="0"/>
                  </a:spcAft>
                  <a:buClr>
                    <a:srgbClr val="C00000"/>
                  </a:buClr>
                  <a:buSzTx/>
                  <a:buFontTx/>
                  <a:buNone/>
                </a:pPr>
                <a:r>
                  <a:rPr lang="zh-CN" altLang="en-US" sz="1400" b="1" i="0" u="none" strike="noStrike" kern="1200" spc="0" baseline="0">
                    <a:solidFill>
                      <a:schemeClr val="accent1"/>
                    </a:solidFill>
                    <a:latin typeface="微软雅黑" panose="020B0503020204020204" pitchFamily="34" charset="-122"/>
                    <a:ea typeface="微软雅黑" panose="020B0503020204020204" pitchFamily="34" charset="-122"/>
                  </a:rPr>
                  <a:t>痛点</a:t>
                </a:r>
                <a:endParaRPr lang="zh-CN" altLang="en-US" sz="1400" b="1" i="0" u="none" strike="noStrike" kern="1200" spc="0" baseline="0">
                  <a:solidFill>
                    <a:schemeClr val="accent1"/>
                  </a:solidFill>
                  <a:latin typeface="微软雅黑" panose="020B0503020204020204" pitchFamily="34" charset="-122"/>
                  <a:ea typeface="微软雅黑" panose="020B0503020204020204" pitchFamily="34" charset="-122"/>
                </a:endParaRPr>
              </a:p>
            </p:txBody>
          </p:sp>
          <p:sp>
            <p:nvSpPr>
              <p:cNvPr id="7" name="矩形 6"/>
              <p:cNvSpPr/>
              <p:nvPr/>
            </p:nvSpPr>
            <p:spPr>
              <a:xfrm>
                <a:off x="3701" y="2547"/>
                <a:ext cx="10951" cy="352"/>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noProof="0" dirty="0">
                    <a:ln>
                      <a:noFill/>
                    </a:ln>
                    <a:solidFill>
                      <a:srgbClr val="0070BF"/>
                    </a:solidFill>
                    <a:effectLst/>
                    <a:uLnTx/>
                    <a:uFillTx/>
                    <a:latin typeface="微软雅黑" panose="020B0503020204020204" pitchFamily="34" charset="-122"/>
                    <a:ea typeface="微软雅黑" panose="020B0503020204020204" pitchFamily="34" charset="-122"/>
                    <a:sym typeface="+mn-ea"/>
                  </a:rPr>
                  <a:t>任务</a:t>
                </a:r>
                <a:r>
                  <a:rPr lang="zh-CN" altLang="en-US" sz="1400" b="1">
                    <a:solidFill>
                      <a:schemeClr val="accent1"/>
                    </a:solidFill>
                    <a:latin typeface="微软雅黑" panose="020B0503020204020204" pitchFamily="34" charset="-122"/>
                    <a:ea typeface="微软雅黑" panose="020B0503020204020204" pitchFamily="34" charset="-122"/>
                  </a:rPr>
                  <a:t>要点</a:t>
                </a:r>
                <a:endParaRPr lang="zh-CN" altLang="en-US" sz="1400" b="1">
                  <a:solidFill>
                    <a:schemeClr val="accent1"/>
                  </a:solidFill>
                  <a:latin typeface="微软雅黑" panose="020B0503020204020204" pitchFamily="34" charset="-122"/>
                  <a:ea typeface="微软雅黑" panose="020B0503020204020204" pitchFamily="34" charset="-122"/>
                </a:endParaRPr>
              </a:p>
            </p:txBody>
          </p:sp>
          <p:sp>
            <p:nvSpPr>
              <p:cNvPr id="9" name="矩形 8"/>
              <p:cNvSpPr/>
              <p:nvPr/>
            </p:nvSpPr>
            <p:spPr>
              <a:xfrm>
                <a:off x="15320" y="2539"/>
                <a:ext cx="3239" cy="362"/>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en-US" altLang="zh-CN" sz="1400" b="1">
                    <a:solidFill>
                      <a:schemeClr val="accent1"/>
                    </a:solidFill>
                    <a:latin typeface="微软雅黑" panose="020B0503020204020204" pitchFamily="34" charset="-122"/>
                    <a:ea typeface="微软雅黑" panose="020B0503020204020204" pitchFamily="34" charset="-122"/>
                  </a:rPr>
                  <a:t>2025</a:t>
                </a:r>
                <a:r>
                  <a:rPr lang="zh-CN" altLang="en-US" sz="1400" b="1">
                    <a:solidFill>
                      <a:schemeClr val="accent1"/>
                    </a:solidFill>
                    <a:latin typeface="微软雅黑" panose="020B0503020204020204" pitchFamily="34" charset="-122"/>
                    <a:ea typeface="微软雅黑" panose="020B0503020204020204" pitchFamily="34" charset="-122"/>
                  </a:rPr>
                  <a:t>年成效指标</a:t>
                </a:r>
                <a:endParaRPr lang="zh-CN" altLang="en-US" sz="1400" b="1">
                  <a:solidFill>
                    <a:schemeClr val="accent1"/>
                  </a:solidFill>
                  <a:latin typeface="微软雅黑" panose="020B0503020204020204" pitchFamily="34" charset="-122"/>
                  <a:ea typeface="微软雅黑" panose="020B0503020204020204" pitchFamily="34" charset="-122"/>
                </a:endParaRPr>
              </a:p>
            </p:txBody>
          </p:sp>
          <p:sp>
            <p:nvSpPr>
              <p:cNvPr id="8" name="矩形 7"/>
              <p:cNvSpPr/>
              <p:nvPr/>
            </p:nvSpPr>
            <p:spPr>
              <a:xfrm>
                <a:off x="3701" y="2957"/>
                <a:ext cx="10947" cy="3142"/>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lgn="l" fontAlgn="auto">
                  <a:lnSpc>
                    <a:spcPts val="1800"/>
                  </a:lnSpc>
                  <a:spcBef>
                    <a:spcPts val="0"/>
                  </a:spcBef>
                  <a:buClr>
                    <a:schemeClr val="accent1"/>
                  </a:buClr>
                  <a:buSzTx/>
                  <a:buFont typeface="Arial" panose="020B0604020202020204" pitchFamily="34" charset="0"/>
                  <a:buChar char="•"/>
                </a:pP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举措</a:t>
                </a:r>
                <a:r>
                  <a:rPr lang="en-US" altLang="zh-CN"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1-</a:t>
                </a: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建强两级协同的产品枢纽</a:t>
                </a:r>
                <a:r>
                  <a:rPr lang="zh-CN" altLang="en-US" sz="1200" b="1" noProof="0">
                    <a:ln>
                      <a:noFill/>
                    </a:ln>
                    <a:solidFill>
                      <a:srgbClr val="C00000"/>
                    </a:solidFill>
                    <a:effectLst/>
                    <a:uLnTx/>
                    <a:uFillTx/>
                    <a:latin typeface="微软雅黑" panose="020B0503020204020204" pitchFamily="34" charset="-122"/>
                    <a:ea typeface="微软雅黑" panose="020B0503020204020204" pitchFamily="34" charset="-122"/>
                    <a:sym typeface="+mn-ea"/>
                  </a:rPr>
                  <a:t>平台：</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围绕产品全生命周期运营，</a:t>
                </a:r>
                <a:r>
                  <a:rPr lang="zh-CN" altLang="en-US" sz="1200" b="1" noProof="0">
                    <a:ln>
                      <a:noFill/>
                    </a:ln>
                    <a:solidFill>
                      <a:srgbClr val="000000"/>
                    </a:solidFill>
                    <a:effectLst/>
                    <a:uLnTx/>
                    <a:uFillTx/>
                    <a:latin typeface="微软雅黑" panose="020B0503020204020204" pitchFamily="34" charset="-122"/>
                    <a:ea typeface="微软雅黑" panose="020B0503020204020204" pitchFamily="34" charset="-122"/>
                    <a:sym typeface="+mn-ea"/>
                  </a:rPr>
                  <a:t>构建产品枢纽平台</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，实现产品端到端智能运营；</a:t>
                </a:r>
                <a:r>
                  <a:rPr lang="zh-CN" altLang="en-US" sz="1200" b="1" noProof="0">
                    <a:ln>
                      <a:noFill/>
                    </a:ln>
                    <a:solidFill>
                      <a:srgbClr val="000000"/>
                    </a:solidFill>
                    <a:effectLst/>
                    <a:uLnTx/>
                    <a:uFillTx/>
                    <a:latin typeface="微软雅黑" panose="020B0503020204020204" pitchFamily="34" charset="-122"/>
                    <a:ea typeface="微软雅黑" panose="020B0503020204020204" pitchFamily="34" charset="-122"/>
                    <a:sym typeface="+mn-ea"/>
                  </a:rPr>
                  <a:t>建强品质管理平台</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，升级品质管理能力，实现产品质量智能化闭环管理。</a:t>
                </a:r>
                <a:endPar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endParaRPr>
              </a:p>
              <a:p>
                <a:pPr marL="285750" indent="-285750" algn="l" fontAlgn="auto">
                  <a:lnSpc>
                    <a:spcPts val="1800"/>
                  </a:lnSpc>
                  <a:spcBef>
                    <a:spcPts val="0"/>
                  </a:spcBef>
                  <a:buClr>
                    <a:schemeClr val="accent1"/>
                  </a:buClr>
                  <a:buSzTx/>
                  <a:buFont typeface="Arial" panose="020B0604020202020204" pitchFamily="34" charset="0"/>
                  <a:buChar char="•"/>
                </a:pP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举措</a:t>
                </a:r>
                <a:r>
                  <a:rPr lang="en-US" altLang="zh-CN"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2-</a:t>
                </a: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汇聚</a:t>
                </a:r>
                <a:r>
                  <a:rPr lang="en-US" altLang="zh-CN"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产品</a:t>
                </a: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运营</a:t>
                </a:r>
                <a:r>
                  <a:rPr lang="en-US" altLang="zh-CN" sz="1200" b="1" noProof="0">
                    <a:ln>
                      <a:noFill/>
                    </a:ln>
                    <a:solidFill>
                      <a:srgbClr val="C00000"/>
                    </a:solidFill>
                    <a:effectLst/>
                    <a:uLnTx/>
                    <a:uFillTx/>
                    <a:latin typeface="微软雅黑" panose="020B0503020204020204" pitchFamily="34" charset="-122"/>
                    <a:ea typeface="微软雅黑" panose="020B0503020204020204" pitchFamily="34" charset="-122"/>
                    <a:sym typeface="+mn-ea"/>
                  </a:rPr>
                  <a:t>数据</a:t>
                </a:r>
                <a:r>
                  <a:rPr lang="zh-CN" altLang="en-US" sz="1200" b="1" noProof="0">
                    <a:ln>
                      <a:noFill/>
                    </a:ln>
                    <a:solidFill>
                      <a:srgbClr val="C00000"/>
                    </a:solidFill>
                    <a:effectLst/>
                    <a:uLnTx/>
                    <a:uFillTx/>
                    <a:latin typeface="微软雅黑" panose="020B0503020204020204" pitchFamily="34" charset="-122"/>
                    <a:ea typeface="微软雅黑" panose="020B0503020204020204" pitchFamily="34" charset="-122"/>
                    <a:sym typeface="+mn-ea"/>
                  </a:rPr>
                  <a:t>，</a:t>
                </a: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打造运营提效的智能</a:t>
                </a:r>
                <a:r>
                  <a:rPr lang="zh-CN" altLang="en-US" sz="1200" b="1" noProof="0">
                    <a:ln>
                      <a:noFill/>
                    </a:ln>
                    <a:solidFill>
                      <a:srgbClr val="C00000"/>
                    </a:solidFill>
                    <a:effectLst/>
                    <a:uLnTx/>
                    <a:uFillTx/>
                    <a:latin typeface="微软雅黑" panose="020B0503020204020204" pitchFamily="34" charset="-122"/>
                    <a:ea typeface="微软雅黑" panose="020B0503020204020204" pitchFamily="34" charset="-122"/>
                    <a:sym typeface="+mn-ea"/>
                  </a:rPr>
                  <a:t>工具</a:t>
                </a: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依托产品枢纽平台</a:t>
                </a:r>
                <a:r>
                  <a:rPr lang="zh-CN" altLang="en-US" sz="1200" b="1" noProof="0">
                    <a:ln>
                      <a:noFill/>
                    </a:ln>
                    <a:solidFill>
                      <a:schemeClr val="tx1"/>
                    </a:solidFill>
                    <a:effectLst/>
                    <a:uLnTx/>
                    <a:uFillTx/>
                    <a:latin typeface="微软雅黑" panose="020B0503020204020204" pitchFamily="34" charset="-122"/>
                    <a:ea typeface="微软雅黑" panose="020B0503020204020204" pitchFamily="34" charset="-122"/>
                    <a:sym typeface="+mn-ea"/>
                  </a:rPr>
                  <a:t>汇聚产品运营类数据，</a:t>
                </a:r>
                <a:r>
                  <a:rPr lang="zh-CN" altLang="en-US" sz="1200">
                    <a:solidFill>
                      <a:schemeClr val="tx1"/>
                    </a:solidFill>
                    <a:sym typeface="+mn-ea"/>
                  </a:rPr>
                  <a:t>构建覆盖产品创新、产品运营、产品质量、权益运营等</a:t>
                </a:r>
                <a:r>
                  <a:rPr lang="zh-CN" altLang="en-US" sz="1200" b="1">
                    <a:solidFill>
                      <a:schemeClr val="tx1"/>
                    </a:solidFill>
                    <a:sym typeface="+mn-ea"/>
                  </a:rPr>
                  <a:t>运营分析看板</a:t>
                </a:r>
                <a:r>
                  <a:rPr lang="zh-CN" altLang="en-US" sz="1200">
                    <a:solidFill>
                      <a:schemeClr val="tx1"/>
                    </a:solidFill>
                    <a:sym typeface="+mn-ea"/>
                  </a:rPr>
                  <a:t>，</a:t>
                </a:r>
                <a:r>
                  <a:rPr lang="zh-CN" altLang="en-US" sz="1200">
                    <a:solidFill>
                      <a:schemeClr val="tx1"/>
                    </a:solidFill>
                    <a:sym typeface="+mn-ea"/>
                  </a:rPr>
                  <a:t>实现管理人员产品运营信息一点看全；构建</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运营根源分析、发展短板智能跟踪等</a:t>
                </a:r>
                <a:r>
                  <a:rPr lang="en-US" altLang="zh-CN" sz="1200" b="1" noProof="0">
                    <a:ln>
                      <a:noFill/>
                    </a:ln>
                    <a:solidFill>
                      <a:srgbClr val="C00000"/>
                    </a:solidFill>
                    <a:effectLst/>
                    <a:uLnTx/>
                    <a:uFillTx/>
                    <a:latin typeface="微软雅黑" panose="020B0503020204020204" pitchFamily="34" charset="-122"/>
                    <a:ea typeface="微软雅黑" panose="020B0503020204020204" pitchFamily="34" charset="-122"/>
                    <a:sym typeface="+mn-ea"/>
                  </a:rPr>
                  <a:t>AI</a:t>
                </a:r>
                <a:r>
                  <a:rPr lang="zh-CN" altLang="en-US" sz="1200" b="1" noProof="0">
                    <a:ln>
                      <a:noFill/>
                    </a:ln>
                    <a:solidFill>
                      <a:srgbClr val="C00000"/>
                    </a:solidFill>
                    <a:effectLst/>
                    <a:uLnTx/>
                    <a:uFillTx/>
                    <a:latin typeface="微软雅黑" panose="020B0503020204020204" pitchFamily="34" charset="-122"/>
                    <a:ea typeface="微软雅黑" panose="020B0503020204020204" pitchFamily="34" charset="-122"/>
                    <a:sym typeface="+mn-ea"/>
                  </a:rPr>
                  <a:t>能力</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，辅助市场运营决策提效。</a:t>
                </a:r>
                <a:endPar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endParaRPr>
              </a:p>
              <a:p>
                <a:pPr marL="285750" indent="-285750" fontAlgn="auto">
                  <a:lnSpc>
                    <a:spcPts val="1800"/>
                  </a:lnSpc>
                  <a:spcBef>
                    <a:spcPts val="0"/>
                  </a:spcBef>
                  <a:buClr>
                    <a:schemeClr val="accent1"/>
                  </a:buClr>
                  <a:buFont typeface="Arial" panose="020B0604020202020204" pitchFamily="34" charset="0"/>
                  <a:buChar char="•"/>
                </a:pP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举措</a:t>
                </a:r>
                <a:r>
                  <a:rPr lang="en-US" altLang="zh-CN"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3</a:t>
                </a:r>
                <a:r>
                  <a:rPr lang="en-US" altLang="zh-CN"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a:t>
                </a: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贯通产品运营的集省专协同的数字化</a:t>
                </a:r>
                <a:r>
                  <a:rPr lang="zh-CN" altLang="en-US" sz="1200" b="1" noProof="0">
                    <a:ln>
                      <a:noFill/>
                    </a:ln>
                    <a:solidFill>
                      <a:srgbClr val="C00000"/>
                    </a:solidFill>
                    <a:effectLst/>
                    <a:uLnTx/>
                    <a:uFillTx/>
                    <a:latin typeface="微软雅黑" panose="020B0503020204020204" pitchFamily="34" charset="-122"/>
                    <a:ea typeface="微软雅黑" panose="020B0503020204020204" pitchFamily="34" charset="-122"/>
                    <a:sym typeface="+mn-ea"/>
                  </a:rPr>
                  <a:t>流程</a:t>
                </a:r>
                <a:r>
                  <a:rPr lang="zh-CN" altLang="en-US" sz="1200" b="1">
                    <a:solidFill>
                      <a:schemeClr val="tx1"/>
                    </a:solidFill>
                    <a:latin typeface="微软雅黑" panose="020B0503020204020204" pitchFamily="34" charset="-122"/>
                    <a:ea typeface="微软雅黑" panose="020B0503020204020204" pitchFamily="34" charset="-122"/>
                    <a:sym typeface="+mn-ea"/>
                  </a:rPr>
                  <a:t>：</a:t>
                </a:r>
                <a:r>
                  <a:rPr lang="zh-CN" altLang="en-US" sz="1200">
                    <a:solidFill>
                      <a:schemeClr val="tx1"/>
                    </a:solidFill>
                    <a:latin typeface="微软雅黑" panose="020B0503020204020204" pitchFamily="34" charset="-122"/>
                    <a:ea typeface="微软雅黑" panose="020B0503020204020204" pitchFamily="34" charset="-122"/>
                    <a:sym typeface="+mn-ea"/>
                  </a:rPr>
                  <a:t>基于集省专两级运营，通过</a:t>
                </a:r>
                <a:r>
                  <a:rPr lang="zh-CN" altLang="en-US" sz="1200" b="1">
                    <a:solidFill>
                      <a:schemeClr val="tx1"/>
                    </a:solidFill>
                    <a:latin typeface="微软雅黑" panose="020B0503020204020204" pitchFamily="34" charset="-122"/>
                    <a:ea typeface="微软雅黑" panose="020B0503020204020204" pitchFamily="34" charset="-122"/>
                    <a:sym typeface="+mn-ea"/>
                  </a:rPr>
                  <a:t>目标统一管理、省专任务统一调度、产品资源统一供给</a:t>
                </a:r>
                <a:r>
                  <a:rPr lang="zh-CN" altLang="en-US" sz="1200">
                    <a:solidFill>
                      <a:schemeClr val="tx1"/>
                    </a:solidFill>
                    <a:latin typeface="微软雅黑" panose="020B0503020204020204" pitchFamily="34" charset="-122"/>
                    <a:ea typeface="微软雅黑" panose="020B0503020204020204" pitchFamily="34" charset="-122"/>
                    <a:sym typeface="+mn-ea"/>
                  </a:rPr>
                  <a:t>，打造线上智能化通路，贯通集省专协同的数字化流程；</a:t>
                </a:r>
                <a:endParaRPr lang="zh-CN" altLang="en-US" sz="1200">
                  <a:solidFill>
                    <a:schemeClr val="tx1"/>
                  </a:solidFill>
                  <a:latin typeface="微软雅黑" panose="020B0503020204020204" pitchFamily="34" charset="-122"/>
                  <a:ea typeface="微软雅黑" panose="020B0503020204020204" pitchFamily="34" charset="-122"/>
                  <a:sym typeface="+mn-ea"/>
                </a:endParaRPr>
              </a:p>
              <a:p>
                <a:pPr marL="285750" indent="-285750" fontAlgn="auto">
                  <a:lnSpc>
                    <a:spcPts val="1800"/>
                  </a:lnSpc>
                  <a:spcBef>
                    <a:spcPts val="0"/>
                  </a:spcBef>
                  <a:buClr>
                    <a:schemeClr val="accent1"/>
                  </a:buClr>
                  <a:buFont typeface="Arial" panose="020B0604020202020204" pitchFamily="34" charset="0"/>
                  <a:buChar char="•"/>
                </a:pP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举措</a:t>
                </a:r>
                <a:r>
                  <a:rPr lang="en-US" altLang="zh-CN"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4-</a:t>
                </a: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强化产品后</a:t>
                </a:r>
                <a:r>
                  <a:rPr lang="zh-CN" altLang="en-US" sz="1200" b="1" noProof="0">
                    <a:ln>
                      <a:noFill/>
                    </a:ln>
                    <a:solidFill>
                      <a:srgbClr val="C00000"/>
                    </a:solidFill>
                    <a:effectLst/>
                    <a:uLnTx/>
                    <a:uFillTx/>
                    <a:latin typeface="微软雅黑" panose="020B0503020204020204" pitchFamily="34" charset="-122"/>
                    <a:ea typeface="微软雅黑" panose="020B0503020204020204" pitchFamily="34" charset="-122"/>
                    <a:sym typeface="+mn-ea"/>
                  </a:rPr>
                  <a:t>评估</a:t>
                </a: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管理，提升产品体验</a:t>
                </a:r>
                <a:r>
                  <a:rPr lang="zh-CN" altLang="en-US" sz="1200" noProof="0">
                    <a:ln>
                      <a:noFill/>
                    </a:ln>
                    <a:solidFill>
                      <a:schemeClr val="tx1"/>
                    </a:solidFill>
                    <a:effectLst/>
                    <a:uLnTx/>
                    <a:uFillTx/>
                    <a:latin typeface="微软雅黑" panose="020B0503020204020204" pitchFamily="34" charset="-122"/>
                    <a:ea typeface="微软雅黑" panose="020B0503020204020204" pitchFamily="34" charset="-122"/>
                    <a:sym typeface="+mn-ea"/>
                  </a:rPr>
                  <a:t>：依托品质管理平台，强化体验数据分析、问题精准洞察等</a:t>
                </a:r>
                <a:r>
                  <a:rPr lang="zh-CN" altLang="en-US" sz="1200" b="1" noProof="0">
                    <a:ln>
                      <a:noFill/>
                    </a:ln>
                    <a:solidFill>
                      <a:srgbClr val="000000"/>
                    </a:solidFill>
                    <a:effectLst/>
                    <a:uLnTx/>
                    <a:uFillTx/>
                    <a:latin typeface="微软雅黑" panose="020B0503020204020204" pitchFamily="34" charset="-122"/>
                    <a:ea typeface="微软雅黑" panose="020B0503020204020204" pitchFamily="34" charset="-122"/>
                    <a:sym typeface="+mn-ea"/>
                  </a:rPr>
                  <a:t>能力</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，实现体验问题闭环管理。</a:t>
                </a:r>
                <a:endPar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endParaRPr>
              </a:p>
              <a:p>
                <a:pPr marL="285750" indent="-285750" fontAlgn="auto">
                  <a:lnSpc>
                    <a:spcPts val="1800"/>
                  </a:lnSpc>
                  <a:spcBef>
                    <a:spcPts val="0"/>
                  </a:spcBef>
                  <a:buClr>
                    <a:schemeClr val="accent1"/>
                  </a:buClr>
                  <a:buFont typeface="Arial" panose="020B0604020202020204" pitchFamily="34" charset="0"/>
                  <a:buChar char="•"/>
                </a:pP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举措5</a:t>
                </a:r>
                <a:r>
                  <a:rPr lang="en-US" altLang="zh-CN"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a:t>
                </a:r>
                <a:r>
                  <a:rPr lang="zh-CN" altLang="en-US" sz="1200" b="1" noProof="0">
                    <a:ln>
                      <a:noFill/>
                    </a:ln>
                    <a:solidFill>
                      <a:schemeClr val="accent1"/>
                    </a:solidFill>
                    <a:effectLst/>
                    <a:uLnTx/>
                    <a:uFillTx/>
                    <a:latin typeface="微软雅黑" panose="020B0503020204020204" pitchFamily="34" charset="-122"/>
                    <a:ea typeface="微软雅黑" panose="020B0503020204020204" pitchFamily="34" charset="-122"/>
                    <a:sym typeface="+mn-ea"/>
                  </a:rPr>
                  <a:t>持续完善产品的运营管理</a:t>
                </a:r>
                <a:r>
                  <a:rPr lang="zh-CN" altLang="en-US" sz="1200" b="1" noProof="0">
                    <a:ln>
                      <a:noFill/>
                    </a:ln>
                    <a:solidFill>
                      <a:srgbClr val="C00000"/>
                    </a:solidFill>
                    <a:effectLst/>
                    <a:uLnTx/>
                    <a:uFillTx/>
                    <a:latin typeface="微软雅黑" panose="020B0503020204020204" pitchFamily="34" charset="-122"/>
                    <a:ea typeface="微软雅黑" panose="020B0503020204020204" pitchFamily="34" charset="-122"/>
                    <a:sym typeface="+mn-ea"/>
                  </a:rPr>
                  <a:t>机制：</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明确产品的集省专运营的职责分工，</a:t>
                </a:r>
                <a:r>
                  <a:rPr lang="zh-CN" altLang="en-US" sz="1200" b="1" noProof="0">
                    <a:ln>
                      <a:noFill/>
                    </a:ln>
                    <a:solidFill>
                      <a:srgbClr val="000000"/>
                    </a:solidFill>
                    <a:effectLst/>
                    <a:uLnTx/>
                    <a:uFillTx/>
                    <a:latin typeface="微软雅黑" panose="020B0503020204020204" pitchFamily="34" charset="-122"/>
                    <a:ea typeface="微软雅黑" panose="020B0503020204020204" pitchFamily="34" charset="-122"/>
                    <a:sym typeface="+mn-ea"/>
                  </a:rPr>
                  <a:t>明确产品全生命周期运营管理规范，</a:t>
                </a:r>
                <a:r>
                  <a:rPr lang="zh-CN" altLang="en-US" sz="1200" noProof="0">
                    <a:ln>
                      <a:noFill/>
                    </a:ln>
                    <a:solidFill>
                      <a:srgbClr val="000000"/>
                    </a:solidFill>
                    <a:effectLst/>
                    <a:uLnTx/>
                    <a:uFillTx/>
                    <a:latin typeface="微软雅黑" panose="020B0503020204020204" pitchFamily="34" charset="-122"/>
                    <a:ea typeface="微软雅黑" panose="020B0503020204020204" pitchFamily="34" charset="-122"/>
                    <a:sym typeface="+mn-ea"/>
                  </a:rPr>
                  <a:t>包含产品规划、产品开发、产品发布、产品运营、产品评估等方面。</a:t>
                </a:r>
                <a:endParaRPr lang="zh-CN" altLang="en-US" sz="1200" b="1" noProof="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1048837" name="矩形 73"/>
              <p:cNvSpPr/>
              <p:nvPr/>
            </p:nvSpPr>
            <p:spPr>
              <a:xfrm>
                <a:off x="15321" y="2961"/>
                <a:ext cx="3238" cy="31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457200" rtl="0" fontAlgn="auto">
                  <a:lnSpc>
                    <a:spcPct val="150000"/>
                  </a:lnSpc>
                  <a:spcBef>
                    <a:spcPts val="0"/>
                  </a:spcBef>
                  <a:spcAft>
                    <a:spcPts val="0"/>
                  </a:spcAft>
                  <a:buClr>
                    <a:srgbClr val="0070BF"/>
                  </a:buClr>
                  <a:buSzTx/>
                  <a:buFont typeface="Wingdings" panose="05000000000000000000" pitchFamily="2" charset="2"/>
                  <a:buChar char="ü"/>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量：</a:t>
                </a:r>
                <a:r>
                  <a:rPr kumimoji="0" lang="zh-CN" altLang="en-US" sz="12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构建重点产品与战略产品运营指标看板</a:t>
                </a:r>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p>
                <a:pPr marL="228600" marR="0" lvl="0" indent="-228600" algn="l" defTabSz="457200" rtl="0" fontAlgn="auto">
                  <a:lnSpc>
                    <a:spcPct val="150000"/>
                  </a:lnSpc>
                  <a:spcBef>
                    <a:spcPts val="0"/>
                  </a:spcBef>
                  <a:spcAft>
                    <a:spcPts val="0"/>
                  </a:spcAft>
                  <a:buClr>
                    <a:srgbClr val="0070BF"/>
                  </a:buClr>
                  <a:buSzTx/>
                  <a:buFont typeface="Wingdings" panose="05000000000000000000" pitchFamily="2" charset="2"/>
                  <a:buChar char="ü"/>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质：</a:t>
                </a:r>
                <a:r>
                  <a:rPr lang="zh-CN" altLang="en-US" sz="1200">
                    <a:solidFill>
                      <a:schemeClr val="tx1"/>
                    </a:solidFill>
                    <a:latin typeface="微软雅黑" panose="020B0503020204020204" pitchFamily="34" charset="-122"/>
                    <a:ea typeface="微软雅黑" panose="020B0503020204020204" pitchFamily="34" charset="-122"/>
                    <a:sym typeface="+mn-ea"/>
                  </a:rPr>
                  <a:t>专业公司产品质量运营持续提升</a:t>
                </a:r>
                <a:endParaRPr lang="zh-CN" altLang="en-US" sz="1200">
                  <a:solidFill>
                    <a:schemeClr val="tx1"/>
                  </a:solidFill>
                  <a:latin typeface="微软雅黑" panose="020B0503020204020204" pitchFamily="34" charset="-122"/>
                  <a:ea typeface="微软雅黑" panose="020B0503020204020204" pitchFamily="34" charset="-122"/>
                  <a:sym typeface="+mn-ea"/>
                </a:endParaRPr>
              </a:p>
              <a:p>
                <a:pPr marL="228600" marR="0" lvl="0" indent="-228600" algn="l" defTabSz="457200" rtl="0" fontAlgn="auto">
                  <a:lnSpc>
                    <a:spcPct val="150000"/>
                  </a:lnSpc>
                  <a:spcBef>
                    <a:spcPts val="0"/>
                  </a:spcBef>
                  <a:spcAft>
                    <a:spcPts val="0"/>
                  </a:spcAft>
                  <a:buClr>
                    <a:srgbClr val="0070BF"/>
                  </a:buClr>
                  <a:buSzTx/>
                  <a:buFont typeface="Wingdings" panose="05000000000000000000" pitchFamily="2" charset="2"/>
                  <a:buChar char="ü"/>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构：</a:t>
                </a:r>
                <a:r>
                  <a:rPr kumimoji="0" lang="zh-CN" altLang="en-US" sz="12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完善</a:t>
                </a:r>
                <a:r>
                  <a:rPr kumimoji="0" lang="en-US" altLang="zh-CN" sz="12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5+9</a:t>
                </a:r>
                <a:r>
                  <a:rPr kumimoji="0" lang="zh-CN" altLang="en-US" sz="12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产品型谱支撑</a:t>
                </a:r>
                <a:endParaRPr kumimoji="0" lang="zh-CN" altLang="en-US" sz="12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p>
                <a:pPr marL="228600" marR="0" lvl="0" indent="-228600" algn="l" defTabSz="457200" rtl="0" fontAlgn="auto">
                  <a:lnSpc>
                    <a:spcPct val="150000"/>
                  </a:lnSpc>
                  <a:spcBef>
                    <a:spcPts val="0"/>
                  </a:spcBef>
                  <a:spcAft>
                    <a:spcPts val="0"/>
                  </a:spcAft>
                  <a:buClr>
                    <a:srgbClr val="0070BF"/>
                  </a:buClr>
                  <a:buSzTx/>
                  <a:buFont typeface="Wingdings" panose="05000000000000000000" pitchFamily="2" charset="2"/>
                  <a:buChar char="ü"/>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效：</a:t>
                </a:r>
                <a:r>
                  <a:rPr kumimoji="1" lang="zh-CN" altLang="en-US" sz="1200">
                    <a:solidFill>
                      <a:schemeClr val="tx1"/>
                    </a:solidFill>
                    <a:effectLst/>
                    <a:latin typeface="微软雅黑" panose="020B0503020204020204" pitchFamily="34" charset="-122"/>
                    <a:ea typeface="微软雅黑" panose="020B0503020204020204" pitchFamily="34" charset="-122"/>
                    <a:sym typeface="+mn-ea"/>
                  </a:rPr>
                  <a:t>提升产品运营效率，提高省专协同效率</a:t>
                </a:r>
                <a:endParaRPr kumimoji="1" lang="zh-CN" altLang="en-US"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sp>
        <p:nvSpPr>
          <p:cNvPr id="18" name="文本框 17"/>
          <p:cNvSpPr txBox="1"/>
          <p:nvPr/>
        </p:nvSpPr>
        <p:spPr>
          <a:xfrm>
            <a:off x="7297420" y="274320"/>
            <a:ext cx="4050030" cy="1718310"/>
          </a:xfrm>
          <a:prstGeom prst="rect">
            <a:avLst/>
          </a:prstGeom>
          <a:solidFill>
            <a:srgbClr val="C00000"/>
          </a:solidFill>
        </p:spPr>
        <p:txBody>
          <a:bodyPr wrap="square" rtlCol="0">
            <a:noAutofit/>
          </a:bodyPr>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请产品组调整</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重点在产品运营：</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en-US" altLang="zh-CN" sz="1400" dirty="0" smtClean="0">
                <a:solidFill>
                  <a:schemeClr val="bg1"/>
                </a:solidFill>
                <a:latin typeface="微软雅黑" panose="020B0503020204020204" pitchFamily="34" charset="-122"/>
                <a:ea typeface="微软雅黑" panose="020B0503020204020204" pitchFamily="34" charset="-122"/>
              </a:rPr>
              <a:t>1</a:t>
            </a:r>
            <a:r>
              <a:rPr kumimoji="1" lang="zh-CN" altLang="en-US" sz="1400" dirty="0" smtClean="0">
                <a:solidFill>
                  <a:schemeClr val="bg1"/>
                </a:solidFill>
                <a:latin typeface="微软雅黑" panose="020B0503020204020204" pitchFamily="34" charset="-122"/>
                <a:ea typeface="微软雅黑" panose="020B0503020204020204" pitchFamily="34" charset="-122"/>
              </a:rPr>
              <a:t>、包含产品枢纽</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en-US" altLang="zh-CN" sz="1400" dirty="0" smtClean="0">
                <a:solidFill>
                  <a:schemeClr val="bg1"/>
                </a:solidFill>
                <a:latin typeface="微软雅黑" panose="020B0503020204020204" pitchFamily="34" charset="-122"/>
                <a:ea typeface="微软雅黑" panose="020B0503020204020204" pitchFamily="34" charset="-122"/>
              </a:rPr>
              <a:t>2</a:t>
            </a:r>
            <a:r>
              <a:rPr kumimoji="1" lang="zh-CN" altLang="en-US" sz="1400" dirty="0" smtClean="0">
                <a:solidFill>
                  <a:schemeClr val="bg1"/>
                </a:solidFill>
                <a:latin typeface="微软雅黑" panose="020B0503020204020204" pitchFamily="34" charset="-122"/>
                <a:ea typeface="微软雅黑" panose="020B0503020204020204" pitchFamily="34" charset="-122"/>
              </a:rPr>
              <a:t>、工作台上产品运营</a:t>
            </a:r>
            <a:r>
              <a:rPr kumimoji="1" lang="zh-CN" sz="1400" dirty="0" smtClean="0">
                <a:solidFill>
                  <a:schemeClr val="bg1"/>
                </a:solidFill>
                <a:latin typeface="微软雅黑" panose="020B0503020204020204" pitchFamily="34" charset="-122"/>
                <a:ea typeface="微软雅黑" panose="020B0503020204020204" pitchFamily="34" charset="-122"/>
              </a:rPr>
              <a:t>相关内容</a:t>
            </a:r>
            <a:endParaRPr kumimoji="1" lang="zh-CN"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70840" y="1583055"/>
            <a:ext cx="1753870" cy="2036445"/>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07645" marR="0" lvl="0" indent="-171450" algn="l" defTabSz="914400" rtl="0" eaLnBrk="1" fontAlgn="base" latinLnBrk="0" hangingPunct="1">
              <a:lnSpc>
                <a:spcPct val="150000"/>
              </a:lnSpc>
              <a:spcBef>
                <a:spcPct val="0"/>
              </a:spcBef>
              <a:spcAft>
                <a:spcPct val="0"/>
              </a:spcAft>
              <a:buClr>
                <a:schemeClr val="accent1"/>
              </a:buClr>
              <a:buSzTx/>
              <a:buFont typeface="Arial" panose="020B0604020202020204" pitchFamily="34" charset="0"/>
              <a:buChar char="•"/>
              <a:defRPr/>
            </a:pPr>
            <a:r>
              <a:rPr kumimoji="1" lang="zh-CN" altLang="en-US" sz="1200" noProof="0" dirty="0" err="1">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渠道协同不足：渠道管理分散，数据未</a:t>
            </a:r>
            <a:r>
              <a:rPr kumimoji="1" lang="zh-CN" altLang="en-US" sz="1200" noProof="0" dirty="0" err="1">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整合；</a:t>
            </a:r>
            <a:endParaRPr kumimoji="1" lang="zh-CN" altLang="en-US" sz="1200" noProof="0" dirty="0" err="1">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a:p>
            <a:pPr marL="207645" marR="0" lvl="0" indent="-171450" algn="l" defTabSz="914400" rtl="0" eaLnBrk="1" fontAlgn="base" latinLnBrk="0" hangingPunct="1">
              <a:lnSpc>
                <a:spcPct val="150000"/>
              </a:lnSpc>
              <a:spcBef>
                <a:spcPct val="0"/>
              </a:spcBef>
              <a:spcAft>
                <a:spcPct val="0"/>
              </a:spcAft>
              <a:buClr>
                <a:schemeClr val="accent1"/>
              </a:buClr>
              <a:buSzTx/>
              <a:buFont typeface="Arial" panose="020B0604020202020204" pitchFamily="34" charset="0"/>
              <a:buChar char="•"/>
              <a:defRPr/>
            </a:pPr>
            <a:r>
              <a:rPr kumimoji="1" lang="zh-CN" altLang="en-US" sz="1200" noProof="0" dirty="0" err="1">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渠道管理手段不足：申请入口不统一、流量监控机制未建立。</a:t>
            </a:r>
            <a:endPar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8" name="矩形 7"/>
          <p:cNvSpPr/>
          <p:nvPr/>
        </p:nvSpPr>
        <p:spPr>
          <a:xfrm>
            <a:off x="2519045" y="1539240"/>
            <a:ext cx="6623685" cy="209550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ct val="150000"/>
              </a:lnSpc>
              <a:buClr>
                <a:schemeClr val="accent1"/>
              </a:buClr>
              <a:buFont typeface="Arial" panose="020B0604020202020204" pitchFamily="34" charset="0"/>
              <a:buChar char="•"/>
            </a:pPr>
            <a:r>
              <a:rPr lang="en-US" altLang="zh-CN" sz="1200" b="1" dirty="0">
                <a:solidFill>
                  <a:schemeClr val="tx1"/>
                </a:solidFill>
                <a:latin typeface="微软雅黑" panose="020B0503020204020204" pitchFamily="34" charset="-122"/>
                <a:ea typeface="微软雅黑" panose="020B0503020204020204" pitchFamily="34" charset="-122"/>
                <a:sym typeface="+mn-ea"/>
              </a:rPr>
              <a:t>完善全渠道</a:t>
            </a:r>
            <a:r>
              <a:rPr lang="zh-CN" altLang="en-US" sz="1200" b="1" dirty="0">
                <a:solidFill>
                  <a:schemeClr val="tx1"/>
                </a:solidFill>
                <a:latin typeface="微软雅黑" panose="020B0503020204020204" pitchFamily="34" charset="-122"/>
                <a:ea typeface="微软雅黑" panose="020B0503020204020204" pitchFamily="34" charset="-122"/>
                <a:sym typeface="+mn-ea"/>
              </a:rPr>
              <a:t>管理</a:t>
            </a:r>
            <a:r>
              <a:rPr lang="en-US" altLang="zh-CN" sz="1200" b="1" dirty="0">
                <a:solidFill>
                  <a:schemeClr val="tx1"/>
                </a:solidFill>
                <a:latin typeface="微软雅黑" panose="020B0503020204020204" pitchFamily="34" charset="-122"/>
                <a:ea typeface="微软雅黑" panose="020B0503020204020204" pitchFamily="34" charset="-122"/>
                <a:sym typeface="+mn-ea"/>
              </a:rPr>
              <a:t>能力</a:t>
            </a:r>
            <a:r>
              <a:rPr lang="zh-CN" altLang="en-US" sz="1200" b="1" dirty="0">
                <a:solidFill>
                  <a:schemeClr val="tx1"/>
                </a:solidFill>
                <a:latin typeface="微软雅黑" panose="020B0503020204020204" pitchFamily="34" charset="-122"/>
                <a:ea typeface="微软雅黑" panose="020B0503020204020204" pitchFamily="34" charset="-122"/>
                <a:sym typeface="+mn-ea"/>
              </a:rPr>
              <a:t>：</a:t>
            </a:r>
            <a:r>
              <a:rPr lang="en-US" altLang="zh-CN" sz="1200" dirty="0">
                <a:solidFill>
                  <a:schemeClr val="tx1"/>
                </a:solidFill>
                <a:latin typeface="微软雅黑" panose="020B0503020204020204" pitchFamily="34" charset="-122"/>
                <a:ea typeface="微软雅黑" panose="020B0503020204020204" pitchFamily="34" charset="-122"/>
                <a:sym typeface="+mn-ea"/>
              </a:rPr>
              <a:t>统一渠道运营编码体系串联产品编码、渠道编码、触点编码和订单编码，建设全渠道运营平台，贯穿触客、</a:t>
            </a:r>
            <a:r>
              <a:rPr lang="zh-CN" altLang="en-US" sz="1200" dirty="0">
                <a:solidFill>
                  <a:schemeClr val="tx1"/>
                </a:solidFill>
                <a:latin typeface="微软雅黑" panose="020B0503020204020204" pitchFamily="34" charset="-122"/>
                <a:ea typeface="微软雅黑" panose="020B0503020204020204" pitchFamily="34" charset="-122"/>
                <a:sym typeface="+mn-ea"/>
              </a:rPr>
              <a:t>调度</a:t>
            </a:r>
            <a:r>
              <a:rPr lang="en-US" altLang="zh-CN" sz="1200" dirty="0">
                <a:solidFill>
                  <a:schemeClr val="tx1"/>
                </a:solidFill>
                <a:latin typeface="微软雅黑" panose="020B0503020204020204" pitchFamily="34" charset="-122"/>
                <a:ea typeface="微软雅黑" panose="020B0503020204020204" pitchFamily="34" charset="-122"/>
                <a:sym typeface="+mn-ea"/>
              </a:rPr>
              <a:t>、办理全流程运营</a:t>
            </a:r>
            <a:r>
              <a:rPr lang="zh-CN" altLang="en-US" sz="1200" dirty="0">
                <a:solidFill>
                  <a:schemeClr val="tx1"/>
                </a:solidFill>
                <a:latin typeface="微软雅黑" panose="020B0503020204020204" pitchFamily="34" charset="-122"/>
                <a:ea typeface="微软雅黑" panose="020B0503020204020204" pitchFamily="34" charset="-122"/>
                <a:sym typeface="+mn-ea"/>
              </a:rPr>
              <a:t>；</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a:p>
            <a:pPr marL="171450" indent="-171450">
              <a:lnSpc>
                <a:spcPct val="150000"/>
              </a:lnSpc>
              <a:buClr>
                <a:schemeClr val="accent1"/>
              </a:buClr>
              <a:buFont typeface="Arial" panose="020B0604020202020204" pitchFamily="34" charset="0"/>
              <a:buChar char="•"/>
            </a:pPr>
            <a:r>
              <a:rPr lang="zh-CN" altLang="en-US" sz="1200" b="1"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汇聚多渠道触客数据，构建标准化触客指标体系：</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实时汇聚中国移动APP、热线、互联网、网格通、企业微信多渠道触客数据，实现核心渠道触客数据拉通；</a:t>
            </a:r>
            <a:r>
              <a:rPr lang="zh-CN" sz="1200" dirty="0">
                <a:solidFill>
                  <a:schemeClr val="tx1"/>
                </a:solidFill>
                <a:latin typeface="微软雅黑" panose="020B0503020204020204" pitchFamily="34" charset="-122"/>
                <a:ea typeface="微软雅黑" panose="020B0503020204020204" pitchFamily="34" charset="-122"/>
                <a:sym typeface="+mn-ea"/>
              </a:rPr>
              <a:t>构建标准化触客指标体系，基于标准化指标输出的分析结果，驱动营销策略优化与客户分层管理。</a:t>
            </a:r>
            <a:endParaRPr lang="zh-CN" sz="1200" dirty="0">
              <a:solidFill>
                <a:schemeClr val="tx1"/>
              </a:solidFill>
              <a:latin typeface="微软雅黑" panose="020B0503020204020204" pitchFamily="34" charset="-122"/>
              <a:ea typeface="微软雅黑" panose="020B0503020204020204" pitchFamily="34" charset="-122"/>
              <a:sym typeface="+mn-ea"/>
            </a:endParaRPr>
          </a:p>
          <a:p>
            <a:pPr marL="171450" indent="-171450">
              <a:lnSpc>
                <a:spcPct val="150000"/>
              </a:lnSpc>
              <a:buClr>
                <a:schemeClr val="accent1"/>
              </a:buClr>
              <a:buFont typeface="Arial" panose="020B0604020202020204" pitchFamily="34" charset="0"/>
              <a:buChar char="•"/>
            </a:pPr>
            <a:r>
              <a:rPr lang="zh-CN" altLang="en-US" sz="1200" b="1" dirty="0">
                <a:solidFill>
                  <a:schemeClr val="tx1"/>
                </a:solidFill>
                <a:latin typeface="微软雅黑" panose="020B0503020204020204" pitchFamily="34" charset="-122"/>
                <a:ea typeface="微软雅黑" panose="020B0503020204020204" pitchFamily="34" charset="-122"/>
                <a:sym typeface="+mn-ea"/>
              </a:rPr>
              <a:t>渠效能评估能力：</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构建渠道效能指标库，分析渠道效益指标、计算渠道投入产出</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比，提供</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渠道效能评估分析</a:t>
            </a:r>
            <a:r>
              <a:rPr kumimoji="1" lang="zh-CN"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10" name="矩形 9"/>
          <p:cNvSpPr/>
          <p:nvPr/>
        </p:nvSpPr>
        <p:spPr>
          <a:xfrm>
            <a:off x="9561195" y="1539240"/>
            <a:ext cx="2265680" cy="2096135"/>
          </a:xfrm>
          <a:prstGeom prst="rect">
            <a:avLst/>
          </a:prstGeom>
          <a:solidFill>
            <a:schemeClr val="bg1"/>
          </a:solidFill>
          <a:ln w="12700" cap="flat" cmpd="sng">
            <a:solidFill>
              <a:schemeClr val="bg1">
                <a:lumMod val="85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pPr marL="228600" indent="-228600">
              <a:lnSpc>
                <a:spcPct val="150000"/>
              </a:lnSpc>
              <a:buClr>
                <a:schemeClr val="accent1"/>
              </a:buClr>
              <a:buFont typeface="Wingdings" panose="05000000000000000000" pitchFamily="2" charset="2"/>
              <a:buChar char="ü"/>
            </a:pPr>
            <a:r>
              <a:rPr lang="zh-CN" altLang="en-US" sz="1200" noProof="0" dirty="0">
                <a:solidFill>
                  <a:schemeClr val="tx1"/>
                </a:solidFill>
                <a:latin typeface="+mn-ea"/>
                <a:sym typeface="+mn-ea"/>
              </a:rPr>
              <a:t>完成</a:t>
            </a:r>
            <a:r>
              <a:rPr lang="en-US" altLang="zh-CN" sz="1200" noProof="0" dirty="0">
                <a:solidFill>
                  <a:schemeClr val="tx1"/>
                </a:solidFill>
                <a:latin typeface="+mn-ea"/>
                <a:sym typeface="+mn-ea"/>
              </a:rPr>
              <a:t>80+</a:t>
            </a:r>
            <a:r>
              <a:rPr lang="zh-CN" altLang="en-US" sz="1200" noProof="0" dirty="0">
                <a:solidFill>
                  <a:schemeClr val="tx1"/>
                </a:solidFill>
                <a:latin typeface="+mn-ea"/>
                <a:sym typeface="+mn-ea"/>
              </a:rPr>
              <a:t>个渠道触点拉通</a:t>
            </a:r>
            <a:endParaRPr kumimoji="1" lang="zh-CN" altLang="en-US" sz="1200" i="0" u="none" strike="noStrike" kern="0" cap="none" spc="0" normalizeH="0" baseline="0" noProof="0" dirty="0">
              <a:ln>
                <a:noFill/>
              </a:ln>
              <a:solidFill>
                <a:schemeClr val="tx1"/>
              </a:solidFill>
              <a:effectLst/>
              <a:uLnTx/>
              <a:uFillTx/>
              <a:latin typeface="+mn-ea"/>
            </a:endParaRPr>
          </a:p>
          <a:p>
            <a:pPr marL="228600" indent="-228600">
              <a:lnSpc>
                <a:spcPct val="150000"/>
              </a:lnSpc>
              <a:buClr>
                <a:schemeClr val="accent1"/>
              </a:buClr>
              <a:buFont typeface="Wingdings" panose="05000000000000000000" pitchFamily="2" charset="2"/>
              <a:buChar char="ü"/>
            </a:pPr>
            <a:r>
              <a:rPr lang="zh-CN" altLang="en-US" sz="1200" noProof="0" dirty="0">
                <a:solidFill>
                  <a:schemeClr val="tx1"/>
                </a:solidFill>
                <a:latin typeface="+mn-ea"/>
                <a:sym typeface="+mn-ea"/>
              </a:rPr>
              <a:t>中国移动</a:t>
            </a:r>
            <a:r>
              <a:rPr lang="en-US" altLang="zh-CN" sz="1200" noProof="0" dirty="0">
                <a:solidFill>
                  <a:schemeClr val="tx1"/>
                </a:solidFill>
                <a:latin typeface="+mn-ea"/>
                <a:sym typeface="+mn-ea"/>
              </a:rPr>
              <a:t>APP</a:t>
            </a:r>
            <a:r>
              <a:rPr lang="zh-CN" altLang="en-US" sz="1200" noProof="0" dirty="0">
                <a:solidFill>
                  <a:schemeClr val="tx1"/>
                </a:solidFill>
                <a:latin typeface="+mn-ea"/>
                <a:sym typeface="+mn-ea"/>
              </a:rPr>
              <a:t>月活</a:t>
            </a:r>
            <a:r>
              <a:rPr lang="zh-CN" altLang="en-US" sz="1200" dirty="0">
                <a:solidFill>
                  <a:schemeClr val="tx1"/>
                </a:solidFill>
                <a:latin typeface="+mn-ea"/>
                <a:cs typeface="Arial" panose="020B0604020202020204" pitchFamily="34" charset="0"/>
                <a:sym typeface="+mn-ea"/>
              </a:rPr>
              <a:t>≥</a:t>
            </a:r>
            <a:r>
              <a:rPr lang="en-US" altLang="zh-CN" sz="1200" dirty="0">
                <a:solidFill>
                  <a:schemeClr val="tx1"/>
                </a:solidFill>
                <a:latin typeface="+mn-ea"/>
                <a:cs typeface="Arial" panose="020B0604020202020204" pitchFamily="34" charset="0"/>
                <a:sym typeface="+mn-ea"/>
              </a:rPr>
              <a:t>4.0</a:t>
            </a:r>
            <a:r>
              <a:rPr lang="zh-CN" altLang="en-US" sz="1200" dirty="0">
                <a:solidFill>
                  <a:schemeClr val="tx1"/>
                </a:solidFill>
                <a:latin typeface="+mn-ea"/>
                <a:cs typeface="Arial" panose="020B0604020202020204" pitchFamily="34" charset="0"/>
                <a:sym typeface="+mn-ea"/>
              </a:rPr>
              <a:t>亿</a:t>
            </a:r>
            <a:endParaRPr kumimoji="1" lang="zh-CN" altLang="en-US" sz="1200" i="0" u="none" strike="noStrike" kern="0" cap="none" spc="0" normalizeH="0" baseline="0" noProof="0" dirty="0">
              <a:ln>
                <a:noFill/>
              </a:ln>
              <a:solidFill>
                <a:schemeClr val="tx1"/>
              </a:solidFill>
              <a:effectLst/>
              <a:uLnTx/>
              <a:uFillTx/>
              <a:latin typeface="+mn-ea"/>
            </a:endParaRPr>
          </a:p>
        </p:txBody>
      </p:sp>
      <p:sp>
        <p:nvSpPr>
          <p:cNvPr id="2" name="标题 1"/>
          <p:cNvSpPr>
            <a:spLocks noGrp="1"/>
          </p:cNvSpPr>
          <p:nvPr>
            <p:ph type="title"/>
          </p:nvPr>
        </p:nvSpPr>
        <p:spPr/>
        <p:txBody>
          <a:bodyPr>
            <a:normAutofit/>
          </a:bodyPr>
          <a:lstStyle/>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施工图|</a:t>
            </a:r>
            <a:r>
              <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rPr>
              <a:t>强化渠道平台化运营</a:t>
            </a:r>
            <a:endPar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endParaRPr>
          </a:p>
        </p:txBody>
      </p:sp>
      <p:sp>
        <p:nvSpPr>
          <p:cNvPr id="3" name="文本占位符 2"/>
          <p:cNvSpPr>
            <a:spLocks noGrp="1"/>
          </p:cNvSpPr>
          <p:nvPr>
            <p:ph type="body" sz="quarter" idx="10"/>
          </p:nvPr>
        </p:nvSpPr>
        <p:spPr>
          <a:xfrm>
            <a:off x="0" y="898525"/>
            <a:ext cx="12178665" cy="349250"/>
          </a:xfrm>
        </p:spPr>
        <p:txBody>
          <a:bodyPr/>
          <a:lstStyle/>
          <a:p>
            <a:r>
              <a:rPr lang="zh-CN" altLang="en-US"/>
              <a:t>统一渠道运营编码体系串联产品、渠道、触点和订单编码</a:t>
            </a:r>
            <a:r>
              <a:rPr lang="zh-CN" altLang="en-US"/>
              <a:t>，实现端到</a:t>
            </a:r>
            <a:r>
              <a:rPr lang="zh-CN" altLang="en-US"/>
              <a:t>端渠道运营，贯穿触客、调度、办理全流程运营</a:t>
            </a:r>
            <a:r>
              <a:rPr lang="zh-CN" altLang="en-US"/>
              <a:t>。</a:t>
            </a:r>
            <a:endParaRPr lang="zh-CN" altLang="en-US"/>
          </a:p>
        </p:txBody>
      </p:sp>
      <p:sp>
        <p:nvSpPr>
          <p:cNvPr id="5" name="矩形 4"/>
          <p:cNvSpPr/>
          <p:nvPr/>
        </p:nvSpPr>
        <p:spPr>
          <a:xfrm>
            <a:off x="365124" y="1231689"/>
            <a:ext cx="1753870" cy="337820"/>
          </a:xfrm>
          <a:prstGeom prst="rect">
            <a:avLst/>
          </a:prstGeom>
          <a:solidFill>
            <a:srgbClr val="DFF2FF"/>
          </a:solidFill>
          <a:ln>
            <a:solidFill>
              <a:srgbClr val="DFF2FF"/>
            </a:solidFill>
          </a:ln>
        </p:spPr>
        <p:txBody>
          <a:bodyPr wrap="square" anchor="ctr"/>
          <a:lstStyle/>
          <a:p>
            <a:pPr marL="0" lvl="0" indent="0" algn="ctr" defTabSz="913765">
              <a:lnSpc>
                <a:spcPct val="120000"/>
              </a:lnSpc>
              <a:spcBef>
                <a:spcPts val="0"/>
              </a:spcBef>
              <a:spcAft>
                <a:spcPts val="0"/>
              </a:spcAft>
              <a:buClr>
                <a:srgbClr val="C00000"/>
              </a:buClr>
              <a:buSzTx/>
              <a:buFontTx/>
              <a:buNone/>
            </a:pPr>
            <a:r>
              <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rPr>
              <a:t>痛点</a:t>
            </a:r>
            <a:endPar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endParaRPr>
          </a:p>
        </p:txBody>
      </p:sp>
      <p:sp>
        <p:nvSpPr>
          <p:cNvPr id="7" name="矩形 6"/>
          <p:cNvSpPr/>
          <p:nvPr/>
        </p:nvSpPr>
        <p:spPr>
          <a:xfrm>
            <a:off x="2519044" y="1227879"/>
            <a:ext cx="6624000" cy="33591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举措要点</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9" name="矩形 8"/>
          <p:cNvSpPr/>
          <p:nvPr/>
        </p:nvSpPr>
        <p:spPr>
          <a:xfrm>
            <a:off x="9561195" y="1214755"/>
            <a:ext cx="2265680" cy="35115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en-US" altLang="zh-CN" sz="1400" b="1" dirty="0">
                <a:solidFill>
                  <a:schemeClr val="accent1"/>
                </a:solidFill>
                <a:latin typeface="微软雅黑" panose="020B0503020204020204" pitchFamily="34" charset="-122"/>
                <a:ea typeface="微软雅黑" panose="020B0503020204020204" pitchFamily="34" charset="-122"/>
              </a:rPr>
              <a:t>2025</a:t>
            </a:r>
            <a:r>
              <a:rPr lang="zh-CN" altLang="en-US" sz="1400" b="1" dirty="0">
                <a:solidFill>
                  <a:schemeClr val="accent1"/>
                </a:solidFill>
                <a:latin typeface="微软雅黑" panose="020B0503020204020204" pitchFamily="34" charset="-122"/>
                <a:ea typeface="微软雅黑" panose="020B0503020204020204" pitchFamily="34" charset="-122"/>
              </a:rPr>
              <a:t>年</a:t>
            </a:r>
            <a:r>
              <a:rPr lang="zh-CN" altLang="en-US" sz="1400" b="1" dirty="0">
                <a:solidFill>
                  <a:schemeClr val="accent1"/>
                </a:solidFill>
                <a:latin typeface="微软雅黑" panose="020B0503020204020204" pitchFamily="34" charset="-122"/>
                <a:ea typeface="微软雅黑" panose="020B0503020204020204" pitchFamily="34" charset="-122"/>
              </a:rPr>
              <a:t>重点指标</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365125" y="3705860"/>
            <a:ext cx="11461750" cy="1217295"/>
            <a:chOff x="575" y="6179"/>
            <a:chExt cx="18050" cy="1571"/>
          </a:xfrm>
        </p:grpSpPr>
        <p:sp>
          <p:nvSpPr>
            <p:cNvPr id="20" name="矩形 19"/>
            <p:cNvSpPr/>
            <p:nvPr/>
          </p:nvSpPr>
          <p:spPr>
            <a:xfrm>
              <a:off x="1579" y="6179"/>
              <a:ext cx="17046" cy="153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200" b="1" dirty="0">
                  <a:solidFill>
                    <a:prstClr val="black"/>
                  </a:solidFill>
                  <a:latin typeface="微软雅黑" panose="020B0503020204020204" pitchFamily="34" charset="-122"/>
                  <a:ea typeface="微软雅黑" panose="020B0503020204020204" pitchFamily="34" charset="-122"/>
                </a:rPr>
                <a:t>总部：</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①</a:t>
              </a:r>
              <a:r>
                <a:rPr lang="zh-CN" altLang="en-US" sz="1200" dirty="0">
                  <a:solidFill>
                    <a:prstClr val="black"/>
                  </a:solidFill>
                  <a:latin typeface="微软雅黑" panose="020B0503020204020204" pitchFamily="34" charset="-122"/>
                  <a:ea typeface="微软雅黑" panose="020B0503020204020204" pitchFamily="34" charset="-122"/>
                </a:rPr>
                <a:t>负责明确数智化转型的目标、路径和关键举措</a:t>
              </a:r>
              <a:r>
                <a:rPr lang="en-US" altLang="zh-CN" sz="1200" dirty="0">
                  <a:solidFill>
                    <a:prstClr val="black"/>
                  </a:solidFill>
                  <a:latin typeface="微软雅黑" panose="020B0503020204020204" pitchFamily="34" charset="-122"/>
                  <a:ea typeface="微软雅黑" panose="020B0503020204020204" pitchFamily="34" charset="-122"/>
                </a:rPr>
                <a:t>；</a:t>
              </a:r>
              <a:endParaRPr lang="zh-CN" altLang="en-US" sz="12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200" b="1" dirty="0">
                  <a:solidFill>
                    <a:prstClr val="black"/>
                  </a:solidFill>
                  <a:latin typeface="微软雅黑" panose="020B0503020204020204" pitchFamily="34" charset="-122"/>
                  <a:ea typeface="微软雅黑" panose="020B0503020204020204" pitchFamily="34" charset="-122"/>
                </a:rPr>
                <a:t>省专分公司：</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①</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省专</a:t>
              </a:r>
              <a:r>
                <a:rPr lang="zh-CN" altLang="en-US" sz="1200" dirty="0">
                  <a:solidFill>
                    <a:prstClr val="black"/>
                  </a:solidFill>
                  <a:latin typeface="微软雅黑" panose="020B0503020204020204" pitchFamily="34" charset="-122"/>
                  <a:ea typeface="微软雅黑" panose="020B0503020204020204" pitchFamily="34" charset="-122"/>
                </a:rPr>
                <a:t>具备同类系统对接，实现系统</a:t>
              </a:r>
              <a:r>
                <a:rPr lang="zh-CN" altLang="en-US" sz="1200" dirty="0">
                  <a:solidFill>
                    <a:prstClr val="black"/>
                  </a:solidFill>
                  <a:latin typeface="微软雅黑" panose="020B0503020204020204" pitchFamily="34" charset="-122"/>
                  <a:ea typeface="微软雅黑" panose="020B0503020204020204" pitchFamily="34" charset="-122"/>
                  <a:sym typeface="+mn-ea"/>
                </a:rPr>
                <a:t>两级</a:t>
              </a:r>
              <a:r>
                <a:rPr lang="zh-CN" altLang="en-US" sz="1200" dirty="0">
                  <a:solidFill>
                    <a:prstClr val="black"/>
                  </a:solidFill>
                  <a:latin typeface="微软雅黑" panose="020B0503020204020204" pitchFamily="34" charset="-122"/>
                  <a:ea typeface="微软雅黑" panose="020B0503020204020204" pitchFamily="34" charset="-122"/>
                </a:rPr>
                <a:t>建设</a:t>
              </a:r>
              <a:r>
                <a:rPr lang="en-US" altLang="zh-CN"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②</a:t>
              </a:r>
              <a:r>
                <a:rPr lang="zh-CN" altLang="en-US" sz="1200" dirty="0">
                  <a:solidFill>
                    <a:prstClr val="black"/>
                  </a:solidFill>
                  <a:latin typeface="微软雅黑" panose="020B0503020204020204" pitchFamily="34" charset="-122"/>
                  <a:ea typeface="微软雅黑" panose="020B0503020204020204" pitchFamily="34" charset="-122"/>
                  <a:sym typeface="+mn-ea"/>
                </a:rPr>
                <a:t>省专需</a:t>
              </a:r>
              <a:r>
                <a:rPr lang="zh-CN" altLang="en-US" sz="1200" dirty="0">
                  <a:solidFill>
                    <a:prstClr val="black"/>
                  </a:solidFill>
                  <a:latin typeface="微软雅黑" panose="020B0503020204020204" pitchFamily="34" charset="-122"/>
                  <a:ea typeface="微软雅黑" panose="020B0503020204020204" pitchFamily="34" charset="-122"/>
                </a:rPr>
                <a:t>配合精准投放落地，支撑总部渠道、触点、投放数据归集统一</a:t>
              </a:r>
              <a:r>
                <a:rPr lang="en-US" altLang="zh-CN" sz="1200" dirty="0">
                  <a:solidFill>
                    <a:prstClr val="black"/>
                  </a:solidFill>
                  <a:latin typeface="微软雅黑" panose="020B0503020204020204" pitchFamily="34" charset="-122"/>
                  <a:ea typeface="微软雅黑" panose="020B0503020204020204" pitchFamily="34" charset="-122"/>
                </a:rPr>
                <a:t>；</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按照触客数据汇聚工作要求配合网格系统完成接口规范制定及相关数据采集、接口开发工作；在线公司提供中国移动APP、热线、微厅及支付宝渠道的实时数据及接口开发工作。</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200" b="1" dirty="0">
                  <a:solidFill>
                    <a:prstClr val="black"/>
                  </a:solidFill>
                  <a:latin typeface="微软雅黑" panose="020B0503020204020204" pitchFamily="34" charset="-122"/>
                  <a:ea typeface="微软雅黑" panose="020B0503020204020204" pitchFamily="34" charset="-122"/>
                  <a:sym typeface="+mn-ea"/>
                </a:rPr>
                <a:t>地市：</a:t>
              </a:r>
              <a:r>
                <a:rPr lang="zh-CN" altLang="en-US" sz="1200" dirty="0">
                  <a:solidFill>
                    <a:prstClr val="black"/>
                  </a:solidFill>
                  <a:latin typeface="微软雅黑" panose="020B0503020204020204" pitchFamily="34" charset="-122"/>
                  <a:ea typeface="微软雅黑" panose="020B0503020204020204" pitchFamily="34" charset="-122"/>
                  <a:sym typeface="+mn-ea"/>
                </a:rPr>
                <a:t>严格执行省公司制定的渠道数智化转型实施方案，落实各项工作任务。</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19" name="矩形 18"/>
            <p:cNvSpPr/>
            <p:nvPr/>
          </p:nvSpPr>
          <p:spPr>
            <a:xfrm>
              <a:off x="575" y="6179"/>
              <a:ext cx="1008" cy="1571"/>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职责分工</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grpSp>
      <p:sp>
        <p:nvSpPr>
          <p:cNvPr id="24" name="Freeform 22"/>
          <p:cNvSpPr/>
          <p:nvPr/>
        </p:nvSpPr>
        <p:spPr bwMode="auto">
          <a:xfrm rot="16200000" flipV="1">
            <a:off x="1143635" y="2132965"/>
            <a:ext cx="2362200" cy="448310"/>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5" name="Freeform 22"/>
          <p:cNvSpPr/>
          <p:nvPr/>
        </p:nvSpPr>
        <p:spPr bwMode="auto">
          <a:xfrm rot="16200000" flipV="1">
            <a:off x="8126730" y="2192020"/>
            <a:ext cx="2480310" cy="448310"/>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2" name="组合 11"/>
          <p:cNvGrpSpPr/>
          <p:nvPr/>
        </p:nvGrpSpPr>
        <p:grpSpPr>
          <a:xfrm>
            <a:off x="358140" y="4937125"/>
            <a:ext cx="11468100" cy="1837596"/>
            <a:chOff x="564" y="7274"/>
            <a:chExt cx="18060" cy="3395"/>
          </a:xfrm>
        </p:grpSpPr>
        <p:sp>
          <p:nvSpPr>
            <p:cNvPr id="31" name="矩形 30"/>
            <p:cNvSpPr/>
            <p:nvPr/>
          </p:nvSpPr>
          <p:spPr>
            <a:xfrm>
              <a:off x="1579" y="7430"/>
              <a:ext cx="17045" cy="3207"/>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195" fontAlgn="base">
                <a:lnSpc>
                  <a:spcPct val="150000"/>
                </a:lnSpc>
                <a:spcBef>
                  <a:spcPct val="0"/>
                </a:spcBef>
                <a:spcAft>
                  <a:spcPct val="0"/>
                </a:spcAft>
                <a:buClr>
                  <a:schemeClr val="accent1"/>
                </a:buClr>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15" name="箭头: 右 40"/>
            <p:cNvSpPr/>
            <p:nvPr/>
          </p:nvSpPr>
          <p:spPr>
            <a:xfrm>
              <a:off x="1534" y="7274"/>
              <a:ext cx="17090" cy="820"/>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9023" y="7488"/>
              <a:ext cx="2131" cy="50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14800" y="7488"/>
              <a:ext cx="2131" cy="50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矩形 17"/>
            <p:cNvSpPr/>
            <p:nvPr/>
          </p:nvSpPr>
          <p:spPr>
            <a:xfrm>
              <a:off x="564" y="7430"/>
              <a:ext cx="1015" cy="3239"/>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里</a:t>
              </a:r>
              <a:endParaRPr lang="zh-CN" altLang="en-US" sz="1400" b="1" dirty="0">
                <a:solidFill>
                  <a:schemeClr val="accent1"/>
                </a:solidFill>
                <a:latin typeface="微软雅黑" panose="020B0503020204020204" pitchFamily="34" charset="-122"/>
                <a:ea typeface="微软雅黑" panose="020B0503020204020204" pitchFamily="34" charset="-122"/>
              </a:endParaRPr>
            </a:p>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程</a:t>
              </a:r>
              <a:endParaRPr lang="zh-CN" altLang="en-US" sz="1400" b="1" dirty="0">
                <a:solidFill>
                  <a:schemeClr val="accent1"/>
                </a:solidFill>
                <a:latin typeface="微软雅黑" panose="020B0503020204020204" pitchFamily="34" charset="-122"/>
                <a:ea typeface="微软雅黑" panose="020B0503020204020204" pitchFamily="34" charset="-122"/>
              </a:endParaRPr>
            </a:p>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碑</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634" y="7489"/>
              <a:ext cx="2131" cy="50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2" name="文本框 61"/>
            <p:cNvSpPr txBox="1"/>
            <p:nvPr>
              <p:custDataLst>
                <p:tags r:id="rId1"/>
              </p:custDataLst>
            </p:nvPr>
          </p:nvSpPr>
          <p:spPr>
            <a:xfrm>
              <a:off x="1720" y="7961"/>
              <a:ext cx="5698" cy="2418"/>
            </a:xfrm>
            <a:prstGeom prst="rect">
              <a:avLst/>
            </a:prstGeom>
            <a:noFill/>
          </p:spPr>
          <p:txBody>
            <a:bodyPr wrap="square" rtlCol="0" anchor="t">
              <a:noAutofit/>
            </a:bodyPr>
            <a:lstStyle/>
            <a:p>
              <a:pPr marL="171450" indent="-171450" algn="l" fontAlgn="auto">
                <a:lnSpc>
                  <a:spcPct val="150000"/>
                </a:lnSpc>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完成触客数据标准化接入，完成智慧驾驶舱监控指标体系构建，上线智慧驾驶舱触客相关大屏。</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lgn="l" fontAlgn="auto">
                <a:lnSpc>
                  <a:spcPct val="150000"/>
                </a:lnSpc>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完成</a:t>
              </a:r>
              <a:r>
                <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一级</a:t>
              </a:r>
              <a:r>
                <a:rPr kumimoji="1"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APP</a:t>
              </a:r>
              <a:r>
                <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投放</a:t>
              </a:r>
              <a:r>
                <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及用户行为数据；</a:t>
              </a:r>
              <a:endPar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171450" indent="-171450" algn="l" fontAlgn="auto">
                <a:lnSpc>
                  <a:spcPct val="150000"/>
                </a:lnSpc>
                <a:buFont typeface="Arial" panose="020B0604020202020204" pitchFamily="34" charset="0"/>
                <a:buChar char="•"/>
              </a:pPr>
              <a:r>
                <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完成</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线上厅店数据进行统一汇总；</a:t>
              </a:r>
              <a:endParaRPr kumimoji="1" lang="en-US" altLang="zh-CN" sz="120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89" name="文本框 88"/>
            <p:cNvSpPr txBox="1"/>
            <p:nvPr>
              <p:custDataLst>
                <p:tags r:id="rId2"/>
              </p:custDataLst>
            </p:nvPr>
          </p:nvSpPr>
          <p:spPr>
            <a:xfrm>
              <a:off x="7698" y="7961"/>
              <a:ext cx="5867" cy="2260"/>
            </a:xfrm>
            <a:prstGeom prst="rect">
              <a:avLst/>
            </a:prstGeom>
            <a:noFill/>
          </p:spPr>
          <p:txBody>
            <a:bodyPr wrap="square" rtlCol="0" anchor="t">
              <a:noAutofit/>
            </a:bodyPr>
            <a:lstStyle/>
            <a:p>
              <a:pPr marL="136525" indent="-136525" algn="l" fontAlgn="auto">
                <a:lnSpc>
                  <a:spcPct val="150000"/>
                </a:lnSpc>
                <a:buFont typeface="Arial" panose="020B0604020202020204" pitchFamily="34" charset="0"/>
                <a:buChar char="•"/>
              </a:pPr>
              <a:r>
                <a:rPr kumimoji="1" lang="zh-CN" altLang="en-US" sz="1200" noProof="0" dirty="0">
                  <a:ln>
                    <a:noFill/>
                  </a:ln>
                  <a:effectLst/>
                  <a:uLnTx/>
                  <a:uFillTx/>
                  <a:latin typeface="微软雅黑" panose="020B0503020204020204" pitchFamily="34" charset="-122"/>
                  <a:ea typeface="微软雅黑" panose="020B0503020204020204" pitchFamily="34" charset="-122"/>
                  <a:sym typeface="+mn-ea"/>
                </a:rPr>
                <a:t>完成省专</a:t>
              </a:r>
              <a:r>
                <a:rPr kumimoji="1" lang="en-US" altLang="zh-CN" sz="1200" noProof="0" dirty="0">
                  <a:ln>
                    <a:noFill/>
                  </a:ln>
                  <a:effectLst/>
                  <a:uLnTx/>
                  <a:uFillTx/>
                  <a:latin typeface="微软雅黑" panose="020B0503020204020204" pitchFamily="34" charset="-122"/>
                  <a:ea typeface="微软雅黑" panose="020B0503020204020204" pitchFamily="34" charset="-122"/>
                  <a:sym typeface="+mn-ea"/>
                </a:rPr>
                <a:t>APP</a:t>
              </a:r>
              <a:r>
                <a:rPr kumimoji="1" lang="zh-CN" altLang="en-US" sz="1200" noProof="0" dirty="0">
                  <a:ln>
                    <a:noFill/>
                  </a:ln>
                  <a:effectLst/>
                  <a:uLnTx/>
                  <a:uFillTx/>
                  <a:latin typeface="微软雅黑" panose="020B0503020204020204" pitchFamily="34" charset="-122"/>
                  <a:ea typeface="微软雅黑" panose="020B0503020204020204" pitchFamily="34" charset="-122"/>
                  <a:sym typeface="+mn-ea"/>
                </a:rPr>
                <a:t>渠道</a:t>
              </a:r>
              <a:r>
                <a:rPr kumimoji="1" lang="zh-CN" altLang="en-US" sz="1200" noProof="0" dirty="0">
                  <a:ln>
                    <a:noFill/>
                  </a:ln>
                  <a:effectLst/>
                  <a:uLnTx/>
                  <a:uFillTx/>
                  <a:latin typeface="微软雅黑" panose="020B0503020204020204" pitchFamily="34" charset="-122"/>
                  <a:ea typeface="微软雅黑" panose="020B0503020204020204" pitchFamily="34" charset="-122"/>
                  <a:sym typeface="+mn-ea"/>
                </a:rPr>
                <a:t>数据，</a:t>
              </a:r>
              <a:r>
                <a:rPr kumimoji="1" lang="zh-CN" altLang="en-US" sz="1200" noProof="0" dirty="0">
                  <a:ln>
                    <a:noFill/>
                  </a:ln>
                  <a:effectLst/>
                  <a:uLnTx/>
                  <a:uFillTx/>
                  <a:latin typeface="微软雅黑" panose="020B0503020204020204" pitchFamily="34" charset="-122"/>
                  <a:ea typeface="微软雅黑" panose="020B0503020204020204" pitchFamily="34" charset="-122"/>
                  <a:sym typeface="+mn-ea"/>
                </a:rPr>
                <a:t>全网触点接入</a:t>
              </a:r>
              <a:r>
                <a:rPr kumimoji="1" lang="en-US" altLang="zh-CN" sz="1200" noProof="0" dirty="0">
                  <a:ln>
                    <a:noFill/>
                  </a:ln>
                  <a:effectLst/>
                  <a:uLnTx/>
                  <a:uFillTx/>
                  <a:latin typeface="微软雅黑" panose="020B0503020204020204" pitchFamily="34" charset="-122"/>
                  <a:ea typeface="微软雅黑" panose="020B0503020204020204" pitchFamily="34" charset="-122"/>
                  <a:sym typeface="+mn-ea"/>
                </a:rPr>
                <a:t>，</a:t>
              </a:r>
              <a:r>
                <a:rPr kumimoji="1" lang="zh-CN" altLang="en-US" sz="1200" noProof="0" dirty="0">
                  <a:ln>
                    <a:noFill/>
                  </a:ln>
                  <a:effectLst/>
                  <a:uLnTx/>
                  <a:uFillTx/>
                  <a:latin typeface="微软雅黑" panose="020B0503020204020204" pitchFamily="34" charset="-122"/>
                  <a:ea typeface="微软雅黑" panose="020B0503020204020204" pitchFamily="34" charset="-122"/>
                  <a:sym typeface="+mn-ea"/>
                </a:rPr>
                <a:t>统一管理</a:t>
              </a:r>
              <a:r>
                <a:rPr kumimoji="1" lang="en-US" altLang="zh-CN" sz="1200" noProof="0" dirty="0">
                  <a:ln>
                    <a:noFill/>
                  </a:ln>
                  <a:effectLst/>
                  <a:uLnTx/>
                  <a:uFillTx/>
                  <a:latin typeface="微软雅黑" panose="020B0503020204020204" pitchFamily="34" charset="-122"/>
                  <a:ea typeface="微软雅黑" panose="020B0503020204020204" pitchFamily="34" charset="-122"/>
                  <a:sym typeface="+mn-ea"/>
                </a:rPr>
                <a:t>；</a:t>
              </a:r>
              <a:endParaRPr kumimoji="1" lang="zh-CN" altLang="en-US" sz="1200" noProof="0" dirty="0">
                <a:ln>
                  <a:noFill/>
                </a:ln>
                <a:effectLst/>
                <a:uLnTx/>
                <a:uFillTx/>
                <a:latin typeface="微软雅黑" panose="020B0503020204020204" pitchFamily="34" charset="-122"/>
                <a:ea typeface="微软雅黑" panose="020B0503020204020204" pitchFamily="34" charset="-122"/>
                <a:sym typeface="+mn-ea"/>
              </a:endParaRPr>
            </a:p>
            <a:p>
              <a:pPr marL="136525" indent="-136525" algn="l" fontAlgn="auto">
                <a:lnSpc>
                  <a:spcPct val="150000"/>
                </a:lnSpc>
                <a:buFont typeface="Arial" panose="020B0604020202020204" pitchFamily="34" charset="0"/>
                <a:buChar char="•"/>
              </a:pPr>
              <a:r>
                <a:rPr kumimoji="1" lang="zh-CN" sz="1200" noProof="0" dirty="0">
                  <a:ln>
                    <a:noFill/>
                  </a:ln>
                  <a:effectLst/>
                  <a:uLnTx/>
                  <a:uFillTx/>
                  <a:latin typeface="微软雅黑" panose="020B0503020204020204" pitchFamily="34" charset="-122"/>
                  <a:ea typeface="微软雅黑" panose="020B0503020204020204" pitchFamily="34" charset="-122"/>
                  <a:sym typeface="+mn-ea"/>
                </a:rPr>
                <a:t>提供渠道、触点</a:t>
              </a:r>
              <a:r>
                <a:rPr kumimoji="1" lang="zh-CN" sz="1200" noProof="0" dirty="0">
                  <a:ln>
                    <a:noFill/>
                  </a:ln>
                  <a:effectLst/>
                  <a:uLnTx/>
                  <a:uFillTx/>
                  <a:latin typeface="微软雅黑" panose="020B0503020204020204" pitchFamily="34" charset="-122"/>
                  <a:ea typeface="微软雅黑" panose="020B0503020204020204" pitchFamily="34" charset="-122"/>
                  <a:sym typeface="+mn-ea"/>
                </a:rPr>
                <a:t>编码分发能力；</a:t>
              </a:r>
              <a:endParaRPr kumimoji="1" lang="zh-CN" sz="1200" noProof="0" dirty="0">
                <a:ln>
                  <a:noFill/>
                </a:ln>
                <a:effectLst/>
                <a:uLnTx/>
                <a:uFillTx/>
                <a:latin typeface="微软雅黑" panose="020B0503020204020204" pitchFamily="34" charset="-122"/>
                <a:ea typeface="微软雅黑" panose="020B0503020204020204" pitchFamily="34" charset="-122"/>
                <a:sym typeface="+mn-ea"/>
              </a:endParaRPr>
            </a:p>
            <a:p>
              <a:pPr marL="136525" indent="-136525" algn="l" fontAlgn="auto">
                <a:lnSpc>
                  <a:spcPct val="150000"/>
                </a:lnSpc>
                <a:buFont typeface="Arial" panose="020B0604020202020204" pitchFamily="34" charset="0"/>
                <a:buChar char="•"/>
              </a:pPr>
              <a:r>
                <a:rPr kumimoji="1" lang="zh-CN" sz="1200" noProof="0" dirty="0">
                  <a:ln>
                    <a:noFill/>
                  </a:ln>
                  <a:effectLst/>
                  <a:uLnTx/>
                  <a:uFillTx/>
                  <a:latin typeface="微软雅黑" panose="020B0503020204020204" pitchFamily="34" charset="-122"/>
                  <a:ea typeface="微软雅黑" panose="020B0503020204020204" pitchFamily="34" charset="-122"/>
                  <a:sym typeface="+mn-ea"/>
                </a:rPr>
                <a:t>完成触点统一排期，</a:t>
              </a:r>
              <a:r>
                <a:rPr kumimoji="1" lang="zh-CN" altLang="en-US" sz="1200" noProof="0" dirty="0">
                  <a:ln>
                    <a:noFill/>
                  </a:ln>
                  <a:effectLst/>
                  <a:uLnTx/>
                  <a:uFillTx/>
                  <a:latin typeface="微软雅黑" panose="020B0503020204020204" pitchFamily="34" charset="-122"/>
                  <a:ea typeface="微软雅黑" panose="020B0503020204020204" pitchFamily="34" charset="-122"/>
                  <a:sym typeface="+mn-ea"/>
                </a:rPr>
                <a:t>拉通省专触点投放</a:t>
              </a:r>
              <a:r>
                <a:rPr kumimoji="1" lang="en-US" altLang="zh-CN" sz="1200" noProof="0" dirty="0">
                  <a:ln>
                    <a:noFill/>
                  </a:ln>
                  <a:effectLst/>
                  <a:uLnTx/>
                  <a:uFillTx/>
                  <a:latin typeface="微软雅黑" panose="020B0503020204020204" pitchFamily="34" charset="-122"/>
                  <a:ea typeface="微软雅黑" panose="020B0503020204020204" pitchFamily="34" charset="-122"/>
                  <a:sym typeface="+mn-ea"/>
                </a:rPr>
                <a:t>，</a:t>
              </a:r>
              <a:r>
                <a:rPr kumimoji="1" lang="zh-CN" altLang="en-US" sz="1200" noProof="0" dirty="0">
                  <a:ln>
                    <a:noFill/>
                  </a:ln>
                  <a:effectLst/>
                  <a:uLnTx/>
                  <a:uFillTx/>
                  <a:latin typeface="微软雅黑" panose="020B0503020204020204" pitchFamily="34" charset="-122"/>
                  <a:ea typeface="微软雅黑" panose="020B0503020204020204" pitchFamily="34" charset="-122"/>
                  <a:sym typeface="+mn-ea"/>
                </a:rPr>
                <a:t>支持</a:t>
              </a:r>
              <a:r>
                <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一点看全所有触点的排期情况</a:t>
              </a:r>
              <a:r>
                <a:rPr kumimoji="1"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a:t>
              </a:r>
              <a:endPar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136525" indent="-136525" algn="l" fontAlgn="auto">
                <a:lnSpc>
                  <a:spcPct val="150000"/>
                </a:lnSpc>
                <a:buFont typeface="Arial" panose="020B0604020202020204" pitchFamily="34" charset="0"/>
                <a:buChar char="•"/>
              </a:pPr>
              <a:r>
                <a:rPr kumimoji="1" lang="zh-CN" altLang="en-US"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实现线上厅店数据实现统一管理，多点同步；</a:t>
              </a:r>
              <a:endParaRPr kumimoji="1" lang="zh-CN"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99" name="文本框 98"/>
            <p:cNvSpPr txBox="1"/>
            <p:nvPr>
              <p:custDataLst>
                <p:tags r:id="rId3"/>
              </p:custDataLst>
            </p:nvPr>
          </p:nvSpPr>
          <p:spPr>
            <a:xfrm>
              <a:off x="14016" y="7961"/>
              <a:ext cx="4429" cy="1703"/>
            </a:xfrm>
            <a:prstGeom prst="rect">
              <a:avLst/>
            </a:prstGeom>
            <a:noFill/>
          </p:spPr>
          <p:txBody>
            <a:bodyPr wrap="square" rtlCol="0" anchor="t">
              <a:spAutoFit/>
            </a:bodyPr>
            <a:lstStyle/>
            <a:p>
              <a:pPr marL="136525" indent="-136525" algn="l" fontAlgn="auto">
                <a:lnSpc>
                  <a:spcPct val="150000"/>
                </a:lnSpc>
                <a:buFont typeface="Arial" panose="020B0604020202020204" pitchFamily="34" charset="0"/>
                <a:buChar char="•"/>
              </a:pP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智能排查工具升级，提升运营排查投放</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问题效率；</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36525" indent="-136525" algn="l" fontAlgn="auto">
                <a:lnSpc>
                  <a:spcPct val="150000"/>
                </a:lnSpc>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支撑动态</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生成渠道效能评估报表</a:t>
              </a:r>
              <a:r>
                <a:rPr kumimoji="1" lang="zh-CN" sz="1200"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a:t>
              </a:r>
              <a:endParaRPr kumimoji="1" lang="en-US" altLang="zh-CN" sz="12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11" name="文本框 10"/>
          <p:cNvSpPr txBox="1"/>
          <p:nvPr/>
        </p:nvSpPr>
        <p:spPr>
          <a:xfrm>
            <a:off x="7297420" y="274320"/>
            <a:ext cx="4050030" cy="1718310"/>
          </a:xfrm>
          <a:prstGeom prst="rect">
            <a:avLst/>
          </a:prstGeom>
          <a:solidFill>
            <a:srgbClr val="C00000"/>
          </a:solidFill>
        </p:spPr>
        <p:txBody>
          <a:bodyPr wrap="square" rtlCol="0">
            <a:noAutofit/>
          </a:bodyPr>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请渠道组调整</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重点在渠道运营：</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en-US" altLang="zh-CN" sz="1400" dirty="0" smtClean="0">
                <a:solidFill>
                  <a:schemeClr val="bg1"/>
                </a:solidFill>
                <a:latin typeface="微软雅黑" panose="020B0503020204020204" pitchFamily="34" charset="-122"/>
                <a:ea typeface="微软雅黑" panose="020B0503020204020204" pitchFamily="34" charset="-122"/>
              </a:rPr>
              <a:t>1</a:t>
            </a:r>
            <a:r>
              <a:rPr kumimoji="1" lang="zh-CN" altLang="en-US" sz="1400" dirty="0" smtClean="0">
                <a:solidFill>
                  <a:schemeClr val="bg1"/>
                </a:solidFill>
                <a:latin typeface="微软雅黑" panose="020B0503020204020204" pitchFamily="34" charset="-122"/>
                <a:ea typeface="微软雅黑" panose="020B0503020204020204" pitchFamily="34" charset="-122"/>
              </a:rPr>
              <a:t>、包含集省在线做的工作</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en-US" altLang="zh-CN" sz="1400" dirty="0" smtClean="0">
                <a:solidFill>
                  <a:schemeClr val="bg1"/>
                </a:solidFill>
                <a:latin typeface="微软雅黑" panose="020B0503020204020204" pitchFamily="34" charset="-122"/>
                <a:ea typeface="微软雅黑" panose="020B0503020204020204" pitchFamily="34" charset="-122"/>
              </a:rPr>
              <a:t>2</a:t>
            </a:r>
            <a:r>
              <a:rPr kumimoji="1" lang="zh-CN" altLang="en-US" sz="1400" dirty="0" smtClean="0">
                <a:solidFill>
                  <a:schemeClr val="bg1"/>
                </a:solidFill>
                <a:latin typeface="微软雅黑" panose="020B0503020204020204" pitchFamily="34" charset="-122"/>
                <a:ea typeface="微软雅黑" panose="020B0503020204020204" pitchFamily="34" charset="-122"/>
              </a:rPr>
              <a:t>、工作台上渠道运营（</a:t>
            </a:r>
            <a:r>
              <a:rPr kumimoji="1" lang="en-US" altLang="zh-CN" sz="1400" dirty="0" smtClean="0">
                <a:solidFill>
                  <a:schemeClr val="bg1"/>
                </a:solidFill>
                <a:latin typeface="微软雅黑" panose="020B0503020204020204" pitchFamily="34" charset="-122"/>
                <a:ea typeface="微软雅黑" panose="020B0503020204020204" pitchFamily="34" charset="-122"/>
              </a:rPr>
              <a:t>APP</a:t>
            </a:r>
            <a:r>
              <a:rPr kumimoji="1" lang="zh-CN" altLang="en-US" sz="1400" dirty="0" smtClean="0">
                <a:solidFill>
                  <a:schemeClr val="bg1"/>
                </a:solidFill>
                <a:latin typeface="微软雅黑" panose="020B0503020204020204" pitchFamily="34" charset="-122"/>
                <a:ea typeface="微软雅黑" panose="020B0503020204020204" pitchFamily="34" charset="-122"/>
              </a:rPr>
              <a:t>、企微、泛全、渠道效能等）</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002662" y="5570874"/>
            <a:ext cx="10782301" cy="100747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195" fontAlgn="base">
              <a:lnSpc>
                <a:spcPct val="150000"/>
              </a:lnSpc>
              <a:spcBef>
                <a:spcPct val="0"/>
              </a:spcBef>
              <a:spcAft>
                <a:spcPct val="0"/>
              </a:spcAft>
              <a:buClr>
                <a:schemeClr val="accent1"/>
              </a:buClr>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6" name="矩形 5"/>
          <p:cNvSpPr/>
          <p:nvPr/>
        </p:nvSpPr>
        <p:spPr>
          <a:xfrm>
            <a:off x="365124" y="1908718"/>
            <a:ext cx="1753870"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0" indent="-171450" algn="l" fontAlgn="auto">
              <a:lnSpc>
                <a:spcPct val="150000"/>
              </a:lnSpc>
              <a:spcBef>
                <a:spcPts val="0"/>
              </a:spcBef>
              <a:buClrTx/>
              <a:buSzTx/>
              <a:buFont typeface="Arial" panose="020B0604020202020204" pitchFamily="34" charset="0"/>
              <a:buChar char="•"/>
              <a:defRPr/>
            </a:pPr>
            <a:r>
              <a:rPr kumimoji="1" 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xx</a:t>
            </a:r>
            <a:endParaRPr kumimoji="1" lang="en-US" sz="110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8" name="矩形 7"/>
          <p:cNvSpPr/>
          <p:nvPr/>
        </p:nvSpPr>
        <p:spPr>
          <a:xfrm>
            <a:off x="2519044" y="1914879"/>
            <a:ext cx="6486576"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30000"/>
              </a:lnSpc>
              <a:buClr>
                <a:schemeClr val="accent1"/>
              </a:buClr>
              <a:buFont typeface="Arial" panose="020B0604020202020204" pitchFamily="34" charset="0"/>
              <a:buChar char="•"/>
            </a:pPr>
            <a:r>
              <a:rPr kumimoji="1" 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xxx</a:t>
            </a:r>
            <a:endParaRPr 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10" name="矩形 9"/>
          <p:cNvSpPr/>
          <p:nvPr/>
        </p:nvSpPr>
        <p:spPr>
          <a:xfrm>
            <a:off x="9444958" y="2032994"/>
            <a:ext cx="2340005" cy="176015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171450" indent="-171450">
              <a:buClr>
                <a:schemeClr val="accent1"/>
              </a:buClr>
              <a:buFont typeface="Arial" panose="020B0604020202020204" pitchFamily="34" charset="0"/>
              <a:buChar char="•"/>
            </a:pPr>
            <a:r>
              <a:rPr lang="en-US" sz="1200" b="1" dirty="0">
                <a:solidFill>
                  <a:schemeClr val="tx1"/>
                </a:solidFill>
                <a:latin typeface="微软雅黑" panose="020B0503020204020204" pitchFamily="34" charset="-122"/>
                <a:ea typeface="微软雅黑" panose="020B0503020204020204" pitchFamily="34" charset="-122"/>
                <a:sym typeface="+mn-ea"/>
              </a:rPr>
              <a:t>xxx</a:t>
            </a:r>
            <a:endParaRPr 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nvPr>
        </p:nvSpPr>
        <p:spPr/>
        <p:txBody>
          <a:bodyPr>
            <a:normAutofit/>
          </a:bodyPr>
          <a:lstStyle/>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施工图|</a:t>
            </a:r>
            <a:r>
              <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rPr>
              <a:t>加强一线服务融通</a:t>
            </a:r>
            <a:endParaRPr kumimoji="1" lang="zh-CN" altLang="en-US" kern="0" noProof="0">
              <a:ln>
                <a:noFill/>
              </a:ln>
              <a:effectLst/>
              <a:uLnTx/>
              <a:uFillTx/>
              <a:latin typeface="微软雅黑" panose="020B0503020204020204" pitchFamily="34" charset="-122"/>
              <a:ea typeface="微软雅黑" panose="020B0503020204020204" pitchFamily="34" charset="-122"/>
              <a:cs typeface="+mn-cs"/>
              <a:sym typeface="+mn-ea"/>
            </a:endParaRPr>
          </a:p>
        </p:txBody>
      </p:sp>
      <p:sp>
        <p:nvSpPr>
          <p:cNvPr id="5" name="矩形 4"/>
          <p:cNvSpPr/>
          <p:nvPr/>
        </p:nvSpPr>
        <p:spPr>
          <a:xfrm>
            <a:off x="365124" y="1692677"/>
            <a:ext cx="1753870" cy="337820"/>
          </a:xfrm>
          <a:prstGeom prst="rect">
            <a:avLst/>
          </a:prstGeom>
          <a:solidFill>
            <a:srgbClr val="DFF2FF"/>
          </a:solidFill>
          <a:ln>
            <a:solidFill>
              <a:srgbClr val="DFF2FF"/>
            </a:solidFill>
          </a:ln>
        </p:spPr>
        <p:txBody>
          <a:bodyPr wrap="square" anchor="ctr"/>
          <a:lstStyle/>
          <a:p>
            <a:pPr marL="0" lvl="0" indent="0" algn="ctr" defTabSz="913765">
              <a:lnSpc>
                <a:spcPct val="120000"/>
              </a:lnSpc>
              <a:spcBef>
                <a:spcPts val="0"/>
              </a:spcBef>
              <a:spcAft>
                <a:spcPts val="0"/>
              </a:spcAft>
              <a:buClr>
                <a:srgbClr val="C00000"/>
              </a:buClr>
              <a:buSzTx/>
              <a:buFontTx/>
              <a:buNone/>
            </a:pPr>
            <a:r>
              <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rPr>
              <a:t>痛点</a:t>
            </a:r>
            <a:endPar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endParaRPr>
          </a:p>
        </p:txBody>
      </p:sp>
      <p:sp>
        <p:nvSpPr>
          <p:cNvPr id="7" name="矩形 6"/>
          <p:cNvSpPr/>
          <p:nvPr/>
        </p:nvSpPr>
        <p:spPr>
          <a:xfrm>
            <a:off x="2519044" y="1688867"/>
            <a:ext cx="6486576" cy="33591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举措要点</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9" name="矩形 8"/>
          <p:cNvSpPr/>
          <p:nvPr/>
        </p:nvSpPr>
        <p:spPr>
          <a:xfrm>
            <a:off x="9444958" y="1675797"/>
            <a:ext cx="2340005" cy="35115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en-US" altLang="zh-CN" sz="1400" b="1" dirty="0">
                <a:solidFill>
                  <a:schemeClr val="accent1"/>
                </a:solidFill>
                <a:latin typeface="微软雅黑" panose="020B0503020204020204" pitchFamily="34" charset="-122"/>
                <a:ea typeface="微软雅黑" panose="020B0503020204020204" pitchFamily="34" charset="-122"/>
              </a:rPr>
              <a:t>2025</a:t>
            </a:r>
            <a:r>
              <a:rPr lang="zh-CN" altLang="en-US" sz="1400" b="1" dirty="0">
                <a:solidFill>
                  <a:schemeClr val="accent1"/>
                </a:solidFill>
                <a:latin typeface="微软雅黑" panose="020B0503020204020204" pitchFamily="34" charset="-122"/>
                <a:ea typeface="微软雅黑" panose="020B0503020204020204" pitchFamily="34" charset="-122"/>
              </a:rPr>
              <a:t>年成效指标</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3" name="矩形 12"/>
          <p:cNvSpPr/>
          <p:nvPr/>
        </p:nvSpPr>
        <p:spPr>
          <a:xfrm>
            <a:off x="4157704" y="5640096"/>
            <a:ext cx="4099835"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en-US" altLang="zh-CN" sz="1000" dirty="0">
                <a:effectLst/>
              </a:rPr>
              <a:t>xx</a:t>
            </a:r>
            <a:r>
              <a:rPr lang="zh-CN" altLang="en-US" sz="1000" dirty="0">
                <a:effectLst/>
              </a:rPr>
              <a:t>：</a:t>
            </a:r>
            <a:r>
              <a:rPr lang="en-US" sz="1000" dirty="0">
                <a:effectLst/>
              </a:rPr>
              <a:t>xxx</a:t>
            </a:r>
            <a:endParaRPr lang="en-US" sz="1000" dirty="0">
              <a:latin typeface="微软雅黑" panose="020B0503020204020204" pitchFamily="34" charset="-122"/>
              <a:ea typeface="微软雅黑" panose="020B0503020204020204" pitchFamily="34" charset="-122"/>
              <a:sym typeface="+mn-ea"/>
            </a:endParaRPr>
          </a:p>
        </p:txBody>
      </p:sp>
      <p:sp>
        <p:nvSpPr>
          <p:cNvPr id="14" name="矩形 13"/>
          <p:cNvSpPr/>
          <p:nvPr/>
        </p:nvSpPr>
        <p:spPr>
          <a:xfrm>
            <a:off x="8295579" y="5640096"/>
            <a:ext cx="3420806"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zh-CN" altLang="en-US" sz="1000" dirty="0">
                <a:effectLst/>
              </a:rPr>
              <a:t>：</a:t>
            </a:r>
            <a:r>
              <a:rPr lang="en-US" sz="1000" b="0" i="0" dirty="0">
                <a:effectLst/>
                <a:latin typeface="Inter"/>
              </a:rPr>
              <a:t>xxx</a:t>
            </a:r>
            <a:endParaRPr lang="en-US" sz="1000" dirty="0">
              <a:latin typeface="微软雅黑" panose="020B0503020204020204" pitchFamily="34" charset="-122"/>
              <a:ea typeface="微软雅黑" panose="020B0503020204020204" pitchFamily="34" charset="-122"/>
            </a:endParaRPr>
          </a:p>
        </p:txBody>
      </p:sp>
      <p:sp>
        <p:nvSpPr>
          <p:cNvPr id="15" name="箭头: 右 40"/>
          <p:cNvSpPr/>
          <p:nvPr/>
        </p:nvSpPr>
        <p:spPr>
          <a:xfrm>
            <a:off x="1127761" y="4829470"/>
            <a:ext cx="10588624" cy="520700"/>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5729300" y="4970502"/>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9398016" y="4970653"/>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2027</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矩形 17"/>
          <p:cNvSpPr/>
          <p:nvPr/>
        </p:nvSpPr>
        <p:spPr>
          <a:xfrm>
            <a:off x="358139" y="5269221"/>
            <a:ext cx="644525" cy="1440858"/>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里程碑</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9" name="矩形 18"/>
          <p:cNvSpPr/>
          <p:nvPr/>
        </p:nvSpPr>
        <p:spPr>
          <a:xfrm>
            <a:off x="365124" y="3828435"/>
            <a:ext cx="640080" cy="1373604"/>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职责分工</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21" name="矩形 20"/>
          <p:cNvSpPr/>
          <p:nvPr/>
        </p:nvSpPr>
        <p:spPr>
          <a:xfrm>
            <a:off x="1059183" y="5640096"/>
            <a:ext cx="3194046" cy="275590"/>
          </a:xfrm>
          <a:prstGeom prst="rect">
            <a:avLst/>
          </a:prstGeom>
        </p:spPr>
        <p:txBody>
          <a:bodyPr wrap="square">
            <a:spAutoFit/>
          </a:bodyPr>
          <a:lstStyle/>
          <a:p>
            <a:pPr marL="171450" indent="-171450">
              <a:lnSpc>
                <a:spcPct val="120000"/>
              </a:lnSpc>
              <a:buClr>
                <a:schemeClr val="accent1"/>
              </a:buClr>
              <a:buFont typeface="Wingdings" panose="05000000000000000000" pitchFamily="2" charset="2"/>
              <a:buChar char="n"/>
            </a:pPr>
            <a:r>
              <a:rPr lang="en-US" altLang="zh-CN" sz="1000" b="1" dirty="0">
                <a:effectLst/>
              </a:rPr>
              <a:t>xxx</a:t>
            </a:r>
            <a:r>
              <a:rPr lang="zh-CN" altLang="en-US" sz="1000" dirty="0">
                <a:effectLst/>
              </a:rPr>
              <a:t>：</a:t>
            </a:r>
            <a:r>
              <a:rPr lang="en-US" altLang="zh-CN" sz="1000" dirty="0">
                <a:effectLst/>
              </a:rPr>
              <a:t>xxx</a:t>
            </a:r>
            <a:endParaRPr lang="en-US" altLang="zh-CN" sz="1000" dirty="0">
              <a:effectLst/>
            </a:endParaRPr>
          </a:p>
        </p:txBody>
      </p:sp>
      <p:sp>
        <p:nvSpPr>
          <p:cNvPr id="22" name="文本框 21"/>
          <p:cNvSpPr txBox="1"/>
          <p:nvPr/>
        </p:nvSpPr>
        <p:spPr>
          <a:xfrm>
            <a:off x="2307896" y="4971109"/>
            <a:ext cx="1353106" cy="276999"/>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Freeform 22"/>
          <p:cNvSpPr/>
          <p:nvPr/>
        </p:nvSpPr>
        <p:spPr bwMode="auto">
          <a:xfrm rot="16200000" flipV="1">
            <a:off x="1485578" y="2636178"/>
            <a:ext cx="1714827"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5" name="Freeform 22"/>
          <p:cNvSpPr/>
          <p:nvPr/>
        </p:nvSpPr>
        <p:spPr bwMode="auto">
          <a:xfrm rot="16200000" flipV="1">
            <a:off x="8074719" y="2636178"/>
            <a:ext cx="2329385"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3" name="文本占位符 2"/>
          <p:cNvSpPr>
            <a:spLocks noGrp="1"/>
          </p:cNvSpPr>
          <p:nvPr>
            <p:ph type="body" sz="quarter" idx="10"/>
          </p:nvPr>
        </p:nvSpPr>
        <p:spPr>
          <a:xfrm>
            <a:off x="85241" y="931284"/>
            <a:ext cx="11856202" cy="753277"/>
          </a:xfrm>
        </p:spPr>
        <p:txBody>
          <a:bodyPr lIns="180000" tIns="45720" rIns="180000" bIns="45720"/>
          <a:lstStyle/>
          <a:p>
            <a:pPr marL="0" lvl="1" indent="-254000" algn="l" defTabSz="457200" eaLnBrk="0">
              <a:lnSpc>
                <a:spcPct val="109000"/>
              </a:lnSpc>
              <a:spcBef>
                <a:spcPts val="0"/>
              </a:spcBef>
              <a:spcAft>
                <a:spcPts val="0"/>
              </a:spcAft>
              <a:buClrTx/>
              <a:buSzTx/>
              <a:buFontTx/>
              <a:buNone/>
              <a:defRPr/>
            </a:pPr>
            <a:r>
              <a:rPr lang="en-US" alt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rPr>
              <a:t>xxx</a:t>
            </a:r>
            <a:endParaRPr lang="en-US" altLang="zh-CN" sz="1400" b="1" kern="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mn-lt"/>
            </a:endParaRPr>
          </a:p>
        </p:txBody>
      </p:sp>
      <p:sp>
        <p:nvSpPr>
          <p:cNvPr id="26" name="矩形 25"/>
          <p:cNvSpPr/>
          <p:nvPr/>
        </p:nvSpPr>
        <p:spPr>
          <a:xfrm>
            <a:off x="1002662" y="3834190"/>
            <a:ext cx="10782301" cy="137360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总部：</a:t>
            </a:r>
            <a:r>
              <a:rPr lang="en-US" sz="1100" dirty="0">
                <a:solidFill>
                  <a:prstClr val="black"/>
                </a:solidFill>
                <a:latin typeface="微软雅黑" panose="020B0503020204020204" pitchFamily="34" charset="-122"/>
                <a:ea typeface="微软雅黑" panose="020B0503020204020204" pitchFamily="34" charset="-122"/>
              </a:rPr>
              <a:t>xxx</a:t>
            </a:r>
            <a:endParaRPr lang="en-US" altLang="zh-CN"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省专：</a:t>
            </a:r>
            <a:r>
              <a:rPr lang="en-US" altLang="zh-CN" sz="1100" dirty="0">
                <a:solidFill>
                  <a:prstClr val="black"/>
                </a:solidFill>
                <a:latin typeface="微软雅黑" panose="020B0503020204020204" pitchFamily="34" charset="-122"/>
                <a:ea typeface="微软雅黑" panose="020B0503020204020204" pitchFamily="34" charset="-122"/>
              </a:rPr>
              <a:t>xxx</a:t>
            </a:r>
            <a:endParaRPr lang="zh-CN" altLang="en-US"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地市：</a:t>
            </a:r>
            <a:r>
              <a:rPr lang="en-US" sz="1100" dirty="0">
                <a:solidFill>
                  <a:prstClr val="black"/>
                </a:solidFill>
                <a:latin typeface="微软雅黑" panose="020B0503020204020204" pitchFamily="34" charset="-122"/>
                <a:ea typeface="微软雅黑" panose="020B0503020204020204" pitchFamily="34" charset="-122"/>
              </a:rPr>
              <a:t>xxx</a:t>
            </a:r>
            <a:endParaRPr lang="en-US" sz="1100" dirty="0">
              <a:solidFill>
                <a:prstClr val="black"/>
              </a:solidFill>
              <a:latin typeface="微软雅黑" panose="020B0503020204020204" pitchFamily="34" charset="-122"/>
              <a:ea typeface="微软雅黑" panose="020B0503020204020204" pitchFamily="34" charset="-122"/>
            </a:endParaRPr>
          </a:p>
        </p:txBody>
      </p:sp>
      <p:sp>
        <p:nvSpPr>
          <p:cNvPr id="39" name="箭头: 右 40"/>
          <p:cNvSpPr/>
          <p:nvPr/>
        </p:nvSpPr>
        <p:spPr>
          <a:xfrm>
            <a:off x="1059183" y="5210302"/>
            <a:ext cx="10588625" cy="358065"/>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5661028"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nvSpPr>
        <p:spPr>
          <a:xfrm>
            <a:off x="932942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文本框 41"/>
          <p:cNvSpPr txBox="1"/>
          <p:nvPr/>
        </p:nvSpPr>
        <p:spPr>
          <a:xfrm>
            <a:off x="2239013" y="5251785"/>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nvSpPr>
        <p:spPr>
          <a:xfrm>
            <a:off x="7599045" y="274320"/>
            <a:ext cx="3748405" cy="1266190"/>
          </a:xfrm>
          <a:prstGeom prst="rect">
            <a:avLst/>
          </a:prstGeom>
          <a:solidFill>
            <a:srgbClr val="C00000"/>
          </a:solidFill>
        </p:spPr>
        <p:txBody>
          <a:bodyPr wrap="square" rtlCol="0">
            <a:noAutofit/>
          </a:bodyPr>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补充流程治理（晓华姐、亚信）、业务稽核（陈晨、卓望）、服务反馈（陈玉娜）工作</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我最后合并在一页上</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84" name="标题 1"/>
          <p:cNvSpPr>
            <a:spLocks noGrp="1"/>
          </p:cNvSpPr>
          <p:nvPr>
            <p:ph type="title"/>
          </p:nvPr>
        </p:nvSpPr>
        <p:spPr/>
        <p:txBody>
          <a:bodyPr/>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总路线图|</a:t>
            </a:r>
            <a:r>
              <a:rPr lang="zh-CN" altLang="en-US" smtClean="0">
                <a:latin typeface="微软雅黑" panose="020B0503020204020204" pitchFamily="34" charset="-122"/>
                <a:ea typeface="微软雅黑" panose="020B0503020204020204" pitchFamily="34" charset="-122"/>
                <a:sym typeface="+mn-ea"/>
              </a:rPr>
              <a:t>市场数智运营任务举措</a:t>
            </a:r>
            <a:endParaRPr lang="zh-CN" altLang="en-US" dirty="0"/>
          </a:p>
        </p:txBody>
      </p:sp>
      <p:sp>
        <p:nvSpPr>
          <p:cNvPr id="1048585" name="文本占位符 2"/>
          <p:cNvSpPr>
            <a:spLocks noGrp="1"/>
          </p:cNvSpPr>
          <p:nvPr>
            <p:ph type="body" sz="quarter" idx="10"/>
          </p:nvPr>
        </p:nvSpPr>
        <p:spPr/>
        <p:txBody>
          <a:bodyPr/>
          <a:p>
            <a:r>
              <a:rPr kern="100">
                <a:cs typeface="+mj-ea"/>
                <a:sym typeface="+mn-ea"/>
              </a:rPr>
              <a:t>202</a:t>
            </a:r>
            <a:r>
              <a:rPr lang="en-US" altLang="zh-CN" kern="100">
                <a:cs typeface="+mj-ea"/>
                <a:sym typeface="+mn-ea"/>
              </a:rPr>
              <a:t>5</a:t>
            </a:r>
            <a:r>
              <a:rPr kern="100">
                <a:cs typeface="+mj-ea"/>
                <a:sym typeface="+mn-ea"/>
              </a:rPr>
              <a:t>年聚焦</a:t>
            </a:r>
            <a:r>
              <a:rPr lang="en-US" altLang="zh-CN" kern="100">
                <a:cs typeface="+mj-ea"/>
                <a:sym typeface="+mn-ea"/>
              </a:rPr>
              <a:t>12</a:t>
            </a:r>
            <a:r>
              <a:rPr kern="100">
                <a:cs typeface="+mj-ea"/>
                <a:sym typeface="+mn-ea"/>
              </a:rPr>
              <a:t>项重点举措优先开展能力</a:t>
            </a:r>
            <a:r>
              <a:rPr kern="100" dirty="0" err="1">
                <a:cs typeface="+mj-ea"/>
                <a:sym typeface="+mn-ea"/>
              </a:rPr>
              <a:t>建设，深化基于市场细分的存量经营、价值经营，创新产品供给，持续构建市场高质量发展新格局。</a:t>
            </a:r>
            <a:endParaRPr lang="en-US" altLang="zh-CN" kern="100" dirty="0" err="1">
              <a:cs typeface="+mj-ea"/>
              <a:sym typeface="+mn-ea"/>
            </a:endParaRPr>
          </a:p>
        </p:txBody>
      </p:sp>
      <p:sp>
        <p:nvSpPr>
          <p:cNvPr id="1048586" name="Rectangle 45"/>
          <p:cNvSpPr/>
          <p:nvPr>
            <p:custDataLst>
              <p:tags r:id="rId1"/>
            </p:custDataLst>
          </p:nvPr>
        </p:nvSpPr>
        <p:spPr>
          <a:xfrm>
            <a:off x="290830" y="1483995"/>
            <a:ext cx="8583930" cy="5138420"/>
          </a:xfrm>
          <a:prstGeom prst="rect">
            <a:avLst/>
          </a:prstGeom>
          <a:noFill/>
          <a:ln w="9525" cap="flat" cmpd="sng" algn="ctr">
            <a:solidFill>
              <a:schemeClr val="bg1">
                <a:lumMod val="85000"/>
              </a:schemeClr>
            </a:solidFill>
            <a:prstDash val="solid"/>
            <a:miter lim="800000"/>
          </a:ln>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048587" name="Rectangle 46"/>
          <p:cNvSpPr/>
          <p:nvPr>
            <p:custDataLst>
              <p:tags r:id="rId2"/>
            </p:custDataLst>
          </p:nvPr>
        </p:nvSpPr>
        <p:spPr>
          <a:xfrm>
            <a:off x="3270689" y="1344911"/>
            <a:ext cx="2839075" cy="335915"/>
          </a:xfrm>
          <a:prstGeom prst="rect">
            <a:avLst/>
          </a:prstGeom>
          <a:solidFill>
            <a:srgbClr val="0070BF"/>
          </a:solidFill>
          <a:ln w="12700" cap="flat" cmpd="sng" algn="ctr">
            <a:noFill/>
            <a:prstDash val="solid"/>
            <a:miter lim="800000"/>
          </a:ln>
          <a:effectLst>
            <a:outerShdw blurRad="76200" dir="18900000" sy="23000" kx="-1200000" algn="bl" rotWithShape="0">
              <a:prstClr val="black">
                <a:alpha val="20000"/>
              </a:prstClr>
            </a:outerShdw>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pPr>
            <a:r>
              <a:rPr kumimoji="1" lang="zh-CN" altLang="en-US" sz="1400" b="1" i="0" u="none" strike="noStrike" kern="1200" cap="none" spc="0" normalizeH="0" baseline="0" noProof="0" dirty="0">
                <a:ln>
                  <a:noFill/>
                </a:ln>
                <a:solidFill>
                  <a:srgbClr val="FFFFFF"/>
                </a:solidFill>
                <a:effectLst>
                  <a:outerShdw blurRad="63500" sx="102000" sy="102000" algn="ctr" rotWithShape="0">
                    <a:prstClr val="black">
                      <a:alpha val="20000"/>
                    </a:prstClr>
                  </a:outerShdw>
                </a:effectLst>
                <a:uLnTx/>
                <a:uFillTx/>
                <a:latin typeface="微软雅黑" panose="020B0503020204020204" pitchFamily="34" charset="-122"/>
                <a:ea typeface="微软雅黑" panose="020B0503020204020204" pitchFamily="34" charset="-122"/>
                <a:cs typeface="Arial" panose="020B0604020202020204" pitchFamily="34" charset="0"/>
                <a:sym typeface="+mn-ea"/>
              </a:rPr>
              <a:t>行动方案</a:t>
            </a:r>
            <a:r>
              <a:rPr kumimoji="1" lang="en-US" altLang="zh-CN" sz="1400" b="1" i="0" u="none" strike="noStrike" kern="1200" cap="none" spc="0" normalizeH="0" baseline="0" noProof="0" dirty="0">
                <a:ln>
                  <a:noFill/>
                </a:ln>
                <a:solidFill>
                  <a:srgbClr val="FFFFFF"/>
                </a:solidFill>
                <a:effectLst>
                  <a:outerShdw blurRad="63500" sx="102000" sy="102000" algn="ctr" rotWithShape="0">
                    <a:prstClr val="black">
                      <a:alpha val="20000"/>
                    </a:prstClr>
                  </a:outerShdw>
                </a:effectLst>
                <a:uLnTx/>
                <a:uFillTx/>
                <a:latin typeface="微软雅黑" panose="020B0503020204020204" pitchFamily="34" charset="-122"/>
                <a:ea typeface="微软雅黑" panose="020B0503020204020204" pitchFamily="34" charset="-122"/>
                <a:cs typeface="Arial" panose="020B0604020202020204" pitchFamily="34" charset="0"/>
                <a:sym typeface="+mn-ea"/>
              </a:rPr>
              <a:t>12</a:t>
            </a:r>
            <a:r>
              <a:rPr kumimoji="1" lang="zh-CN" altLang="en-US" sz="1400" b="1" i="0" u="none" strike="noStrike" kern="1200" cap="none" spc="0" normalizeH="0" baseline="0" noProof="0" dirty="0">
                <a:ln>
                  <a:noFill/>
                </a:ln>
                <a:solidFill>
                  <a:srgbClr val="FFFFFF"/>
                </a:solidFill>
                <a:effectLst>
                  <a:outerShdw blurRad="63500" sx="102000" sy="102000" algn="ctr" rotWithShape="0">
                    <a:prstClr val="black">
                      <a:alpha val="20000"/>
                    </a:prstClr>
                  </a:outerShdw>
                </a:effectLst>
                <a:uLnTx/>
                <a:uFillTx/>
                <a:latin typeface="微软雅黑" panose="020B0503020204020204" pitchFamily="34" charset="-122"/>
                <a:ea typeface="微软雅黑" panose="020B0503020204020204" pitchFamily="34" charset="-122"/>
                <a:cs typeface="Arial" panose="020B0604020202020204" pitchFamily="34" charset="0"/>
                <a:sym typeface="+mn-ea"/>
              </a:rPr>
              <a:t>项举措</a:t>
            </a:r>
            <a:endParaRPr kumimoji="1" lang="zh-CN" altLang="en-US" sz="1400" b="1" i="0" u="none" strike="noStrike" kern="1200" cap="none" spc="0" normalizeH="0" baseline="0" noProof="0" dirty="0">
              <a:ln>
                <a:noFill/>
              </a:ln>
              <a:solidFill>
                <a:srgbClr val="FFFFFF"/>
              </a:solidFill>
              <a:effectLst>
                <a:outerShdw blurRad="63500" sx="102000" sy="102000" algn="ctr" rotWithShape="0">
                  <a:prstClr val="black">
                    <a:alpha val="20000"/>
                  </a:prstClr>
                </a:outerShdw>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048588" name="Rectangle 45"/>
          <p:cNvSpPr/>
          <p:nvPr>
            <p:custDataLst>
              <p:tags r:id="rId3"/>
            </p:custDataLst>
          </p:nvPr>
        </p:nvSpPr>
        <p:spPr>
          <a:xfrm>
            <a:off x="9118600" y="1609725"/>
            <a:ext cx="2839085" cy="5012690"/>
          </a:xfrm>
          <a:prstGeom prst="rect">
            <a:avLst/>
          </a:prstGeom>
          <a:noFill/>
          <a:ln w="9525" cap="flat" cmpd="sng" algn="ctr">
            <a:solidFill>
              <a:schemeClr val="bg1">
                <a:lumMod val="85000"/>
              </a:schemeClr>
            </a:solidFill>
            <a:prstDash val="solid"/>
            <a:miter lim="800000"/>
          </a:ln>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048589" name="Rectangle 46"/>
          <p:cNvSpPr/>
          <p:nvPr>
            <p:custDataLst>
              <p:tags r:id="rId4"/>
            </p:custDataLst>
          </p:nvPr>
        </p:nvSpPr>
        <p:spPr>
          <a:xfrm>
            <a:off x="9119453" y="1448416"/>
            <a:ext cx="2839075" cy="335915"/>
          </a:xfrm>
          <a:prstGeom prst="rect">
            <a:avLst/>
          </a:prstGeom>
          <a:solidFill>
            <a:srgbClr val="0070BF"/>
          </a:solidFill>
          <a:ln w="12700" cap="flat" cmpd="sng" algn="ctr">
            <a:noFill/>
            <a:prstDash val="solid"/>
            <a:miter lim="800000"/>
          </a:ln>
          <a:effectLst>
            <a:outerShdw blurRad="76200" dir="18900000" sy="23000" kx="-1200000" algn="bl" rotWithShape="0">
              <a:prstClr val="black">
                <a:alpha val="20000"/>
              </a:prstClr>
            </a:outerShdw>
          </a:effectLst>
        </p:spPr>
        <p:txBody>
          <a:bodyPr rtlCol="0" anchor="ctr"/>
          <a:p>
            <a:pPr algn="ctr"/>
            <a:r>
              <a:rPr lang="en-US" altLang="zh-CN" sz="1400" b="1" dirty="0">
                <a:solidFill>
                  <a:schemeClr val="bg1"/>
                </a:solidFill>
                <a:latin typeface="微软雅黑" panose="020B0503020204020204" pitchFamily="34" charset="-122"/>
                <a:ea typeface="微软雅黑" panose="020B0503020204020204" pitchFamily="34" charset="-122"/>
                <a:sym typeface="+mn-ea"/>
              </a:rPr>
              <a:t>2025</a:t>
            </a:r>
            <a:r>
              <a:rPr lang="zh-CN" altLang="en-US" sz="1400" b="1" dirty="0">
                <a:solidFill>
                  <a:schemeClr val="bg1"/>
                </a:solidFill>
                <a:latin typeface="微软雅黑" panose="020B0503020204020204" pitchFamily="34" charset="-122"/>
                <a:ea typeface="微软雅黑" panose="020B0503020204020204" pitchFamily="34" charset="-122"/>
                <a:sym typeface="+mn-ea"/>
              </a:rPr>
              <a:t>年</a:t>
            </a:r>
            <a:r>
              <a:rPr lang="en-US" altLang="zh-CN" sz="1400" b="1" dirty="0" err="1">
                <a:solidFill>
                  <a:schemeClr val="bg1"/>
                </a:solidFill>
                <a:latin typeface="微软雅黑" panose="020B0503020204020204" pitchFamily="34" charset="-122"/>
                <a:ea typeface="微软雅黑" panose="020B0503020204020204" pitchFamily="34" charset="-122"/>
                <a:sym typeface="+mn-ea"/>
              </a:rPr>
              <a:t>重点指标</a:t>
            </a:r>
            <a:endParaRPr lang="en-US" altLang="zh-CN" sz="1400" b="1" dirty="0">
              <a:solidFill>
                <a:schemeClr val="bg1"/>
              </a:solidFill>
              <a:latin typeface="微软雅黑" panose="020B0503020204020204" pitchFamily="34" charset="-122"/>
              <a:ea typeface="微软雅黑" panose="020B0503020204020204" pitchFamily="34" charset="-122"/>
              <a:sym typeface="+mn-ea"/>
            </a:endParaRPr>
          </a:p>
        </p:txBody>
      </p:sp>
      <p:sp>
        <p:nvSpPr>
          <p:cNvPr id="1048590" name="矩形: 圆角 209"/>
          <p:cNvSpPr/>
          <p:nvPr/>
        </p:nvSpPr>
        <p:spPr>
          <a:xfrm>
            <a:off x="445135" y="1734185"/>
            <a:ext cx="8339455" cy="4801235"/>
          </a:xfrm>
          <a:prstGeom prst="rect">
            <a:avLst/>
          </a:prstGeom>
          <a:solidFill>
            <a:schemeClr val="bg1">
              <a:lumMod val="95000"/>
            </a:schemeClr>
          </a:solidFill>
          <a:ln w="6350">
            <a:no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1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048591" name="矩形: 圆角 209"/>
          <p:cNvSpPr/>
          <p:nvPr/>
        </p:nvSpPr>
        <p:spPr>
          <a:xfrm>
            <a:off x="521970" y="1783715"/>
            <a:ext cx="8189595" cy="1061085"/>
          </a:xfrm>
          <a:prstGeom prst="rect">
            <a:avLst/>
          </a:prstGeom>
          <a:solidFill>
            <a:schemeClr val="bg1">
              <a:alpha val="80000"/>
            </a:schemeClr>
          </a:solidFill>
          <a:ln>
            <a:noFill/>
            <a:prstDash val="dash"/>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48592" name="文本框 11"/>
          <p:cNvSpPr txBox="1"/>
          <p:nvPr/>
        </p:nvSpPr>
        <p:spPr>
          <a:xfrm>
            <a:off x="577850" y="1883410"/>
            <a:ext cx="1170940" cy="851535"/>
          </a:xfrm>
          <a:prstGeom prst="rect">
            <a:avLst/>
          </a:prstGeom>
          <a:noFill/>
          <a:ln>
            <a:noFill/>
          </a:ln>
        </p:spPr>
        <p:txBody>
          <a:bodyPr wrap="square" rtlCol="0" anchor="ctr">
            <a:noAutofit/>
          </a:bodyPr>
          <a:p>
            <a:pPr marL="0" marR="0" lvl="0" indent="0" algn="ctr" defTabSz="457200" rtl="0" eaLnBrk="1" fontAlgn="auto" latinLnBrk="0" hangingPunct="1">
              <a:lnSpc>
                <a:spcPct val="100000"/>
              </a:lnSpc>
              <a:spcBef>
                <a:spcPts val="0"/>
              </a:spcBef>
              <a:spcAft>
                <a:spcPts val="0"/>
              </a:spcAft>
              <a:buClrTx/>
              <a:buSzTx/>
              <a:buFontTx/>
              <a:buNone/>
            </a:pPr>
            <a:r>
              <a:rPr lang="zh-CN" altLang="en-US" sz="1200" b="1" dirty="0">
                <a:solidFill>
                  <a:srgbClr val="0070BF"/>
                </a:solidFill>
                <a:latin typeface="微软雅黑" panose="020B0503020204020204" pitchFamily="34" charset="-122"/>
                <a:ea typeface="微软雅黑" panose="020B0503020204020204" pitchFamily="34" charset="-122"/>
              </a:rPr>
              <a:t>路径</a:t>
            </a:r>
            <a:r>
              <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1</a:t>
            </a:r>
            <a:endPar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Tx/>
              <a:buSzTx/>
              <a:buFontTx/>
              <a:buNone/>
            </a:pPr>
            <a:r>
              <a:rPr lang="zh-CN" altLang="en-US" sz="1200" b="1" dirty="0">
                <a:solidFill>
                  <a:srgbClr val="0070BF"/>
                </a:solidFill>
                <a:latin typeface="微软雅黑" panose="020B0503020204020204" pitchFamily="34" charset="-122"/>
                <a:ea typeface="微软雅黑" panose="020B0503020204020204" pitchFamily="34" charset="-122"/>
                <a:sym typeface="+mn-ea"/>
              </a:rPr>
              <a:t>夯实支撑底座，强化数智化能力建设</a:t>
            </a:r>
            <a:endPar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48603" name="矩形: 圆角 209"/>
          <p:cNvSpPr/>
          <p:nvPr/>
        </p:nvSpPr>
        <p:spPr>
          <a:xfrm>
            <a:off x="554355" y="5677535"/>
            <a:ext cx="8157210" cy="828675"/>
          </a:xfrm>
          <a:prstGeom prst="rect">
            <a:avLst/>
          </a:prstGeom>
          <a:solidFill>
            <a:schemeClr val="bg1">
              <a:alpha val="80000"/>
            </a:schemeClr>
          </a:solidFill>
          <a:ln>
            <a:noFill/>
            <a:prstDash val="dash"/>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48604" name="文本框 118"/>
          <p:cNvSpPr txBox="1"/>
          <p:nvPr/>
        </p:nvSpPr>
        <p:spPr>
          <a:xfrm>
            <a:off x="572770" y="5742305"/>
            <a:ext cx="1176020" cy="634365"/>
          </a:xfrm>
          <a:prstGeom prst="rect">
            <a:avLst/>
          </a:prstGeom>
          <a:noFill/>
          <a:ln>
            <a:noFill/>
          </a:ln>
        </p:spPr>
        <p:txBody>
          <a:bodyPr wrap="square" rtlCol="0" anchor="ctr">
            <a:noAutofit/>
          </a:bodyPr>
          <a:p>
            <a:pPr marL="0" marR="0" lvl="0" indent="0" algn="ctr" defTabSz="457200" rtl="0" eaLnBrk="1" fontAlgn="auto" latinLnBrk="0" hangingPunct="1">
              <a:lnSpc>
                <a:spcPct val="100000"/>
              </a:lnSpc>
              <a:spcBef>
                <a:spcPts val="0"/>
              </a:spcBef>
              <a:spcAft>
                <a:spcPts val="0"/>
              </a:spcAft>
              <a:buClrTx/>
              <a:buSzTx/>
              <a:buFontTx/>
              <a:buNone/>
            </a:pPr>
            <a:r>
              <a:rPr lang="zh-CN" altLang="en-US" sz="1200" b="1" dirty="0">
                <a:solidFill>
                  <a:srgbClr val="0070BF"/>
                </a:solidFill>
                <a:latin typeface="微软雅黑" panose="020B0503020204020204" pitchFamily="34" charset="-122"/>
                <a:ea typeface="微软雅黑" panose="020B0503020204020204" pitchFamily="34" charset="-122"/>
              </a:rPr>
              <a:t>路径</a:t>
            </a:r>
            <a:r>
              <a:rPr lang="en-US" altLang="zh-CN" sz="1200" b="1" dirty="0">
                <a:solidFill>
                  <a:srgbClr val="0070BF"/>
                </a:solidFill>
                <a:latin typeface="微软雅黑" panose="020B0503020204020204" pitchFamily="34" charset="-122"/>
                <a:ea typeface="微软雅黑" panose="020B0503020204020204" pitchFamily="34" charset="-122"/>
              </a:rPr>
              <a:t>4</a:t>
            </a:r>
            <a:endPar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lvl="0" algn="l" defTabSz="457200"/>
            <a:r>
              <a:rPr lang="en-US" altLang="zh-CN" sz="1200" b="1" dirty="0" err="1">
                <a:solidFill>
                  <a:srgbClr val="0070BF"/>
                </a:solidFill>
                <a:latin typeface="微软雅黑" panose="020B0503020204020204" pitchFamily="34" charset="-122"/>
                <a:ea typeface="微软雅黑" panose="020B0503020204020204" pitchFamily="34" charset="-122"/>
              </a:rPr>
              <a:t>建立</a:t>
            </a:r>
            <a:r>
              <a:rPr lang="zh-CN" altLang="en-US" sz="1200" b="1" dirty="0" err="1">
                <a:solidFill>
                  <a:srgbClr val="0070BF"/>
                </a:solidFill>
                <a:latin typeface="微软雅黑" panose="020B0503020204020204" pitchFamily="34" charset="-122"/>
                <a:ea typeface="微软雅黑" panose="020B0503020204020204" pitchFamily="34" charset="-122"/>
              </a:rPr>
              <a:t>多级转型保障机制</a:t>
            </a:r>
            <a:endParaRPr lang="en-US" altLang="zh-CN" sz="1200" b="1" dirty="0">
              <a:solidFill>
                <a:srgbClr val="0070BF"/>
              </a:solidFill>
              <a:latin typeface="微软雅黑" panose="020B0503020204020204" pitchFamily="34" charset="-122"/>
              <a:ea typeface="微软雅黑" panose="020B0503020204020204" pitchFamily="34" charset="-122"/>
            </a:endParaRPr>
          </a:p>
        </p:txBody>
      </p:sp>
      <p:sp>
        <p:nvSpPr>
          <p:cNvPr id="1048605" name="矩形: 圆角 209"/>
          <p:cNvSpPr/>
          <p:nvPr/>
        </p:nvSpPr>
        <p:spPr>
          <a:xfrm>
            <a:off x="1674495" y="5775325"/>
            <a:ext cx="7035800" cy="184785"/>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r>
              <a:rPr kumimoji="1" lang="en-US" altLang="zh-CN"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4.1 </a:t>
            </a:r>
            <a:r>
              <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建立保障机制</a:t>
            </a:r>
            <a:endPar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048606" name="矩形 120"/>
          <p:cNvSpPr/>
          <p:nvPr/>
        </p:nvSpPr>
        <p:spPr>
          <a:xfrm>
            <a:off x="1679575" y="5960110"/>
            <a:ext cx="7016115" cy="372110"/>
          </a:xfrm>
          <a:prstGeom prst="rect">
            <a:avLst/>
          </a:prstGeom>
          <a:solidFill>
            <a:sysClr val="window" lastClr="FFFFFF"/>
          </a:solidFill>
          <a:ln w="3175" cap="flat" cmpd="sng" algn="ctr">
            <a:solidFill>
              <a:srgbClr val="ABD4F8"/>
            </a:solidFill>
            <a:prstDash val="solid"/>
          </a:ln>
          <a:effectLst/>
        </p:spPr>
        <p:txBody>
          <a:bodyPr lIns="48000" tIns="0" rIns="48000" bIns="0" rtlCol="0" anchor="ctr"/>
          <a:p>
            <a:pPr marL="431800" lvl="0" indent="-228600">
              <a:spcBef>
                <a:spcPct val="0"/>
              </a:spcBef>
              <a:spcAft>
                <a:spcPct val="0"/>
              </a:spcAft>
              <a:buClr>
                <a:srgbClr val="000000"/>
              </a:buClr>
              <a:buFont typeface="+mj-ea"/>
              <a:buAutoNum type="circleNumDbPlain"/>
            </a:pPr>
            <a:r>
              <a:rPr lang="zh-CN" altLang="en-US" sz="1100" dirty="0">
                <a:latin typeface="微软雅黑" panose="020B0503020204020204" pitchFamily="34" charset="-122"/>
                <a:ea typeface="微软雅黑" panose="020B0503020204020204" pitchFamily="34" charset="-122"/>
                <a:cs typeface="微软雅黑" panose="020B0503020204020204" pitchFamily="34" charset="-122"/>
              </a:rPr>
              <a:t>构建多级转型保障体系，纵向打通1个集省专市县格五级运营专职团队，横向拉通业务与IT虚拟联合团队，建立考核评价机制</a:t>
            </a:r>
            <a:endParaRPr lang="zh-CN" altLang="en-US" sz="11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1" name="组合 127"/>
          <p:cNvGrpSpPr/>
          <p:nvPr/>
        </p:nvGrpSpPr>
        <p:grpSpPr>
          <a:xfrm>
            <a:off x="9231630" y="1861820"/>
            <a:ext cx="2673985" cy="982980"/>
            <a:chOff x="14615" y="3925"/>
            <a:chExt cx="4211" cy="1548"/>
          </a:xfrm>
        </p:grpSpPr>
        <p:sp>
          <p:nvSpPr>
            <p:cNvPr id="1048607" name="矩形 125"/>
            <p:cNvSpPr/>
            <p:nvPr/>
          </p:nvSpPr>
          <p:spPr>
            <a:xfrm>
              <a:off x="14615" y="3945"/>
              <a:ext cx="511" cy="15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10800" rIns="18000" bIns="10800" anchor="t"/>
            <a:p>
              <a:pPr algn="l" defTabSz="914400"/>
              <a:endParaRPr lang="zh-CN" altLang="en-US" sz="1200" b="1" dirty="0">
                <a:solidFill>
                  <a:schemeClr val="bg1"/>
                </a:solidFill>
                <a:latin typeface="微软雅黑" panose="020B0503020204020204" pitchFamily="34" charset="-122"/>
                <a:ea typeface="微软雅黑" panose="020B0503020204020204" pitchFamily="34" charset="-122"/>
              </a:endParaRPr>
            </a:p>
            <a:p>
              <a:pPr algn="l" defTabSz="914400"/>
              <a:endParaRPr lang="zh-CN" altLang="en-US" sz="1200" b="1" dirty="0">
                <a:solidFill>
                  <a:schemeClr val="bg1"/>
                </a:solidFill>
                <a:latin typeface="微软雅黑" panose="020B0503020204020204" pitchFamily="34" charset="-122"/>
                <a:ea typeface="微软雅黑" panose="020B0503020204020204" pitchFamily="34" charset="-122"/>
              </a:endParaRPr>
            </a:p>
            <a:p>
              <a:pPr algn="l" defTabSz="914400"/>
              <a:r>
                <a:rPr lang="zh-CN" altLang="en-US" sz="1200" b="1" dirty="0">
                  <a:solidFill>
                    <a:schemeClr val="bg1"/>
                  </a:solidFill>
                  <a:latin typeface="微软雅黑" panose="020B0503020204020204" pitchFamily="34" charset="-122"/>
                  <a:ea typeface="微软雅黑" panose="020B0503020204020204" pitchFamily="34" charset="-122"/>
                </a:rPr>
                <a:t>量</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1048608" name="文本框 126"/>
            <p:cNvSpPr txBox="1"/>
            <p:nvPr/>
          </p:nvSpPr>
          <p:spPr>
            <a:xfrm>
              <a:off x="15127" y="3925"/>
              <a:ext cx="3699" cy="1529"/>
            </a:xfrm>
            <a:prstGeom prst="rect">
              <a:avLst/>
            </a:prstGeom>
            <a:noFill/>
          </p:spPr>
          <p:txBody>
            <a:bodyPr wrap="square" rtlCol="0">
              <a:noAutofit/>
            </a:bodyPr>
            <a:p>
              <a:pPr>
                <a:buClr>
                  <a:schemeClr val="accent1"/>
                </a:buClr>
              </a:pPr>
              <a:r>
                <a:rPr kumimoji="1" sz="1000" dirty="0" smtClean="0">
                  <a:latin typeface="微软雅黑" panose="020B0503020204020204" pitchFamily="34" charset="-122"/>
                  <a:ea typeface="微软雅黑" panose="020B0503020204020204" pitchFamily="34" charset="-122"/>
                  <a:sym typeface="+mn-ea"/>
                </a:rPr>
                <a:t>家庭圈客户发展1000万</a:t>
              </a:r>
              <a:endParaRPr kumimoji="1" sz="1000" dirty="0" smtClean="0">
                <a:latin typeface="微软雅黑" panose="020B0503020204020204" pitchFamily="34" charset="-122"/>
                <a:ea typeface="微软雅黑" panose="020B0503020204020204" pitchFamily="34" charset="-122"/>
              </a:endParaRPr>
            </a:p>
            <a:p>
              <a:pPr algn="l"/>
              <a:r>
                <a:rPr kumimoji="1" sz="1000" dirty="0" smtClean="0">
                  <a:latin typeface="微软雅黑" panose="020B0503020204020204" pitchFamily="34" charset="-122"/>
                  <a:ea typeface="微软雅黑" panose="020B0503020204020204" pitchFamily="34" charset="-122"/>
                  <a:sym typeface="+mn-ea"/>
                </a:rPr>
                <a:t>完成80+个渠道触点拉通</a:t>
              </a:r>
              <a:endParaRPr kumimoji="1" sz="1000" dirty="0" smtClean="0">
                <a:latin typeface="微软雅黑" panose="020B0503020204020204" pitchFamily="34" charset="-122"/>
                <a:ea typeface="微软雅黑" panose="020B0503020204020204" pitchFamily="34" charset="-122"/>
              </a:endParaRPr>
            </a:p>
            <a:p>
              <a:pPr algn="l"/>
              <a:r>
                <a:rPr kumimoji="1" sz="1000" dirty="0" smtClean="0">
                  <a:latin typeface="微软雅黑" panose="020B0503020204020204" pitchFamily="34" charset="-122"/>
                  <a:ea typeface="微软雅黑" panose="020B0503020204020204" pitchFamily="34" charset="-122"/>
                  <a:sym typeface="+mn-ea"/>
                </a:rPr>
                <a:t>中国移动APP月活≥4.0亿</a:t>
              </a:r>
              <a:endParaRPr kumimoji="1" sz="1000" dirty="0" smtClean="0">
                <a:latin typeface="微软雅黑" panose="020B0503020204020204" pitchFamily="34" charset="-122"/>
                <a:ea typeface="微软雅黑" panose="020B0503020204020204" pitchFamily="34" charset="-122"/>
                <a:sym typeface="+mn-ea"/>
              </a:endParaRPr>
            </a:p>
            <a:p>
              <a:pPr algn="l"/>
              <a:r>
                <a:rPr lang="en-US" altLang="zh-CN" sz="1000" dirty="0">
                  <a:latin typeface="微软雅黑" panose="020B0503020204020204" pitchFamily="34" charset="-122"/>
                  <a:ea typeface="微软雅黑" panose="020B0503020204020204" pitchFamily="34" charset="-122"/>
                  <a:sym typeface="+mn-ea"/>
                </a:rPr>
                <a:t>......</a:t>
              </a:r>
              <a:endParaRPr kumimoji="1" lang="en-US" altLang="zh-CN" sz="1200" dirty="0" smtClean="0">
                <a:latin typeface="微软雅黑" panose="020B0503020204020204" pitchFamily="34" charset="-122"/>
                <a:ea typeface="微软雅黑" panose="020B0503020204020204" pitchFamily="34" charset="-122"/>
              </a:endParaRPr>
            </a:p>
          </p:txBody>
        </p:sp>
      </p:grpSp>
      <p:grpSp>
        <p:nvGrpSpPr>
          <p:cNvPr id="32" name="组合 128"/>
          <p:cNvGrpSpPr/>
          <p:nvPr/>
        </p:nvGrpSpPr>
        <p:grpSpPr>
          <a:xfrm>
            <a:off x="9231630" y="3028504"/>
            <a:ext cx="2778760" cy="899585"/>
            <a:chOff x="14615" y="3850"/>
            <a:chExt cx="4376" cy="1115"/>
          </a:xfrm>
        </p:grpSpPr>
        <p:sp>
          <p:nvSpPr>
            <p:cNvPr id="1048609" name="矩形 129"/>
            <p:cNvSpPr/>
            <p:nvPr/>
          </p:nvSpPr>
          <p:spPr>
            <a:xfrm>
              <a:off x="14615" y="3850"/>
              <a:ext cx="513" cy="10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10800" rIns="18000" bIns="10800" anchor="t"/>
            <a:p>
              <a:pPr algn="l" defTabSz="914400"/>
              <a:endParaRPr lang="zh-CN" altLang="en-US" sz="1200" b="1" dirty="0">
                <a:solidFill>
                  <a:schemeClr val="bg1"/>
                </a:solidFill>
                <a:latin typeface="微软雅黑" panose="020B0503020204020204" pitchFamily="34" charset="-122"/>
                <a:ea typeface="微软雅黑" panose="020B0503020204020204" pitchFamily="34" charset="-122"/>
              </a:endParaRPr>
            </a:p>
            <a:p>
              <a:pPr algn="l" defTabSz="914400"/>
              <a:endParaRPr lang="zh-CN" altLang="en-US" sz="1200" b="1" dirty="0">
                <a:solidFill>
                  <a:schemeClr val="bg1"/>
                </a:solidFill>
                <a:latin typeface="微软雅黑" panose="020B0503020204020204" pitchFamily="34" charset="-122"/>
                <a:ea typeface="微软雅黑" panose="020B0503020204020204" pitchFamily="34" charset="-122"/>
              </a:endParaRPr>
            </a:p>
            <a:p>
              <a:pPr algn="l" defTabSz="914400"/>
              <a:r>
                <a:rPr lang="zh-CN" altLang="en-US" sz="1200" b="1" dirty="0">
                  <a:solidFill>
                    <a:schemeClr val="bg1"/>
                  </a:solidFill>
                  <a:latin typeface="微软雅黑" panose="020B0503020204020204" pitchFamily="34" charset="-122"/>
                  <a:ea typeface="微软雅黑" panose="020B0503020204020204" pitchFamily="34" charset="-122"/>
                </a:rPr>
                <a:t>质</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1048610" name="文本框 130"/>
            <p:cNvSpPr txBox="1"/>
            <p:nvPr/>
          </p:nvSpPr>
          <p:spPr>
            <a:xfrm>
              <a:off x="15127" y="3899"/>
              <a:ext cx="3864" cy="1066"/>
            </a:xfrm>
            <a:prstGeom prst="rect">
              <a:avLst/>
            </a:prstGeom>
            <a:noFill/>
          </p:spPr>
          <p:txBody>
            <a:bodyPr wrap="square" rtlCol="0">
              <a:spAutoFit/>
            </a:bodyPr>
            <a:p>
              <a:pPr algn="l"/>
              <a:r>
                <a:rPr lang="zh-CN" altLang="en-US" sz="1000" dirty="0">
                  <a:latin typeface="微软雅黑" panose="020B0503020204020204" pitchFamily="34" charset="-122"/>
                  <a:ea typeface="微软雅黑" panose="020B0503020204020204" pitchFamily="34" charset="-122"/>
                  <a:sym typeface="+mn-ea"/>
                </a:rPr>
                <a:t>数据一致性提升</a:t>
              </a:r>
              <a:r>
                <a:rPr lang="en-US" altLang="zh-CN" sz="1000" dirty="0">
                  <a:latin typeface="微软雅黑" panose="020B0503020204020204" pitchFamily="34" charset="-122"/>
                  <a:ea typeface="微软雅黑" panose="020B0503020204020204" pitchFamily="34" charset="-122"/>
                  <a:sym typeface="+mn-ea"/>
                </a:rPr>
                <a:t>10%</a:t>
              </a:r>
              <a:r>
                <a:rPr lang="zh-CN" altLang="en-US" sz="1000" dirty="0">
                  <a:latin typeface="微软雅黑" panose="020B0503020204020204" pitchFamily="34" charset="-122"/>
                  <a:ea typeface="微软雅黑" panose="020B0503020204020204" pitchFamily="34" charset="-122"/>
                  <a:sym typeface="+mn-ea"/>
                </a:rPr>
                <a:t>；客群细分完成率</a:t>
              </a:r>
              <a:r>
                <a:rPr lang="en-US" altLang="zh-CN" sz="1000" dirty="0">
                  <a:latin typeface="微软雅黑" panose="020B0503020204020204" pitchFamily="34" charset="-122"/>
                  <a:ea typeface="微软雅黑" panose="020B0503020204020204" pitchFamily="34" charset="-122"/>
                  <a:sym typeface="+mn-ea"/>
                </a:rPr>
                <a:t>100%</a:t>
              </a:r>
              <a:endParaRPr lang="en-US" altLang="zh-CN" sz="1000" dirty="0">
                <a:latin typeface="微软雅黑" panose="020B0503020204020204" pitchFamily="34" charset="-122"/>
                <a:ea typeface="微软雅黑" panose="020B0503020204020204" pitchFamily="34" charset="-122"/>
                <a:sym typeface="+mn-ea"/>
              </a:endParaRPr>
            </a:p>
            <a:p>
              <a:pPr algn="l"/>
              <a:r>
                <a:rPr kumimoji="1" sz="1000" dirty="0" smtClean="0">
                  <a:latin typeface="微软雅黑" panose="020B0503020204020204" pitchFamily="34" charset="-122"/>
                  <a:ea typeface="微软雅黑" panose="020B0503020204020204" pitchFamily="34" charset="-122"/>
                </a:rPr>
                <a:t>家庭融合业务占比提升20%</a:t>
              </a:r>
              <a:endParaRPr kumimoji="1" sz="1000" dirty="0" smtClean="0">
                <a:latin typeface="微软雅黑" panose="020B0503020204020204" pitchFamily="34" charset="-122"/>
                <a:ea typeface="微软雅黑" panose="020B0503020204020204" pitchFamily="34" charset="-122"/>
              </a:endParaRPr>
            </a:p>
            <a:p>
              <a:pPr algn="l"/>
              <a:r>
                <a:rPr kumimoji="1" sz="1000" dirty="0" smtClean="0">
                  <a:latin typeface="微软雅黑" panose="020B0503020204020204" pitchFamily="34" charset="-122"/>
                  <a:ea typeface="微软雅黑" panose="020B0503020204020204" pitchFamily="34" charset="-122"/>
                </a:rPr>
                <a:t>家庭综合ARPU提升10%</a:t>
              </a:r>
              <a:endParaRPr kumimoji="1" sz="1000" dirty="0" smtClean="0">
                <a:latin typeface="微软雅黑" panose="020B0503020204020204" pitchFamily="34" charset="-122"/>
                <a:ea typeface="微软雅黑" panose="020B0503020204020204" pitchFamily="34" charset="-122"/>
              </a:endParaRPr>
            </a:p>
            <a:p>
              <a:pPr algn="l"/>
              <a:r>
                <a:rPr kumimoji="1" lang="en-US" altLang="zh-CN" sz="1000" dirty="0" smtClean="0">
                  <a:latin typeface="微软雅黑" panose="020B0503020204020204" pitchFamily="34" charset="-122"/>
                  <a:ea typeface="微软雅黑" panose="020B0503020204020204" pitchFamily="34" charset="-122"/>
                </a:rPr>
                <a:t>......</a:t>
              </a:r>
              <a:endParaRPr kumimoji="1" lang="en-US" altLang="zh-CN" sz="1000" dirty="0" smtClean="0">
                <a:latin typeface="微软雅黑" panose="020B0503020204020204" pitchFamily="34" charset="-122"/>
                <a:ea typeface="微软雅黑" panose="020B0503020204020204" pitchFamily="34" charset="-122"/>
              </a:endParaRPr>
            </a:p>
          </p:txBody>
        </p:sp>
      </p:grpSp>
      <p:grpSp>
        <p:nvGrpSpPr>
          <p:cNvPr id="33" name="组合 131"/>
          <p:cNvGrpSpPr/>
          <p:nvPr/>
        </p:nvGrpSpPr>
        <p:grpSpPr>
          <a:xfrm>
            <a:off x="9231630" y="4140200"/>
            <a:ext cx="2673985" cy="1037675"/>
            <a:chOff x="14615" y="3945"/>
            <a:chExt cx="4211" cy="1325"/>
          </a:xfrm>
        </p:grpSpPr>
        <p:sp>
          <p:nvSpPr>
            <p:cNvPr id="1048611" name="矩形 132"/>
            <p:cNvSpPr/>
            <p:nvPr/>
          </p:nvSpPr>
          <p:spPr>
            <a:xfrm>
              <a:off x="14615" y="3945"/>
              <a:ext cx="513" cy="13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10800" rIns="18000" bIns="10800" anchor="t"/>
            <a:p>
              <a:pPr algn="l" defTabSz="914400"/>
              <a:endParaRPr lang="zh-CN" altLang="en-US" sz="1200" b="1" dirty="0">
                <a:solidFill>
                  <a:schemeClr val="bg1"/>
                </a:solidFill>
                <a:latin typeface="微软雅黑" panose="020B0503020204020204" pitchFamily="34" charset="-122"/>
                <a:ea typeface="微软雅黑" panose="020B0503020204020204" pitchFamily="34" charset="-122"/>
              </a:endParaRPr>
            </a:p>
            <a:p>
              <a:pPr algn="l" defTabSz="914400"/>
              <a:endParaRPr lang="zh-CN" altLang="en-US" sz="1200" b="1" dirty="0">
                <a:solidFill>
                  <a:schemeClr val="bg1"/>
                </a:solidFill>
                <a:latin typeface="微软雅黑" panose="020B0503020204020204" pitchFamily="34" charset="-122"/>
                <a:ea typeface="微软雅黑" panose="020B0503020204020204" pitchFamily="34" charset="-122"/>
              </a:endParaRPr>
            </a:p>
            <a:p>
              <a:pPr algn="l" defTabSz="914400"/>
              <a:r>
                <a:rPr lang="zh-CN" altLang="en-US" sz="1200" b="1" dirty="0">
                  <a:solidFill>
                    <a:schemeClr val="bg1"/>
                  </a:solidFill>
                  <a:latin typeface="微软雅黑" panose="020B0503020204020204" pitchFamily="34" charset="-122"/>
                  <a:ea typeface="微软雅黑" panose="020B0503020204020204" pitchFamily="34" charset="-122"/>
                </a:rPr>
                <a:t>构</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1048612" name="文本框 133"/>
            <p:cNvSpPr txBox="1"/>
            <p:nvPr/>
          </p:nvSpPr>
          <p:spPr>
            <a:xfrm>
              <a:off x="15127" y="3961"/>
              <a:ext cx="3699" cy="1296"/>
            </a:xfrm>
            <a:prstGeom prst="rect">
              <a:avLst/>
            </a:prstGeom>
            <a:noFill/>
          </p:spPr>
          <p:txBody>
            <a:bodyPr wrap="square" rtlCol="0">
              <a:spAutoFit/>
            </a:bodyPr>
            <a:p>
              <a:pPr indent="0" fontAlgn="auto">
                <a:lnSpc>
                  <a:spcPct val="120000"/>
                </a:lnSpc>
              </a:pPr>
              <a:r>
                <a:rPr lang="zh-CN" altLang="en-US" sz="1000" dirty="0">
                  <a:latin typeface="微软雅黑" panose="020B0503020204020204" pitchFamily="34" charset="-122"/>
                  <a:ea typeface="微软雅黑" panose="020B0503020204020204" pitchFamily="34" charset="-122"/>
                  <a:sym typeface="+mn-ea"/>
                </a:rPr>
                <a:t>构建</a:t>
              </a:r>
              <a:r>
                <a:rPr lang="en-US" altLang="zh-CN" sz="1000" dirty="0">
                  <a:latin typeface="微软雅黑" panose="020B0503020204020204" pitchFamily="34" charset="-122"/>
                  <a:ea typeface="微软雅黑" panose="020B0503020204020204" pitchFamily="34" charset="-122"/>
                  <a:sym typeface="+mn-ea"/>
                </a:rPr>
                <a:t>1</a:t>
              </a:r>
              <a:r>
                <a:rPr lang="zh-CN" altLang="en-US" sz="1000" dirty="0">
                  <a:latin typeface="微软雅黑" panose="020B0503020204020204" pitchFamily="34" charset="-122"/>
                  <a:ea typeface="微软雅黑" panose="020B0503020204020204" pitchFamily="34" charset="-122"/>
                  <a:sym typeface="+mn-ea"/>
                </a:rPr>
                <a:t>个市场运营工作台；</a:t>
              </a:r>
              <a:endParaRPr lang="zh-CN" altLang="en-US" sz="1000" dirty="0">
                <a:latin typeface="微软雅黑" panose="020B0503020204020204" pitchFamily="34" charset="-122"/>
                <a:ea typeface="微软雅黑" panose="020B0503020204020204" pitchFamily="34" charset="-122"/>
                <a:sym typeface="+mn-ea"/>
              </a:endParaRPr>
            </a:p>
            <a:p>
              <a:pPr indent="0" fontAlgn="auto">
                <a:lnSpc>
                  <a:spcPct val="120000"/>
                </a:lnSpc>
              </a:pPr>
              <a:r>
                <a:rPr lang="zh-CN" sz="1000" dirty="0">
                  <a:latin typeface="微软雅黑" panose="020B0503020204020204" pitchFamily="34" charset="-122"/>
                  <a:ea typeface="微软雅黑" panose="020B0503020204020204" pitchFamily="34" charset="-122"/>
                  <a:sym typeface="+mn-ea"/>
                </a:rPr>
                <a:t>打造1套智慧调度驾驶舱；</a:t>
              </a:r>
              <a:endParaRPr lang="zh-CN" sz="1000" dirty="0">
                <a:latin typeface="微软雅黑" panose="020B0503020204020204" pitchFamily="34" charset="-122"/>
                <a:ea typeface="微软雅黑" panose="020B0503020204020204" pitchFamily="34" charset="-122"/>
                <a:sym typeface="+mn-ea"/>
              </a:endParaRPr>
            </a:p>
            <a:p>
              <a:pPr indent="0" fontAlgn="auto">
                <a:lnSpc>
                  <a:spcPct val="120000"/>
                </a:lnSpc>
              </a:pPr>
              <a:r>
                <a:rPr lang="zh-CN" sz="1000" dirty="0">
                  <a:latin typeface="微软雅黑" panose="020B0503020204020204" pitchFamily="34" charset="-122"/>
                  <a:ea typeface="微软雅黑" panose="020B0503020204020204" pitchFamily="34" charset="-122"/>
                  <a:sym typeface="+mn-ea"/>
                </a:rPr>
                <a:t>实现</a:t>
              </a:r>
              <a:r>
                <a:rPr lang="en-US" altLang="zh-CN" sz="1000" dirty="0">
                  <a:latin typeface="微软雅黑" panose="020B0503020204020204" pitchFamily="34" charset="-122"/>
                  <a:ea typeface="微软雅黑" panose="020B0503020204020204" pitchFamily="34" charset="-122"/>
                  <a:sym typeface="+mn-ea"/>
                </a:rPr>
                <a:t>1</a:t>
              </a:r>
              <a:r>
                <a:rPr lang="zh-CN" altLang="en-US" sz="1000" dirty="0">
                  <a:latin typeface="微软雅黑" panose="020B0503020204020204" pitchFamily="34" charset="-122"/>
                  <a:ea typeface="微软雅黑" panose="020B0503020204020204" pitchFamily="34" charset="-122"/>
                  <a:sym typeface="+mn-ea"/>
                </a:rPr>
                <a:t>个</a:t>
              </a:r>
              <a:r>
                <a:rPr lang="zh-CN" sz="1000" dirty="0">
                  <a:latin typeface="微软雅黑" panose="020B0503020204020204" pitchFamily="34" charset="-122"/>
                  <a:ea typeface="微软雅黑" panose="020B0503020204020204" pitchFamily="34" charset="-122"/>
                  <a:sym typeface="+mn-ea"/>
                </a:rPr>
                <a:t>家庭统一账户体系；</a:t>
              </a:r>
              <a:endParaRPr lang="zh-CN" sz="1000" dirty="0">
                <a:latin typeface="微软雅黑" panose="020B0503020204020204" pitchFamily="34" charset="-122"/>
                <a:ea typeface="微软雅黑" panose="020B0503020204020204" pitchFamily="34" charset="-122"/>
                <a:sym typeface="+mn-ea"/>
              </a:endParaRPr>
            </a:p>
            <a:p>
              <a:pPr indent="0" fontAlgn="auto">
                <a:lnSpc>
                  <a:spcPct val="120000"/>
                </a:lnSpc>
              </a:pPr>
              <a:r>
                <a:rPr lang="zh-CN" sz="1000" dirty="0">
                  <a:latin typeface="微软雅黑" panose="020B0503020204020204" pitchFamily="34" charset="-122"/>
                  <a:ea typeface="微软雅黑" panose="020B0503020204020204" pitchFamily="34" charset="-122"/>
                  <a:sym typeface="+mn-ea"/>
                </a:rPr>
                <a:t>构建集省专市县格五级指挥调度体系</a:t>
              </a:r>
              <a:endParaRPr lang="zh-CN" sz="1000" dirty="0">
                <a:latin typeface="微软雅黑" panose="020B0503020204020204" pitchFamily="34" charset="-122"/>
                <a:ea typeface="微软雅黑" panose="020B0503020204020204" pitchFamily="34" charset="-122"/>
                <a:sym typeface="+mn-ea"/>
              </a:endParaRPr>
            </a:p>
            <a:p>
              <a:pPr indent="0" fontAlgn="auto">
                <a:lnSpc>
                  <a:spcPct val="120000"/>
                </a:lnSpc>
              </a:pPr>
              <a:r>
                <a:rPr kumimoji="1" lang="en-US" altLang="zh-CN" sz="1000" dirty="0" smtClean="0">
                  <a:latin typeface="微软雅黑" panose="020B0503020204020204" pitchFamily="34" charset="-122"/>
                  <a:ea typeface="微软雅黑" panose="020B0503020204020204" pitchFamily="34" charset="-122"/>
                  <a:sym typeface="+mn-ea"/>
                </a:rPr>
                <a:t>....</a:t>
              </a:r>
              <a:endParaRPr kumimoji="1" lang="en-US" altLang="zh-CN" sz="1000" dirty="0" smtClean="0">
                <a:latin typeface="微软雅黑" panose="020B0503020204020204" pitchFamily="34" charset="-122"/>
                <a:ea typeface="微软雅黑" panose="020B0503020204020204" pitchFamily="34" charset="-122"/>
                <a:sym typeface="+mn-ea"/>
              </a:endParaRPr>
            </a:p>
          </p:txBody>
        </p:sp>
      </p:grpSp>
      <p:grpSp>
        <p:nvGrpSpPr>
          <p:cNvPr id="34" name="组合 134"/>
          <p:cNvGrpSpPr/>
          <p:nvPr/>
        </p:nvGrpSpPr>
        <p:grpSpPr>
          <a:xfrm>
            <a:off x="9231630" y="5478660"/>
            <a:ext cx="2673985" cy="1014616"/>
            <a:chOff x="14615" y="3944"/>
            <a:chExt cx="4211" cy="1343"/>
          </a:xfrm>
        </p:grpSpPr>
        <p:sp>
          <p:nvSpPr>
            <p:cNvPr id="1048613" name="矩形 135"/>
            <p:cNvSpPr/>
            <p:nvPr/>
          </p:nvSpPr>
          <p:spPr>
            <a:xfrm>
              <a:off x="14615" y="3945"/>
              <a:ext cx="513" cy="12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10800" rIns="18000" bIns="10800" anchor="t"/>
            <a:p>
              <a:pPr algn="l" defTabSz="914400"/>
              <a:endParaRPr lang="zh-CN" altLang="en-US" sz="1200" b="1" dirty="0">
                <a:solidFill>
                  <a:schemeClr val="bg1"/>
                </a:solidFill>
                <a:latin typeface="微软雅黑" panose="020B0503020204020204" pitchFamily="34" charset="-122"/>
                <a:ea typeface="微软雅黑" panose="020B0503020204020204" pitchFamily="34" charset="-122"/>
              </a:endParaRPr>
            </a:p>
            <a:p>
              <a:pPr algn="l" defTabSz="914400"/>
              <a:endParaRPr lang="zh-CN" altLang="en-US" sz="1200" b="1" dirty="0">
                <a:solidFill>
                  <a:schemeClr val="bg1"/>
                </a:solidFill>
                <a:latin typeface="微软雅黑" panose="020B0503020204020204" pitchFamily="34" charset="-122"/>
                <a:ea typeface="微软雅黑" panose="020B0503020204020204" pitchFamily="34" charset="-122"/>
              </a:endParaRPr>
            </a:p>
            <a:p>
              <a:pPr algn="l" defTabSz="914400"/>
              <a:r>
                <a:rPr lang="zh-CN" altLang="en-US" sz="1200" b="1" dirty="0">
                  <a:solidFill>
                    <a:schemeClr val="bg1"/>
                  </a:solidFill>
                  <a:latin typeface="微软雅黑" panose="020B0503020204020204" pitchFamily="34" charset="-122"/>
                  <a:ea typeface="微软雅黑" panose="020B0503020204020204" pitchFamily="34" charset="-122"/>
                </a:rPr>
                <a:t>效</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1048614" name="文本框 136"/>
            <p:cNvSpPr txBox="1"/>
            <p:nvPr/>
          </p:nvSpPr>
          <p:spPr>
            <a:xfrm>
              <a:off x="15127" y="3944"/>
              <a:ext cx="3699" cy="1343"/>
            </a:xfrm>
            <a:prstGeom prst="rect">
              <a:avLst/>
            </a:prstGeom>
            <a:noFill/>
          </p:spPr>
          <p:txBody>
            <a:bodyPr wrap="square" rtlCol="0">
              <a:spAutoFit/>
            </a:bodyPr>
            <a:p>
              <a:pPr>
                <a:buClr>
                  <a:schemeClr val="accent1"/>
                </a:buClr>
              </a:pPr>
              <a:r>
                <a:rPr lang="zh-CN" altLang="en-US" sz="1000" dirty="0">
                  <a:latin typeface="微软雅黑" panose="020B0503020204020204" pitchFamily="34" charset="-122"/>
                  <a:ea typeface="微软雅黑" panose="020B0503020204020204" pitchFamily="34" charset="-122"/>
                  <a:sym typeface="+mn-ea"/>
                </a:rPr>
                <a:t>识别</a:t>
              </a:r>
              <a:r>
                <a:rPr lang="en-US" altLang="zh-CN" sz="1000" dirty="0">
                  <a:latin typeface="微软雅黑" panose="020B0503020204020204" pitchFamily="34" charset="-122"/>
                  <a:ea typeface="微软雅黑" panose="020B0503020204020204" pitchFamily="34" charset="-122"/>
                  <a:sym typeface="+mn-ea"/>
                </a:rPr>
                <a:t>50%</a:t>
              </a:r>
              <a:r>
                <a:rPr lang="zh-CN" altLang="en-US" sz="1000" dirty="0">
                  <a:latin typeface="微软雅黑" panose="020B0503020204020204" pitchFamily="34" charset="-122"/>
                  <a:ea typeface="微软雅黑" panose="020B0503020204020204" pitchFamily="34" charset="-122"/>
                  <a:sym typeface="+mn-ea"/>
                </a:rPr>
                <a:t>投诉和离网风险；预测</a:t>
              </a:r>
              <a:r>
                <a:rPr lang="en-US" altLang="zh-CN" sz="1000" dirty="0">
                  <a:latin typeface="微软雅黑" panose="020B0503020204020204" pitchFamily="34" charset="-122"/>
                  <a:ea typeface="微软雅黑" panose="020B0503020204020204" pitchFamily="34" charset="-122"/>
                  <a:sym typeface="+mn-ea"/>
                </a:rPr>
                <a:t>50%</a:t>
              </a:r>
              <a:r>
                <a:rPr lang="zh-CN" altLang="en-US" sz="1000" dirty="0">
                  <a:latin typeface="微软雅黑" panose="020B0503020204020204" pitchFamily="34" charset="-122"/>
                  <a:ea typeface="微软雅黑" panose="020B0503020204020204" pitchFamily="34" charset="-122"/>
                  <a:sym typeface="+mn-ea"/>
                </a:rPr>
                <a:t>客户需求</a:t>
              </a:r>
              <a:endParaRPr lang="zh-CN" altLang="en-US" sz="1000" dirty="0">
                <a:latin typeface="微软雅黑" panose="020B0503020204020204" pitchFamily="34" charset="-122"/>
                <a:ea typeface="微软雅黑" panose="020B0503020204020204" pitchFamily="34" charset="-122"/>
                <a:sym typeface="+mn-ea"/>
              </a:endParaRPr>
            </a:p>
            <a:p>
              <a:pPr>
                <a:buClr>
                  <a:schemeClr val="accent1"/>
                </a:buClr>
              </a:pPr>
              <a:r>
                <a:rPr lang="zh-CN" altLang="en-US" sz="1000" dirty="0">
                  <a:latin typeface="微软雅黑" panose="020B0503020204020204" pitchFamily="34" charset="-122"/>
                  <a:ea typeface="微软雅黑" panose="020B0503020204020204" pitchFamily="34" charset="-122"/>
                  <a:sym typeface="+mn-ea"/>
                </a:rPr>
                <a:t>用户投诉和离网率减低</a:t>
              </a:r>
              <a:r>
                <a:rPr lang="en-US" altLang="zh-CN" sz="1000" dirty="0">
                  <a:latin typeface="微软雅黑" panose="020B0503020204020204" pitchFamily="34" charset="-122"/>
                  <a:ea typeface="微软雅黑" panose="020B0503020204020204" pitchFamily="34" charset="-122"/>
                  <a:sym typeface="+mn-ea"/>
                </a:rPr>
                <a:t>10%</a:t>
              </a:r>
              <a:endParaRPr lang="en-US" altLang="zh-CN" sz="1000" dirty="0">
                <a:latin typeface="微软雅黑" panose="020B0503020204020204" pitchFamily="34" charset="-122"/>
                <a:ea typeface="微软雅黑" panose="020B0503020204020204" pitchFamily="34" charset="-122"/>
                <a:sym typeface="+mn-ea"/>
              </a:endParaRPr>
            </a:p>
            <a:p>
              <a:pPr>
                <a:buClr>
                  <a:schemeClr val="accent1"/>
                </a:buClr>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产品短板问题分析、运营报告总结整体提效</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50%</a:t>
              </a:r>
              <a:r>
                <a:rPr lang="zh-CN" altLang="en-US" sz="1000" dirty="0">
                  <a:latin typeface="微软雅黑" panose="020B0503020204020204" pitchFamily="34" charset="-122"/>
                  <a:ea typeface="微软雅黑" panose="020B0503020204020204" pitchFamily="34" charset="-122"/>
                  <a:sym typeface="+mn-ea"/>
                </a:rPr>
                <a:t>；</a:t>
              </a:r>
              <a:endParaRPr lang="zh-CN" altLang="en-US" sz="1000" dirty="0">
                <a:latin typeface="微软雅黑" panose="020B0503020204020204" pitchFamily="34" charset="-122"/>
                <a:ea typeface="微软雅黑" panose="020B0503020204020204" pitchFamily="34" charset="-122"/>
                <a:sym typeface="+mn-ea"/>
              </a:endParaRPr>
            </a:p>
            <a:p>
              <a:pPr>
                <a:buClr>
                  <a:schemeClr val="accent1"/>
                </a:buClr>
              </a:pPr>
              <a:r>
                <a:rPr kumimoji="1" lang="en-US" altLang="zh-CN" sz="1000" dirty="0" smtClean="0">
                  <a:latin typeface="微软雅黑" panose="020B0503020204020204" pitchFamily="34" charset="-122"/>
                  <a:ea typeface="微软雅黑" panose="020B0503020204020204" pitchFamily="34" charset="-122"/>
                </a:rPr>
                <a:t>......</a:t>
              </a:r>
              <a:endParaRPr kumimoji="1" lang="en-US" altLang="zh-CN" sz="1000" dirty="0" smtClean="0">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1675765" y="1819910"/>
            <a:ext cx="2365375" cy="966470"/>
            <a:chOff x="2639" y="2866"/>
            <a:chExt cx="5272" cy="1522"/>
          </a:xfrm>
        </p:grpSpPr>
        <p:sp>
          <p:nvSpPr>
            <p:cNvPr id="1048619" name="矩形: 圆角 209"/>
            <p:cNvSpPr/>
            <p:nvPr/>
          </p:nvSpPr>
          <p:spPr>
            <a:xfrm>
              <a:off x="2639" y="2866"/>
              <a:ext cx="5270" cy="325"/>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r>
                <a:rPr kumimoji="1" lang="en-US" altLang="zh-CN"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1.1</a:t>
              </a:r>
              <a:r>
                <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重点数据实时采集</a:t>
              </a:r>
              <a:endPar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048620" name="矩形 28"/>
            <p:cNvSpPr/>
            <p:nvPr/>
          </p:nvSpPr>
          <p:spPr>
            <a:xfrm>
              <a:off x="2652" y="3194"/>
              <a:ext cx="5259" cy="1194"/>
            </a:xfrm>
            <a:prstGeom prst="rect">
              <a:avLst/>
            </a:prstGeom>
            <a:solidFill>
              <a:sysClr val="window" lastClr="FFFFFF"/>
            </a:solidFill>
            <a:ln w="3175" cap="flat" cmpd="sng" algn="ctr">
              <a:solidFill>
                <a:srgbClr val="ABD4F8"/>
              </a:solidFill>
              <a:prstDash val="solid"/>
            </a:ln>
            <a:effectLst/>
          </p:spPr>
          <p:txBody>
            <a:bodyPr lIns="36000" tIns="0" rIns="36000" bIns="0" rtlCol="0" anchor="ctr"/>
            <a:p>
              <a:pPr marL="71755" lvl="0">
                <a:lnSpc>
                  <a:spcPct val="100000"/>
                </a:lnSpc>
                <a:spcBef>
                  <a:spcPct val="0"/>
                </a:spcBef>
                <a:spcAft>
                  <a:spcPct val="0"/>
                </a:spcAft>
                <a:buClr>
                  <a:srgbClr val="000000"/>
                </a:buClr>
                <a:buFont typeface="+mj-ea"/>
                <a:buAutoNum type="circleNumDbPlain"/>
              </a:pPr>
              <a:r>
                <a:rPr lang="zh-CN" sz="1000" dirty="0">
                  <a:latin typeface="微软雅黑" panose="020B0503020204020204" pitchFamily="34" charset="-122"/>
                  <a:ea typeface="微软雅黑" panose="020B0503020204020204" pitchFamily="34" charset="-122"/>
                  <a:sym typeface="+mn-ea"/>
                </a:rPr>
                <a:t>构建直采通路，提升数据采集实时性</a:t>
              </a:r>
              <a:endParaRPr lang="zh-CN" sz="1000" dirty="0">
                <a:latin typeface="微软雅黑" panose="020B0503020204020204" pitchFamily="34" charset="-122"/>
                <a:ea typeface="微软雅黑" panose="020B0503020204020204" pitchFamily="34" charset="-122"/>
                <a:sym typeface="+mn-ea"/>
              </a:endParaRPr>
            </a:p>
            <a:p>
              <a:pPr marL="71755" lvl="0">
                <a:lnSpc>
                  <a:spcPct val="100000"/>
                </a:lnSpc>
                <a:spcBef>
                  <a:spcPct val="0"/>
                </a:spcBef>
                <a:spcAft>
                  <a:spcPct val="0"/>
                </a:spcAft>
                <a:buClr>
                  <a:srgbClr val="000000"/>
                </a:buClr>
                <a:buFont typeface="+mj-ea"/>
                <a:buAutoNum type="circleNumDbPlain"/>
              </a:pPr>
              <a:r>
                <a:rPr lang="zh-CN" sz="1000" dirty="0">
                  <a:latin typeface="微软雅黑" panose="020B0503020204020204" pitchFamily="34" charset="-122"/>
                  <a:ea typeface="微软雅黑" panose="020B0503020204020204" pitchFamily="34" charset="-122"/>
                  <a:sym typeface="+mn-ea"/>
                </a:rPr>
                <a:t>实时汇聚触客数据</a:t>
              </a:r>
              <a:endParaRPr kumimoji="0" lang="zh-CN" altLang="en-US" sz="10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 name="组合 20"/>
          <p:cNvGrpSpPr/>
          <p:nvPr/>
        </p:nvGrpSpPr>
        <p:grpSpPr>
          <a:xfrm>
            <a:off x="6533572" y="1809750"/>
            <a:ext cx="2115760" cy="967740"/>
            <a:chOff x="8430" y="2866"/>
            <a:chExt cx="5232" cy="1524"/>
          </a:xfrm>
        </p:grpSpPr>
        <p:sp>
          <p:nvSpPr>
            <p:cNvPr id="3" name="矩形: 圆角 209"/>
            <p:cNvSpPr/>
            <p:nvPr/>
          </p:nvSpPr>
          <p:spPr>
            <a:xfrm>
              <a:off x="8430" y="2866"/>
              <a:ext cx="5226" cy="325"/>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r>
                <a:rPr kumimoji="1" lang="en-US" altLang="zh-CN"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1.3</a:t>
              </a:r>
              <a:r>
                <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多维分析智能用数</a:t>
              </a:r>
              <a:endPar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4" name="矩形 31"/>
            <p:cNvSpPr/>
            <p:nvPr/>
          </p:nvSpPr>
          <p:spPr>
            <a:xfrm>
              <a:off x="8433" y="3191"/>
              <a:ext cx="5229" cy="1199"/>
            </a:xfrm>
            <a:prstGeom prst="rect">
              <a:avLst/>
            </a:prstGeom>
            <a:solidFill>
              <a:sysClr val="window" lastClr="FFFFFF"/>
            </a:solidFill>
            <a:ln w="3175" cap="flat" cmpd="sng" algn="ctr">
              <a:solidFill>
                <a:srgbClr val="ABD4F8"/>
              </a:solidFill>
              <a:prstDash val="solid"/>
            </a:ln>
            <a:effectLst/>
          </p:spPr>
          <p:txBody>
            <a:bodyPr lIns="36000" tIns="0" rIns="36000" bIns="0" rtlCol="0" anchor="ctr"/>
            <a:p>
              <a:pPr>
                <a:lnSpc>
                  <a:spcPct val="120000"/>
                </a:lnSpc>
              </a:pPr>
              <a:r>
                <a:rPr lang="zh-CN" altLang="en-US" sz="1000" dirty="0">
                  <a:latin typeface="微软雅黑" panose="020B0503020204020204" pitchFamily="34" charset="-122"/>
                  <a:ea typeface="微软雅黑" panose="020B0503020204020204" pitchFamily="34" charset="-122"/>
                  <a:sym typeface="+mn-ea"/>
                </a:rPr>
                <a:t>构建智慧大脑，通过</a:t>
              </a:r>
              <a:r>
                <a:rPr lang="en-US" altLang="zh-CN" sz="1000" dirty="0">
                  <a:latin typeface="微软雅黑" panose="020B0503020204020204" pitchFamily="34" charset="-122"/>
                  <a:ea typeface="微软雅黑" panose="020B0503020204020204" pitchFamily="34" charset="-122"/>
                  <a:sym typeface="+mn-ea"/>
                </a:rPr>
                <a:t>AI</a:t>
              </a:r>
              <a:r>
                <a:rPr lang="zh-CN" altLang="en-US" sz="1000" dirty="0">
                  <a:latin typeface="微软雅黑" panose="020B0503020204020204" pitchFamily="34" charset="-122"/>
                  <a:ea typeface="微软雅黑" panose="020B0503020204020204" pitchFamily="34" charset="-122"/>
                  <a:sym typeface="+mn-ea"/>
                </a:rPr>
                <a:t>技术融入，准确把握客户需求和意愿，自动生成个性化营销策略，</a:t>
              </a:r>
              <a:r>
                <a:rPr kumimoji="1" lang="zh-CN" altLang="en-US" sz="1000" dirty="0">
                  <a:latin typeface="微软雅黑" panose="020B0503020204020204" pitchFamily="34" charset="-122"/>
                  <a:ea typeface="微软雅黑" panose="020B0503020204020204" pitchFamily="34" charset="-122"/>
                  <a:sym typeface="+mn-ea"/>
                </a:rPr>
                <a:t>深化存量客户进行价值经营</a:t>
              </a:r>
              <a:endParaRPr kumimoji="1" lang="en-US" altLang="zh-CN" sz="1000" dirty="0">
                <a:solidFill>
                  <a:schemeClr val="tx1"/>
                </a:solidFill>
                <a:latin typeface="微软雅黑" panose="020B0503020204020204" pitchFamily="34" charset="-122"/>
                <a:ea typeface="微软雅黑" panose="020B0503020204020204" pitchFamily="34" charset="-122"/>
              </a:endParaRPr>
            </a:p>
          </p:txBody>
        </p:sp>
      </p:grpSp>
      <p:sp>
        <p:nvSpPr>
          <p:cNvPr id="1048593" name="矩形: 圆角 209"/>
          <p:cNvSpPr/>
          <p:nvPr/>
        </p:nvSpPr>
        <p:spPr>
          <a:xfrm>
            <a:off x="521970" y="2877820"/>
            <a:ext cx="8189595" cy="1224280"/>
          </a:xfrm>
          <a:prstGeom prst="rect">
            <a:avLst/>
          </a:prstGeom>
          <a:solidFill>
            <a:schemeClr val="bg1">
              <a:alpha val="80000"/>
            </a:schemeClr>
          </a:solidFill>
          <a:ln>
            <a:noFill/>
            <a:prstDash val="dash"/>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48594" name="文本框 29"/>
          <p:cNvSpPr txBox="1"/>
          <p:nvPr/>
        </p:nvSpPr>
        <p:spPr>
          <a:xfrm>
            <a:off x="572770" y="3050540"/>
            <a:ext cx="1170940" cy="977900"/>
          </a:xfrm>
          <a:prstGeom prst="rect">
            <a:avLst/>
          </a:prstGeom>
          <a:noFill/>
          <a:ln>
            <a:noFill/>
          </a:ln>
        </p:spPr>
        <p:txBody>
          <a:bodyPr wrap="square" rtlCol="0" anchor="ctr">
            <a:noAutofit/>
          </a:bodyPr>
          <a:p>
            <a:pPr marL="0" marR="0" lvl="0" indent="0" algn="ctr" defTabSz="457200" rtl="0" eaLnBrk="1" fontAlgn="auto" latinLnBrk="0" hangingPunct="1">
              <a:lnSpc>
                <a:spcPct val="100000"/>
              </a:lnSpc>
              <a:spcBef>
                <a:spcPts val="0"/>
              </a:spcBef>
              <a:spcAft>
                <a:spcPts val="0"/>
              </a:spcAft>
              <a:buClrTx/>
              <a:buSzTx/>
              <a:buFontTx/>
              <a:buNone/>
            </a:pPr>
            <a:r>
              <a:rPr lang="zh-CN" altLang="en-US" sz="1200" b="1" dirty="0">
                <a:solidFill>
                  <a:srgbClr val="0070BF"/>
                </a:solidFill>
                <a:latin typeface="微软雅黑" panose="020B0503020204020204" pitchFamily="34" charset="-122"/>
                <a:ea typeface="微软雅黑" panose="020B0503020204020204" pitchFamily="34" charset="-122"/>
              </a:rPr>
              <a:t>路径</a:t>
            </a:r>
            <a:r>
              <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2</a:t>
            </a:r>
            <a:endPar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Tx/>
              <a:buSzTx/>
              <a:buFontTx/>
              <a:buNone/>
            </a:pPr>
            <a:r>
              <a:rPr lang="zh-CN" altLang="en-US" sz="1200" b="1" dirty="0">
                <a:solidFill>
                  <a:srgbClr val="0070BF"/>
                </a:solidFill>
                <a:latin typeface="微软雅黑" panose="020B0503020204020204" pitchFamily="34" charset="-122"/>
                <a:ea typeface="微软雅黑" panose="020B0503020204020204" pitchFamily="34" charset="-122"/>
                <a:sym typeface="+mn-ea"/>
              </a:rPr>
              <a:t>升级融合运营能力，建强客户全生命周期运营</a:t>
            </a:r>
            <a:endPar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grpSp>
        <p:nvGrpSpPr>
          <p:cNvPr id="35" name="组合 18"/>
          <p:cNvGrpSpPr/>
          <p:nvPr/>
        </p:nvGrpSpPr>
        <p:grpSpPr>
          <a:xfrm rot="0">
            <a:off x="5205095" y="2884805"/>
            <a:ext cx="1731010" cy="1216025"/>
            <a:chOff x="2651" y="4567"/>
            <a:chExt cx="5985" cy="1386"/>
          </a:xfrm>
        </p:grpSpPr>
        <p:sp>
          <p:nvSpPr>
            <p:cNvPr id="1048615" name="矩形: 圆角 209"/>
            <p:cNvSpPr/>
            <p:nvPr/>
          </p:nvSpPr>
          <p:spPr>
            <a:xfrm>
              <a:off x="2651" y="4567"/>
              <a:ext cx="5981" cy="354"/>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r>
                <a:rPr kumimoji="1" lang="en-US" altLang="zh-CN"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2.3 </a:t>
              </a:r>
              <a:r>
                <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全产品灵活封装供给</a:t>
              </a:r>
              <a:endPar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048616" name="矩形 45"/>
            <p:cNvSpPr/>
            <p:nvPr/>
          </p:nvSpPr>
          <p:spPr>
            <a:xfrm>
              <a:off x="2651" y="4915"/>
              <a:ext cx="5985" cy="1038"/>
            </a:xfrm>
            <a:prstGeom prst="rect">
              <a:avLst/>
            </a:prstGeom>
            <a:solidFill>
              <a:sysClr val="window" lastClr="FFFFFF"/>
            </a:solidFill>
            <a:ln w="3175" cap="flat" cmpd="sng" algn="ctr">
              <a:solidFill>
                <a:srgbClr val="ABD4F8"/>
              </a:solidFill>
              <a:prstDash val="solid"/>
            </a:ln>
            <a:effectLst/>
          </p:spPr>
          <p:txBody>
            <a:bodyPr lIns="48000" tIns="0" rIns="48000" bIns="0" rtlCol="0" anchor="ctr"/>
            <a:p>
              <a:pPr algn="l">
                <a:lnSpc>
                  <a:spcPct val="130000"/>
                </a:lnSpc>
              </a:pPr>
              <a:r>
                <a:rPr kumimoji="1" lang="zh-CN" altLang="en-US" sz="900" dirty="0">
                  <a:latin typeface="微软雅黑" panose="020B0503020204020204" pitchFamily="34" charset="-122"/>
                  <a:ea typeface="微软雅黑" panose="020B0503020204020204" pitchFamily="34" charset="-122"/>
                  <a:sym typeface="+mn-ea"/>
                </a:rPr>
                <a:t>①省专产品模型标准化，</a:t>
              </a:r>
              <a:r>
                <a:rPr kumimoji="1" lang="zh-CN" altLang="en-US" sz="900" dirty="0">
                  <a:solidFill>
                    <a:schemeClr val="tx1"/>
                  </a:solidFill>
                  <a:latin typeface="微软雅黑" panose="020B0503020204020204" pitchFamily="34" charset="-122"/>
                  <a:ea typeface="微软雅黑" panose="020B0503020204020204" pitchFamily="34" charset="-122"/>
                  <a:sym typeface="+mn-ea"/>
                </a:rPr>
                <a:t>构建全网原子产品库</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②打造融合商品灵活封装能力，</a:t>
              </a:r>
              <a:r>
                <a:rPr kumimoji="1" lang="zh-CN" altLang="en-US" sz="900" dirty="0">
                  <a:latin typeface="微软雅黑" panose="020B0503020204020204" pitchFamily="34" charset="-122"/>
                  <a:ea typeface="微软雅黑" panose="020B0503020204020204" pitchFamily="34" charset="-122"/>
                  <a:sym typeface="+mn-ea"/>
                </a:rPr>
                <a:t>实现快速封装、灵活优惠</a:t>
              </a:r>
              <a:endParaRPr lang="zh-CN" altLang="en-US" sz="9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37" name="组合 20"/>
          <p:cNvGrpSpPr/>
          <p:nvPr/>
        </p:nvGrpSpPr>
        <p:grpSpPr>
          <a:xfrm rot="0">
            <a:off x="1681480" y="2904490"/>
            <a:ext cx="1683385" cy="1185545"/>
            <a:chOff x="8431" y="2866"/>
            <a:chExt cx="5230" cy="1523"/>
          </a:xfrm>
        </p:grpSpPr>
        <p:sp>
          <p:nvSpPr>
            <p:cNvPr id="1048621" name="矩形: 圆角 209"/>
            <p:cNvSpPr/>
            <p:nvPr/>
          </p:nvSpPr>
          <p:spPr>
            <a:xfrm>
              <a:off x="8431" y="2866"/>
              <a:ext cx="5226" cy="325"/>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r>
                <a:rPr kumimoji="1" lang="en-US" altLang="zh-CN"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2.1</a:t>
              </a:r>
              <a:r>
                <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全领域客户账号统一</a:t>
              </a:r>
              <a:endPar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048622" name="矩形 31"/>
            <p:cNvSpPr/>
            <p:nvPr/>
          </p:nvSpPr>
          <p:spPr>
            <a:xfrm>
              <a:off x="8433" y="3191"/>
              <a:ext cx="5229" cy="1199"/>
            </a:xfrm>
            <a:prstGeom prst="rect">
              <a:avLst/>
            </a:prstGeom>
            <a:solidFill>
              <a:sysClr val="window" lastClr="FFFFFF"/>
            </a:solidFill>
            <a:ln w="3175" cap="flat" cmpd="sng" algn="ctr">
              <a:solidFill>
                <a:srgbClr val="ABD4F8"/>
              </a:solidFill>
              <a:prstDash val="solid"/>
            </a:ln>
            <a:effectLst/>
          </p:spPr>
          <p:txBody>
            <a:bodyPr lIns="36000" tIns="0" rIns="36000" bIns="0" rtlCol="0" anchor="ctr"/>
            <a:p>
              <a:pPr marL="71755" marR="0" lvl="0" algn="l" defTabSz="914400" rtl="0" eaLnBrk="1" fontAlgn="auto" latinLnBrk="0" hangingPunct="1">
                <a:lnSpc>
                  <a:spcPct val="100000"/>
                </a:lnSpc>
                <a:spcBef>
                  <a:spcPct val="0"/>
                </a:spcBef>
                <a:spcAft>
                  <a:spcPct val="0"/>
                </a:spcAft>
                <a:buClr>
                  <a:srgbClr val="000000"/>
                </a:buClr>
                <a:buSzTx/>
                <a:buFont typeface="+mj-ea"/>
                <a:buAutoNum type="circleNumDbPlain"/>
              </a:pPr>
              <a:r>
                <a:rPr kumimoji="1" lang="zh-CN" altLang="en-US" sz="900" dirty="0">
                  <a:solidFill>
                    <a:schemeClr val="tx1"/>
                  </a:solidFill>
                  <a:latin typeface="微软雅黑" panose="020B0503020204020204" pitchFamily="34" charset="-122"/>
                  <a:ea typeface="微软雅黑" panose="020B0503020204020204" pitchFamily="34" charset="-122"/>
                </a:rPr>
                <a:t>统一家庭模型标准，建设全网统一家庭账户体系</a:t>
              </a:r>
              <a:endParaRPr kumimoji="1" lang="en-US" altLang="zh-CN" sz="900" dirty="0">
                <a:solidFill>
                  <a:schemeClr val="tx1"/>
                </a:solidFill>
                <a:latin typeface="微软雅黑" panose="020B0503020204020204" pitchFamily="34" charset="-122"/>
                <a:ea typeface="微软雅黑" panose="020B0503020204020204" pitchFamily="34" charset="-122"/>
              </a:endParaRPr>
            </a:p>
            <a:p>
              <a:pPr marL="71755" marR="0" lvl="0" algn="l" defTabSz="914400" rtl="0" eaLnBrk="1" fontAlgn="auto" latinLnBrk="0" hangingPunct="1">
                <a:lnSpc>
                  <a:spcPct val="100000"/>
                </a:lnSpc>
                <a:spcBef>
                  <a:spcPct val="0"/>
                </a:spcBef>
                <a:spcAft>
                  <a:spcPct val="0"/>
                </a:spcAft>
                <a:buClr>
                  <a:srgbClr val="000000"/>
                </a:buClr>
                <a:buSzTx/>
                <a:buFont typeface="+mj-ea"/>
                <a:buAutoNum type="circleNumDbPlain"/>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建设资源池化共享能力，优化家庭用户体验</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grpSp>
      <p:grpSp>
        <p:nvGrpSpPr>
          <p:cNvPr id="14" name="组合 13"/>
          <p:cNvGrpSpPr/>
          <p:nvPr/>
        </p:nvGrpSpPr>
        <p:grpSpPr>
          <a:xfrm rot="0">
            <a:off x="3418205" y="2904490"/>
            <a:ext cx="1727835" cy="1196975"/>
            <a:chOff x="2639" y="2850"/>
            <a:chExt cx="5271" cy="1538"/>
          </a:xfrm>
        </p:grpSpPr>
        <p:sp>
          <p:nvSpPr>
            <p:cNvPr id="6" name="矩形: 圆角 209"/>
            <p:cNvSpPr/>
            <p:nvPr/>
          </p:nvSpPr>
          <p:spPr>
            <a:xfrm>
              <a:off x="2639" y="2850"/>
              <a:ext cx="5270" cy="325"/>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r>
                <a:rPr kumimoji="1" lang="en-US" altLang="zh-CN"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2.2</a:t>
              </a:r>
              <a:r>
                <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全时空客户精准洞察</a:t>
              </a:r>
              <a:endPar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7" name="矩形 28"/>
            <p:cNvSpPr/>
            <p:nvPr/>
          </p:nvSpPr>
          <p:spPr>
            <a:xfrm>
              <a:off x="2652" y="3194"/>
              <a:ext cx="5259" cy="1194"/>
            </a:xfrm>
            <a:prstGeom prst="rect">
              <a:avLst/>
            </a:prstGeom>
            <a:solidFill>
              <a:sysClr val="window" lastClr="FFFFFF"/>
            </a:solidFill>
            <a:ln w="3175" cap="flat" cmpd="sng" algn="ctr">
              <a:solidFill>
                <a:srgbClr val="ABD4F8"/>
              </a:solidFill>
              <a:prstDash val="solid"/>
            </a:ln>
            <a:effectLst/>
          </p:spPr>
          <p:txBody>
            <a:bodyPr lIns="36000" tIns="0" rIns="36000" bIns="0" rtlCol="0" anchor="ctr"/>
            <a:p>
              <a:pPr marL="71755" lvl="0">
                <a:lnSpc>
                  <a:spcPct val="100000"/>
                </a:lnSpc>
                <a:spcBef>
                  <a:spcPct val="0"/>
                </a:spcBef>
                <a:spcAft>
                  <a:spcPct val="0"/>
                </a:spcAft>
                <a:buClr>
                  <a:srgbClr val="000000"/>
                </a:buClr>
                <a:buFont typeface="+mj-ea"/>
                <a:buAutoNum type="circleNumDbPlain"/>
              </a:pPr>
              <a:endParaRPr lang="zh-CN" altLang="en-US" sz="1000" dirty="0">
                <a:latin typeface="微软雅黑" panose="020B0503020204020204" pitchFamily="34" charset="-122"/>
                <a:ea typeface="微软雅黑" panose="020B0503020204020204" pitchFamily="34" charset="-122"/>
                <a:cs typeface="微软雅黑" panose="020B0503020204020204" pitchFamily="34" charset="-122"/>
              </a:endParaRPr>
            </a:p>
            <a:p>
              <a:pPr marL="71755" lvl="0">
                <a:lnSpc>
                  <a:spcPct val="100000"/>
                </a:lnSpc>
                <a:spcBef>
                  <a:spcPct val="0"/>
                </a:spcBef>
                <a:spcAft>
                  <a:spcPct val="0"/>
                </a:spcAft>
                <a:buClr>
                  <a:srgbClr val="000000"/>
                </a:buClr>
                <a:buFont typeface="+mj-ea"/>
                <a:buAutoNum type="circleNumDbPlain"/>
              </a:pPr>
              <a:r>
                <a:rPr lang="zh-CN" altLang="en-US" sz="900" dirty="0">
                  <a:latin typeface="微软雅黑" panose="020B0503020204020204" pitchFamily="34" charset="-122"/>
                  <a:ea typeface="微软雅黑" panose="020B0503020204020204" pitchFamily="34" charset="-122"/>
                  <a:cs typeface="微软雅黑" panose="020B0503020204020204" pitchFamily="34" charset="-122"/>
                </a:rPr>
                <a:t>分阶段拉通集省专全网客户数据，</a:t>
              </a:r>
              <a:r>
                <a:rPr kumimoji="0" lang="zh-CN" altLang="en-US" sz="9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构建分解分类标签</a:t>
              </a:r>
              <a:endParaRPr kumimoji="0" lang="en-US" altLang="zh-CN" sz="9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71755">
                <a:spcBef>
                  <a:spcPct val="0"/>
                </a:spcBef>
                <a:spcAft>
                  <a:spcPct val="0"/>
                </a:spcAft>
                <a:buClr>
                  <a:srgbClr val="000000"/>
                </a:buClr>
                <a:buFont typeface="+mj-ea"/>
                <a:buAutoNum type="circleNumDbPlain"/>
              </a:pPr>
              <a:r>
                <a:rPr lang="zh-CN" altLang="en-US" sz="900" dirty="0">
                  <a:latin typeface="微软雅黑" panose="020B0503020204020204" pitchFamily="34" charset="-122"/>
                  <a:ea typeface="微软雅黑" panose="020B0503020204020204" pitchFamily="34" charset="-122"/>
                  <a:cs typeface="微软雅黑" panose="020B0503020204020204" pitchFamily="34" charset="-122"/>
                </a:rPr>
                <a:t>通过深度客户洞察</a:t>
              </a:r>
              <a:r>
                <a:rPr kumimoji="0" lang="zh-CN" altLang="en-US" sz="9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kern="1200" dirty="0">
                  <a:solidFill>
                    <a:schemeClr val="tx1"/>
                  </a:solidFill>
                  <a:latin typeface="微软雅黑" panose="020B0503020204020204" pitchFamily="34" charset="-122"/>
                  <a:ea typeface="微软雅黑" panose="020B0503020204020204" pitchFamily="34" charset="-122"/>
                  <a:cs typeface="+mn-cs"/>
                </a:rPr>
                <a:t>准确把握客户需求</a:t>
              </a:r>
              <a:endParaRPr kumimoji="0" lang="zh-CN" altLang="en-US" sz="9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grpSp>
      <p:grpSp>
        <p:nvGrpSpPr>
          <p:cNvPr id="8" name="组合 20"/>
          <p:cNvGrpSpPr/>
          <p:nvPr/>
        </p:nvGrpSpPr>
        <p:grpSpPr>
          <a:xfrm rot="0">
            <a:off x="6972300" y="2891790"/>
            <a:ext cx="1683385" cy="1211264"/>
            <a:chOff x="8431" y="2866"/>
            <a:chExt cx="5230" cy="1525"/>
          </a:xfrm>
        </p:grpSpPr>
        <p:sp>
          <p:nvSpPr>
            <p:cNvPr id="9" name="矩形: 圆角 209"/>
            <p:cNvSpPr/>
            <p:nvPr/>
          </p:nvSpPr>
          <p:spPr>
            <a:xfrm>
              <a:off x="8431" y="2866"/>
              <a:ext cx="5226" cy="375"/>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r>
                <a:rPr kumimoji="1" lang="en-US" altLang="zh-CN"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2.4</a:t>
              </a:r>
              <a:r>
                <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全触点联动智能交互</a:t>
              </a:r>
              <a:endPar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0" name="矩形 31"/>
            <p:cNvSpPr/>
            <p:nvPr/>
          </p:nvSpPr>
          <p:spPr>
            <a:xfrm>
              <a:off x="8433" y="3241"/>
              <a:ext cx="5228" cy="1150"/>
            </a:xfrm>
            <a:prstGeom prst="rect">
              <a:avLst/>
            </a:prstGeom>
            <a:solidFill>
              <a:sysClr val="window" lastClr="FFFFFF"/>
            </a:solidFill>
            <a:ln w="3175" cap="flat" cmpd="sng" algn="ctr">
              <a:solidFill>
                <a:srgbClr val="ABD4F8"/>
              </a:solidFill>
              <a:prstDash val="solid"/>
            </a:ln>
            <a:effectLst/>
          </p:spPr>
          <p:txBody>
            <a:bodyPr lIns="36000" tIns="0" rIns="36000" bIns="0" rtlCol="0" anchor="ctr"/>
            <a:p>
              <a:pPr marL="71755" marR="0" lvl="0" indent="0" algn="l" defTabSz="914400" rtl="0" eaLnBrk="1" fontAlgn="auto" latinLnBrk="0" hangingPunct="1">
                <a:lnSpc>
                  <a:spcPct val="100000"/>
                </a:lnSpc>
                <a:spcBef>
                  <a:spcPct val="0"/>
                </a:spcBef>
                <a:spcAft>
                  <a:spcPct val="0"/>
                </a:spcAft>
                <a:buClr>
                  <a:srgbClr val="000000"/>
                </a:buClr>
                <a:buSzTx/>
                <a:buFont typeface="+mj-ea"/>
                <a:buNone/>
              </a:pPr>
              <a:endParaRPr kumimoji="1" lang="zh-CN" altLang="en-US" sz="900" dirty="0">
                <a:solidFill>
                  <a:schemeClr val="tx1"/>
                </a:solidFill>
                <a:latin typeface="微软雅黑" panose="020B0503020204020204" pitchFamily="34" charset="-122"/>
                <a:ea typeface="微软雅黑" panose="020B0503020204020204" pitchFamily="34" charset="-122"/>
              </a:endParaRPr>
            </a:p>
            <a:p>
              <a:pPr marL="71755" marR="0" lvl="0" algn="l" defTabSz="914400" rtl="0" eaLnBrk="1" fontAlgn="auto" latinLnBrk="0" hangingPunct="1">
                <a:lnSpc>
                  <a:spcPct val="100000"/>
                </a:lnSpc>
                <a:spcBef>
                  <a:spcPct val="0"/>
                </a:spcBef>
                <a:spcAft>
                  <a:spcPct val="0"/>
                </a:spcAft>
                <a:buClr>
                  <a:srgbClr val="000000"/>
                </a:buClr>
                <a:buSzTx/>
                <a:buFont typeface="+mj-ea"/>
                <a:buAutoNum type="circleNumDbPlain"/>
              </a:pPr>
              <a:r>
                <a:rPr kumimoji="1" lang="zh-CN" altLang="en-US" sz="900" dirty="0">
                  <a:solidFill>
                    <a:schemeClr val="tx1"/>
                  </a:solidFill>
                  <a:latin typeface="微软雅黑" panose="020B0503020204020204" pitchFamily="34" charset="-122"/>
                  <a:ea typeface="微软雅黑" panose="020B0503020204020204" pitchFamily="34" charset="-122"/>
                </a:rPr>
                <a:t>1+N统一调度，业务活动智能投放；</a:t>
              </a:r>
              <a:endParaRPr kumimoji="1" lang="zh-CN" altLang="en-US" sz="900" dirty="0">
                <a:solidFill>
                  <a:schemeClr val="tx1"/>
                </a:solidFill>
                <a:latin typeface="微软雅黑" panose="020B0503020204020204" pitchFamily="34" charset="-122"/>
                <a:ea typeface="微软雅黑" panose="020B0503020204020204" pitchFamily="34" charset="-122"/>
              </a:endParaRPr>
            </a:p>
            <a:p>
              <a:pPr marL="71755" marR="0" lvl="0" algn="l" defTabSz="914400" rtl="0" eaLnBrk="1" fontAlgn="auto" latinLnBrk="0" hangingPunct="1">
                <a:lnSpc>
                  <a:spcPct val="100000"/>
                </a:lnSpc>
                <a:spcBef>
                  <a:spcPct val="0"/>
                </a:spcBef>
                <a:spcAft>
                  <a:spcPct val="0"/>
                </a:spcAft>
                <a:buClr>
                  <a:srgbClr val="000000"/>
                </a:buClr>
                <a:buSzTx/>
                <a:buFont typeface="+mj-ea"/>
                <a:buAutoNum type="circleNumDbPlain"/>
              </a:pPr>
              <a:r>
                <a:rPr kumimoji="1" lang="zh-CN" altLang="en-US" sz="900" dirty="0">
                  <a:solidFill>
                    <a:schemeClr val="tx1"/>
                  </a:solidFill>
                  <a:latin typeface="微软雅黑" panose="020B0503020204020204" pitchFamily="34" charset="-122"/>
                  <a:ea typeface="微软雅黑" panose="020B0503020204020204" pitchFamily="34" charset="-122"/>
                </a:rPr>
                <a:t>实时监测营销效能、投放效果等</a:t>
              </a:r>
              <a:endParaRPr kumimoji="1" lang="zh-CN" altLang="en-US" sz="900" dirty="0">
                <a:solidFill>
                  <a:schemeClr val="tx1"/>
                </a:solidFill>
                <a:latin typeface="微软雅黑" panose="020B0503020204020204" pitchFamily="34" charset="-122"/>
                <a:ea typeface="微软雅黑" panose="020B0503020204020204" pitchFamily="34" charset="-122"/>
              </a:endParaRPr>
            </a:p>
          </p:txBody>
        </p:sp>
      </p:grpSp>
      <p:sp>
        <p:nvSpPr>
          <p:cNvPr id="1048597" name="矩形: 圆角 209"/>
          <p:cNvSpPr/>
          <p:nvPr/>
        </p:nvSpPr>
        <p:spPr>
          <a:xfrm>
            <a:off x="509270" y="4172585"/>
            <a:ext cx="8203565" cy="1443990"/>
          </a:xfrm>
          <a:prstGeom prst="rect">
            <a:avLst/>
          </a:prstGeom>
          <a:solidFill>
            <a:schemeClr val="bg1">
              <a:alpha val="80000"/>
            </a:schemeClr>
          </a:solidFill>
          <a:ln>
            <a:noFill/>
            <a:prstDash val="dash"/>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48598" name="文本框 16"/>
          <p:cNvSpPr txBox="1"/>
          <p:nvPr/>
        </p:nvSpPr>
        <p:spPr>
          <a:xfrm>
            <a:off x="539750" y="4387215"/>
            <a:ext cx="1170940" cy="1005205"/>
          </a:xfrm>
          <a:prstGeom prst="rect">
            <a:avLst/>
          </a:prstGeom>
          <a:noFill/>
          <a:ln>
            <a:noFill/>
          </a:ln>
        </p:spPr>
        <p:txBody>
          <a:bodyPr wrap="square" rtlCol="0" anchor="ctr">
            <a:noAutofit/>
          </a:bodyPr>
          <a:p>
            <a:pPr marL="0" marR="0" lvl="0" indent="0" algn="ctr" defTabSz="457200" rtl="0" eaLnBrk="1" fontAlgn="auto" latinLnBrk="0" hangingPunct="1">
              <a:lnSpc>
                <a:spcPct val="100000"/>
              </a:lnSpc>
              <a:spcBef>
                <a:spcPts val="0"/>
              </a:spcBef>
              <a:spcAft>
                <a:spcPts val="0"/>
              </a:spcAft>
              <a:buClrTx/>
              <a:buSzTx/>
              <a:buFontTx/>
              <a:buNone/>
            </a:pPr>
            <a:r>
              <a:rPr lang="zh-CN" altLang="en-US" sz="1200" b="1" dirty="0">
                <a:solidFill>
                  <a:srgbClr val="0070BF"/>
                </a:solidFill>
                <a:latin typeface="微软雅黑" panose="020B0503020204020204" pitchFamily="34" charset="-122"/>
                <a:ea typeface="微软雅黑" panose="020B0503020204020204" pitchFamily="34" charset="-122"/>
              </a:rPr>
              <a:t>路径</a:t>
            </a:r>
            <a:r>
              <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rPr>
              <a:t>3</a:t>
            </a:r>
            <a:endParaRPr kumimoji="0" lang="en-US" altLang="zh-CN"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Tx/>
              <a:buSzTx/>
              <a:buFontTx/>
              <a:buNone/>
            </a:pPr>
            <a:r>
              <a:rPr lang="zh-CN" altLang="en-US" sz="1200" b="1" dirty="0">
                <a:solidFill>
                  <a:srgbClr val="0070BF"/>
                </a:solidFill>
                <a:latin typeface="微软雅黑" panose="020B0503020204020204" pitchFamily="34" charset="-122"/>
                <a:ea typeface="微软雅黑" panose="020B0503020204020204" pitchFamily="34" charset="-122"/>
                <a:sym typeface="+mn-ea"/>
              </a:rPr>
              <a:t>构建三屏联动的数智前台</a:t>
            </a:r>
            <a:r>
              <a:rPr lang="en-US" altLang="zh-CN" sz="1200" b="1" dirty="0">
                <a:solidFill>
                  <a:srgbClr val="0070BF"/>
                </a:solidFill>
                <a:latin typeface="微软雅黑" panose="020B0503020204020204" pitchFamily="34" charset="-122"/>
                <a:ea typeface="微软雅黑" panose="020B0503020204020204" pitchFamily="34" charset="-122"/>
                <a:sym typeface="+mn-ea"/>
              </a:rPr>
              <a:t>，加速推动数智化转型</a:t>
            </a:r>
            <a:endParaRPr kumimoji="0" lang="zh-CN" altLang="en-US" sz="1200" b="1" i="0" u="none" strike="noStrike" kern="1200" cap="none" spc="0" normalizeH="0" baseline="0" noProof="0" dirty="0">
              <a:ln>
                <a:noFill/>
              </a:ln>
              <a:solidFill>
                <a:srgbClr val="0070BF"/>
              </a:solidFill>
              <a:effectLst/>
              <a:uLnTx/>
              <a:uFillTx/>
              <a:latin typeface="微软雅黑" panose="020B0503020204020204" pitchFamily="34" charset="-122"/>
              <a:ea typeface="微软雅黑" panose="020B0503020204020204" pitchFamily="34" charset="-122"/>
              <a:cs typeface="+mn-cs"/>
            </a:endParaRPr>
          </a:p>
        </p:txBody>
      </p:sp>
      <p:grpSp>
        <p:nvGrpSpPr>
          <p:cNvPr id="36" name="组合 19"/>
          <p:cNvGrpSpPr/>
          <p:nvPr/>
        </p:nvGrpSpPr>
        <p:grpSpPr>
          <a:xfrm rot="0">
            <a:off x="5198745" y="4262448"/>
            <a:ext cx="1725930" cy="1220711"/>
            <a:chOff x="8858" y="4565"/>
            <a:chExt cx="4702" cy="1394"/>
          </a:xfrm>
        </p:grpSpPr>
        <p:sp>
          <p:nvSpPr>
            <p:cNvPr id="1048617" name="矩形 43"/>
            <p:cNvSpPr/>
            <p:nvPr/>
          </p:nvSpPr>
          <p:spPr>
            <a:xfrm>
              <a:off x="8858" y="4876"/>
              <a:ext cx="4686" cy="1083"/>
            </a:xfrm>
            <a:prstGeom prst="rect">
              <a:avLst/>
            </a:prstGeom>
            <a:solidFill>
              <a:sysClr val="window" lastClr="FFFFFF"/>
            </a:solidFill>
            <a:ln w="3175" cap="flat" cmpd="sng" algn="ctr">
              <a:solidFill>
                <a:srgbClr val="ABD4F8"/>
              </a:solidFill>
              <a:prstDash val="solid"/>
            </a:ln>
            <a:effectLst/>
          </p:spPr>
          <p:txBody>
            <a:bodyPr lIns="48000" tIns="0" rIns="48000" bIns="0" rtlCol="0" anchor="ctr"/>
            <a:p>
              <a:pPr algn="l">
                <a:lnSpc>
                  <a:spcPct val="130000"/>
                </a:lnSpc>
              </a:pPr>
              <a:r>
                <a:rPr kumimoji="1" lang="zh-CN" altLang="en-US" sz="900" dirty="0">
                  <a:latin typeface="微软雅黑" panose="020B0503020204020204" pitchFamily="34" charset="-122"/>
                  <a:ea typeface="微软雅黑" panose="020B0503020204020204" pitchFamily="34" charset="-122"/>
                  <a:sym typeface="+mn-ea"/>
                </a:rPr>
                <a:t>①构</a:t>
              </a:r>
              <a:r>
                <a:rPr kumimoji="1" lang="zh-CN" altLang="en-US" sz="900" dirty="0">
                  <a:solidFill>
                    <a:schemeClr val="tx1"/>
                  </a:solidFill>
                  <a:latin typeface="微软雅黑" panose="020B0503020204020204" pitchFamily="34" charset="-122"/>
                  <a:ea typeface="微软雅黑" panose="020B0503020204020204" pitchFamily="34" charset="-122"/>
                  <a:sym typeface="+mn-ea"/>
                </a:rPr>
                <a:t>建智能化运营能力，支撑产品全生命周期数智运营；</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a:p>
              <a:pPr algn="l">
                <a:lnSpc>
                  <a:spcPct val="130000"/>
                </a:lnSpc>
              </a:pPr>
              <a:r>
                <a:rPr kumimoji="1" lang="zh-CN" altLang="en-US" sz="900" dirty="0">
                  <a:solidFill>
                    <a:schemeClr val="tx1"/>
                  </a:solidFill>
                  <a:latin typeface="微软雅黑" panose="020B0503020204020204" pitchFamily="34" charset="-122"/>
                  <a:ea typeface="微软雅黑" panose="020B0503020204020204" pitchFamily="34" charset="-122"/>
                  <a:sym typeface="+mn-ea"/>
                </a:rPr>
                <a:t>③贯通集省专运营协同自动化</a:t>
              </a:r>
              <a:r>
                <a:rPr kumimoji="1" lang="zh-CN" altLang="en-US" sz="900" dirty="0">
                  <a:latin typeface="微软雅黑" panose="020B0503020204020204" pitchFamily="34" charset="-122"/>
                  <a:ea typeface="微软雅黑" panose="020B0503020204020204" pitchFamily="34" charset="-122"/>
                  <a:sym typeface="+mn-ea"/>
                </a:rPr>
                <a:t>，提升集省专协同效率。</a:t>
              </a:r>
              <a:endParaRPr kumimoji="1" lang="zh-CN" altLang="en-US" sz="9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48618" name="矩形: 圆角 209"/>
            <p:cNvSpPr/>
            <p:nvPr/>
          </p:nvSpPr>
          <p:spPr>
            <a:xfrm>
              <a:off x="8858" y="4565"/>
              <a:ext cx="4702" cy="297"/>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r>
                <a:rPr kumimoji="1" lang="en-US" altLang="zh-CN" sz="1100" b="1" kern="0" dirty="0">
                  <a:latin typeface="微软雅黑" panose="020B0503020204020204" pitchFamily="34" charset="-122"/>
                  <a:ea typeface="微软雅黑" panose="020B0503020204020204" pitchFamily="34" charset="-122"/>
                </a:rPr>
                <a:t>3</a:t>
              </a:r>
              <a:r>
                <a:rPr kumimoji="1" lang="en-US" altLang="zh-CN"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.3 </a:t>
              </a:r>
              <a:r>
                <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产品全生命周期运营</a:t>
              </a:r>
              <a:endPar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pSp>
      <p:grpSp>
        <p:nvGrpSpPr>
          <p:cNvPr id="39" name="组合 51"/>
          <p:cNvGrpSpPr/>
          <p:nvPr/>
        </p:nvGrpSpPr>
        <p:grpSpPr>
          <a:xfrm rot="0">
            <a:off x="1669415" y="4262120"/>
            <a:ext cx="1696085" cy="1246505"/>
            <a:chOff x="8431" y="2833"/>
            <a:chExt cx="5231" cy="1557"/>
          </a:xfrm>
        </p:grpSpPr>
        <p:sp>
          <p:nvSpPr>
            <p:cNvPr id="1048625" name="矩形: 圆角 209"/>
            <p:cNvSpPr/>
            <p:nvPr/>
          </p:nvSpPr>
          <p:spPr>
            <a:xfrm>
              <a:off x="8431" y="2833"/>
              <a:ext cx="5230" cy="358"/>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r>
                <a:rPr kumimoji="1"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3.1 打造</a:t>
              </a:r>
              <a:r>
                <a:rPr kumimoji="1" lang="zh-CN"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市场运营工作台</a:t>
              </a:r>
              <a:endParaRPr kumimoji="1" lang="zh-CN"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048626" name="矩形 53"/>
            <p:cNvSpPr/>
            <p:nvPr/>
          </p:nvSpPr>
          <p:spPr>
            <a:xfrm>
              <a:off x="8433" y="3191"/>
              <a:ext cx="5229" cy="1199"/>
            </a:xfrm>
            <a:prstGeom prst="rect">
              <a:avLst/>
            </a:prstGeom>
            <a:solidFill>
              <a:sysClr val="window" lastClr="FFFFFF"/>
            </a:solidFill>
            <a:ln w="3175" cap="flat" cmpd="sng" algn="ctr">
              <a:solidFill>
                <a:srgbClr val="ABD4F8"/>
              </a:solidFill>
              <a:prstDash val="solid"/>
            </a:ln>
            <a:effectLst/>
          </p:spPr>
          <p:txBody>
            <a:bodyPr lIns="36000" tIns="0" rIns="36000" bIns="0" rtlCol="0" anchor="ctr"/>
            <a:p>
              <a:pPr marL="71755" marR="0" lvl="0" indent="0" algn="l" defTabSz="914400" rtl="0" eaLnBrk="1" fontAlgn="auto" latinLnBrk="0" hangingPunct="1">
                <a:lnSpc>
                  <a:spcPct val="100000"/>
                </a:lnSpc>
                <a:spcBef>
                  <a:spcPct val="0"/>
                </a:spcBef>
                <a:spcAft>
                  <a:spcPct val="0"/>
                </a:spcAft>
                <a:buClr>
                  <a:srgbClr val="000000"/>
                </a:buClr>
                <a:buSzTx/>
                <a:buFont typeface="+mj-ea"/>
                <a:buNone/>
              </a:pPr>
              <a:r>
                <a:rPr lang="zh-CN" altLang="en-US" sz="900" dirty="0">
                  <a:latin typeface="微软雅黑" panose="020B0503020204020204" pitchFamily="34" charset="-122"/>
                  <a:ea typeface="微软雅黑" panose="020B0503020204020204" pitchFamily="34" charset="-122"/>
                  <a:cs typeface="微软雅黑" panose="020B0503020204020204" pitchFamily="34" charset="-122"/>
                  <a:sym typeface="+mn-ea"/>
                </a:rPr>
                <a:t>构建三屏联动、两级协同的市场运营工作台，实现“看数</a:t>
              </a:r>
              <a:r>
                <a:rPr lang="en-US" altLang="zh-CN" sz="9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dirty="0">
                  <a:latin typeface="微软雅黑" panose="020B0503020204020204" pitchFamily="34" charset="-122"/>
                  <a:ea typeface="微软雅黑" panose="020B0503020204020204" pitchFamily="34" charset="-122"/>
                  <a:cs typeface="微软雅黑" panose="020B0503020204020204" pitchFamily="34" charset="-122"/>
                  <a:sym typeface="+mn-ea"/>
                </a:rPr>
                <a:t>定策</a:t>
              </a:r>
              <a:r>
                <a:rPr lang="en-US" altLang="zh-CN" sz="9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dirty="0">
                  <a:latin typeface="微软雅黑" panose="020B0503020204020204" pitchFamily="34" charset="-122"/>
                  <a:ea typeface="微软雅黑" panose="020B0503020204020204" pitchFamily="34" charset="-122"/>
                  <a:cs typeface="微软雅黑" panose="020B0503020204020204" pitchFamily="34" charset="-122"/>
                  <a:sym typeface="+mn-ea"/>
                </a:rPr>
                <a:t>调度</a:t>
              </a:r>
              <a:r>
                <a:rPr lang="en-US" altLang="zh-CN" sz="9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900" dirty="0">
                  <a:latin typeface="微软雅黑" panose="020B0503020204020204" pitchFamily="34" charset="-122"/>
                  <a:ea typeface="微软雅黑" panose="020B0503020204020204" pitchFamily="34" charset="-122"/>
                  <a:cs typeface="微软雅黑" panose="020B0503020204020204" pitchFamily="34" charset="-122"/>
                  <a:sym typeface="+mn-ea"/>
                </a:rPr>
                <a:t>评估”闭环数智运营</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p:txBody>
        </p:sp>
      </p:grpSp>
      <p:grpSp>
        <p:nvGrpSpPr>
          <p:cNvPr id="40" name="组合 54"/>
          <p:cNvGrpSpPr/>
          <p:nvPr/>
        </p:nvGrpSpPr>
        <p:grpSpPr>
          <a:xfrm rot="0">
            <a:off x="6972935" y="4269105"/>
            <a:ext cx="1738630" cy="1241425"/>
            <a:chOff x="8431" y="2866"/>
            <a:chExt cx="5230" cy="1523"/>
          </a:xfrm>
        </p:grpSpPr>
        <p:sp>
          <p:nvSpPr>
            <p:cNvPr id="1048627" name="矩形: 圆角 209"/>
            <p:cNvSpPr/>
            <p:nvPr/>
          </p:nvSpPr>
          <p:spPr>
            <a:xfrm>
              <a:off x="8431" y="2866"/>
              <a:ext cx="5226" cy="325"/>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r>
                <a:rPr kumimoji="1"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3.</a:t>
              </a:r>
              <a:r>
                <a:rPr kumimoji="1" 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4</a:t>
              </a:r>
              <a:r>
                <a:rPr kumimoji="1"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 </a:t>
              </a:r>
              <a:r>
                <a:rPr kumimoji="1" lang="zh-CN"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渠道平台化</a:t>
              </a:r>
              <a:r>
                <a:rPr kumimoji="1"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运营</a:t>
              </a:r>
              <a:endParaRPr kumimoji="1"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048628" name="矩形 56"/>
            <p:cNvSpPr/>
            <p:nvPr/>
          </p:nvSpPr>
          <p:spPr>
            <a:xfrm>
              <a:off x="8433" y="3191"/>
              <a:ext cx="5229" cy="1199"/>
            </a:xfrm>
            <a:prstGeom prst="rect">
              <a:avLst/>
            </a:prstGeom>
            <a:solidFill>
              <a:sysClr val="window" lastClr="FFFFFF"/>
            </a:solidFill>
            <a:ln w="3175" cap="flat" cmpd="sng" algn="ctr">
              <a:solidFill>
                <a:srgbClr val="ABD4F8"/>
              </a:solidFill>
              <a:prstDash val="solid"/>
            </a:ln>
            <a:effectLst/>
          </p:spPr>
          <p:txBody>
            <a:bodyPr lIns="36000" tIns="0" rIns="36000" bIns="0" rtlCol="0" anchor="ctr"/>
            <a:p>
              <a:pPr marL="71755" marR="0" lvl="0" algn="l" defTabSz="914400" rtl="0" eaLnBrk="1" fontAlgn="auto" latinLnBrk="0" hangingPunct="1">
                <a:lnSpc>
                  <a:spcPct val="100000"/>
                </a:lnSpc>
                <a:spcBef>
                  <a:spcPct val="0"/>
                </a:spcBef>
                <a:spcAft>
                  <a:spcPct val="0"/>
                </a:spcAft>
                <a:buClr>
                  <a:srgbClr val="000000"/>
                </a:buClr>
                <a:buSzTx/>
                <a:buFont typeface="+mj-ea"/>
                <a:buAutoNum type="circleNumDbPlain"/>
              </a:pPr>
              <a:r>
                <a:rPr kumimoji="1" lang="zh-CN" altLang="en-US" sz="900" dirty="0">
                  <a:latin typeface="微软雅黑" panose="020B0503020204020204" pitchFamily="34" charset="-122"/>
                  <a:ea typeface="微软雅黑" panose="020B0503020204020204" pitchFamily="34" charset="-122"/>
                  <a:sym typeface="+mn-ea"/>
                </a:rPr>
                <a:t>聚焦核心运营指标，构建渠道运营全视图和渠道评估分析；</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a:p>
              <a:pPr marL="71755" marR="0" lvl="0" algn="l" defTabSz="914400" rtl="0" eaLnBrk="1" fontAlgn="auto" latinLnBrk="0" hangingPunct="1">
                <a:lnSpc>
                  <a:spcPct val="100000"/>
                </a:lnSpc>
                <a:spcBef>
                  <a:spcPct val="0"/>
                </a:spcBef>
                <a:spcAft>
                  <a:spcPct val="0"/>
                </a:spcAft>
                <a:buClr>
                  <a:srgbClr val="000000"/>
                </a:buClr>
                <a:buSzTx/>
                <a:buFont typeface="+mj-ea"/>
                <a:buAutoNum type="circleNumDbPlain"/>
              </a:pPr>
              <a:r>
                <a:rPr kumimoji="1" lang="zh-CN" altLang="en-US" sz="900" dirty="0">
                  <a:latin typeface="微软雅黑" panose="020B0503020204020204" pitchFamily="34" charset="-122"/>
                  <a:ea typeface="微软雅黑" panose="020B0503020204020204" pitchFamily="34" charset="-122"/>
                  <a:sym typeface="+mn-ea"/>
                </a:rPr>
                <a:t>厅店数据一点维护、多点同步；</a:t>
              </a:r>
              <a:endParaRPr kumimoji="1" lang="en-US" altLang="zh-CN" sz="900" dirty="0">
                <a:solidFill>
                  <a:schemeClr val="tx1"/>
                </a:solidFill>
                <a:latin typeface="微软雅黑" panose="020B0503020204020204" pitchFamily="34" charset="-122"/>
                <a:ea typeface="微软雅黑" panose="020B0503020204020204" pitchFamily="34" charset="-122"/>
              </a:endParaRPr>
            </a:p>
          </p:txBody>
        </p:sp>
      </p:grpSp>
      <p:grpSp>
        <p:nvGrpSpPr>
          <p:cNvPr id="11" name="组合 54"/>
          <p:cNvGrpSpPr/>
          <p:nvPr/>
        </p:nvGrpSpPr>
        <p:grpSpPr>
          <a:xfrm rot="0">
            <a:off x="3407410" y="4262755"/>
            <a:ext cx="1748790" cy="1219200"/>
            <a:chOff x="8431" y="2866"/>
            <a:chExt cx="5230" cy="1523"/>
          </a:xfrm>
        </p:grpSpPr>
        <p:sp>
          <p:nvSpPr>
            <p:cNvPr id="12" name="矩形: 圆角 209"/>
            <p:cNvSpPr/>
            <p:nvPr/>
          </p:nvSpPr>
          <p:spPr>
            <a:xfrm>
              <a:off x="8431" y="2866"/>
              <a:ext cx="5226" cy="325"/>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r>
                <a:rPr kumimoji="1"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3.2 </a:t>
              </a:r>
              <a:r>
                <a:rPr kumimoji="1" lang="zh-CN"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存量客户</a:t>
              </a:r>
              <a:r>
                <a:rPr kumimoji="1"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运营</a:t>
              </a:r>
              <a:endParaRPr kumimoji="1"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3" name="矩形 56"/>
            <p:cNvSpPr/>
            <p:nvPr/>
          </p:nvSpPr>
          <p:spPr>
            <a:xfrm>
              <a:off x="8433" y="3191"/>
              <a:ext cx="5229" cy="1199"/>
            </a:xfrm>
            <a:prstGeom prst="rect">
              <a:avLst/>
            </a:prstGeom>
            <a:solidFill>
              <a:sysClr val="window" lastClr="FFFFFF"/>
            </a:solidFill>
            <a:ln w="3175" cap="flat" cmpd="sng" algn="ctr">
              <a:solidFill>
                <a:srgbClr val="ABD4F8"/>
              </a:solidFill>
              <a:prstDash val="solid"/>
            </a:ln>
            <a:effectLst/>
          </p:spPr>
          <p:txBody>
            <a:bodyPr lIns="36000" tIns="0" rIns="36000" bIns="0" rtlCol="0" anchor="ctr"/>
            <a:p>
              <a:pPr marL="71755" marR="0" lvl="0" algn="l" defTabSz="914400" rtl="0" eaLnBrk="1" fontAlgn="auto" latinLnBrk="0" hangingPunct="1">
                <a:lnSpc>
                  <a:spcPct val="100000"/>
                </a:lnSpc>
                <a:spcBef>
                  <a:spcPct val="0"/>
                </a:spcBef>
                <a:spcAft>
                  <a:spcPct val="0"/>
                </a:spcAft>
                <a:buClr>
                  <a:srgbClr val="000000"/>
                </a:buClr>
                <a:buSzTx/>
                <a:buFont typeface="+mj-ea"/>
                <a:buAutoNum type="circleNumDbPlain"/>
              </a:pPr>
              <a:r>
                <a:rPr kumimoji="1" lang="zh-CN" altLang="en-US" sz="900" dirty="0">
                  <a:latin typeface="微软雅黑" panose="020B0503020204020204" pitchFamily="34" charset="-122"/>
                  <a:ea typeface="微软雅黑" panose="020B0503020204020204" pitchFamily="34" charset="-122"/>
                  <a:sym typeface="+mn-ea"/>
                </a:rPr>
                <a:t>聚焦核心运营指标，构建存量客户监控大屏；</a:t>
              </a:r>
              <a:endParaRPr kumimoji="1" lang="zh-CN" altLang="en-US" sz="900" dirty="0">
                <a:solidFill>
                  <a:schemeClr val="tx1"/>
                </a:solidFill>
                <a:latin typeface="微软雅黑" panose="020B0503020204020204" pitchFamily="34" charset="-122"/>
                <a:ea typeface="微软雅黑" panose="020B0503020204020204" pitchFamily="34" charset="-122"/>
                <a:sym typeface="+mn-ea"/>
              </a:endParaRPr>
            </a:p>
            <a:p>
              <a:pPr marL="71755" marR="0" lvl="0" algn="l" defTabSz="914400" rtl="0" eaLnBrk="1" fontAlgn="auto" latinLnBrk="0" hangingPunct="1">
                <a:lnSpc>
                  <a:spcPct val="100000"/>
                </a:lnSpc>
                <a:spcBef>
                  <a:spcPct val="0"/>
                </a:spcBef>
                <a:spcAft>
                  <a:spcPct val="0"/>
                </a:spcAft>
                <a:buClr>
                  <a:srgbClr val="000000"/>
                </a:buClr>
                <a:buSzTx/>
                <a:buFont typeface="+mj-ea"/>
                <a:buAutoNum type="circleNumDbPlain"/>
              </a:pPr>
              <a:r>
                <a:rPr kumimoji="1" lang="zh-CN" altLang="en-US" sz="900" dirty="0">
                  <a:latin typeface="微软雅黑" panose="020B0503020204020204" pitchFamily="34" charset="-122"/>
                  <a:ea typeface="微软雅黑" panose="020B0503020204020204" pitchFamily="34" charset="-122"/>
                  <a:sym typeface="+mn-ea"/>
                </a:rPr>
                <a:t>打造</a:t>
              </a:r>
              <a:r>
                <a:rPr kumimoji="1" lang="en-US" altLang="zh-CN" sz="900" dirty="0">
                  <a:latin typeface="微软雅黑" panose="020B0503020204020204" pitchFamily="34" charset="-122"/>
                  <a:ea typeface="微软雅黑" panose="020B0503020204020204" pitchFamily="34" charset="-122"/>
                  <a:sym typeface="+mn-ea"/>
                </a:rPr>
                <a:t>AI+</a:t>
              </a:r>
              <a:r>
                <a:rPr kumimoji="1" lang="zh-CN" altLang="en-US" sz="900" dirty="0">
                  <a:latin typeface="微软雅黑" panose="020B0503020204020204" pitchFamily="34" charset="-122"/>
                  <a:ea typeface="微软雅黑" panose="020B0503020204020204" pitchFamily="34" charset="-122"/>
                  <a:sym typeface="+mn-ea"/>
                </a:rPr>
                <a:t>存量运营体系，实现中高端客户保有等运营场景贯通；</a:t>
              </a:r>
              <a:endParaRPr kumimoji="1" lang="en-US" altLang="zh-CN" sz="900" dirty="0">
                <a:solidFill>
                  <a:schemeClr val="tx1"/>
                </a:solidFill>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4109720" y="1819910"/>
            <a:ext cx="2365375" cy="966470"/>
            <a:chOff x="2639" y="2866"/>
            <a:chExt cx="5272" cy="1522"/>
          </a:xfrm>
        </p:grpSpPr>
        <p:sp>
          <p:nvSpPr>
            <p:cNvPr id="21" name="矩形: 圆角 209"/>
            <p:cNvSpPr/>
            <p:nvPr/>
          </p:nvSpPr>
          <p:spPr>
            <a:xfrm>
              <a:off x="2639" y="2866"/>
              <a:ext cx="5270" cy="325"/>
            </a:xfrm>
            <a:prstGeom prst="rect">
              <a:avLst/>
            </a:prstGeom>
            <a:solidFill>
              <a:srgbClr val="DBEFF9"/>
            </a:solidFill>
            <a:ln w="6350">
              <a:solidFill>
                <a:srgbClr val="ABD4F8"/>
              </a:solidFill>
            </a:ln>
          </p:spPr>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pPr>
              <a:r>
                <a:rPr kumimoji="1" lang="en-US" altLang="zh-CN"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1.2</a:t>
              </a:r>
              <a:r>
                <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加快数据开放共享</a:t>
              </a:r>
              <a:endParaRPr kumimoji="1" lang="zh-CN" altLang="en-US" sz="11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22" name="矩形 28"/>
            <p:cNvSpPr/>
            <p:nvPr/>
          </p:nvSpPr>
          <p:spPr>
            <a:xfrm>
              <a:off x="2652" y="3194"/>
              <a:ext cx="5259" cy="1194"/>
            </a:xfrm>
            <a:prstGeom prst="rect">
              <a:avLst/>
            </a:prstGeom>
            <a:solidFill>
              <a:sysClr val="window" lastClr="FFFFFF"/>
            </a:solidFill>
            <a:ln w="3175" cap="flat" cmpd="sng" algn="ctr">
              <a:solidFill>
                <a:srgbClr val="ABD4F8"/>
              </a:solidFill>
              <a:prstDash val="solid"/>
            </a:ln>
            <a:effectLst/>
          </p:spPr>
          <p:txBody>
            <a:bodyPr lIns="36000" tIns="0" rIns="36000" bIns="0" rtlCol="0" anchor="ctr"/>
            <a:p>
              <a:pPr marL="71755" lvl="0" indent="0">
                <a:lnSpc>
                  <a:spcPct val="100000"/>
                </a:lnSpc>
                <a:spcBef>
                  <a:spcPct val="0"/>
                </a:spcBef>
                <a:spcAft>
                  <a:spcPct val="0"/>
                </a:spcAft>
                <a:buClr>
                  <a:srgbClr val="000000"/>
                </a:buClr>
                <a:buFont typeface="+mj-ea"/>
                <a:buNone/>
              </a:pPr>
              <a:r>
                <a:rPr lang="zh-CN" sz="1000" dirty="0">
                  <a:latin typeface="微软雅黑" panose="020B0503020204020204" pitchFamily="34" charset="-122"/>
                  <a:ea typeface="微软雅黑" panose="020B0503020204020204" pitchFamily="34" charset="-122"/>
                  <a:sym typeface="+mn-ea"/>
                </a:rPr>
                <a:t>①新业务产品数据共享</a:t>
              </a:r>
              <a:endParaRPr lang="zh-CN" sz="1000" dirty="0">
                <a:latin typeface="微软雅黑" panose="020B0503020204020204" pitchFamily="34" charset="-122"/>
                <a:ea typeface="微软雅黑" panose="020B0503020204020204" pitchFamily="34" charset="-122"/>
                <a:sym typeface="+mn-ea"/>
              </a:endParaRPr>
            </a:p>
            <a:p>
              <a:pPr>
                <a:lnSpc>
                  <a:spcPct val="120000"/>
                </a:lnSpc>
              </a:pPr>
              <a:r>
                <a:rPr lang="zh-CN" sz="1000" dirty="0">
                  <a:latin typeface="微软雅黑" panose="020B0503020204020204" pitchFamily="34" charset="-122"/>
                  <a:ea typeface="微软雅黑" panose="020B0503020204020204" pitchFamily="34" charset="-122"/>
                  <a:sym typeface="+mn-ea"/>
                </a:rPr>
                <a:t>②畅通全域市场领域数据融通路径</a:t>
              </a:r>
              <a:endParaRPr lang="zh-CN" sz="1000" dirty="0">
                <a:latin typeface="微软雅黑" panose="020B0503020204020204" pitchFamily="34" charset="-122"/>
                <a:ea typeface="微软雅黑" panose="020B0503020204020204" pitchFamily="34" charset="-122"/>
                <a:sym typeface="+mn-ea"/>
              </a:endParaRPr>
            </a:p>
            <a:p>
              <a:pPr>
                <a:lnSpc>
                  <a:spcPct val="120000"/>
                </a:lnSpc>
              </a:pPr>
              <a:r>
                <a:rPr lang="zh-CN" sz="1000" dirty="0">
                  <a:latin typeface="微软雅黑" panose="020B0503020204020204" pitchFamily="34" charset="-122"/>
                  <a:ea typeface="微软雅黑" panose="020B0503020204020204" pitchFamily="34" charset="-122"/>
                  <a:sym typeface="+mn-ea"/>
                </a:rPr>
                <a:t>③开展市场领域数据治理</a:t>
              </a:r>
              <a:endParaRPr kumimoji="0" lang="zh-CN" altLang="en-US" sz="10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线连接符 4"/>
          <p:cNvCxnSpPr/>
          <p:nvPr/>
        </p:nvCxnSpPr>
        <p:spPr>
          <a:xfrm>
            <a:off x="3344633" y="1228165"/>
            <a:ext cx="0" cy="4545106"/>
          </a:xfrm>
          <a:prstGeom prst="line">
            <a:avLst/>
          </a:prstGeom>
          <a:ln>
            <a:gradFill>
              <a:gsLst>
                <a:gs pos="0">
                  <a:schemeClr val="accent1">
                    <a:alpha val="0"/>
                  </a:schemeClr>
                </a:gs>
                <a:gs pos="29000">
                  <a:schemeClr val="accent1"/>
                </a:gs>
                <a:gs pos="8300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519889" y="1443318"/>
            <a:ext cx="824743" cy="1200329"/>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1" lang="zh-CN" altLang="en-US"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目录</a:t>
            </a:r>
            <a:endParaRPr kumimoji="1" lang="zh-CN" altLang="en-US"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rot="5400000">
            <a:off x="1775612" y="3518823"/>
            <a:ext cx="2491708" cy="646331"/>
          </a:xfrm>
          <a:prstGeom prst="rect">
            <a:avLst/>
          </a:prstGeom>
          <a:noFill/>
        </p:spPr>
        <p:txBody>
          <a:bodyPr wrap="none"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EEEFEE"/>
                </a:solidFill>
                <a:effectLst/>
                <a:uLnTx/>
                <a:uFillTx/>
                <a:latin typeface="微软雅黑" panose="020B0503020204020204" pitchFamily="34" charset="-122"/>
                <a:ea typeface="微软雅黑" panose="020B0503020204020204" pitchFamily="34" charset="-122"/>
                <a:cs typeface="+mn-cs"/>
              </a:rPr>
              <a:t>CONTENT</a:t>
            </a:r>
            <a:endParaRPr kumimoji="1" lang="zh-CN" altLang="en-US" sz="3600" b="1" i="0" u="none" strike="noStrike" kern="1200" cap="none" spc="0" normalizeH="0" baseline="0" noProof="0" dirty="0">
              <a:ln>
                <a:noFill/>
              </a:ln>
              <a:solidFill>
                <a:srgbClr val="EEEFEE"/>
              </a:solidFill>
              <a:effectLst/>
              <a:uLnTx/>
              <a:uFillTx/>
              <a:latin typeface="微软雅黑" panose="020B0503020204020204" pitchFamily="34" charset="-122"/>
              <a:ea typeface="微软雅黑" panose="020B0503020204020204" pitchFamily="34" charset="-122"/>
              <a:cs typeface="+mn-cs"/>
            </a:endParaRPr>
          </a:p>
        </p:txBody>
      </p:sp>
      <p:sp>
        <p:nvSpPr>
          <p:cNvPr id="8" name="Parallelogram 16"/>
          <p:cNvSpPr/>
          <p:nvPr>
            <p:custDataLst>
              <p:tags r:id="rId1"/>
            </p:custDataLst>
          </p:nvPr>
        </p:nvSpPr>
        <p:spPr>
          <a:xfrm>
            <a:off x="4455160" y="2550160"/>
            <a:ext cx="4114800" cy="501650"/>
          </a:xfrm>
          <a:prstGeom prst="parallelogram">
            <a:avLst>
              <a:gd name="adj" fmla="val 35345"/>
            </a:avLst>
          </a:prstGeom>
          <a:solidFill>
            <a:srgbClr val="F2F2F2"/>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2000" b="1" dirty="0">
              <a:solidFill>
                <a:srgbClr val="FFFFFF"/>
              </a:solidFill>
              <a:latin typeface="微软雅黑" panose="020B0503020204020204" pitchFamily="34" charset="-122"/>
              <a:ea typeface="微软雅黑" panose="020B0503020204020204" pitchFamily="34" charset="-122"/>
              <a:sym typeface="+mn-ea"/>
            </a:endParaRPr>
          </a:p>
        </p:txBody>
      </p:sp>
      <p:sp>
        <p:nvSpPr>
          <p:cNvPr id="9" name="Parallelogram 2"/>
          <p:cNvSpPr/>
          <p:nvPr>
            <p:custDataLst>
              <p:tags r:id="rId2"/>
            </p:custDataLst>
          </p:nvPr>
        </p:nvSpPr>
        <p:spPr>
          <a:xfrm>
            <a:off x="3852545" y="2550160"/>
            <a:ext cx="780415" cy="501650"/>
          </a:xfrm>
          <a:prstGeom prst="parallelogram">
            <a:avLst>
              <a:gd name="adj" fmla="val 35345"/>
            </a:avLst>
          </a:prstGeom>
          <a:solidFill>
            <a:schemeClr val="tx1">
              <a:lumMod val="50000"/>
              <a:lumOff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r>
              <a:rPr kumimoji="1" lang="en-US" altLang="zh-CN" sz="2000" b="1">
                <a:solidFill>
                  <a:srgbClr val="FFFFFF"/>
                </a:solidFill>
                <a:latin typeface="微软雅黑" panose="020B0503020204020204" pitchFamily="34" charset="-122"/>
                <a:ea typeface="微软雅黑" panose="020B0503020204020204" pitchFamily="34" charset="-122"/>
                <a:sym typeface="+mn-ea"/>
              </a:rPr>
              <a:t>02</a:t>
            </a:r>
            <a:endParaRPr kumimoji="1" lang="en-US" altLang="zh-CN" sz="2000" b="1">
              <a:solidFill>
                <a:srgbClr val="FFFFFF"/>
              </a:solidFill>
              <a:latin typeface="微软雅黑" panose="020B0503020204020204" pitchFamily="34" charset="-122"/>
              <a:ea typeface="微软雅黑" panose="020B0503020204020204" pitchFamily="34" charset="-122"/>
              <a:sym typeface="+mn-ea"/>
            </a:endParaRPr>
          </a:p>
        </p:txBody>
      </p:sp>
      <p:sp>
        <p:nvSpPr>
          <p:cNvPr id="10" name="文本框 18"/>
          <p:cNvSpPr/>
          <p:nvPr>
            <p:custDataLst>
              <p:tags r:id="rId3"/>
            </p:custDataLst>
          </p:nvPr>
        </p:nvSpPr>
        <p:spPr>
          <a:xfrm flipH="1">
            <a:off x="4643120" y="2602230"/>
            <a:ext cx="3778885" cy="398780"/>
          </a:xfrm>
          <a:prstGeom prst="rect">
            <a:avLst/>
          </a:prstGeom>
          <a:noFill/>
          <a:ln w="28575">
            <a:noFill/>
          </a:ln>
          <a:extLst>
            <a:ext uri="{909E8E84-426E-40DD-AFC4-6F175D3DCCD1}">
              <a14:hiddenFill xmlns:a14="http://schemas.microsoft.com/office/drawing/2010/main">
                <a:solidFill>
                  <a:srgbClr val="0070C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r>
              <a:rPr kumimoji="1" lang="zh-CN" altLang="en-US" sz="2400" b="1">
                <a:solidFill>
                  <a:schemeClr val="tx1">
                    <a:lumMod val="50000"/>
                    <a:lumOff val="50000"/>
                  </a:schemeClr>
                </a:solidFill>
                <a:latin typeface="微软雅黑" panose="020B0503020204020204" pitchFamily="34" charset="-122"/>
                <a:ea typeface="微软雅黑" panose="020B0503020204020204" pitchFamily="34" charset="-122"/>
                <a:sym typeface="+mn-ea"/>
              </a:rPr>
              <a:t>规划路径</a:t>
            </a:r>
            <a:endParaRPr kumimoji="1" lang="zh-CN" altLang="en-US" sz="2400" b="1">
              <a:solidFill>
                <a:schemeClr val="tx1">
                  <a:lumMod val="50000"/>
                  <a:lumOff val="50000"/>
                </a:schemeClr>
              </a:solidFill>
              <a:latin typeface="微软雅黑" panose="020B0503020204020204" pitchFamily="34" charset="-122"/>
              <a:ea typeface="微软雅黑" panose="020B0503020204020204" pitchFamily="34" charset="-122"/>
              <a:sym typeface="+mn-ea"/>
            </a:endParaRPr>
          </a:p>
        </p:txBody>
      </p:sp>
      <p:sp>
        <p:nvSpPr>
          <p:cNvPr id="26" name="Parallelogram 16"/>
          <p:cNvSpPr/>
          <p:nvPr/>
        </p:nvSpPr>
        <p:spPr>
          <a:xfrm>
            <a:off x="4465320" y="1664970"/>
            <a:ext cx="4114800" cy="501650"/>
          </a:xfrm>
          <a:prstGeom prst="parallelogram">
            <a:avLst>
              <a:gd name="adj" fmla="val 35345"/>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2000" b="1" dirty="0">
              <a:solidFill>
                <a:srgbClr val="FFFFFF"/>
              </a:solidFill>
              <a:latin typeface="微软雅黑" panose="020B0503020204020204" pitchFamily="34" charset="-122"/>
              <a:ea typeface="微软雅黑" panose="020B0503020204020204" pitchFamily="34" charset="-122"/>
              <a:sym typeface="+mn-ea"/>
            </a:endParaRPr>
          </a:p>
        </p:txBody>
      </p:sp>
      <p:sp>
        <p:nvSpPr>
          <p:cNvPr id="27" name="Parallelogram 2"/>
          <p:cNvSpPr/>
          <p:nvPr/>
        </p:nvSpPr>
        <p:spPr>
          <a:xfrm>
            <a:off x="3862705" y="1664970"/>
            <a:ext cx="780415" cy="501650"/>
          </a:xfrm>
          <a:prstGeom prst="parallelogram">
            <a:avLst>
              <a:gd name="adj" fmla="val 35345"/>
            </a:avLst>
          </a:prstGeom>
          <a:solidFill>
            <a:schemeClr val="accent4">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kumimoji="1" lang="en-US" altLang="zh-CN" sz="2000" b="1">
                <a:solidFill>
                  <a:srgbClr val="FFFFFF"/>
                </a:solidFill>
                <a:latin typeface="微软雅黑" panose="020B0503020204020204" pitchFamily="34" charset="-122"/>
                <a:ea typeface="微软雅黑" panose="020B0503020204020204" pitchFamily="34" charset="-122"/>
              </a:rPr>
              <a:t>01</a:t>
            </a:r>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28" name="文本框 18"/>
          <p:cNvSpPr/>
          <p:nvPr/>
        </p:nvSpPr>
        <p:spPr>
          <a:xfrm flipH="1">
            <a:off x="4700270" y="1685925"/>
            <a:ext cx="3731260" cy="460375"/>
          </a:xfrm>
          <a:prstGeom prst="rect">
            <a:avLst/>
          </a:prstGeom>
          <a:noFill/>
          <a:ln w="28575">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r>
              <a:rPr kumimoji="1" lang="zh-CN" altLang="en-US" sz="2400" b="1" dirty="0">
                <a:solidFill>
                  <a:schemeClr val="accent4">
                    <a:lumMod val="50000"/>
                  </a:schemeClr>
                </a:solidFill>
                <a:latin typeface="微软雅黑" panose="020B0503020204020204" pitchFamily="34" charset="-122"/>
                <a:ea typeface="微软雅黑" panose="020B0503020204020204" pitchFamily="34" charset="-122"/>
                <a:sym typeface="+mn-ea"/>
              </a:rPr>
              <a:t>问题</a:t>
            </a:r>
            <a:r>
              <a:rPr kumimoji="1" lang="zh-CN" altLang="en-US" sz="2400" b="1" dirty="0">
                <a:solidFill>
                  <a:schemeClr val="accent4">
                    <a:lumMod val="50000"/>
                  </a:schemeClr>
                </a:solidFill>
                <a:latin typeface="微软雅黑" panose="020B0503020204020204" pitchFamily="34" charset="-122"/>
                <a:ea typeface="微软雅黑" panose="020B0503020204020204" pitchFamily="34" charset="-122"/>
                <a:sym typeface="+mn-ea"/>
              </a:rPr>
              <a:t>分析</a:t>
            </a:r>
            <a:endParaRPr kumimoji="1" lang="zh-CN" altLang="en-US" sz="2400" b="1" dirty="0">
              <a:solidFill>
                <a:schemeClr val="accent4">
                  <a:lumMod val="50000"/>
                </a:schemeClr>
              </a:solidFill>
              <a:latin typeface="微软雅黑" panose="020B0503020204020204" pitchFamily="34" charset="-122"/>
              <a:ea typeface="微软雅黑" panose="020B0503020204020204" pitchFamily="34" charset="-122"/>
              <a:sym typeface="+mn-ea"/>
            </a:endParaRPr>
          </a:p>
        </p:txBody>
      </p:sp>
      <p:sp>
        <p:nvSpPr>
          <p:cNvPr id="30" name="Parallelogram 16"/>
          <p:cNvSpPr/>
          <p:nvPr/>
        </p:nvSpPr>
        <p:spPr>
          <a:xfrm>
            <a:off x="4384675" y="3455670"/>
            <a:ext cx="4114800" cy="501650"/>
          </a:xfrm>
          <a:prstGeom prst="parallelogram">
            <a:avLst>
              <a:gd name="adj" fmla="val 35345"/>
            </a:avLst>
          </a:prstGeom>
          <a:solidFill>
            <a:srgbClr val="F2F2F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1" name="Parallelogram 2"/>
          <p:cNvSpPr/>
          <p:nvPr/>
        </p:nvSpPr>
        <p:spPr>
          <a:xfrm>
            <a:off x="3782060" y="3455670"/>
            <a:ext cx="780415" cy="501650"/>
          </a:xfrm>
          <a:prstGeom prst="parallelogram">
            <a:avLst>
              <a:gd name="adj" fmla="val 35345"/>
            </a:avLst>
          </a:prstGeom>
          <a:solidFill>
            <a:schemeClr val="tx1">
              <a:lumMod val="50000"/>
              <a:lumOff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kumimoji="1" lang="en-US" altLang="zh-CN" sz="2000" b="1" dirty="0">
                <a:solidFill>
                  <a:srgbClr val="FFFFFF"/>
                </a:solidFill>
                <a:latin typeface="微软雅黑" panose="020B0503020204020204" pitchFamily="34" charset="-122"/>
                <a:ea typeface="微软雅黑" panose="020B0503020204020204" pitchFamily="34" charset="-122"/>
              </a:rPr>
              <a:t>03</a:t>
            </a:r>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2" name="文本框 18"/>
          <p:cNvSpPr txBox="1"/>
          <p:nvPr/>
        </p:nvSpPr>
        <p:spPr>
          <a:xfrm flipH="1">
            <a:off x="4619625" y="3476625"/>
            <a:ext cx="3731260" cy="460375"/>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rtlCol="0">
            <a:spAutoFit/>
          </a:bodyPr>
          <a:lstStyle>
            <a:defPPr>
              <a:defRPr lang="zh-CN"/>
            </a:defPPr>
            <a:lvl1pPr marR="0" lvl="0" indent="0" algn="ctr" defTabSz="457200" fontAlgn="auto">
              <a:lnSpc>
                <a:spcPct val="100000"/>
              </a:lnSpc>
              <a:spcBef>
                <a:spcPts val="0"/>
              </a:spcBef>
              <a:spcAft>
                <a:spcPts val="0"/>
              </a:spcAft>
              <a:buClrTx/>
              <a:buSzTx/>
              <a:buFontTx/>
              <a:buNone/>
              <a:defRPr kumimoji="0" sz="2400" b="1" i="0" u="none" strike="noStrike" cap="none" spc="0" normalizeH="0" baseline="0">
                <a:ln>
                  <a:noFill/>
                </a:ln>
                <a:solidFill>
                  <a:srgbClr val="0070C0"/>
                </a:solidFill>
                <a:effectLst/>
                <a:uLnTx/>
                <a:uFillTx/>
                <a:latin typeface="微软雅黑" panose="020B0503020204020204" pitchFamily="34" charset="-122"/>
                <a:ea typeface="微软雅黑" panose="020B0503020204020204" pitchFamily="34" charset="-122"/>
              </a:defRPr>
            </a:lvl1pPr>
          </a:lstStyle>
          <a:p>
            <a:r>
              <a:rPr lang="zh-CN" altLang="en-US" dirty="0">
                <a:solidFill>
                  <a:schemeClr val="tx1">
                    <a:lumMod val="50000"/>
                    <a:lumOff val="50000"/>
                  </a:schemeClr>
                </a:solidFill>
              </a:rPr>
              <a:t>行动计划</a:t>
            </a:r>
            <a:endParaRPr lang="zh-CN" altLang="en-US" dirty="0">
              <a:solidFill>
                <a:schemeClr val="tx1">
                  <a:lumMod val="50000"/>
                  <a:lumOff val="50000"/>
                </a:schemeClr>
              </a:solidFill>
            </a:endParaRPr>
          </a:p>
        </p:txBody>
      </p:sp>
      <p:grpSp>
        <p:nvGrpSpPr>
          <p:cNvPr id="3" name="组合 2"/>
          <p:cNvGrpSpPr/>
          <p:nvPr/>
        </p:nvGrpSpPr>
        <p:grpSpPr>
          <a:xfrm>
            <a:off x="3749675" y="4411980"/>
            <a:ext cx="4717415" cy="501650"/>
            <a:chOff x="5956" y="7316"/>
            <a:chExt cx="7429" cy="790"/>
          </a:xfrm>
          <a:solidFill>
            <a:schemeClr val="bg1">
              <a:lumMod val="95000"/>
            </a:schemeClr>
          </a:solidFill>
        </p:grpSpPr>
        <p:sp>
          <p:nvSpPr>
            <p:cNvPr id="4" name="Parallelogram 16"/>
            <p:cNvSpPr/>
            <p:nvPr/>
          </p:nvSpPr>
          <p:spPr>
            <a:xfrm>
              <a:off x="6905" y="7316"/>
              <a:ext cx="6480" cy="790"/>
            </a:xfrm>
            <a:prstGeom prst="parallelogram">
              <a:avLst>
                <a:gd name="adj" fmla="val 35345"/>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1" name="Parallelogram 2"/>
            <p:cNvSpPr/>
            <p:nvPr/>
          </p:nvSpPr>
          <p:spPr>
            <a:xfrm>
              <a:off x="5956" y="7316"/>
              <a:ext cx="1229" cy="790"/>
            </a:xfrm>
            <a:prstGeom prst="parallelogram">
              <a:avLst>
                <a:gd name="adj" fmla="val 35345"/>
              </a:avLst>
            </a:prstGeom>
            <a:solidFill>
              <a:srgbClr val="0070B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kumimoji="1" lang="en-US" altLang="zh-CN" sz="2000" b="1" dirty="0">
                  <a:solidFill>
                    <a:srgbClr val="FFFFFF"/>
                  </a:solidFill>
                  <a:latin typeface="微软雅黑" panose="020B0503020204020204" pitchFamily="34" charset="-122"/>
                  <a:ea typeface="微软雅黑" panose="020B0503020204020204" pitchFamily="34" charset="-122"/>
                </a:rPr>
                <a:t>04</a:t>
              </a:r>
              <a:endParaRPr kumimoji="1"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2" name="文本框 18"/>
            <p:cNvSpPr txBox="1"/>
            <p:nvPr/>
          </p:nvSpPr>
          <p:spPr>
            <a:xfrm flipH="1">
              <a:off x="7303" y="7349"/>
              <a:ext cx="5876" cy="725"/>
            </a:xfrm>
            <a:prstGeom prst="rect">
              <a:avLst/>
            </a:prstGeom>
            <a:solidFill>
              <a:srgbClr val="E5F0F9"/>
            </a:solidFill>
          </p:spPr>
          <p:txBody>
            <a:bodyPr wrap="square" rtlCol="0">
              <a:spAutoFit/>
            </a:bodyPr>
            <a:lstStyle>
              <a:defPPr>
                <a:defRPr lang="zh-CN"/>
              </a:defPPr>
              <a:lvl1pPr marR="0" lvl="0" indent="0" algn="ctr" defTabSz="457200" fontAlgn="auto">
                <a:lnSpc>
                  <a:spcPct val="100000"/>
                </a:lnSpc>
                <a:spcBef>
                  <a:spcPts val="0"/>
                </a:spcBef>
                <a:spcAft>
                  <a:spcPts val="0"/>
                </a:spcAft>
                <a:buClrTx/>
                <a:buSzTx/>
                <a:buFontTx/>
                <a:buNone/>
                <a:defRPr kumimoji="0" sz="2400" b="1" i="0" u="none" strike="noStrike" cap="none" spc="0" normalizeH="0" baseline="0">
                  <a:ln>
                    <a:noFill/>
                  </a:ln>
                  <a:solidFill>
                    <a:srgbClr val="0070C0"/>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0070BF"/>
                  </a:solidFill>
                  <a:sym typeface="+mn-ea"/>
                </a:rPr>
                <a:t>任务清单</a:t>
              </a:r>
              <a:endParaRPr lang="zh-CN" altLang="en-US" dirty="0">
                <a:solidFill>
                  <a:srgbClr val="0070BF"/>
                </a:solidFill>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846" name="标题 1"/>
          <p:cNvSpPr>
            <a:spLocks noGrp="1"/>
          </p:cNvSpPr>
          <p:nvPr>
            <p:ph type="title"/>
          </p:nvPr>
        </p:nvSpPr>
        <p:spPr/>
        <p:txBody>
          <a:bodyPr/>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任务书|</a:t>
            </a:r>
            <a:r>
              <a:rPr lang="zh-CN" altLang="en-US">
                <a:sym typeface="+mn-ea"/>
              </a:rPr>
              <a:t>市场领域专项行动计划</a:t>
            </a:r>
            <a:endParaRPr lang="zh-CN" altLang="en-US" dirty="0"/>
          </a:p>
        </p:txBody>
      </p:sp>
      <p:graphicFrame>
        <p:nvGraphicFramePr>
          <p:cNvPr id="4194304" name="表格 9"/>
          <p:cNvGraphicFramePr/>
          <p:nvPr>
            <p:custDataLst>
              <p:tags r:id="rId1"/>
            </p:custDataLst>
          </p:nvPr>
        </p:nvGraphicFramePr>
        <p:xfrm>
          <a:off x="375920" y="1044575"/>
          <a:ext cx="11319510" cy="5306695"/>
        </p:xfrm>
        <a:graphic>
          <a:graphicData uri="http://schemas.openxmlformats.org/drawingml/2006/table">
            <a:tbl>
              <a:tblPr firstRow="1" bandRow="1">
                <a:tableStyleId>{69012ECD-51FC-41F1-AA8D-1B2483CD663E}</a:tableStyleId>
              </a:tblPr>
              <a:tblGrid>
                <a:gridCol w="1012825"/>
                <a:gridCol w="1006475"/>
                <a:gridCol w="2675255"/>
                <a:gridCol w="1223645"/>
                <a:gridCol w="2467610"/>
                <a:gridCol w="2933700"/>
              </a:tblGrid>
              <a:tr h="356870">
                <a:tc gridSpan="6">
                  <a:txBody>
                    <a:bodyPr/>
                    <a:p>
                      <a:pPr algn="ctr">
                        <a:buNone/>
                      </a:pPr>
                      <a:r>
                        <a:rPr lang="zh-CN" altLang="en-US" sz="1600" b="1">
                          <a:solidFill>
                            <a:schemeClr val="tx1"/>
                          </a:solidFill>
                        </a:rPr>
                        <a:t>任务书</a:t>
                      </a:r>
                      <a:endParaRPr lang="zh-CN" altLang="en-US" sz="1600" b="1">
                        <a:solidFill>
                          <a:schemeClr val="tx1"/>
                        </a:solidFill>
                      </a:endParaRPr>
                    </a:p>
                  </a:txBody>
                  <a:tcPr anchor="ctr">
                    <a:lnL>
                      <a:noFill/>
                    </a:lnL>
                    <a:lnR>
                      <a:noFill/>
                    </a:lnR>
                    <a:lnT w="12700">
                      <a:solidFill>
                        <a:srgbClr val="0070BF"/>
                      </a:solidFill>
                      <a:prstDash val="solid"/>
                    </a:lnT>
                    <a:lnB w="12700">
                      <a:solidFill>
                        <a:srgbClr val="0070BF"/>
                      </a:solidFill>
                      <a:prstDash val="solid"/>
                    </a:lnB>
                    <a:lnTlToBr>
                      <a:noFill/>
                    </a:lnTlToBr>
                    <a:lnBlToTr>
                      <a:noFill/>
                    </a:lnBlToTr>
                    <a:noFill/>
                  </a:tcPr>
                </a:tc>
                <a:tc hMerge="1">
                  <a:tcPr anchor="ctr">
                    <a:lnL>
                      <a:noFill/>
                    </a:lnL>
                    <a:lnR>
                      <a:noFill/>
                    </a:lnR>
                    <a:lnT w="12700">
                      <a:solidFill>
                        <a:srgbClr val="0070BF"/>
                      </a:solidFill>
                      <a:prstDash val="solid"/>
                    </a:lnT>
                    <a:lnB w="12700">
                      <a:solidFill>
                        <a:srgbClr val="0070BF"/>
                      </a:solidFill>
                      <a:prstDash val="solid"/>
                    </a:lnB>
                    <a:lnTlToBr>
                      <a:noFill/>
                    </a:lnTlToBr>
                    <a:lnBlToTr>
                      <a:noFill/>
                    </a:lnBlToTr>
                    <a:noFill/>
                  </a:tcPr>
                </a:tc>
                <a:tc hMerge="1">
                  <a:tcPr anchor="ctr">
                    <a:lnL>
                      <a:noFill/>
                    </a:lnL>
                    <a:lnR>
                      <a:noFill/>
                    </a:lnR>
                    <a:lnT w="12700">
                      <a:solidFill>
                        <a:srgbClr val="0070BF"/>
                      </a:solidFill>
                      <a:prstDash val="solid"/>
                    </a:lnT>
                    <a:lnB w="12700">
                      <a:solidFill>
                        <a:srgbClr val="0070BF"/>
                      </a:solidFill>
                      <a:prstDash val="solid"/>
                    </a:lnB>
                    <a:lnTlToBr>
                      <a:noFill/>
                    </a:lnTlToBr>
                    <a:lnBlToTr>
                      <a:noFill/>
                    </a:lnBlToTr>
                    <a:noFill/>
                  </a:tcPr>
                </a:tc>
                <a:tc hMerge="1">
                  <a:tcPr anchor="ctr">
                    <a:lnL>
                      <a:noFill/>
                    </a:lnL>
                    <a:lnR>
                      <a:noFill/>
                    </a:lnR>
                    <a:lnT w="12700">
                      <a:solidFill>
                        <a:srgbClr val="0070BF"/>
                      </a:solidFill>
                      <a:prstDash val="solid"/>
                    </a:lnT>
                    <a:lnB w="12700">
                      <a:solidFill>
                        <a:srgbClr val="0070BF"/>
                      </a:solidFill>
                      <a:prstDash val="solid"/>
                    </a:lnB>
                    <a:lnTlToBr>
                      <a:noFill/>
                    </a:lnTlToBr>
                    <a:lnBlToTr>
                      <a:noFill/>
                    </a:lnBlToTr>
                    <a:noFill/>
                  </a:tcPr>
                </a:tc>
                <a:tc hMerge="1">
                  <a:tcPr anchor="ctr">
                    <a:lnL>
                      <a:noFill/>
                    </a:lnL>
                    <a:lnR>
                      <a:noFill/>
                    </a:lnR>
                    <a:lnT w="12700">
                      <a:solidFill>
                        <a:srgbClr val="0070BF"/>
                      </a:solidFill>
                      <a:prstDash val="solid"/>
                    </a:lnT>
                    <a:lnB w="12700">
                      <a:solidFill>
                        <a:srgbClr val="0070BF"/>
                      </a:solidFill>
                      <a:prstDash val="solid"/>
                    </a:lnB>
                    <a:lnTlToBr>
                      <a:noFill/>
                    </a:lnTlToBr>
                    <a:lnBlToTr>
                      <a:noFill/>
                    </a:lnBlToTr>
                    <a:noFill/>
                  </a:tcPr>
                </a:tc>
                <a:tc hMerge="1">
                  <a:tcPr anchor="ctr">
                    <a:lnL>
                      <a:noFill/>
                    </a:lnL>
                    <a:lnR>
                      <a:noFill/>
                    </a:lnR>
                    <a:lnT w="12700">
                      <a:solidFill>
                        <a:srgbClr val="0070BF"/>
                      </a:solidFill>
                      <a:prstDash val="solid"/>
                    </a:lnT>
                    <a:lnB w="12700">
                      <a:solidFill>
                        <a:srgbClr val="0070BF"/>
                      </a:solidFill>
                      <a:prstDash val="solid"/>
                    </a:lnB>
                    <a:lnTlToBr>
                      <a:noFill/>
                    </a:lnTlToBr>
                    <a:lnBlToTr>
                      <a:noFill/>
                    </a:lnBlToTr>
                    <a:noFill/>
                  </a:tcPr>
                </a:tc>
              </a:tr>
              <a:tr h="306705">
                <a:tc>
                  <a:txBody>
                    <a:bodyPr/>
                    <a:p>
                      <a:pPr algn="ctr">
                        <a:buNone/>
                      </a:pPr>
                      <a:r>
                        <a:rPr lang="zh-CN" altLang="en-US" sz="1200" b="1">
                          <a:solidFill>
                            <a:schemeClr val="tx1"/>
                          </a:solidFill>
                        </a:rPr>
                        <a:t>路径</a:t>
                      </a:r>
                      <a:endParaRPr lang="zh-CN" altLang="en-US" sz="1200" b="1">
                        <a:solidFill>
                          <a:schemeClr val="tx1"/>
                        </a:solidFill>
                      </a:endParaRPr>
                    </a:p>
                  </a:txBody>
                  <a:tcPr anchor="ctr">
                    <a:lnL>
                      <a:noFill/>
                    </a:lnL>
                    <a:lnT w="12700">
                      <a:solidFill>
                        <a:srgbClr val="0070BF"/>
                      </a:solidFill>
                      <a:prstDash val="solid"/>
                    </a:lnT>
                    <a:lnB w="12700">
                      <a:solidFill>
                        <a:srgbClr val="0070BF"/>
                      </a:solidFill>
                      <a:prstDash val="solid"/>
                    </a:lnB>
                    <a:solidFill>
                      <a:srgbClr val="CCE2F2"/>
                    </a:solidFill>
                  </a:tcPr>
                </a:tc>
                <a:tc>
                  <a:txBody>
                    <a:bodyPr/>
                    <a:p>
                      <a:pPr algn="ctr">
                        <a:buNone/>
                      </a:pPr>
                      <a:r>
                        <a:rPr lang="zh-CN" altLang="en-US" sz="1200" b="1">
                          <a:solidFill>
                            <a:schemeClr val="tx1"/>
                          </a:solidFill>
                        </a:rPr>
                        <a:t>任务</a:t>
                      </a:r>
                      <a:endParaRPr lang="zh-CN" altLang="en-US" sz="1200" b="1">
                        <a:solidFill>
                          <a:schemeClr val="tx1"/>
                        </a:solidFill>
                      </a:endParaRPr>
                    </a:p>
                  </a:txBody>
                  <a:tcPr anchor="ctr">
                    <a:lnT w="12700">
                      <a:solidFill>
                        <a:srgbClr val="0070BF"/>
                      </a:solidFill>
                      <a:prstDash val="solid"/>
                    </a:lnT>
                    <a:lnB w="12700">
                      <a:solidFill>
                        <a:srgbClr val="0070BF"/>
                      </a:solidFill>
                      <a:prstDash val="solid"/>
                    </a:lnB>
                    <a:solidFill>
                      <a:srgbClr val="CCE2F2"/>
                    </a:solidFill>
                  </a:tcPr>
                </a:tc>
                <a:tc>
                  <a:txBody>
                    <a:bodyPr/>
                    <a:p>
                      <a:pPr algn="ctr">
                        <a:buNone/>
                      </a:pPr>
                      <a:r>
                        <a:rPr lang="zh-CN" altLang="en-US" sz="1200" b="1">
                          <a:solidFill>
                            <a:schemeClr val="tx1"/>
                          </a:solidFill>
                        </a:rPr>
                        <a:t>举措</a:t>
                      </a:r>
                      <a:endParaRPr lang="zh-CN" altLang="en-US" sz="1200" b="1">
                        <a:solidFill>
                          <a:schemeClr val="tx1"/>
                        </a:solidFill>
                      </a:endParaRPr>
                    </a:p>
                  </a:txBody>
                  <a:tcPr anchor="ctr">
                    <a:lnT w="12700">
                      <a:solidFill>
                        <a:srgbClr val="0070BF"/>
                      </a:solidFill>
                      <a:prstDash val="solid"/>
                    </a:lnT>
                    <a:lnB w="12700">
                      <a:solidFill>
                        <a:srgbClr val="0070BF"/>
                      </a:solidFill>
                      <a:prstDash val="solid"/>
                    </a:lnB>
                    <a:solidFill>
                      <a:srgbClr val="CCE2F2"/>
                    </a:solidFill>
                  </a:tcPr>
                </a:tc>
                <a:tc>
                  <a:txBody>
                    <a:bodyPr/>
                    <a:p>
                      <a:pPr algn="ctr">
                        <a:buNone/>
                      </a:pPr>
                      <a:r>
                        <a:rPr lang="zh-CN" altLang="en-US" sz="1200" b="1">
                          <a:solidFill>
                            <a:schemeClr val="tx1"/>
                          </a:solidFill>
                        </a:rPr>
                        <a:t>牵头单位</a:t>
                      </a:r>
                      <a:endParaRPr lang="zh-CN" altLang="en-US" sz="1200" b="1">
                        <a:solidFill>
                          <a:schemeClr val="tx1"/>
                        </a:solidFill>
                      </a:endParaRPr>
                    </a:p>
                  </a:txBody>
                  <a:tcPr anchor="ctr">
                    <a:lnT w="12700">
                      <a:solidFill>
                        <a:srgbClr val="0070BF"/>
                      </a:solidFill>
                      <a:prstDash val="solid"/>
                    </a:lnT>
                    <a:lnB w="12700">
                      <a:solidFill>
                        <a:srgbClr val="0070BF"/>
                      </a:solidFill>
                      <a:prstDash val="solid"/>
                    </a:lnB>
                    <a:solidFill>
                      <a:srgbClr val="CCE2F2"/>
                    </a:solidFill>
                  </a:tcPr>
                </a:tc>
                <a:tc>
                  <a:txBody>
                    <a:bodyPr/>
                    <a:p>
                      <a:pPr algn="ctr">
                        <a:buNone/>
                      </a:pPr>
                      <a:r>
                        <a:rPr lang="zh-CN" altLang="en-US" sz="1200" b="1">
                          <a:solidFill>
                            <a:schemeClr val="tx1"/>
                          </a:solidFill>
                        </a:rPr>
                        <a:t>配合单位</a:t>
                      </a:r>
                      <a:endParaRPr lang="zh-CN" altLang="en-US" sz="1200" b="1">
                        <a:solidFill>
                          <a:schemeClr val="tx1"/>
                        </a:solidFill>
                      </a:endParaRPr>
                    </a:p>
                  </a:txBody>
                  <a:tcPr anchor="ctr">
                    <a:lnT w="12700">
                      <a:solidFill>
                        <a:srgbClr val="0070BF"/>
                      </a:solidFill>
                      <a:prstDash val="solid"/>
                    </a:lnT>
                    <a:lnB w="12700">
                      <a:solidFill>
                        <a:srgbClr val="0070BF"/>
                      </a:solidFill>
                      <a:prstDash val="solid"/>
                    </a:lnB>
                    <a:solidFill>
                      <a:srgbClr val="CCE2F2"/>
                    </a:solidFill>
                  </a:tcPr>
                </a:tc>
                <a:tc>
                  <a:txBody>
                    <a:bodyPr/>
                    <a:p>
                      <a:pPr algn="ctr">
                        <a:buNone/>
                      </a:pPr>
                      <a:r>
                        <a:rPr lang="en-US" altLang="zh-CN" sz="1200" b="1">
                          <a:solidFill>
                            <a:schemeClr val="tx1"/>
                          </a:solidFill>
                        </a:rPr>
                        <a:t>2025</a:t>
                      </a:r>
                      <a:r>
                        <a:rPr lang="zh-CN" altLang="en-US" sz="1200" b="1">
                          <a:solidFill>
                            <a:schemeClr val="tx1"/>
                          </a:solidFill>
                        </a:rPr>
                        <a:t>年工作目标</a:t>
                      </a:r>
                      <a:endParaRPr lang="zh-CN" altLang="en-US" sz="1200" b="1">
                        <a:solidFill>
                          <a:schemeClr val="tx1"/>
                        </a:solidFill>
                      </a:endParaRPr>
                    </a:p>
                  </a:txBody>
                  <a:tcPr anchor="ctr">
                    <a:lnR>
                      <a:noFill/>
                    </a:lnR>
                    <a:lnT w="12700">
                      <a:solidFill>
                        <a:srgbClr val="0070BF"/>
                      </a:solidFill>
                      <a:prstDash val="solid"/>
                    </a:lnT>
                    <a:lnB w="12700">
                      <a:solidFill>
                        <a:srgbClr val="0070BF"/>
                      </a:solidFill>
                      <a:prstDash val="solid"/>
                    </a:lnB>
                    <a:solidFill>
                      <a:srgbClr val="CCE2F2"/>
                    </a:solidFill>
                  </a:tcPr>
                </a:tc>
              </a:tr>
              <a:tr h="562610">
                <a:tc rowSpan="14">
                  <a:txBody>
                    <a:bodyPr/>
                    <a:p>
                      <a:pPr marL="0" marR="0" lvl="0" indent="0" algn="l" defTabSz="457200" rtl="0" eaLnBrk="1" fontAlgn="auto" latinLnBrk="0" hangingPunct="1">
                        <a:lnSpc>
                          <a:spcPct val="100000"/>
                        </a:lnSpc>
                        <a:spcBef>
                          <a:spcPts val="0"/>
                        </a:spcBef>
                        <a:spcAft>
                          <a:spcPts val="0"/>
                        </a:spcAft>
                        <a:buClrTx/>
                        <a:buSzTx/>
                        <a:buFontTx/>
                        <a:buNone/>
                      </a:pPr>
                      <a:r>
                        <a:rPr lang="zh-CN" altLang="en-US" sz="1200" b="1" dirty="0">
                          <a:solidFill>
                            <a:srgbClr val="0070BF"/>
                          </a:solidFill>
                          <a:latin typeface="微软雅黑" panose="020B0503020204020204" pitchFamily="34" charset="-122"/>
                          <a:ea typeface="微软雅黑" panose="020B0503020204020204" pitchFamily="34" charset="-122"/>
                          <a:sym typeface="+mn-ea"/>
                        </a:rPr>
                        <a:t>夯实支撑底座，强化数智化能力建设</a:t>
                      </a:r>
                      <a:endParaRPr lang="zh-CN" altLang="en-US" sz="1200" b="1" kern="100" dirty="0">
                        <a:effectLst/>
                        <a:latin typeface="微软雅黑" panose="020B0503020204020204" pitchFamily="34" charset="-122"/>
                        <a:ea typeface="微软雅黑" panose="020B0503020204020204" pitchFamily="34" charset="-122"/>
                        <a:sym typeface="+mn-ea"/>
                      </a:endParaRPr>
                    </a:p>
                  </a:txBody>
                  <a:tcPr anchor="ctr">
                    <a:lnL>
                      <a:noFill/>
                    </a:lnL>
                    <a:lnR>
                      <a:noFill/>
                    </a:lnR>
                    <a:lnT w="12700">
                      <a:solidFill>
                        <a:srgbClr val="0070BF"/>
                      </a:solidFill>
                      <a:prstDash val="solid"/>
                    </a:lnT>
                    <a:lnB w="12700">
                      <a:solidFill>
                        <a:srgbClr val="0070C0"/>
                      </a:solidFill>
                      <a:prstDash val="solid"/>
                    </a:lnB>
                  </a:tcPr>
                </a:tc>
                <a:tc rowSpan="5">
                  <a:txBody>
                    <a:bodyPr/>
                    <a:p>
                      <a:pPr marL="0" marR="0" lvl="0" indent="0" algn="ctr" defTabSz="914400" rtl="0" eaLnBrk="1" fontAlgn="auto" latinLnBrk="0" hangingPunct="1">
                        <a:lnSpc>
                          <a:spcPct val="100000"/>
                        </a:lnSpc>
                        <a:spcBef>
                          <a:spcPts val="0"/>
                        </a:spcBef>
                        <a:spcAft>
                          <a:spcPts val="0"/>
                        </a:spcAft>
                        <a:buClrTx/>
                        <a:buSzTx/>
                        <a:buFontTx/>
                        <a:buNone/>
                      </a:pPr>
                      <a:r>
                        <a:rPr kumimoji="1" lang="zh-CN" altLang="en-US" sz="1200" b="1" kern="0" noProof="0" dirty="0">
                          <a:ln>
                            <a:noFill/>
                          </a:ln>
                          <a:effectLst/>
                          <a:uLnTx/>
                          <a:uFillTx/>
                          <a:latin typeface="微软雅黑" panose="020B0503020204020204" pitchFamily="34" charset="-122"/>
                          <a:ea typeface="微软雅黑" panose="020B0503020204020204" pitchFamily="34" charset="-122"/>
                          <a:sym typeface="+mn-ea"/>
                        </a:rPr>
                        <a:t>重点数据实时采集</a:t>
                      </a:r>
                      <a:endParaRPr lang="zh-CN" altLang="en-US" sz="1200"/>
                    </a:p>
                  </a:txBody>
                  <a:tcPr anchor="ctr">
                    <a:lnL>
                      <a:noFill/>
                    </a:lnL>
                    <a:lnR>
                      <a:noFill/>
                    </a:lnR>
                    <a:lnT w="12700">
                      <a:solidFill>
                        <a:srgbClr val="0070BF"/>
                      </a:solidFill>
                      <a:prstDash val="solid"/>
                    </a:lnT>
                    <a:lnB w="12700">
                      <a:solidFill>
                        <a:srgbClr val="0070BF"/>
                      </a:solidFill>
                      <a:prstDash val="solid"/>
                    </a:lnB>
                  </a:tcPr>
                </a:tc>
                <a:tc>
                  <a:txBody>
                    <a:bodyPr/>
                    <a:p>
                      <a:pPr>
                        <a:buNone/>
                      </a:pPr>
                      <a:r>
                        <a:rPr lang="en-US" altLang="zh-CN" sz="1100" dirty="0"/>
                        <a:t>1.xx</a:t>
                      </a:r>
                      <a:endParaRPr lang="en-US" altLang="zh-CN" sz="1100" dirty="0"/>
                    </a:p>
                  </a:txBody>
                  <a:tcPr anchor="ctr">
                    <a:lnL>
                      <a:noFill/>
                    </a:lnL>
                    <a:lnR>
                      <a:noFill/>
                    </a:lnR>
                    <a:lnT w="12700">
                      <a:solidFill>
                        <a:srgbClr val="0070BF"/>
                      </a:solidFill>
                      <a:prstDash val="solid"/>
                    </a:lnT>
                    <a:lnB>
                      <a:noFill/>
                    </a:lnB>
                  </a:tcPr>
                </a:tc>
                <a:tc>
                  <a:txBody>
                    <a:bodyPr/>
                    <a:p>
                      <a:pPr>
                        <a:buNone/>
                      </a:pPr>
                      <a:r>
                        <a:rPr lang="zh-CN" altLang="en-US" sz="1100"/>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w="12700">
                      <a:solidFill>
                        <a:srgbClr val="0070BF"/>
                      </a:solidFill>
                      <a:prstDash val="solid"/>
                    </a:lnT>
                    <a:lnB>
                      <a:noFill/>
                    </a:lnB>
                  </a:tcPr>
                </a:tc>
                <a:tc>
                  <a:txBody>
                    <a:bodyPr/>
                    <a:p>
                      <a:pPr>
                        <a:buNone/>
                      </a:pPr>
                      <a:r>
                        <a:rPr lang="en-US" altLang="zh-CN" sz="1100"/>
                        <a:t>31</a:t>
                      </a:r>
                      <a:r>
                        <a:rPr lang="zh-CN" altLang="en-US" sz="1100"/>
                        <a:t>省公司</a:t>
                      </a:r>
                      <a:endParaRPr lang="zh-CN" altLang="en-US" sz="1100"/>
                    </a:p>
                  </a:txBody>
                  <a:tcPr anchor="ctr">
                    <a:lnL>
                      <a:noFill/>
                    </a:lnL>
                    <a:lnR>
                      <a:noFill/>
                    </a:lnR>
                    <a:lnT w="12700">
                      <a:solidFill>
                        <a:srgbClr val="0070BF"/>
                      </a:solidFill>
                      <a:prstDash val="solid"/>
                    </a:lnT>
                    <a:lnB>
                      <a:noFill/>
                    </a:lnB>
                  </a:tcPr>
                </a:tc>
                <a:tc>
                  <a:txBody>
                    <a:bodyPr/>
                    <a:p>
                      <a:pPr>
                        <a:buNone/>
                      </a:pPr>
                      <a:r>
                        <a:rPr lang="en-US" altLang="zh-CN" sz="1100" dirty="0">
                          <a:sym typeface="+mn-ea"/>
                        </a:rPr>
                        <a:t>.xx</a:t>
                      </a:r>
                      <a:endParaRPr lang="zh-CN" altLang="en-US" sz="1100" dirty="0"/>
                    </a:p>
                  </a:txBody>
                  <a:tcPr anchor="ctr">
                    <a:lnL>
                      <a:noFill/>
                    </a:lnL>
                    <a:lnR>
                      <a:noFill/>
                    </a:lnR>
                    <a:lnT w="12700">
                      <a:solidFill>
                        <a:srgbClr val="0070BF"/>
                      </a:solidFill>
                      <a:prstDash val="solid"/>
                    </a:lnT>
                    <a:lnB>
                      <a:noFill/>
                    </a:lnB>
                  </a:tcPr>
                </a:tc>
              </a:tr>
              <a:tr h="454660">
                <a:tc vMerge="1">
                  <a:tcPr>
                    <a:lnL>
                      <a:noFill/>
                    </a:lnL>
                    <a:lnR>
                      <a:noFill/>
                    </a:lnR>
                  </a:tcPr>
                </a:tc>
                <a:tc vMerge="1">
                  <a:tcPr>
                    <a:lnL>
                      <a:noFill/>
                    </a:lnL>
                    <a:lnR>
                      <a:noFill/>
                    </a:lnR>
                  </a:tcPr>
                </a:tc>
                <a:tc>
                  <a:txBody>
                    <a:bodyPr/>
                    <a:p>
                      <a:pPr>
                        <a:buNone/>
                      </a:pPr>
                      <a:r>
                        <a:rPr lang="en-US" altLang="zh-CN" sz="1100"/>
                        <a:t>2.</a:t>
                      </a:r>
                      <a:r>
                        <a:rPr lang="en-US" altLang="zh-CN" sz="1100" dirty="0">
                          <a:sym typeface="+mn-ea"/>
                        </a:rPr>
                        <a:t>.xx</a:t>
                      </a:r>
                      <a:endParaRPr lang="zh-CN" altLang="en-US" sz="1100"/>
                    </a:p>
                  </a:txBody>
                  <a:tcPr anchor="ctr">
                    <a:lnL>
                      <a:noFill/>
                    </a:lnL>
                    <a:lnR>
                      <a:noFill/>
                    </a:lnR>
                    <a:lnT>
                      <a:noFill/>
                    </a:lnT>
                    <a:lnB>
                      <a:noFill/>
                    </a:lnB>
                  </a:tcPr>
                </a:tc>
                <a:tc>
                  <a:txBody>
                    <a:bodyPr/>
                    <a:p>
                      <a:pPr>
                        <a:buNone/>
                      </a:pPr>
                      <a:r>
                        <a:rPr lang="zh-CN" altLang="en-US" sz="1100">
                          <a:sym typeface="+mn-ea"/>
                        </a:rPr>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a:noFill/>
                    </a:lnT>
                    <a:lnB>
                      <a:noFill/>
                    </a:lnB>
                  </a:tcPr>
                </a:tc>
                <a:tc>
                  <a:txBody>
                    <a:bodyPr/>
                    <a:p>
                      <a:pPr>
                        <a:buNone/>
                      </a:pPr>
                      <a:r>
                        <a:rPr lang="en-US" altLang="zh-CN" sz="1100"/>
                        <a:t>31</a:t>
                      </a:r>
                      <a:r>
                        <a:rPr lang="zh-CN" altLang="en-US" sz="1100"/>
                        <a:t>省公司</a:t>
                      </a:r>
                      <a:r>
                        <a:rPr lang="zh-CN" altLang="en-US" sz="1100">
                          <a:sym typeface="+mn-ea"/>
                        </a:rPr>
                        <a:t>、专业公司</a:t>
                      </a:r>
                      <a:endParaRPr lang="zh-CN" altLang="en-US" sz="1100"/>
                    </a:p>
                  </a:txBody>
                  <a:tcPr anchor="ctr">
                    <a:lnL>
                      <a:noFill/>
                    </a:lnL>
                    <a:lnR>
                      <a:noFill/>
                    </a:lnR>
                    <a:lnT>
                      <a:noFill/>
                    </a:lnT>
                    <a:lnB>
                      <a:noFill/>
                    </a:lnB>
                  </a:tcPr>
                </a:tc>
                <a:tc>
                  <a:txBody>
                    <a:bodyPr/>
                    <a:p>
                      <a:pPr>
                        <a:buNone/>
                      </a:pPr>
                      <a:r>
                        <a:rPr lang="en-US" altLang="zh-CN" sz="1100" dirty="0">
                          <a:sym typeface="+mn-ea"/>
                        </a:rPr>
                        <a:t>.xx</a:t>
                      </a:r>
                      <a:endParaRPr lang="zh-CN" altLang="en-US" sz="1100"/>
                    </a:p>
                  </a:txBody>
                  <a:tcPr anchor="ctr">
                    <a:lnL>
                      <a:noFill/>
                    </a:lnL>
                    <a:lnR>
                      <a:noFill/>
                    </a:lnR>
                    <a:lnT>
                      <a:noFill/>
                    </a:lnT>
                    <a:lnB>
                      <a:noFill/>
                    </a:lnB>
                  </a:tcPr>
                </a:tc>
              </a:tr>
              <a:tr h="454660">
                <a:tc vMerge="1">
                  <a:tcPr>
                    <a:lnL>
                      <a:noFill/>
                    </a:lnL>
                    <a:lnR>
                      <a:noFill/>
                    </a:lnR>
                  </a:tcPr>
                </a:tc>
                <a:tc vMerge="1">
                  <a:tcPr>
                    <a:lnL>
                      <a:noFill/>
                    </a:lnL>
                    <a:lnR>
                      <a:noFill/>
                    </a:lnR>
                  </a:tcPr>
                </a:tc>
                <a:tc>
                  <a:txBody>
                    <a:bodyPr/>
                    <a:p>
                      <a:pPr>
                        <a:buNone/>
                      </a:pPr>
                      <a:r>
                        <a:rPr lang="en-US" altLang="zh-CN" sz="1100"/>
                        <a:t>3.</a:t>
                      </a:r>
                      <a:r>
                        <a:rPr lang="en-US" altLang="zh-CN" sz="1100" dirty="0">
                          <a:sym typeface="+mn-ea"/>
                        </a:rPr>
                        <a:t>.xx</a:t>
                      </a:r>
                      <a:endParaRPr lang="zh-CN" altLang="en-US" sz="1100"/>
                    </a:p>
                  </a:txBody>
                  <a:tcPr anchor="ctr">
                    <a:lnL>
                      <a:noFill/>
                    </a:lnL>
                    <a:lnR>
                      <a:noFill/>
                    </a:lnR>
                    <a:lnT>
                      <a:noFill/>
                    </a:lnT>
                    <a:lnB>
                      <a:noFill/>
                    </a:lnB>
                  </a:tcPr>
                </a:tc>
                <a:tc>
                  <a:txBody>
                    <a:bodyPr/>
                    <a:p>
                      <a:pPr>
                        <a:buNone/>
                      </a:pPr>
                      <a:r>
                        <a:rPr lang="zh-CN" altLang="en-US" sz="1100"/>
                        <a:t>信息技术中心</a:t>
                      </a:r>
                      <a:endParaRPr lang="zh-CN" altLang="en-US" sz="1100"/>
                    </a:p>
                  </a:txBody>
                  <a:tcPr anchor="ctr">
                    <a:lnL>
                      <a:noFill/>
                    </a:lnL>
                    <a:lnR>
                      <a:noFill/>
                    </a:lnR>
                    <a:lnT>
                      <a:noFill/>
                    </a:lnT>
                    <a:lnB>
                      <a:noFill/>
                    </a:lnB>
                  </a:tcPr>
                </a:tc>
                <a:tc>
                  <a:txBody>
                    <a:bodyPr/>
                    <a:p>
                      <a:pPr>
                        <a:buNone/>
                      </a:pPr>
                      <a:r>
                        <a:rPr lang="zh-CN" altLang="en-US" sz="1100">
                          <a:sym typeface="+mn-ea"/>
                        </a:rPr>
                        <a:t>市场经营部</a:t>
                      </a:r>
                      <a:r>
                        <a:rPr lang="zh-CN" altLang="en-US" sz="1100"/>
                        <a:t>、</a:t>
                      </a:r>
                      <a:r>
                        <a:rPr lang="en-US" altLang="zh-CN" sz="1100"/>
                        <a:t>31</a:t>
                      </a:r>
                      <a:r>
                        <a:rPr lang="zh-CN" altLang="en-US" sz="1100"/>
                        <a:t>省公司、专业公司</a:t>
                      </a:r>
                      <a:endParaRPr lang="zh-CN" altLang="en-US" sz="1100"/>
                    </a:p>
                  </a:txBody>
                  <a:tcPr anchor="ctr">
                    <a:lnL>
                      <a:noFill/>
                    </a:lnL>
                    <a:lnR>
                      <a:noFill/>
                    </a:lnR>
                    <a:lnT>
                      <a:noFill/>
                    </a:lnT>
                    <a:lnB>
                      <a:noFill/>
                    </a:lnB>
                  </a:tcPr>
                </a:tc>
                <a:tc>
                  <a:txBody>
                    <a:bodyPr/>
                    <a:p>
                      <a:pPr>
                        <a:buNone/>
                      </a:pPr>
                      <a:r>
                        <a:rPr lang="en-US" altLang="zh-CN" sz="1100" dirty="0">
                          <a:sym typeface="+mn-ea"/>
                        </a:rPr>
                        <a:t>.xx</a:t>
                      </a:r>
                      <a:endParaRPr lang="zh-CN" altLang="en-US" sz="1100"/>
                    </a:p>
                  </a:txBody>
                  <a:tcPr anchor="ctr">
                    <a:lnL>
                      <a:noFill/>
                    </a:lnL>
                    <a:lnR>
                      <a:noFill/>
                    </a:lnR>
                    <a:lnT>
                      <a:noFill/>
                    </a:lnT>
                    <a:lnB>
                      <a:noFill/>
                    </a:lnB>
                  </a:tcPr>
                </a:tc>
              </a:tr>
              <a:tr h="454660">
                <a:tc vMerge="1">
                  <a:tcPr>
                    <a:lnL>
                      <a:noFill/>
                    </a:lnL>
                    <a:lnR>
                      <a:noFill/>
                    </a:lnR>
                  </a:tcPr>
                </a:tc>
                <a:tc vMerge="1">
                  <a:tcPr>
                    <a:lnL>
                      <a:noFill/>
                    </a:lnL>
                    <a:lnR>
                      <a:noFill/>
                    </a:lnR>
                  </a:tcPr>
                </a:tc>
                <a:tc>
                  <a:txBody>
                    <a:bodyPr/>
                    <a:p>
                      <a:pPr>
                        <a:buNone/>
                      </a:pPr>
                      <a:r>
                        <a:rPr lang="en-US" altLang="zh-CN" sz="1100"/>
                        <a:t>4.</a:t>
                      </a:r>
                      <a:r>
                        <a:rPr lang="en-US" altLang="zh-CN" sz="1100" dirty="0">
                          <a:sym typeface="+mn-ea"/>
                        </a:rPr>
                        <a:t>.xx</a:t>
                      </a:r>
                      <a:endParaRPr lang="zh-CN" altLang="en-US" sz="1100"/>
                    </a:p>
                  </a:txBody>
                  <a:tcPr anchor="ctr">
                    <a:lnL>
                      <a:noFill/>
                    </a:lnL>
                    <a:lnR>
                      <a:noFill/>
                    </a:lnR>
                    <a:lnT>
                      <a:noFill/>
                    </a:lnT>
                    <a:lnB>
                      <a:noFill/>
                    </a:lnB>
                  </a:tcPr>
                </a:tc>
                <a:tc>
                  <a:txBody>
                    <a:bodyPr/>
                    <a:p>
                      <a:pPr>
                        <a:buNone/>
                      </a:pPr>
                      <a:r>
                        <a:rPr lang="zh-CN" altLang="en-US" sz="1100">
                          <a:sym typeface="+mn-ea"/>
                        </a:rPr>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a:noFill/>
                    </a:lnT>
                    <a:lnB>
                      <a:noFill/>
                    </a:lnB>
                  </a:tcPr>
                </a:tc>
                <a:tc>
                  <a:txBody>
                    <a:bodyPr/>
                    <a:p>
                      <a:pPr>
                        <a:buNone/>
                      </a:pPr>
                      <a:r>
                        <a:rPr lang="en-US" altLang="zh-CN" sz="1100"/>
                        <a:t>31</a:t>
                      </a:r>
                      <a:r>
                        <a:rPr lang="zh-CN" altLang="en-US" sz="1100"/>
                        <a:t>省公司、专业公司</a:t>
                      </a:r>
                      <a:endParaRPr lang="zh-CN" altLang="en-US" sz="1100"/>
                    </a:p>
                  </a:txBody>
                  <a:tcPr anchor="ctr">
                    <a:lnL>
                      <a:noFill/>
                    </a:lnL>
                    <a:lnR>
                      <a:noFill/>
                    </a:lnR>
                    <a:lnT>
                      <a:noFill/>
                    </a:lnT>
                    <a:lnB>
                      <a:noFill/>
                    </a:lnB>
                  </a:tcPr>
                </a:tc>
                <a:tc>
                  <a:txBody>
                    <a:bodyPr/>
                    <a:p>
                      <a:pPr>
                        <a:buNone/>
                      </a:pPr>
                      <a:r>
                        <a:rPr lang="en-US" altLang="zh-CN" sz="1100" dirty="0">
                          <a:sym typeface="+mn-ea"/>
                        </a:rPr>
                        <a:t>.xx</a:t>
                      </a:r>
                      <a:endParaRPr lang="zh-CN" altLang="en-US" sz="1100"/>
                    </a:p>
                  </a:txBody>
                  <a:tcPr anchor="ctr">
                    <a:lnL>
                      <a:noFill/>
                    </a:lnL>
                    <a:lnR>
                      <a:noFill/>
                    </a:lnR>
                    <a:lnT>
                      <a:noFill/>
                    </a:lnT>
                    <a:lnB>
                      <a:noFill/>
                    </a:lnB>
                  </a:tcPr>
                </a:tc>
              </a:tr>
              <a:tr h="276225">
                <a:tc vMerge="1">
                  <a:tcPr>
                    <a:lnL>
                      <a:noFill/>
                    </a:lnL>
                    <a:lnR>
                      <a:noFill/>
                    </a:lnR>
                  </a:tcPr>
                </a:tc>
                <a:tc vMerge="1">
                  <a:tcPr>
                    <a:lnL>
                      <a:noFill/>
                    </a:lnL>
                    <a:lnR>
                      <a:noFill/>
                    </a:lnR>
                    <a:lnB w="12700">
                      <a:solidFill>
                        <a:srgbClr val="0070BF"/>
                      </a:solidFill>
                      <a:prstDash val="solid"/>
                    </a:lnB>
                  </a:tcPr>
                </a:tc>
                <a:tc>
                  <a:txBody>
                    <a:bodyPr/>
                    <a:p>
                      <a:pPr>
                        <a:buNone/>
                      </a:pPr>
                      <a:r>
                        <a:rPr lang="en-US" altLang="zh-CN" sz="1100"/>
                        <a:t>5.</a:t>
                      </a:r>
                      <a:r>
                        <a:rPr lang="en-US" altLang="zh-CN" sz="1100" dirty="0">
                          <a:sym typeface="+mn-ea"/>
                        </a:rPr>
                        <a:t>.xx</a:t>
                      </a:r>
                      <a:endParaRPr lang="zh-CN" altLang="en-US" sz="1100"/>
                    </a:p>
                  </a:txBody>
                  <a:tcPr anchor="ctr">
                    <a:lnL>
                      <a:noFill/>
                    </a:lnL>
                    <a:lnR>
                      <a:noFill/>
                    </a:lnR>
                    <a:lnT>
                      <a:noFill/>
                    </a:lnT>
                    <a:lnB w="12700">
                      <a:solidFill>
                        <a:srgbClr val="0070BF"/>
                      </a:solidFill>
                      <a:prstDash val="solid"/>
                    </a:lnB>
                  </a:tcPr>
                </a:tc>
                <a:tc>
                  <a:txBody>
                    <a:bodyPr/>
                    <a:p>
                      <a:pPr>
                        <a:buNone/>
                      </a:pPr>
                      <a:r>
                        <a:rPr lang="zh-CN" altLang="en-US" sz="1100">
                          <a:sym typeface="+mn-ea"/>
                        </a:rPr>
                        <a:t>市场经营部</a:t>
                      </a:r>
                      <a:endParaRPr lang="zh-CN" altLang="en-US" sz="1100"/>
                    </a:p>
                  </a:txBody>
                  <a:tcPr anchor="ctr">
                    <a:lnL>
                      <a:noFill/>
                    </a:lnL>
                    <a:lnR>
                      <a:noFill/>
                    </a:lnR>
                    <a:lnT>
                      <a:noFill/>
                    </a:lnT>
                    <a:lnB w="12700">
                      <a:solidFill>
                        <a:srgbClr val="0070BF"/>
                      </a:solidFill>
                      <a:prstDash val="solid"/>
                    </a:lnB>
                  </a:tcPr>
                </a:tc>
                <a:tc>
                  <a:txBody>
                    <a:bodyPr/>
                    <a:p>
                      <a:pPr>
                        <a:buNone/>
                      </a:pPr>
                      <a:r>
                        <a:rPr lang="zh-CN" altLang="en-US" sz="1100"/>
                        <a:t>信息技术中心、</a:t>
                      </a:r>
                      <a:r>
                        <a:rPr lang="en-US" altLang="zh-CN" sz="1100"/>
                        <a:t>31</a:t>
                      </a:r>
                      <a:r>
                        <a:rPr lang="zh-CN" altLang="en-US" sz="1100"/>
                        <a:t>省公司、专业公司</a:t>
                      </a:r>
                      <a:endParaRPr lang="zh-CN" altLang="en-US" sz="1100"/>
                    </a:p>
                  </a:txBody>
                  <a:tcPr anchor="ctr">
                    <a:lnL>
                      <a:noFill/>
                    </a:lnL>
                    <a:lnR>
                      <a:noFill/>
                    </a:lnR>
                    <a:lnT>
                      <a:noFill/>
                    </a:lnT>
                    <a:lnB w="12700">
                      <a:solidFill>
                        <a:srgbClr val="0070BF"/>
                      </a:solidFill>
                      <a:prstDash val="solid"/>
                    </a:lnB>
                  </a:tcPr>
                </a:tc>
                <a:tc>
                  <a:txBody>
                    <a:bodyPr/>
                    <a:p>
                      <a:pPr>
                        <a:buNone/>
                      </a:pPr>
                      <a:r>
                        <a:rPr lang="en-US" altLang="zh-CN" sz="1100" dirty="0">
                          <a:sym typeface="+mn-ea"/>
                        </a:rPr>
                        <a:t>.xx</a:t>
                      </a:r>
                      <a:endParaRPr lang="zh-CN" altLang="en-US" sz="1100"/>
                    </a:p>
                  </a:txBody>
                  <a:tcPr anchor="ctr">
                    <a:lnL>
                      <a:noFill/>
                    </a:lnL>
                    <a:lnR>
                      <a:noFill/>
                    </a:lnR>
                    <a:lnT>
                      <a:noFill/>
                    </a:lnT>
                    <a:lnB w="12700">
                      <a:solidFill>
                        <a:srgbClr val="0070BF"/>
                      </a:solidFill>
                      <a:prstDash val="solid"/>
                    </a:lnB>
                  </a:tcPr>
                </a:tc>
              </a:tr>
              <a:tr h="454025">
                <a:tc vMerge="1">
                  <a:tcPr>
                    <a:lnL>
                      <a:noFill/>
                    </a:lnL>
                    <a:lnR>
                      <a:noFill/>
                    </a:lnR>
                  </a:tcPr>
                </a:tc>
                <a:tc rowSpan="2">
                  <a:txBody>
                    <a:bodyPr/>
                    <a:p>
                      <a:pPr marL="0" marR="0" lvl="0" indent="0" algn="ctr" defTabSz="914400" rtl="0" eaLnBrk="1" fontAlgn="auto" latinLnBrk="0" hangingPunct="1">
                        <a:lnSpc>
                          <a:spcPct val="100000"/>
                        </a:lnSpc>
                        <a:spcBef>
                          <a:spcPts val="0"/>
                        </a:spcBef>
                        <a:spcAft>
                          <a:spcPts val="0"/>
                        </a:spcAft>
                        <a:buClrTx/>
                        <a:buSzTx/>
                        <a:buFontTx/>
                        <a:buNone/>
                      </a:pPr>
                      <a:r>
                        <a:rPr kumimoji="1" lang="zh-CN" altLang="en-US" sz="1200" b="1" kern="0" noProof="0" dirty="0">
                          <a:ln>
                            <a:noFill/>
                          </a:ln>
                          <a:effectLst/>
                          <a:uLnTx/>
                          <a:uFillTx/>
                          <a:latin typeface="微软雅黑" panose="020B0503020204020204" pitchFamily="34" charset="-122"/>
                          <a:ea typeface="微软雅黑" panose="020B0503020204020204" pitchFamily="34" charset="-122"/>
                          <a:sym typeface="+mn-ea"/>
                        </a:rPr>
                        <a:t>加快数据开放共享</a:t>
                      </a:r>
                      <a:endParaRPr lang="zh-CN" altLang="en-US" sz="1200">
                        <a:solidFill>
                          <a:schemeClr val="tx1"/>
                        </a:solidFill>
                      </a:endParaRPr>
                    </a:p>
                  </a:txBody>
                  <a:tcPr anchor="ctr">
                    <a:lnL>
                      <a:noFill/>
                    </a:lnL>
                    <a:lnR>
                      <a:noFill/>
                    </a:lnR>
                    <a:lnT w="12700">
                      <a:solidFill>
                        <a:srgbClr val="0070BF"/>
                      </a:solidFill>
                      <a:prstDash val="solid"/>
                    </a:lnT>
                    <a:lnB>
                      <a:noFill/>
                    </a:lnB>
                  </a:tcPr>
                </a:tc>
                <a:tc>
                  <a:txBody>
                    <a:bodyPr/>
                    <a:p>
                      <a:pPr>
                        <a:buNone/>
                      </a:pPr>
                      <a:r>
                        <a:rPr lang="en-US" altLang="zh-CN" sz="1100"/>
                        <a:t>1.xx</a:t>
                      </a:r>
                      <a:endParaRPr lang="en-US" altLang="zh-CN" sz="1100"/>
                    </a:p>
                  </a:txBody>
                  <a:tcPr anchor="ctr">
                    <a:lnL>
                      <a:noFill/>
                    </a:lnL>
                    <a:lnR>
                      <a:noFill/>
                    </a:lnR>
                    <a:lnT w="12700">
                      <a:solidFill>
                        <a:srgbClr val="0070BF"/>
                      </a:solidFill>
                      <a:prstDash val="solid"/>
                    </a:lnT>
                    <a:lnB>
                      <a:noFill/>
                    </a:lnB>
                  </a:tcPr>
                </a:tc>
                <a:tc>
                  <a:txBody>
                    <a:bodyPr/>
                    <a:p>
                      <a:pPr>
                        <a:buNone/>
                      </a:pPr>
                      <a:r>
                        <a:rPr lang="zh-CN" altLang="en-US" sz="1100">
                          <a:sym typeface="+mn-ea"/>
                        </a:rPr>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w="12700">
                      <a:solidFill>
                        <a:srgbClr val="0070BF"/>
                      </a:solidFill>
                      <a:prstDash val="solid"/>
                    </a:lnT>
                    <a:lnB>
                      <a:noFill/>
                    </a:lnB>
                  </a:tcPr>
                </a:tc>
                <a:tc>
                  <a:txBody>
                    <a:bodyPr/>
                    <a:p>
                      <a:pPr>
                        <a:buNone/>
                      </a:pPr>
                      <a:r>
                        <a:rPr lang="en-US" altLang="zh-CN" sz="1100"/>
                        <a:t>31</a:t>
                      </a:r>
                      <a:r>
                        <a:rPr lang="zh-CN" altLang="en-US" sz="1100"/>
                        <a:t>省公司</a:t>
                      </a:r>
                      <a:r>
                        <a:rPr lang="zh-CN" altLang="en-US" sz="1100">
                          <a:sym typeface="+mn-ea"/>
                        </a:rPr>
                        <a:t>、专业公司</a:t>
                      </a:r>
                      <a:endParaRPr lang="zh-CN" altLang="en-US" sz="1100"/>
                    </a:p>
                  </a:txBody>
                  <a:tcPr anchor="ctr">
                    <a:lnL>
                      <a:noFill/>
                    </a:lnL>
                    <a:lnR>
                      <a:noFill/>
                    </a:lnR>
                    <a:lnT w="12700">
                      <a:solidFill>
                        <a:srgbClr val="0070BF"/>
                      </a:solidFill>
                      <a:prstDash val="solid"/>
                    </a:lnT>
                    <a:lnB>
                      <a:noFill/>
                    </a:lnB>
                  </a:tcPr>
                </a:tc>
                <a:tc>
                  <a:txBody>
                    <a:bodyPr/>
                    <a:p>
                      <a:pPr>
                        <a:buNone/>
                      </a:pPr>
                      <a:r>
                        <a:rPr lang="en-US" altLang="zh-CN" sz="1100" dirty="0">
                          <a:sym typeface="+mn-ea"/>
                        </a:rPr>
                        <a:t>.xx</a:t>
                      </a:r>
                      <a:endParaRPr lang="zh-CN" altLang="en-US" sz="1100"/>
                    </a:p>
                  </a:txBody>
                  <a:tcPr anchor="ctr">
                    <a:lnL>
                      <a:noFill/>
                    </a:lnL>
                    <a:lnR>
                      <a:noFill/>
                    </a:lnR>
                    <a:lnT w="12700">
                      <a:solidFill>
                        <a:srgbClr val="0070BF"/>
                      </a:solidFill>
                      <a:prstDash val="solid"/>
                    </a:lnT>
                    <a:lnB>
                      <a:noFill/>
                    </a:lnB>
                  </a:tcPr>
                </a:tc>
              </a:tr>
              <a:tr h="0">
                <a:tc vMerge="1">
                  <a:tcPr>
                    <a:lnL>
                      <a:noFill/>
                    </a:lnL>
                    <a:lnR>
                      <a:noFill/>
                    </a:lnR>
                    <a:lnB>
                      <a:noFill/>
                    </a:lnB>
                  </a:tcPr>
                </a:tc>
                <a:tc vMerge="1">
                  <a:tcPr anchor="ctr">
                    <a:lnL>
                      <a:noFill/>
                    </a:lnL>
                    <a:lnR>
                      <a:noFill/>
                    </a:lnR>
                    <a:lnT w="12700">
                      <a:solidFill>
                        <a:srgbClr val="0070C0"/>
                      </a:solidFill>
                      <a:prstDash val="solid"/>
                    </a:lnT>
                    <a:lnB>
                      <a:noFill/>
                    </a:lnB>
                  </a:tcPr>
                </a:tc>
                <a:tc rowSpan="3">
                  <a:txBody>
                    <a:bodyPr/>
                    <a:p>
                      <a:pPr>
                        <a:buNone/>
                      </a:pPr>
                      <a:r>
                        <a:rPr lang="en-US" altLang="zh-CN" sz="1100"/>
                        <a:t>2.xx</a:t>
                      </a:r>
                      <a:endParaRPr lang="en-US" altLang="zh-CN" sz="1100"/>
                    </a:p>
                  </a:txBody>
                  <a:tcPr anchor="ctr">
                    <a:lnL>
                      <a:noFill/>
                    </a:lnL>
                    <a:lnR>
                      <a:noFill/>
                    </a:lnR>
                    <a:lnT>
                      <a:noFill/>
                    </a:lnT>
                    <a:lnB>
                      <a:noFill/>
                    </a:lnB>
                  </a:tcPr>
                </a:tc>
                <a:tc rowSpan="3">
                  <a:txBody>
                    <a:bodyPr/>
                    <a:p>
                      <a:pPr>
                        <a:buNone/>
                      </a:pPr>
                      <a:r>
                        <a:rPr lang="zh-CN" altLang="en-US" sz="1100">
                          <a:sym typeface="+mn-ea"/>
                        </a:rPr>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a:noFill/>
                    </a:lnT>
                    <a:lnB>
                      <a:noFill/>
                    </a:lnB>
                  </a:tcPr>
                </a:tc>
                <a:tc rowSpan="3">
                  <a:txBody>
                    <a:bodyPr/>
                    <a:p>
                      <a:pPr>
                        <a:buNone/>
                      </a:pPr>
                      <a:r>
                        <a:rPr lang="en-US" altLang="zh-CN" sz="1100"/>
                        <a:t>31</a:t>
                      </a:r>
                      <a:r>
                        <a:rPr lang="zh-CN" altLang="en-US" sz="1100"/>
                        <a:t>省公司</a:t>
                      </a:r>
                      <a:r>
                        <a:rPr lang="zh-CN" altLang="en-US" sz="1100">
                          <a:sym typeface="+mn-ea"/>
                        </a:rPr>
                        <a:t>、专业公司</a:t>
                      </a:r>
                      <a:endParaRPr lang="zh-CN" altLang="en-US" sz="1100"/>
                    </a:p>
                  </a:txBody>
                  <a:tcPr anchor="ctr">
                    <a:lnL>
                      <a:noFill/>
                    </a:lnL>
                    <a:lnR>
                      <a:noFill/>
                    </a:lnR>
                    <a:lnT>
                      <a:noFill/>
                    </a:lnT>
                    <a:lnB>
                      <a:noFill/>
                    </a:lnB>
                  </a:tcPr>
                </a:tc>
                <a:tc rowSpan="3">
                  <a:txBody>
                    <a:bodyPr/>
                    <a:p>
                      <a:pPr>
                        <a:buNone/>
                      </a:pPr>
                      <a:r>
                        <a:rPr lang="en-US" altLang="zh-CN" sz="1100" dirty="0">
                          <a:sym typeface="+mn-ea"/>
                        </a:rPr>
                        <a:t>.xx</a:t>
                      </a:r>
                      <a:endParaRPr lang="en-US" altLang="zh-CN" sz="1100" dirty="0"/>
                    </a:p>
                    <a:p>
                      <a:pPr>
                        <a:buNone/>
                      </a:pPr>
                      <a:endParaRPr lang="zh-CN" altLang="en-US" sz="1100"/>
                    </a:p>
                  </a:txBody>
                  <a:tcPr anchor="ctr">
                    <a:lnL>
                      <a:noFill/>
                    </a:lnL>
                    <a:lnR>
                      <a:noFill/>
                    </a:lnR>
                    <a:lnT>
                      <a:noFill/>
                    </a:lnT>
                    <a:lnB>
                      <a:noFill/>
                    </a:lnB>
                  </a:tcPr>
                </a:tc>
              </a:tr>
              <a:tr h="487680">
                <a:tc vMerge="1">
                  <a:tcPr>
                    <a:lnL>
                      <a:noFill/>
                    </a:lnL>
                    <a:lnR>
                      <a:noFill/>
                    </a:lnR>
                    <a:lnB>
                      <a:noFill/>
                    </a:lnB>
                  </a:tcPr>
                </a:tc>
                <a:tc>
                  <a:txBody>
                    <a:bodyPr/>
                    <a:p>
                      <a:pPr marL="0" marR="0" lvl="0" indent="0" algn="ctr" defTabSz="914400" rtl="0" eaLnBrk="1" fontAlgn="auto" latinLnBrk="0" hangingPunct="1">
                        <a:lnSpc>
                          <a:spcPct val="100000"/>
                        </a:lnSpc>
                        <a:spcBef>
                          <a:spcPts val="0"/>
                        </a:spcBef>
                        <a:spcAft>
                          <a:spcPts val="0"/>
                        </a:spcAft>
                        <a:buClrTx/>
                        <a:buSzTx/>
                        <a:buFontTx/>
                        <a:buNone/>
                      </a:pPr>
                      <a:endParaRPr lang="zh-CN" altLang="en-US" sz="1200">
                        <a:solidFill>
                          <a:schemeClr val="tx1"/>
                        </a:solidFill>
                      </a:endParaRPr>
                    </a:p>
                  </a:txBody>
                  <a:tcPr anchor="ctr">
                    <a:lnL>
                      <a:noFill/>
                    </a:lnL>
                    <a:lnR>
                      <a:noFill/>
                    </a:lnR>
                    <a:lnT>
                      <a:noFill/>
                    </a:lnT>
                    <a:lnB>
                      <a:noFill/>
                    </a:lnB>
                    <a:lnTlToBr>
                      <a:noFill/>
                    </a:lnTlToBr>
                    <a:lnBlToTr>
                      <a:noFill/>
                    </a:lnBlToTr>
                  </a:tcPr>
                </a:tc>
                <a:tc vMerge="1">
                  <a:tcPr anchor="ctr">
                    <a:lnL>
                      <a:noFill/>
                    </a:lnL>
                    <a:lnR>
                      <a:noFill/>
                    </a:lnR>
                    <a:lnT>
                      <a:noFill/>
                    </a:lnT>
                    <a:lnB>
                      <a:noFill/>
                    </a:lnB>
                  </a:tcPr>
                </a:tc>
                <a:tc vMerge="1">
                  <a:tcPr anchor="ctr">
                    <a:lnL>
                      <a:noFill/>
                    </a:lnL>
                    <a:lnR>
                      <a:noFill/>
                    </a:lnR>
                    <a:lnT>
                      <a:noFill/>
                    </a:lnT>
                    <a:lnB>
                      <a:noFill/>
                    </a:lnB>
                  </a:tcPr>
                </a:tc>
                <a:tc vMerge="1">
                  <a:tcPr anchor="ctr">
                    <a:lnL>
                      <a:noFill/>
                    </a:lnL>
                    <a:lnR>
                      <a:noFill/>
                    </a:lnR>
                    <a:lnT>
                      <a:noFill/>
                    </a:lnT>
                    <a:lnB>
                      <a:noFill/>
                    </a:lnB>
                  </a:tcPr>
                </a:tc>
                <a:tc vMerge="1">
                  <a:tcPr anchor="ctr">
                    <a:lnL>
                      <a:noFill/>
                    </a:lnL>
                    <a:lnR>
                      <a:noFill/>
                    </a:lnR>
                    <a:lnT>
                      <a:noFill/>
                    </a:lnT>
                    <a:lnB>
                      <a:noFill/>
                    </a:lnB>
                  </a:tcPr>
                </a:tc>
              </a:tr>
              <a:tr h="0">
                <a:tc vMerge="1">
                  <a:tcPr>
                    <a:lnL>
                      <a:noFill/>
                    </a:lnL>
                    <a:lnR>
                      <a:noFill/>
                    </a:lnR>
                    <a:lnB>
                      <a:noFill/>
                    </a:lnB>
                  </a:tcPr>
                </a:tc>
                <a:tc rowSpan="2">
                  <a:txBody>
                    <a:bodyPr/>
                    <a:p>
                      <a:pPr marL="0" marR="0" lvl="0" indent="0" algn="ctr" defTabSz="914400" rtl="0" eaLnBrk="1" fontAlgn="auto" latinLnBrk="0" hangingPunct="1">
                        <a:lnSpc>
                          <a:spcPct val="100000"/>
                        </a:lnSpc>
                        <a:spcBef>
                          <a:spcPts val="0"/>
                        </a:spcBef>
                        <a:spcAft>
                          <a:spcPts val="0"/>
                        </a:spcAft>
                        <a:buClrTx/>
                        <a:buSzTx/>
                        <a:buFontTx/>
                        <a:buNone/>
                      </a:pPr>
                      <a:r>
                        <a:rPr kumimoji="1" lang="zh-CN" altLang="en-US" sz="1200" b="1" kern="0" noProof="0" dirty="0">
                          <a:ln>
                            <a:noFill/>
                          </a:ln>
                          <a:effectLst/>
                          <a:uLnTx/>
                          <a:uFillTx/>
                          <a:latin typeface="微软雅黑" panose="020B0503020204020204" pitchFamily="34" charset="-122"/>
                          <a:ea typeface="微软雅黑" panose="020B0503020204020204" pitchFamily="34" charset="-122"/>
                          <a:sym typeface="+mn-ea"/>
                        </a:rPr>
                        <a:t>多维分析智能用数</a:t>
                      </a:r>
                      <a:endParaRPr lang="zh-CN" altLang="en-US" sz="1200">
                        <a:solidFill>
                          <a:schemeClr val="tx1"/>
                        </a:solidFill>
                      </a:endParaRPr>
                    </a:p>
                  </a:txBody>
                  <a:tcPr anchor="ctr">
                    <a:lnL>
                      <a:noFill/>
                    </a:lnL>
                    <a:lnR>
                      <a:noFill/>
                    </a:lnR>
                    <a:lnT>
                      <a:noFill/>
                    </a:lnT>
                    <a:lnB>
                      <a:noFill/>
                    </a:lnB>
                    <a:lnTlToBr>
                      <a:noFill/>
                    </a:lnTlToBr>
                    <a:lnBlToTr>
                      <a:noFill/>
                    </a:lnBlToTr>
                  </a:tcPr>
                </a:tc>
                <a:tc vMerge="1">
                  <a:tcPr anchor="ctr">
                    <a:lnL>
                      <a:noFill/>
                    </a:lnL>
                    <a:lnR>
                      <a:noFill/>
                    </a:lnR>
                    <a:lnT>
                      <a:noFill/>
                    </a:lnT>
                    <a:lnB>
                      <a:noFill/>
                    </a:lnB>
                  </a:tcPr>
                </a:tc>
                <a:tc vMerge="1">
                  <a:tcPr anchor="ctr">
                    <a:lnL>
                      <a:noFill/>
                    </a:lnL>
                    <a:lnR>
                      <a:noFill/>
                    </a:lnR>
                    <a:lnT>
                      <a:noFill/>
                    </a:lnT>
                    <a:lnB>
                      <a:noFill/>
                    </a:lnB>
                  </a:tcPr>
                </a:tc>
                <a:tc vMerge="1">
                  <a:tcPr anchor="ctr">
                    <a:lnL>
                      <a:noFill/>
                    </a:lnL>
                    <a:lnR>
                      <a:noFill/>
                    </a:lnR>
                    <a:lnT>
                      <a:noFill/>
                    </a:lnT>
                    <a:lnB>
                      <a:noFill/>
                    </a:lnB>
                  </a:tcPr>
                </a:tc>
                <a:tc vMerge="1">
                  <a:tcPr anchor="ctr">
                    <a:lnL>
                      <a:noFill/>
                    </a:lnL>
                    <a:lnR>
                      <a:noFill/>
                    </a:lnR>
                    <a:lnT>
                      <a:noFill/>
                    </a:lnT>
                    <a:lnB>
                      <a:noFill/>
                    </a:lnB>
                  </a:tcPr>
                </a:tc>
              </a:tr>
              <a:tr h="376555">
                <a:tc vMerge="1">
                  <a:tcPr>
                    <a:lnL>
                      <a:noFill/>
                    </a:lnL>
                    <a:lnR>
                      <a:noFill/>
                    </a:lnR>
                    <a:lnB>
                      <a:noFill/>
                    </a:lnB>
                  </a:tcPr>
                </a:tc>
                <a:tc vMerge="1">
                  <a:tcPr anchor="ctr">
                    <a:lnL>
                      <a:noFill/>
                    </a:lnL>
                    <a:lnR>
                      <a:noFill/>
                    </a:lnR>
                    <a:lnT w="12700">
                      <a:solidFill>
                        <a:srgbClr val="0070C0"/>
                      </a:solidFill>
                      <a:prstDash val="solid"/>
                    </a:lnT>
                    <a:lnB>
                      <a:noFill/>
                    </a:lnB>
                  </a:tcPr>
                </a:tc>
                <a:tc rowSpan="2">
                  <a:txBody>
                    <a:bodyPr/>
                    <a:p>
                      <a:pPr>
                        <a:buNone/>
                      </a:pPr>
                      <a:r>
                        <a:rPr lang="en-US" altLang="zh-CN" sz="1100"/>
                        <a:t>3.</a:t>
                      </a:r>
                      <a:r>
                        <a:rPr lang="en-US" altLang="zh-CN" sz="1100" dirty="0">
                          <a:sym typeface="+mn-ea"/>
                        </a:rPr>
                        <a:t>.xx</a:t>
                      </a:r>
                      <a:endParaRPr lang="zh-CN" altLang="en-US" sz="1100"/>
                    </a:p>
                  </a:txBody>
                  <a:tcPr anchor="ctr">
                    <a:lnL>
                      <a:noFill/>
                    </a:lnL>
                    <a:lnR>
                      <a:noFill/>
                    </a:lnR>
                    <a:lnT>
                      <a:noFill/>
                    </a:lnT>
                    <a:lnB>
                      <a:noFill/>
                    </a:lnB>
                  </a:tcPr>
                </a:tc>
                <a:tc rowSpan="2">
                  <a:txBody>
                    <a:bodyPr/>
                    <a:p>
                      <a:pPr>
                        <a:buNone/>
                      </a:pPr>
                      <a:r>
                        <a:rPr lang="zh-CN" altLang="en-US" sz="1100">
                          <a:sym typeface="+mn-ea"/>
                        </a:rPr>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a:noFill/>
                    </a:lnT>
                    <a:lnB>
                      <a:noFill/>
                    </a:lnB>
                  </a:tcPr>
                </a:tc>
                <a:tc rowSpan="2">
                  <a:txBody>
                    <a:bodyPr/>
                    <a:p>
                      <a:pPr>
                        <a:buNone/>
                      </a:pPr>
                      <a:r>
                        <a:rPr lang="en-US" altLang="zh-CN" sz="1100">
                          <a:sym typeface="+mn-ea"/>
                        </a:rPr>
                        <a:t>31</a:t>
                      </a:r>
                      <a:r>
                        <a:rPr lang="zh-CN" altLang="en-US" sz="1100">
                          <a:sym typeface="+mn-ea"/>
                        </a:rPr>
                        <a:t>省公司</a:t>
                      </a:r>
                      <a:r>
                        <a:rPr lang="zh-CN" altLang="en-US" sz="1100">
                          <a:sym typeface="+mn-ea"/>
                        </a:rPr>
                        <a:t>、专业公司</a:t>
                      </a:r>
                      <a:endParaRPr lang="zh-CN" altLang="en-US" sz="1100"/>
                    </a:p>
                  </a:txBody>
                  <a:tcPr anchor="ctr">
                    <a:lnL>
                      <a:noFill/>
                    </a:lnL>
                    <a:lnR>
                      <a:noFill/>
                    </a:lnR>
                    <a:lnT>
                      <a:noFill/>
                    </a:lnT>
                    <a:lnB>
                      <a:noFill/>
                    </a:lnB>
                  </a:tcPr>
                </a:tc>
                <a:tc rowSpan="2">
                  <a:txBody>
                    <a:bodyPr/>
                    <a:p>
                      <a:pPr>
                        <a:buNone/>
                      </a:pPr>
                      <a:r>
                        <a:rPr lang="en-US" altLang="zh-CN" sz="1100" dirty="0">
                          <a:sym typeface="+mn-ea"/>
                        </a:rPr>
                        <a:t>.xx</a:t>
                      </a:r>
                      <a:endParaRPr lang="zh-CN" altLang="en-US" sz="1100"/>
                    </a:p>
                  </a:txBody>
                  <a:tcPr anchor="ctr">
                    <a:lnL>
                      <a:noFill/>
                    </a:lnL>
                    <a:lnR>
                      <a:noFill/>
                    </a:lnR>
                    <a:lnT>
                      <a:noFill/>
                    </a:lnT>
                    <a:lnB>
                      <a:noFill/>
                    </a:lnB>
                  </a:tcPr>
                </a:tc>
              </a:tr>
              <a:tr h="0">
                <a:tc vMerge="1">
                  <a:tcPr>
                    <a:lnL>
                      <a:noFill/>
                    </a:lnL>
                    <a:lnR>
                      <a:noFill/>
                    </a:lnR>
                    <a:lnB>
                      <a:noFill/>
                    </a:lnB>
                  </a:tcPr>
                </a:tc>
                <a:tc rowSpan="2">
                  <a:txBody>
                    <a:bodyPr/>
                    <a:p>
                      <a:pPr marL="0" marR="0" lvl="0" indent="0" algn="ctr" defTabSz="914400" rtl="0" eaLnBrk="1" fontAlgn="auto" latinLnBrk="0" hangingPunct="1">
                        <a:lnSpc>
                          <a:spcPct val="100000"/>
                        </a:lnSpc>
                        <a:spcBef>
                          <a:spcPts val="0"/>
                        </a:spcBef>
                        <a:spcAft>
                          <a:spcPts val="0"/>
                        </a:spcAft>
                        <a:buClrTx/>
                        <a:buSzTx/>
                        <a:buFontTx/>
                        <a:buNone/>
                      </a:pPr>
                      <a:endParaRPr lang="zh-CN" altLang="en-US" sz="1200">
                        <a:solidFill>
                          <a:schemeClr val="tx1"/>
                        </a:solidFill>
                      </a:endParaRPr>
                    </a:p>
                  </a:txBody>
                  <a:tcPr anchor="ctr">
                    <a:lnL>
                      <a:noFill/>
                    </a:lnL>
                    <a:lnR>
                      <a:noFill/>
                    </a:lnR>
                    <a:lnT>
                      <a:noFill/>
                    </a:lnT>
                    <a:lnB>
                      <a:noFill/>
                    </a:lnB>
                    <a:lnTlToBr>
                      <a:noFill/>
                    </a:lnTlToBr>
                    <a:lnBlToTr>
                      <a:noFill/>
                    </a:lnBlToTr>
                  </a:tcPr>
                </a:tc>
                <a:tc vMerge="1">
                  <a:tcPr anchor="ctr">
                    <a:lnL>
                      <a:noFill/>
                    </a:lnL>
                    <a:lnR>
                      <a:noFill/>
                    </a:lnR>
                    <a:lnT>
                      <a:noFill/>
                    </a:lnT>
                    <a:lnB>
                      <a:noFill/>
                    </a:lnB>
                  </a:tcPr>
                </a:tc>
                <a:tc vMerge="1">
                  <a:tcPr anchor="ctr">
                    <a:lnL>
                      <a:noFill/>
                    </a:lnL>
                    <a:lnR>
                      <a:noFill/>
                    </a:lnR>
                    <a:lnT>
                      <a:noFill/>
                    </a:lnT>
                    <a:lnB>
                      <a:noFill/>
                    </a:lnB>
                  </a:tcPr>
                </a:tc>
                <a:tc vMerge="1">
                  <a:tcPr anchor="ctr">
                    <a:lnL>
                      <a:noFill/>
                    </a:lnL>
                    <a:lnR>
                      <a:noFill/>
                    </a:lnR>
                    <a:lnT>
                      <a:noFill/>
                    </a:lnT>
                    <a:lnB>
                      <a:noFill/>
                    </a:lnB>
                  </a:tcPr>
                </a:tc>
                <a:tc vMerge="1">
                  <a:tcPr anchor="ctr">
                    <a:lnL>
                      <a:noFill/>
                    </a:lnL>
                    <a:lnR>
                      <a:noFill/>
                    </a:lnR>
                    <a:lnT>
                      <a:noFill/>
                    </a:lnT>
                    <a:lnB>
                      <a:noFill/>
                    </a:lnB>
                  </a:tcPr>
                </a:tc>
              </a:tr>
              <a:tr h="410210">
                <a:tc vMerge="1">
                  <a:tcPr>
                    <a:lnL>
                      <a:noFill/>
                    </a:lnL>
                    <a:lnR>
                      <a:noFill/>
                    </a:lnR>
                    <a:lnB>
                      <a:noFill/>
                    </a:lnB>
                  </a:tcPr>
                </a:tc>
                <a:tc vMerge="1">
                  <a:tcPr anchor="ctr">
                    <a:lnL>
                      <a:noFill/>
                    </a:lnL>
                    <a:lnR>
                      <a:noFill/>
                    </a:lnR>
                    <a:lnT w="12700">
                      <a:solidFill>
                        <a:srgbClr val="0070C0"/>
                      </a:solidFill>
                      <a:prstDash val="solid"/>
                    </a:lnT>
                    <a:lnB>
                      <a:noFill/>
                    </a:lnB>
                  </a:tcPr>
                </a:tc>
                <a:tc rowSpan="2">
                  <a:txBody>
                    <a:bodyPr/>
                    <a:p>
                      <a:pPr>
                        <a:buNone/>
                      </a:pPr>
                      <a:r>
                        <a:rPr lang="en-US" altLang="zh-CN" sz="1100"/>
                        <a:t>4.</a:t>
                      </a:r>
                      <a:r>
                        <a:rPr lang="en-US" altLang="zh-CN" sz="1100" dirty="0">
                          <a:sym typeface="+mn-ea"/>
                        </a:rPr>
                        <a:t>.xx</a:t>
                      </a:r>
                      <a:endParaRPr lang="zh-CN" altLang="en-US" sz="1100"/>
                    </a:p>
                  </a:txBody>
                  <a:tcPr anchor="ctr">
                    <a:lnL>
                      <a:noFill/>
                    </a:lnL>
                    <a:lnR>
                      <a:noFill/>
                    </a:lnR>
                    <a:lnT>
                      <a:noFill/>
                    </a:lnT>
                    <a:lnB>
                      <a:noFill/>
                    </a:lnB>
                  </a:tcPr>
                </a:tc>
                <a:tc rowSpan="2">
                  <a:txBody>
                    <a:bodyPr/>
                    <a:p>
                      <a:pPr>
                        <a:buNone/>
                      </a:pPr>
                      <a:r>
                        <a:rPr lang="zh-CN" altLang="en-US" sz="1100">
                          <a:sym typeface="+mn-ea"/>
                        </a:rPr>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a:noFill/>
                    </a:lnT>
                    <a:lnB>
                      <a:noFill/>
                    </a:lnB>
                  </a:tcPr>
                </a:tc>
                <a:tc rowSpan="2">
                  <a:txBody>
                    <a:bodyPr/>
                    <a:p>
                      <a:pPr>
                        <a:buNone/>
                      </a:pPr>
                      <a:r>
                        <a:rPr lang="en-US" altLang="zh-CN" sz="1100">
                          <a:sym typeface="+mn-ea"/>
                        </a:rPr>
                        <a:t>31</a:t>
                      </a:r>
                      <a:r>
                        <a:rPr lang="zh-CN" altLang="en-US" sz="1100">
                          <a:sym typeface="+mn-ea"/>
                        </a:rPr>
                        <a:t>省公司</a:t>
                      </a:r>
                      <a:r>
                        <a:rPr lang="zh-CN" altLang="en-US" sz="1100">
                          <a:sym typeface="+mn-ea"/>
                        </a:rPr>
                        <a:t>、专业公司</a:t>
                      </a:r>
                      <a:endParaRPr lang="zh-CN" altLang="en-US" sz="1100"/>
                    </a:p>
                  </a:txBody>
                  <a:tcPr anchor="ctr">
                    <a:lnL>
                      <a:noFill/>
                    </a:lnL>
                    <a:lnR>
                      <a:noFill/>
                    </a:lnR>
                    <a:lnT>
                      <a:noFill/>
                    </a:lnT>
                    <a:lnB>
                      <a:noFill/>
                    </a:lnB>
                  </a:tcPr>
                </a:tc>
                <a:tc rowSpan="2">
                  <a:txBody>
                    <a:bodyPr/>
                    <a:p>
                      <a:pPr>
                        <a:buNone/>
                      </a:pPr>
                      <a:r>
                        <a:rPr lang="en-US" altLang="zh-CN" sz="1100" dirty="0">
                          <a:sym typeface="+mn-ea"/>
                        </a:rPr>
                        <a:t>.xx</a:t>
                      </a:r>
                      <a:endParaRPr lang="zh-CN" altLang="en-US" sz="1100"/>
                    </a:p>
                  </a:txBody>
                  <a:tcPr anchor="ctr">
                    <a:lnL>
                      <a:noFill/>
                    </a:lnL>
                    <a:lnR>
                      <a:noFill/>
                    </a:lnR>
                    <a:lnT>
                      <a:noFill/>
                    </a:lnT>
                    <a:lnB>
                      <a:noFill/>
                    </a:lnB>
                  </a:tcPr>
                </a:tc>
              </a:tr>
              <a:tr h="0">
                <a:tc vMerge="1">
                  <a:tcPr>
                    <a:lnL>
                      <a:noFill/>
                    </a:lnL>
                    <a:lnR>
                      <a:noFill/>
                    </a:lnR>
                    <a:lnB>
                      <a:noFill/>
                    </a:lnB>
                  </a:tcPr>
                </a:tc>
                <a:tc rowSpan="2">
                  <a:txBody>
                    <a:bodyPr/>
                    <a:p>
                      <a:pPr marL="0" marR="0" lvl="0" indent="0" algn="ctr" defTabSz="914400" rtl="0" eaLnBrk="1" fontAlgn="auto" latinLnBrk="0" hangingPunct="1">
                        <a:lnSpc>
                          <a:spcPct val="100000"/>
                        </a:lnSpc>
                        <a:spcBef>
                          <a:spcPts val="0"/>
                        </a:spcBef>
                        <a:spcAft>
                          <a:spcPts val="0"/>
                        </a:spcAft>
                        <a:buClrTx/>
                        <a:buSzTx/>
                        <a:buFontTx/>
                        <a:buNone/>
                      </a:pPr>
                      <a:endParaRPr lang="zh-CN" altLang="en-US" sz="1200">
                        <a:solidFill>
                          <a:schemeClr val="tx1"/>
                        </a:solidFill>
                      </a:endParaRPr>
                    </a:p>
                  </a:txBody>
                  <a:tcPr anchor="ctr">
                    <a:lnL>
                      <a:noFill/>
                    </a:lnL>
                    <a:lnR>
                      <a:noFill/>
                    </a:lnR>
                    <a:lnT>
                      <a:noFill/>
                    </a:lnT>
                    <a:lnB w="12700">
                      <a:solidFill>
                        <a:srgbClr val="0070C0"/>
                      </a:solidFill>
                      <a:prstDash val="solid"/>
                    </a:lnB>
                  </a:tcPr>
                </a:tc>
                <a:tc vMerge="1">
                  <a:tcPr anchor="ctr">
                    <a:lnL>
                      <a:noFill/>
                    </a:lnL>
                    <a:lnR>
                      <a:noFill/>
                    </a:lnR>
                    <a:lnT>
                      <a:noFill/>
                    </a:lnT>
                    <a:lnB>
                      <a:noFill/>
                    </a:lnB>
                  </a:tcPr>
                </a:tc>
                <a:tc vMerge="1">
                  <a:tcPr anchor="ctr">
                    <a:lnL>
                      <a:noFill/>
                    </a:lnL>
                    <a:lnR>
                      <a:noFill/>
                    </a:lnR>
                    <a:lnT>
                      <a:noFill/>
                    </a:lnT>
                    <a:lnB>
                      <a:noFill/>
                    </a:lnB>
                  </a:tcPr>
                </a:tc>
                <a:tc vMerge="1">
                  <a:tcPr anchor="ctr">
                    <a:lnL>
                      <a:noFill/>
                    </a:lnL>
                    <a:lnR>
                      <a:noFill/>
                    </a:lnR>
                    <a:lnT>
                      <a:noFill/>
                    </a:lnT>
                    <a:lnB>
                      <a:noFill/>
                    </a:lnB>
                  </a:tcPr>
                </a:tc>
                <a:tc vMerge="1">
                  <a:tcPr anchor="ctr">
                    <a:lnL>
                      <a:noFill/>
                    </a:lnL>
                    <a:lnR>
                      <a:noFill/>
                    </a:lnR>
                    <a:lnT>
                      <a:noFill/>
                    </a:lnT>
                    <a:lnB>
                      <a:noFill/>
                    </a:lnB>
                  </a:tcPr>
                </a:tc>
              </a:tr>
              <a:tr h="443865">
                <a:tc vMerge="1">
                  <a:tcPr>
                    <a:lnL>
                      <a:noFill/>
                    </a:lnL>
                    <a:lnR>
                      <a:noFill/>
                    </a:lnR>
                    <a:lnB w="12700">
                      <a:solidFill>
                        <a:srgbClr val="0070C0"/>
                      </a:solidFill>
                      <a:prstDash val="solid"/>
                    </a:lnB>
                  </a:tcPr>
                </a:tc>
                <a:tc vMerge="1">
                  <a:tcPr anchor="ctr">
                    <a:lnL>
                      <a:noFill/>
                    </a:lnL>
                    <a:lnR>
                      <a:noFill/>
                    </a:lnR>
                    <a:lnT w="12700">
                      <a:solidFill>
                        <a:srgbClr val="0070C0"/>
                      </a:solidFill>
                      <a:prstDash val="solid"/>
                    </a:lnT>
                    <a:lnB w="12700">
                      <a:solidFill>
                        <a:srgbClr val="0070C0"/>
                      </a:solidFill>
                      <a:prstDash val="solid"/>
                    </a:lnB>
                  </a:tcPr>
                </a:tc>
                <a:tc>
                  <a:txBody>
                    <a:bodyPr/>
                    <a:p>
                      <a:pPr>
                        <a:buNone/>
                      </a:pPr>
                      <a:r>
                        <a:rPr lang="en-US" altLang="zh-CN" sz="1100">
                          <a:solidFill>
                            <a:schemeClr val="tx1"/>
                          </a:solidFill>
                          <a:sym typeface="+mn-ea"/>
                        </a:rPr>
                        <a:t>5.</a:t>
                      </a:r>
                      <a:r>
                        <a:rPr lang="en-US" altLang="zh-CN" sz="1100" dirty="0">
                          <a:sym typeface="+mn-ea"/>
                        </a:rPr>
                        <a:t>.xx</a:t>
                      </a:r>
                      <a:endParaRPr lang="zh-CN" altLang="en-US" sz="1100">
                        <a:solidFill>
                          <a:schemeClr val="tx1"/>
                        </a:solidFill>
                        <a:sym typeface="+mn-ea"/>
                      </a:endParaRPr>
                    </a:p>
                  </a:txBody>
                  <a:tcPr anchor="ctr">
                    <a:lnL>
                      <a:noFill/>
                    </a:lnL>
                    <a:lnR>
                      <a:noFill/>
                    </a:lnR>
                    <a:lnT>
                      <a:noFill/>
                    </a:lnT>
                    <a:lnB w="12700">
                      <a:solidFill>
                        <a:srgbClr val="0070C0"/>
                      </a:solidFill>
                      <a:prstDash val="solid"/>
                    </a:lnB>
                  </a:tcPr>
                </a:tc>
                <a:tc>
                  <a:txBody>
                    <a:bodyPr/>
                    <a:p>
                      <a:pPr>
                        <a:buNone/>
                      </a:pPr>
                      <a:r>
                        <a:rPr lang="zh-CN" altLang="en-US" sz="1100">
                          <a:solidFill>
                            <a:schemeClr val="tx1"/>
                          </a:solidFill>
                          <a:sym typeface="+mn-ea"/>
                        </a:rPr>
                        <a:t>市场经营部</a:t>
                      </a:r>
                      <a:endParaRPr lang="zh-CN" altLang="en-US" sz="1100">
                        <a:solidFill>
                          <a:schemeClr val="tx1"/>
                        </a:solidFill>
                        <a:sym typeface="+mn-ea"/>
                      </a:endParaRPr>
                    </a:p>
                  </a:txBody>
                  <a:tcPr anchor="ctr">
                    <a:lnL>
                      <a:noFill/>
                    </a:lnL>
                    <a:lnR>
                      <a:noFill/>
                    </a:lnR>
                    <a:lnT>
                      <a:noFill/>
                    </a:lnT>
                    <a:lnB w="12700">
                      <a:solidFill>
                        <a:srgbClr val="0070C0"/>
                      </a:solidFill>
                      <a:prstDash val="solid"/>
                    </a:lnB>
                  </a:tcPr>
                </a:tc>
                <a:tc>
                  <a:txBody>
                    <a:bodyPr/>
                    <a:p>
                      <a:pPr>
                        <a:buNone/>
                      </a:pPr>
                      <a:r>
                        <a:rPr lang="en-US" altLang="zh-CN" sz="1100">
                          <a:solidFill>
                            <a:schemeClr val="tx1"/>
                          </a:solidFill>
                        </a:rPr>
                        <a:t>31</a:t>
                      </a:r>
                      <a:r>
                        <a:rPr lang="zh-CN" altLang="en-US" sz="1100">
                          <a:solidFill>
                            <a:schemeClr val="tx1"/>
                          </a:solidFill>
                        </a:rPr>
                        <a:t>省公司</a:t>
                      </a:r>
                      <a:r>
                        <a:rPr lang="zh-CN" altLang="en-US" sz="1100">
                          <a:solidFill>
                            <a:schemeClr val="tx1"/>
                          </a:solidFill>
                          <a:sym typeface="+mn-ea"/>
                        </a:rPr>
                        <a:t>、专业公司</a:t>
                      </a:r>
                      <a:endParaRPr lang="zh-CN" altLang="en-US" sz="1100">
                        <a:solidFill>
                          <a:schemeClr val="tx1"/>
                        </a:solidFill>
                        <a:sym typeface="+mn-ea"/>
                      </a:endParaRPr>
                    </a:p>
                  </a:txBody>
                  <a:tcPr anchor="ctr">
                    <a:lnL>
                      <a:noFill/>
                    </a:lnL>
                    <a:lnR>
                      <a:noFill/>
                    </a:lnR>
                    <a:lnT>
                      <a:noFill/>
                    </a:lnT>
                    <a:lnB w="12700">
                      <a:solidFill>
                        <a:srgbClr val="0070C0"/>
                      </a:solidFill>
                      <a:prstDash val="solid"/>
                    </a:lnB>
                  </a:tcPr>
                </a:tc>
                <a:tc>
                  <a:txBody>
                    <a:bodyPr/>
                    <a:p>
                      <a:pPr>
                        <a:buNone/>
                      </a:pPr>
                      <a:r>
                        <a:rPr lang="en-US" altLang="zh-CN" sz="1100" dirty="0">
                          <a:sym typeface="+mn-ea"/>
                        </a:rPr>
                        <a:t>.xx</a:t>
                      </a:r>
                      <a:endParaRPr kumimoji="1" lang="en-US" altLang="zh-CN" sz="1100" dirty="0">
                        <a:solidFill>
                          <a:schemeClr val="tx1"/>
                        </a:solidFill>
                      </a:endParaRPr>
                    </a:p>
                  </a:txBody>
                  <a:tcPr anchor="ctr">
                    <a:lnL>
                      <a:noFill/>
                    </a:lnL>
                    <a:lnR>
                      <a:noFill/>
                    </a:lnR>
                    <a:lnT>
                      <a:noFill/>
                    </a:lnT>
                    <a:lnB w="12700">
                      <a:solidFill>
                        <a:srgbClr val="0070C0"/>
                      </a:solidFill>
                      <a:prstDash val="solid"/>
                    </a:lnB>
                  </a:tcPr>
                </a:tc>
              </a:tr>
            </a:tbl>
          </a:graphicData>
        </a:graphic>
      </p:graphicFrame>
      <p:sp>
        <p:nvSpPr>
          <p:cNvPr id="12" name="文本框 11"/>
          <p:cNvSpPr txBox="1"/>
          <p:nvPr/>
        </p:nvSpPr>
        <p:spPr>
          <a:xfrm>
            <a:off x="7599045" y="274320"/>
            <a:ext cx="3748405" cy="1266190"/>
          </a:xfrm>
          <a:prstGeom prst="rect">
            <a:avLst/>
          </a:prstGeom>
          <a:solidFill>
            <a:srgbClr val="C00000"/>
          </a:solidFill>
        </p:spPr>
        <p:txBody>
          <a:bodyPr wrap="square" rtlCol="0">
            <a:noAutofit/>
          </a:bodyPr>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请每个举措补充一页任务书</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846" name="标题 1"/>
          <p:cNvSpPr>
            <a:spLocks noGrp="1"/>
          </p:cNvSpPr>
          <p:nvPr>
            <p:ph type="title"/>
          </p:nvPr>
        </p:nvSpPr>
        <p:spPr/>
        <p:txBody>
          <a:bodyPr/>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任务书|</a:t>
            </a:r>
            <a:r>
              <a:rPr lang="zh-CN" altLang="en-US">
                <a:sym typeface="+mn-ea"/>
              </a:rPr>
              <a:t>市场领域专项行动计划</a:t>
            </a:r>
            <a:endParaRPr lang="zh-CN" altLang="en-US" dirty="0"/>
          </a:p>
        </p:txBody>
      </p:sp>
      <p:graphicFrame>
        <p:nvGraphicFramePr>
          <p:cNvPr id="4194304" name="表格 9"/>
          <p:cNvGraphicFramePr/>
          <p:nvPr>
            <p:custDataLst>
              <p:tags r:id="rId1"/>
            </p:custDataLst>
          </p:nvPr>
        </p:nvGraphicFramePr>
        <p:xfrm>
          <a:off x="375920" y="1044575"/>
          <a:ext cx="11319510" cy="5198745"/>
        </p:xfrm>
        <a:graphic>
          <a:graphicData uri="http://schemas.openxmlformats.org/drawingml/2006/table">
            <a:tbl>
              <a:tblPr firstRow="1" bandRow="1">
                <a:tableStyleId>{69012ECD-51FC-41F1-AA8D-1B2483CD663E}</a:tableStyleId>
              </a:tblPr>
              <a:tblGrid>
                <a:gridCol w="1012825"/>
                <a:gridCol w="1006475"/>
                <a:gridCol w="2675255"/>
                <a:gridCol w="1223645"/>
                <a:gridCol w="2467610"/>
                <a:gridCol w="2933700"/>
              </a:tblGrid>
              <a:tr h="356870">
                <a:tc gridSpan="6">
                  <a:txBody>
                    <a:bodyPr/>
                    <a:p>
                      <a:pPr algn="ctr">
                        <a:buNone/>
                      </a:pPr>
                      <a:r>
                        <a:rPr lang="zh-CN" altLang="en-US" sz="1600" b="1">
                          <a:solidFill>
                            <a:schemeClr val="tx1"/>
                          </a:solidFill>
                        </a:rPr>
                        <a:t>任务书</a:t>
                      </a:r>
                      <a:endParaRPr lang="zh-CN" altLang="en-US" sz="1600" b="1">
                        <a:solidFill>
                          <a:schemeClr val="tx1"/>
                        </a:solidFill>
                      </a:endParaRPr>
                    </a:p>
                  </a:txBody>
                  <a:tcPr anchor="ctr">
                    <a:lnL>
                      <a:noFill/>
                    </a:lnL>
                    <a:lnR>
                      <a:noFill/>
                    </a:lnR>
                    <a:lnT w="12700">
                      <a:solidFill>
                        <a:srgbClr val="0070BF"/>
                      </a:solidFill>
                      <a:prstDash val="solid"/>
                    </a:lnT>
                    <a:lnB w="12700">
                      <a:solidFill>
                        <a:srgbClr val="0070BF"/>
                      </a:solidFill>
                      <a:prstDash val="solid"/>
                    </a:lnB>
                    <a:lnTlToBr>
                      <a:noFill/>
                    </a:lnTlToBr>
                    <a:lnBlToTr>
                      <a:noFill/>
                    </a:lnBlToTr>
                    <a:noFill/>
                  </a:tcPr>
                </a:tc>
                <a:tc hMerge="1">
                  <a:tcPr anchor="ctr">
                    <a:lnL>
                      <a:noFill/>
                    </a:lnL>
                    <a:lnR>
                      <a:noFill/>
                    </a:lnR>
                    <a:lnT w="12700">
                      <a:solidFill>
                        <a:srgbClr val="0070BF"/>
                      </a:solidFill>
                      <a:prstDash val="solid"/>
                    </a:lnT>
                    <a:lnB w="12700">
                      <a:solidFill>
                        <a:srgbClr val="0070BF"/>
                      </a:solidFill>
                      <a:prstDash val="solid"/>
                    </a:lnB>
                    <a:lnTlToBr>
                      <a:noFill/>
                    </a:lnTlToBr>
                    <a:lnBlToTr>
                      <a:noFill/>
                    </a:lnBlToTr>
                    <a:noFill/>
                  </a:tcPr>
                </a:tc>
                <a:tc hMerge="1">
                  <a:tcPr anchor="ctr">
                    <a:lnL>
                      <a:noFill/>
                    </a:lnL>
                    <a:lnR>
                      <a:noFill/>
                    </a:lnR>
                    <a:lnT w="12700">
                      <a:solidFill>
                        <a:srgbClr val="0070BF"/>
                      </a:solidFill>
                      <a:prstDash val="solid"/>
                    </a:lnT>
                    <a:lnB w="12700">
                      <a:solidFill>
                        <a:srgbClr val="0070BF"/>
                      </a:solidFill>
                      <a:prstDash val="solid"/>
                    </a:lnB>
                    <a:lnTlToBr>
                      <a:noFill/>
                    </a:lnTlToBr>
                    <a:lnBlToTr>
                      <a:noFill/>
                    </a:lnBlToTr>
                    <a:noFill/>
                  </a:tcPr>
                </a:tc>
                <a:tc hMerge="1">
                  <a:tcPr anchor="ctr">
                    <a:lnL>
                      <a:noFill/>
                    </a:lnL>
                    <a:lnR>
                      <a:noFill/>
                    </a:lnR>
                    <a:lnT w="12700">
                      <a:solidFill>
                        <a:srgbClr val="0070BF"/>
                      </a:solidFill>
                      <a:prstDash val="solid"/>
                    </a:lnT>
                    <a:lnB w="12700">
                      <a:solidFill>
                        <a:srgbClr val="0070BF"/>
                      </a:solidFill>
                      <a:prstDash val="solid"/>
                    </a:lnB>
                    <a:lnTlToBr>
                      <a:noFill/>
                    </a:lnTlToBr>
                    <a:lnBlToTr>
                      <a:noFill/>
                    </a:lnBlToTr>
                    <a:noFill/>
                  </a:tcPr>
                </a:tc>
                <a:tc hMerge="1">
                  <a:tcPr anchor="ctr">
                    <a:lnL>
                      <a:noFill/>
                    </a:lnL>
                    <a:lnR>
                      <a:noFill/>
                    </a:lnR>
                    <a:lnT w="12700">
                      <a:solidFill>
                        <a:srgbClr val="0070BF"/>
                      </a:solidFill>
                      <a:prstDash val="solid"/>
                    </a:lnT>
                    <a:lnB w="12700">
                      <a:solidFill>
                        <a:srgbClr val="0070BF"/>
                      </a:solidFill>
                      <a:prstDash val="solid"/>
                    </a:lnB>
                    <a:lnTlToBr>
                      <a:noFill/>
                    </a:lnTlToBr>
                    <a:lnBlToTr>
                      <a:noFill/>
                    </a:lnBlToTr>
                    <a:noFill/>
                  </a:tcPr>
                </a:tc>
                <a:tc hMerge="1">
                  <a:tcPr anchor="ctr">
                    <a:lnL>
                      <a:noFill/>
                    </a:lnL>
                    <a:lnR>
                      <a:noFill/>
                    </a:lnR>
                    <a:lnT w="12700">
                      <a:solidFill>
                        <a:srgbClr val="0070BF"/>
                      </a:solidFill>
                      <a:prstDash val="solid"/>
                    </a:lnT>
                    <a:lnB w="12700">
                      <a:solidFill>
                        <a:srgbClr val="0070BF"/>
                      </a:solidFill>
                      <a:prstDash val="solid"/>
                    </a:lnB>
                    <a:lnTlToBr>
                      <a:noFill/>
                    </a:lnTlToBr>
                    <a:lnBlToTr>
                      <a:noFill/>
                    </a:lnBlToTr>
                    <a:noFill/>
                  </a:tcPr>
                </a:tc>
              </a:tr>
              <a:tr h="306705">
                <a:tc>
                  <a:txBody>
                    <a:bodyPr/>
                    <a:p>
                      <a:pPr algn="ctr">
                        <a:buNone/>
                      </a:pPr>
                      <a:r>
                        <a:rPr lang="zh-CN" altLang="en-US" sz="1200" b="1">
                          <a:solidFill>
                            <a:schemeClr val="tx1"/>
                          </a:solidFill>
                        </a:rPr>
                        <a:t>路径</a:t>
                      </a:r>
                      <a:endParaRPr lang="zh-CN" altLang="en-US" sz="1200" b="1">
                        <a:solidFill>
                          <a:schemeClr val="tx1"/>
                        </a:solidFill>
                      </a:endParaRPr>
                    </a:p>
                  </a:txBody>
                  <a:tcPr anchor="ctr">
                    <a:lnL>
                      <a:noFill/>
                    </a:lnL>
                    <a:lnT w="12700">
                      <a:solidFill>
                        <a:srgbClr val="0070BF"/>
                      </a:solidFill>
                      <a:prstDash val="solid"/>
                    </a:lnT>
                    <a:lnB w="12700">
                      <a:solidFill>
                        <a:srgbClr val="0070BF"/>
                      </a:solidFill>
                      <a:prstDash val="solid"/>
                    </a:lnB>
                    <a:solidFill>
                      <a:srgbClr val="CCE2F2"/>
                    </a:solidFill>
                  </a:tcPr>
                </a:tc>
                <a:tc>
                  <a:txBody>
                    <a:bodyPr/>
                    <a:p>
                      <a:pPr algn="ctr">
                        <a:buNone/>
                      </a:pPr>
                      <a:r>
                        <a:rPr lang="zh-CN" altLang="en-US" sz="1200" b="1">
                          <a:solidFill>
                            <a:schemeClr val="tx1"/>
                          </a:solidFill>
                        </a:rPr>
                        <a:t>任务</a:t>
                      </a:r>
                      <a:endParaRPr lang="zh-CN" altLang="en-US" sz="1200" b="1">
                        <a:solidFill>
                          <a:schemeClr val="tx1"/>
                        </a:solidFill>
                      </a:endParaRPr>
                    </a:p>
                  </a:txBody>
                  <a:tcPr anchor="ctr">
                    <a:lnT w="12700">
                      <a:solidFill>
                        <a:srgbClr val="0070BF"/>
                      </a:solidFill>
                      <a:prstDash val="solid"/>
                    </a:lnT>
                    <a:lnB w="12700">
                      <a:solidFill>
                        <a:srgbClr val="0070BF"/>
                      </a:solidFill>
                      <a:prstDash val="solid"/>
                    </a:lnB>
                    <a:solidFill>
                      <a:srgbClr val="CCE2F2"/>
                    </a:solidFill>
                  </a:tcPr>
                </a:tc>
                <a:tc>
                  <a:txBody>
                    <a:bodyPr/>
                    <a:p>
                      <a:pPr algn="ctr">
                        <a:buNone/>
                      </a:pPr>
                      <a:r>
                        <a:rPr lang="zh-CN" altLang="en-US" sz="1200" b="1">
                          <a:solidFill>
                            <a:schemeClr val="tx1"/>
                          </a:solidFill>
                        </a:rPr>
                        <a:t>举措</a:t>
                      </a:r>
                      <a:endParaRPr lang="zh-CN" altLang="en-US" sz="1200" b="1">
                        <a:solidFill>
                          <a:schemeClr val="tx1"/>
                        </a:solidFill>
                      </a:endParaRPr>
                    </a:p>
                  </a:txBody>
                  <a:tcPr anchor="ctr">
                    <a:lnT w="12700">
                      <a:solidFill>
                        <a:srgbClr val="0070BF"/>
                      </a:solidFill>
                      <a:prstDash val="solid"/>
                    </a:lnT>
                    <a:lnB w="12700">
                      <a:solidFill>
                        <a:srgbClr val="0070BF"/>
                      </a:solidFill>
                      <a:prstDash val="solid"/>
                    </a:lnB>
                    <a:solidFill>
                      <a:srgbClr val="CCE2F2"/>
                    </a:solidFill>
                  </a:tcPr>
                </a:tc>
                <a:tc>
                  <a:txBody>
                    <a:bodyPr/>
                    <a:p>
                      <a:pPr algn="ctr">
                        <a:buNone/>
                      </a:pPr>
                      <a:r>
                        <a:rPr lang="zh-CN" altLang="en-US" sz="1200" b="1">
                          <a:solidFill>
                            <a:schemeClr val="tx1"/>
                          </a:solidFill>
                        </a:rPr>
                        <a:t>牵头单位</a:t>
                      </a:r>
                      <a:endParaRPr lang="zh-CN" altLang="en-US" sz="1200" b="1">
                        <a:solidFill>
                          <a:schemeClr val="tx1"/>
                        </a:solidFill>
                      </a:endParaRPr>
                    </a:p>
                  </a:txBody>
                  <a:tcPr anchor="ctr">
                    <a:lnT w="12700">
                      <a:solidFill>
                        <a:srgbClr val="0070BF"/>
                      </a:solidFill>
                      <a:prstDash val="solid"/>
                    </a:lnT>
                    <a:lnB w="12700">
                      <a:solidFill>
                        <a:srgbClr val="0070BF"/>
                      </a:solidFill>
                      <a:prstDash val="solid"/>
                    </a:lnB>
                    <a:solidFill>
                      <a:srgbClr val="CCE2F2"/>
                    </a:solidFill>
                  </a:tcPr>
                </a:tc>
                <a:tc>
                  <a:txBody>
                    <a:bodyPr/>
                    <a:p>
                      <a:pPr algn="ctr">
                        <a:buNone/>
                      </a:pPr>
                      <a:r>
                        <a:rPr lang="zh-CN" altLang="en-US" sz="1200" b="1">
                          <a:solidFill>
                            <a:schemeClr val="tx1"/>
                          </a:solidFill>
                        </a:rPr>
                        <a:t>配合单位</a:t>
                      </a:r>
                      <a:endParaRPr lang="zh-CN" altLang="en-US" sz="1200" b="1">
                        <a:solidFill>
                          <a:schemeClr val="tx1"/>
                        </a:solidFill>
                      </a:endParaRPr>
                    </a:p>
                  </a:txBody>
                  <a:tcPr anchor="ctr">
                    <a:lnT w="12700">
                      <a:solidFill>
                        <a:srgbClr val="0070BF"/>
                      </a:solidFill>
                      <a:prstDash val="solid"/>
                    </a:lnT>
                    <a:lnB w="12700">
                      <a:solidFill>
                        <a:srgbClr val="0070BF"/>
                      </a:solidFill>
                      <a:prstDash val="solid"/>
                    </a:lnB>
                    <a:solidFill>
                      <a:srgbClr val="CCE2F2"/>
                    </a:solidFill>
                  </a:tcPr>
                </a:tc>
                <a:tc>
                  <a:txBody>
                    <a:bodyPr/>
                    <a:p>
                      <a:pPr algn="ctr">
                        <a:buNone/>
                      </a:pPr>
                      <a:r>
                        <a:rPr lang="en-US" altLang="zh-CN" sz="1200" b="1">
                          <a:solidFill>
                            <a:schemeClr val="tx1"/>
                          </a:solidFill>
                        </a:rPr>
                        <a:t>2025</a:t>
                      </a:r>
                      <a:r>
                        <a:rPr lang="zh-CN" altLang="en-US" sz="1200" b="1">
                          <a:solidFill>
                            <a:schemeClr val="tx1"/>
                          </a:solidFill>
                        </a:rPr>
                        <a:t>年工作目标</a:t>
                      </a:r>
                      <a:endParaRPr lang="zh-CN" altLang="en-US" sz="1200" b="1">
                        <a:solidFill>
                          <a:schemeClr val="tx1"/>
                        </a:solidFill>
                      </a:endParaRPr>
                    </a:p>
                  </a:txBody>
                  <a:tcPr anchor="ctr">
                    <a:lnR>
                      <a:noFill/>
                    </a:lnR>
                    <a:lnT w="12700">
                      <a:solidFill>
                        <a:srgbClr val="0070BF"/>
                      </a:solidFill>
                      <a:prstDash val="solid"/>
                    </a:lnT>
                    <a:lnB w="12700">
                      <a:solidFill>
                        <a:srgbClr val="0070BF"/>
                      </a:solidFill>
                      <a:prstDash val="solid"/>
                    </a:lnB>
                    <a:solidFill>
                      <a:srgbClr val="CCE2F2"/>
                    </a:solidFill>
                  </a:tcPr>
                </a:tc>
              </a:tr>
              <a:tr h="454660">
                <a:tc rowSpan="10">
                  <a:txBody>
                    <a:bodyPr/>
                    <a:p>
                      <a:pPr indent="0" algn="ctr" fontAlgn="auto">
                        <a:lnSpc>
                          <a:spcPct val="100000"/>
                        </a:lnSpc>
                      </a:pPr>
                      <a:r>
                        <a:rPr lang="zh-CN" altLang="en-US" sz="1200" b="1" kern="100" dirty="0">
                          <a:effectLst/>
                          <a:latin typeface="微软雅黑" panose="020B0503020204020204" pitchFamily="34" charset="-122"/>
                          <a:ea typeface="微软雅黑" panose="020B0503020204020204" pitchFamily="34" charset="-122"/>
                          <a:sym typeface="+mn-ea"/>
                        </a:rPr>
                        <a:t>升级融合运营能力，建强客户全生命周期运营</a:t>
                      </a:r>
                      <a:endParaRPr lang="zh-CN" altLang="en-US" sz="1200" b="1" kern="100" dirty="0">
                        <a:effectLst/>
                        <a:latin typeface="微软雅黑" panose="020B0503020204020204" pitchFamily="34" charset="-122"/>
                        <a:ea typeface="微软雅黑" panose="020B0503020204020204" pitchFamily="34" charset="-122"/>
                        <a:sym typeface="+mn-ea"/>
                      </a:endParaRPr>
                    </a:p>
                  </a:txBody>
                  <a:tcPr anchor="ctr">
                    <a:lnL>
                      <a:noFill/>
                    </a:lnL>
                    <a:lnR>
                      <a:noFill/>
                    </a:lnR>
                    <a:lnT w="12700">
                      <a:solidFill>
                        <a:srgbClr val="0070BF"/>
                      </a:solidFill>
                      <a:prstDash val="solid"/>
                    </a:lnT>
                    <a:lnB w="12700">
                      <a:solidFill>
                        <a:srgbClr val="0070C0"/>
                      </a:solidFill>
                      <a:prstDash val="solid"/>
                    </a:lnB>
                  </a:tcPr>
                </a:tc>
                <a:tc rowSpan="5">
                  <a:txBody>
                    <a:bodyPr/>
                    <a:p>
                      <a:pPr algn="ctr">
                        <a:buNone/>
                      </a:pPr>
                      <a:r>
                        <a:rPr lang="zh-CN" altLang="en-US" sz="1200"/>
                        <a:t>全产品灵活封装供给</a:t>
                      </a:r>
                      <a:endParaRPr lang="zh-CN" altLang="en-US" sz="1200"/>
                    </a:p>
                  </a:txBody>
                  <a:tcPr anchor="ctr">
                    <a:lnL>
                      <a:noFill/>
                    </a:lnL>
                    <a:lnR>
                      <a:noFill/>
                    </a:lnR>
                    <a:lnT w="12700">
                      <a:solidFill>
                        <a:srgbClr val="0070BF"/>
                      </a:solidFill>
                      <a:prstDash val="solid"/>
                    </a:lnT>
                    <a:lnB w="12700">
                      <a:solidFill>
                        <a:srgbClr val="0070BF"/>
                      </a:solidFill>
                      <a:prstDash val="solid"/>
                    </a:lnB>
                  </a:tcPr>
                </a:tc>
                <a:tc>
                  <a:txBody>
                    <a:bodyPr/>
                    <a:p>
                      <a:pPr>
                        <a:buNone/>
                      </a:pPr>
                      <a:r>
                        <a:rPr lang="en-US" altLang="zh-CN" sz="1100" dirty="0"/>
                        <a:t>1.</a:t>
                      </a:r>
                      <a:r>
                        <a:rPr lang="zh-CN" altLang="en-US" sz="1100" dirty="0"/>
                        <a:t>推动产品数据汇聚</a:t>
                      </a:r>
                      <a:endParaRPr lang="zh-CN" altLang="en-US" sz="1100" dirty="0"/>
                    </a:p>
                  </a:txBody>
                  <a:tcPr anchor="ctr">
                    <a:lnL>
                      <a:noFill/>
                    </a:lnL>
                    <a:lnR>
                      <a:noFill/>
                    </a:lnR>
                    <a:lnT w="12700">
                      <a:solidFill>
                        <a:srgbClr val="0070BF"/>
                      </a:solidFill>
                      <a:prstDash val="solid"/>
                    </a:lnT>
                    <a:lnB>
                      <a:noFill/>
                    </a:lnB>
                  </a:tcPr>
                </a:tc>
                <a:tc>
                  <a:txBody>
                    <a:bodyPr/>
                    <a:p>
                      <a:pPr>
                        <a:buNone/>
                      </a:pPr>
                      <a:r>
                        <a:rPr lang="zh-CN" altLang="en-US" sz="1100"/>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w="12700">
                      <a:solidFill>
                        <a:srgbClr val="0070BF"/>
                      </a:solidFill>
                      <a:prstDash val="solid"/>
                    </a:lnT>
                    <a:lnB>
                      <a:noFill/>
                    </a:lnB>
                  </a:tcPr>
                </a:tc>
                <a:tc>
                  <a:txBody>
                    <a:bodyPr/>
                    <a:p>
                      <a:pPr>
                        <a:buNone/>
                      </a:pPr>
                      <a:r>
                        <a:rPr lang="en-US" altLang="zh-CN" sz="1100"/>
                        <a:t>31</a:t>
                      </a:r>
                      <a:r>
                        <a:rPr lang="zh-CN" altLang="en-US" sz="1100"/>
                        <a:t>省公司</a:t>
                      </a:r>
                      <a:endParaRPr lang="zh-CN" altLang="en-US" sz="1100"/>
                    </a:p>
                  </a:txBody>
                  <a:tcPr anchor="ctr">
                    <a:lnL>
                      <a:noFill/>
                    </a:lnL>
                    <a:lnR>
                      <a:noFill/>
                    </a:lnR>
                    <a:lnT w="12700">
                      <a:solidFill>
                        <a:srgbClr val="0070BF"/>
                      </a:solidFill>
                      <a:prstDash val="solid"/>
                    </a:lnT>
                    <a:lnB>
                      <a:noFill/>
                    </a:lnB>
                  </a:tcPr>
                </a:tc>
                <a:tc>
                  <a:txBody>
                    <a:bodyPr/>
                    <a:p>
                      <a:pPr>
                        <a:buNone/>
                      </a:pPr>
                      <a:r>
                        <a:rPr lang="zh-CN" altLang="en-US" sz="1100" dirty="0">
                          <a:sym typeface="+mn-ea"/>
                        </a:rPr>
                        <a:t>完成</a:t>
                      </a:r>
                      <a:r>
                        <a:rPr lang="en-US" altLang="zh-CN" sz="1100" dirty="0">
                          <a:sym typeface="+mn-ea"/>
                        </a:rPr>
                        <a:t>31</a:t>
                      </a:r>
                      <a:r>
                        <a:rPr lang="zh-CN" altLang="en-US" sz="1100" dirty="0">
                          <a:sym typeface="+mn-ea"/>
                        </a:rPr>
                        <a:t>省全量产商品数据纳入</a:t>
                      </a:r>
                      <a:endParaRPr lang="zh-CN" altLang="en-US" sz="1100" dirty="0"/>
                    </a:p>
                  </a:txBody>
                  <a:tcPr anchor="ctr">
                    <a:lnL>
                      <a:noFill/>
                    </a:lnL>
                    <a:lnR>
                      <a:noFill/>
                    </a:lnR>
                    <a:lnT w="12700">
                      <a:solidFill>
                        <a:srgbClr val="0070BF"/>
                      </a:solidFill>
                      <a:prstDash val="solid"/>
                    </a:lnT>
                    <a:lnB>
                      <a:noFill/>
                    </a:lnB>
                  </a:tcPr>
                </a:tc>
              </a:tr>
              <a:tr h="454660">
                <a:tc vMerge="1">
                  <a:tcPr>
                    <a:lnL>
                      <a:noFill/>
                    </a:lnL>
                    <a:lnR>
                      <a:noFill/>
                    </a:lnR>
                  </a:tcPr>
                </a:tc>
                <a:tc vMerge="1">
                  <a:tcPr>
                    <a:lnL>
                      <a:noFill/>
                    </a:lnL>
                    <a:lnR>
                      <a:noFill/>
                    </a:lnR>
                  </a:tcPr>
                </a:tc>
                <a:tc>
                  <a:txBody>
                    <a:bodyPr/>
                    <a:p>
                      <a:pPr>
                        <a:buNone/>
                      </a:pPr>
                      <a:r>
                        <a:rPr lang="en-US" altLang="zh-CN" sz="1100"/>
                        <a:t>2.</a:t>
                      </a:r>
                      <a:r>
                        <a:rPr lang="zh-CN" altLang="en-US" sz="1100"/>
                        <a:t>构建细分市场标准化产品封装流程</a:t>
                      </a:r>
                      <a:endParaRPr lang="zh-CN" altLang="en-US" sz="1100"/>
                    </a:p>
                  </a:txBody>
                  <a:tcPr anchor="ctr">
                    <a:lnL>
                      <a:noFill/>
                    </a:lnL>
                    <a:lnR>
                      <a:noFill/>
                    </a:lnR>
                    <a:lnT>
                      <a:noFill/>
                    </a:lnT>
                    <a:lnB>
                      <a:noFill/>
                    </a:lnB>
                  </a:tcPr>
                </a:tc>
                <a:tc>
                  <a:txBody>
                    <a:bodyPr/>
                    <a:p>
                      <a:pPr>
                        <a:buNone/>
                      </a:pPr>
                      <a:r>
                        <a:rPr lang="zh-CN" altLang="en-US" sz="1100">
                          <a:sym typeface="+mn-ea"/>
                        </a:rPr>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a:noFill/>
                    </a:lnT>
                    <a:lnB>
                      <a:noFill/>
                    </a:lnB>
                  </a:tcPr>
                </a:tc>
                <a:tc>
                  <a:txBody>
                    <a:bodyPr/>
                    <a:p>
                      <a:pPr>
                        <a:buNone/>
                      </a:pPr>
                      <a:r>
                        <a:rPr lang="en-US" altLang="zh-CN" sz="1100"/>
                        <a:t>31</a:t>
                      </a:r>
                      <a:r>
                        <a:rPr lang="zh-CN" altLang="en-US" sz="1100"/>
                        <a:t>省公司</a:t>
                      </a:r>
                      <a:r>
                        <a:rPr lang="zh-CN" altLang="en-US" sz="1100">
                          <a:sym typeface="+mn-ea"/>
                        </a:rPr>
                        <a:t>、专业公司</a:t>
                      </a:r>
                      <a:endParaRPr lang="zh-CN" altLang="en-US" sz="1100"/>
                    </a:p>
                  </a:txBody>
                  <a:tcPr anchor="ctr">
                    <a:lnL>
                      <a:noFill/>
                    </a:lnL>
                    <a:lnR>
                      <a:noFill/>
                    </a:lnR>
                    <a:lnT>
                      <a:noFill/>
                    </a:lnT>
                    <a:lnB>
                      <a:noFill/>
                    </a:lnB>
                  </a:tcPr>
                </a:tc>
                <a:tc>
                  <a:txBody>
                    <a:bodyPr/>
                    <a:p>
                      <a:pPr>
                        <a:buNone/>
                      </a:pPr>
                      <a:r>
                        <a:rPr lang="zh-CN" altLang="en-US" sz="1100"/>
                        <a:t>发布产品原子库上架、封装流程规范，推动省专系统完成对接、升级</a:t>
                      </a:r>
                      <a:endParaRPr lang="zh-CN" altLang="en-US" sz="1100"/>
                    </a:p>
                  </a:txBody>
                  <a:tcPr anchor="ctr">
                    <a:lnL>
                      <a:noFill/>
                    </a:lnL>
                    <a:lnR>
                      <a:noFill/>
                    </a:lnR>
                    <a:lnT>
                      <a:noFill/>
                    </a:lnT>
                    <a:lnB>
                      <a:noFill/>
                    </a:lnB>
                  </a:tcPr>
                </a:tc>
              </a:tr>
              <a:tr h="454660">
                <a:tc vMerge="1">
                  <a:tcPr>
                    <a:lnL>
                      <a:noFill/>
                    </a:lnL>
                    <a:lnR>
                      <a:noFill/>
                    </a:lnR>
                  </a:tcPr>
                </a:tc>
                <a:tc vMerge="1">
                  <a:tcPr>
                    <a:lnL>
                      <a:noFill/>
                    </a:lnL>
                    <a:lnR>
                      <a:noFill/>
                    </a:lnR>
                  </a:tcPr>
                </a:tc>
                <a:tc>
                  <a:txBody>
                    <a:bodyPr/>
                    <a:p>
                      <a:pPr>
                        <a:buNone/>
                      </a:pPr>
                      <a:r>
                        <a:rPr lang="en-US" altLang="zh-CN" sz="1100"/>
                        <a:t>3.</a:t>
                      </a:r>
                      <a:r>
                        <a:rPr lang="zh-CN" altLang="en-US" sz="1100"/>
                        <a:t>打造产品灵活封装AI工具</a:t>
                      </a:r>
                      <a:endParaRPr lang="zh-CN" altLang="en-US" sz="1100"/>
                    </a:p>
                  </a:txBody>
                  <a:tcPr anchor="ctr">
                    <a:lnL>
                      <a:noFill/>
                    </a:lnL>
                    <a:lnR>
                      <a:noFill/>
                    </a:lnR>
                    <a:lnT>
                      <a:noFill/>
                    </a:lnT>
                    <a:lnB>
                      <a:noFill/>
                    </a:lnB>
                  </a:tcPr>
                </a:tc>
                <a:tc>
                  <a:txBody>
                    <a:bodyPr/>
                    <a:p>
                      <a:pPr>
                        <a:buNone/>
                      </a:pPr>
                      <a:r>
                        <a:rPr lang="zh-CN" altLang="en-US" sz="1100"/>
                        <a:t>信息技术中心</a:t>
                      </a:r>
                      <a:endParaRPr lang="zh-CN" altLang="en-US" sz="1100"/>
                    </a:p>
                  </a:txBody>
                  <a:tcPr anchor="ctr">
                    <a:lnL>
                      <a:noFill/>
                    </a:lnL>
                    <a:lnR>
                      <a:noFill/>
                    </a:lnR>
                    <a:lnT>
                      <a:noFill/>
                    </a:lnT>
                    <a:lnB>
                      <a:noFill/>
                    </a:lnB>
                  </a:tcPr>
                </a:tc>
                <a:tc>
                  <a:txBody>
                    <a:bodyPr/>
                    <a:p>
                      <a:pPr>
                        <a:buNone/>
                      </a:pPr>
                      <a:r>
                        <a:rPr lang="zh-CN" altLang="en-US" sz="1100">
                          <a:sym typeface="+mn-ea"/>
                        </a:rPr>
                        <a:t>市场经营部</a:t>
                      </a:r>
                      <a:r>
                        <a:rPr lang="zh-CN" altLang="en-US" sz="1100"/>
                        <a:t>、</a:t>
                      </a:r>
                      <a:r>
                        <a:rPr lang="en-US" altLang="zh-CN" sz="1100"/>
                        <a:t>31</a:t>
                      </a:r>
                      <a:r>
                        <a:rPr lang="zh-CN" altLang="en-US" sz="1100"/>
                        <a:t>省公司、专业公司</a:t>
                      </a:r>
                      <a:endParaRPr lang="zh-CN" altLang="en-US" sz="1100"/>
                    </a:p>
                  </a:txBody>
                  <a:tcPr anchor="ctr">
                    <a:lnL>
                      <a:noFill/>
                    </a:lnL>
                    <a:lnR>
                      <a:noFill/>
                    </a:lnR>
                    <a:lnT>
                      <a:noFill/>
                    </a:lnT>
                    <a:lnB>
                      <a:noFill/>
                    </a:lnB>
                  </a:tcPr>
                </a:tc>
                <a:tc>
                  <a:txBody>
                    <a:bodyPr/>
                    <a:p>
                      <a:pPr>
                        <a:buNone/>
                      </a:pPr>
                      <a:r>
                        <a:rPr lang="zh-CN" altLang="en-US" sz="1100">
                          <a:sym typeface="+mn-ea"/>
                        </a:rPr>
                        <a:t>完成基于自然语言识别的产品灵活封装AI能力建设上线</a:t>
                      </a:r>
                      <a:endParaRPr lang="zh-CN" altLang="en-US" sz="1100"/>
                    </a:p>
                  </a:txBody>
                  <a:tcPr anchor="ctr">
                    <a:lnL>
                      <a:noFill/>
                    </a:lnL>
                    <a:lnR>
                      <a:noFill/>
                    </a:lnR>
                    <a:lnT>
                      <a:noFill/>
                    </a:lnT>
                    <a:lnB>
                      <a:noFill/>
                    </a:lnB>
                  </a:tcPr>
                </a:tc>
              </a:tr>
              <a:tr h="454660">
                <a:tc vMerge="1">
                  <a:tcPr>
                    <a:lnL>
                      <a:noFill/>
                    </a:lnL>
                    <a:lnR>
                      <a:noFill/>
                    </a:lnR>
                  </a:tcPr>
                </a:tc>
                <a:tc vMerge="1">
                  <a:tcPr>
                    <a:lnL>
                      <a:noFill/>
                    </a:lnL>
                    <a:lnR>
                      <a:noFill/>
                    </a:lnR>
                  </a:tcPr>
                </a:tc>
                <a:tc>
                  <a:txBody>
                    <a:bodyPr/>
                    <a:p>
                      <a:pPr>
                        <a:buNone/>
                      </a:pPr>
                      <a:r>
                        <a:rPr lang="en-US" altLang="zh-CN" sz="1100"/>
                        <a:t>4.</a:t>
                      </a:r>
                      <a:r>
                        <a:rPr lang="zh-CN" altLang="en-US" sz="1100"/>
                        <a:t>依托产商品中心构建原子产品库管理平台</a:t>
                      </a:r>
                      <a:endParaRPr lang="zh-CN" altLang="en-US" sz="1100"/>
                    </a:p>
                  </a:txBody>
                  <a:tcPr anchor="ctr">
                    <a:lnL>
                      <a:noFill/>
                    </a:lnL>
                    <a:lnR>
                      <a:noFill/>
                    </a:lnR>
                    <a:lnT>
                      <a:noFill/>
                    </a:lnT>
                    <a:lnB>
                      <a:noFill/>
                    </a:lnB>
                  </a:tcPr>
                </a:tc>
                <a:tc>
                  <a:txBody>
                    <a:bodyPr/>
                    <a:p>
                      <a:pPr>
                        <a:buNone/>
                      </a:pPr>
                      <a:r>
                        <a:rPr lang="zh-CN" altLang="en-US" sz="1100">
                          <a:sym typeface="+mn-ea"/>
                        </a:rPr>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a:noFill/>
                    </a:lnT>
                    <a:lnB>
                      <a:noFill/>
                    </a:lnB>
                  </a:tcPr>
                </a:tc>
                <a:tc>
                  <a:txBody>
                    <a:bodyPr/>
                    <a:p>
                      <a:pPr>
                        <a:buNone/>
                      </a:pPr>
                      <a:r>
                        <a:rPr lang="en-US" altLang="zh-CN" sz="1100"/>
                        <a:t>31</a:t>
                      </a:r>
                      <a:r>
                        <a:rPr lang="zh-CN" altLang="en-US" sz="1100"/>
                        <a:t>省公司、专业公司</a:t>
                      </a:r>
                      <a:endParaRPr lang="zh-CN" altLang="en-US" sz="1100"/>
                    </a:p>
                  </a:txBody>
                  <a:tcPr anchor="ctr">
                    <a:lnL>
                      <a:noFill/>
                    </a:lnL>
                    <a:lnR>
                      <a:noFill/>
                    </a:lnR>
                    <a:lnT>
                      <a:noFill/>
                    </a:lnT>
                    <a:lnB>
                      <a:noFill/>
                    </a:lnB>
                  </a:tcPr>
                </a:tc>
                <a:tc>
                  <a:txBody>
                    <a:bodyPr/>
                    <a:p>
                      <a:pPr>
                        <a:buNone/>
                      </a:pPr>
                      <a:r>
                        <a:rPr lang="zh-CN" altLang="en-US" sz="1100"/>
                        <a:t>完成全网原子产品库建设上线</a:t>
                      </a:r>
                      <a:endParaRPr lang="zh-CN" altLang="en-US" sz="1100"/>
                    </a:p>
                  </a:txBody>
                  <a:tcPr anchor="ctr">
                    <a:lnL>
                      <a:noFill/>
                    </a:lnL>
                    <a:lnR>
                      <a:noFill/>
                    </a:lnR>
                    <a:lnT>
                      <a:noFill/>
                    </a:lnT>
                    <a:lnB>
                      <a:noFill/>
                    </a:lnB>
                  </a:tcPr>
                </a:tc>
              </a:tr>
              <a:tr h="276225">
                <a:tc vMerge="1">
                  <a:tcPr>
                    <a:lnL>
                      <a:noFill/>
                    </a:lnL>
                    <a:lnR>
                      <a:noFill/>
                    </a:lnR>
                  </a:tcPr>
                </a:tc>
                <a:tc vMerge="1">
                  <a:tcPr>
                    <a:lnL>
                      <a:noFill/>
                    </a:lnL>
                    <a:lnR>
                      <a:noFill/>
                    </a:lnR>
                    <a:lnB w="12700">
                      <a:solidFill>
                        <a:srgbClr val="0070BF"/>
                      </a:solidFill>
                      <a:prstDash val="solid"/>
                    </a:lnB>
                  </a:tcPr>
                </a:tc>
                <a:tc>
                  <a:txBody>
                    <a:bodyPr/>
                    <a:p>
                      <a:pPr>
                        <a:buNone/>
                      </a:pPr>
                      <a:r>
                        <a:rPr lang="en-US" altLang="zh-CN" sz="1100"/>
                        <a:t>5.</a:t>
                      </a:r>
                      <a:r>
                        <a:rPr lang="zh-CN" altLang="en-US" sz="1100"/>
                        <a:t>持续完善产品原子库管理机制</a:t>
                      </a:r>
                      <a:endParaRPr lang="zh-CN" altLang="en-US" sz="1100"/>
                    </a:p>
                  </a:txBody>
                  <a:tcPr anchor="ctr">
                    <a:lnL>
                      <a:noFill/>
                    </a:lnL>
                    <a:lnR>
                      <a:noFill/>
                    </a:lnR>
                    <a:lnT>
                      <a:noFill/>
                    </a:lnT>
                    <a:lnB w="12700">
                      <a:solidFill>
                        <a:srgbClr val="0070BF"/>
                      </a:solidFill>
                      <a:prstDash val="solid"/>
                    </a:lnB>
                  </a:tcPr>
                </a:tc>
                <a:tc>
                  <a:txBody>
                    <a:bodyPr/>
                    <a:p>
                      <a:pPr>
                        <a:buNone/>
                      </a:pPr>
                      <a:r>
                        <a:rPr lang="zh-CN" altLang="en-US" sz="1100">
                          <a:sym typeface="+mn-ea"/>
                        </a:rPr>
                        <a:t>市场经营部</a:t>
                      </a:r>
                      <a:endParaRPr lang="zh-CN" altLang="en-US" sz="1100"/>
                    </a:p>
                  </a:txBody>
                  <a:tcPr anchor="ctr">
                    <a:lnL>
                      <a:noFill/>
                    </a:lnL>
                    <a:lnR>
                      <a:noFill/>
                    </a:lnR>
                    <a:lnT>
                      <a:noFill/>
                    </a:lnT>
                    <a:lnB w="12700">
                      <a:solidFill>
                        <a:srgbClr val="0070BF"/>
                      </a:solidFill>
                      <a:prstDash val="solid"/>
                    </a:lnB>
                  </a:tcPr>
                </a:tc>
                <a:tc>
                  <a:txBody>
                    <a:bodyPr/>
                    <a:p>
                      <a:pPr>
                        <a:buNone/>
                      </a:pPr>
                      <a:r>
                        <a:rPr lang="zh-CN" altLang="en-US" sz="1100"/>
                        <a:t>信息技术中心、</a:t>
                      </a:r>
                      <a:r>
                        <a:rPr lang="en-US" altLang="zh-CN" sz="1100"/>
                        <a:t>31</a:t>
                      </a:r>
                      <a:r>
                        <a:rPr lang="zh-CN" altLang="en-US" sz="1100"/>
                        <a:t>省公司、专业公司</a:t>
                      </a:r>
                      <a:endParaRPr lang="zh-CN" altLang="en-US" sz="1100"/>
                    </a:p>
                  </a:txBody>
                  <a:tcPr anchor="ctr">
                    <a:lnL>
                      <a:noFill/>
                    </a:lnL>
                    <a:lnR>
                      <a:noFill/>
                    </a:lnR>
                    <a:lnT>
                      <a:noFill/>
                    </a:lnT>
                    <a:lnB w="12700">
                      <a:solidFill>
                        <a:srgbClr val="0070BF"/>
                      </a:solidFill>
                      <a:prstDash val="solid"/>
                    </a:lnB>
                  </a:tcPr>
                </a:tc>
                <a:tc>
                  <a:txBody>
                    <a:bodyPr/>
                    <a:p>
                      <a:pPr>
                        <a:buNone/>
                      </a:pPr>
                      <a:r>
                        <a:rPr lang="zh-CN" altLang="en-US" sz="1100"/>
                        <a:t>完成细分市场原子产品管理指导意见</a:t>
                      </a:r>
                      <a:endParaRPr lang="zh-CN" altLang="en-US" sz="1100"/>
                    </a:p>
                  </a:txBody>
                  <a:tcPr anchor="ctr">
                    <a:lnL>
                      <a:noFill/>
                    </a:lnL>
                    <a:lnR>
                      <a:noFill/>
                    </a:lnR>
                    <a:lnT>
                      <a:noFill/>
                    </a:lnT>
                    <a:lnB w="12700">
                      <a:solidFill>
                        <a:srgbClr val="0070BF"/>
                      </a:solidFill>
                      <a:prstDash val="solid"/>
                    </a:lnB>
                  </a:tcPr>
                </a:tc>
              </a:tr>
              <a:tr h="454025">
                <a:tc vMerge="1">
                  <a:tcPr>
                    <a:lnL>
                      <a:noFill/>
                    </a:lnL>
                    <a:lnR>
                      <a:noFill/>
                    </a:lnR>
                  </a:tcPr>
                </a:tc>
                <a:tc rowSpan="5">
                  <a:txBody>
                    <a:bodyPr/>
                    <a:p>
                      <a:pPr algn="ctr">
                        <a:buNone/>
                      </a:pPr>
                      <a:r>
                        <a:rPr lang="zh-CN" altLang="en-US" sz="1200">
                          <a:solidFill>
                            <a:schemeClr val="tx1"/>
                          </a:solidFill>
                        </a:rPr>
                        <a:t>建强端到端产品运营</a:t>
                      </a:r>
                      <a:endParaRPr lang="zh-CN" altLang="en-US" sz="1200">
                        <a:solidFill>
                          <a:schemeClr val="tx1"/>
                        </a:solidFill>
                      </a:endParaRPr>
                    </a:p>
                  </a:txBody>
                  <a:tcPr anchor="ctr">
                    <a:lnL>
                      <a:noFill/>
                    </a:lnL>
                    <a:lnR>
                      <a:noFill/>
                    </a:lnR>
                    <a:lnT w="12700">
                      <a:solidFill>
                        <a:srgbClr val="0070BF"/>
                      </a:solidFill>
                      <a:prstDash val="solid"/>
                    </a:lnT>
                    <a:lnB w="12700">
                      <a:solidFill>
                        <a:srgbClr val="0070C0"/>
                      </a:solidFill>
                      <a:prstDash val="solid"/>
                    </a:lnB>
                  </a:tcPr>
                </a:tc>
                <a:tc>
                  <a:txBody>
                    <a:bodyPr/>
                    <a:p>
                      <a:pPr>
                        <a:buNone/>
                      </a:pPr>
                      <a:r>
                        <a:rPr lang="en-US" altLang="zh-CN" sz="1100"/>
                        <a:t>1.</a:t>
                      </a:r>
                      <a:r>
                        <a:rPr lang="zh-CN" altLang="en-US" sz="1100"/>
                        <a:t>汇聚产品运营数据</a:t>
                      </a:r>
                      <a:endParaRPr lang="zh-CN" altLang="en-US" sz="1100"/>
                    </a:p>
                  </a:txBody>
                  <a:tcPr anchor="ctr">
                    <a:lnL>
                      <a:noFill/>
                    </a:lnL>
                    <a:lnR>
                      <a:noFill/>
                    </a:lnR>
                    <a:lnT w="12700">
                      <a:solidFill>
                        <a:srgbClr val="0070BF"/>
                      </a:solidFill>
                      <a:prstDash val="solid"/>
                    </a:lnT>
                    <a:lnB>
                      <a:noFill/>
                    </a:lnB>
                  </a:tcPr>
                </a:tc>
                <a:tc>
                  <a:txBody>
                    <a:bodyPr/>
                    <a:p>
                      <a:pPr>
                        <a:buNone/>
                      </a:pPr>
                      <a:r>
                        <a:rPr lang="zh-CN" altLang="en-US" sz="1100">
                          <a:sym typeface="+mn-ea"/>
                        </a:rPr>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w="12700">
                      <a:solidFill>
                        <a:srgbClr val="0070BF"/>
                      </a:solidFill>
                      <a:prstDash val="solid"/>
                    </a:lnT>
                    <a:lnB>
                      <a:noFill/>
                    </a:lnB>
                  </a:tcPr>
                </a:tc>
                <a:tc>
                  <a:txBody>
                    <a:bodyPr/>
                    <a:p>
                      <a:pPr>
                        <a:buNone/>
                      </a:pPr>
                      <a:r>
                        <a:rPr lang="en-US" altLang="zh-CN" sz="1100"/>
                        <a:t>31</a:t>
                      </a:r>
                      <a:r>
                        <a:rPr lang="zh-CN" altLang="en-US" sz="1100"/>
                        <a:t>省公司</a:t>
                      </a:r>
                      <a:r>
                        <a:rPr lang="zh-CN" altLang="en-US" sz="1100">
                          <a:sym typeface="+mn-ea"/>
                        </a:rPr>
                        <a:t>、专业公司</a:t>
                      </a:r>
                      <a:endParaRPr lang="zh-CN" altLang="en-US" sz="1100"/>
                    </a:p>
                  </a:txBody>
                  <a:tcPr anchor="ctr">
                    <a:lnL>
                      <a:noFill/>
                    </a:lnL>
                    <a:lnR>
                      <a:noFill/>
                    </a:lnR>
                    <a:lnT w="12700">
                      <a:solidFill>
                        <a:srgbClr val="0070BF"/>
                      </a:solidFill>
                      <a:prstDash val="solid"/>
                    </a:lnT>
                    <a:lnB>
                      <a:noFill/>
                    </a:lnB>
                  </a:tcPr>
                </a:tc>
                <a:tc>
                  <a:txBody>
                    <a:bodyPr/>
                    <a:p>
                      <a:pPr>
                        <a:buNone/>
                      </a:pPr>
                      <a:r>
                        <a:rPr lang="zh-CN" altLang="en-US" sz="1100">
                          <a:sym typeface="+mn-ea"/>
                        </a:rPr>
                        <a:t>一点看清产品运营全要素信息</a:t>
                      </a:r>
                      <a:endParaRPr lang="zh-CN" altLang="en-US" sz="1100"/>
                    </a:p>
                  </a:txBody>
                  <a:tcPr anchor="ctr">
                    <a:lnL>
                      <a:noFill/>
                    </a:lnL>
                    <a:lnR>
                      <a:noFill/>
                    </a:lnR>
                    <a:lnT w="12700">
                      <a:solidFill>
                        <a:srgbClr val="0070BF"/>
                      </a:solidFill>
                      <a:prstDash val="solid"/>
                    </a:lnT>
                    <a:lnB>
                      <a:noFill/>
                    </a:lnB>
                  </a:tcPr>
                </a:tc>
              </a:tr>
              <a:tr h="633730">
                <a:tc vMerge="1">
                  <a:tcPr>
                    <a:lnL>
                      <a:noFill/>
                    </a:lnL>
                    <a:lnR>
                      <a:noFill/>
                    </a:lnR>
                    <a:lnB>
                      <a:noFill/>
                    </a:lnB>
                  </a:tcPr>
                </a:tc>
                <a:tc vMerge="1">
                  <a:tcPr>
                    <a:lnL>
                      <a:noFill/>
                    </a:lnL>
                    <a:lnR>
                      <a:noFill/>
                    </a:lnR>
                    <a:lnB>
                      <a:noFill/>
                    </a:lnB>
                  </a:tcPr>
                </a:tc>
                <a:tc>
                  <a:txBody>
                    <a:bodyPr/>
                    <a:p>
                      <a:pPr>
                        <a:buNone/>
                      </a:pPr>
                      <a:r>
                        <a:rPr lang="en-US" altLang="zh-CN" sz="1100"/>
                        <a:t>2.</a:t>
                      </a:r>
                      <a:r>
                        <a:rPr lang="zh-CN" altLang="en-US" sz="1100"/>
                        <a:t>贯通产品运营的集省专协同的数字化流程</a:t>
                      </a:r>
                      <a:endParaRPr lang="zh-CN" altLang="en-US" sz="1100"/>
                    </a:p>
                  </a:txBody>
                  <a:tcPr anchor="ctr">
                    <a:lnL>
                      <a:noFill/>
                    </a:lnL>
                    <a:lnR>
                      <a:noFill/>
                    </a:lnR>
                    <a:lnT>
                      <a:noFill/>
                    </a:lnT>
                    <a:lnB>
                      <a:noFill/>
                    </a:lnB>
                  </a:tcPr>
                </a:tc>
                <a:tc>
                  <a:txBody>
                    <a:bodyPr/>
                    <a:p>
                      <a:pPr>
                        <a:buNone/>
                      </a:pPr>
                      <a:r>
                        <a:rPr lang="zh-CN" altLang="en-US" sz="1100">
                          <a:sym typeface="+mn-ea"/>
                        </a:rPr>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a:noFill/>
                    </a:lnT>
                    <a:lnB>
                      <a:noFill/>
                    </a:lnB>
                  </a:tcPr>
                </a:tc>
                <a:tc>
                  <a:txBody>
                    <a:bodyPr/>
                    <a:p>
                      <a:pPr>
                        <a:buNone/>
                      </a:pPr>
                      <a:r>
                        <a:rPr lang="en-US" altLang="zh-CN" sz="1100"/>
                        <a:t>31</a:t>
                      </a:r>
                      <a:r>
                        <a:rPr lang="zh-CN" altLang="en-US" sz="1100"/>
                        <a:t>省公司</a:t>
                      </a:r>
                      <a:r>
                        <a:rPr lang="zh-CN" altLang="en-US" sz="1100">
                          <a:sym typeface="+mn-ea"/>
                        </a:rPr>
                        <a:t>、专业公司</a:t>
                      </a:r>
                      <a:endParaRPr lang="zh-CN" altLang="en-US" sz="1100"/>
                    </a:p>
                  </a:txBody>
                  <a:tcPr anchor="ctr">
                    <a:lnL>
                      <a:noFill/>
                    </a:lnL>
                    <a:lnR>
                      <a:noFill/>
                    </a:lnR>
                    <a:lnT>
                      <a:noFill/>
                    </a:lnT>
                    <a:lnB>
                      <a:noFill/>
                    </a:lnB>
                  </a:tcPr>
                </a:tc>
                <a:tc>
                  <a:txBody>
                    <a:bodyPr/>
                    <a:p>
                      <a:pPr>
                        <a:buNone/>
                      </a:pPr>
                      <a:r>
                        <a:rPr kumimoji="1" lang="zh-CN" altLang="en-US" sz="1100">
                          <a:effectLst/>
                          <a:sym typeface="+mn-ea"/>
                        </a:rPr>
                        <a:t>省公司、客户满意度持续增长，缩短集省专协同的流程总时长</a:t>
                      </a:r>
                      <a:endParaRPr lang="zh-CN" altLang="en-US" sz="1100"/>
                    </a:p>
                    <a:p>
                      <a:pPr>
                        <a:buNone/>
                      </a:pPr>
                      <a:endParaRPr lang="zh-CN" altLang="en-US" sz="1100"/>
                    </a:p>
                  </a:txBody>
                  <a:tcPr anchor="ctr">
                    <a:lnL>
                      <a:noFill/>
                    </a:lnL>
                    <a:lnR>
                      <a:noFill/>
                    </a:lnR>
                    <a:lnT>
                      <a:noFill/>
                    </a:lnT>
                    <a:lnB>
                      <a:noFill/>
                    </a:lnB>
                  </a:tcPr>
                </a:tc>
              </a:tr>
              <a:tr h="454025">
                <a:tc vMerge="1">
                  <a:tcPr>
                    <a:lnL>
                      <a:noFill/>
                    </a:lnL>
                    <a:lnR>
                      <a:noFill/>
                    </a:lnR>
                    <a:lnB>
                      <a:noFill/>
                    </a:lnB>
                  </a:tcPr>
                </a:tc>
                <a:tc vMerge="1">
                  <a:tcPr>
                    <a:lnL>
                      <a:noFill/>
                    </a:lnL>
                    <a:lnR>
                      <a:noFill/>
                    </a:lnR>
                    <a:lnB w="12700">
                      <a:solidFill>
                        <a:srgbClr val="0070C0"/>
                      </a:solidFill>
                      <a:prstDash val="solid"/>
                    </a:lnB>
                  </a:tcPr>
                </a:tc>
                <a:tc>
                  <a:txBody>
                    <a:bodyPr/>
                    <a:p>
                      <a:pPr>
                        <a:buNone/>
                      </a:pPr>
                      <a:r>
                        <a:rPr lang="en-US" altLang="zh-CN" sz="1100"/>
                        <a:t>3.</a:t>
                      </a:r>
                      <a:r>
                        <a:rPr lang="zh-CN" altLang="en-US" sz="1100"/>
                        <a:t>打造赋能集团市场运营提效的AI工具</a:t>
                      </a:r>
                      <a:endParaRPr lang="zh-CN" altLang="en-US" sz="1100"/>
                    </a:p>
                  </a:txBody>
                  <a:tcPr anchor="ctr">
                    <a:lnL>
                      <a:noFill/>
                    </a:lnL>
                    <a:lnR>
                      <a:noFill/>
                    </a:lnR>
                    <a:lnT>
                      <a:noFill/>
                    </a:lnT>
                    <a:lnB>
                      <a:noFill/>
                    </a:lnB>
                  </a:tcPr>
                </a:tc>
                <a:tc>
                  <a:txBody>
                    <a:bodyPr/>
                    <a:p>
                      <a:pPr>
                        <a:buNone/>
                      </a:pPr>
                      <a:r>
                        <a:rPr lang="zh-CN" altLang="en-US" sz="1100">
                          <a:sym typeface="+mn-ea"/>
                        </a:rPr>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a:noFill/>
                    </a:lnT>
                    <a:lnB>
                      <a:noFill/>
                    </a:lnB>
                  </a:tcPr>
                </a:tc>
                <a:tc>
                  <a:txBody>
                    <a:bodyPr/>
                    <a:p>
                      <a:pPr>
                        <a:buNone/>
                      </a:pPr>
                      <a:r>
                        <a:rPr lang="en-US" altLang="zh-CN" sz="1100">
                          <a:sym typeface="+mn-ea"/>
                        </a:rPr>
                        <a:t>31</a:t>
                      </a:r>
                      <a:r>
                        <a:rPr lang="zh-CN" altLang="en-US" sz="1100">
                          <a:sym typeface="+mn-ea"/>
                        </a:rPr>
                        <a:t>省公司</a:t>
                      </a:r>
                      <a:r>
                        <a:rPr lang="zh-CN" altLang="en-US" sz="1100">
                          <a:sym typeface="+mn-ea"/>
                        </a:rPr>
                        <a:t>、专业公司</a:t>
                      </a:r>
                      <a:endParaRPr lang="zh-CN" altLang="en-US" sz="1100"/>
                    </a:p>
                  </a:txBody>
                  <a:tcPr anchor="ctr">
                    <a:lnL>
                      <a:noFill/>
                    </a:lnL>
                    <a:lnR>
                      <a:noFill/>
                    </a:lnR>
                    <a:lnT>
                      <a:noFill/>
                    </a:lnT>
                    <a:lnB>
                      <a:noFill/>
                    </a:lnB>
                  </a:tcPr>
                </a:tc>
                <a:tc>
                  <a:txBody>
                    <a:bodyPr/>
                    <a:p>
                      <a:pPr>
                        <a:buNone/>
                      </a:pPr>
                      <a:r>
                        <a:rPr kumimoji="1" lang="zh-CN" altLang="en-US" sz="1100">
                          <a:effectLst/>
                          <a:sym typeface="+mn-ea"/>
                        </a:rPr>
                        <a:t>专业公司产品良性闭环迭代</a:t>
                      </a:r>
                      <a:endParaRPr lang="zh-CN" altLang="en-US" sz="1100"/>
                    </a:p>
                  </a:txBody>
                  <a:tcPr anchor="ctr">
                    <a:lnL>
                      <a:noFill/>
                    </a:lnL>
                    <a:lnR>
                      <a:noFill/>
                    </a:lnR>
                    <a:lnT>
                      <a:noFill/>
                    </a:lnT>
                    <a:lnB>
                      <a:noFill/>
                    </a:lnB>
                  </a:tcPr>
                </a:tc>
              </a:tr>
              <a:tr h="454660">
                <a:tc vMerge="1">
                  <a:tcPr>
                    <a:lnL>
                      <a:noFill/>
                    </a:lnL>
                    <a:lnR>
                      <a:noFill/>
                    </a:lnR>
                    <a:lnB>
                      <a:noFill/>
                    </a:lnB>
                  </a:tcPr>
                </a:tc>
                <a:tc vMerge="1">
                  <a:tcPr>
                    <a:lnL>
                      <a:noFill/>
                    </a:lnL>
                    <a:lnR>
                      <a:noFill/>
                    </a:lnR>
                    <a:lnB w="12700">
                      <a:solidFill>
                        <a:srgbClr val="0070C0"/>
                      </a:solidFill>
                      <a:prstDash val="solid"/>
                    </a:lnB>
                  </a:tcPr>
                </a:tc>
                <a:tc>
                  <a:txBody>
                    <a:bodyPr/>
                    <a:p>
                      <a:pPr>
                        <a:buNone/>
                      </a:pPr>
                      <a:r>
                        <a:rPr lang="en-US" altLang="zh-CN" sz="1100"/>
                        <a:t>4.</a:t>
                      </a:r>
                      <a:r>
                        <a:rPr lang="zh-CN" altLang="en-US" sz="1100"/>
                        <a:t>建强两级协同的产品枢纽平台</a:t>
                      </a:r>
                      <a:endParaRPr lang="zh-CN" altLang="en-US" sz="1100"/>
                    </a:p>
                  </a:txBody>
                  <a:tcPr anchor="ctr">
                    <a:lnL>
                      <a:noFill/>
                    </a:lnL>
                    <a:lnR>
                      <a:noFill/>
                    </a:lnR>
                    <a:lnT>
                      <a:noFill/>
                    </a:lnT>
                    <a:lnB>
                      <a:noFill/>
                    </a:lnB>
                  </a:tcPr>
                </a:tc>
                <a:tc>
                  <a:txBody>
                    <a:bodyPr/>
                    <a:p>
                      <a:pPr>
                        <a:buNone/>
                      </a:pPr>
                      <a:r>
                        <a:rPr lang="zh-CN" altLang="en-US" sz="1100">
                          <a:sym typeface="+mn-ea"/>
                        </a:rPr>
                        <a:t>市场经营部</a:t>
                      </a:r>
                      <a:endParaRPr lang="zh-CN" altLang="en-US" sz="1100"/>
                    </a:p>
                    <a:p>
                      <a:pPr>
                        <a:buNone/>
                      </a:pPr>
                      <a:r>
                        <a:rPr lang="zh-CN" altLang="en-US" sz="1100">
                          <a:sym typeface="+mn-ea"/>
                        </a:rPr>
                        <a:t>信息技术中心</a:t>
                      </a:r>
                      <a:endParaRPr lang="zh-CN" altLang="en-US" sz="1100"/>
                    </a:p>
                  </a:txBody>
                  <a:tcPr anchor="ctr">
                    <a:lnL>
                      <a:noFill/>
                    </a:lnL>
                    <a:lnR>
                      <a:noFill/>
                    </a:lnR>
                    <a:lnT>
                      <a:noFill/>
                    </a:lnT>
                    <a:lnB>
                      <a:noFill/>
                    </a:lnB>
                  </a:tcPr>
                </a:tc>
                <a:tc>
                  <a:txBody>
                    <a:bodyPr/>
                    <a:p>
                      <a:pPr>
                        <a:buNone/>
                      </a:pPr>
                      <a:r>
                        <a:rPr lang="en-US" altLang="zh-CN" sz="1100">
                          <a:sym typeface="+mn-ea"/>
                        </a:rPr>
                        <a:t>31</a:t>
                      </a:r>
                      <a:r>
                        <a:rPr lang="zh-CN" altLang="en-US" sz="1100">
                          <a:sym typeface="+mn-ea"/>
                        </a:rPr>
                        <a:t>省公司</a:t>
                      </a:r>
                      <a:r>
                        <a:rPr lang="zh-CN" altLang="en-US" sz="1100">
                          <a:sym typeface="+mn-ea"/>
                        </a:rPr>
                        <a:t>、专业公司</a:t>
                      </a:r>
                      <a:endParaRPr lang="zh-CN" altLang="en-US" sz="1100"/>
                    </a:p>
                  </a:txBody>
                  <a:tcPr anchor="ctr">
                    <a:lnL>
                      <a:noFill/>
                    </a:lnL>
                    <a:lnR>
                      <a:noFill/>
                    </a:lnR>
                    <a:lnT>
                      <a:noFill/>
                    </a:lnT>
                    <a:lnB>
                      <a:noFill/>
                    </a:lnB>
                  </a:tcPr>
                </a:tc>
                <a:tc>
                  <a:txBody>
                    <a:bodyPr/>
                    <a:p>
                      <a:pPr>
                        <a:buNone/>
                      </a:pPr>
                      <a:r>
                        <a:rPr lang="zh-CN" altLang="en-US" sz="1100"/>
                        <a:t>完成产品枢纽平台一阶段功能上线，并开展试运行</a:t>
                      </a:r>
                      <a:endParaRPr lang="zh-CN" altLang="en-US" sz="1100"/>
                    </a:p>
                  </a:txBody>
                  <a:tcPr anchor="ctr">
                    <a:lnL>
                      <a:noFill/>
                    </a:lnL>
                    <a:lnR>
                      <a:noFill/>
                    </a:lnR>
                    <a:lnT>
                      <a:noFill/>
                    </a:lnT>
                    <a:lnB>
                      <a:noFill/>
                    </a:lnB>
                  </a:tcPr>
                </a:tc>
              </a:tr>
              <a:tr h="443865">
                <a:tc vMerge="1">
                  <a:tcPr>
                    <a:lnL>
                      <a:noFill/>
                    </a:lnL>
                    <a:lnR>
                      <a:noFill/>
                    </a:lnR>
                    <a:lnB w="12700">
                      <a:solidFill>
                        <a:srgbClr val="0070C0"/>
                      </a:solidFill>
                      <a:prstDash val="solid"/>
                    </a:lnB>
                  </a:tcPr>
                </a:tc>
                <a:tc vMerge="1">
                  <a:tcPr>
                    <a:lnL>
                      <a:noFill/>
                    </a:lnL>
                    <a:lnR>
                      <a:noFill/>
                    </a:lnR>
                    <a:lnB w="12700">
                      <a:solidFill>
                        <a:srgbClr val="0070C0"/>
                      </a:solidFill>
                      <a:prstDash val="solid"/>
                    </a:lnB>
                  </a:tcPr>
                </a:tc>
                <a:tc>
                  <a:txBody>
                    <a:bodyPr/>
                    <a:p>
                      <a:pPr>
                        <a:buNone/>
                      </a:pPr>
                      <a:r>
                        <a:rPr lang="en-US" altLang="zh-CN" sz="1100">
                          <a:solidFill>
                            <a:schemeClr val="tx1"/>
                          </a:solidFill>
                          <a:sym typeface="+mn-ea"/>
                        </a:rPr>
                        <a:t>5.</a:t>
                      </a:r>
                      <a:r>
                        <a:rPr lang="zh-CN" altLang="en-US" sz="1100">
                          <a:solidFill>
                            <a:schemeClr val="tx1"/>
                          </a:solidFill>
                          <a:sym typeface="+mn-ea"/>
                        </a:rPr>
                        <a:t>持续完善产品的运营管理机制</a:t>
                      </a:r>
                      <a:endParaRPr lang="zh-CN" altLang="en-US" sz="1100">
                        <a:solidFill>
                          <a:schemeClr val="tx1"/>
                        </a:solidFill>
                        <a:sym typeface="+mn-ea"/>
                      </a:endParaRPr>
                    </a:p>
                  </a:txBody>
                  <a:tcPr anchor="ctr">
                    <a:lnL>
                      <a:noFill/>
                    </a:lnL>
                    <a:lnR>
                      <a:noFill/>
                    </a:lnR>
                    <a:lnT>
                      <a:noFill/>
                    </a:lnT>
                    <a:lnB w="12700">
                      <a:solidFill>
                        <a:srgbClr val="0070C0"/>
                      </a:solidFill>
                      <a:prstDash val="solid"/>
                    </a:lnB>
                  </a:tcPr>
                </a:tc>
                <a:tc>
                  <a:txBody>
                    <a:bodyPr/>
                    <a:p>
                      <a:pPr>
                        <a:buNone/>
                      </a:pPr>
                      <a:r>
                        <a:rPr lang="zh-CN" altLang="en-US" sz="1100">
                          <a:solidFill>
                            <a:schemeClr val="tx1"/>
                          </a:solidFill>
                          <a:sym typeface="+mn-ea"/>
                        </a:rPr>
                        <a:t>市场经营部</a:t>
                      </a:r>
                      <a:endParaRPr lang="zh-CN" altLang="en-US" sz="1100">
                        <a:solidFill>
                          <a:schemeClr val="tx1"/>
                        </a:solidFill>
                        <a:sym typeface="+mn-ea"/>
                      </a:endParaRPr>
                    </a:p>
                  </a:txBody>
                  <a:tcPr anchor="ctr">
                    <a:lnL>
                      <a:noFill/>
                    </a:lnL>
                    <a:lnR>
                      <a:noFill/>
                    </a:lnR>
                    <a:lnT>
                      <a:noFill/>
                    </a:lnT>
                    <a:lnB w="12700">
                      <a:solidFill>
                        <a:srgbClr val="0070C0"/>
                      </a:solidFill>
                      <a:prstDash val="solid"/>
                    </a:lnB>
                  </a:tcPr>
                </a:tc>
                <a:tc>
                  <a:txBody>
                    <a:bodyPr/>
                    <a:p>
                      <a:pPr>
                        <a:buNone/>
                      </a:pPr>
                      <a:r>
                        <a:rPr lang="en-US" altLang="zh-CN" sz="1100">
                          <a:solidFill>
                            <a:schemeClr val="tx1"/>
                          </a:solidFill>
                        </a:rPr>
                        <a:t>31</a:t>
                      </a:r>
                      <a:r>
                        <a:rPr lang="zh-CN" altLang="en-US" sz="1100">
                          <a:solidFill>
                            <a:schemeClr val="tx1"/>
                          </a:solidFill>
                        </a:rPr>
                        <a:t>省公司</a:t>
                      </a:r>
                      <a:r>
                        <a:rPr lang="zh-CN" altLang="en-US" sz="1100">
                          <a:solidFill>
                            <a:schemeClr val="tx1"/>
                          </a:solidFill>
                          <a:sym typeface="+mn-ea"/>
                        </a:rPr>
                        <a:t>、专业公司</a:t>
                      </a:r>
                      <a:endParaRPr lang="zh-CN" altLang="en-US" sz="1100">
                        <a:solidFill>
                          <a:schemeClr val="tx1"/>
                        </a:solidFill>
                        <a:sym typeface="+mn-ea"/>
                      </a:endParaRPr>
                    </a:p>
                  </a:txBody>
                  <a:tcPr anchor="ctr">
                    <a:lnL>
                      <a:noFill/>
                    </a:lnL>
                    <a:lnR>
                      <a:noFill/>
                    </a:lnR>
                    <a:lnT>
                      <a:noFill/>
                    </a:lnT>
                    <a:lnB w="12700">
                      <a:solidFill>
                        <a:srgbClr val="0070C0"/>
                      </a:solidFill>
                      <a:prstDash val="solid"/>
                    </a:lnB>
                  </a:tcPr>
                </a:tc>
                <a:tc>
                  <a:txBody>
                    <a:bodyPr/>
                    <a:p>
                      <a:pPr>
                        <a:buNone/>
                      </a:pPr>
                      <a:r>
                        <a:rPr lang="zh-CN" altLang="en-US" sz="1100" noProof="0" err="1">
                          <a:ln>
                            <a:noFill/>
                          </a:ln>
                          <a:effectLst/>
                          <a:uLnTx/>
                          <a:uFillTx/>
                          <a:sym typeface="+mn-ea"/>
                        </a:rPr>
                        <a:t>构建细分市场产品运营管理体系</a:t>
                      </a:r>
                      <a:endParaRPr kumimoji="1" lang="en-US" altLang="zh-CN" sz="1100" dirty="0">
                        <a:solidFill>
                          <a:schemeClr val="tx1"/>
                        </a:solidFill>
                      </a:endParaRPr>
                    </a:p>
                  </a:txBody>
                  <a:tcPr anchor="ctr">
                    <a:lnL>
                      <a:noFill/>
                    </a:lnL>
                    <a:lnR>
                      <a:noFill/>
                    </a:lnR>
                    <a:lnT>
                      <a:noFill/>
                    </a:lnT>
                    <a:lnB w="12700">
                      <a:solidFill>
                        <a:srgbClr val="0070C0"/>
                      </a:solidFill>
                      <a:prstDash val="solid"/>
                    </a:lnB>
                  </a:tcPr>
                </a:tc>
              </a:tr>
            </a:tbl>
          </a:graphicData>
        </a:graphic>
      </p:graphicFrame>
      <p:grpSp>
        <p:nvGrpSpPr>
          <p:cNvPr id="90" name="组 13"/>
          <p:cNvGrpSpPr/>
          <p:nvPr/>
        </p:nvGrpSpPr>
        <p:grpSpPr>
          <a:xfrm>
            <a:off x="10457930" y="4981070"/>
            <a:ext cx="1620285" cy="1782704"/>
            <a:chOff x="7775540" y="3646905"/>
            <a:chExt cx="1360242" cy="1496595"/>
          </a:xfrm>
        </p:grpSpPr>
        <p:sp>
          <p:nvSpPr>
            <p:cNvPr id="1048847" name="任意形状 6"/>
            <p:cNvSpPr/>
            <p:nvPr/>
          </p:nvSpPr>
          <p:spPr>
            <a:xfrm rot="16200000">
              <a:off x="7707364" y="3715081"/>
              <a:ext cx="1496595" cy="1360242"/>
            </a:xfrm>
            <a:custGeom>
              <a:avLst/>
              <a:gdLst>
                <a:gd name="connsiteX0" fmla="*/ 1496595 w 1496595"/>
                <a:gd name="connsiteY0" fmla="*/ 1360242 h 1360242"/>
                <a:gd name="connsiteX1" fmla="*/ 956557 w 1496595"/>
                <a:gd name="connsiteY1" fmla="*/ 1360242 h 1360242"/>
                <a:gd name="connsiteX2" fmla="*/ 0 w 1496595"/>
                <a:gd name="connsiteY2" fmla="*/ 490836 h 1360242"/>
                <a:gd name="connsiteX3" fmla="*/ 0 w 1496595"/>
                <a:gd name="connsiteY3" fmla="*/ 0 h 1360242"/>
              </a:gdLst>
              <a:ahLst/>
              <a:cxnLst>
                <a:cxn ang="0">
                  <a:pos x="connsiteX0" y="connsiteY0"/>
                </a:cxn>
                <a:cxn ang="0">
                  <a:pos x="connsiteX1" y="connsiteY1"/>
                </a:cxn>
                <a:cxn ang="0">
                  <a:pos x="connsiteX2" y="connsiteY2"/>
                </a:cxn>
                <a:cxn ang="0">
                  <a:pos x="connsiteX3" y="connsiteY3"/>
                </a:cxn>
              </a:cxnLst>
              <a:rect l="l" t="t" r="r" b="b"/>
              <a:pathLst>
                <a:path w="1496595" h="1360242">
                  <a:moveTo>
                    <a:pt x="1496595" y="1360242"/>
                  </a:moveTo>
                  <a:lnTo>
                    <a:pt x="956557" y="1360242"/>
                  </a:lnTo>
                  <a:lnTo>
                    <a:pt x="0" y="490836"/>
                  </a:lnTo>
                  <a:lnTo>
                    <a:pt x="0" y="0"/>
                  </a:lnTo>
                  <a:close/>
                </a:path>
              </a:pathLst>
            </a:custGeom>
            <a:solidFill>
              <a:srgbClr val="EF954D">
                <a:lumMod val="60000"/>
                <a:lumOff val="40000"/>
                <a:alpha val="72000"/>
              </a:srgbClr>
            </a:solidFill>
            <a:ln w="9525" cap="flat" cmpd="sng" algn="ctr">
              <a:noFill/>
              <a:prstDash val="solid"/>
            </a:ln>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400" b="0" i="0" u="none" strike="noStrike" kern="0" cap="none" spc="0" normalizeH="0" baseline="0" noProof="0" dirty="0">
                <a:ln>
                  <a:noFill/>
                </a:ln>
                <a:solidFill>
                  <a:srgbClr val="000000">
                    <a:lumMod val="85000"/>
                    <a:lumOff val="15000"/>
                  </a:srgbClr>
                </a:solidFill>
                <a:effectLst/>
                <a:uLnTx/>
                <a:uFillTx/>
                <a:latin typeface="Arial" panose="020B0604020202020204"/>
                <a:ea typeface="黑体" panose="02010609060101010101" charset="-122"/>
                <a:cs typeface="+mn-ea"/>
                <a:sym typeface="+mn-lt"/>
              </a:endParaRPr>
            </a:p>
          </p:txBody>
        </p:sp>
        <p:sp>
          <p:nvSpPr>
            <p:cNvPr id="1048848" name="文本框 23"/>
            <p:cNvSpPr txBox="1"/>
            <p:nvPr/>
          </p:nvSpPr>
          <p:spPr>
            <a:xfrm rot="18696404">
              <a:off x="8108713" y="4378932"/>
              <a:ext cx="825221" cy="343310"/>
            </a:xfrm>
            <a:prstGeom prst="rect">
              <a:avLst/>
            </a:prstGeom>
            <a:noFill/>
          </p:spPr>
          <p:txBody>
            <a:bodyPr wrap="none" rtlCol="0">
              <a:spAutoFit/>
            </a:bodyPr>
            <a:p>
              <a:pPr marL="0" marR="0" lvl="0" indent="0" algn="ctr" defTabSz="914400" rtl="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示例</a:t>
              </a:r>
              <a:endParaRPr kumimoji="1" lang="en-US" altLang="zh-CN"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pPr>
              <a:r>
                <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（内容将更新</a:t>
              </a:r>
              <a:r>
                <a:rPr kumimoji="1" lang="en-US" altLang="zh-CN"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a:t>
              </a:r>
              <a:endPar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846" name="标题 1"/>
          <p:cNvSpPr>
            <a:spLocks noGrp="1"/>
          </p:cNvSpPr>
          <p:nvPr>
            <p:ph type="title"/>
          </p:nvPr>
        </p:nvSpPr>
        <p:spPr/>
        <p:txBody>
          <a:bodyPr/>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绩效表|</a:t>
            </a:r>
            <a:r>
              <a:rPr lang="zh-CN" altLang="en-US">
                <a:sym typeface="+mn-ea"/>
              </a:rPr>
              <a:t>市场领域专项行动计划</a:t>
            </a:r>
            <a:endParaRPr lang="zh-CN" altLang="en-US" dirty="0"/>
          </a:p>
        </p:txBody>
      </p:sp>
      <p:graphicFrame>
        <p:nvGraphicFramePr>
          <p:cNvPr id="4194305" name="表格 20"/>
          <p:cNvGraphicFramePr/>
          <p:nvPr>
            <p:custDataLst>
              <p:tags r:id="rId1"/>
            </p:custDataLst>
          </p:nvPr>
        </p:nvGraphicFramePr>
        <p:xfrm>
          <a:off x="407670" y="1017905"/>
          <a:ext cx="11376660" cy="2501265"/>
        </p:xfrm>
        <a:graphic>
          <a:graphicData uri="http://schemas.openxmlformats.org/drawingml/2006/table">
            <a:tbl>
              <a:tblPr firstRow="1" bandRow="1">
                <a:tableStyleId>{69012ECD-51FC-41F1-AA8D-1B2483CD663E}</a:tableStyleId>
              </a:tblPr>
              <a:tblGrid>
                <a:gridCol w="1188720"/>
                <a:gridCol w="1819910"/>
                <a:gridCol w="2165350"/>
                <a:gridCol w="4199890"/>
                <a:gridCol w="2002790"/>
              </a:tblGrid>
              <a:tr h="548005">
                <a:tc gridSpan="5">
                  <a:txBody>
                    <a:bodyPr/>
                    <a:p>
                      <a:pPr algn="ctr">
                        <a:buNone/>
                      </a:pPr>
                      <a:r>
                        <a:rPr lang="zh-CN" altLang="en-US" sz="1600">
                          <a:solidFill>
                            <a:schemeClr val="tx1"/>
                          </a:solidFill>
                        </a:rPr>
                        <a:t>绩效表</a:t>
                      </a:r>
                      <a:endParaRPr lang="zh-CN" altLang="en-US" sz="1600">
                        <a:solidFill>
                          <a:schemeClr val="tx1"/>
                        </a:solidFill>
                      </a:endParaRPr>
                    </a:p>
                  </a:txBody>
                  <a:tcPr anchor="ctr">
                    <a:lnL>
                      <a:noFill/>
                    </a:lnL>
                    <a:lnR>
                      <a:noFill/>
                    </a:lnR>
                    <a:lnT w="12700" cap="flat" cmpd="sng" algn="ctr">
                      <a:solidFill>
                        <a:srgbClr val="0070BF"/>
                      </a:solidFill>
                      <a:prstDash val="solid"/>
                      <a:miter lim="800000"/>
                    </a:lnT>
                    <a:noFill/>
                  </a:tcPr>
                </a:tc>
                <a:tc hMerge="1">
                  <a:tcPr anchor="ctr">
                    <a:lnT w="12700" cap="flat" cmpd="sng" algn="ctr">
                      <a:solidFill>
                        <a:srgbClr val="0070BF"/>
                      </a:solidFill>
                      <a:prstDash val="solid"/>
                      <a:miter lim="800000"/>
                    </a:lnT>
                    <a:noFill/>
                  </a:tcPr>
                </a:tc>
                <a:tc hMerge="1">
                  <a:tcPr anchor="ctr">
                    <a:lnT w="12700" cap="flat" cmpd="sng" algn="ctr">
                      <a:solidFill>
                        <a:srgbClr val="0070BF"/>
                      </a:solidFill>
                      <a:prstDash val="solid"/>
                      <a:miter lim="800000"/>
                    </a:lnT>
                    <a:noFill/>
                  </a:tcPr>
                </a:tc>
                <a:tc hMerge="1">
                  <a:tcPr anchor="ctr">
                    <a:lnT w="12700" cap="flat" cmpd="sng" algn="ctr">
                      <a:solidFill>
                        <a:srgbClr val="0070BF"/>
                      </a:solidFill>
                      <a:prstDash val="solid"/>
                      <a:miter lim="800000"/>
                    </a:lnT>
                    <a:noFill/>
                  </a:tcPr>
                </a:tc>
                <a:tc hMerge="1">
                  <a:tcPr anchor="ctr">
                    <a:lnR>
                      <a:noFill/>
                    </a:lnR>
                    <a:lnT w="12700" cap="flat" cmpd="sng" algn="ctr">
                      <a:solidFill>
                        <a:srgbClr val="0070BF"/>
                      </a:solidFill>
                      <a:prstDash val="solid"/>
                      <a:miter lim="800000"/>
                    </a:lnT>
                    <a:noFill/>
                  </a:tcPr>
                </a:tc>
              </a:tr>
              <a:tr h="548640">
                <a:tc>
                  <a:txBody>
                    <a:bodyPr/>
                    <a:p>
                      <a:pPr algn="ctr">
                        <a:buNone/>
                      </a:pPr>
                      <a:r>
                        <a:rPr lang="zh-CN" altLang="en-US" sz="1200" b="1">
                          <a:solidFill>
                            <a:schemeClr val="tx1"/>
                          </a:solidFill>
                        </a:rPr>
                        <a:t>路径</a:t>
                      </a:r>
                      <a:endParaRPr lang="zh-CN" altLang="en-US" sz="1200" b="1">
                        <a:solidFill>
                          <a:schemeClr val="tx1"/>
                        </a:solidFill>
                      </a:endParaRPr>
                    </a:p>
                  </a:txBody>
                  <a:tcPr anchor="ctr">
                    <a:lnL>
                      <a:noFill/>
                    </a:lnL>
                    <a:solidFill>
                      <a:srgbClr val="CCE2F2"/>
                    </a:solidFill>
                  </a:tcPr>
                </a:tc>
                <a:tc>
                  <a:txBody>
                    <a:bodyPr/>
                    <a:p>
                      <a:pPr algn="ctr">
                        <a:buNone/>
                      </a:pPr>
                      <a:r>
                        <a:rPr lang="zh-CN" altLang="en-US" sz="1200" b="1">
                          <a:solidFill>
                            <a:schemeClr val="tx1"/>
                          </a:solidFill>
                        </a:rPr>
                        <a:t>任务</a:t>
                      </a:r>
                      <a:endParaRPr lang="zh-CN" altLang="en-US" sz="1200" b="1">
                        <a:solidFill>
                          <a:schemeClr val="tx1"/>
                        </a:solidFill>
                      </a:endParaRPr>
                    </a:p>
                  </a:txBody>
                  <a:tcPr anchor="ctr">
                    <a:solidFill>
                      <a:srgbClr val="CCE2F2"/>
                    </a:solidFill>
                  </a:tcPr>
                </a:tc>
                <a:tc>
                  <a:txBody>
                    <a:bodyPr/>
                    <a:p>
                      <a:pPr algn="ctr">
                        <a:buNone/>
                      </a:pPr>
                      <a:r>
                        <a:rPr lang="zh-CN" altLang="en-US" sz="1200" b="1">
                          <a:solidFill>
                            <a:schemeClr val="tx1"/>
                          </a:solidFill>
                        </a:rPr>
                        <a:t>指标名称</a:t>
                      </a:r>
                      <a:endParaRPr lang="zh-CN" altLang="en-US" sz="1200" b="1">
                        <a:solidFill>
                          <a:schemeClr val="tx1"/>
                        </a:solidFill>
                      </a:endParaRPr>
                    </a:p>
                  </a:txBody>
                  <a:tcPr anchor="ctr">
                    <a:solidFill>
                      <a:srgbClr val="CCE2F2"/>
                    </a:solidFill>
                  </a:tcPr>
                </a:tc>
                <a:tc>
                  <a:txBody>
                    <a:bodyPr/>
                    <a:p>
                      <a:pPr algn="ctr">
                        <a:buNone/>
                      </a:pPr>
                      <a:r>
                        <a:rPr lang="zh-CN" altLang="en-US" sz="1200" b="1">
                          <a:solidFill>
                            <a:schemeClr val="tx1"/>
                          </a:solidFill>
                        </a:rPr>
                        <a:t>指标解释</a:t>
                      </a:r>
                      <a:endParaRPr lang="zh-CN" altLang="en-US" sz="1200" b="1">
                        <a:solidFill>
                          <a:schemeClr val="tx1"/>
                        </a:solidFill>
                      </a:endParaRPr>
                    </a:p>
                  </a:txBody>
                  <a:tcPr anchor="ctr">
                    <a:solidFill>
                      <a:srgbClr val="CCE2F2"/>
                    </a:solidFill>
                  </a:tcPr>
                </a:tc>
                <a:tc>
                  <a:txBody>
                    <a:bodyPr/>
                    <a:p>
                      <a:pPr algn="ctr">
                        <a:buNone/>
                      </a:pPr>
                      <a:r>
                        <a:rPr lang="en-US" altLang="zh-CN" sz="1200" b="1">
                          <a:solidFill>
                            <a:schemeClr val="tx1"/>
                          </a:solidFill>
                        </a:rPr>
                        <a:t>2025</a:t>
                      </a:r>
                      <a:r>
                        <a:rPr lang="zh-CN" altLang="en-US" sz="1200" b="1">
                          <a:solidFill>
                            <a:schemeClr val="tx1"/>
                          </a:solidFill>
                        </a:rPr>
                        <a:t>年底目标值</a:t>
                      </a:r>
                      <a:endParaRPr lang="zh-CN" altLang="en-US" sz="1200" b="1">
                        <a:solidFill>
                          <a:schemeClr val="tx1"/>
                        </a:solidFill>
                      </a:endParaRPr>
                    </a:p>
                  </a:txBody>
                  <a:tcPr anchor="ctr">
                    <a:lnR>
                      <a:noFill/>
                    </a:lnR>
                    <a:solidFill>
                      <a:srgbClr val="CCE2F2"/>
                    </a:solidFill>
                  </a:tcPr>
                </a:tc>
              </a:tr>
              <a:tr h="856615">
                <a:tc rowSpan="2">
                  <a:txBody>
                    <a:bodyPr/>
                    <a:p>
                      <a:pPr indent="0" algn="ctr" fontAlgn="auto">
                        <a:lnSpc>
                          <a:spcPct val="100000"/>
                        </a:lnSpc>
                      </a:pPr>
                      <a:r>
                        <a:rPr lang="zh-CN" altLang="en-US" sz="1200" b="1" kern="100" dirty="0">
                          <a:effectLst/>
                          <a:latin typeface="微软雅黑" panose="020B0503020204020204" pitchFamily="34" charset="-122"/>
                          <a:ea typeface="微软雅黑" panose="020B0503020204020204" pitchFamily="34" charset="-122"/>
                          <a:sym typeface="+mn-ea"/>
                        </a:rPr>
                        <a:t>升级融合运营能力，建强客户全生命周期运营</a:t>
                      </a:r>
                      <a:endParaRPr lang="zh-CN" altLang="en-US" sz="1200" b="1" dirty="0"/>
                    </a:p>
                  </a:txBody>
                  <a:tcPr anchor="ctr">
                    <a:lnL>
                      <a:noFill/>
                    </a:lnL>
                  </a:tcPr>
                </a:tc>
                <a:tc>
                  <a:txBody>
                    <a:bodyPr/>
                    <a:p>
                      <a:pPr algn="ctr">
                        <a:buNone/>
                      </a:pPr>
                      <a:r>
                        <a:rPr lang="zh-CN" altLang="en-US" sz="1200">
                          <a:sym typeface="+mn-ea"/>
                        </a:rPr>
                        <a:t>全产品灵活封装供给</a:t>
                      </a:r>
                      <a:endParaRPr lang="zh-CN" altLang="en-US" sz="1200"/>
                    </a:p>
                  </a:txBody>
                  <a:tcPr anchor="ctr">
                    <a:lnR>
                      <a:noFill/>
                    </a:lnR>
                    <a:lnB>
                      <a:noFill/>
                    </a:lnB>
                  </a:tcPr>
                </a:tc>
                <a:tc>
                  <a:txBody>
                    <a:bodyPr/>
                    <a:p>
                      <a:pPr algn="l">
                        <a:buNone/>
                      </a:pPr>
                      <a:r>
                        <a:rPr lang="zh-CN" altLang="en-US" sz="1100" kern="100" dirty="0">
                          <a:effectLst/>
                        </a:rPr>
                        <a:t>产品收入增幅率</a:t>
                      </a:r>
                      <a:endParaRPr lang="zh-CN" altLang="en-US" sz="1100" kern="100" dirty="0">
                        <a:effectLst/>
                      </a:endParaRPr>
                    </a:p>
                  </a:txBody>
                  <a:tcPr anchor="ctr">
                    <a:lnL>
                      <a:noFill/>
                    </a:lnL>
                    <a:lnR>
                      <a:noFill/>
                    </a:lnR>
                    <a:lnB>
                      <a:noFill/>
                    </a:lnB>
                  </a:tcPr>
                </a:tc>
                <a:tc>
                  <a:txBody>
                    <a:bodyPr/>
                    <a:p>
                      <a:pPr marR="0" lvl="0" algn="l" defTabSz="914400" rtl="0" eaLnBrk="1" fontAlgn="auto" latinLnBrk="0" hangingPunct="1">
                        <a:lnSpc>
                          <a:spcPct val="150000"/>
                        </a:lnSpc>
                        <a:buClrTx/>
                        <a:buSzTx/>
                        <a:buFontTx/>
                        <a:buNone/>
                      </a:pPr>
                      <a:r>
                        <a:rPr lang="zh-CN" altLang="en-US" sz="1100" kern="100" noProof="0" dirty="0">
                          <a:ln>
                            <a:noFill/>
                          </a:ln>
                          <a:solidFill>
                            <a:srgbClr val="000000"/>
                          </a:solidFill>
                          <a:effectLst/>
                          <a:uLnTx/>
                          <a:uFillTx/>
                          <a:sym typeface="+mn-ea"/>
                        </a:rPr>
                        <a:t>产品收入增幅率= (本期产品收入−上期产品收入)/上期产品收入×100%</a:t>
                      </a:r>
                      <a:endParaRPr lang="en-US" altLang="zh-CN" sz="1100" kern="100" noProof="0" dirty="0">
                        <a:ln>
                          <a:noFill/>
                        </a:ln>
                        <a:effectLst/>
                        <a:uLnTx/>
                        <a:uFillTx/>
                      </a:endParaRPr>
                    </a:p>
                  </a:txBody>
                  <a:tcPr anchor="ctr">
                    <a:lnL>
                      <a:noFill/>
                    </a:lnL>
                    <a:lnR>
                      <a:noFill/>
                    </a:lnR>
                    <a:lnB>
                      <a:noFill/>
                    </a:lnB>
                  </a:tcPr>
                </a:tc>
                <a:tc>
                  <a:txBody>
                    <a:bodyPr/>
                    <a:p>
                      <a:pPr algn="ctr">
                        <a:buNone/>
                      </a:pPr>
                      <a:r>
                        <a:rPr lang="zh-CN" altLang="en-US" sz="1100" kern="100" dirty="0">
                          <a:effectLst/>
                          <a:latin typeface="+mn-ea"/>
                          <a:cs typeface="Times New Roman" panose="02020603050405020304" pitchFamily="18" charset="0"/>
                          <a:sym typeface="+mn-ea"/>
                        </a:rPr>
                        <a:t>≥</a:t>
                      </a:r>
                      <a:r>
                        <a:rPr lang="en-US" altLang="zh-CN" sz="1100" kern="100" dirty="0">
                          <a:effectLst/>
                          <a:latin typeface="+mn-ea"/>
                          <a:cs typeface="Times New Roman" panose="02020603050405020304" pitchFamily="18" charset="0"/>
                          <a:sym typeface="+mn-ea"/>
                        </a:rPr>
                        <a:t>10%</a:t>
                      </a:r>
                      <a:endParaRPr lang="en-US" altLang="en-US" sz="1100" kern="100" dirty="0">
                        <a:effectLst/>
                      </a:endParaRPr>
                    </a:p>
                  </a:txBody>
                  <a:tcPr anchor="ctr">
                    <a:lnL>
                      <a:noFill/>
                    </a:lnL>
                    <a:lnR>
                      <a:noFill/>
                    </a:lnR>
                    <a:lnB>
                      <a:noFill/>
                    </a:lnB>
                  </a:tcPr>
                </a:tc>
              </a:tr>
              <a:tr h="548005">
                <a:tc vMerge="1">
                  <a:tcPr>
                    <a:lnL>
                      <a:noFill/>
                    </a:lnL>
                  </a:tcPr>
                </a:tc>
                <a:tc>
                  <a:txBody>
                    <a:bodyPr/>
                    <a:p>
                      <a:pPr algn="ctr">
                        <a:buNone/>
                      </a:pPr>
                      <a:r>
                        <a:rPr lang="zh-CN" altLang="en-US" sz="1200">
                          <a:sym typeface="+mn-ea"/>
                        </a:rPr>
                        <a:t>建强产品全生命周期运营</a:t>
                      </a:r>
                      <a:endParaRPr lang="zh-CN" altLang="en-US" sz="1200"/>
                    </a:p>
                  </a:txBody>
                  <a:tcPr anchor="ctr">
                    <a:lnR>
                      <a:noFill/>
                    </a:lnR>
                    <a:lnT>
                      <a:noFill/>
                    </a:lnT>
                  </a:tcPr>
                </a:tc>
                <a:tc>
                  <a:txBody>
                    <a:bodyPr/>
                    <a:p>
                      <a:pPr algn="l">
                        <a:buNone/>
                      </a:pPr>
                      <a:r>
                        <a:rPr lang="zh-CN" altLang="en-US" sz="1100"/>
                        <a:t>集省任务协同总时长</a:t>
                      </a:r>
                      <a:endParaRPr lang="zh-CN" altLang="en-US" sz="1100"/>
                    </a:p>
                  </a:txBody>
                  <a:tcPr anchor="ctr">
                    <a:lnL>
                      <a:noFill/>
                    </a:lnL>
                    <a:lnR>
                      <a:noFill/>
                    </a:lnR>
                    <a:lnT>
                      <a:noFill/>
                    </a:lnT>
                  </a:tcPr>
                </a:tc>
                <a:tc>
                  <a:txBody>
                    <a:bodyPr/>
                    <a:p>
                      <a:pPr algn="l">
                        <a:buNone/>
                      </a:pPr>
                      <a:r>
                        <a:rPr sz="1100"/>
                        <a:t>集省任务协同总时长= 录单 + 任务处理 + 超时跟催</a:t>
                      </a:r>
                      <a:endParaRPr sz="1100"/>
                    </a:p>
                  </a:txBody>
                  <a:tcPr anchor="ctr">
                    <a:lnL>
                      <a:noFill/>
                    </a:lnL>
                    <a:lnR>
                      <a:noFill/>
                    </a:lnR>
                    <a:lnT>
                      <a:noFill/>
                    </a:lnT>
                  </a:tcPr>
                </a:tc>
                <a:tc>
                  <a:txBody>
                    <a:bodyPr/>
                    <a:p>
                      <a:pPr algn="ctr">
                        <a:buNone/>
                      </a:pPr>
                      <a:r>
                        <a:rPr lang="en-US" altLang="zh-CN" sz="1100"/>
                        <a:t>缩减30%</a:t>
                      </a:r>
                      <a:endParaRPr lang="en-US" altLang="zh-CN" sz="1100"/>
                    </a:p>
                  </a:txBody>
                  <a:tcPr anchor="ctr">
                    <a:lnL>
                      <a:noFill/>
                    </a:lnL>
                    <a:lnR>
                      <a:noFill/>
                    </a:lnR>
                    <a:lnT>
                      <a:noFill/>
                    </a:lnT>
                  </a:tcPr>
                </a:tc>
              </a:tr>
            </a:tbl>
          </a:graphicData>
        </a:graphic>
      </p:graphicFrame>
      <p:grpSp>
        <p:nvGrpSpPr>
          <p:cNvPr id="90" name="组 13"/>
          <p:cNvGrpSpPr/>
          <p:nvPr/>
        </p:nvGrpSpPr>
        <p:grpSpPr>
          <a:xfrm>
            <a:off x="10457930" y="4981070"/>
            <a:ext cx="1620285" cy="1782704"/>
            <a:chOff x="7775540" y="3646905"/>
            <a:chExt cx="1360242" cy="1496595"/>
          </a:xfrm>
        </p:grpSpPr>
        <p:sp>
          <p:nvSpPr>
            <p:cNvPr id="1048847" name="任意形状 6"/>
            <p:cNvSpPr/>
            <p:nvPr/>
          </p:nvSpPr>
          <p:spPr>
            <a:xfrm rot="16200000">
              <a:off x="7707364" y="3715081"/>
              <a:ext cx="1496595" cy="1360242"/>
            </a:xfrm>
            <a:custGeom>
              <a:avLst/>
              <a:gdLst>
                <a:gd name="connsiteX0" fmla="*/ 1496595 w 1496595"/>
                <a:gd name="connsiteY0" fmla="*/ 1360242 h 1360242"/>
                <a:gd name="connsiteX1" fmla="*/ 956557 w 1496595"/>
                <a:gd name="connsiteY1" fmla="*/ 1360242 h 1360242"/>
                <a:gd name="connsiteX2" fmla="*/ 0 w 1496595"/>
                <a:gd name="connsiteY2" fmla="*/ 490836 h 1360242"/>
                <a:gd name="connsiteX3" fmla="*/ 0 w 1496595"/>
                <a:gd name="connsiteY3" fmla="*/ 0 h 1360242"/>
              </a:gdLst>
              <a:ahLst/>
              <a:cxnLst>
                <a:cxn ang="0">
                  <a:pos x="connsiteX0" y="connsiteY0"/>
                </a:cxn>
                <a:cxn ang="0">
                  <a:pos x="connsiteX1" y="connsiteY1"/>
                </a:cxn>
                <a:cxn ang="0">
                  <a:pos x="connsiteX2" y="connsiteY2"/>
                </a:cxn>
                <a:cxn ang="0">
                  <a:pos x="connsiteX3" y="connsiteY3"/>
                </a:cxn>
              </a:cxnLst>
              <a:rect l="l" t="t" r="r" b="b"/>
              <a:pathLst>
                <a:path w="1496595" h="1360242">
                  <a:moveTo>
                    <a:pt x="1496595" y="1360242"/>
                  </a:moveTo>
                  <a:lnTo>
                    <a:pt x="956557" y="1360242"/>
                  </a:lnTo>
                  <a:lnTo>
                    <a:pt x="0" y="490836"/>
                  </a:lnTo>
                  <a:lnTo>
                    <a:pt x="0" y="0"/>
                  </a:lnTo>
                  <a:close/>
                </a:path>
              </a:pathLst>
            </a:custGeom>
            <a:solidFill>
              <a:srgbClr val="EF954D">
                <a:lumMod val="60000"/>
                <a:lumOff val="40000"/>
                <a:alpha val="72000"/>
              </a:srgbClr>
            </a:solidFill>
            <a:ln w="9525" cap="flat" cmpd="sng" algn="ctr">
              <a:noFill/>
              <a:prstDash val="solid"/>
            </a:ln>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400" b="0" i="0" u="none" strike="noStrike" kern="0" cap="none" spc="0" normalizeH="0" baseline="0" noProof="0" dirty="0">
                <a:ln>
                  <a:noFill/>
                </a:ln>
                <a:solidFill>
                  <a:srgbClr val="000000">
                    <a:lumMod val="85000"/>
                    <a:lumOff val="15000"/>
                  </a:srgbClr>
                </a:solidFill>
                <a:effectLst/>
                <a:uLnTx/>
                <a:uFillTx/>
                <a:latin typeface="Arial" panose="020B0604020202020204"/>
                <a:ea typeface="黑体" panose="02010609060101010101" charset="-122"/>
                <a:cs typeface="+mn-ea"/>
                <a:sym typeface="+mn-lt"/>
              </a:endParaRPr>
            </a:p>
          </p:txBody>
        </p:sp>
        <p:sp>
          <p:nvSpPr>
            <p:cNvPr id="1048848" name="文本框 23"/>
            <p:cNvSpPr txBox="1"/>
            <p:nvPr/>
          </p:nvSpPr>
          <p:spPr>
            <a:xfrm rot="18696404">
              <a:off x="8108713" y="4378932"/>
              <a:ext cx="825221" cy="343310"/>
            </a:xfrm>
            <a:prstGeom prst="rect">
              <a:avLst/>
            </a:prstGeom>
            <a:noFill/>
          </p:spPr>
          <p:txBody>
            <a:bodyPr wrap="none" rtlCol="0">
              <a:spAutoFit/>
            </a:bodyPr>
            <a:p>
              <a:pPr marL="0" marR="0" lvl="0" indent="0" algn="ctr" defTabSz="914400" rtl="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示例</a:t>
              </a:r>
              <a:endParaRPr kumimoji="1" lang="en-US" altLang="zh-CN"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pPr>
              <a:r>
                <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（内容将更新</a:t>
              </a:r>
              <a:r>
                <a:rPr kumimoji="1" lang="en-US" altLang="zh-CN"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a:t>
              </a:r>
              <a:endPar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p:txBody>
        </p:sp>
      </p:grpSp>
      <p:sp>
        <p:nvSpPr>
          <p:cNvPr id="12" name="文本框 11"/>
          <p:cNvSpPr txBox="1"/>
          <p:nvPr/>
        </p:nvSpPr>
        <p:spPr>
          <a:xfrm>
            <a:off x="7599045" y="274320"/>
            <a:ext cx="3748405" cy="1266190"/>
          </a:xfrm>
          <a:prstGeom prst="rect">
            <a:avLst/>
          </a:prstGeom>
          <a:solidFill>
            <a:srgbClr val="C00000"/>
          </a:solidFill>
        </p:spPr>
        <p:txBody>
          <a:bodyPr wrap="square" rtlCol="0">
            <a:noAutofit/>
          </a:bodyPr>
          <a:p>
            <a:pPr algn="l"/>
            <a:r>
              <a:rPr kumimoji="1" lang="zh-CN" altLang="en-US" sz="1400" dirty="0" smtClean="0">
                <a:solidFill>
                  <a:schemeClr val="bg1"/>
                </a:solidFill>
                <a:latin typeface="微软雅黑" panose="020B0503020204020204" pitchFamily="34" charset="-122"/>
                <a:ea typeface="微软雅黑" panose="020B0503020204020204" pitchFamily="34" charset="-122"/>
              </a:rPr>
              <a:t>请每个举措补充一页绩效表</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副标题 2"/>
          <p:cNvSpPr txBox="1">
            <a:spLocks noChangeArrowheads="1"/>
          </p:cNvSpPr>
          <p:nvPr/>
        </p:nvSpPr>
        <p:spPr bwMode="auto">
          <a:xfrm>
            <a:off x="1202055" y="2354580"/>
            <a:ext cx="10017125" cy="1301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62" tIns="34281" rIns="68562" bIns="34281"/>
          <a:lstStyle>
            <a:lvl1pPr defTabSz="457200" eaLnBrk="0" hangingPunct="0">
              <a:defRPr>
                <a:solidFill>
                  <a:schemeClr val="tx1"/>
                </a:solidFill>
                <a:latin typeface="Calibri" panose="020F0502020204030204" charset="0"/>
                <a:ea typeface="宋体" panose="02010600030101010101" pitchFamily="2" charset="-122"/>
              </a:defRPr>
            </a:lvl1pPr>
            <a:lvl2pPr marL="742950" indent="-285750" defTabSz="457200" eaLnBrk="0" hangingPunct="0">
              <a:defRPr>
                <a:solidFill>
                  <a:schemeClr val="tx1"/>
                </a:solidFill>
                <a:latin typeface="Calibri" panose="020F0502020204030204" charset="0"/>
                <a:ea typeface="宋体" panose="02010600030101010101" pitchFamily="2" charset="-122"/>
              </a:defRPr>
            </a:lvl2pPr>
            <a:lvl3pPr marL="1143000" indent="-228600" defTabSz="457200" eaLnBrk="0" hangingPunct="0">
              <a:defRPr>
                <a:solidFill>
                  <a:schemeClr val="tx1"/>
                </a:solidFill>
                <a:latin typeface="Calibri" panose="020F0502020204030204" charset="0"/>
                <a:ea typeface="宋体" panose="02010600030101010101" pitchFamily="2" charset="-122"/>
              </a:defRPr>
            </a:lvl3pPr>
            <a:lvl4pPr marL="1600200" indent="-228600" defTabSz="457200" eaLnBrk="0" hangingPunct="0">
              <a:defRPr>
                <a:solidFill>
                  <a:schemeClr val="tx1"/>
                </a:solidFill>
                <a:latin typeface="Calibri" panose="020F0502020204030204" charset="0"/>
                <a:ea typeface="宋体" panose="02010600030101010101" pitchFamily="2" charset="-122"/>
              </a:defRPr>
            </a:lvl4pPr>
            <a:lvl5pPr marL="2057400" indent="-228600" defTabSz="457200" eaLnBrk="0" hangingPunct="0">
              <a:defRPr>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lnSpc>
                <a:spcPct val="150000"/>
              </a:lnSpc>
            </a:pPr>
            <a:r>
              <a:rPr lang="zh-CN" altLang="en-US" sz="4400" b="1" dirty="0">
                <a:solidFill>
                  <a:srgbClr val="0070C0"/>
                </a:solidFill>
                <a:latin typeface="+mn-lt"/>
                <a:ea typeface="+mn-ea"/>
                <a:cs typeface="+mn-ea"/>
                <a:sym typeface="+mn-lt"/>
              </a:rPr>
              <a:t>感谢聆听！</a:t>
            </a:r>
            <a:endParaRPr lang="zh-CN" altLang="en-US" sz="4400" b="1" dirty="0">
              <a:solidFill>
                <a:srgbClr val="0070C0"/>
              </a:solidFill>
              <a:latin typeface="+mn-lt"/>
              <a:ea typeface="+mn-ea"/>
              <a:cs typeface="+mn-ea"/>
              <a:sym typeface="+mn-lt"/>
            </a:endParaRPr>
          </a:p>
          <a:p>
            <a:pPr algn="ctr" eaLnBrk="1" hangingPunct="1">
              <a:lnSpc>
                <a:spcPct val="150000"/>
              </a:lnSpc>
            </a:pPr>
            <a:r>
              <a:rPr lang="zh-CN" altLang="en-US" sz="4400" b="1" dirty="0">
                <a:solidFill>
                  <a:srgbClr val="0070C0"/>
                </a:solidFill>
                <a:latin typeface="+mn-lt"/>
                <a:ea typeface="+mn-ea"/>
                <a:cs typeface="+mn-ea"/>
                <a:sym typeface="+mn-lt"/>
              </a:rPr>
              <a:t>请领导批评指正！</a:t>
            </a:r>
            <a:endParaRPr lang="zh-CN" altLang="en-US" sz="4400" b="1" dirty="0">
              <a:solidFill>
                <a:srgbClr val="0070C0"/>
              </a:solidFill>
              <a:latin typeface="+mn-lt"/>
              <a:ea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002662" y="5201510"/>
            <a:ext cx="10782301" cy="1376836"/>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195" fontAlgn="base">
              <a:lnSpc>
                <a:spcPct val="150000"/>
              </a:lnSpc>
              <a:spcBef>
                <a:spcPct val="0"/>
              </a:spcBef>
              <a:spcAft>
                <a:spcPct val="0"/>
              </a:spcAft>
              <a:buClr>
                <a:schemeClr val="accent1"/>
              </a:buClr>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6" name="矩形 5"/>
          <p:cNvSpPr/>
          <p:nvPr/>
        </p:nvSpPr>
        <p:spPr>
          <a:xfrm>
            <a:off x="365124" y="1908718"/>
            <a:ext cx="1753870"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ct val="150000"/>
              </a:lnSpc>
              <a:buFont typeface="Arial" panose="020B0604020202020204" pitchFamily="34" charset="0"/>
              <a:buChar char="•"/>
              <a:defRPr/>
            </a:pPr>
            <a:r>
              <a:rPr kumimoji="1" lang="zh-CN" altLang="en-US" sz="1100" kern="0" dirty="0">
                <a:solidFill>
                  <a:schemeClr val="tx1"/>
                </a:solidFill>
                <a:latin typeface="微软雅黑" panose="020B0503020204020204" pitchFamily="34" charset="-122"/>
                <a:ea typeface="微软雅黑" panose="020B0503020204020204" pitchFamily="34" charset="-122"/>
                <a:cs typeface="+mn-ea"/>
                <a:sym typeface="+mn-ea"/>
              </a:rPr>
              <a:t>关键指标</a:t>
            </a:r>
            <a:r>
              <a:rPr kumimoji="1" lang="zh-CN" altLang="en-US" sz="1100" b="1" kern="0" dirty="0">
                <a:solidFill>
                  <a:srgbClr val="C00000"/>
                </a:solidFill>
                <a:latin typeface="微软雅黑" panose="020B0503020204020204" pitchFamily="34" charset="-122"/>
                <a:ea typeface="微软雅黑" panose="020B0503020204020204" pitchFamily="34" charset="-122"/>
                <a:cs typeface="+mn-ea"/>
                <a:sym typeface="+mn-ea"/>
              </a:rPr>
              <a:t>采集手段缺失，</a:t>
            </a:r>
            <a:r>
              <a:rPr kumimoji="1" lang="zh-CN" altLang="en-US" sz="1100" kern="0" dirty="0">
                <a:solidFill>
                  <a:schemeClr val="tx1"/>
                </a:solidFill>
                <a:latin typeface="微软雅黑" panose="020B0503020204020204" pitchFamily="34" charset="-122"/>
                <a:ea typeface="微软雅黑" panose="020B0503020204020204" pitchFamily="34" charset="-122"/>
                <a:cs typeface="+mn-ea"/>
              </a:rPr>
              <a:t>数据汇聚仍有短板。</a:t>
            </a:r>
            <a:endParaRPr kumimoji="1" lang="en-US" altLang="zh-CN" sz="1100" kern="0" dirty="0">
              <a:solidFill>
                <a:schemeClr val="tx1"/>
              </a:solidFill>
              <a:latin typeface="微软雅黑" panose="020B0503020204020204" pitchFamily="34" charset="-122"/>
              <a:ea typeface="微软雅黑" panose="020B0503020204020204" pitchFamily="34" charset="-122"/>
              <a:cs typeface="+mn-ea"/>
              <a:sym typeface="+mn-ea"/>
            </a:endParaRPr>
          </a:p>
          <a:p>
            <a:pPr marL="171450" lvl="0" indent="-171450" algn="l" fontAlgn="auto">
              <a:lnSpc>
                <a:spcPct val="150000"/>
              </a:lnSpc>
              <a:spcBef>
                <a:spcPts val="0"/>
              </a:spcBef>
              <a:buClrTx/>
              <a:buSzTx/>
              <a:buFont typeface="Arial" panose="020B0604020202020204" pitchFamily="34" charset="0"/>
              <a:buChar char="•"/>
              <a:defRPr/>
            </a:pPr>
            <a:r>
              <a:rPr kumimoji="1" lang="zh-CN" altLang="en-US" sz="1100" b="1" kern="0" dirty="0">
                <a:solidFill>
                  <a:srgbClr val="C00000"/>
                </a:solidFill>
                <a:latin typeface="微软雅黑" panose="020B0503020204020204" pitchFamily="34" charset="-122"/>
                <a:ea typeface="微软雅黑" panose="020B0503020204020204" pitchFamily="34" charset="-122"/>
                <a:cs typeface="+mn-ea"/>
                <a:sym typeface="+mn-ea"/>
              </a:rPr>
              <a:t>缺少全局洞察感知</a:t>
            </a:r>
            <a:r>
              <a:rPr kumimoji="1" lang="zh-CN" altLang="en-US" sz="1100" kern="0" dirty="0">
                <a:solidFill>
                  <a:schemeClr val="tx1"/>
                </a:solidFill>
                <a:latin typeface="微软雅黑" panose="020B0503020204020204" pitchFamily="34" charset="-122"/>
                <a:ea typeface="微软雅黑" panose="020B0503020204020204" pitchFamily="34" charset="-122"/>
                <a:cs typeface="+mn-ea"/>
                <a:sym typeface="+mn-ea"/>
              </a:rPr>
              <a:t>能力，前瞻性不足。</a:t>
            </a:r>
            <a:endParaRPr kumimoji="1" lang="en-US" altLang="zh-CN" sz="1100" kern="0" dirty="0">
              <a:solidFill>
                <a:schemeClr val="tx1"/>
              </a:solidFill>
              <a:latin typeface="微软雅黑" panose="020B0503020204020204" pitchFamily="34" charset="-122"/>
              <a:ea typeface="微软雅黑" panose="020B0503020204020204" pitchFamily="34" charset="-122"/>
              <a:cs typeface="+mn-ea"/>
              <a:sym typeface="+mn-ea"/>
            </a:endParaRPr>
          </a:p>
          <a:p>
            <a:pPr marL="171450" lvl="0" indent="-171450" algn="l" fontAlgn="auto">
              <a:lnSpc>
                <a:spcPct val="150000"/>
              </a:lnSpc>
              <a:spcBef>
                <a:spcPts val="0"/>
              </a:spcBef>
              <a:buClrTx/>
              <a:buSzTx/>
              <a:buFont typeface="Arial" panose="020B0604020202020204" pitchFamily="34" charset="0"/>
              <a:buChar char="•"/>
              <a:defRPr/>
            </a:pPr>
            <a:r>
              <a:rPr lang="zh-CN" altLang="en-US" sz="1100" b="1" kern="0" dirty="0">
                <a:solidFill>
                  <a:srgbClr val="C00000"/>
                </a:solidFill>
                <a:latin typeface="微软雅黑" panose="020B0503020204020204" pitchFamily="34" charset="-122"/>
                <a:ea typeface="微软雅黑" panose="020B0503020204020204" pitchFamily="34" charset="-122"/>
                <a:sym typeface="+mn-ea"/>
              </a:rPr>
              <a:t>预警调度依赖人工盯群操作，</a:t>
            </a:r>
            <a:r>
              <a:rPr lang="zh-CN" altLang="en-US" sz="1100" kern="0" dirty="0">
                <a:solidFill>
                  <a:prstClr val="black"/>
                </a:solidFill>
                <a:latin typeface="微软雅黑" panose="020B0503020204020204" pitchFamily="34" charset="-122"/>
                <a:ea typeface="微软雅黑" panose="020B0503020204020204" pitchFamily="34" charset="-122"/>
                <a:sym typeface="+mn-ea"/>
              </a:rPr>
              <a:t>智能化水平较低。</a:t>
            </a:r>
            <a:endParaRPr lang="en-US" altLang="zh-CN" sz="1100" kern="0" dirty="0">
              <a:solidFill>
                <a:prstClr val="black"/>
              </a:solidFill>
              <a:latin typeface="微软雅黑" panose="020B0503020204020204" pitchFamily="34" charset="-122"/>
              <a:ea typeface="微软雅黑" panose="020B0503020204020204" pitchFamily="34" charset="-122"/>
              <a:sym typeface="+mn-ea"/>
            </a:endParaRPr>
          </a:p>
        </p:txBody>
      </p:sp>
      <p:sp>
        <p:nvSpPr>
          <p:cNvPr id="8" name="矩形 7"/>
          <p:cNvSpPr/>
          <p:nvPr/>
        </p:nvSpPr>
        <p:spPr>
          <a:xfrm>
            <a:off x="2519044" y="1914879"/>
            <a:ext cx="6496370" cy="183818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Clr>
                <a:schemeClr val="accent1"/>
              </a:buClr>
              <a:buFont typeface="Arial" panose="020B0604020202020204" pitchFamily="34" charset="0"/>
              <a:buChar char="•"/>
            </a:pPr>
            <a:r>
              <a:rPr kumimoji="1" lang="zh-CN" altLang="en-US" sz="11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举措</a:t>
            </a:r>
            <a:r>
              <a:rPr kumimoji="1" lang="en-US" altLang="zh-CN" sz="11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1:-</a:t>
            </a:r>
            <a:r>
              <a:rPr kumimoji="1" lang="zh-CN" altLang="en-US" sz="11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打造五维指标全网采集工具</a:t>
            </a:r>
            <a:r>
              <a:rPr lang="zh-CN" altLang="en-US" sz="1100" dirty="0">
                <a:solidFill>
                  <a:srgbClr val="0070C0"/>
                </a:solidFill>
                <a:latin typeface="微软雅黑" panose="020B0503020204020204" pitchFamily="34" charset="-122"/>
                <a:ea typeface="微软雅黑" panose="020B0503020204020204" pitchFamily="34" charset="-122"/>
                <a:sym typeface="+mn-ea"/>
              </a:rPr>
              <a:t>： </a:t>
            </a:r>
            <a:r>
              <a:rPr lang="zh-CN" altLang="en-US" sz="1100" dirty="0">
                <a:solidFill>
                  <a:schemeClr val="tx1"/>
                </a:solidFill>
                <a:latin typeface="微软雅黑" panose="020B0503020204020204" pitchFamily="34" charset="-122"/>
                <a:ea typeface="微软雅黑" panose="020B0503020204020204" pitchFamily="34" charset="-122"/>
                <a:sym typeface="+mn-ea"/>
              </a:rPr>
              <a:t>①从市场、竞对、资源、场景、渠道五个维度建立数据采集规范，获取各省相关数据。②建立统一指标管理，对采集指标统计规则、上线情况进行集中跟踪。</a:t>
            </a:r>
            <a:endParaRPr lang="en-US" altLang="zh-CN" sz="1100" dirty="0">
              <a:solidFill>
                <a:schemeClr val="tx1"/>
              </a:solidFill>
              <a:latin typeface="微软雅黑" panose="020B0503020204020204" pitchFamily="34" charset="-122"/>
              <a:ea typeface="微软雅黑" panose="020B0503020204020204" pitchFamily="34" charset="-122"/>
              <a:sym typeface="+mn-ea"/>
            </a:endParaRPr>
          </a:p>
          <a:p>
            <a:pPr marL="285750" indent="-285750">
              <a:lnSpc>
                <a:spcPct val="150000"/>
              </a:lnSpc>
              <a:buClr>
                <a:schemeClr val="accent1"/>
              </a:buClr>
              <a:buFont typeface="Arial" panose="020B0604020202020204" pitchFamily="34" charset="0"/>
              <a:buChar char="•"/>
            </a:pPr>
            <a:r>
              <a:rPr lang="zh-CN" altLang="en-US" sz="1100" b="1" dirty="0">
                <a:solidFill>
                  <a:srgbClr val="0070C0"/>
                </a:solidFill>
                <a:latin typeface="微软雅黑" panose="020B0503020204020204" pitchFamily="34" charset="-122"/>
                <a:ea typeface="微软雅黑" panose="020B0503020204020204" pitchFamily="34" charset="-122"/>
                <a:sym typeface="+mn-ea"/>
              </a:rPr>
              <a:t>举措</a:t>
            </a:r>
            <a:r>
              <a:rPr lang="en-US" altLang="zh-CN" sz="1100" b="1" dirty="0">
                <a:solidFill>
                  <a:srgbClr val="0070C0"/>
                </a:solidFill>
                <a:latin typeface="微软雅黑" panose="020B0503020204020204" pitchFamily="34" charset="-122"/>
                <a:ea typeface="微软雅黑" panose="020B0503020204020204" pitchFamily="34" charset="-122"/>
                <a:sym typeface="+mn-ea"/>
              </a:rPr>
              <a:t>2-</a:t>
            </a:r>
            <a:r>
              <a:rPr lang="zh-CN" altLang="en-US" sz="1100" b="1" dirty="0">
                <a:solidFill>
                  <a:srgbClr val="0070C0"/>
                </a:solidFill>
                <a:latin typeface="微软雅黑" panose="020B0503020204020204" pitchFamily="34" charset="-122"/>
                <a:ea typeface="微软雅黑" panose="020B0503020204020204" pitchFamily="34" charset="-122"/>
                <a:sym typeface="+mn-ea"/>
              </a:rPr>
              <a:t>构建全网业务感知大屏：</a:t>
            </a:r>
            <a:r>
              <a:rPr lang="zh-CN" altLang="en-US" sz="1100" dirty="0">
                <a:solidFill>
                  <a:srgbClr val="0070C0"/>
                </a:solidFill>
                <a:latin typeface="微软雅黑" panose="020B0503020204020204" pitchFamily="34" charset="-122"/>
                <a:ea typeface="微软雅黑" panose="020B0503020204020204" pitchFamily="34" charset="-122"/>
                <a:sym typeface="+mn-ea"/>
              </a:rPr>
              <a:t> </a:t>
            </a:r>
            <a:r>
              <a:rPr lang="zh-CN" altLang="en-US" sz="1100" dirty="0">
                <a:solidFill>
                  <a:schemeClr val="tx1"/>
                </a:solidFill>
                <a:latin typeface="微软雅黑" panose="020B0503020204020204" pitchFamily="34" charset="-122"/>
                <a:ea typeface="微软雅黑" panose="020B0503020204020204" pitchFamily="34" charset="-122"/>
                <a:sym typeface="+mn-ea"/>
              </a:rPr>
              <a:t>①构建全场景监控驾驶舱，通过</a:t>
            </a:r>
            <a:r>
              <a:rPr lang="en-US" altLang="zh-CN" sz="1100" dirty="0">
                <a:solidFill>
                  <a:schemeClr val="tx1"/>
                </a:solidFill>
                <a:latin typeface="微软雅黑" panose="020B0503020204020204" pitchFamily="34" charset="-122"/>
                <a:ea typeface="微软雅黑" panose="020B0503020204020204" pitchFamily="34" charset="-122"/>
                <a:sym typeface="+mn-ea"/>
              </a:rPr>
              <a:t>GIS</a:t>
            </a:r>
            <a:r>
              <a:rPr lang="zh-CN" altLang="en-US" sz="1100" dirty="0">
                <a:solidFill>
                  <a:schemeClr val="tx1"/>
                </a:solidFill>
                <a:latin typeface="微软雅黑" panose="020B0503020204020204" pitchFamily="34" charset="-122"/>
                <a:ea typeface="微软雅黑" panose="020B0503020204020204" pitchFamily="34" charset="-122"/>
                <a:sym typeface="+mn-ea"/>
              </a:rPr>
              <a:t>可视化对各省业务相关市场、竞对、资源、场景、渠道的调度情况进行统一跟踪</a:t>
            </a:r>
            <a:endParaRPr lang="en-US" altLang="zh-CN" sz="1100" dirty="0">
              <a:solidFill>
                <a:schemeClr val="tx1"/>
              </a:solidFill>
              <a:latin typeface="微软雅黑" panose="020B0503020204020204" pitchFamily="34" charset="-122"/>
              <a:ea typeface="微软雅黑" panose="020B0503020204020204" pitchFamily="34" charset="-122"/>
              <a:sym typeface="+mn-ea"/>
            </a:endParaRPr>
          </a:p>
          <a:p>
            <a:pPr marL="285750" indent="-285750">
              <a:lnSpc>
                <a:spcPct val="150000"/>
              </a:lnSpc>
              <a:buClr>
                <a:schemeClr val="accent1"/>
              </a:buClr>
              <a:buFont typeface="Arial" panose="020B0604020202020204" pitchFamily="34" charset="0"/>
              <a:buChar char="•"/>
            </a:pPr>
            <a:r>
              <a:rPr lang="zh-CN" altLang="en-US" sz="1100" b="1" dirty="0">
                <a:solidFill>
                  <a:srgbClr val="0070C0"/>
                </a:solidFill>
                <a:latin typeface="微软雅黑" panose="020B0503020204020204" pitchFamily="34" charset="-122"/>
                <a:ea typeface="微软雅黑" panose="020B0503020204020204" pitchFamily="34" charset="-122"/>
                <a:sym typeface="+mn-ea"/>
              </a:rPr>
              <a:t>举措</a:t>
            </a:r>
            <a:r>
              <a:rPr lang="en-US" altLang="zh-CN" sz="1100" b="1" dirty="0">
                <a:solidFill>
                  <a:srgbClr val="0070C0"/>
                </a:solidFill>
                <a:latin typeface="微软雅黑" panose="020B0503020204020204" pitchFamily="34" charset="-122"/>
                <a:ea typeface="微软雅黑" panose="020B0503020204020204" pitchFamily="34" charset="-122"/>
                <a:sym typeface="+mn-ea"/>
              </a:rPr>
              <a:t>3-</a:t>
            </a:r>
            <a:r>
              <a:rPr lang="zh-CN" altLang="en-US" sz="1100" b="1" dirty="0">
                <a:solidFill>
                  <a:srgbClr val="0070C0"/>
                </a:solidFill>
                <a:latin typeface="微软雅黑" panose="020B0503020204020204" pitchFamily="34" charset="-122"/>
                <a:ea typeface="微软雅黑" panose="020B0503020204020204" pitchFamily="34" charset="-122"/>
                <a:sym typeface="+mn-ea"/>
              </a:rPr>
              <a:t>构建</a:t>
            </a:r>
            <a:r>
              <a:rPr lang="en-US" altLang="zh-CN" sz="1100" b="1" dirty="0">
                <a:solidFill>
                  <a:srgbClr val="0070C0"/>
                </a:solidFill>
                <a:latin typeface="微软雅黑" panose="020B0503020204020204" pitchFamily="34" charset="-122"/>
                <a:ea typeface="微软雅黑" panose="020B0503020204020204" pitchFamily="34" charset="-122"/>
                <a:sym typeface="+mn-ea"/>
              </a:rPr>
              <a:t>AI</a:t>
            </a:r>
            <a:r>
              <a:rPr lang="zh-CN" altLang="en-US" sz="1100" b="1" dirty="0">
                <a:solidFill>
                  <a:srgbClr val="0070C0"/>
                </a:solidFill>
                <a:latin typeface="微软雅黑" panose="020B0503020204020204" pitchFamily="34" charset="-122"/>
                <a:ea typeface="微软雅黑" panose="020B0503020204020204" pitchFamily="34" charset="-122"/>
                <a:sym typeface="+mn-ea"/>
              </a:rPr>
              <a:t>感知调度平台：</a:t>
            </a:r>
            <a:r>
              <a:rPr lang="zh-CN" altLang="en-US" sz="1100" dirty="0">
                <a:solidFill>
                  <a:schemeClr val="tx1"/>
                </a:solidFill>
                <a:latin typeface="微软雅黑" panose="020B0503020204020204" pitchFamily="34" charset="-122"/>
                <a:ea typeface="微软雅黑" panose="020B0503020204020204" pitchFamily="34" charset="-122"/>
                <a:sym typeface="+mn-ea"/>
              </a:rPr>
              <a:t>①</a:t>
            </a:r>
            <a:r>
              <a:rPr lang="zh-CN" altLang="en-US" sz="1100" dirty="0">
                <a:solidFill>
                  <a:schemeClr val="tx1"/>
                </a:solidFill>
              </a:rPr>
              <a:t>建立基于</a:t>
            </a:r>
            <a:r>
              <a:rPr lang="en-US" altLang="zh-CN" sz="1100" dirty="0">
                <a:solidFill>
                  <a:schemeClr val="tx1"/>
                </a:solidFill>
              </a:rPr>
              <a:t>AI</a:t>
            </a:r>
            <a:r>
              <a:rPr lang="zh-CN" altLang="en-US" sz="1100" dirty="0">
                <a:solidFill>
                  <a:schemeClr val="tx1"/>
                </a:solidFill>
              </a:rPr>
              <a:t>技术建立深度感知模型，形成多维感知事件，并将全渠道多维度感知结果上图，形成全局感知。</a:t>
            </a:r>
            <a:r>
              <a:rPr lang="zh-CN" altLang="en-US" sz="1100" dirty="0">
                <a:solidFill>
                  <a:schemeClr val="tx1"/>
                </a:solidFill>
                <a:latin typeface="微软雅黑" panose="020B0503020204020204" pitchFamily="34" charset="-122"/>
                <a:ea typeface="微软雅黑" panose="020B0503020204020204" pitchFamily="34" charset="-122"/>
                <a:sym typeface="+mn-ea"/>
              </a:rPr>
              <a:t>②</a:t>
            </a:r>
            <a:r>
              <a:rPr lang="zh-CN" altLang="en-US" sz="1100" dirty="0">
                <a:solidFill>
                  <a:schemeClr val="tx1"/>
                </a:solidFill>
              </a:rPr>
              <a:t>根据感知结果事件，智能识别响应方案，差异化响应调度。</a:t>
            </a:r>
            <a:endParaRPr lang="zh-CN" altLang="en-US" sz="1100">
              <a:solidFill>
                <a:schemeClr val="tx1"/>
              </a:solidFill>
            </a:endParaRPr>
          </a:p>
        </p:txBody>
      </p:sp>
      <p:sp>
        <p:nvSpPr>
          <p:cNvPr id="10" name="矩形 9"/>
          <p:cNvSpPr/>
          <p:nvPr/>
        </p:nvSpPr>
        <p:spPr>
          <a:xfrm>
            <a:off x="9329424" y="2032994"/>
            <a:ext cx="2455540" cy="176040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nchorCtr="0"/>
          <a:lstStyle/>
          <a:p>
            <a:pPr marL="228600" indent="-228600" algn="l">
              <a:lnSpc>
                <a:spcPct val="150000"/>
              </a:lnSpc>
              <a:buFont typeface="Wingdings" panose="05000000000000000000" pitchFamily="2" charset="2"/>
              <a:buChar char="ü"/>
            </a:pPr>
            <a:r>
              <a:rPr lang="zh-CN" altLang="en-US" sz="1100" b="1">
                <a:solidFill>
                  <a:srgbClr val="C00000"/>
                </a:solidFill>
                <a:latin typeface="+mn-ea"/>
              </a:rPr>
              <a:t>量</a:t>
            </a:r>
            <a:r>
              <a:rPr lang="zh-CN" altLang="en-US" sz="1100" b="1">
                <a:solidFill>
                  <a:schemeClr val="tx1"/>
                </a:solidFill>
                <a:latin typeface="+mn-ea"/>
              </a:rPr>
              <a:t>：</a:t>
            </a:r>
            <a:r>
              <a:rPr lang="en-US" altLang="zh-CN" sz="1100" b="0" i="0" u="none" strike="noStrike">
                <a:solidFill>
                  <a:schemeClr val="tx1"/>
                </a:solidFill>
                <a:effectLst/>
                <a:latin typeface="+mn-ea"/>
              </a:rPr>
              <a:t>5</a:t>
            </a:r>
            <a:r>
              <a:rPr lang="zh-CN" altLang="en-US" sz="1100" b="0" i="0" u="none" strike="noStrike">
                <a:solidFill>
                  <a:schemeClr val="tx1"/>
                </a:solidFill>
                <a:effectLst/>
                <a:latin typeface="+mn-ea"/>
              </a:rPr>
              <a:t>维指标覆盖率</a:t>
            </a:r>
            <a:r>
              <a:rPr lang="en-US" altLang="zh-CN" sz="1100" b="0" i="0" u="none" strike="noStrike">
                <a:solidFill>
                  <a:schemeClr val="tx1"/>
                </a:solidFill>
                <a:effectLst/>
                <a:latin typeface="+mn-ea"/>
              </a:rPr>
              <a:t>100%</a:t>
            </a:r>
            <a:endParaRPr lang="en-US" altLang="zh-CN" sz="1100" b="0" i="0" u="none" strike="noStrike">
              <a:solidFill>
                <a:schemeClr val="tx1"/>
              </a:solidFill>
              <a:effectLst/>
              <a:latin typeface="+mn-ea"/>
            </a:endParaRPr>
          </a:p>
          <a:p>
            <a:pPr marL="228600" indent="-228600" algn="l">
              <a:lnSpc>
                <a:spcPct val="150000"/>
              </a:lnSpc>
              <a:buFont typeface="Wingdings" panose="05000000000000000000" pitchFamily="2" charset="2"/>
              <a:buChar char="ü"/>
            </a:pPr>
            <a:r>
              <a:rPr lang="zh-CN" altLang="en-US" sz="1100" b="1">
                <a:solidFill>
                  <a:srgbClr val="C00000"/>
                </a:solidFill>
                <a:latin typeface="+mn-ea"/>
              </a:rPr>
              <a:t>质</a:t>
            </a:r>
            <a:r>
              <a:rPr lang="zh-CN" altLang="en-US" sz="1100">
                <a:solidFill>
                  <a:schemeClr val="tx1"/>
                </a:solidFill>
                <a:latin typeface="+mn-ea"/>
              </a:rPr>
              <a:t>：结合</a:t>
            </a:r>
            <a:r>
              <a:rPr lang="en-US" altLang="zh-CN" sz="1100">
                <a:solidFill>
                  <a:schemeClr val="tx1"/>
                </a:solidFill>
                <a:latin typeface="+mn-ea"/>
              </a:rPr>
              <a:t>AI</a:t>
            </a:r>
            <a:r>
              <a:rPr lang="zh-CN" altLang="en-US" sz="1100">
                <a:solidFill>
                  <a:schemeClr val="tx1"/>
                </a:solidFill>
                <a:latin typeface="+mn-ea"/>
              </a:rPr>
              <a:t>能力推动感知调度效率从周响应，缩短为日响应。</a:t>
            </a:r>
            <a:endParaRPr lang="en-US" altLang="zh-CN" sz="1100">
              <a:solidFill>
                <a:schemeClr val="tx1"/>
              </a:solidFill>
              <a:latin typeface="+mn-ea"/>
            </a:endParaRPr>
          </a:p>
          <a:p>
            <a:pPr marL="228600" indent="-228600" algn="l">
              <a:lnSpc>
                <a:spcPct val="150000"/>
              </a:lnSpc>
              <a:buFont typeface="Wingdings" panose="05000000000000000000" pitchFamily="2" charset="2"/>
              <a:buChar char="ü"/>
            </a:pPr>
            <a:r>
              <a:rPr lang="zh-CN" altLang="en-US" sz="1100" b="1" i="0" u="none" strike="noStrike">
                <a:solidFill>
                  <a:srgbClr val="C00000"/>
                </a:solidFill>
                <a:effectLst/>
                <a:latin typeface="+mn-ea"/>
              </a:rPr>
              <a:t>构</a:t>
            </a:r>
            <a:r>
              <a:rPr lang="zh-CN" altLang="en-US" sz="1100" b="0" i="0" u="none" strike="noStrike">
                <a:solidFill>
                  <a:schemeClr val="tx1"/>
                </a:solidFill>
                <a:effectLst/>
                <a:latin typeface="+mn-ea"/>
              </a:rPr>
              <a:t>：构建基于全网业务场景的感知调度体系。</a:t>
            </a:r>
            <a:endParaRPr lang="en-US" altLang="zh-CN" sz="1100">
              <a:solidFill>
                <a:schemeClr val="tx1"/>
              </a:solidFill>
              <a:latin typeface="+mn-ea"/>
            </a:endParaRPr>
          </a:p>
          <a:p>
            <a:pPr marL="228600" indent="-228600" algn="l">
              <a:lnSpc>
                <a:spcPct val="150000"/>
              </a:lnSpc>
              <a:buFont typeface="Wingdings" panose="05000000000000000000" pitchFamily="2" charset="2"/>
              <a:buChar char="ü"/>
            </a:pPr>
            <a:r>
              <a:rPr lang="zh-CN" altLang="en-US" sz="1100" b="1">
                <a:solidFill>
                  <a:srgbClr val="C00000"/>
                </a:solidFill>
                <a:latin typeface="+mn-ea"/>
              </a:rPr>
              <a:t>效</a:t>
            </a:r>
            <a:r>
              <a:rPr lang="zh-CN" altLang="en-US" sz="1100">
                <a:solidFill>
                  <a:schemeClr val="tx1"/>
                </a:solidFill>
                <a:latin typeface="+mn-ea"/>
              </a:rPr>
              <a:t>：实现感知异动及时发现、智能处理，全局掌控。</a:t>
            </a:r>
            <a:endParaRPr lang="zh-CN" altLang="en-US" sz="1100" b="0" i="0" u="none" strike="noStrike">
              <a:solidFill>
                <a:schemeClr val="tx1"/>
              </a:solidFill>
              <a:effectLst/>
              <a:latin typeface="+mn-ea"/>
            </a:endParaRPr>
          </a:p>
        </p:txBody>
      </p:sp>
      <p:sp>
        <p:nvSpPr>
          <p:cNvPr id="2" name="标题 1"/>
          <p:cNvSpPr>
            <a:spLocks noGrp="1"/>
          </p:cNvSpPr>
          <p:nvPr>
            <p:ph type="title"/>
          </p:nvPr>
        </p:nvSpPr>
        <p:spPr/>
        <p:txBody>
          <a:bodyPr>
            <a:normAutofit/>
          </a:bodyPr>
          <a:lstStyle/>
          <a:p>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施工图|</a:t>
            </a:r>
            <a:r>
              <a:rPr lang="zh-CN" altLang="en-US" dirty="0"/>
              <a:t>打造市场运营工作台</a:t>
            </a:r>
            <a:endParaRPr lang="zh-CN" altLang="en-US" dirty="0">
              <a:solidFill>
                <a:srgbClr val="FF0000"/>
              </a:solidFill>
            </a:endParaRPr>
          </a:p>
        </p:txBody>
      </p:sp>
      <p:sp>
        <p:nvSpPr>
          <p:cNvPr id="5" name="矩形 4"/>
          <p:cNvSpPr/>
          <p:nvPr/>
        </p:nvSpPr>
        <p:spPr>
          <a:xfrm>
            <a:off x="365124" y="1692677"/>
            <a:ext cx="1753870" cy="337820"/>
          </a:xfrm>
          <a:prstGeom prst="rect">
            <a:avLst/>
          </a:prstGeom>
          <a:solidFill>
            <a:srgbClr val="DFF2FF"/>
          </a:solidFill>
          <a:ln>
            <a:solidFill>
              <a:srgbClr val="DFF2FF"/>
            </a:solidFill>
          </a:ln>
        </p:spPr>
        <p:txBody>
          <a:bodyPr wrap="square" anchor="ctr"/>
          <a:lstStyle/>
          <a:p>
            <a:pPr marL="0" lvl="0" indent="0" algn="ctr" defTabSz="913765">
              <a:lnSpc>
                <a:spcPct val="120000"/>
              </a:lnSpc>
              <a:spcBef>
                <a:spcPts val="0"/>
              </a:spcBef>
              <a:spcAft>
                <a:spcPts val="0"/>
              </a:spcAft>
              <a:buClr>
                <a:srgbClr val="C00000"/>
              </a:buClr>
              <a:buSzTx/>
              <a:buFontTx/>
              <a:buNone/>
            </a:pPr>
            <a:r>
              <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rPr>
              <a:t>痛点</a:t>
            </a:r>
            <a:endParaRPr lang="zh-CN" altLang="en-US" sz="1400" b="1" i="0" u="none" strike="noStrike" kern="1200" spc="0" baseline="0" dirty="0">
              <a:solidFill>
                <a:schemeClr val="accent1"/>
              </a:solidFill>
              <a:latin typeface="微软雅黑" panose="020B0503020204020204" pitchFamily="34" charset="-122"/>
              <a:ea typeface="微软雅黑" panose="020B0503020204020204" pitchFamily="34" charset="-122"/>
            </a:endParaRPr>
          </a:p>
        </p:txBody>
      </p:sp>
      <p:sp>
        <p:nvSpPr>
          <p:cNvPr id="7" name="矩形 6"/>
          <p:cNvSpPr/>
          <p:nvPr/>
        </p:nvSpPr>
        <p:spPr>
          <a:xfrm>
            <a:off x="2519044" y="1688867"/>
            <a:ext cx="6496370" cy="33591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举措要点</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9" name="矩形 8"/>
          <p:cNvSpPr/>
          <p:nvPr/>
        </p:nvSpPr>
        <p:spPr>
          <a:xfrm>
            <a:off x="9349110" y="1675797"/>
            <a:ext cx="2435854" cy="351155"/>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en-US" altLang="zh-CN" sz="1400" b="1" dirty="0">
                <a:solidFill>
                  <a:schemeClr val="accent1"/>
                </a:solidFill>
                <a:latin typeface="微软雅黑" panose="020B0503020204020204" pitchFamily="34" charset="-122"/>
                <a:ea typeface="微软雅黑" panose="020B0503020204020204" pitchFamily="34" charset="-122"/>
              </a:rPr>
              <a:t>2025</a:t>
            </a:r>
            <a:r>
              <a:rPr lang="zh-CN" altLang="en-US" sz="1400" b="1" dirty="0">
                <a:solidFill>
                  <a:schemeClr val="accent1"/>
                </a:solidFill>
                <a:latin typeface="微软雅黑" panose="020B0503020204020204" pitchFamily="34" charset="-122"/>
                <a:ea typeface="微软雅黑" panose="020B0503020204020204" pitchFamily="34" charset="-122"/>
              </a:rPr>
              <a:t>年成效指标</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3" name="矩形 12"/>
          <p:cNvSpPr/>
          <p:nvPr/>
        </p:nvSpPr>
        <p:spPr>
          <a:xfrm>
            <a:off x="4157704" y="5240714"/>
            <a:ext cx="4099835" cy="1331968"/>
          </a:xfrm>
          <a:prstGeom prst="rect">
            <a:avLst/>
          </a:prstGeom>
        </p:spPr>
        <p:txBody>
          <a:bodyPr wrap="square">
            <a:spAutoFit/>
          </a:bodyPr>
          <a:lstStyle/>
          <a:p>
            <a:pPr marL="171450" indent="-171450">
              <a:lnSpc>
                <a:spcPct val="150000"/>
              </a:lnSpc>
              <a:buClr>
                <a:schemeClr val="accent1"/>
              </a:buClr>
              <a:buFont typeface="Wingdings" panose="05000000000000000000" pitchFamily="2" charset="2"/>
              <a:buChar char="n"/>
            </a:pPr>
            <a:r>
              <a:rPr lang="zh-CN" altLang="en-US" sz="1100" dirty="0">
                <a:solidFill>
                  <a:schemeClr val="tx1"/>
                </a:solidFill>
                <a:latin typeface="微软雅黑" panose="020B0503020204020204" pitchFamily="34" charset="-122"/>
                <a:ea typeface="微软雅黑" panose="020B0503020204020204" pitchFamily="34" charset="-122"/>
                <a:sym typeface="+mn-ea"/>
              </a:rPr>
              <a:t> </a:t>
            </a:r>
            <a:r>
              <a:rPr lang="zh-CN" altLang="en-US" sz="1100" b="1" dirty="0">
                <a:solidFill>
                  <a:schemeClr val="tx1"/>
                </a:solidFill>
                <a:latin typeface="微软雅黑" panose="020B0503020204020204" pitchFamily="34" charset="-122"/>
                <a:ea typeface="微软雅黑" panose="020B0503020204020204" pitchFamily="34" charset="-122"/>
                <a:sym typeface="+mn-ea"/>
              </a:rPr>
              <a:t>构建全网业务感知驾驶舱</a:t>
            </a:r>
            <a:r>
              <a:rPr lang="zh-CN" altLang="en-US" sz="1100" dirty="0">
                <a:effectLst/>
              </a:rPr>
              <a:t>：根据指标库建立驾驶舱设计方案，并完成相关大屏、中屏、小屏监控能力的上线。</a:t>
            </a:r>
            <a:endParaRPr lang="en-US" altLang="zh-CN" sz="1100" dirty="0">
              <a:effectLst/>
            </a:endParaRPr>
          </a:p>
          <a:p>
            <a:pPr marL="171450" indent="-171450">
              <a:lnSpc>
                <a:spcPct val="150000"/>
              </a:lnSpc>
              <a:buClr>
                <a:schemeClr val="accent1"/>
              </a:buClr>
              <a:buFont typeface="Wingdings" panose="05000000000000000000" pitchFamily="2" charset="2"/>
              <a:buChar char="n"/>
            </a:pPr>
            <a:r>
              <a:rPr lang="zh-CN" altLang="en-US" sz="1100" b="1" dirty="0">
                <a:effectLst/>
              </a:rPr>
              <a:t>结合</a:t>
            </a:r>
            <a:r>
              <a:rPr lang="en-US" altLang="zh-CN" sz="1100" b="1" dirty="0">
                <a:effectLst/>
              </a:rPr>
              <a:t>AI</a:t>
            </a:r>
            <a:r>
              <a:rPr lang="zh-CN" altLang="en-US" sz="1100" b="1" dirty="0">
                <a:effectLst/>
              </a:rPr>
              <a:t>打造感知模型：</a:t>
            </a:r>
            <a:r>
              <a:rPr lang="zh-CN" altLang="en-US" sz="1100" dirty="0">
                <a:effectLst/>
              </a:rPr>
              <a:t>完成客户</a:t>
            </a:r>
            <a:r>
              <a:rPr lang="en-US" altLang="zh-CN" sz="1100" dirty="0">
                <a:effectLst/>
              </a:rPr>
              <a:t>+</a:t>
            </a:r>
            <a:r>
              <a:rPr lang="zh-CN" altLang="en-US" sz="1100" dirty="0"/>
              <a:t>产品、客户</a:t>
            </a:r>
            <a:r>
              <a:rPr lang="en-US" altLang="zh-CN" sz="1100" dirty="0"/>
              <a:t>+</a:t>
            </a:r>
            <a:r>
              <a:rPr lang="zh-CN" altLang="en-US" sz="1100" dirty="0"/>
              <a:t>渠道、客户</a:t>
            </a:r>
            <a:r>
              <a:rPr lang="en-US" altLang="zh-CN" sz="1100" dirty="0"/>
              <a:t>+</a:t>
            </a:r>
            <a:r>
              <a:rPr lang="zh-CN" altLang="en-US" sz="1100" dirty="0"/>
              <a:t>竞对、客户</a:t>
            </a:r>
            <a:r>
              <a:rPr lang="en-US" altLang="zh-CN" sz="1100" dirty="0"/>
              <a:t>+</a:t>
            </a:r>
            <a:r>
              <a:rPr lang="zh-CN" altLang="en-US" sz="1100" dirty="0"/>
              <a:t>场景等感知模型的建立，并与业务感知驾驶舱完成对接。</a:t>
            </a:r>
            <a:endParaRPr lang="zh-CN" altLang="en-US" sz="1100" dirty="0">
              <a:effectLst/>
            </a:endParaRPr>
          </a:p>
        </p:txBody>
      </p:sp>
      <p:sp>
        <p:nvSpPr>
          <p:cNvPr id="14" name="矩形 13"/>
          <p:cNvSpPr/>
          <p:nvPr/>
        </p:nvSpPr>
        <p:spPr>
          <a:xfrm>
            <a:off x="8295579" y="5240714"/>
            <a:ext cx="3420806" cy="1331968"/>
          </a:xfrm>
          <a:prstGeom prst="rect">
            <a:avLst/>
          </a:prstGeom>
        </p:spPr>
        <p:txBody>
          <a:bodyPr wrap="square">
            <a:spAutoFit/>
          </a:bodyPr>
          <a:lstStyle/>
          <a:p>
            <a:pPr marL="171450" indent="-171450">
              <a:lnSpc>
                <a:spcPct val="150000"/>
              </a:lnSpc>
              <a:buClr>
                <a:schemeClr val="accent1"/>
              </a:buClr>
              <a:buFont typeface="Wingdings" panose="05000000000000000000" pitchFamily="2" charset="2"/>
              <a:buChar char="n"/>
            </a:pPr>
            <a:r>
              <a:rPr lang="zh-CN" altLang="en-US" sz="1100" b="1" dirty="0">
                <a:effectLst/>
              </a:rPr>
              <a:t>与省份系统对接</a:t>
            </a:r>
            <a:r>
              <a:rPr lang="zh-CN" altLang="en-US" sz="1100" dirty="0">
                <a:effectLst/>
              </a:rPr>
              <a:t>：</a:t>
            </a:r>
            <a:r>
              <a:rPr lang="zh-CN" altLang="en-US" sz="1100" dirty="0">
                <a:latin typeface="Inter"/>
              </a:rPr>
              <a:t>确定与省份系统任务调度对接方案，完成与省公司的任务调度闭环</a:t>
            </a:r>
            <a:r>
              <a:rPr lang="zh-CN" altLang="en-US" sz="1100" b="0" i="0" dirty="0">
                <a:effectLst/>
                <a:latin typeface="Inter"/>
              </a:rPr>
              <a:t>。</a:t>
            </a:r>
            <a:endParaRPr lang="en-US" altLang="zh-CN" sz="1100" b="0" i="0" dirty="0">
              <a:effectLst/>
              <a:latin typeface="Inter"/>
            </a:endParaRPr>
          </a:p>
          <a:p>
            <a:pPr marL="171450" indent="-171450">
              <a:lnSpc>
                <a:spcPct val="150000"/>
              </a:lnSpc>
              <a:buClr>
                <a:schemeClr val="accent1"/>
              </a:buClr>
              <a:buFont typeface="Wingdings" panose="05000000000000000000" pitchFamily="2" charset="2"/>
              <a:buChar char="n"/>
            </a:pPr>
            <a:r>
              <a:rPr lang="zh-CN" altLang="en-US" sz="1100" b="1" dirty="0">
                <a:effectLst/>
              </a:rPr>
              <a:t>建立调度质量监控</a:t>
            </a:r>
            <a:r>
              <a:rPr lang="zh-CN" altLang="en-US" sz="1100" dirty="0">
                <a:effectLst/>
              </a:rPr>
              <a:t>：对调度过程数据、结果数据建立质量评估监控能力，并根据评估结果进行系统能力迭代</a:t>
            </a:r>
            <a:r>
              <a:rPr lang="zh-CN" altLang="en-US" sz="1100" b="0" i="0" dirty="0">
                <a:effectLst/>
                <a:latin typeface="Inter"/>
              </a:rPr>
              <a:t>。</a:t>
            </a:r>
            <a:endParaRPr lang="zh-CN" altLang="en-US" sz="1100" dirty="0">
              <a:latin typeface="微软雅黑" panose="020B0503020204020204" pitchFamily="34" charset="-122"/>
              <a:ea typeface="微软雅黑" panose="020B0503020204020204" pitchFamily="34" charset="-122"/>
            </a:endParaRPr>
          </a:p>
        </p:txBody>
      </p:sp>
      <p:sp>
        <p:nvSpPr>
          <p:cNvPr id="18" name="矩形 17"/>
          <p:cNvSpPr/>
          <p:nvPr/>
        </p:nvSpPr>
        <p:spPr>
          <a:xfrm>
            <a:off x="358139" y="4958450"/>
            <a:ext cx="644525" cy="1751629"/>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里程碑</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19" name="矩形 18"/>
          <p:cNvSpPr/>
          <p:nvPr/>
        </p:nvSpPr>
        <p:spPr>
          <a:xfrm>
            <a:off x="365124" y="3828435"/>
            <a:ext cx="640080" cy="1013414"/>
          </a:xfrm>
          <a:prstGeom prst="rect">
            <a:avLst/>
          </a:prstGeom>
          <a:solidFill>
            <a:srgbClr val="DFF2FF"/>
          </a:solidFill>
          <a:ln>
            <a:solidFill>
              <a:srgbClr val="DFF2FF"/>
            </a:solidFill>
          </a:ln>
        </p:spPr>
        <p:txBody>
          <a:bodyPr wrap="square" anchor="ctr"/>
          <a:lstStyle/>
          <a:p>
            <a:pPr algn="ctr" defTabSz="913765">
              <a:lnSpc>
                <a:spcPct val="120000"/>
              </a:lnSpc>
              <a:buClr>
                <a:srgbClr val="C00000"/>
              </a:buClr>
            </a:pPr>
            <a:r>
              <a:rPr lang="zh-CN" altLang="en-US" sz="1400" b="1" dirty="0">
                <a:solidFill>
                  <a:schemeClr val="accent1"/>
                </a:solidFill>
                <a:latin typeface="微软雅黑" panose="020B0503020204020204" pitchFamily="34" charset="-122"/>
                <a:ea typeface="微软雅黑" panose="020B0503020204020204" pitchFamily="34" charset="-122"/>
              </a:rPr>
              <a:t>职责分工</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21" name="矩形 20"/>
          <p:cNvSpPr/>
          <p:nvPr/>
        </p:nvSpPr>
        <p:spPr>
          <a:xfrm>
            <a:off x="1059183" y="5240714"/>
            <a:ext cx="3194046" cy="1331968"/>
          </a:xfrm>
          <a:prstGeom prst="rect">
            <a:avLst/>
          </a:prstGeom>
        </p:spPr>
        <p:txBody>
          <a:bodyPr wrap="square">
            <a:spAutoFit/>
          </a:bodyPr>
          <a:lstStyle/>
          <a:p>
            <a:pPr marL="171450" indent="-171450">
              <a:lnSpc>
                <a:spcPct val="150000"/>
              </a:lnSpc>
              <a:buClr>
                <a:schemeClr val="accent1"/>
              </a:buClr>
              <a:buFont typeface="Wingdings" panose="05000000000000000000" pitchFamily="2" charset="2"/>
              <a:buChar char="n"/>
            </a:pPr>
            <a:r>
              <a:rPr lang="zh-CN" altLang="en-US" sz="1100" b="1" dirty="0">
                <a:effectLst/>
              </a:rPr>
              <a:t>数据汇聚与底层库搭建</a:t>
            </a:r>
            <a:r>
              <a:rPr lang="zh-CN" altLang="en-US" sz="1100" dirty="0">
                <a:effectLst/>
              </a:rPr>
              <a:t>：深度汇集一级及省级五维指标数据数据，形成全面的指挥调度指标库；</a:t>
            </a:r>
            <a:endParaRPr lang="zh-CN" altLang="en-US" sz="1100" dirty="0">
              <a:effectLst/>
            </a:endParaRPr>
          </a:p>
          <a:p>
            <a:pPr marL="171450" indent="-171450">
              <a:lnSpc>
                <a:spcPct val="150000"/>
              </a:lnSpc>
              <a:buClr>
                <a:schemeClr val="accent1"/>
              </a:buClr>
              <a:buFont typeface="Wingdings" panose="05000000000000000000" pitchFamily="2" charset="2"/>
              <a:buChar char="n"/>
            </a:pPr>
            <a:r>
              <a:rPr lang="zh-CN" altLang="en-US" sz="1100" b="1" dirty="0"/>
              <a:t>完成数据采集规范标准</a:t>
            </a:r>
            <a:r>
              <a:rPr lang="zh-CN" altLang="en-US" sz="1100" dirty="0">
                <a:effectLst/>
              </a:rPr>
              <a:t>：完成与省公司两级采集规范标准，确定对接时间。</a:t>
            </a:r>
            <a:endParaRPr lang="zh-CN" altLang="en-US" sz="1100" dirty="0">
              <a:effectLst/>
            </a:endParaRPr>
          </a:p>
        </p:txBody>
      </p:sp>
      <p:sp>
        <p:nvSpPr>
          <p:cNvPr id="24" name="Freeform 22"/>
          <p:cNvSpPr/>
          <p:nvPr/>
        </p:nvSpPr>
        <p:spPr bwMode="auto">
          <a:xfrm rot="16200000" flipV="1">
            <a:off x="1485578" y="2636178"/>
            <a:ext cx="1714827"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5" name="Freeform 22"/>
          <p:cNvSpPr/>
          <p:nvPr/>
        </p:nvSpPr>
        <p:spPr bwMode="auto">
          <a:xfrm rot="16200000" flipV="1">
            <a:off x="7960419" y="2636178"/>
            <a:ext cx="2329385" cy="447995"/>
          </a:xfrm>
          <a:custGeom>
            <a:avLst/>
            <a:gdLst>
              <a:gd name="T0" fmla="*/ 1466 w 2554"/>
              <a:gd name="T1" fmla="*/ 504 h 2350"/>
              <a:gd name="T2" fmla="*/ 1700 w 2554"/>
              <a:gd name="T3" fmla="*/ 504 h 2350"/>
              <a:gd name="T4" fmla="*/ 1277 w 2554"/>
              <a:gd name="T5" fmla="*/ 0 h 2350"/>
              <a:gd name="T6" fmla="*/ 854 w 2554"/>
              <a:gd name="T7" fmla="*/ 504 h 2350"/>
              <a:gd name="T8" fmla="*/ 1088 w 2554"/>
              <a:gd name="T9" fmla="*/ 504 h 2350"/>
              <a:gd name="T10" fmla="*/ 0 w 2554"/>
              <a:gd name="T11" fmla="*/ 2350 h 2350"/>
              <a:gd name="T12" fmla="*/ 1277 w 2554"/>
              <a:gd name="T13" fmla="*/ 2350 h 2350"/>
              <a:gd name="T14" fmla="*/ 2554 w 2554"/>
              <a:gd name="T15" fmla="*/ 2350 h 2350"/>
              <a:gd name="T16" fmla="*/ 1466 w 2554"/>
              <a:gd name="T17" fmla="*/ 504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4" h="2350">
                <a:moveTo>
                  <a:pt x="1466" y="504"/>
                </a:moveTo>
                <a:cubicBezTo>
                  <a:pt x="1562" y="504"/>
                  <a:pt x="1700" y="504"/>
                  <a:pt x="1700" y="504"/>
                </a:cubicBezTo>
                <a:cubicBezTo>
                  <a:pt x="1277" y="0"/>
                  <a:pt x="1277" y="0"/>
                  <a:pt x="1277" y="0"/>
                </a:cubicBezTo>
                <a:cubicBezTo>
                  <a:pt x="854" y="504"/>
                  <a:pt x="854" y="504"/>
                  <a:pt x="854" y="504"/>
                </a:cubicBezTo>
                <a:cubicBezTo>
                  <a:pt x="854" y="504"/>
                  <a:pt x="993" y="504"/>
                  <a:pt x="1088" y="504"/>
                </a:cubicBezTo>
                <a:cubicBezTo>
                  <a:pt x="1088" y="1933"/>
                  <a:pt x="0" y="2350"/>
                  <a:pt x="0" y="2350"/>
                </a:cubicBezTo>
                <a:cubicBezTo>
                  <a:pt x="1277" y="2350"/>
                  <a:pt x="1277" y="2350"/>
                  <a:pt x="1277" y="2350"/>
                </a:cubicBezTo>
                <a:cubicBezTo>
                  <a:pt x="2554" y="2350"/>
                  <a:pt x="2554" y="2350"/>
                  <a:pt x="2554" y="2350"/>
                </a:cubicBezTo>
                <a:cubicBezTo>
                  <a:pt x="2554" y="2350"/>
                  <a:pt x="1466" y="1933"/>
                  <a:pt x="1466" y="504"/>
                </a:cubicBezTo>
                <a:close/>
              </a:path>
            </a:pathLst>
          </a:custGeom>
          <a:gradFill>
            <a:gsLst>
              <a:gs pos="0">
                <a:srgbClr val="0070BF">
                  <a:lumMod val="5000"/>
                  <a:lumOff val="95000"/>
                  <a:alpha val="6000"/>
                </a:srgbClr>
              </a:gs>
              <a:gs pos="40000">
                <a:srgbClr val="0070BF">
                  <a:lumMod val="45000"/>
                  <a:lumOff val="55000"/>
                  <a:alpha val="44000"/>
                </a:srgbClr>
              </a:gs>
              <a:gs pos="74000">
                <a:srgbClr val="0070BF">
                  <a:lumMod val="45000"/>
                  <a:lumOff val="55000"/>
                  <a:alpha val="61000"/>
                </a:srgbClr>
              </a:gs>
              <a:gs pos="100000">
                <a:srgbClr val="0070BF">
                  <a:lumMod val="60000"/>
                  <a:lumOff val="40000"/>
                  <a:alpha val="48000"/>
                </a:srgbClr>
              </a:gs>
            </a:gsLst>
            <a:lin ang="16200000" scaled="0"/>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3" name="文本占位符 2"/>
          <p:cNvSpPr>
            <a:spLocks noGrp="1"/>
          </p:cNvSpPr>
          <p:nvPr>
            <p:ph type="body" sz="quarter" idx="10"/>
          </p:nvPr>
        </p:nvSpPr>
        <p:spPr>
          <a:xfrm>
            <a:off x="85241" y="931284"/>
            <a:ext cx="11856202" cy="753277"/>
          </a:xfrm>
        </p:spPr>
        <p:txBody>
          <a:bodyPr lIns="180000" tIns="45720" rIns="180000" bIns="45720"/>
          <a:lstStyle/>
          <a:p>
            <a:pPr algn="l">
              <a:lnSpc>
                <a:spcPct val="130000"/>
              </a:lnSpc>
            </a:pPr>
            <a:r>
              <a:rPr kumimoji="1" lang="zh-CN" altLang="en-US"/>
              <a:t>针对关键指标采集手段缺失和智能化调度水平低，</a:t>
            </a:r>
            <a:r>
              <a:rPr kumimoji="1" lang="zh-CN" altLang="en-US" dirty="0">
                <a:sym typeface="+mn-ea"/>
              </a:rPr>
              <a:t>建设</a:t>
            </a:r>
            <a:r>
              <a:rPr kumimoji="1" lang="zh-CN" altLang="en-US" sz="1400" dirty="0">
                <a:latin typeface="微软雅黑" panose="020B0503020204020204" pitchFamily="34" charset="-122"/>
                <a:ea typeface="微软雅黑" panose="020B0503020204020204" pitchFamily="34" charset="-122"/>
                <a:sym typeface="+mn-ea"/>
              </a:rPr>
              <a:t>全网一体化的监控感知调度机制，通过大数据</a:t>
            </a:r>
            <a:r>
              <a:rPr kumimoji="1" lang="en-US" altLang="zh-CN" sz="1400" dirty="0">
                <a:latin typeface="微软雅黑" panose="020B0503020204020204" pitchFamily="34" charset="-122"/>
                <a:ea typeface="微软雅黑" panose="020B0503020204020204" pitchFamily="34" charset="-122"/>
                <a:sym typeface="+mn-ea"/>
              </a:rPr>
              <a:t>+AI</a:t>
            </a:r>
            <a:r>
              <a:rPr kumimoji="1" lang="zh-CN" altLang="en-US" sz="1400" dirty="0">
                <a:latin typeface="微软雅黑" panose="020B0503020204020204" pitchFamily="34" charset="-122"/>
                <a:ea typeface="微软雅黑" panose="020B0503020204020204" pitchFamily="34" charset="-122"/>
                <a:sym typeface="+mn-ea"/>
              </a:rPr>
              <a:t>驱动推进业务风险管控实时化、智能化，实现全局感知、</a:t>
            </a:r>
            <a:r>
              <a:rPr lang="zh-CN" altLang="en-US" sz="1400" dirty="0"/>
              <a:t>结果动态响应，全方位应对各省渠道业务变化</a:t>
            </a:r>
            <a:r>
              <a:rPr kumimoji="1" lang="zh-CN" altLang="en-US" sz="1400" dirty="0">
                <a:latin typeface="微软雅黑" panose="020B0503020204020204" pitchFamily="34" charset="-122"/>
                <a:ea typeface="微软雅黑" panose="020B0503020204020204" pitchFamily="34" charset="-122"/>
                <a:sym typeface="+mn-ea"/>
              </a:rPr>
              <a:t>。</a:t>
            </a:r>
            <a:endParaRPr kumimoji="1" lang="zh-CN" altLang="en-US" sz="14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26" name="矩形 25"/>
          <p:cNvSpPr/>
          <p:nvPr/>
        </p:nvSpPr>
        <p:spPr>
          <a:xfrm>
            <a:off x="1002662" y="3834190"/>
            <a:ext cx="10782301" cy="101341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总部：</a:t>
            </a:r>
            <a:r>
              <a:rPr lang="zh-CN" altLang="en-US" sz="1100" dirty="0">
                <a:solidFill>
                  <a:prstClr val="black"/>
                </a:solidFill>
                <a:latin typeface="微软雅黑" panose="020B0503020204020204" pitchFamily="34" charset="-122"/>
                <a:ea typeface="微软雅黑" panose="020B0503020204020204" pitchFamily="34" charset="-122"/>
              </a:rPr>
              <a:t>制定市场、竞对、资源、场景、渠道涉及的指标体系采集标准规范并进行下发。建立两级系统对接方案并下发。</a:t>
            </a:r>
            <a:endParaRPr lang="en-US" altLang="zh-CN"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省专：</a:t>
            </a:r>
            <a:r>
              <a:rPr lang="zh-CN" altLang="en-US" sz="1100" dirty="0">
                <a:solidFill>
                  <a:prstClr val="black"/>
                </a:solidFill>
                <a:latin typeface="微软雅黑" panose="020B0503020204020204" pitchFamily="34" charset="-122"/>
                <a:ea typeface="微软雅黑" panose="020B0503020204020204" pitchFamily="34" charset="-122"/>
              </a:rPr>
              <a:t>根据集团规范，经分大数据系统进行改造，通过现有两级传输通道进行相关数据上报。同时省端网格通对接指挥调度中心，完成两级调度任务的接收。</a:t>
            </a:r>
            <a:endParaRPr lang="zh-CN" altLang="en-US" sz="1100" dirty="0">
              <a:solidFill>
                <a:prstClr val="black"/>
              </a:solidFill>
              <a:latin typeface="微软雅黑" panose="020B0503020204020204" pitchFamily="34" charset="-122"/>
              <a:ea typeface="微软雅黑" panose="020B0503020204020204" pitchFamily="34" charset="-122"/>
            </a:endParaRPr>
          </a:p>
          <a:p>
            <a:pPr marL="176530" indent="-140335" fontAlgn="base">
              <a:lnSpc>
                <a:spcPct val="150000"/>
              </a:lnSpc>
              <a:spcBef>
                <a:spcPct val="0"/>
              </a:spcBef>
              <a:spcAft>
                <a:spcPct val="0"/>
              </a:spcAft>
              <a:buClr>
                <a:schemeClr val="accent1"/>
              </a:buClr>
              <a:buFont typeface="Arial" panose="020B0604020202020204" pitchFamily="34" charset="0"/>
              <a:buChar char="•"/>
            </a:pPr>
            <a:r>
              <a:rPr lang="zh-CN" altLang="en-US" sz="1100" b="1" dirty="0">
                <a:solidFill>
                  <a:prstClr val="black"/>
                </a:solidFill>
                <a:latin typeface="微软雅黑" panose="020B0503020204020204" pitchFamily="34" charset="-122"/>
                <a:ea typeface="微软雅黑" panose="020B0503020204020204" pitchFamily="34" charset="-122"/>
              </a:rPr>
              <a:t>地市</a:t>
            </a:r>
            <a:r>
              <a:rPr lang="zh-CN" altLang="en-US" sz="1100" dirty="0">
                <a:solidFill>
                  <a:prstClr val="black"/>
                </a:solidFill>
                <a:latin typeface="微软雅黑" panose="020B0503020204020204" pitchFamily="34" charset="-122"/>
                <a:ea typeface="微软雅黑" panose="020B0503020204020204" pitchFamily="34" charset="-122"/>
              </a:rPr>
              <a:t>：负责做好集团相关调度任务接收后的应对，及时反馈调度响应结果。</a:t>
            </a:r>
            <a:endParaRPr sz="1100" dirty="0">
              <a:solidFill>
                <a:prstClr val="black"/>
              </a:solidFill>
              <a:latin typeface="微软雅黑" panose="020B0503020204020204" pitchFamily="34" charset="-122"/>
              <a:ea typeface="微软雅黑" panose="020B0503020204020204" pitchFamily="34" charset="-122"/>
            </a:endParaRPr>
          </a:p>
        </p:txBody>
      </p:sp>
      <p:sp>
        <p:nvSpPr>
          <p:cNvPr id="39" name="箭头: 右 40"/>
          <p:cNvSpPr/>
          <p:nvPr/>
        </p:nvSpPr>
        <p:spPr>
          <a:xfrm>
            <a:off x="1059183" y="4884491"/>
            <a:ext cx="10588625" cy="358065"/>
          </a:xfrm>
          <a:prstGeom prst="rightArrow">
            <a:avLst/>
          </a:prstGeom>
          <a:solidFill>
            <a:srgbClr val="DFF2FF"/>
          </a:solidFill>
          <a:ln>
            <a:solidFill>
              <a:srgbClr val="DF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5661028" y="4925974"/>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nvSpPr>
        <p:spPr>
          <a:xfrm>
            <a:off x="9329423" y="4925974"/>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文本框 41"/>
          <p:cNvSpPr txBox="1"/>
          <p:nvPr/>
        </p:nvSpPr>
        <p:spPr>
          <a:xfrm>
            <a:off x="2239013" y="4925974"/>
            <a:ext cx="1353185" cy="275535"/>
          </a:xfrm>
          <a:prstGeom prst="rect">
            <a:avLst/>
          </a:prstGeom>
          <a:noFill/>
        </p:spPr>
        <p:txBody>
          <a:bodyPr wrap="square" rtlCol="0">
            <a:spAutoFit/>
          </a:bodyPr>
          <a:lstStyle/>
          <a:p>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altLang="zh-CN" sz="1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 name="组 13"/>
          <p:cNvGrpSpPr/>
          <p:nvPr/>
        </p:nvGrpSpPr>
        <p:grpSpPr>
          <a:xfrm>
            <a:off x="10506192" y="4989960"/>
            <a:ext cx="1620285" cy="1782705"/>
            <a:chOff x="7775541" y="3646905"/>
            <a:chExt cx="1360242" cy="1496595"/>
          </a:xfrm>
        </p:grpSpPr>
        <p:sp>
          <p:nvSpPr>
            <p:cNvPr id="11" name="任意形状 6"/>
            <p:cNvSpPr/>
            <p:nvPr/>
          </p:nvSpPr>
          <p:spPr>
            <a:xfrm rot="16200000">
              <a:off x="7707364" y="3715081"/>
              <a:ext cx="1496595" cy="1360242"/>
            </a:xfrm>
            <a:custGeom>
              <a:avLst/>
              <a:gdLst>
                <a:gd name="connsiteX0" fmla="*/ 1496595 w 1496595"/>
                <a:gd name="connsiteY0" fmla="*/ 1360242 h 1360242"/>
                <a:gd name="connsiteX1" fmla="*/ 956557 w 1496595"/>
                <a:gd name="connsiteY1" fmla="*/ 1360242 h 1360242"/>
                <a:gd name="connsiteX2" fmla="*/ 0 w 1496595"/>
                <a:gd name="connsiteY2" fmla="*/ 490836 h 1360242"/>
                <a:gd name="connsiteX3" fmla="*/ 0 w 1496595"/>
                <a:gd name="connsiteY3" fmla="*/ 0 h 1360242"/>
              </a:gdLst>
              <a:ahLst/>
              <a:cxnLst>
                <a:cxn ang="0">
                  <a:pos x="connsiteX0" y="connsiteY0"/>
                </a:cxn>
                <a:cxn ang="0">
                  <a:pos x="connsiteX1" y="connsiteY1"/>
                </a:cxn>
                <a:cxn ang="0">
                  <a:pos x="connsiteX2" y="connsiteY2"/>
                </a:cxn>
                <a:cxn ang="0">
                  <a:pos x="connsiteX3" y="connsiteY3"/>
                </a:cxn>
              </a:cxnLst>
              <a:rect l="l" t="t" r="r" b="b"/>
              <a:pathLst>
                <a:path w="1496595" h="1360242">
                  <a:moveTo>
                    <a:pt x="1496595" y="1360242"/>
                  </a:moveTo>
                  <a:lnTo>
                    <a:pt x="956557" y="1360242"/>
                  </a:lnTo>
                  <a:lnTo>
                    <a:pt x="0" y="490836"/>
                  </a:lnTo>
                  <a:lnTo>
                    <a:pt x="0" y="0"/>
                  </a:lnTo>
                  <a:close/>
                </a:path>
              </a:pathLst>
            </a:custGeom>
            <a:solidFill>
              <a:srgbClr val="EF954D">
                <a:lumMod val="60000"/>
                <a:lumOff val="40000"/>
                <a:alpha val="72000"/>
              </a:srgbClr>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dirty="0">
                <a:ln>
                  <a:noFill/>
                </a:ln>
                <a:solidFill>
                  <a:srgbClr val="000000">
                    <a:lumMod val="85000"/>
                    <a:lumOff val="15000"/>
                  </a:srgbClr>
                </a:solidFill>
                <a:effectLst/>
                <a:uLnTx/>
                <a:uFillTx/>
                <a:latin typeface="Arial" panose="020B0604020202020204"/>
                <a:ea typeface="黑体" panose="02010609060101010101" charset="-122"/>
                <a:cs typeface="+mn-ea"/>
                <a:sym typeface="+mn-lt"/>
              </a:endParaRPr>
            </a:p>
          </p:txBody>
        </p:sp>
        <p:sp>
          <p:nvSpPr>
            <p:cNvPr id="4" name="文本框 3"/>
            <p:cNvSpPr txBox="1"/>
            <p:nvPr/>
          </p:nvSpPr>
          <p:spPr>
            <a:xfrm rot="18696404">
              <a:off x="8126099" y="4369720"/>
              <a:ext cx="832150" cy="3609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暂定</a:t>
              </a:r>
              <a:endParaRPr kumimoji="1" lang="en-US" altLang="zh-CN" sz="12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（内容将更新</a:t>
              </a:r>
              <a:r>
                <a:rPr kumimoji="1" lang="en-US" altLang="zh-CN"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rPr>
                <a:t>)</a:t>
              </a:r>
              <a:endParaRPr kumimoji="1" lang="zh-CN" altLang="en-US" sz="1000" b="1" i="0" u="none" strike="noStrike" kern="0" cap="none" spc="0" normalizeH="0" baseline="0" noProof="0" dirty="0">
                <a:ln>
                  <a:noFill/>
                </a:ln>
                <a:solidFill>
                  <a:srgbClr val="C00000"/>
                </a:solidFill>
                <a:effectLst/>
                <a:uLnTx/>
                <a:uFillTx/>
                <a:latin typeface="Arial" panose="020B0604020202020204"/>
                <a:ea typeface="黑体" panose="02010609060101010101"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THINKCELLSHAPEDONOTDELETE" val="p3mqW0Q3LW06ozBPgpPB0wg"/>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SLIDE_ITEM_CNT" val="4"/>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DIAGRAM_VIRTUALLY_FRAME" val="{&quot;height&quot;:351.4000000000002,&quot;left&quot;:386.05,&quot;top&quot;:161.5,&quot;width&quot;:667.4}"/>
</p:tagLst>
</file>

<file path=ppt/tags/tag22.xml><?xml version="1.0" encoding="utf-8"?>
<p:tagLst xmlns:p="http://schemas.openxmlformats.org/presentationml/2006/main">
  <p:tag name="KSO_WM_DIAGRAM_VIRTUALLY_FRAME" val="{&quot;height&quot;:351.4000000000002,&quot;left&quot;:386.05,&quot;top&quot;:161.5,&quot;width&quot;:667.4}"/>
</p:tagLst>
</file>

<file path=ppt/tags/tag23.xml><?xml version="1.0" encoding="utf-8"?>
<p:tagLst xmlns:p="http://schemas.openxmlformats.org/presentationml/2006/main">
  <p:tag name="KSO_WM_DIAGRAM_VIRTUALLY_FRAME" val="{&quot;height&quot;:351.4000000000002,&quot;left&quot;:386.05,&quot;top&quot;:161.5,&quot;width&quot;:667.4}"/>
</p:tagLst>
</file>

<file path=ppt/tags/tag24.xml><?xml version="1.0" encoding="utf-8"?>
<p:tagLst xmlns:p="http://schemas.openxmlformats.org/presentationml/2006/main">
  <p:tag name="KSO_WM_DIAGRAM_VIRTUALLY_FRAME" val="{&quot;height&quot;:351.4000000000002,&quot;left&quot;:386.05,&quot;top&quot;:161.5,&quot;width&quot;:667.4}"/>
</p:tagLst>
</file>

<file path=ppt/tags/tag25.xml><?xml version="1.0" encoding="utf-8"?>
<p:tagLst xmlns:p="http://schemas.openxmlformats.org/presentationml/2006/main">
  <p:tag name="KSO_WM_BEAUTIFY_FLAG" val=""/>
  <p:tag name="KSO_WM_DIAGRAM_VIRTUALLY_FRAME" val="{&quot;height&quot;:351.4000000000002,&quot;left&quot;:386.05,&quot;top&quot;:161.5,&quot;width&quot;:667.4}"/>
</p:tagLst>
</file>

<file path=ppt/tags/tag26.xml><?xml version="1.0" encoding="utf-8"?>
<p:tagLst xmlns:p="http://schemas.openxmlformats.org/presentationml/2006/main">
  <p:tag name="KSO_WM_BEAUTIFY_FLAG" val=""/>
  <p:tag name="KSO_WM_DIAGRAM_VIRTUALLY_FRAME" val="{&quot;height&quot;:351.4000000000002,&quot;left&quot;:386.05,&quot;top&quot;:161.5,&quot;width&quot;:667.4}"/>
</p:tagLst>
</file>

<file path=ppt/tags/tag27.xml><?xml version="1.0" encoding="utf-8"?>
<p:tagLst xmlns:p="http://schemas.openxmlformats.org/presentationml/2006/main">
  <p:tag name="KSO_WM_DIAGRAM_VIRTUALLY_FRAME" val="{&quot;height&quot;:351.4000000000002,&quot;left&quot;:386.05,&quot;top&quot;:161.5,&quot;width&quot;:667.4}"/>
</p:tagLst>
</file>

<file path=ppt/tags/tag28.xml><?xml version="1.0" encoding="utf-8"?>
<p:tagLst xmlns:p="http://schemas.openxmlformats.org/presentationml/2006/main">
  <p:tag name="KSO_WM_DIAGRAM_VIRTUALLY_FRAME" val="{&quot;height&quot;:351.4000000000002,&quot;left&quot;:386.05,&quot;top&quot;:161.5,&quot;width&quot;:667.4}"/>
</p:tagLst>
</file>

<file path=ppt/tags/tag29.xml><?xml version="1.0" encoding="utf-8"?>
<p:tagLst xmlns:p="http://schemas.openxmlformats.org/presentationml/2006/main">
  <p:tag name="KSO_WM_DIAGRAM_VIRTUALLY_FRAME" val="{&quot;height&quot;:261.2,&quot;left&quot;:46.35,&quot;top&quot;:41.1,&quot;width&quot;:755.8}"/>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DIAGRAM_VIRTUALLY_FRAME" val="{&quot;height&quot;:261.2,&quot;left&quot;:46.35,&quot;top&quot;:41.1,&quot;width&quot;:755.8}"/>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DIAGRAM_VIRTUALLY_FRAME" val="{&quot;height&quot;:261.2,&quot;left&quot;:46.35,&quot;top&quot;:41.1,&quot;width&quot;:755.8}"/>
</p:tagLst>
</file>

<file path=ppt/tags/tag62.xml><?xml version="1.0" encoding="utf-8"?>
<p:tagLst xmlns:p="http://schemas.openxmlformats.org/presentationml/2006/main">
  <p:tag name="KSO_WM_DIAGRAM_VIRTUALLY_FRAME" val="{&quot;height&quot;:261.2,&quot;left&quot;:46.35,&quot;top&quot;:41.1,&quot;width&quot;:755.8}"/>
</p:tagLst>
</file>

<file path=ppt/tags/tag63.xml><?xml version="1.0" encoding="utf-8"?>
<p:tagLst xmlns:p="http://schemas.openxmlformats.org/presentationml/2006/main">
  <p:tag name="KSO_WM_DIAGRAM_VIRTUALLY_FRAME" val="{&quot;height&quot;:261.2,&quot;left&quot;:46.35,&quot;top&quot;:41.1,&quot;width&quot;:755.8}"/>
</p:tagLst>
</file>

<file path=ppt/tags/tag64.xml><?xml version="1.0" encoding="utf-8"?>
<p:tagLst xmlns:p="http://schemas.openxmlformats.org/presentationml/2006/main">
  <p:tag name="KSO_WM_SLIDE_ITEM_CNT" val="4"/>
  <p:tag name="resource_record_key" val="{&quot;10&quot;:[21597638,4588988]}"/>
</p:tagLst>
</file>

<file path=ppt/tags/tag65.xml><?xml version="1.0" encoding="utf-8"?>
<p:tagLst xmlns:p="http://schemas.openxmlformats.org/presentationml/2006/main">
  <p:tag name="KSO_WM_DIAGRAM_VIRTUALLY_FRAME" val="{&quot;height&quot;:195.48543307086615,&quot;left&quot;:297.8111023622047,&quot;top&quot;:176.69700787401575,&quot;width&quot;:371.41590551181105}"/>
</p:tagLst>
</file>

<file path=ppt/tags/tag66.xml><?xml version="1.0" encoding="utf-8"?>
<p:tagLst xmlns:p="http://schemas.openxmlformats.org/presentationml/2006/main">
  <p:tag name="KSO_WM_DIAGRAM_VIRTUALLY_FRAME" val="{&quot;height&quot;:195.48543307086615,&quot;left&quot;:297.8111023622047,&quot;top&quot;:176.69700787401575,&quot;width&quot;:371.41590551181105}"/>
</p:tagLst>
</file>

<file path=ppt/tags/tag67.xml><?xml version="1.0" encoding="utf-8"?>
<p:tagLst xmlns:p="http://schemas.openxmlformats.org/presentationml/2006/main">
  <p:tag name="KSO_WM_DIAGRAM_VIRTUALLY_FRAME" val="{&quot;height&quot;:195.48543307086615,&quot;left&quot;:297.8111023622047,&quot;top&quot;:176.69700787401575,&quot;width&quot;:371.41590551181105}"/>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DIAGRAM_VIRTUALLY_FRAME" val="{&quot;height&quot;:195.48543307086615,&quot;left&quot;:297.8111023622047,&quot;top&quot;:176.69700787401575,&quot;width&quot;:371.41590551181105}"/>
</p:tagLst>
</file>

<file path=ppt/tags/tag74.xml><?xml version="1.0" encoding="utf-8"?>
<p:tagLst xmlns:p="http://schemas.openxmlformats.org/presentationml/2006/main">
  <p:tag name="KSO_WM_DIAGRAM_VIRTUALLY_FRAME" val="{&quot;height&quot;:195.48543307086615,&quot;left&quot;:297.8111023622047,&quot;top&quot;:176.69700787401575,&quot;width&quot;:371.41590551181105}"/>
</p:tagLst>
</file>

<file path=ppt/tags/tag75.xml><?xml version="1.0" encoding="utf-8"?>
<p:tagLst xmlns:p="http://schemas.openxmlformats.org/presentationml/2006/main">
  <p:tag name="KSO_WM_DIAGRAM_VIRTUALLY_FRAME" val="{&quot;height&quot;:195.48543307086615,&quot;left&quot;:297.8111023622047,&quot;top&quot;:176.69700787401575,&quot;width&quot;:371.41590551181105}"/>
</p:tagLst>
</file>

<file path=ppt/tags/tag76.xml><?xml version="1.0" encoding="utf-8"?>
<p:tagLst xmlns:p="http://schemas.openxmlformats.org/presentationml/2006/main">
  <p:tag name="KSO_WM_DIAGRAM_VIRTUALLY_FRAME" val="{&quot;height&quot;:261.2,&quot;left&quot;:46.35,&quot;top&quot;:41.1,&quot;width&quot;:755.8}"/>
</p:tagLst>
</file>

<file path=ppt/tags/tag77.xml><?xml version="1.0" encoding="utf-8"?>
<p:tagLst xmlns:p="http://schemas.openxmlformats.org/presentationml/2006/main">
  <p:tag name="KSO_WM_DIAGRAM_VIRTUALLY_FRAME" val="{&quot;height&quot;:261.2,&quot;left&quot;:46.35,&quot;top&quot;:41.1,&quot;width&quot;:755.8}"/>
</p:tagLst>
</file>

<file path=ppt/tags/tag78.xml><?xml version="1.0" encoding="utf-8"?>
<p:tagLst xmlns:p="http://schemas.openxmlformats.org/presentationml/2006/main">
  <p:tag name="KSO_WM_DIAGRAM_VIRTUALLY_FRAME" val="{&quot;height&quot;:261.2,&quot;left&quot;:46.35,&quot;top&quot;:41.1,&quot;width&quot;:755.8}"/>
</p:tagLst>
</file>

<file path=ppt/tags/tag79.xml><?xml version="1.0" encoding="utf-8"?>
<p:tagLst xmlns:p="http://schemas.openxmlformats.org/presentationml/2006/main">
  <p:tag name="KSO_WM_DIAGRAM_VIRTUALLY_FRAME" val="{&quot;height&quot;:261.2,&quot;left&quot;:46.35,&quot;top&quot;:41.1,&quot;width&quot;:755.8}"/>
</p:tagLst>
</file>

<file path=ppt/tags/tag80.xml><?xml version="1.0" encoding="utf-8"?>
<p:tagLst xmlns:p="http://schemas.openxmlformats.org/presentationml/2006/main">
  <p:tag name="KSO_WM_DIAGRAM_VIRTUALLY_FRAME" val="{&quot;height&quot;:261.2,&quot;left&quot;:46.35,&quot;top&quot;:41.1,&quot;width&quot;:755.8}"/>
</p:tagLst>
</file>

<file path=ppt/tags/tag81.xml><?xml version="1.0" encoding="utf-8"?>
<p:tagLst xmlns:p="http://schemas.openxmlformats.org/presentationml/2006/main">
  <p:tag name="KSO_WM_DIAGRAM_VIRTUALLY_FRAME" val="{&quot;height&quot;:261.2,&quot;left&quot;:46.35,&quot;top&quot;:41.1,&quot;width&quot;:755.8}"/>
</p:tagLst>
</file>

<file path=ppt/tags/tag82.xml><?xml version="1.0" encoding="utf-8"?>
<p:tagLst xmlns:p="http://schemas.openxmlformats.org/presentationml/2006/main">
  <p:tag name="KSO_WM_DIAGRAM_VIRTUALLY_FRAME" val="{&quot;height&quot;:261.2,&quot;left&quot;:46.35,&quot;top&quot;:41.1,&quot;width&quot;:755.8}"/>
</p:tagLst>
</file>

<file path=ppt/tags/tag83.xml><?xml version="1.0" encoding="utf-8"?>
<p:tagLst xmlns:p="http://schemas.openxmlformats.org/presentationml/2006/main">
  <p:tag name="KSO_WM_DIAGRAM_VIRTUALLY_FRAME" val="{&quot;height&quot;:261.2,&quot;left&quot;:46.35,&quot;top&quot;:41.1,&quot;width&quot;:755.8}"/>
</p:tagLst>
</file>

<file path=ppt/tags/tag84.xml><?xml version="1.0" encoding="utf-8"?>
<p:tagLst xmlns:p="http://schemas.openxmlformats.org/presentationml/2006/main">
  <p:tag name="KSO_WM_DIAGRAM_VIRTUALLY_FRAME" val="{&quot;height&quot;:261.2,&quot;left&quot;:46.35,&quot;top&quot;:41.1,&quot;width&quot;:755.8}"/>
</p:tagLst>
</file>

<file path=ppt/tags/tag85.xml><?xml version="1.0" encoding="utf-8"?>
<p:tagLst xmlns:p="http://schemas.openxmlformats.org/presentationml/2006/main">
  <p:tag name="KSO_WM_DIAGRAM_VIRTUALLY_FRAME" val="{&quot;height&quot;:261.2,&quot;left&quot;:46.35,&quot;top&quot;:41.1,&quot;width&quot;:755.8}"/>
</p:tagLst>
</file>

<file path=ppt/tags/tag86.xml><?xml version="1.0" encoding="utf-8"?>
<p:tagLst xmlns:p="http://schemas.openxmlformats.org/presentationml/2006/main">
  <p:tag name="KSO_WM_DIAGRAM_VIRTUALLY_FRAME" val="{&quot;height&quot;:261.2,&quot;left&quot;:46.35,&quot;top&quot;:41.1,&quot;width&quot;:755.8}"/>
</p:tagLst>
</file>

<file path=ppt/tags/tag87.xml><?xml version="1.0" encoding="utf-8"?>
<p:tagLst xmlns:p="http://schemas.openxmlformats.org/presentationml/2006/main">
  <p:tag name="KSO_WM_DIAGRAM_VIRTUALLY_FRAME" val="{&quot;height&quot;:261.2,&quot;left&quot;:46.35,&quot;top&quot;:41.1,&quot;width&quot;:755.8}"/>
</p:tagLst>
</file>

<file path=ppt/tags/tag88.xml><?xml version="1.0" encoding="utf-8"?>
<p:tagLst xmlns:p="http://schemas.openxmlformats.org/presentationml/2006/main">
  <p:tag name="KSO_WM_DIAGRAM_VIRTUALLY_FRAME" val="{&quot;height&quot;:261.2,&quot;left&quot;:46.35,&quot;top&quot;:41.1,&quot;width&quot;:755.8}"/>
</p:tagLst>
</file>

<file path=ppt/tags/tag89.xml><?xml version="1.0" encoding="utf-8"?>
<p:tagLst xmlns:p="http://schemas.openxmlformats.org/presentationml/2006/main">
  <p:tag name="KSO_WM_DIAGRAM_VIRTUALLY_FRAME" val="{&quot;height&quot;:261.2,&quot;left&quot;:46.35,&quot;top&quot;:41.1,&quot;width&quot;:755.8}"/>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62_2*l_h_i*1_3_2"/>
  <p:tag name="KSO_WM_TEMPLATE_CATEGORY" val="diagram"/>
  <p:tag name="KSO_WM_TEMPLATE_INDEX" val="20232462"/>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9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62_2*l_h_f*1_1_1"/>
  <p:tag name="KSO_WM_TEMPLATE_CATEGORY" val="diagram"/>
  <p:tag name="KSO_WM_TEMPLATE_INDEX" val="20232462"/>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单击此处输入您的项正文，文字是您思想的提炼，请尽量言简意赅的阐述观点。单击此处输入您的项正文"/>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62_2*l_h_i*1_3_2"/>
  <p:tag name="KSO_WM_TEMPLATE_CATEGORY" val="diagram"/>
  <p:tag name="KSO_WM_TEMPLATE_INDEX" val="20232462"/>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9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62_2*l_h_f*1_1_1"/>
  <p:tag name="KSO_WM_TEMPLATE_CATEGORY" val="diagram"/>
  <p:tag name="KSO_WM_TEMPLATE_INDEX" val="20232462"/>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单击此处输入您的项正文，文字是您思想的提炼，请尽量言简意赅的阐述观点。单击此处输入您的项正文"/>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62_2*l_h_i*1_3_2"/>
  <p:tag name="KSO_WM_TEMPLATE_CATEGORY" val="diagram"/>
  <p:tag name="KSO_WM_TEMPLATE_INDEX" val="20232462"/>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9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62_2*l_h_f*1_1_1"/>
  <p:tag name="KSO_WM_TEMPLATE_CATEGORY" val="diagram"/>
  <p:tag name="KSO_WM_TEMPLATE_INDEX" val="20232462"/>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单击此处输入您的项正文，文字是您思想的提炼，请尽量言简意赅的阐述观点。单击此处输入您的项正文"/>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62_2*l_h_i*1_3_2"/>
  <p:tag name="KSO_WM_TEMPLATE_CATEGORY" val="diagram"/>
  <p:tag name="KSO_WM_TEMPLATE_INDEX" val="20232462"/>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9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62_2*l_h_f*1_1_1"/>
  <p:tag name="KSO_WM_TEMPLATE_CATEGORY" val="diagram"/>
  <p:tag name="KSO_WM_TEMPLATE_INDEX" val="20232462"/>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单击此处输入您的项正文，文字是您思想的提炼，请尽量言简意赅的阐述观点。单击此处输入您的项正文"/>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62_2*l_h_i*1_3_2"/>
  <p:tag name="KSO_WM_TEMPLATE_CATEGORY" val="diagram"/>
  <p:tag name="KSO_WM_TEMPLATE_INDEX" val="20232462"/>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10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62_2*l_h_f*1_1_1"/>
  <p:tag name="KSO_WM_TEMPLATE_CATEGORY" val="diagram"/>
  <p:tag name="KSO_WM_TEMPLATE_INDEX" val="20232462"/>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单击此处输入您的项正文，文字是您思想的提炼，请尽量言简意赅的阐述观点。单击此处输入您的项正文"/>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 name="KSO_WM_DIAGRAM_VIRTUALLY_FRAME" val="{&quot;height&quot;:319.15,&quot;left&quot;:35.05,&quot;top&quot;:156.15,&quot;width&quot;:878.55}"/>
</p:tagLst>
</file>

<file path=ppt/tags/tag153.xml><?xml version="1.0" encoding="utf-8"?>
<p:tagLst xmlns:p="http://schemas.openxmlformats.org/presentationml/2006/main">
  <p:tag name="KSO_WM_BEAUTIFY_FLAG" val=""/>
  <p:tag name="KSO_WM_DIAGRAM_VIRTUALLY_FRAME" val="{&quot;height&quot;:319.15,&quot;left&quot;:35.05,&quot;top&quot;:156.15,&quot;width&quot;:878.55}"/>
</p:tagLst>
</file>

<file path=ppt/tags/tag154.xml><?xml version="1.0" encoding="utf-8"?>
<p:tagLst xmlns:p="http://schemas.openxmlformats.org/presentationml/2006/main">
  <p:tag name="KSO_WM_BEAUTIFY_FLAG" val=""/>
  <p:tag name="KSO_WM_DIAGRAM_VIRTUALLY_FRAME" val="{&quot;height&quot;:319.15,&quot;left&quot;:35.05,&quot;top&quot;:156.15,&quot;width&quot;:878.55}"/>
</p:tagLst>
</file>

<file path=ppt/tags/tag155.xml><?xml version="1.0" encoding="utf-8"?>
<p:tagLst xmlns:p="http://schemas.openxmlformats.org/presentationml/2006/main">
  <p:tag name="KSO_WM_DIAGRAM_VIRTUALLY_FRAME" val="{&quot;height&quot;:261.2,&quot;left&quot;:46.35,&quot;top&quot;:41.1,&quot;width&quot;:755.8}"/>
</p:tagLst>
</file>

<file path=ppt/tags/tag156.xml><?xml version="1.0" encoding="utf-8"?>
<p:tagLst xmlns:p="http://schemas.openxmlformats.org/presentationml/2006/main">
  <p:tag name="KSO_WM_DIAGRAM_VIRTUALLY_FRAME" val="{&quot;height&quot;:261.2,&quot;left&quot;:46.35,&quot;top&quot;:41.1,&quot;width&quot;:755.8}"/>
</p:tagLst>
</file>

<file path=ppt/tags/tag157.xml><?xml version="1.0" encoding="utf-8"?>
<p:tagLst xmlns:p="http://schemas.openxmlformats.org/presentationml/2006/main">
  <p:tag name="KSO_WM_DIAGRAM_VIRTUALLY_FRAME" val="{&quot;height&quot;:261.2,&quot;left&quot;:46.35,&quot;top&quot;:41.1,&quot;width&quot;:755.8}"/>
</p:tagLst>
</file>

<file path=ppt/tags/tag158.xml><?xml version="1.0" encoding="utf-8"?>
<p:tagLst xmlns:p="http://schemas.openxmlformats.org/presentationml/2006/main">
  <p:tag name="KSO_WM_DIAGRAM_VIRTUALLY_FRAME" val="{&quot;height&quot;:261.2,&quot;left&quot;:46.35,&quot;top&quot;:41.1,&quot;width&quot;:755.8}"/>
</p:tagLst>
</file>

<file path=ppt/tags/tag159.xml><?xml version="1.0" encoding="utf-8"?>
<p:tagLst xmlns:p="http://schemas.openxmlformats.org/presentationml/2006/main">
  <p:tag name="KSO_WM_DIAGRAM_VIRTUALLY_FRAME" val="{&quot;height&quot;:261.2,&quot;left&quot;:46.35,&quot;top&quot;:41.1,&quot;width&quot;:755.8}"/>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DIAGRAM_VIRTUALLY_FRAME" val="{&quot;height&quot;:261.2,&quot;left&quot;:46.35,&quot;top&quot;:41.1,&quot;width&quot;:755.8}"/>
</p:tagLst>
</file>

<file path=ppt/tags/tag177.xml><?xml version="1.0" encoding="utf-8"?>
<p:tagLst xmlns:p="http://schemas.openxmlformats.org/presentationml/2006/main">
  <p:tag name="KSO_WM_DIAGRAM_VIRTUALLY_FRAME" val="{&quot;height&quot;:261.2,&quot;left&quot;:46.35,&quot;top&quot;:41.1,&quot;width&quot;:755.8}"/>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DIAGRAM_VIRTUALLY_FRAME" val="{&quot;height&quot;:261.2,&quot;left&quot;:46.35,&quot;top&quot;:41.1,&quot;width&quot;:755.8}"/>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DIAGRAM_VIRTUALLY_FRAME" val="{&quot;height&quot;:57.75,&quot;left&quot;:25.25,&quot;top&quot;:122.15,&quot;width&quot;:916.4}"/>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DIAGRAM_VIRTUALLY_FRAME" val="{&quot;height&quot;:195.48543307086615,&quot;left&quot;:297.8111023622047,&quot;top&quot;:176.69700787401575,&quot;width&quot;:371.41590551181105}"/>
</p:tagLst>
</file>

<file path=ppt/tags/tag284.xml><?xml version="1.0" encoding="utf-8"?>
<p:tagLst xmlns:p="http://schemas.openxmlformats.org/presentationml/2006/main">
  <p:tag name="KSO_WM_DIAGRAM_VIRTUALLY_FRAME" val="{&quot;height&quot;:195.48543307086615,&quot;left&quot;:297.8111023622047,&quot;top&quot;:176.69700787401575,&quot;width&quot;:371.41590551181105}"/>
</p:tagLst>
</file>

<file path=ppt/tags/tag285.xml><?xml version="1.0" encoding="utf-8"?>
<p:tagLst xmlns:p="http://schemas.openxmlformats.org/presentationml/2006/main">
  <p:tag name="KSO_WM_DIAGRAM_VIRTUALLY_FRAME" val="{&quot;height&quot;:195.48543307086615,&quot;left&quot;:297.8111023622047,&quot;top&quot;:176.69700787401575,&quot;width&quot;:371.41590551181105}"/>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 name="KSO_WM_DIAGRAM_VIRTUALLY_FRAME" val="{&quot;height&quot;:168.35,&quot;left&quot;:46.65,&quot;top&quot;:142.25,&quot;width&quot;:861.95}"/>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 name="KSO_WM_DIAGRAM_VIRTUALLY_FRAME" val="{&quot;height&quot;:168.35,&quot;left&quot;:46.65,&quot;top&quot;:142.25,&quot;width&quot;:861.95}"/>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DIAGRAM_VIRTUALLY_FRAME" val="{&quot;height&quot;:195.48543307086615,&quot;left&quot;:297.8111023622047,&quot;top&quot;:176.69700787401575,&quot;width&quot;:371.41590551181105}"/>
</p:tagLst>
</file>

<file path=ppt/tags/tag297.xml><?xml version="1.0" encoding="utf-8"?>
<p:tagLst xmlns:p="http://schemas.openxmlformats.org/presentationml/2006/main">
  <p:tag name="KSO_WM_DIAGRAM_VIRTUALLY_FRAME" val="{&quot;height&quot;:195.48543307086615,&quot;left&quot;:297.8111023622047,&quot;top&quot;:176.69700787401575,&quot;width&quot;:371.41590551181105}"/>
</p:tagLst>
</file>

<file path=ppt/tags/tag298.xml><?xml version="1.0" encoding="utf-8"?>
<p:tagLst xmlns:p="http://schemas.openxmlformats.org/presentationml/2006/main">
  <p:tag name="KSO_WM_DIAGRAM_VIRTUALLY_FRAME" val="{&quot;height&quot;:195.48543307086615,&quot;left&quot;:297.8111023622047,&quot;top&quot;:176.69700787401575,&quot;width&quot;:371.41590551181105}"/>
</p:tagLst>
</file>

<file path=ppt/tags/tag299.xml><?xml version="1.0" encoding="utf-8"?>
<p:tagLst xmlns:p="http://schemas.openxmlformats.org/presentationml/2006/main">
  <p:tag name="TABLE_ENDDRAG_ORIGIN_RECT" val="891*409"/>
  <p:tag name="TABLE_ENDDRAG_RECT" val="29*82*891*409"/>
</p:tagLst>
</file>

<file path=ppt/tags/tag300.xml><?xml version="1.0" encoding="utf-8"?>
<p:tagLst xmlns:p="http://schemas.openxmlformats.org/presentationml/2006/main">
  <p:tag name="TABLE_ENDDRAG_ORIGIN_RECT" val="891*409"/>
  <p:tag name="TABLE_ENDDRAG_RECT" val="29*82*891*409"/>
</p:tagLst>
</file>

<file path=ppt/tags/tag301.xml><?xml version="1.0" encoding="utf-8"?>
<p:tagLst xmlns:p="http://schemas.openxmlformats.org/presentationml/2006/main">
  <p:tag name="TABLE_ENDDRAG_ORIGIN_RECT" val="895*196"/>
  <p:tag name="TABLE_ENDDRAG_RECT" val="32*79*895*196"/>
</p:tagLst>
</file>

<file path=ppt/theme/theme1.xml><?xml version="1.0" encoding="utf-8"?>
<a:theme xmlns:a="http://schemas.openxmlformats.org/drawingml/2006/main" name="1_Office Theme">
  <a:themeElements>
    <a:clrScheme name="Custom 3">
      <a:dk1>
        <a:srgbClr val="000000"/>
      </a:dk1>
      <a:lt1>
        <a:srgbClr val="FFFFFF"/>
      </a:lt1>
      <a:dk2>
        <a:srgbClr val="44546A"/>
      </a:dk2>
      <a:lt2>
        <a:srgbClr val="E7E6E6"/>
      </a:lt2>
      <a:accent1>
        <a:srgbClr val="0070BF"/>
      </a:accent1>
      <a:accent2>
        <a:srgbClr val="8CC121"/>
      </a:accent2>
      <a:accent3>
        <a:srgbClr val="C6C7C6"/>
      </a:accent3>
      <a:accent4>
        <a:srgbClr val="EEEFEE"/>
      </a:accent4>
      <a:accent5>
        <a:srgbClr val="C00000"/>
      </a:accent5>
      <a:accent6>
        <a:srgbClr val="FFFE01"/>
      </a:accent6>
      <a:hlink>
        <a:srgbClr val="0563C1"/>
      </a:hlink>
      <a:folHlink>
        <a:srgbClr val="954F72"/>
      </a:folHlink>
    </a:clrScheme>
    <a:fontScheme name="fqzmttiu">
      <a:majorFont>
        <a:latin typeface="微软雅黑"/>
        <a:ea typeface="微软雅黑"/>
        <a:cs typeface=""/>
      </a:majorFont>
      <a:minorFont>
        <a:latin typeface="微软雅黑"/>
        <a:ea typeface="微软雅黑"/>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kumimoji="1" sz="1400" dirty="0" smtClean="0">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27216</Words>
  <Application>WPS 演示</Application>
  <PresentationFormat>宽屏</PresentationFormat>
  <Paragraphs>3635</Paragraphs>
  <Slides>40</Slides>
  <Notes>0</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40</vt:i4>
      </vt:variant>
    </vt:vector>
  </HeadingPairs>
  <TitlesOfParts>
    <vt:vector size="64" baseType="lpstr">
      <vt:lpstr>Arial</vt:lpstr>
      <vt:lpstr>宋体</vt:lpstr>
      <vt:lpstr>Wingdings</vt:lpstr>
      <vt:lpstr>微软雅黑</vt:lpstr>
      <vt:lpstr>微软雅黑 Light</vt:lpstr>
      <vt:lpstr>方正黑体简体</vt:lpstr>
      <vt:lpstr>Arial Unicode MS</vt:lpstr>
      <vt:lpstr>Calibri</vt:lpstr>
      <vt:lpstr>Arial</vt:lpstr>
      <vt:lpstr>Wingdings</vt:lpstr>
      <vt:lpstr>思源黑体 CN Normal</vt:lpstr>
      <vt:lpstr>黑体</vt:lpstr>
      <vt:lpstr>Times New Roman</vt:lpstr>
      <vt:lpstr>Helvetica Neue</vt:lpstr>
      <vt:lpstr>Calibri</vt:lpstr>
      <vt:lpstr>等线</vt:lpstr>
      <vt:lpstr>思源黑体</vt:lpstr>
      <vt:lpstr>Inter</vt:lpstr>
      <vt:lpstr>Segoe Print</vt:lpstr>
      <vt:lpstr>Wingdings</vt:lpstr>
      <vt:lpstr>OPPOSans B</vt:lpstr>
      <vt:lpstr>思源黑体 CN Regular</vt:lpstr>
      <vt:lpstr>Helvetica</vt:lpstr>
      <vt:lpstr>1_Office Theme</vt:lpstr>
      <vt:lpstr>市场领域数智化转型 专项规划方案汇报</vt:lpstr>
      <vt:lpstr>国家战略部署</vt:lpstr>
      <vt:lpstr>PowerPoint 演示文稿</vt:lpstr>
      <vt:lpstr>数智化转型总体规划蓝图</vt:lpstr>
      <vt:lpstr>数智化转型规划体系</vt:lpstr>
      <vt:lpstr>PowerPoint 演示文稿</vt:lpstr>
      <vt:lpstr>PowerPoint 演示文稿</vt:lpstr>
      <vt:lpstr>   问题分析|现状及问题分析</vt:lpstr>
      <vt:lpstr>转型思路|市场领域数智化转型的核心</vt:lpstr>
      <vt:lpstr>PowerPoint 演示文稿</vt:lpstr>
      <vt:lpstr>业务蓝图|构建“2346”客户全生命周期数智营销体系</vt:lpstr>
      <vt:lpstr>规划图|构建“能力贯通、前台统一、多场景赋能”的转型体系</vt:lpstr>
      <vt:lpstr>路径图|夯实数智支撑底座，强化数智化运营升级</vt:lpstr>
      <vt:lpstr>路径图|升级融合运营能力：①全领域客户账号统一</vt:lpstr>
      <vt:lpstr>路径图|升级融合运营能力：②全时空客户融合洞察</vt:lpstr>
      <vt:lpstr>路径图|升级融合运营能力：③全产品灵活封装供给</vt:lpstr>
      <vt:lpstr>路径图|升级融合运营能力：③全产品灵活封装供给</vt:lpstr>
      <vt:lpstr>路径图|升级融合运营能力：④全触点智能交互</vt:lpstr>
      <vt:lpstr>路径图|构建三屏联动的数智前台，加速推动数智化转型</vt:lpstr>
      <vt:lpstr> 路径图|建立保障机制</vt:lpstr>
      <vt:lpstr>PowerPoint 演示文稿</vt:lpstr>
      <vt:lpstr>PowerPoint 演示文稿</vt:lpstr>
      <vt:lpstr>施工图|多维分析智能用数</vt:lpstr>
      <vt:lpstr>施工图|全时空客户融合洞察</vt:lpstr>
      <vt:lpstr>施工图|全领域客户账号统一</vt:lpstr>
      <vt:lpstr>施工图|加快数据开放共享</vt:lpstr>
      <vt:lpstr>施工图|全产品灵活封装供给</vt:lpstr>
      <vt:lpstr>施工图|全触点智能联动交互</vt:lpstr>
      <vt:lpstr>施工图|加快数据开放共享</vt:lpstr>
      <vt:lpstr>施工图|打造市场运营工作台</vt:lpstr>
      <vt:lpstr>施工图|建强产品全生命周期运营</vt:lpstr>
      <vt:lpstr>施工图|强化渠道平台化运营</vt:lpstr>
      <vt:lpstr>施工图|加强存量客户运营</vt:lpstr>
      <vt:lpstr>总路线图|市场数智运营任务举措</vt:lpstr>
      <vt:lpstr>PowerPoint 演示文稿</vt:lpstr>
      <vt:lpstr>任务书|市场领域专项行动计划</vt:lpstr>
      <vt:lpstr>任务书|市场领域专项行动计划</vt:lpstr>
      <vt:lpstr>绩效表|市场领域专项行动计划</vt:lpstr>
      <vt:lpstr>PowerPoint 演示文稿</vt:lpstr>
      <vt:lpstr>施工图|打造市场运营工作台</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hoenix P</dc:creator>
  <cp:lastModifiedBy>User</cp:lastModifiedBy>
  <cp:revision>629</cp:revision>
  <dcterms:created xsi:type="dcterms:W3CDTF">2025-05-27T14:14:00Z</dcterms:created>
  <dcterms:modified xsi:type="dcterms:W3CDTF">2025-06-06T02:51:00Z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E89F3D0F29324DC884973EA8C45A14DD</vt:lpwstr>
  </property>
  <property fmtid="{D5CDD505-2E9C-101B-9397-08002B2CF9AE}" pid="3" name="KSOProductBuildVer">
    <vt:lpwstr>2052-11.8.2.12309</vt:lpwstr>
  </property>
</Properties>
</file>