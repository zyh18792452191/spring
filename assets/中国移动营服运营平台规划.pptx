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 id="2147483677" r:id="rId4"/>
  </p:sldMasterIdLst>
  <p:notesMasterIdLst>
    <p:notesMasterId r:id="rId6"/>
  </p:notesMasterIdLst>
  <p:handoutMasterIdLst>
    <p:handoutMasterId r:id="rId33"/>
  </p:handoutMasterIdLst>
  <p:sldIdLst>
    <p:sldId id="13136872" r:id="rId5"/>
    <p:sldId id="13136990" r:id="rId7"/>
    <p:sldId id="13137006" r:id="rId8"/>
    <p:sldId id="13137035" r:id="rId9"/>
    <p:sldId id="13136996" r:id="rId10"/>
    <p:sldId id="13137051" r:id="rId11"/>
    <p:sldId id="13137053" r:id="rId12"/>
    <p:sldId id="13137034" r:id="rId13"/>
    <p:sldId id="13136999" r:id="rId14"/>
    <p:sldId id="13137058" r:id="rId15"/>
    <p:sldId id="13137059" r:id="rId16"/>
    <p:sldId id="13137060" r:id="rId17"/>
    <p:sldId id="13137061" r:id="rId18"/>
    <p:sldId id="13137046" r:id="rId19"/>
    <p:sldId id="13137048" r:id="rId20"/>
    <p:sldId id="13137049" r:id="rId21"/>
    <p:sldId id="13137012" r:id="rId22"/>
    <p:sldId id="13137018" r:id="rId23"/>
    <p:sldId id="13137019" r:id="rId24"/>
    <p:sldId id="13137020" r:id="rId25"/>
    <p:sldId id="13137027" r:id="rId26"/>
    <p:sldId id="13137024" r:id="rId27"/>
    <p:sldId id="13137050" r:id="rId28"/>
    <p:sldId id="13137052" r:id="rId29"/>
    <p:sldId id="13137001" r:id="rId30"/>
    <p:sldId id="13137054" r:id="rId31"/>
    <p:sldId id="13137028" r:id="rId32"/>
  </p:sldIdLst>
  <p:sldSz cx="12192000" cy="6858000"/>
  <p:notesSz cx="6792595" cy="992505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7496" userDrawn="1">
          <p15:clr>
            <a:srgbClr val="A4A3A4"/>
          </p15:clr>
        </p15:guide>
        <p15:guide id="2" orient="horz" pos="2002" userDrawn="1">
          <p15:clr>
            <a:srgbClr val="A4A3A4"/>
          </p15:clr>
        </p15:guide>
        <p15:guide id="3" pos="1372" userDrawn="1">
          <p15:clr>
            <a:srgbClr val="A4A3A4"/>
          </p15:clr>
        </p15:guide>
        <p15:guide id="4" orient="horz" pos="649" userDrawn="1">
          <p15:clr>
            <a:srgbClr val="A4A3A4"/>
          </p15:clr>
        </p15:guide>
        <p15:guide id="5" orient="horz" pos="3443" userDrawn="1">
          <p15:clr>
            <a:srgbClr val="A4A3A4"/>
          </p15:clr>
        </p15:guide>
        <p15:guide id="7" orient="horz" pos="1095" userDrawn="1">
          <p15:clr>
            <a:srgbClr val="A4A3A4"/>
          </p15:clr>
        </p15:guide>
        <p15:guide id="8" pos="441" userDrawn="1">
          <p15:clr>
            <a:srgbClr val="A4A3A4"/>
          </p15:clr>
        </p15:guide>
        <p15:guide id="9" orient="horz" pos="4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程帆" initials="H" lastIdx="1" clrIdx="0"/>
  <p:cmAuthor id="1367" name="jian Ray" initials="j" lastIdx="0" clrIdx="1366"/>
  <p:cmAuthor id="1" name="黄金光" initials="z" lastIdx="1" clrIdx="0"/>
  <p:cmAuthor id="1368" name="jesschin" initials="j" lastIdx="0" clrIdx="1367"/>
  <p:cmAuthor id="2" name="王 萱" initials="王" lastIdx="1" clrIdx="1"/>
  <p:cmAuthor id="1369" name="王天逸" initials="王" lastIdx="0" clrIdx="1368"/>
  <p:cmAuthor id="3" name="1004204385@qq.com" initials="1" lastIdx="1" clrIdx="2"/>
  <p:cmAuthor id="1370" name="Unknown User58" initials="U" lastIdx="0" clrIdx="1369"/>
  <p:cmAuthor id="4" name="ma bin" initials="mb" lastIdx="1" clrIdx="3"/>
  <p:cmAuthor id="1371" name="未知用户358" initials="未" lastIdx="0" clrIdx="1370"/>
  <p:cmAuthor id="5" name="dieforlove" initials="die" lastIdx="1" clrIdx="3"/>
  <p:cmAuthor id="1372" name="未知用户364" initials="未" lastIdx="0" clrIdx="1371"/>
  <p:cmAuthor id="6" name="K21" initials="K" lastIdx="5" clrIdx="4"/>
  <p:cmAuthor id="1373" name="Heyhx" initials="H" lastIdx="0" clrIdx="1372"/>
  <p:cmAuthor id="7" name="贾宏波" initials="J" lastIdx="6" clrIdx="5"/>
  <p:cmAuthor id="1374" name="未知用户298" initials="未" lastIdx="0" clrIdx="1373"/>
  <p:cmAuthor id="8" name="张洋洋" initials="张洋洋" lastIdx="5" clrIdx="6"/>
  <p:cmAuthor id="1375" name="未知用户307" initials="未" lastIdx="0" clrIdx="1374"/>
  <p:cmAuthor id="9" name="马 啸" initials="马" lastIdx="9" clrIdx="7"/>
  <p:cmAuthor id="1376" name="未知用户315" initials="未" lastIdx="0" clrIdx="1375"/>
  <p:cmAuthor id="10" name="c" initials="c" lastIdx="1" clrIdx="8"/>
  <p:cmAuthor id="1377" name="未知用户317" initials="未" lastIdx="0" clrIdx="1376"/>
  <p:cmAuthor id="11" name="xiaweiwei" initials="x" lastIdx="1" clrIdx="9"/>
  <p:cmAuthor id="1378" name="未知用户329" initials="未" lastIdx="0" clrIdx="1377"/>
  <p:cmAuthor id="12" name="lenovo" initials="l" lastIdx="1" clrIdx="11"/>
  <p:cmAuthor id="1379" name="未知用户341" initials="未" lastIdx="0" clrIdx="1378"/>
  <p:cmAuthor id="13" name="周瑜璟" initials="周" lastIdx="1" clrIdx="12"/>
  <p:cmAuthor id="1380" name="孙扬" initials="孙" lastIdx="0" clrIdx="1379"/>
  <p:cmAuthor id="14" name="John" initials="J" lastIdx="36" clrIdx="13"/>
  <p:cmAuthor id="1381" name="亭子" initials="亭" lastIdx="0" clrIdx="1380"/>
  <p:cmAuthor id="15" name="10025093" initials="1" lastIdx="51" clrIdx="14"/>
  <p:cmAuthor id="1382" name="未知用户309" initials="未" lastIdx="0" clrIdx="1381"/>
  <p:cmAuthor id="16" name="朱青峰" initials="朱" lastIdx="1" clrIdx="15"/>
  <p:cmAuthor id="1383" name="Carith" initials="C" lastIdx="0" clrIdx="1382"/>
  <p:cmAuthor id="17" name="00035181" initials="0" lastIdx="1" clrIdx="16"/>
  <p:cmAuthor id="1384" name="杜彦洁" initials="杜" lastIdx="0" clrIdx="1383"/>
  <p:cmAuthor id="18" name="li kai" initials="lk" lastIdx="1" clrIdx="18"/>
  <p:cmAuthor id="1385" name="南丁丁" initials="南" lastIdx="0" clrIdx="1384"/>
  <p:cmAuthor id="19" name="Saku Uchikawa" initials="S" lastIdx="11" clrIdx="0"/>
  <p:cmAuthor id="1386" name="殷一非" initials="殷" lastIdx="0" clrIdx="1385"/>
  <p:cmAuthor id="20" name="00065088" initials="0" lastIdx="2" clrIdx="19"/>
  <p:cmAuthor id="1387" name="风之子" initials="风" lastIdx="0" clrIdx="1386"/>
  <p:cmAuthor id="21" name="10066351" initials="1" lastIdx="2" clrIdx="0"/>
  <p:cmAuthor id="1388" name="蓝精灵" initials="蓝" lastIdx="0" clrIdx="1387"/>
  <p:cmAuthor id="22" name="蔡建楠" initials="caijianna" lastIdx="15" clrIdx="17"/>
  <p:cmAuthor id="1389" name="absurdus" initials="a" lastIdx="0" clrIdx="1388"/>
  <p:cmAuthor id="23" name="未知用户1" initials="未" lastIdx="7" clrIdx="19"/>
  <p:cmAuthor id="1390" name="wmcmdi" initials="w" lastIdx="0" clrIdx="1389"/>
  <p:cmAuthor id="24" name="cmcc" initials="c" lastIdx="2" clrIdx="23"/>
  <p:cmAuthor id="1391" name="吴伟/SGS/FMCC" initials="吴伟/SGS/FM" lastIdx="0" clrIdx="1390"/>
  <p:cmAuthor id="25" name="徐亮" initials="XL" lastIdx="1" clrIdx="24"/>
  <p:cmAuthor id="1392" name="YiYi" initials="Y" lastIdx="0" clrIdx="1391"/>
  <p:cmAuthor id="26" name="苗丁仁10181802" initials="苗" lastIdx="27" clrIdx="25"/>
  <p:cmAuthor id="1393" name="红旗的理想" initials="红" lastIdx="0" clrIdx="1392"/>
  <p:cmAuthor id="27" name="10270945" initials="1" lastIdx="1" clrIdx="25"/>
  <p:cmAuthor id="1394" name="shq316" initials="s" lastIdx="0" clrIdx="1393"/>
  <p:cmAuthor id="28" name="Hou Yingfeng" initials="H" lastIdx="10" clrIdx="23"/>
  <p:cmAuthor id="1395" name="shq316@vod365.com" initials="s" lastIdx="0" clrIdx="1394"/>
  <p:cmAuthor id="29" name="钱笑晓" initials="钱" lastIdx="1" clrIdx="28"/>
  <p:cmAuthor id="1396" name="yang fengyu" initials="yf" lastIdx="0" clrIdx="1395"/>
  <p:cmAuthor id="30" name="huangsifei" initials="h" lastIdx="1" clrIdx="29"/>
  <p:cmAuthor id="1397" name="ocean" initials="o" lastIdx="0" clrIdx="1396"/>
  <p:cmAuthor id="31" name="Author" initials="A" lastIdx="0" clrIdx="30"/>
  <p:cmAuthor id="1398" name="震" initials="震" lastIdx="0" clrIdx="1397"/>
  <p:cmAuthor id="32" name="Qlstc" initials="Q" lastIdx="1" clrIdx="31"/>
  <p:cmAuthor id="1399" name="NTKO" initials="H" lastIdx="0" clrIdx="1398"/>
  <p:cmAuthor id="33" name="泾伦" initials="泾伦" lastIdx="1" clrIdx="32"/>
  <p:cmAuthor id="1400" name="Tianchi Yao" initials="TY" lastIdx="0" clrIdx="1399"/>
  <p:cmAuthor id="191251535" name="沈霄雷" initials="沈" lastIdx="833089" clrIdx="0"/>
  <p:cmAuthor id="34" name="季然" initials="季" lastIdx="13" clrIdx="33"/>
  <p:cmAuthor id="1401" name="秀雪 贾" initials="秀贾" lastIdx="0" clrIdx="1400"/>
  <p:cmAuthor id="191251536" name="SF" initials="S" lastIdx="6" clrIdx="11"/>
  <p:cmAuthor id="35" name="A6910" initials="A" lastIdx="1" clrIdx="34"/>
  <p:cmAuthor id="1402" name="xxxx" initials="x" lastIdx="0" clrIdx="1401"/>
  <p:cmAuthor id="191251537" name="sammi" initials="s" lastIdx="0" clrIdx="12"/>
  <p:cmAuthor id="36" name="su liqin" initials="sl" lastIdx="1" clrIdx="35"/>
  <p:cmAuthor id="1403" name="烬飞默途" initials="烬" lastIdx="0" clrIdx="1402"/>
  <p:cmAuthor id="191251538" name="jylong2@grgbanking.com" initials="j" lastIdx="1" clrIdx="53"/>
  <p:cmAuthor id="37" name="qintianfeng@cmii.cmcc" initials="qintianfeng@cmii.cmcc" lastIdx="2" clrIdx="36"/>
  <p:cmAuthor id="1404" name="孙傲" initials="孙" lastIdx="0" clrIdx="1403"/>
  <p:cmAuthor id="191251539" name="席琛" initials="" lastIdx="0" clrIdx="58"/>
  <p:cmAuthor id="276434777" name="PENG" initials="P" lastIdx="1" clrIdx="0"/>
  <p:cmAuthor id="38" name="朱安琪" initials="朱" lastIdx="1" clrIdx="37"/>
  <p:cmAuthor id="1405" name="zsc" initials="z" lastIdx="0" clrIdx="1404"/>
  <p:cmAuthor id="191251540" name="韩剑侠" initials="P" lastIdx="1" clrIdx="41"/>
  <p:cmAuthor id="39" name="10054047" initials="1" lastIdx="1" clrIdx="39"/>
  <p:cmAuthor id="1406" name="陈静" initials="陈" lastIdx="0" clrIdx="1405"/>
  <p:cmAuthor id="364056745" name="华" initials="华" lastIdx="1" clrIdx="375"/>
  <p:cmAuthor id="977340790" name="Mmm" initials="M" lastIdx="3" clrIdx="853"/>
  <p:cmAuthor id="191251541" name="sjzx" initials="s" lastIdx="1" clrIdx="25"/>
  <p:cmAuthor id="40" name="10133177" initials="1" lastIdx="1" clrIdx="39"/>
  <p:cmAuthor id="1407" name="潘继儒" initials="潘" lastIdx="0" clrIdx="1406"/>
  <p:cmAuthor id="191251542" name="yang.yuan" initials="y" lastIdx="0" clrIdx="17"/>
  <p:cmAuthor id="41" name="10072453" initials="1" lastIdx="1" clrIdx="40"/>
  <p:cmAuthor id="1408" name="邹" initials="邹" lastIdx="0" clrIdx="1407"/>
  <p:cmAuthor id="191251543" name="王娟" initials="1" lastIdx="1" clrIdx="31"/>
  <p:cmAuthor id="42" name="陈思" initials="陈" lastIdx="1" clrIdx="41"/>
  <p:cmAuthor id="1409" name="晓琳 李" initials="晓琳" lastIdx="0" clrIdx="1408"/>
  <p:cmAuthor id="43" name="胡家权" initials="胡" lastIdx="1" clrIdx="42"/>
  <p:cmAuthor id="1410" name="文" initials="文" lastIdx="0" clrIdx="1409"/>
  <p:cmAuthor id="44" name="未知的使用者78" initials="" lastIdx="5" clrIdx="1"/>
  <p:cmAuthor id="1411" name="W_L" initials="W" lastIdx="0" clrIdx="1410"/>
  <p:cmAuthor id="45" name="10319231" initials="1" lastIdx="3" clrIdx="44"/>
  <p:cmAuthor id="1412" name="段瑞祥" initials="段" lastIdx="0" clrIdx="1411"/>
  <p:cmAuthor id="46" name="未知的使用者79" initials="" lastIdx="0" clrIdx="1"/>
  <p:cmAuthor id="1413" name="10375" initials="1" lastIdx="0" clrIdx="1412"/>
  <p:cmAuthor id="47" name="未知用户107" initials="" lastIdx="1" clrIdx="0"/>
  <p:cmAuthor id="1414" name="Hey！Judy" initials="H" lastIdx="0" clrIdx="1413"/>
  <p:cmAuthor id="48" name="未知的使用者80" initials="" lastIdx="0" clrIdx="0"/>
  <p:cmAuthor id="1415" name="Halfmoon" initials="H" lastIdx="0" clrIdx="1414"/>
  <p:cmAuthor id="49" name="未知用户51" initials="" lastIdx="1" clrIdx="1"/>
  <p:cmAuthor id="1416" name="shye_EbMrZnMJ" initials="authorId_858303361" lastIdx="0" clrIdx="1415"/>
  <p:cmAuthor id="50" name="未知的使用者82" initials="" lastIdx="1" clrIdx="0"/>
  <p:cmAuthor id="1417" name="王伟栋_ymIjy2uI" initials="authorId_1008746-10055544" lastIdx="0" clrIdx="1416"/>
  <p:cmAuthor id="51" name="user" initials="u" lastIdx="1" clrIdx="0"/>
  <p:cmAuthor id="1418" name="金宇峰_BfyebuM3" initials="authorId_1008746-10054633" lastIdx="0" clrIdx="1417"/>
  <p:cmAuthor id="52" name="未知的使用者83" initials="" lastIdx="1" clrIdx="0"/>
  <p:cmAuthor id="1419" name="fuyuhan" initials="f" lastIdx="0" clrIdx="1418"/>
  <p:cmAuthor id="53" name="未知的使用者118" initials="" lastIdx="1" clrIdx="0"/>
  <p:cmAuthor id="1420" name="WPS_1672491172" initials="W" lastIdx="0" clrIdx="1419"/>
  <p:cmAuthor id="54" name="未知的使用者84" initials="" lastIdx="1" clrIdx="1"/>
  <p:cmAuthor id="1421" name="ma jialin" initials="mj" lastIdx="0" clrIdx="1420"/>
  <p:cmAuthor id="55" name="未知的使用者70" initials="" lastIdx="1" clrIdx="0"/>
  <p:cmAuthor id="1422" name="蒋惠良" initials="a" lastIdx="0" clrIdx="1421"/>
  <p:cmAuthor id="56" name="未知的使用者85" initials="" lastIdx="1" clrIdx="0"/>
  <p:cmAuthor id="1423" name="Ye Ouyang" initials="YO" lastIdx="0" clrIdx="1422"/>
  <p:cmAuthor id="57" name="未知的使用者40" initials="" lastIdx="1" clrIdx="0"/>
  <p:cmAuthor id="1424" name="洪文静" initials="hongwj" lastIdx="0" clrIdx="1423"/>
  <p:cmAuthor id="691371243" name="." initials="." lastIdx="2" clrIdx="318"/>
  <p:cmAuthor id="58" name="未知的使用者87" initials="" lastIdx="1" clrIdx="0"/>
  <p:cmAuthor id="1425" name="Wangyan (wangyan, BSS Business Solution)" initials="W(BBS" lastIdx="0" clrIdx="1424"/>
  <p:cmAuthor id="59" name="曾红" initials="" lastIdx="0" clrIdx="0"/>
  <p:cmAuthor id="1426" name="Office 365" initials="O3" lastIdx="0" clrIdx="1425"/>
  <p:cmAuthor id="387477576" name="DldUlcks" initials="D" lastIdx="1" clrIdx="495"/>
  <p:cmAuthor id="60" name="未知的使用者90" initials="" lastIdx="8" clrIdx="0"/>
  <p:cmAuthor id="1427" name="jiang" initials="j" lastIdx="0" clrIdx="1426"/>
  <p:cmAuthor id="61" name="未知的使用者29" initials="" lastIdx="1" clrIdx="0"/>
  <p:cmAuthor id="1428" name="huangzhuo" initials="h" lastIdx="0" clrIdx="1427"/>
  <p:cmAuthor id="62" name="未知的使用者91" initials="" lastIdx="1" clrIdx="0"/>
  <p:cmAuthor id="1429" name="jiaxin" initials="jx" lastIdx="0" clrIdx="1428"/>
  <p:cmAuthor id="63" name="未知的使用者98" initials="" lastIdx="1" clrIdx="0"/>
  <p:cmAuthor id="1430" name="chenlin02" initials="c" lastIdx="0" clrIdx="1429"/>
  <p:cmAuthor id="64" name="CHRISYU" initials="" lastIdx="1" clrIdx="0"/>
  <p:cmAuthor id="1431" name="八步" initials="八" lastIdx="0" clrIdx="1430"/>
  <p:cmAuthor id="65" name="未知的使用者113" initials="" lastIdx="1" clrIdx="2"/>
  <p:cmAuthor id="1432" name="王丹（法律）" initials="王" lastIdx="0" clrIdx="1431"/>
  <p:cmAuthor id="253976362" name="Mr Keating" initials="M" lastIdx="1" clrIdx="383"/>
  <p:cmAuthor id="66" name="liucunri" initials="" lastIdx="1" clrIdx="0"/>
  <p:cmAuthor id="1433" name="HiWin10" initials="H" lastIdx="0" clrIdx="1432"/>
  <p:cmAuthor id="376687852" name="初七之月亮" initials="初" lastIdx="1" clrIdx="597"/>
  <p:cmAuthor id="67" name="未知用户9" initials="" lastIdx="1" clrIdx="0"/>
  <p:cmAuthor id="1434" name="liuweiwan@hq.cmcc" initials="l" lastIdx="0" clrIdx="1433"/>
  <p:cmAuthor id="68" name="Unknown User48" initials="" lastIdx="8" clrIdx="0"/>
  <p:cmAuthor id="1435" name="小 红马" initials="小" lastIdx="0" clrIdx="1434"/>
  <p:cmAuthor id="69" name="未知用户103" initials="" lastIdx="1" clrIdx="0"/>
  <p:cmAuthor id="1436" name="liuwe" initials="l" lastIdx="0" clrIdx="1435"/>
  <p:cmAuthor id="70" name="Unknown User52" initials="" lastIdx="1" clrIdx="0"/>
  <p:cmAuthor id="1437" name="李 里" initials="李" lastIdx="0" clrIdx="1436"/>
  <p:cmAuthor id="71" name="未知的使用者42" initials="" lastIdx="1" clrIdx="0"/>
  <p:cmAuthor id="1438" name="law yung" initials="ly" lastIdx="0" clrIdx="1437"/>
  <p:cmAuthor id="72" name="Unknown User50" initials="" lastIdx="1" clrIdx="0"/>
  <p:cmAuthor id="1439" name="heyanfeng8293@163.com" initials="" lastIdx="0" clrIdx="1438"/>
  <p:cmAuthor id="73" name="未知的使用者120" initials="" lastIdx="1" clrIdx="0"/>
  <p:cmAuthor id="1440" name="叶 锋" initials="叶" lastIdx="0" clrIdx="1439"/>
  <p:cmAuthor id="74" name="px" initials="" lastIdx="3" clrIdx="1"/>
  <p:cmAuthor id="1441" name="haomingLiu" initials="h" lastIdx="0" clrIdx="1440"/>
  <p:cmAuthor id="75" name="作者" initials="A" lastIdx="0" clrIdx="24"/>
  <p:cmAuthor id="1442" name="liuc211" initials="l" lastIdx="0" clrIdx="1441"/>
  <p:cmAuthor id="76" name="Microsoft 帐户" initials="M帐" lastIdx="1" clrIdx="25"/>
  <p:cmAuthor id="1443" name="陈豪" initials="陈" lastIdx="0" clrIdx="1442"/>
  <p:cmAuthor id="77" name="elfinhsu" initials="" lastIdx="1" clrIdx="0"/>
  <p:cmAuthor id="1444" name="赵诚荣10027092" initials="赵" lastIdx="0" clrIdx="1443"/>
  <p:cmAuthor id="78" name="徐 超" initials="徐" lastIdx="1" clrIdx="27"/>
  <p:cmAuthor id="1445" name="类" initials="类" lastIdx="0" clrIdx="1444"/>
  <p:cmAuthor id="79" name="微软用户" initials="" lastIdx="1" clrIdx="0"/>
  <p:cmAuthor id="1446" name="Caixiaojin" initials="C" lastIdx="0" clrIdx="1445"/>
  <p:cmAuthor id="80" name="未知的使用者73" initials="" lastIdx="1" clrIdx="0"/>
  <p:cmAuthor id="1447" name="ISS-ZZX" initials="I" lastIdx="0" clrIdx="1446"/>
  <p:cmAuthor id="81" name="未知的使用者24" initials="" lastIdx="8" clrIdx="0"/>
  <p:cmAuthor id="1448" name="zhuyx" initials="M" lastIdx="0" clrIdx="1447"/>
  <p:cmAuthor id="82" name="未知用户16" initials="" lastIdx="1" clrIdx="0"/>
  <p:cmAuthor id="1449" name="Ra7ER" initials="R" lastIdx="0" clrIdx="1448"/>
  <p:cmAuthor id="83" name="Mary Feil-Jacobs" initials="" lastIdx="43" clrIdx="1"/>
  <p:cmAuthor id="1450" name="13999" initials="1" lastIdx="0" clrIdx="1449"/>
  <p:cmAuthor id="84" name="LiuHui" initials="" lastIdx="1" clrIdx="0"/>
  <p:cmAuthor id="1451" name="ranxinze" initials="r" lastIdx="0" clrIdx="1450"/>
  <p:cmAuthor id="85" name="未知的使用者45" initials="" lastIdx="1" clrIdx="0"/>
  <p:cmAuthor id="1452" name="gaols" initials="g" lastIdx="0" clrIdx="1451"/>
  <p:cmAuthor id="86" name="王鹏凯" initials="" lastIdx="1" clrIdx="0"/>
  <p:cmAuthor id="1453" name="赵琦" initials="赵" lastIdx="0" clrIdx="1452"/>
  <p:cmAuthor id="235078975" name="车旭" initials="车" lastIdx="1" clrIdx="944"/>
  <p:cmAuthor id="87" name="未知用户104" initials="" lastIdx="1" clrIdx="0"/>
  <p:cmAuthor id="1454" name="hm" initials="h" lastIdx="0" clrIdx="1453"/>
  <p:cmAuthor id="88" name="未知用户5" initials="" lastIdx="1" clrIdx="0"/>
  <p:cmAuthor id="1455" name="luoli" initials="L" lastIdx="0" clrIdx="1454"/>
  <p:cmAuthor id="89" name="未知的使用者10" initials="" lastIdx="3" clrIdx="1"/>
  <p:cmAuthor id="1456" name="李 剑峰" initials="李" lastIdx="0" clrIdx="1455"/>
  <p:cmAuthor id="90" name="未知的使用者93" initials="" lastIdx="1" clrIdx="1"/>
  <p:cmAuthor id="1457" name="kevin.huang" initials="k" lastIdx="0" clrIdx="1456"/>
  <p:cmAuthor id="91" name="Q Q" initials="Q" lastIdx="1" clrIdx="3"/>
  <p:cmAuthor id="1458" name="evil" initials="e" lastIdx="0" clrIdx="1457"/>
  <p:cmAuthor id="92" name="LeeElva" initials="" lastIdx="1" clrIdx="0"/>
  <p:cmAuthor id="1459" name="sizhao@cmsr.cmcc" initials="S" lastIdx="0" clrIdx="1458"/>
  <p:cmAuthor id="93" name="未知用户99" initials="" lastIdx="1" clrIdx="2"/>
  <p:cmAuthor id="1460" name="何已龙" initials="何" lastIdx="0" clrIdx="1459"/>
  <p:cmAuthor id="94" name="未知的使用者34" initials="" lastIdx="1" clrIdx="0"/>
  <p:cmAuthor id="1461" name="叶得会" initials="叶" lastIdx="0" clrIdx="1460"/>
  <p:cmAuthor id="95" name="未知的使用者115" initials="" lastIdx="1" clrIdx="1"/>
  <p:cmAuthor id="1462" name="未知用户20" initials="未" lastIdx="0" clrIdx="1461"/>
  <p:cmAuthor id="96" name="未知用户57" initials="" lastIdx="1" clrIdx="0"/>
  <p:cmAuthor id="1463" name="郝崇" initials="郝" lastIdx="0" clrIdx="1462"/>
  <p:cmAuthor id="669470575" name="黄炜" initials="黄" lastIdx="1" clrIdx="629"/>
  <p:cmAuthor id="97" name="lianghb" initials="" lastIdx="19" clrIdx="0"/>
  <p:cmAuthor id="1464" name="吴杰" initials="吴" lastIdx="0" clrIdx="1463"/>
  <p:cmAuthor id="913287329" name="cyq" initials="c" lastIdx="2" clrIdx="31"/>
  <p:cmAuthor id="98" name="未知用户17" initials="" lastIdx="0" clrIdx="1"/>
  <p:cmAuthor id="1465" name="SuYan" initials="S" lastIdx="0" clrIdx="1464"/>
  <p:cmAuthor id="99" name="Deanna Schuler (Bookey Consulting)" initials="" lastIdx="2" clrIdx="0"/>
  <p:cmAuthor id="1466" name="刘丽仙" initials="刘" lastIdx="0" clrIdx="1465"/>
  <p:cmAuthor id="100" name="未知的使用者57" initials="" lastIdx="1" clrIdx="0"/>
  <p:cmAuthor id="1467" name="草长莺飞" initials="草" lastIdx="0" clrIdx="1466"/>
  <p:cmAuthor id="101" name="未知的使用者16" initials="" lastIdx="6" clrIdx="0"/>
  <p:cmAuthor id="1468" name="杨艳霞" initials="杨" lastIdx="0" clrIdx="1467"/>
  <p:cmAuthor id="102" name="未知的使用者35" initials="" lastIdx="1" clrIdx="0"/>
  <p:cmAuthor id="1469" name="未定义" initials="未" lastIdx="0" clrIdx="1468"/>
  <p:cmAuthor id="103" name="未知用户102" initials="" lastIdx="1" clrIdx="1"/>
  <p:cmAuthor id="1470" name="rq fan" initials="r" lastIdx="0" clrIdx="1469"/>
  <p:cmAuthor id="104" name="maxine" initials="" lastIdx="0" clrIdx="0"/>
  <p:cmAuthor id="1471" name="dingbo" initials="d" lastIdx="0" clrIdx="1470"/>
  <p:cmAuthor id="105" name="未知的使用者121" initials="" lastIdx="1" clrIdx="1"/>
  <p:cmAuthor id="1472" name="丁芙蓉" initials="丁" lastIdx="0" clrIdx="1471"/>
  <p:cmAuthor id="106" name="未知的使用者12" initials="" lastIdx="1" clrIdx="0"/>
  <p:cmAuthor id="1473" name="许弘扬" initials="许" lastIdx="0" clrIdx="1472"/>
  <p:cmAuthor id="107" name="周元元" initials="" lastIdx="5" clrIdx="0"/>
  <p:cmAuthor id="1474" name="未知用户25" initials="未" lastIdx="0" clrIdx="1473"/>
  <p:cmAuthor id="108" name="未知的使用者27" initials="" lastIdx="8" clrIdx="0"/>
  <p:cmAuthor id="1475" name="陈尚文" initials="陈" lastIdx="0" clrIdx="1474"/>
  <p:cmAuthor id="109" name="刘豹" initials="刘" lastIdx="0" clrIdx="0"/>
  <p:cmAuthor id="1476" name="张宏伟" initials="张" lastIdx="0" clrIdx="1475"/>
  <p:cmAuthor id="110" name="未知的使用者30" initials="" lastIdx="8" clrIdx="0"/>
  <p:cmAuthor id="1477" name="Yuan Hu" initials="Y" lastIdx="0" clrIdx="1476"/>
  <p:cmAuthor id="111" name="未知的使用者53" initials="" lastIdx="1" clrIdx="0"/>
  <p:cmAuthor id="1478" name="Pei" initials="P" lastIdx="0" clrIdx="1477"/>
  <p:cmAuthor id="112" name="未知用户58" initials="" lastIdx="5" clrIdx="1"/>
  <p:cmAuthor id="1479" name="Ying Li" initials="Y" lastIdx="0" clrIdx="1478"/>
  <p:cmAuthor id="113" name="未知的使用者25" initials="" lastIdx="1" clrIdx="0"/>
  <p:cmAuthor id="1480" name="李威" initials="李" lastIdx="0" clrIdx="1479"/>
  <p:cmAuthor id="114" name="liupeng" initials="" lastIdx="1" clrIdx="1"/>
  <p:cmAuthor id="1481" name="李百秋" initials="李" lastIdx="0" clrIdx="1480"/>
  <p:cmAuthor id="115" name="未知用户24" initials="" lastIdx="1" clrIdx="0"/>
  <p:cmAuthor id="1482" name="张立鑫" initials="张" lastIdx="0" clrIdx="1481"/>
  <p:cmAuthor id="116" name="AbuSina" initials="" lastIdx="2" clrIdx="0"/>
  <p:cmAuthor id="1483" name="杨静" initials="杨" lastIdx="0" clrIdx="1482"/>
  <p:cmAuthor id="117" name="hl sun" initials="" lastIdx="1" clrIdx="0"/>
  <p:cmAuthor id="1484" name="包珊珊" initials="包" lastIdx="0" clrIdx="1483"/>
  <p:cmAuthor id="118" name="未知的使用者94" initials="" lastIdx="1" clrIdx="2"/>
  <p:cmAuthor id="1485" name="YuQing" initials="Y" lastIdx="0" clrIdx="1484"/>
  <p:cmAuthor id="119" name="未知用户66" initials="" lastIdx="1" clrIdx="0"/>
  <p:cmAuthor id="1486" name="Youwen Sun" initials="Y" lastIdx="0" clrIdx="1485"/>
  <p:cmAuthor id="120" name="史璐瑶" initials="史" lastIdx="1" clrIdx="23"/>
  <p:cmAuthor id="1487" name="Calvin G" initials="C" lastIdx="0" clrIdx="1486"/>
  <p:cmAuthor id="121" name="未知用户19" initials="" lastIdx="1" clrIdx="0"/>
  <p:cmAuthor id="1488" name="�ǲ�����" initials="�" lastIdx="0" clrIdx="1487"/>
  <p:cmAuthor id="122" name="周宏達JerryChou" initials="" lastIdx="6" clrIdx="2"/>
  <p:cmAuthor id="1489" name="牛宏民" initials="牛" lastIdx="0" clrIdx="1488"/>
  <p:cmAuthor id="123" name="幺以谦" initials="幺" lastIdx="2" clrIdx="1"/>
  <p:cmAuthor id="1490" name="毛香勤" initials="毛" lastIdx="0" clrIdx="1489"/>
  <p:cmAuthor id="124" name="未知用户7" initials="" lastIdx="1" clrIdx="0"/>
  <p:cmAuthor id="1491" name="dadi" initials="d" lastIdx="0" clrIdx="1490"/>
  <p:cmAuthor id="125" name="未知的使用者56" initials="" lastIdx="1" clrIdx="0"/>
  <p:cmAuthor id="1492" name="郑廷东" initials="郑" lastIdx="0" clrIdx="1491"/>
  <p:cmAuthor id="126" name="张妍" initials="张" lastIdx="5" clrIdx="0"/>
  <p:cmAuthor id="1493" name="张田田" initials="张" lastIdx="0" clrIdx="1492"/>
  <p:cmAuthor id="966000245" name="Oscar" initials="O" lastIdx="6" clrIdx="372"/>
  <p:cmAuthor id="127" name="未知的使用者119" initials="" lastIdx="1" clrIdx="2"/>
  <p:cmAuthor id="1494" name="杨彦伟" initials="杨" lastIdx="0" clrIdx="1493"/>
  <p:cmAuthor id="128" name="未知用户59" initials="" lastIdx="0" clrIdx="1"/>
  <p:cmAuthor id="1495" name="徐光宇" initials="徐" lastIdx="0" clrIdx="1494"/>
  <p:cmAuthor id="129" name="未知的使用者22" initials="" lastIdx="8" clrIdx="0"/>
  <p:cmAuthor id="1496" name="mac" initials="m" lastIdx="0" clrIdx="1495"/>
  <p:cmAuthor id="130" name="未知的使用者103" initials="" lastIdx="8" clrIdx="0"/>
  <p:cmAuthor id="1497" name="张艳芳" initials="张" lastIdx="0" clrIdx="1496"/>
  <p:cmAuthor id="131" name="Wenwen" initials="" lastIdx="1" clrIdx="1"/>
  <p:cmAuthor id="1498" name="王志刚" initials="王" lastIdx="0" clrIdx="1497"/>
  <p:cmAuthor id="132" name="未知的使用者117" initials="" lastIdx="1" clrIdx="0"/>
  <p:cmAuthor id="1499" name="孙大威" initials="孙" lastIdx="0" clrIdx="1498"/>
  <p:cmAuthor id="133" name="未知的使用者33" initials="" lastIdx="1" clrIdx="0"/>
  <p:cmAuthor id="1500" name="徐杰" initials="徐" lastIdx="0" clrIdx="1499"/>
  <p:cmAuthor id="134" name="未知的使用者28" initials="" lastIdx="1" clrIdx="0"/>
  <p:cmAuthor id="1501" name="席美娟" initials="席" lastIdx="0" clrIdx="1500"/>
  <p:cmAuthor id="135" name="未知用户67" initials="" lastIdx="1" clrIdx="0"/>
  <p:cmAuthor id="1502" name="朱海平" initials="朱" lastIdx="0" clrIdx="1501"/>
  <p:cmAuthor id="136" name="未知用户114" initials="" lastIdx="1" clrIdx="0"/>
  <p:cmAuthor id="1503" name="王景红" initials="王" lastIdx="0" clrIdx="1502"/>
  <p:cmAuthor id="137" name="未知用户18" initials="" lastIdx="10" clrIdx="0"/>
  <p:cmAuthor id="1504" name="席金煜" initials="席" lastIdx="0" clrIdx="1503"/>
  <p:cmAuthor id="138" name="未知的使用者67" initials="" lastIdx="1" clrIdx="0"/>
  <p:cmAuthor id="1505" name="樊佳佳" initials="樊" lastIdx="0" clrIdx="1504"/>
  <p:cmAuthor id="139" name="未知的使用者46" initials="" lastIdx="1" clrIdx="1"/>
  <p:cmAuthor id="1506" name="fgx" initials="f" lastIdx="0" clrIdx="1505"/>
  <p:cmAuthor id="140" name="未知的使用者26" initials="" lastIdx="1" clrIdx="0"/>
  <p:cmAuthor id="1507" name="杨秀丰" initials="杨" lastIdx="0" clrIdx="1506"/>
  <p:cmAuthor id="141" name="未知的使用者43" initials="" lastIdx="1" clrIdx="0"/>
  <p:cmAuthor id="1508" name="惠莲" initials="惠" lastIdx="0" clrIdx="1507"/>
  <p:cmAuthor id="142" name="未知的使用者9" initials="" lastIdx="1" clrIdx="0"/>
  <p:cmAuthor id="1509" name="liang ma" initials="l" lastIdx="0" clrIdx="1508"/>
  <p:cmAuthor id="200109804" name="糕酥...●—●" initials="糕" lastIdx="2" clrIdx="367"/>
  <p:cmAuthor id="248769537" name="刁航宇" initials="刁" lastIdx="1" clrIdx="845"/>
  <p:cmAuthor id="1510" name="高永刚" initials="高" lastIdx="0" clrIdx="1509"/>
  <p:cmAuthor id="143" name="未知用户62" initials="" lastIdx="1" clrIdx="1"/>
  <p:cmAuthor id="144" name="yuanzh" initials="" lastIdx="1" clrIdx="1"/>
  <p:cmAuthor id="1511" name="未知用户54" initials="未" lastIdx="0" clrIdx="1510"/>
  <p:cmAuthor id="145" name="不明使用者57" initials="" lastIdx="1" clrIdx="0"/>
  <p:cmAuthor id="1512" name="光启" initials="光" lastIdx="0" clrIdx="1511"/>
  <p:cmAuthor id="146" name="未知用户108" initials="" lastIdx="1" clrIdx="0"/>
  <p:cmAuthor id="1513" name="侯雪飞" initials="侯" lastIdx="0" clrIdx="1512"/>
  <p:cmAuthor id="147" name="未知的使用者110" initials="" lastIdx="1" clrIdx="0"/>
  <p:cmAuthor id="1514" name="杨哈哈" initials="杨" lastIdx="0" clrIdx="1513"/>
  <p:cmAuthor id="1070834129" name="赵永成" initials="赵" lastIdx="1" clrIdx="717"/>
  <p:cmAuthor id="148" name="linyd" initials="" lastIdx="3" clrIdx="1"/>
  <p:cmAuthor id="1515" name="太海峰" initials="太" lastIdx="0" clrIdx="1514"/>
  <p:cmAuthor id="1070834130" name="16640" initials="1" lastIdx="1" clrIdx="1070834129"/>
  <p:cmAuthor id="149" name="未知用户8" initials="" lastIdx="1" clrIdx="0"/>
  <p:cmAuthor id="1516" name="磊 陈" initials="磊陈" lastIdx="0" clrIdx="1515"/>
  <p:cmAuthor id="150" name="未知的使用者31" initials="" lastIdx="1" clrIdx="0"/>
  <p:cmAuthor id="1517" name="Renoir" initials="R" lastIdx="0" clrIdx="1516"/>
  <p:cmAuthor id="151" name="未知用户81" initials="" lastIdx="1" clrIdx="0"/>
  <p:cmAuthor id="1518" name="yanchenrui@hq.cmcc" initials="yanchenrui@hq.cmcc" lastIdx="0" clrIdx="1517"/>
  <p:cmAuthor id="152" name="未知用户115" initials="" lastIdx="1" clrIdx="0"/>
  <p:cmAuthor id="1519" name="1" initials="1" lastIdx="0" clrIdx="1518"/>
  <p:cmAuthor id="261616612" name="邢开" initials="邢" lastIdx="1" clrIdx="364"/>
  <p:cmAuthor id="153" name="未知用户21" initials="" lastIdx="1" clrIdx="0"/>
  <p:cmAuthor id="1520" name="王海静" initials="whj" lastIdx="0" clrIdx="1519"/>
  <p:cmAuthor id="154" name="未知的使用者68" initials="" lastIdx="1" clrIdx="0"/>
  <p:cmAuthor id="1521" name="蒋云霞" initials="蒋" lastIdx="0" clrIdx="1520"/>
  <p:cmAuthor id="8535702" name="曾蓓/贝贝" initials="曾" lastIdx="0" clrIdx="0"/>
  <p:cmAuthor id="155" name="mm" initials="" lastIdx="1" clrIdx="0"/>
  <p:cmAuthor id="1522" name="宁海蓉" initials="海蓉" lastIdx="0" clrIdx="1521"/>
  <p:cmAuthor id="156" name="未知用户15" initials="" lastIdx="1" clrIdx="0"/>
  <p:cmAuthor id="1523" name="讀 書" initials="讀" lastIdx="0" clrIdx="1522"/>
  <p:cmAuthor id="157" name="朱晓瑜" initials="" lastIdx="54" clrIdx="0"/>
  <p:cmAuthor id="1524" name="ztolei@163.com" initials="z" lastIdx="0" clrIdx="1523"/>
  <p:cmAuthor id="158" name="不明使用者20" initials="" lastIdx="1" clrIdx="0"/>
  <p:cmAuthor id="1525" name="wangxi (D)" initials="w" lastIdx="0" clrIdx="1524"/>
  <p:cmAuthor id="159" name="未知用户82" initials="" lastIdx="1" clrIdx="0"/>
  <p:cmAuthor id="1526" name="文斌" initials="文" lastIdx="0" clrIdx="1525"/>
  <p:cmAuthor id="160" name="未知的使用者7" initials="" lastIdx="2" clrIdx="0"/>
  <p:cmAuthor id="1527" name="谢海明" initials="谢" lastIdx="0" clrIdx="1526"/>
  <p:cmAuthor id="161" name="未知用户6" initials="" lastIdx="8" clrIdx="0"/>
  <p:cmAuthor id="1528" name="WPS_1580452479" initials="W" lastIdx="0" clrIdx="1527"/>
  <p:cmAuthor id="162" name="未知的使用者55" initials="" lastIdx="1" clrIdx="0"/>
  <p:cmAuthor id="1529" name="山西公司集团客户部季文海" initials="山" lastIdx="0" clrIdx="1528"/>
  <p:cmAuthor id="163" name="未知的使用者111" initials="" lastIdx="1" clrIdx="0"/>
  <p:cmAuthor id="1530" name="xuzhudan" initials="x" lastIdx="0" clrIdx="1529"/>
  <p:cmAuthor id="757822586" name="杜立旺" initials="杜" lastIdx="1" clrIdx="0"/>
  <p:cmAuthor id="164" name="未知的使用者50" initials="" lastIdx="1" clrIdx="0"/>
  <p:cmAuthor id="1531" name="Aimee-Zhang" initials="A" lastIdx="0" clrIdx="1530"/>
  <p:cmAuthor id="339117322" name="谭淼" initials="谭" lastIdx="1" clrIdx="954"/>
  <p:cmAuthor id="165" name="未知的使用者11" initials="" lastIdx="1" clrIdx="0"/>
  <p:cmAuthor id="1532" name="唐芸" initials="唐" lastIdx="0" clrIdx="1531"/>
  <p:cmAuthor id="166" name="未知用户47" initials="" lastIdx="6" clrIdx="0"/>
  <p:cmAuthor id="1533" name="范汗杰10197873" initials="范" lastIdx="0" clrIdx="1532"/>
  <p:cmAuthor id="671154789" name="Baymax" initials="B" lastIdx="1" clrIdx="809"/>
  <p:cmAuthor id="167" name="未知用户106" initials="未" lastIdx="1" clrIdx="0"/>
  <p:cmAuthor id="1534" name="倪燕子00036324" initials="倪" lastIdx="0" clrIdx="1533"/>
  <p:cmAuthor id="168" name="未知用户116" initials="" lastIdx="1" clrIdx="1"/>
  <p:cmAuthor id="1535" name="chenpuqiang" initials="c" lastIdx="0" clrIdx="1534"/>
  <p:cmAuthor id="169" name="未知的使用者150" initials="未" lastIdx="1" clrIdx="0"/>
  <p:cmAuthor id="1536" name="袁丽欢" initials="袁" lastIdx="0" clrIdx="1535"/>
  <p:cmAuthor id="170" name="未知的使用者69" initials="" lastIdx="1" clrIdx="1"/>
  <p:cmAuthor id="1537" name="梁叶欢" initials="梁" lastIdx="0" clrIdx="1536"/>
  <p:cmAuthor id="1602690108" name="WPS_1716908770" initials="W" lastIdx="1" clrIdx="696"/>
  <p:cmAuthor id="171" name="未知的使用者112" initials="" lastIdx="1" clrIdx="1"/>
  <p:cmAuthor id="1538" name="zhaoqi" initials="z" lastIdx="0" clrIdx="1537"/>
  <p:cmAuthor id="172" name="未知用户183" initials="未知用户183" lastIdx="1" clrIdx="49"/>
  <p:cmAuthor id="1539" name="wangyuan1" initials="w" lastIdx="0" clrIdx="1538"/>
  <p:cmAuthor id="173" name="Kevin Hu" initials="" lastIdx="1" clrIdx="0"/>
  <p:cmAuthor id="1540" name="zongjinchong_hs@he.cmcc" initials="z" lastIdx="0" clrIdx="1539"/>
  <p:cmAuthor id="174" name="未知的使用者38" initials="" lastIdx="1" clrIdx="0"/>
  <p:cmAuthor id="1541" name="ad" initials="a" lastIdx="0" clrIdx="1540"/>
  <p:cmAuthor id="175" name="唐可欣" initials="" lastIdx="1" clrIdx="0"/>
  <p:cmAuthor id="1542" name="liuxi1@bj.cmcc" initials="liuxi1@bj.cmcc" lastIdx="0" clrIdx="1541"/>
  <p:cmAuthor id="176" name="未知的使用者8" initials="" lastIdx="1" clrIdx="0"/>
  <p:cmAuthor id="1543" name="陈宇" initials="陈" lastIdx="0" clrIdx="1542"/>
  <p:cmAuthor id="177" name="不明使用者56" initials="" lastIdx="1" clrIdx="0"/>
  <p:cmAuthor id="1544" name="CMIT" initials="C" lastIdx="0" clrIdx="1543"/>
  <p:cmAuthor id="178" name="P00035_jeremy" initials="" lastIdx="1" clrIdx="0"/>
  <p:cmAuthor id="1545" name="wangwenjun1@bj.cmcc" initials="wangwenju" lastIdx="0" clrIdx="1544"/>
  <p:cmAuthor id="179" name="Unknown User7" initials="" lastIdx="1" clrIdx="0"/>
  <p:cmAuthor id="1546" name="zhangting" initials="z" lastIdx="0" clrIdx="1545"/>
  <p:cmAuthor id="180" name="muzi wei" initials="" lastIdx="1" clrIdx="0"/>
  <p:cmAuthor id="1547" name="soga" initials="s" lastIdx="0" clrIdx="1546"/>
  <p:cmAuthor id="181" name="未知的使用者41" initials="" lastIdx="1" clrIdx="0"/>
  <p:cmAuthor id="1548" name="lc xue" initials="lx" lastIdx="0" clrIdx="1547"/>
  <p:cmAuthor id="182" name="未知的使用者13" initials="" lastIdx="1" clrIdx="0"/>
  <p:cmAuthor id="1549" name="孟芳芳（借调）" initials="V" lastIdx="0" clrIdx="1548"/>
  <p:cmAuthor id="183" name="djj" initials="" lastIdx="2" clrIdx="0"/>
  <p:cmAuthor id="1550" name="安 启飞" initials="安" lastIdx="0" clrIdx="1549"/>
  <p:cmAuthor id="184" name="未知用户117" initials="" lastIdx="1" clrIdx="2"/>
  <p:cmAuthor id="1551" name="晴朗天空" initials="晴" lastIdx="0" clrIdx="1550"/>
  <p:cmAuthor id="185" name="shinin" initials="s" lastIdx="2" clrIdx="0"/>
  <p:cmAuthor id="1552" name="孔祥云" initials="孔" lastIdx="0" clrIdx="1551"/>
  <p:cmAuthor id="186" name="未知用户13" initials="" lastIdx="1" clrIdx="0"/>
  <p:cmAuthor id="1553" name="罗玉碧" initials="罗" lastIdx="0" clrIdx="1552"/>
  <p:cmAuthor id="187" name="不明使用者21" initials="" lastIdx="1" clrIdx="0"/>
  <p:cmAuthor id="1554" name="653496265@qq.com" initials="6" lastIdx="0" clrIdx="1553"/>
  <p:cmAuthor id="188" name="YUMINGNJ" initials="" lastIdx="3" clrIdx="0"/>
  <p:cmAuthor id="1555" name="273679546@qq.com" initials="2" lastIdx="0" clrIdx="1554"/>
  <p:cmAuthor id="189" name="未知的使用者52" initials="" lastIdx="1" clrIdx="1"/>
  <p:cmAuthor id="1556" name="li yx" initials="ly" lastIdx="0" clrIdx="1555"/>
  <p:cmAuthor id="190" name="未知用户109" initials="" lastIdx="1" clrIdx="1"/>
  <p:cmAuthor id="1557" name="Julia Jia" initials="J" lastIdx="0" clrIdx="1556"/>
  <p:cmAuthor id="191" name="Unknown User117" initials="U" lastIdx="10" clrIdx="0"/>
  <p:cmAuthor id="1558" name="未知用户193" initials="未" lastIdx="0" clrIdx="1557"/>
  <p:cmAuthor id="192" name="thomas" initials="" lastIdx="1" clrIdx="49"/>
  <p:cmAuthor id="1559" name="未知用户194" initials="未" lastIdx="0" clrIdx="1558"/>
  <p:cmAuthor id="193" name="未知的使用者3" initials="" lastIdx="7" clrIdx="1"/>
  <p:cmAuthor id="1560" name="未知用户37" initials="未" lastIdx="0" clrIdx="1559"/>
  <p:cmAuthor id="582921801" name="于浣" initials="于" lastIdx="1" clrIdx="673"/>
  <p:cmAuthor id="194" name="未知用户14" initials="" lastIdx="1" clrIdx="0"/>
  <p:cmAuthor id="1561" name="zhangzhongmin" initials="z" lastIdx="0" clrIdx="1560"/>
  <p:cmAuthor id="195" name="Unknown User65" initials="U" lastIdx="1" clrIdx="0"/>
  <p:cmAuthor id="1562" name="xiehaoming" initials="x" lastIdx="0" clrIdx="1561"/>
  <p:cmAuthor id="383674718" name="lihui" initials="l" lastIdx="8" clrIdx="869"/>
  <p:cmAuthor id="196" name="未知用户98" initials="" lastIdx="1" clrIdx="2"/>
  <p:cmAuthor id="1563" name="乐" initials="乐" lastIdx="0" clrIdx="1562"/>
  <p:cmAuthor id="197" name="Unknown User67" initials="U" lastIdx="1" clrIdx="0"/>
  <p:cmAuthor id="1564" name="段甜甜" initials="段" lastIdx="0" clrIdx="1563"/>
  <p:cmAuthor id="198" name="未知用户83" initials="" lastIdx="1" clrIdx="1"/>
  <p:cmAuthor id="1565" name="王元" initials="R" lastIdx="0" clrIdx="1564"/>
  <p:cmAuthor id="199" name="未知用户61" initials="" lastIdx="8" clrIdx="0"/>
  <p:cmAuthor id="1566" name="zh" initials="z" lastIdx="0" clrIdx="1565"/>
  <p:cmAuthor id="200" name="張秀娟" initials="" lastIdx="1" clrIdx="2"/>
  <p:cmAuthor id="1567" name="lianzi (A)" initials="l(" lastIdx="0" clrIdx="1566"/>
  <p:cmAuthor id="201" name="Jason Wang" initials="" lastIdx="1" clrIdx="0"/>
  <p:cmAuthor id="1568" name="成思远" initials="成" lastIdx="0" clrIdx="1567"/>
  <p:cmAuthor id="202" name="不明使用者18" initials="" lastIdx="0" clrIdx="1"/>
  <p:cmAuthor id="1569" name="ding ruiwen" initials="d" lastIdx="0" clrIdx="1568"/>
  <p:cmAuthor id="203" name="未知用户28" initials="未" lastIdx="5" clrIdx="1"/>
  <p:cmAuthor id="1570" name="wanghuohuo" initials="w" lastIdx="0" clrIdx="1569"/>
  <p:cmAuthor id="204" name="未知的使用者72" initials="" lastIdx="1" clrIdx="0"/>
  <p:cmAuthor id="1571" name="dd" initials="d" lastIdx="0" clrIdx="1570"/>
  <p:cmAuthor id="205" name="未知的使用者48" initials="" lastIdx="1" clrIdx="0"/>
  <p:cmAuthor id="1572" name="宋昭姝" initials="宋" lastIdx="0" clrIdx="1571"/>
  <p:cmAuthor id="206" name="未知的使用者104" initials="" lastIdx="1" clrIdx="0"/>
  <p:cmAuthor id="1573" name="wangxiaoxuan@ha.cmcc" initials="w" lastIdx="0" clrIdx="1572"/>
  <p:cmAuthor id="207" name="未知用户60" initials="" lastIdx="1" clrIdx="0"/>
  <p:cmAuthor id="1574" name="吕志勇" initials="吕" lastIdx="0" clrIdx="1573"/>
  <p:cmAuthor id="208" name="未知的使用者39" initials="未" lastIdx="10" clrIdx="0"/>
  <p:cmAuthor id="1575" name="张 曦" initials="张" lastIdx="0" clrIdx="1574"/>
  <p:cmAuthor id="209" name="Shawna Strickland" initials="" lastIdx="2" clrIdx="0"/>
  <p:cmAuthor id="1576" name="86157" initials="8" lastIdx="0" clrIdx="1575"/>
  <p:cmAuthor id="210" name="未知的使用者36" initials="" lastIdx="3" clrIdx="1"/>
  <p:cmAuthor id="1577" name="李哲(ZheLi)-顺丰科技" initials="李" lastIdx="0" clrIdx="1576"/>
  <p:cmAuthor id="211" name="焱恺 彭" initials="焱" lastIdx="1" clrIdx="95"/>
  <p:cmAuthor id="1578" name="Echo" initials="E" lastIdx="0" clrIdx="1577"/>
  <p:cmAuthor id="212" name="Daniel Wuu" initials="" lastIdx="1" clrIdx="0"/>
  <p:cmAuthor id="1579" name="王丰_aE3uARfm" initials="王" lastIdx="0" clrIdx="1578"/>
  <p:cmAuthor id="213" name="未知用户56" initials="" lastIdx="1" clrIdx="0"/>
  <p:cmAuthor id="1580" name="QMY" initials="Q" lastIdx="0" clrIdx="1579"/>
  <p:cmAuthor id="214" name="未知的使用者14" initials="" lastIdx="2" clrIdx="0"/>
  <p:cmAuthor id="1581" name="碳酸 碳酸" initials="碳碳" lastIdx="0" clrIdx="1580"/>
  <p:cmAuthor id="1582" name="Steve" initials="S" lastIdx="0" clrIdx="1581"/>
  <p:cmAuthor id="1583" name="ceci" initials="c" lastIdx="0" clrIdx="1582"/>
  <p:cmAuthor id="217" name="Ashley Eberenz" initials="" lastIdx="7" clrIdx="1"/>
  <p:cmAuthor id="1584" name="lirui" initials="l" lastIdx="0" clrIdx="1583"/>
  <p:cmAuthor id="218" name="不明使用者19" initials="" lastIdx="1" clrIdx="0"/>
  <p:cmAuthor id="1585" name="巴 乔" initials="巴乔" lastIdx="0" clrIdx="1584"/>
  <p:cmAuthor id="219" name="qiantong" initials="" lastIdx="3" clrIdx="1"/>
  <p:cmAuthor id="1586" name="丁华乐_qaMraEby" initials="authorId_616659736" lastIdx="0" clrIdx="1585"/>
  <p:cmAuthor id="220" name="未知的使用者74" initials="" lastIdx="1" clrIdx="0"/>
  <p:cmAuthor id="1587" name="姗SHAN" initials="姗" lastIdx="0" clrIdx="1586"/>
  <p:cmAuthor id="221" name="未知的使用者23" initials="" lastIdx="1" clrIdx="0"/>
  <p:cmAuthor id="1588" name="任龙飞" initials="任" lastIdx="0" clrIdx="1587"/>
  <p:cmAuthor id="222" name="未知的使用者1" initials="" lastIdx="8" clrIdx="0"/>
  <p:cmAuthor id="1589" name="田延刚" initials="田" lastIdx="0" clrIdx="1588"/>
  <p:cmAuthor id="223" name="116304" initials="" lastIdx="1" clrIdx="1"/>
  <p:cmAuthor id="1590" name="ADMIN" initials="A" lastIdx="0" clrIdx="1589"/>
  <p:cmAuthor id="224" name="未知用户31" initials="未" lastIdx="1" clrIdx="1"/>
  <p:cmAuthor id="1591" name="王皓天" initials="A" lastIdx="0" clrIdx="1590"/>
  <p:cmAuthor id="225" name="R affer" initials="" lastIdx="1" clrIdx="0"/>
  <p:cmAuthor id="1592" name="DDDDD" initials="D" lastIdx="0" clrIdx="1591"/>
  <p:cmAuthor id="226" name="qihua-DCMS" initials="" lastIdx="0" clrIdx="0"/>
  <p:cmAuthor id="227" name="未知用户55" initials="" lastIdx="1" clrIdx="0"/>
  <p:cmAuthor id="228" name="未知的使用者95" initials="" lastIdx="1" clrIdx="0"/>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667971135" name="J0" initials="J" lastIdx="1" clrIdx="50"/>
  <p:cmAuthor id="256" name="未知的使用者126" initials="" lastIdx="1" clrIdx="0"/>
  <p:cmAuthor id="257" name="未知的使用者127" initials="" lastIdx="3" clrIdx="1"/>
  <p:cmAuthor id="258" name="未知的使用者128" initials="" lastIdx="1" clrIdx="1"/>
  <p:cmAuthor id="1138208202" name="黄常宇" initials="黄" lastIdx="1" clrIdx="79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1603436587" name="Frank" initials="F" lastIdx="1" clrIdx="899"/>
  <p:cmAuthor id="268" name="未知用户150" initials="" lastIdx="1" clrIdx="0"/>
  <p:cmAuthor id="1603436588" name="张松蕾" initials="C" lastIdx="1" clrIdx="1603436587"/>
  <p:cmAuthor id="269" name="未知用户151" initials="" lastIdx="2" clrIdx="0"/>
  <p:cmAuthor id="1603436589" name="M" initials="IT" lastIdx="1" clrIdx="1603436588"/>
  <p:cmAuthor id="270" name="未知用户152" initials="" lastIdx="8" clrIdx="0"/>
  <p:cmAuthor id="1603436590" name="Wanglexun(Leo,CMCC Marketing)" initials="WM" lastIdx="1" clrIdx="1603436589"/>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479997760" name="Daigy" initials="D" lastIdx="1" clrIdx="622"/>
  <p:cmAuthor id="317" name="未知用户80" initials="" lastIdx="1" clrIdx="0"/>
  <p:cmAuthor id="318" name="Harry xu" initials="" lastIdx="1" clrIdx="0"/>
  <p:cmAuthor id="319" name="未知用户27" initials="未" lastIdx="1" clrIdx="0"/>
  <p:cmAuthor id="320" name="未知用户35" initials="未" lastIdx="1" clrIdx="0"/>
  <p:cmAuthor id="321" name="未知用户111" initials="未" lastIdx="1" clrIdx="1"/>
  <p:cmAuthor id="322" name="le" initials="l" lastIdx="2" clrIdx="321"/>
  <p:cmAuthor id="323" name="刘敏" initials="刘" lastIdx="1" clrIdx="322"/>
  <p:cmAuthor id="324" name="郭婧" initials="郭" lastIdx="1" clrIdx="323"/>
  <p:cmAuthor id="325" name="lingc" initials="l" lastIdx="1" clrIdx="324"/>
  <p:cmAuthor id="326" name="朱雪萍" initials="朱" lastIdx="1" clrIdx="325"/>
  <p:cmAuthor id="327" name="Lenovo" initials="L" lastIdx="2" clrIdx="326"/>
  <p:cmAuthor id="328" name="tianyuan@cmhi.cmcc" initials="tianyuan@cmhi.cmcc" lastIdx="2" clrIdx="327"/>
  <p:cmAuthor id="329" name="梁田" initials="梁" lastIdx="1" clrIdx="328"/>
  <p:cmAuthor id="330" name="guanxiaoyu" initials="g" lastIdx="1" clrIdx="329"/>
  <p:cmAuthor id="331" name="wl_cm" initials="w" lastIdx="1" clrIdx="330"/>
  <p:cmAuthor id="332" name="wangxinran" initials="w" lastIdx="1" clrIdx="331"/>
  <p:cmAuthor id="333" name="于书丹" initials="C" lastIdx="1" clrIdx="332"/>
  <p:cmAuthor id="334" name="zhoux" initials="z" lastIdx="1" clrIdx="333"/>
  <p:cmAuthor id="335" name="flower" initials="f" lastIdx="1" clrIdx="334"/>
  <p:cmAuthor id="336" name="tonyliu" initials="t" lastIdx="4" clrIdx="335"/>
  <p:cmAuthor id="337" name="hwjjjjjjjj" initials="h" lastIdx="2" clrIdx="336"/>
  <p:cmAuthor id="338" name="laichenxi" initials="u" lastIdx="1" clrIdx="337"/>
  <p:cmAuthor id="339" name="macos" initials="m" lastIdx="1" clrIdx="338"/>
  <p:cmAuthor id="340" name="zhoupeng" initials="z" lastIdx="5" clrIdx="339"/>
  <p:cmAuthor id="341" name="Randolph" initials="R" lastIdx="1" clrIdx="340"/>
  <p:cmAuthor id="342" name="未知用户63" initials="未知用户63" lastIdx="1" clrIdx="0"/>
  <p:cmAuthor id="343" name="wangchangkun@cmhi.cmcc" initials="wangchangkun@cmhi.cmcc" lastIdx="1" clrIdx="342"/>
  <p:cmAuthor id="672124169" name="-facile" initials="-" lastIdx="1" clrIdx="903"/>
  <p:cmAuthor id="344" name="未知的使用者61" initials="未" lastIdx="1" clrIdx="0"/>
  <p:cmAuthor id="345" name="未知用户178" initials="未" lastIdx="1" clrIdx="0"/>
  <p:cmAuthor id="346" name="未知用户112" initials="未知用户112" lastIdx="4" clrIdx="0"/>
  <p:cmAuthor id="347" name="zhangxinyao" initials="z" lastIdx="1" clrIdx="346"/>
  <p:cmAuthor id="348" name="未知的使用者169" initials="未" lastIdx="1" clrIdx="0"/>
  <p:cmAuthor id="49837067" name="刘浩" initials="刘" lastIdx="180431" clrIdx="0"/>
  <p:cmAuthor id="332912694" name=" LION" initials=" " lastIdx="1" clrIdx="790"/>
  <p:cmAuthor id="49837068" name="Vivian Liu" initials="VL" lastIdx="1" clrIdx="1"/>
  <p:cmAuthor id="349" name="未知的使用者183" initials="未" lastIdx="5" clrIdx="1"/>
  <p:cmAuthor id="350" name="未知的使用者182" initials="未" lastIdx="1" clrIdx="1"/>
  <p:cmAuthor id="49837069" name="李 富岩" initials="李" lastIdx="3" clrIdx="10"/>
  <p:cmAuthor id="351" name="未知的使用者173" initials="未" lastIdx="1" clrIdx="0"/>
  <p:cmAuthor id="49837070" name="伟哥" initials="伟哥" lastIdx="1" clrIdx="138"/>
  <p:cmAuthor id="352" name="未知的使用者161" initials="未" lastIdx="1" clrIdx="0"/>
  <p:cmAuthor id="49837071" name="YY" initials="Y" lastIdx="1" clrIdx="176"/>
  <p:cmAuthor id="1324136701" name="colin" initials="c" lastIdx="1" clrIdx="331"/>
  <p:cmAuthor id="49837072" name="朗 月" initials="朗" lastIdx="3" clrIdx="208"/>
  <p:cmAuthor id="353" name="未知的使用者151" initials="未" lastIdx="1" clrIdx="0"/>
  <p:cmAuthor id="354" name="未知的使用者162" initials="未" lastIdx="1" clrIdx="0"/>
  <p:cmAuthor id="49837073" name="sk" initials="s" lastIdx="1" clrIdx="735"/>
  <p:cmAuthor id="355" name="未知的使用者152" initials="未" lastIdx="1" clrIdx="0"/>
  <p:cmAuthor id="356" name="未知的使用者184" initials="未" lastIdx="8" clrIdx="0"/>
  <p:cmAuthor id="357" name="likeyu" initials="kk" lastIdx="1" clrIdx="356"/>
  <p:cmAuthor id="358" name="未知的使用者186" initials="未" lastIdx="1" clrIdx="0"/>
  <p:cmAuthor id="359" name="未知的使用者175" initials="未" lastIdx="8" clrIdx="0"/>
  <p:cmAuthor id="360" name="未知的使用者176" initials="未" lastIdx="1" clrIdx="0"/>
  <p:cmAuthor id="361" name="未知的使用者187" initials="未" lastIdx="2" clrIdx="0"/>
  <p:cmAuthor id="445084625" name="晚·峰" initials="晚" lastIdx="1" clrIdx="54"/>
  <p:cmAuthor id="362" name="未知的使用者178" initials="未" lastIdx="1" clrIdx="0"/>
  <p:cmAuthor id="363" name="未知的使用者179" initials="未" lastIdx="1" clrIdx="0"/>
  <p:cmAuthor id="364" name="未知的使用者180" initials="未" lastIdx="2" clrIdx="0"/>
  <p:cmAuthor id="365" name="liuyanxue" initials="l" lastIdx="1" clrIdx="364"/>
  <p:cmAuthor id="1158809000" name="王旭" initials="王" lastIdx="5" clrIdx="661"/>
  <p:cmAuthor id="366" name="未知的使用者170" initials="未" lastIdx="43" clrIdx="1"/>
  <p:cmAuthor id="367" name="59314" initials="5" lastIdx="1" clrIdx="366"/>
  <p:cmAuthor id="368" name="赵芬芳" initials="赵" lastIdx="1" clrIdx="367"/>
  <p:cmAuthor id="369" name="wangdaiyuan" initials="w" lastIdx="1" clrIdx="368"/>
  <p:cmAuthor id="370" name="未知的使用者142" initials="未" lastIdx="1" clrIdx="0"/>
  <p:cmAuthor id="371" name="未知的使用者143" initials="未" lastIdx="1" clrIdx="0"/>
  <p:cmAuthor id="372" name="未知的使用者144" initials="未" lastIdx="1" clrIdx="0"/>
  <p:cmAuthor id="373" name="未知的使用者145" initials="未" lastIdx="1" clrIdx="0"/>
  <p:cmAuthor id="374" name="未知的使用者146" initials="未" lastIdx="1" clrIdx="0"/>
  <p:cmAuthor id="375" name="未知的使用者147" initials="未" lastIdx="1" clrIdx="0"/>
  <p:cmAuthor id="376" name="未知的使用者148" initials="未" lastIdx="8" clrIdx="0"/>
  <p:cmAuthor id="377" name="未知的使用者149" initials="未" lastIdx="8" clrIdx="0"/>
  <p:cmAuthor id="378" name="fengyuan03" initials="f" lastIdx="11" clrIdx="1"/>
  <p:cmAuthor id="379" name="未知用户138" initials="未" lastIdx="1" clrIdx="0"/>
  <p:cmAuthor id="380" name="未知用户130" initials="未" lastIdx="1" clrIdx="1"/>
  <p:cmAuthor id="381" name="未知用户131" initials="未" lastIdx="1" clrIdx="2"/>
  <p:cmAuthor id="382" name="未知用户132" initials="未" lastIdx="1" clrIdx="0"/>
  <p:cmAuthor id="383" name="未知用户133" initials="未" lastIdx="1" clrIdx="0"/>
  <p:cmAuthor id="384" name="未知用户134" initials="未" lastIdx="10" clrIdx="0"/>
  <p:cmAuthor id="385" name="未知用户135" initials="未" lastIdx="1" clrIdx="0"/>
  <p:cmAuthor id="386" name="未知用户137" initials="未" lastIdx="10" clrIdx="0"/>
  <p:cmAuthor id="242809661" name="康斯坦尼斯拉夫斯基" initials="康" lastIdx="2" clrIdx="700"/>
  <p:cmAuthor id="387" name="俊呈 賴" initials="俊呈" lastIdx="1" clrIdx="87"/>
  <p:cmAuthor id="388" name="未知的使用者204" initials="未" lastIdx="1" clrIdx="0"/>
  <p:cmAuthor id="389" name="Yoyo Wu" initials="Y" lastIdx="2" clrIdx="0"/>
  <p:cmAuthor id="281225097" name="Miao" initials="M" lastIdx="1" clrIdx="325"/>
  <p:cmAuthor id="390" name="zhangbin" initials="z" lastIdx="6" clrIdx="0"/>
  <p:cmAuthor id="391" name="Arno.Du(杜明星)" initials="A" lastIdx="0" clrIdx="0"/>
  <p:cmAuthor id="392" name="未知用户174" initials="未知用户174" lastIdx="1" clrIdx="0"/>
  <p:cmAuthor id="394" name="Unknown User27" initials="U" lastIdx="1" clrIdx="0"/>
  <p:cmAuthor id="395" name="未知的使用者221" initials="" lastIdx="1" clrIdx="0"/>
  <p:cmAuthor id="396" name="未知的使用者222" initials="" lastIdx="5" clrIdx="1"/>
  <p:cmAuthor id="397" name="未知的使用者223" initials="" lastIdx="1" clrIdx="1"/>
  <p:cmAuthor id="29922660" name="杨强" initials="杨" lastIdx="0" clrIdx="0"/>
  <p:cmAuthor id="398" name="未知的使用者224" initials="" lastIdx="1" clrIdx="0"/>
  <p:cmAuthor id="29922661" name="檀晟 陈" initials="檀晟" lastIdx="1" clrIdx="10"/>
  <p:cmAuthor id="399" name="未知的使用者225" initials="" lastIdx="1" clrIdx="0"/>
  <p:cmAuthor id="400" name="未知的使用者226" initials="" lastIdx="1" clrIdx="0"/>
  <p:cmAuthor id="401" name="未知的使用者227" initials="" lastIdx="1" clrIdx="0"/>
  <p:cmAuthor id="402" name="未知的使用者217" initials="" lastIdx="1" clrIdx="1"/>
  <p:cmAuthor id="403" name="未知的使用者218" initials="" lastIdx="1" clrIdx="2"/>
  <p:cmAuthor id="404" name="未知的使用者219" initials="" lastIdx="8" clrIdx="0"/>
  <p:cmAuthor id="475196944" name="姚琳" initials="姚" lastIdx="1133934" clrIdx="0"/>
  <p:cmAuthor id="405" name="未知的使用者220" initials="" lastIdx="1" clrIdx="0"/>
  <p:cmAuthor id="475196945" name="chen" initials="c" lastIdx="1" clrIdx="2"/>
  <p:cmAuthor id="233746470" name="大攀" initials="大" lastIdx="1" clrIdx="661"/>
  <p:cmAuthor id="475196946" name="王 成岩" initials="王" lastIdx="1" clrIdx="23"/>
  <p:cmAuthor id="406" name="未知的使用者228" initials="" lastIdx="1" clrIdx="0"/>
  <p:cmAuthor id="407" name="未知的使用者229" initials="" lastIdx="8" clrIdx="0"/>
  <p:cmAuthor id="475196947" name="陶夏溦" initials="陶夏溦" lastIdx="1" clrIdx="46"/>
  <p:cmAuthor id="408" name="未知的使用者230" initials="" lastIdx="1" clrIdx="0"/>
  <p:cmAuthor id="409" name="未知的使用者231" initials="" lastIdx="1" clrIdx="0"/>
  <p:cmAuthor id="410" name="未知的使用者232" initials="" lastIdx="8" clrIdx="0"/>
  <p:cmAuthor id="411" name="未知的使用者233" initials="" lastIdx="1" clrIdx="0"/>
  <p:cmAuthor id="412" name="未知的使用者234" initials="" lastIdx="1" clrIdx="0"/>
  <p:cmAuthor id="413" name="未知的使用者130" initials="" lastIdx="3" clrIdx="0"/>
  <p:cmAuthor id="414" name="未知的使用者131" initials="" lastIdx="1" clrIdx="0"/>
  <p:cmAuthor id="415" name="未知的使用者132" initials="" lastIdx="1" clrIdx="0"/>
  <p:cmAuthor id="416" name="Evonlin" initials="E" lastIdx="2" clrIdx="2"/>
  <p:cmAuthor id="417" name="未知的使用者235" initials="" lastIdx="1" clrIdx="0"/>
  <p:cmAuthor id="418" name="未知的使用者236" initials="" lastIdx="1" clrIdx="0"/>
  <p:cmAuthor id="419" name="未知的使用者237" initials="" lastIdx="2" clrIdx="0"/>
  <p:cmAuthor id="420" name="未知的使用者238" initials="" lastIdx="7" clrIdx="1"/>
  <p:cmAuthor id="421" name="未知的使用者239" initials="" lastIdx="43" clrIdx="1"/>
  <p:cmAuthor id="422" name="未知的使用者136" initials="" lastIdx="1" clrIdx="0"/>
  <p:cmAuthor id="423" name="未知的使用者134" initials="" lastIdx="0" clrIdx="0"/>
  <p:cmAuthor id="424" name="未知的使用者206" initials="" lastIdx="1" clrIdx="0"/>
  <p:cmAuthor id="425" name="Kent" initials="K" lastIdx="2" clrIdx="0"/>
  <p:cmAuthor id="426" name="梅芬 吳" initials="梅" lastIdx="1" clrIdx="85"/>
  <p:cmAuthor id="427" name="王嘉偉" initials="王" lastIdx="2" clrIdx="0"/>
  <p:cmAuthor id="428" name="未知的使用者210" initials="" lastIdx="0" clrIdx="0"/>
  <p:cmAuthor id="429" name="未知的使用者211" initials="" lastIdx="1" clrIdx="0"/>
  <p:cmAuthor id="430" name="未知的使用者212" initials="" lastIdx="1" clrIdx="0"/>
  <p:cmAuthor id="431" name="未知的使用者213" initials="" lastIdx="1" clrIdx="0"/>
  <p:cmAuthor id="432" name="未知的使用者214" initials="" lastIdx="1" clrIdx="1"/>
  <p:cmAuthor id="433" name="未知的使用者215" initials="" lastIdx="1" clrIdx="0"/>
  <p:cmAuthor id="434" name="未知的使用者216" initials="" lastIdx="1" clrIdx="0"/>
  <p:cmAuthor id="435" name="王丽君" initials="王" lastIdx="4" clrIdx="0"/>
  <p:cmAuthor id="436" name="Xia Ting" initials="X" lastIdx="1" clrIdx="0"/>
  <p:cmAuthor id="738822927" name="洋仔" initials="洋" lastIdx="1" clrIdx="869"/>
  <p:cmAuthor id="437" name="未知用户163" initials="未" lastIdx="8" clrIdx="0"/>
  <p:cmAuthor id="438" name="未知用户164" initials="未" lastIdx="1" clrIdx="0"/>
  <p:cmAuthor id="439" name="未知用户10" initials="未" lastIdx="1" clrIdx="0"/>
  <p:cmAuthor id="353158055" name="韩雨" initials="韩" lastIdx="0" clrIdx="0"/>
  <p:cmAuthor id="440" name="未知用户191" initials="未" lastIdx="1" clrIdx="0"/>
  <p:cmAuthor id="441" name="未知用户167" initials="未" lastIdx="1" clrIdx="0"/>
  <p:cmAuthor id="442" name="未知的使用者163" initials="未" lastIdx="1" clrIdx="0"/>
  <p:cmAuthor id="250939266" name="SFY" initials="S" lastIdx="1" clrIdx="634"/>
  <p:cmAuthor id="443" name="未知的使用者88" initials="未" lastIdx="1" clrIdx="1"/>
  <p:cmAuthor id="444" name="未知的使用者165" initials="未" lastIdx="1" clrIdx="0"/>
  <p:cmAuthor id="445" name="未知的使用者158" initials="未" lastIdx="1" clrIdx="0"/>
  <p:cmAuthor id="446" name="jerrychou" initials="j" lastIdx="1" clrIdx="4"/>
  <p:cmAuthor id="447" name="不明使用者12" initials="不" lastIdx="3" clrIdx="1"/>
  <p:cmAuthor id="448" name="不明使用者1" initials="不" lastIdx="0" clrIdx="0"/>
  <p:cmAuthor id="449" name="未知的使用者166" initials="未" lastIdx="8" clrIdx="0"/>
  <p:cmAuthor id="450" name="未知的使用者167" initials="未" lastIdx="0" clrIdx="1"/>
  <p:cmAuthor id="451" name="未知的使用者159" initials="未" lastIdx="1" clrIdx="1"/>
  <p:cmAuthor id="452" name="未知的使用者160" initials="未" lastIdx="1" clrIdx="0"/>
  <p:cmAuthor id="453" name="未知的使用者168" initials="未" lastIdx="1" clrIdx="0"/>
  <p:cmAuthor id="772993842" name="时光" initials="时" lastIdx="1" clrIdx="718"/>
  <p:cmAuthor id="454" name="不明使用者7" initials="不" lastIdx="7" clrIdx="1"/>
  <p:cmAuthor id="455" name="未知用户120" initials="未" lastIdx="1" clrIdx="0"/>
  <p:cmAuthor id="456" name="未知用户122" initials="未" lastIdx="1" clrIdx="0"/>
  <p:cmAuthor id="457" name="未知用户139" initials="未" lastIdx="2" clrIdx="0"/>
  <p:cmAuthor id="458" name="不明使用者11" initials="不" lastIdx="1" clrIdx="0"/>
  <p:cmAuthor id="459" name="Unknown User24" initials="U" lastIdx="1" clrIdx="0"/>
  <p:cmAuthor id="460" name="未知用户141" initials="未" lastIdx="1" clrIdx="1"/>
  <p:cmAuthor id="461" name="未知用户145" initials="未" lastIdx="2" clrIdx="0"/>
  <p:cmAuthor id="462" name="未知用户119" initials="未" lastIdx="1" clrIdx="1"/>
  <p:cmAuthor id="463" name="未知用户140" initials="未" lastIdx="0" clrIdx="1"/>
  <p:cmAuthor id="464" name="未知用户143" initials="未" lastIdx="1" clrIdx="0"/>
  <p:cmAuthor id="466" name="未知用户348" initials="未" lastIdx="10" clrIdx="0"/>
  <p:cmAuthor id="280030417" name="桃豆豆" initials="桃" lastIdx="2" clrIdx="867"/>
  <p:cmAuthor id="467" name="未知用户148" initials="未" lastIdx="1" clrIdx="0"/>
  <p:cmAuthor id="468" name="未知用户195" initials="未" lastIdx="1" clrIdx="0"/>
  <p:cmAuthor id="469" name="未知用户207" initials="未" lastIdx="3" clrIdx="1"/>
  <p:cmAuthor id="470" name="未知用户208" initials="未" lastIdx="1" clrIdx="0"/>
  <p:cmAuthor id="471" name="未知用户198" initials="未" lastIdx="1" clrIdx="0"/>
  <p:cmAuthor id="472" name="未知用户209" initials="未" lastIdx="1" clrIdx="0"/>
  <p:cmAuthor id="473" name="未知用户289" initials="未" lastIdx="1" clrIdx="0"/>
  <p:cmAuthor id="474" name="未知用户206" initials="未" lastIdx="6" clrIdx="0"/>
  <p:cmAuthor id="475" name="未知用户175" initials="未" lastIdx="1" clrIdx="1"/>
  <p:cmAuthor id="476" name="未知的使用者207" initials="未" lastIdx="1" clrIdx="0"/>
  <p:cmAuthor id="477" name="未知的使用者208" initials="未" lastIdx="1" clrIdx="0"/>
  <p:cmAuthor id="478" name="未知的使用者188" initials="未" lastIdx="1" clrIdx="0"/>
  <p:cmAuthor id="479" name="未知的使用者189" initials="未" lastIdx="2" clrIdx="0"/>
  <p:cmAuthor id="480" name="未知的使用者190" initials="未" lastIdx="1" clrIdx="1"/>
  <p:cmAuthor id="481" name="未知的使用者191" initials="未" lastIdx="1" clrIdx="0"/>
  <p:cmAuthor id="564877690" name="哎呀呀何牙牙" initials="哎" lastIdx="1" clrIdx="951"/>
  <p:cmAuthor id="482" name="未知的使用者192" initials="未" lastIdx="1" clrIdx="0"/>
  <p:cmAuthor id="483" name="未知的使用者193" initials="未" lastIdx="2" clrIdx="0"/>
  <p:cmAuthor id="484" name="未知的使用者209" initials="未" lastIdx="8" clrIdx="0"/>
  <p:cmAuthor id="485" name="未知用户146" initials="未" lastIdx="5" clrIdx="1"/>
  <p:cmAuthor id="486" name="未知用户94" initials="未" lastIdx="0" clrIdx="1"/>
  <p:cmAuthor id="488" name="未知用户118" initials="未" lastIdx="1" clrIdx="0"/>
  <p:cmAuthor id="489" name="未知用户147" initials="未" lastIdx="0" clrIdx="1"/>
  <p:cmAuthor id="491" name="未知的使用者96" initials="未" lastIdx="1" clrIdx="0"/>
  <p:cmAuthor id="493" name="raymond luan" initials="r" lastIdx="0" clrIdx="0"/>
  <p:cmAuthor id="496" name="未知用户255" initials="未" lastIdx="1" clrIdx="1"/>
  <p:cmAuthor id="497" name="未知的使用者153" initials="未" lastIdx="1" clrIdx="0"/>
  <p:cmAuthor id="498" name="未知的使用者154" initials="未" lastIdx="1" clrIdx="0"/>
  <p:cmAuthor id="499" name="未知的使用者156" initials="未" lastIdx="1" clrIdx="0"/>
  <p:cmAuthor id="500" name="未知的使用者157" initials="未" lastIdx="1" clrIdx="0"/>
  <p:cmAuthor id="502" name="未知用户246" initials="未" lastIdx="1" clrIdx="0"/>
  <p:cmAuthor id="503" name="未知的使用者129" initials="未" lastIdx="1" clrIdx="0"/>
  <p:cmAuthor id="505" name="未知用户121" initials="未" lastIdx="1" clrIdx="0"/>
  <p:cmAuthor id="595644782" name="桑榆" initials="桑" lastIdx="2" clrIdx="660"/>
  <p:cmAuthor id="506" name="未知用户257" initials="未" lastIdx="1" clrIdx="0"/>
  <p:cmAuthor id="507" name="未知的使用者164" initials="未" lastIdx="8" clrIdx="0"/>
  <p:cmAuthor id="508" name="未知的使用者172" initials="未" lastIdx="1" clrIdx="0"/>
  <p:cmAuthor id="509" name="未知的使用者174" initials="未" lastIdx="1" clrIdx="0"/>
  <p:cmAuthor id="510" name="未知用户261" initials="未" lastIdx="1" clrIdx="0"/>
  <p:cmAuthor id="511" name="未知的使用者247" initials="未" lastIdx="6" clrIdx="0"/>
  <p:cmAuthor id="512" name="未知的使用者249" initials="未" lastIdx="43" clrIdx="1"/>
  <p:cmAuthor id="513" name="未知的使用者250" initials="未" lastIdx="1" clrIdx="0"/>
  <p:cmAuthor id="383159678" name="FAN" initials="F" lastIdx="555744" clrIdx="0"/>
  <p:cmAuthor id="514" name="未知的使用者251" initials="未" lastIdx="1" clrIdx="0"/>
  <p:cmAuthor id="383159679" name="sunaoran" initials="s" lastIdx="2" clrIdx="3"/>
  <p:cmAuthor id="515" name="未知的使用者246" initials="未" lastIdx="1" clrIdx="1"/>
  <p:cmAuthor id="517" name="未知的使用者252" initials="未" lastIdx="1" clrIdx="0"/>
  <p:cmAuthor id="518" name="未知的使用者253" initials="未" lastIdx="1" clrIdx="0"/>
  <p:cmAuthor id="519" name="未知的使用者254" initials="未" lastIdx="1" clrIdx="0"/>
  <p:cmAuthor id="606826857" name="李宁" initials="李" lastIdx="1" clrIdx="651"/>
  <p:cmAuthor id="520" name="未知的使用者255" initials="未" lastIdx="1" clrIdx="0"/>
  <p:cmAuthor id="521" name="未知用户268" initials="未" lastIdx="1" clrIdx="0"/>
  <p:cmAuthor id="522" name="未知用户269" initials="未" lastIdx="2" clrIdx="0"/>
  <p:cmAuthor id="523" name="未知的使用者270" initials="未" lastIdx="1" clrIdx="0"/>
  <p:cmAuthor id="524" name="未知用户250" initials="未" lastIdx="0" clrIdx="0"/>
  <p:cmAuthor id="525" name="未知用户272" initials="未" lastIdx="10" clrIdx="0"/>
  <p:cmAuthor id="526" name="张婷婷" initials="c" lastIdx="1" clrIdx="525"/>
  <p:cmAuthor id="528" name="未知的使用者256" initials="未" lastIdx="1" clrIdx="0"/>
  <p:cmAuthor id="529" name="孟令坤" initials="MLK" lastIdx="9" clrIdx="528"/>
  <p:cmAuthor id="304780015" name=" 胖哒慧" initials="" lastIdx="1" clrIdx="359"/>
  <p:cmAuthor id="530" name="未知的使用者197" initials="未" lastIdx="8" clrIdx="0"/>
  <p:cmAuthor id="531" name="myl" initials="m" lastIdx="4" clrIdx="530"/>
  <p:cmAuthor id="532" name="未知的使用者200" initials="未" lastIdx="1" clrIdx="0"/>
  <p:cmAuthor id="533" name="未知的使用者257" initials="未" lastIdx="1" clrIdx="0"/>
  <p:cmAuthor id="534" name="未知的使用者171" initials="未" lastIdx="3" clrIdx="1"/>
  <p:cmAuthor id="537" name="未知的使用者240" initials="未" lastIdx="1" clrIdx="0"/>
  <p:cmAuthor id="538" name="未知的使用者241" initials="未" lastIdx="1" clrIdx="0"/>
  <p:cmAuthor id="217975524" name="小阳光" initials="小" lastIdx="1" clrIdx="494"/>
  <p:cmAuthor id="539" name="未知的使用者242" initials="未" lastIdx="2" clrIdx="0"/>
  <p:cmAuthor id="540" name="未知的使用者243" initials="未" lastIdx="1" clrIdx="0"/>
  <p:cmAuthor id="541" name="未知的使用者258" initials="未" lastIdx="8" clrIdx="0"/>
  <p:cmAuthor id="542" name="未知的使用者259" initials="未" lastIdx="1" clrIdx="0"/>
  <p:cmAuthor id="543" name="未知的使用者260" initials="未" lastIdx="1" clrIdx="0"/>
  <p:cmAuthor id="544" name="未知的使用者261" initials="未" lastIdx="11" clrIdx="0"/>
  <p:cmAuthor id="545" name="未知的使用者262" initials="未" lastIdx="7" clrIdx="1"/>
  <p:cmAuthor id="546" name="未知的使用者263" initials="未" lastIdx="1" clrIdx="2"/>
  <p:cmAuthor id="547" name="未知的使用者264" initials="未" lastIdx="1" clrIdx="0"/>
  <p:cmAuthor id="548" name="未知的使用者265" initials="未" lastIdx="1" clrIdx="0"/>
  <p:cmAuthor id="549" name="未知的使用者266" initials="未" lastIdx="1" clrIdx="1"/>
  <p:cmAuthor id="550" name="未知的使用者267" initials="未" lastIdx="1" clrIdx="0"/>
  <p:cmAuthor id="551" name="未知的使用者268" initials="未" lastIdx="2" clrIdx="0"/>
  <p:cmAuthor id="552" name="未知的使用者269" initials="未" lastIdx="7" clrIdx="1"/>
  <p:cmAuthor id="553" name="刘晖" initials="刘" lastIdx="1" clrIdx="0"/>
  <p:cmAuthor id="554" name="piccotina" initials="p" lastIdx="1" clrIdx="553"/>
  <p:cmAuthor id="555" name="lillian" initials="l" lastIdx="1" clrIdx="0"/>
  <p:cmAuthor id="556" name="未知用户197" initials="未" lastIdx="1" clrIdx="0"/>
  <p:cmAuthor id="557" name="未知用户157" initials="未" lastIdx="8" clrIdx="0"/>
  <p:cmAuthor id="558" name="未知用户158" initials="未" lastIdx="2" clrIdx="0"/>
  <p:cmAuthor id="559" name="未知用户159" initials="未" lastIdx="1" clrIdx="0"/>
  <p:cmAuthor id="560" name="未知用户160" initials="未" lastIdx="2" clrIdx="0"/>
  <p:cmAuthor id="561" name="未知用户168" initials="未" lastIdx="1" clrIdx="0"/>
  <p:cmAuthor id="562" name="順天" initials="順" lastIdx="1" clrIdx="0"/>
  <p:cmAuthor id="563" name=" " initials="" lastIdx="6" clrIdx="85"/>
  <p:cmAuthor id="564" name="未知用户319" initials="未" lastIdx="1" clrIdx="0"/>
  <p:cmAuthor id="565" name="未知的使用者139" initials="未" lastIdx="1" clrIdx="0"/>
  <p:cmAuthor id="566" name="未知用户87" initials="未" lastIdx="1" clrIdx="0"/>
  <p:cmAuthor id="567" name="未知用户88" initials="未" lastIdx="1" clrIdx="0"/>
  <p:cmAuthor id="568" name="未知用户89" initials="未" lastIdx="1" clrIdx="0"/>
  <p:cmAuthor id="569" name="未知用户211" initials="未" lastIdx="8" clrIdx="0"/>
  <p:cmAuthor id="570" name="未知用户110" initials="未" lastIdx="1" clrIdx="0"/>
  <p:cmAuthor id="571" name="未知用户293" initials="未" lastIdx="1" clrIdx="0"/>
  <p:cmAuthor id="572" name="未知用户201" initials="未" lastIdx="8" clrIdx="0"/>
  <p:cmAuthor id="573" name="未知用户294" initials="未" lastIdx="1" clrIdx="1"/>
  <p:cmAuthor id="574" name="未知用户278" initials="未" lastIdx="1" clrIdx="0"/>
  <p:cmAuthor id="575" name="未知用户279" initials="未" lastIdx="1" clrIdx="0"/>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1" name="guanhh" initials="g" lastIdx="3" clrIdx="0"/>
  <p:cmAuthor id="1124247354" name="Tea" initials="T" lastIdx="1" clrIdx="611"/>
  <p:cmAuthor id="582" name="未知用户169" initials="未" lastIdx="1" clrIdx="0"/>
  <p:cmAuthor id="1124247355" name="储贤民" initials="储" lastIdx="1" clrIdx="1124247354"/>
  <p:cmAuthor id="583" name="未知用户192" initials="未" lastIdx="1" clrIdx="0"/>
  <p:cmAuthor id="1124247356" name="guron" initials="g" lastIdx="1" clrIdx="1124247355"/>
  <p:cmAuthor id="584" name="未知用户203" initials="未" lastIdx="1" clrIdx="1"/>
  <p:cmAuthor id="604287035" name="袁昭成" initials="袁" lastIdx="2" clrIdx="710"/>
  <p:cmAuthor id="585" name="未知用户290" initials="未" lastIdx="2" clrIdx="0"/>
  <p:cmAuthor id="586" name="未知用户291" initials="未" lastIdx="8" clrIdx="0"/>
  <p:cmAuthor id="587" name="未知用户292" initials="未" lastIdx="1" clrIdx="0"/>
  <p:cmAuthor id="588" name="未知用户184" initials="未" lastIdx="1" clrIdx="1"/>
  <p:cmAuthor id="589" name="未知用户295" initials="未" lastIdx="1" clrIdx="0"/>
  <p:cmAuthor id="590" name="未知用户297" initials="未" lastIdx="1" clrIdx="0"/>
  <p:cmAuthor id="591" name="未知用户181" initials="未" lastIdx="2" clrIdx="0"/>
  <p:cmAuthor id="592" name="ye gusong" initials="y" lastIdx="1" clrIdx="0"/>
  <p:cmAuthor id="593" name="wei muzi" initials="w" lastIdx="1" clrIdx="4"/>
  <p:cmAuthor id="659281454" name="西赆南琛" initials="西" lastIdx="1" clrIdx="520"/>
  <p:cmAuthor id="594" name="孙" initials="孙" lastIdx="1" clrIdx="50"/>
  <p:cmAuthor id="663058477" name="Jason" initials="J" lastIdx="1" clrIdx="357"/>
  <p:cmAuthor id="595" name="未知用户187" initials="未" lastIdx="10" clrIdx="0"/>
  <p:cmAuthor id="596" name="Microsoft Office User" initials="M" lastIdx="2" clrIdx="86"/>
  <p:cmAuthor id="597" name="catherine" initials="c" lastIdx="1" clrIdx="1"/>
  <p:cmAuthor id="599" name="未知的使用者89" initials="未" lastIdx="5" clrIdx="0"/>
  <p:cmAuthor id="600" name="未知用户287" initials="未" lastIdx="0" clrIdx="1"/>
  <p:cmAuthor id="601" name="未知用户288" initials="未" lastIdx="1" clrIdx="0"/>
  <p:cmAuthor id="602" name="未知用户229" initials="未" lastIdx="0" clrIdx="0"/>
  <p:cmAuthor id="603" name="�Ÿ�" initials="�" lastIdx="1" clrIdx="0"/>
  <p:cmAuthor id="604" name="未知的使用者140" initials="未" lastIdx="1" clrIdx="1"/>
  <p:cmAuthor id="605" name="yudi lin" initials="y" lastIdx="0" clrIdx="0"/>
  <p:cmAuthor id="606" name="未知用户249" initials="未" lastIdx="1" clrIdx="0"/>
  <p:cmAuthor id="607" name="liuzga" initials="l" lastIdx="1" clrIdx="3"/>
  <p:cmAuthor id="608" name="49554261@qq.com" initials="4" lastIdx="2" clrIdx="2"/>
  <p:cmAuthor id="609" name="未知用户230" initials="未" lastIdx="1" clrIdx="0"/>
  <p:cmAuthor id="610" name="未知用户241" initials="未" lastIdx="1" clrIdx="0"/>
  <p:cmAuthor id="255931717" name="骑蜗牛私奔" initials="骑" lastIdx="1" clrIdx="918"/>
  <p:cmAuthor id="611" name="未知用户216" initials="未" lastIdx="1" clrIdx="0"/>
  <p:cmAuthor id="612" name="未知用户266" initials="未" lastIdx="1" clrIdx="1"/>
  <p:cmAuthor id="246358619" name="小州Gg" initials="小" lastIdx="1" clrIdx="666"/>
  <p:cmAuthor id="613" name="未知用户243" initials="未" lastIdx="1" clrIdx="0"/>
  <p:cmAuthor id="614" name="未知用户196" initials="未" lastIdx="1" clrIdx="0"/>
  <p:cmAuthor id="616" name="未知用户219" initials="未" lastIdx="6" clrIdx="0"/>
  <p:cmAuthor id="617" name="未知用户222" initials="未" lastIdx="1" clrIdx="0"/>
  <p:cmAuthor id="618" name="未知用户200" initials="未" lastIdx="8" clrIdx="0"/>
  <p:cmAuthor id="619" name="未知用户213" initials="未" lastIdx="1" clrIdx="0"/>
  <p:cmAuthor id="620" name="未知用户214" initials="未" lastIdx="2" clrIdx="0"/>
  <p:cmAuthor id="621" name="未知用户215" initials="未" lastIdx="1" clrIdx="0"/>
  <p:cmAuthor id="622" name="未知用户231" initials="未" lastIdx="1" clrIdx="0"/>
  <p:cmAuthor id="623" name="未知用户233" initials="未" lastIdx="11" clrIdx="0"/>
  <p:cmAuthor id="624" name="未知用户234" initials="未" lastIdx="7" clrIdx="1"/>
  <p:cmAuthor id="625" name="未知用户235" initials="未" lastIdx="1" clrIdx="2"/>
  <p:cmAuthor id="626" name="未知用户236" initials="未" lastIdx="1" clrIdx="0"/>
  <p:cmAuthor id="627" name="未知用户237" initials="未" lastIdx="1" clrIdx="0"/>
  <p:cmAuthor id="628" name="未知用户240" initials="未" lastIdx="2" clrIdx="0"/>
  <p:cmAuthor id="629" name="未知用户221" initials="未" lastIdx="44" clrIdx="1"/>
  <p:cmAuthor id="630" name="v15194" initials="v" lastIdx="5" clrIdx="87"/>
  <p:cmAuthor id="631" name="未知用户276" initials="未" lastIdx="2" clrIdx="0"/>
  <p:cmAuthor id="632" name="未知用户263" initials="未" lastIdx="2" clrIdx="0"/>
  <p:cmAuthor id="633" name="Carol Kelly" initials="C" lastIdx="1" clrIdx="0"/>
  <p:cmAuthor id="2000" name="张静_QZZvv2Aj" initials="authorId_625078060" lastIdx="1658295" clrIdx="95"/>
  <p:cmAuthor id="634" name="未知的使用者155" initials="未" lastIdx="1" clrIdx="0"/>
  <p:cmAuthor id="2001" name="k mimas" initials="km" lastIdx="1" clrIdx="46"/>
  <p:cmAuthor id="2002" name="15719214165@163.com" initials="1" lastIdx="1" clrIdx="39"/>
  <p:cmAuthor id="636" name="未知用户166" initials="未" lastIdx="0" clrIdx="1"/>
  <p:cmAuthor id="2003" name="xuting@sn.cmcc" initials="A" lastIdx="1" clrIdx="40"/>
  <p:cmAuthor id="637" name="Unknown User55" initials="U" lastIdx="1" clrIdx="1"/>
  <p:cmAuthor id="2004" name="范 斌" initials="范" lastIdx="1" clrIdx="36"/>
  <p:cmAuthor id="638" name="未知用户343" initials="未" lastIdx="1" clrIdx="0"/>
  <p:cmAuthor id="2005" name="毕邺" initials="党委办公室" lastIdx="2" clrIdx="37"/>
  <p:cmAuthor id="639" name="Huipeng Cao" initials="H" lastIdx="1" clrIdx="0"/>
  <p:cmAuthor id="2006" name="jiaru tiger" initials="jt" lastIdx="2" clrIdx="38"/>
  <p:cmAuthor id="640" name="李 雷雨" initials="李" lastIdx="1" clrIdx="0"/>
  <p:cmAuthor id="641" name="91257" initials="9" lastIdx="0" clrIdx="1"/>
  <p:cmAuthor id="642" name="vicky" initials="v" lastIdx="2" clrIdx="1"/>
  <p:cmAuthor id="643" name="庆芳 许" initials="庆" lastIdx="1" clrIdx="0"/>
  <p:cmAuthor id="644" name="未知用户359" initials="未" lastIdx="1" clrIdx="0"/>
  <p:cmAuthor id="645" name="未知用户360" initials="未" lastIdx="10" clrIdx="0"/>
  <p:cmAuthor id="1046294244" name="kk" initials="k" lastIdx="1" clrIdx="873"/>
  <p:cmAuthor id="646" name="未知用户361" initials="未" lastIdx="1" clrIdx="0"/>
  <p:cmAuthor id="647" name="不明使用者2" initials="不" lastIdx="2" clrIdx="0"/>
  <p:cmAuthor id="648" name="不明使用者3" initials="不" lastIdx="1" clrIdx="0"/>
  <p:cmAuthor id="649" name="不明使用者4" initials="不" lastIdx="1" clrIdx="0"/>
  <p:cmAuthor id="650" name="不明使用者6" initials="不" lastIdx="1" clrIdx="0"/>
  <p:cmAuthor id="651" name="不明使用者5" initials="不" lastIdx="11" clrIdx="0"/>
  <p:cmAuthor id="652" name="未知用户296" initials="未" lastIdx="1" clrIdx="0"/>
  <p:cmAuthor id="653" name="不明使用者8" initials="不" lastIdx="43" clrIdx="1"/>
  <p:cmAuthor id="654" name="不明使用者9" initials="不" lastIdx="1" clrIdx="0"/>
  <p:cmAuthor id="655" name="不明使用者10" initials="不" lastIdx="0" clrIdx="0"/>
  <p:cmAuthor id="656" name="未知用户333" initials="未" lastIdx="1" clrIdx="0"/>
  <p:cmAuthor id="386174056" name="CabayJenne" initials="C" lastIdx="1" clrIdx="353"/>
  <p:cmAuthor id="657" name="Carol Wu" initials="C" lastIdx="1" clrIdx="0"/>
  <p:cmAuthor id="658" name="Think" initials="T" lastIdx="6" clrIdx="3"/>
  <p:cmAuthor id="659" name="qijf" initials="q" lastIdx="2" clrIdx="658"/>
  <p:cmAuthor id="1012164368" name="木漏れ日" initials="木" lastIdx="1" clrIdx="319"/>
  <p:cmAuthor id="660" name="未知用户304" initials="未" lastIdx="1" clrIdx="0"/>
  <p:cmAuthor id="661" name="未知用户305" initials="未" lastIdx="1" clrIdx="0"/>
  <p:cmAuthor id="662" name="敢 王" initials="敢" lastIdx="1" clrIdx="0"/>
  <p:cmAuthor id="663" name="邓 勇" initials="邓" lastIdx="1" clrIdx="0"/>
  <p:cmAuthor id="664" name="陈城" initials="陈" lastIdx="0" clrIdx="2"/>
  <p:cmAuthor id="665" name="Sharon" initials="S" lastIdx="1" clrIdx="2"/>
  <p:cmAuthor id="1104652860" name="小粟勺" initials="小" lastIdx="1" clrIdx="651"/>
  <p:cmAuthor id="666" name="yangxy" initials="y" lastIdx="1" clrIdx="88"/>
  <p:cmAuthor id="667" name="未知用户311" initials="未" lastIdx="2" clrIdx="0"/>
  <p:cmAuthor id="668" name="未知用户312" initials="未" lastIdx="1" clrIdx="0"/>
  <p:cmAuthor id="669" name="未知用户402" initials="未" lastIdx="1" clrIdx="0"/>
  <p:cmAuthor id="670" name="未知用户314" initials="未" lastIdx="1" clrIdx="1"/>
  <p:cmAuthor id="671" name="晓  曲" initials="晓" lastIdx="1" clrIdx="0"/>
  <p:cmAuthor id="672" name="未知用户405" initials="未" lastIdx="2" clrIdx="0"/>
  <p:cmAuthor id="458462399" name="Tomorrow" initials="T" lastIdx="1" clrIdx="35"/>
  <p:cmAuthor id="458462400" name="zw zhou" initials="zz" lastIdx="1" clrIdx="51"/>
  <p:cmAuthor id="674" name="孟连磊" initials="孟" lastIdx="1" clrIdx="0"/>
  <p:cmAuthor id="675" name="未知用户384" initials="未" lastIdx="1" clrIdx="1"/>
  <p:cmAuthor id="676" name="未知的使用者177" initials="未" lastIdx="8" clrIdx="0"/>
  <p:cmAuthor id="677" name="未知用户386" initials="未" lastIdx="3" clrIdx="0"/>
  <p:cmAuthor id="678" name="未知用户387" initials="未" lastIdx="1" clrIdx="0"/>
  <p:cmAuthor id="679" name="未知用户388" initials="未" lastIdx="0" clrIdx="0"/>
  <p:cmAuthor id="680" name="未知用户411" initials="未" lastIdx="1" clrIdx="0"/>
  <p:cmAuthor id="681" name="未知用户389" initials="未" lastIdx="9" clrIdx="0"/>
  <p:cmAuthor id="682" name="未知用户390" initials="未" lastIdx="1" clrIdx="0"/>
  <p:cmAuthor id="683" name="未知用户391" initials="未" lastIdx="1" clrIdx="0"/>
  <p:cmAuthor id="684" name="未知用户392" initials="未" lastIdx="2" clrIdx="0"/>
  <p:cmAuthor id="685" name="未知用户393" initials="未" lastIdx="1" clrIdx="0"/>
  <p:cmAuthor id="686" name="未知用户394" initials="未" lastIdx="1" clrIdx="0"/>
  <p:cmAuthor id="581828695" name="于洁" initials="于" lastIdx="1" clrIdx="893"/>
  <p:cmAuthor id="687" name="未知用户395" initials="未" lastIdx="0" clrIdx="0"/>
  <p:cmAuthor id="688" name="未知用户396" initials="未" lastIdx="1" clrIdx="0"/>
  <p:cmAuthor id="689" name="未知用户406" initials="未" lastIdx="1" clrIdx="0"/>
  <p:cmAuthor id="690" name="未知用户397" initials="未" lastIdx="1" clrIdx="1"/>
  <p:cmAuthor id="691" name="未知用户407" initials="未" lastIdx="1" clrIdx="0"/>
  <p:cmAuthor id="692" name="未知用户398" initials="未" lastIdx="1" clrIdx="0"/>
  <p:cmAuthor id="693" name="未知用户399" initials="未" lastIdx="1" clrIdx="0"/>
  <p:cmAuthor id="694" name="未知用户400" initials="未" lastIdx="2" clrIdx="0"/>
  <p:cmAuthor id="695" name="未知用户401" initials="未" lastIdx="2" clrIdx="0"/>
  <p:cmAuthor id="696" name="未知用户420" initials="未" lastIdx="1" clrIdx="0"/>
  <p:cmAuthor id="697" name="未知用户421" initials="未" lastIdx="1" clrIdx="0"/>
  <p:cmAuthor id="698" name="未知用户422" initials="未" lastIdx="10" clrIdx="0"/>
  <p:cmAuthor id="699" name="未知用户423" initials="未" lastIdx="1" clrIdx="0"/>
  <p:cmAuthor id="1018329579" name="Cool" initials="C" lastIdx="1" clrIdx="47"/>
  <p:cmAuthor id="700" name="未知用户424" initials="未" lastIdx="2" clrIdx="0"/>
  <p:cmAuthor id="701" name="未知用户419" initials="未" lastIdx="2" clrIdx="0"/>
  <p:cmAuthor id="702" name="未知用户425" initials="未" lastIdx="1" clrIdx="0"/>
  <p:cmAuthor id="245516636" name="李进进" initials="李" lastIdx="2" clrIdx="653"/>
  <p:cmAuthor id="312104574" name="zzzz" initials="z" lastIdx="1" clrIdx="682"/>
  <p:cmAuthor id="703" name="未知用户426" initials="未" lastIdx="1" clrIdx="0"/>
  <p:cmAuthor id="625060086" name="Fanny" initials="F" lastIdx="2" clrIdx="815"/>
  <p:cmAuthor id="704" name="未知用户427" initials="未" lastIdx="1" clrIdx="1"/>
  <p:cmAuthor id="705" name="未知用户428" initials="未" lastIdx="7" clrIdx="0"/>
  <p:cmAuthor id="706" name="未知用户429" initials="未" lastIdx="3" clrIdx="0"/>
  <p:cmAuthor id="707" name="未知用户430" initials="未" lastIdx="1" clrIdx="0"/>
  <p:cmAuthor id="708" name="未知用户431" initials="未" lastIdx="1" clrIdx="0"/>
  <p:cmAuthor id="709" name="未知用户432" initials="未" lastIdx="0" clrIdx="0"/>
  <p:cmAuthor id="710" name="未知用户433" initials="未" lastIdx="1" clrIdx="0"/>
  <p:cmAuthor id="711" name="未知用户434" initials="未" lastIdx="9" clrIdx="0"/>
  <p:cmAuthor id="712" name="未知用户435" initials="未" lastIdx="1" clrIdx="0"/>
  <p:cmAuthor id="713" name="未知用户436" initials="未" lastIdx="1" clrIdx="0"/>
  <p:cmAuthor id="714" name="未知用户437" initials="未" lastIdx="2" clrIdx="0"/>
  <p:cmAuthor id="715" name="未知用户438" initials="未" lastIdx="1" clrIdx="0"/>
  <p:cmAuthor id="716" name="未知用户417" initials="未" lastIdx="10" clrIdx="0"/>
  <p:cmAuthor id="717" name="未知用户439" initials="未" lastIdx="1" clrIdx="0"/>
  <p:cmAuthor id="718" name="未知用户440" initials="未" lastIdx="0" clrIdx="0"/>
  <p:cmAuthor id="242149732" name="武戎" initials="武" lastIdx="1" clrIdx="840"/>
  <p:cmAuthor id="719" name="未知用户441" initials="未" lastIdx="1" clrIdx="0"/>
  <p:cmAuthor id="720" name="未知用户442" initials="未" lastIdx="1" clrIdx="0"/>
  <p:cmAuthor id="422153560" name="天天" initials="天" lastIdx="1" clrIdx="848"/>
  <p:cmAuthor id="721" name="未知用户443" initials="未" lastIdx="1" clrIdx="1"/>
  <p:cmAuthor id="722" name="未知用户444" initials="未" lastIdx="1" clrIdx="0"/>
  <p:cmAuthor id="723" name="未知用户445" initials="未" lastIdx="1" clrIdx="0"/>
  <p:cmAuthor id="724" name="未知用户446" initials="未" lastIdx="1" clrIdx="0"/>
  <p:cmAuthor id="725" name="未知用户447" initials="未" lastIdx="2" clrIdx="0"/>
  <p:cmAuthor id="726" name="未知用户448" initials="未" lastIdx="2" clrIdx="0"/>
  <p:cmAuthor id="574792786" name="johnさん雲起" initials="j" lastIdx="1" clrIdx="30"/>
  <p:cmAuthor id="727" name="未知用户326" initials="未" lastIdx="1" clrIdx="0"/>
  <p:cmAuthor id="728" name="未知用户365" initials="未" lastIdx="1" clrIdx="0"/>
  <p:cmAuthor id="729" name="zcy" initials="z" lastIdx="1" clrIdx="728"/>
  <p:cmAuthor id="730" name="未知用户366" initials="未" lastIdx="3" clrIdx="1"/>
  <p:cmAuthor id="1483810881" name="WPS_1679281038" initials="W" lastIdx="1" clrIdx="2"/>
  <p:cmAuthor id="731" name="崔艳鹏" initials="崔" lastIdx="1" clrIdx="730"/>
  <p:cmAuthor id="1483810882" name="gmcc" initials="g" lastIdx="1" clrIdx="1167942471"/>
  <p:cmAuthor id="732" name="未知用户367" initials="未" lastIdx="10" clrIdx="0"/>
  <p:cmAuthor id="733" name="DELL" initials="D" lastIdx="1" clrIdx="732"/>
  <p:cmAuthor id="193636283" name="吴开云" initials="吴" lastIdx="23" clrIdx="60"/>
  <p:cmAuthor id="735" name="未知用户368" initials="未" lastIdx="1" clrIdx="0"/>
  <p:cmAuthor id="737" name="HZS00" initials="H" lastIdx="2" clrIdx="454"/>
  <p:cmAuthor id="738" name="8613250766486" initials="8" lastIdx="2" clrIdx="729"/>
  <p:cmAuthor id="210492765" name="施普希（菜菜）" initials="施" lastIdx="0" clrIdx="0"/>
  <p:cmAuthor id="739" name="丁喆彤" initials="丁" lastIdx="1" clrIdx="0"/>
  <p:cmAuthor id="210492766" name="曹 朝辉" initials="曹" lastIdx="1" clrIdx="14"/>
  <p:cmAuthor id="210492767" name="李 嘉" initials="李" lastIdx="1" clrIdx="26"/>
  <p:cmAuthor id="741" name="yeqq06" initials="y" lastIdx="1" clrIdx="740"/>
  <p:cmAuthor id="210492768" name="gus9@chinaunicom.cn" initials="g" lastIdx="4" clrIdx="27"/>
  <p:cmAuthor id="291795094" name="勿忘初心" initials="勿" lastIdx="1" clrIdx="344"/>
  <p:cmAuthor id="742" name="张辉" initials="张" lastIdx="2" clrIdx="741"/>
  <p:cmAuthor id="743" name="hainan zheng" initials="h" lastIdx="1" clrIdx="0"/>
  <p:cmAuthor id="744" name="gayxb" initials="g" lastIdx="1" clrIdx="743"/>
  <p:cmAuthor id="745" name="lish54" initials="l" lastIdx="2" clrIdx="744"/>
  <p:cmAuthor id="746" name="百里 长青" initials="百" lastIdx="1" clrIdx="0"/>
  <p:cmAuthor id="226024628" name="JeanMayLee" initials="J" lastIdx="2" clrIdx="538"/>
  <p:cmAuthor id="747" name="wenle369@sina.com" initials="w" lastIdx="1" clrIdx="0"/>
  <p:cmAuthor id="748" name="殷 积波" initials="殷" lastIdx="1" clrIdx="22"/>
  <p:cmAuthor id="749" name="启浩" initials="启" lastIdx="2" clrIdx="0"/>
  <p:cmAuthor id="750" name="袨?嗴?傤?" initials="袨" lastIdx="0" clrIdx="0"/>
  <p:cmAuthor id="751" name="林玲 郑" initials="林" lastIdx="12" clrIdx="0"/>
  <p:cmAuthor id="752" name="554154816@qq.com" initials="5" lastIdx="0" clrIdx="0"/>
  <p:cmAuthor id="754" name="未知用户379" initials="未" lastIdx="1" clrIdx="0"/>
  <p:cmAuthor id="755" name="未知用户418" initials="未" lastIdx="1" clrIdx="0"/>
  <p:cmAuthor id="756" name="未知用户271" initials="未" lastIdx="1" clrIdx="0"/>
  <p:cmAuthor id="757" name="未知用户381" initials="未" lastIdx="1" clrIdx="0"/>
  <p:cmAuthor id="758" name="未知用户382" initials="未" lastIdx="1" clrIdx="0"/>
  <p:cmAuthor id="759" name="未知用户383" initials="未" lastIdx="1" clrIdx="0"/>
  <p:cmAuthor id="1047661357" name="微笑" initials="微" lastIdx="1" clrIdx="885"/>
  <p:cmAuthor id="760" name="sizx" initials="s" lastIdx="2" clrIdx="759"/>
  <p:cmAuthor id="761" name="雨林木风" initials="雨" lastIdx="14" clrIdx="1"/>
  <p:cmAuthor id="762" name="未知用户385" initials="未" lastIdx="2" clrIdx="0"/>
  <p:cmAuthor id="763" name="池依曼" initials="池" lastIdx="2" clrIdx="72"/>
  <p:cmAuthor id="767" name="未知用户232" initials="未" lastIdx="1" clrIdx="0"/>
  <p:cmAuthor id="769" name="未知用户226" initials="未" lastIdx="1" clrIdx="0"/>
  <p:cmAuthor id="770" name="亚运 曹" initials="亚" lastIdx="3" clrIdx="2"/>
  <p:cmAuthor id="771" name="lp" initials="l" lastIdx="1" clrIdx="0"/>
  <p:cmAuthor id="772" name="张正明" initials="张" lastIdx="1" clrIdx="0"/>
  <p:cmAuthor id="773" name="FANG SUN" initials="F" lastIdx="2" clrIdx="4"/>
  <p:cmAuthor id="774" name="富德生命人寿" initials="富" lastIdx="1" clrIdx="0"/>
  <p:cmAuthor id="775" name="袁缘" initials="袁" lastIdx="0" clrIdx="0"/>
  <p:cmAuthor id="776" name="未知用户416" initials="未" lastIdx="1" clrIdx="0"/>
  <p:cmAuthor id="777" name="未知用户404" initials="未" lastIdx="15" clrIdx="0"/>
  <p:cmAuthor id="778" name="未知用户408" initials="未" lastIdx="1" clrIdx="1"/>
  <p:cmAuthor id="779" name="未知用户409" initials="未" lastIdx="7" clrIdx="0"/>
  <p:cmAuthor id="780" name="未知用户412" initials="未" lastIdx="0" clrIdx="1"/>
  <p:cmAuthor id="781" name="未知用户413" initials="未" lastIdx="1" clrIdx="0"/>
  <p:cmAuthor id="782" name="未知用户414" initials="未" lastIdx="1" clrIdx="0"/>
  <p:cmAuthor id="783" name="未知用户415" initials="未" lastIdx="1" clrIdx="0"/>
  <p:cmAuthor id="227822270" name="chris" initials="c" lastIdx="1" clrIdx="844"/>
  <p:cmAuthor id="785" name="未知用户217" initials="未" lastIdx="0" clrIdx="0"/>
  <p:cmAuthor id="787" name="未知用户371" initials="未" lastIdx="1" clrIdx="0"/>
  <p:cmAuthor id="788" name="未知用户370" initials="未" lastIdx="1" clrIdx="0"/>
  <p:cmAuthor id="788755689" name="Pearson.Zhao" initials="P" lastIdx="2" clrIdx="331"/>
  <p:cmAuthor id="791" name="未知用户286" initials="未" lastIdx="1" clrIdx="0"/>
  <p:cmAuthor id="792" name="未知用户373" initials="未" lastIdx="2" clrIdx="0"/>
  <p:cmAuthor id="793" name="未知用户350" initials="未" lastIdx="1" clrIdx="0"/>
  <p:cmAuthor id="795" name="未知用户351" initials="未" lastIdx="1" clrIdx="0"/>
  <p:cmAuthor id="314841400" name="小迷糊" initials="小" lastIdx="16" clrIdx="931"/>
  <p:cmAuthor id="796" name="未知用户352" initials="未" lastIdx="1" clrIdx="1"/>
  <p:cmAuthor id="797" name="未知用户353" initials="未" lastIdx="7" clrIdx="0"/>
  <p:cmAuthor id="798" name="未知用户354" initials="未" lastIdx="3" clrIdx="0"/>
  <p:cmAuthor id="691587970" name="小延魔法师" initials="小" lastIdx="1126286" clrIdx="0"/>
  <p:cmAuthor id="799" name="未知用户355" initials="未" lastIdx="1" clrIdx="0"/>
  <p:cmAuthor id="691587971" name="Xukejia" initials="X" lastIdx="1" clrIdx="46"/>
  <p:cmAuthor id="800" name="未知用户356" initials="未" lastIdx="0" clrIdx="0"/>
  <p:cmAuthor id="691587972" name="641" initials="6" lastIdx="1" clrIdx="42"/>
  <p:cmAuthor id="801" name="未知用户378" initials="未" lastIdx="1" clrIdx="0"/>
  <p:cmAuthor id="691587973" name="Windows 用户" initials="W用" lastIdx="1" clrIdx="331"/>
  <p:cmAuthor id="802" name="未知用户357" initials="未" lastIdx="9" clrIdx="0"/>
  <p:cmAuthor id="691587974" name="行 朱" initials="行朱" lastIdx="1" clrIdx="517"/>
  <p:cmAuthor id="803" name="未知用户362" initials="未" lastIdx="1" clrIdx="0"/>
  <p:cmAuthor id="691587975" name="xiaoming chang" initials="xc" lastIdx="1" clrIdx="331"/>
  <p:cmAuthor id="804" name="未知用户363" initials="未" lastIdx="0" clrIdx="0"/>
  <p:cmAuthor id="691587976" name="梁光灯_iI7bJ7vm" initials="authorId_510858482" lastIdx="0" clrIdx="0"/>
  <p:cmAuthor id="805" name="未知用户374" initials="未" lastIdx="1" clrIdx="0"/>
  <p:cmAuthor id="691587977" name="AI" initials="A" lastIdx="0" clrIdx="518"/>
  <p:cmAuthor id="806" name="未知用户375" initials="未" lastIdx="1" clrIdx="0"/>
  <p:cmAuthor id="691587978" name="罗平_QfY3MnyU" initials="authorId_1512265542" lastIdx="0" clrIdx="0"/>
  <p:cmAuthor id="807" name="未知用户369" initials="未" lastIdx="2" clrIdx="0"/>
  <p:cmAuthor id="691587979" name="虞新颖_36fmV3QV" initials="authorId_321496044" lastIdx="0" clrIdx="0"/>
  <p:cmAuthor id="808" name="未知用户376" initials="未" lastIdx="22" clrIdx="0"/>
  <p:cmAuthor id="691587980" name="鲁琪_ayIzYrYZ" initials="authorId_602698507" lastIdx="0" clrIdx="0"/>
  <p:cmAuthor id="809" name="未知用户377" initials="未" lastIdx="1" clrIdx="0"/>
  <p:cmAuthor id="691587981" name="黄百成_m6Jjq6bQ" initials="authorId_901868002" lastIdx="0" clrIdx="0"/>
  <p:cmAuthor id="810" name="未知用户372" initials="未" lastIdx="1" clrIdx="1"/>
  <p:cmAuthor id="811" name="Xzjd" initials="X" lastIdx="2" clrIdx="0"/>
  <p:cmAuthor id="813" name="未知用户451" initials="未" lastIdx="1" clrIdx="0"/>
  <p:cmAuthor id="814" name="未知用户466" initials="未" lastIdx="3" clrIdx="0"/>
  <p:cmAuthor id="815" name="未知用户460" initials="未" lastIdx="1" clrIdx="0"/>
  <p:cmAuthor id="816" name="未知用户454" initials="未" lastIdx="2" clrIdx="0"/>
  <p:cmAuthor id="817" name="未知用户461" initials="未" lastIdx="0" clrIdx="0"/>
  <p:cmAuthor id="818" name="未知用户455" initials="未" lastIdx="1" clrIdx="0"/>
  <p:cmAuthor id="819" name="未知用户462" initials="未" lastIdx="10" clrIdx="0"/>
  <p:cmAuthor id="820" name="未知用户465" initials="未" lastIdx="1" clrIdx="5"/>
  <p:cmAuthor id="821" name="未知用户457" initials="未" lastIdx="1" clrIdx="0"/>
  <p:cmAuthor id="822" name="未知用户450" initials="未" lastIdx="0" clrIdx="0"/>
  <p:cmAuthor id="823" name="未知用户463" initials="未" lastIdx="1" clrIdx="18"/>
  <p:cmAuthor id="824" name="未知用户467" initials="未" lastIdx="0" clrIdx="0"/>
  <p:cmAuthor id="825" name="未知用户468" initials="未" lastIdx="1" clrIdx="0"/>
  <p:cmAuthor id="826" name="未知用户469" initials="未" lastIdx="1" clrIdx="0"/>
  <p:cmAuthor id="827" name="未知用户458" initials="未" lastIdx="2" clrIdx="0"/>
  <p:cmAuthor id="828" name="未知用户470" initials="未" lastIdx="1" clrIdx="0"/>
  <p:cmAuthor id="829" name="未知用户471" initials="未" lastIdx="1" clrIdx="0"/>
  <p:cmAuthor id="1479258870" name="夏先生" initials="夏" lastIdx="1" clrIdx="650"/>
  <p:cmAuthor id="830" name="未知用户472" initials="未" lastIdx="1" clrIdx="0"/>
  <p:cmAuthor id="1479258871" name="niuniu" initials="n" lastIdx="2" clrIdx="1479258870"/>
  <p:cmAuthor id="831" name="未知用户473" initials="未" lastIdx="4" clrIdx="0"/>
  <p:cmAuthor id="832" name="zhaojunjie" initials="z" lastIdx="1" clrIdx="831"/>
  <p:cmAuthor id="833" name="未知用户453" initials="未" lastIdx="1" clrIdx="0"/>
  <p:cmAuthor id="590625486" name="Wang lei" initials="W" lastIdx="1" clrIdx="890"/>
  <p:cmAuthor id="834" name="未知用户474" initials="未" lastIdx="0" clrIdx="0"/>
  <p:cmAuthor id="835" name="未知用户475" initials="未" lastIdx="0" clrIdx="0"/>
  <p:cmAuthor id="836" name="未知用户476" initials="未" lastIdx="1" clrIdx="0"/>
  <p:cmAuthor id="837" name="未知用户459" initials="未" lastIdx="1" clrIdx="1"/>
  <p:cmAuthor id="838" name="未知用户489" initials="未" lastIdx="1" clrIdx="0"/>
  <p:cmAuthor id="839" name="未知用户488" initials="未" lastIdx="10" clrIdx="0"/>
  <p:cmAuthor id="840" name="未知用户490" initials="未" lastIdx="1" clrIdx="0"/>
  <p:cmAuthor id="375845188" name="WPS" initials="W" lastIdx="1" clrIdx="17"/>
  <p:cmAuthor id="841" name="未知用户477" initials="未" lastIdx="2" clrIdx="0"/>
  <p:cmAuthor id="842" name="未知用户478" initials="未" lastIdx="1" clrIdx="0"/>
  <p:cmAuthor id="843" name="未知用户479" initials="未" lastIdx="0" clrIdx="8"/>
  <p:cmAuthor id="844" name="未知用户480" initials="未" lastIdx="1" clrIdx="0"/>
  <p:cmAuthor id="845" name="未知用户481" initials="未" lastIdx="10" clrIdx="0"/>
  <p:cmAuthor id="846" name="未知用户482" initials="未" lastIdx="1" clrIdx="0"/>
  <p:cmAuthor id="847" name="未知用户483" initials="未" lastIdx="1" clrIdx="0"/>
  <p:cmAuthor id="848" name="未知用户484" initials="未" lastIdx="1" clrIdx="0"/>
  <p:cmAuthor id="849" name="未知用户485" initials="未" lastIdx="1" clrIdx="0"/>
  <p:cmAuthor id="316842742" name="月亮是我啃弯的" initials="月" lastIdx="1" clrIdx="868"/>
  <p:cmAuthor id="850" name="未知用户486" initials="未" lastIdx="0" clrIdx="0"/>
  <p:cmAuthor id="851" name="未知用户452" initials="未" lastIdx="2" clrIdx="0"/>
  <p:cmAuthor id="852" name="未知用户456" initials="未" lastIdx="1" clrIdx="0"/>
  <p:cmAuthor id="853" name="未知用户464" initials="未" lastIdx="0" clrIdx="0"/>
  <p:cmAuthor id="854" name="未知用户487" initials="未" lastIdx="0" clrIdx="0"/>
  <p:cmAuthor id="855" name="部室管理员/软件开发中心/总行机关/ABC" initials="部" lastIdx="1" clrIdx="5"/>
  <p:cmAuthor id="856" name="未知用户259" initials="未" lastIdx="1" clrIdx="0"/>
  <p:cmAuthor id="745637841" name="吴体华" initials="吴" lastIdx="1" clrIdx="622"/>
  <p:cmAuthor id="857" name="XIAN" initials="X" lastIdx="1" clrIdx="856"/>
  <p:cmAuthor id="858" name="weilizz" initials="weilizz" lastIdx="1" clrIdx="857"/>
  <p:cmAuthor id="859" name="shanshuyao@sd.cmcc" initials="shanshuyao@sd.cmcc" lastIdx="1" clrIdx="858"/>
  <p:cmAuthor id="860" name="huangweijing" initials="h" lastIdx="1" clrIdx="859"/>
  <p:cmAuthor id="861" name="seki" initials="s" lastIdx="1" clrIdx="0"/>
  <p:cmAuthor id="862" name="guoshasha@hq.cmcc" initials="guoshasha" lastIdx="1" clrIdx="861"/>
  <p:cmAuthor id="863" name="刘佳颖" initials="刘" lastIdx="1" clrIdx="862"/>
  <p:cmAuthor id="864" name="未知用户270" initials="未" lastIdx="1" clrIdx="0"/>
  <p:cmAuthor id="866" name="USER631805" initials="U" lastIdx="1" clrIdx="865"/>
  <p:cmAuthor id="867" name="zhangbai" initials="z" lastIdx="1" clrIdx="866"/>
  <p:cmAuthor id="869" name="姜香利" initials="姜" lastIdx="1" clrIdx="868"/>
  <p:cmAuthor id="871" name="Nero" initials="N" lastIdx="2" clrIdx="0"/>
  <p:cmAuthor id="872" name="yifan song" initials="y" lastIdx="1" clrIdx="85"/>
  <p:cmAuthor id="873" name="00332340" initials="0" lastIdx="1" clrIdx="872"/>
  <p:cmAuthor id="874" name="00260515" initials="HRP" lastIdx="1" clrIdx="873"/>
  <p:cmAuthor id="876" name="莊安君" initials="莊" lastIdx="1" clrIdx="65"/>
  <p:cmAuthor id="879" name="陳建璋" initials="陳" lastIdx="2" clrIdx="85"/>
  <p:cmAuthor id="880" name="建璋" initials="建" lastIdx="1" clrIdx="86"/>
  <p:cmAuthor id="882" name="77482" initials="7" lastIdx="2" clrIdx="548"/>
  <p:cmAuthor id="883" name="未知用户265" initials="未" lastIdx="2" clrIdx="0"/>
  <p:cmAuthor id="884" name="未知用户267" initials="未" lastIdx="1" clrIdx="0"/>
  <p:cmAuthor id="885" name="liuxie" initials="l" lastIdx="1" clrIdx="588"/>
  <p:cmAuthor id="886" name="张因然10112423" initials="1" lastIdx="1" clrIdx="885"/>
  <p:cmAuthor id="887" name="陈依依" initials="陈" lastIdx="7" clrIdx="0"/>
  <p:cmAuthor id="888" name="未知用户242" initials="未" lastIdx="3" clrIdx="0"/>
  <p:cmAuthor id="889" name="10024885" initials="1" lastIdx="2" clrIdx="888"/>
  <p:cmAuthor id="890" name="未知用户227" initials="未" lastIdx="1" clrIdx="0"/>
  <p:cmAuthor id="892" name="未知用户299" initials="未" lastIdx="1" clrIdx="0"/>
  <p:cmAuthor id="893" name="10181267" initials="1" lastIdx="2" clrIdx="892"/>
  <p:cmAuthor id="895" name="10009993" initials="1" lastIdx="1" clrIdx="894"/>
  <p:cmAuthor id="896" name="10161768" initials="1" lastIdx="1" clrIdx="895"/>
  <p:cmAuthor id="897" name="10023731" initials="1" lastIdx="1" clrIdx="896"/>
  <p:cmAuthor id="898" name="許詩婕" initials="許" lastIdx="1" clrIdx="1"/>
  <p:cmAuthor id="899" name="jinpengcheng" initials="j" lastIdx="1" clrIdx="898"/>
  <p:cmAuthor id="900" name="minil" initials="m" lastIdx="4" clrIdx="589"/>
  <p:cmAuthor id="901" name="15106" initials="1" lastIdx="4" clrIdx="0"/>
  <p:cmAuthor id="903" name="赵 璐" initials="赵" lastIdx="4" clrIdx="0"/>
  <p:cmAuthor id="904" name="Zhu, Hawk" initials="Z" lastIdx="1" clrIdx="0"/>
  <p:cmAuthor id="407917806" name="lin" initials="l" lastIdx="1" clrIdx="889"/>
  <p:cmAuthor id="905" name="tanjp" initials="t" lastIdx="0" clrIdx="491"/>
  <p:cmAuthor id="906" name="YS" initials="Y" lastIdx="1" clrIdx="86"/>
  <p:cmAuthor id="907" name="q1521" initials="q" lastIdx="2" clrIdx="906"/>
  <p:cmAuthor id="287643681" name="殷格非" initials="殷" lastIdx="2" clrIdx="0"/>
  <p:cmAuthor id="908" name="10285279" initials="1" lastIdx="1" clrIdx="907"/>
  <p:cmAuthor id="1167942470" name="咘嘚咘嘚" initials="咘" lastIdx="1" clrIdx="376"/>
  <p:cmAuthor id="909" name="10036782" initials="1" lastIdx="3" clrIdx="908"/>
  <p:cmAuthor id="287643682" name="z r" initials="zr" lastIdx="5" clrIdx="12"/>
  <p:cmAuthor id="1167942471" name="WIN10" initials="W" lastIdx="1" clrIdx="1167942470"/>
  <p:cmAuthor id="910" name="Jdi" initials="J" lastIdx="0" clrIdx="0"/>
  <p:cmAuthor id="287643683" name="阿 凝" initials="阿" lastIdx="1" clrIdx="25"/>
  <p:cmAuthor id="1167942472" name="Q" initials="Q" lastIdx="1" clrIdx="1167942471"/>
  <p:cmAuthor id="911" name="未知用户337" initials="未" lastIdx="1" clrIdx="0"/>
  <p:cmAuthor id="387911767" name="张裴" initials="张" lastIdx="7" clrIdx="329"/>
  <p:cmAuthor id="287643684" name="自由 鱼" initials="自由" lastIdx="1" clrIdx="34"/>
  <p:cmAuthor id="287643685" name="罗志军" initials="Microsof" lastIdx="1" clrIdx="38"/>
  <p:cmAuthor id="912" name="未知用户239" initials="未" lastIdx="3" clrIdx="0"/>
  <p:cmAuthor id="287643686" name="YaoChunfen" initials="Y" lastIdx="1" clrIdx="39"/>
  <p:cmAuthor id="913" name="chenmh" initials="c" lastIdx="1" clrIdx="85"/>
  <p:cmAuthor id="287643687" name="cheng" initials="c" lastIdx="13" clrIdx="0"/>
  <p:cmAuthor id="914" name="CVTEr" initials="C" lastIdx="1" clrIdx="0"/>
  <p:cmAuthor id="287643688" name="方少_UbQfrimU" initials="authorId_442114952" lastIdx="0" clrIdx="0"/>
  <p:cmAuthor id="915" name="June C" initials="J" lastIdx="1" clrIdx="4"/>
  <p:cmAuthor id="287643689" name="叶盛_Q3A3IfEf" initials="authorId_506280334" lastIdx="0" clrIdx="0"/>
  <p:cmAuthor id="916" name="00270" initials="0" lastIdx="1" clrIdx="0"/>
  <p:cmAuthor id="287643690" name="Harley._bEJrUJ7r" initials="authorId_432156705" lastIdx="0" clrIdx="0"/>
  <p:cmAuthor id="917" name="IBM_USER" initials="I" lastIdx="4" clrIdx="1"/>
  <p:cmAuthor id="287643691" name="罗平_VB7vJb2E" initials="authorId_305049361" lastIdx="0" clrIdx="0"/>
  <p:cmAuthor id="918" name="aa" initials="a" lastIdx="10" clrIdx="9"/>
  <p:cmAuthor id="287643692" name="xixi_nUjqe22E" initials="authorId_359229261" lastIdx="0" clrIdx="0"/>
  <p:cmAuthor id="919" name="shinevin liu" initials="s" lastIdx="1" clrIdx="3"/>
  <p:cmAuthor id="287643693" name="安安_zm6nYnYZ" initials="authorId_347340296" lastIdx="0" clrIdx="0"/>
  <p:cmAuthor id="920" name="Davidpeng" initials="D" lastIdx="1" clrIdx="10"/>
  <p:cmAuthor id="1278491772" name="微信用户" initials="微" lastIdx="3" clrIdx="340"/>
  <p:cmAuthor id="921" name="dbc" initials="d" lastIdx="2" clrIdx="0"/>
  <p:cmAuthor id="287643694" name="nature_emInFJF7" initials="authorId_313163542" lastIdx="0" clrIdx="0"/>
  <p:cmAuthor id="287643695" name="杨思思_VNjyvY7j" initials="authorId_430925712" lastIdx="0" clrIdx="0"/>
  <p:cmAuthor id="922" name="吴军影" initials="吴" lastIdx="10" clrIdx="0"/>
  <p:cmAuthor id="287643696" name="I_u6feq6Zr" initials="authorId_300885863" lastIdx="0" clrIdx="0"/>
  <p:cmAuthor id="923" name="冯学沛" initials="冯" lastIdx="1" clrIdx="1"/>
  <p:cmAuthor id="924" name="杨 超" initials="杨" lastIdx="1" clrIdx="3"/>
  <p:cmAuthor id="925" name="董艺萱00344473" initials="董艺萱003444" lastIdx="11" clrIdx="924"/>
  <p:cmAuthor id="926" name="Rex" initials="R" lastIdx="0" clrIdx="0"/>
  <p:cmAuthor id="927" name="张晓燕(内蒙古巴彦淖尔)" initials="张" lastIdx="1" clrIdx="0"/>
  <p:cmAuthor id="928" name="10270505" initials="1" lastIdx="1" clrIdx="927"/>
  <p:cmAuthor id="929" name="10145512" initials="1" lastIdx="1" clrIdx="928"/>
  <p:cmAuthor id="930" name="liyanit02" initials="l" lastIdx="1" clrIdx="929"/>
  <p:cmAuthor id="931" name="00025099" initials="0" lastIdx="1" clrIdx="930"/>
  <p:cmAuthor id="47245819" name="群智集" initials="群" lastIdx="0" clrIdx="0"/>
  <p:cmAuthor id="932" name="10225041" initials="1" lastIdx="1" clrIdx="931"/>
  <p:cmAuthor id="47245820" name="郏 鹏" initials="郏" lastIdx="1" clrIdx="16"/>
  <p:cmAuthor id="933" name="00158845" initials="0" lastIdx="1" clrIdx="932"/>
  <p:cmAuthor id="47245821" name="郏鹏" initials="M" lastIdx="1" clrIdx="17"/>
  <p:cmAuthor id="934" name="00242950" initials="0" lastIdx="2" clrIdx="933"/>
  <p:cmAuthor id="47245822" name="黄 晓贤" initials="黄" lastIdx="2" clrIdx="32"/>
  <p:cmAuthor id="1414096819" name="鱼爱吃猫8" initials="鱼" lastIdx="1" clrIdx="905"/>
  <p:cmAuthor id="935" name="10201331" initials="1" lastIdx="1" clrIdx="934"/>
  <p:cmAuthor id="47245823" name="刘海娜|liuhaina" initials="W用" lastIdx="1" clrIdx="36"/>
  <p:cmAuthor id="47245824" name="goforever814" initials="g" lastIdx="1" clrIdx="34"/>
  <p:cmAuthor id="937" name="Evander Wan" initials="E" lastIdx="7" clrIdx="1"/>
  <p:cmAuthor id="938" name="10129659" initials="1" lastIdx="1" clrIdx="937"/>
  <p:cmAuthor id="579339640" name="半暖时光" initials="半" lastIdx="1" clrIdx="142"/>
  <p:cmAuthor id="940" name="10033218" initials="1" lastIdx="1" clrIdx="939"/>
  <p:cmAuthor id="942" name="10096786" initials="1" lastIdx="1" clrIdx="941"/>
  <p:cmAuthor id="943" name="bing" initials="b" lastIdx="2" clrIdx="0"/>
  <p:cmAuthor id="381437688" name="谢学斌" initials="谢" lastIdx="0" clrIdx="0"/>
  <p:cmAuthor id="944" name="hh" initials="h" lastIdx="1" clrIdx="0"/>
  <p:cmAuthor id="946" name="jinfanbo" initials="j" lastIdx="1" clrIdx="945"/>
  <p:cmAuthor id="948" name="Hope0187" initials="H" lastIdx="1" clrIdx="6"/>
  <p:cmAuthor id="949" name="daiyi06" initials="d" lastIdx="0" clrIdx="2"/>
  <p:cmAuthor id="951" name="James Conard" initials="J" lastIdx="3" clrIdx="0"/>
  <p:cmAuthor id="953" name="10078316" initials="1" lastIdx="1" clrIdx="952"/>
  <p:cmAuthor id="957" name="Cpic" initials="C" lastIdx="0" clrIdx="0"/>
  <p:cmAuthor id="960" name="刘 念" initials="刘" lastIdx="2" clrIdx="35"/>
  <p:cmAuthor id="961" name="Wangzhi gang" initials="W" lastIdx="1" clrIdx="0"/>
  <p:cmAuthor id="966" name="李柯然" initials="李" lastIdx="1" clrIdx="0"/>
  <p:cmAuthor id="967" name="LENOVO" initials="L" lastIdx="1" clrIdx="0"/>
  <p:cmAuthor id="969" name="王玉" initials="王" lastIdx="1" clrIdx="0"/>
  <p:cmAuthor id="970" name="Ming Zuo" initials="M" lastIdx="1" clrIdx="0"/>
  <p:cmAuthor id="342238991" name="刘付平" initials="刘" lastIdx="5015" clrIdx="0"/>
  <p:cmAuthor id="974" name="dreamsummit" initials="d" lastIdx="1" clrIdx="0"/>
  <p:cmAuthor id="975" name="张 博" initials="张" lastIdx="1" clrIdx="0"/>
  <p:cmAuthor id="1057508075" name="✨ Nicole " initials="✨" lastIdx="1" clrIdx="330"/>
  <p:cmAuthor id="976" name="LS" initials="L" lastIdx="1" clrIdx="0"/>
  <p:cmAuthor id="1057508076" name="李凤仪" initials="李" lastIdx="5" clrIdx="1057508075"/>
  <p:cmAuthor id="977" name="McGlasson, Louise" initials="M" lastIdx="6" clrIdx="0"/>
  <p:cmAuthor id="978" name="Morgan, Aaron" initials="M" lastIdx="3" clrIdx="1"/>
  <p:cmAuthor id="979" name="weige" initials="w" lastIdx="2" clrIdx="0"/>
  <p:cmAuthor id="981" name="李 俊琦" initials="李" lastIdx="1" clrIdx="0"/>
  <p:cmAuthor id="982" name="沈 鹤" initials="沈" lastIdx="1" clrIdx="5"/>
  <p:cmAuthor id="983" name="jilin" initials="j" lastIdx="20" clrIdx="0"/>
  <p:cmAuthor id="984" name="王保青-pah" initials="王" lastIdx="0" clrIdx="0"/>
  <p:cmAuthor id="900121273" name="wink" initials="w" lastIdx="1" clrIdx="702"/>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7" name="Maggie" initials="M" lastIdx="1" clrIdx="0"/>
  <p:cmAuthor id="1006" name="UOS" initials="U" lastIdx="1" clrIdx="1005"/>
  <p:cmAuthor id="512869365" name="`Mark." initials="`" lastIdx="8" clrIdx="1"/>
  <p:cmAuthor id="512869366" name="jh d" initials="jd" lastIdx="1" clrIdx="2"/>
  <p:cmAuthor id="1051" name="zhouqiongling" initials="z" lastIdx="1" clrIdx="1050"/>
  <p:cmAuthor id="441412215" name="tonghailan" initials="t" lastIdx="1126972" clrIdx="1"/>
  <p:cmAuthor id="1411827" name="黄晓平" initials="黄" lastIdx="0" clrIdx="0"/>
  <p:cmAuthor id="1411828" name="韩晓宇00207529" initials="韩晓宇00207529" lastIdx="1" clrIdx="38"/>
  <p:cmAuthor id="1411829" name="haha" initials="h" lastIdx="2" clrIdx="44"/>
  <p:cmAuthor id="708433798" name="jialuo" initials="j" lastIdx="0" clrIdx="0"/>
  <p:cmAuthor id="1411830" name="唐 赛" initials="唐" lastIdx="1" clrIdx="45"/>
  <p:cmAuthor id="708433799" name="haoxiaoxue" initials="h" lastIdx="6" clrIdx="708433798"/>
  <p:cmAuthor id="708433800" name="曼 王" initials="曼王" lastIdx="1" clrIdx="191251538"/>
  <p:cmAuthor id="146566726" name="高飞" initials="高" lastIdx="0" clrIdx="0"/>
  <p:cmAuthor id="708433801" name="刘晓富" initials="User" lastIdx="1" clrIdx="708433800"/>
  <p:cmAuthor id="146566727" name="xzb1" initials="x" lastIdx="1" clrIdx="1"/>
  <p:cmAuthor id="1442009752" name="WPS_1669175722" initials="W" lastIdx="1" clrIdx="299"/>
  <p:cmAuthor id="271596655" name="戴停" initials="戴" lastIdx="1" clrIdx="577"/>
  <p:cmAuthor id="634197509" name="yangsong" initials="y" lastIdx="1" clrIdx="876"/>
  <p:cmAuthor id="329128248" name="LBB" initials="L" lastIdx="1" clrIdx="665"/>
  <p:cmAuthor id="1446360944" name="任静" initials="任" lastIdx="2" clrIdx="919"/>
  <p:cmAuthor id="980107324" name="曹劲然" initials="曹" lastIdx="1" clrIdx="19"/>
  <p:cmAuthor id="1144" name="su" initials="s" lastIdx="1" clrIdx="1143"/>
  <p:cmAuthor id="1147" name="shan" initials="s" lastIdx="0" clrIdx="1146"/>
  <p:cmAuthor id="1148" name="Nada" initials="N" lastIdx="0" clrIdx="1147"/>
  <p:cmAuthor id="595510092" name="乐燕" initials="乐" lastIdx="1" clrIdx="647"/>
  <p:cmAuthor id="1149" name="鹿蜀" initials="鹿" lastIdx="0" clrIdx="1148"/>
  <p:cmAuthor id="664583236" name="sunqi" initials="s" lastIdx="3" clrIdx="643"/>
  <p:cmAuthor id="1150" name="程 瑜檬" initials="程" lastIdx="0" clrIdx="1149"/>
  <p:cmAuthor id="1151" name="liudehou" initials="l" lastIdx="0" clrIdx="1150"/>
  <p:cmAuthor id="1152" name="wangwei" initials="vv" lastIdx="0" clrIdx="1151"/>
  <p:cmAuthor id="1153" name="zhangxin" initials="z" lastIdx="0" clrIdx="1152"/>
  <p:cmAuthor id="1154" name="wei long" initials="wl" lastIdx="0" clrIdx="1153"/>
  <p:cmAuthor id="1155" name="xiaqianqian@hq.cmcc" initials="xiaqianqian@hq.cmcc" lastIdx="0" clrIdx="1154"/>
  <p:cmAuthor id="1156" name="smkhan" initials="s" lastIdx="0" clrIdx="1155"/>
  <p:cmAuthor id="1157" name="李超（IT）" initials="L" lastIdx="0" clrIdx="1156"/>
  <p:cmAuthor id="1158" name="朱磊" initials="朱" lastIdx="0" clrIdx="1157"/>
  <p:cmAuthor id="1159" name="CMCC" initials="C" lastIdx="0" clrIdx="1158"/>
  <p:cmAuthor id="1160" name="罗位国/应用平台研发部/软件开发中心/总行机关/ABC" initials="罗" lastIdx="0" clrIdx="1159"/>
  <p:cmAuthor id="1161" name="李岩（IT）" initials="李" lastIdx="0" clrIdx="1160"/>
  <p:cmAuthor id="1162" name="13686" initials="1" lastIdx="0" clrIdx="1161"/>
  <p:cmAuthor id="1163" name="周辉" initials="周" lastIdx="0" clrIdx="1162"/>
  <p:cmAuthor id="1164" name="Xinyue Li" initials="X" lastIdx="0" clrIdx="1163"/>
  <p:cmAuthor id="1165" name="郭雨婷" initials="郭" lastIdx="0" clrIdx="1164"/>
  <p:cmAuthor id="453232749" name="番茄^_^" initials="番" lastIdx="1" clrIdx="660"/>
  <p:cmAuthor id="1166" name="yanhexin" initials="y" lastIdx="0" clrIdx="1165"/>
  <p:cmAuthor id="1425050821" name="ccc" initials="c" lastIdx="1" clrIdx="596"/>
  <p:cmAuthor id="1167" name="Liu Jialin" initials="LJ" lastIdx="0" clrIdx="1166"/>
  <p:cmAuthor id="1168" name="宋瑞芳" initials="KS" lastIdx="0" clrIdx="1167"/>
  <p:cmAuthor id="1169" name="Administrator" initials="A" lastIdx="0" clrIdx="1168"/>
  <p:cmAuthor id="1170" name="甲骨文飞行家" initials="甲" lastIdx="0" clrIdx="1169"/>
  <p:cmAuthor id="1171" name="张 强" initials="张" lastIdx="0" clrIdx="1170"/>
  <p:cmAuthor id="1172" name="wyz" initials="w" lastIdx="0" clrIdx="1171"/>
  <p:cmAuthor id="1173" name="Lee" initials="L" lastIdx="0" clrIdx="1172"/>
  <p:cmAuthor id="1174" name="王丽（IT）" initials="王" lastIdx="0" clrIdx="1173"/>
  <p:cmAuthor id="1175" name="zzy" initials="zzy" lastIdx="0" clrIdx="1174"/>
  <p:cmAuthor id="1176" name="张馨玲" initials="张" lastIdx="0" clrIdx="1175"/>
  <p:cmAuthor id="1177" name="10056791" initials="ZTE" lastIdx="0" clrIdx="1176"/>
  <p:cmAuthor id="1178" name="李楠10047711" initials="李楠10047711" lastIdx="0" clrIdx="1177"/>
  <p:cmAuthor id="1179" name="10045953" initials="1" lastIdx="0" clrIdx="1178"/>
  <p:cmAuthor id="1180" name="Y Y" initials="YY" lastIdx="0" clrIdx="1179"/>
  <p:cmAuthor id="1181" name="HP" initials="H" lastIdx="0" clrIdx="1180"/>
  <p:cmAuthor id="1182" name="liuti" initials="l" lastIdx="0" clrIdx="1181"/>
  <p:cmAuthor id="1183" name="USER674487" initials="U" lastIdx="0" clrIdx="1182"/>
  <p:cmAuthor id="1184" name="X13" initials="X" lastIdx="0" clrIdx="1183"/>
  <p:cmAuthor id="1185" name="赵欣" initials="zx" lastIdx="0" clrIdx="1184"/>
  <p:cmAuthor id="1186" name="10206899" initials="1" lastIdx="0" clrIdx="1185"/>
  <p:cmAuthor id="1187" name="yaohuijuan " initials="c" lastIdx="0" clrIdx="1186"/>
  <p:cmAuthor id="1188" name="zhifubao" initials="z" lastIdx="0" clrIdx="1187"/>
  <p:cmAuthor id="1189" name="Microsoft Office 用户" initials="MO用 [8] [6]" lastIdx="0" clrIdx="1188"/>
  <p:cmAuthor id="1190" name="User" initials="U" lastIdx="0" clrIdx="1189"/>
  <p:cmAuthor id="1191" name="茹志强" initials="U" lastIdx="0" clrIdx="1190"/>
  <p:cmAuthor id="217358292" name="依依" initials="依" lastIdx="1" clrIdx="325"/>
  <p:cmAuthor id="1192" name="clj" initials="c" lastIdx="0" clrIdx="1191"/>
  <p:cmAuthor id="1193" name="尹瑶瑶" initials="尹" lastIdx="0" clrIdx="1192"/>
  <p:cmAuthor id="1194" name="张卓豫" initials="zzy" lastIdx="0" clrIdx="1193"/>
  <p:cmAuthor id="1195" name="admin7" initials="l" lastIdx="0" clrIdx="1194"/>
  <p:cmAuthor id="1196" name="cmsz" initials="c" lastIdx="0" clrIdx="1195"/>
  <p:cmAuthor id="1197" name="施旻" initials="施" lastIdx="0" clrIdx="1196"/>
  <p:cmAuthor id="1198" name="张天" initials="张" lastIdx="0" clrIdx="1197"/>
  <p:cmAuthor id="1199" name="zhangyuexin@hq.cmcc" initials="zhangyuexin@hq.cmcc" lastIdx="0" clrIdx="1198"/>
  <p:cmAuthor id="1200" name="黎丹" initials="黎" lastIdx="0" clrIdx="1199"/>
  <p:cmAuthor id="1201" name="Cmit" initials="C" lastIdx="0" clrIdx="1200"/>
  <p:cmAuthor id="1202" name="X1" initials="X" lastIdx="0" clrIdx="1201"/>
  <p:cmAuthor id="1203" name="LZ" initials="Y" lastIdx="0" clrIdx="1202"/>
  <p:cmAuthor id="1204" name="lunan" initials="l" lastIdx="0" clrIdx="1203"/>
  <p:cmAuthor id="1205" name="liyuting" initials="l" lastIdx="0" clrIdx="1204"/>
  <p:cmAuthor id="1206" name="gengxuan" initials="g" lastIdx="0" clrIdx="1205"/>
  <p:cmAuthor id="394525608" name="仇怿俊" initials="仇" lastIdx="0" clrIdx="0"/>
  <p:cmAuthor id="1207" name="闫硕" initials="闫" lastIdx="0" clrIdx="1206"/>
  <p:cmAuthor id="394525609" name="Xiaosu Wang" initials="XW" lastIdx="1" clrIdx="24"/>
  <p:cmAuthor id="1208" name="匿名用户" initials="匿" lastIdx="0" clrIdx="1207"/>
  <p:cmAuthor id="394525610" name="Li Pengling" initials="LP" lastIdx="1" clrIdx="30"/>
  <p:cmAuthor id="1209" name="Sky123.Org" initials="" lastIdx="0" clrIdx="1208"/>
  <p:cmAuthor id="394525611" name="Wenjing zhou" initials="Wz" lastIdx="1" clrIdx="46"/>
  <p:cmAuthor id="1210" name="陈驹洲" initials="A" lastIdx="0" clrIdx="1209"/>
  <p:cmAuthor id="739108036" name="张磊" initials="张" lastIdx="5" clrIdx="361"/>
  <p:cmAuthor id="394525612" name="goulei" initials="g" lastIdx="2" clrIdx="41"/>
  <p:cmAuthor id="1211" name="何 静" initials="何" lastIdx="0" clrIdx="1210"/>
  <p:cmAuthor id="394525613" name="Guojianhong (Alexander)" initials="G(" lastIdx="2" clrIdx="56"/>
  <p:cmAuthor id="1212" name="范作霖" initials="范" lastIdx="0" clrIdx="1211"/>
  <p:cmAuthor id="1213" name="/ 七安 /" initials="/" lastIdx="0" clrIdx="1212"/>
  <p:cmAuthor id="1214" name="尔尔" initials="尔" lastIdx="0" clrIdx="1213"/>
  <p:cmAuthor id="1215" name="陈聪" initials="陈" lastIdx="0" clrIdx="1214"/>
  <p:cmAuthor id="1216" name="严奕辰" initials="严" lastIdx="0" clrIdx="1215"/>
  <p:cmAuthor id="1217" name="郑汝鸿" initials="郑" lastIdx="0" clrIdx="1216"/>
  <p:cmAuthor id="1218" name="邢辰凤" initials="邢" lastIdx="0" clrIdx="1217"/>
  <p:cmAuthor id="1219" name="未知用户46" initials="未" lastIdx="0" clrIdx="1218"/>
  <p:cmAuthor id="1220" name="泡泡" initials="泡" lastIdx="0" clrIdx="1219"/>
  <p:cmAuthor id="1221" name="这个夏天" initials="这" lastIdx="0" clrIdx="1220"/>
  <p:cmAuthor id="1222" name="Lotso" initials="L" lastIdx="0" clrIdx="1221"/>
  <p:cmAuthor id="1223" name="慧" initials="慧" lastIdx="0" clrIdx="1222"/>
  <p:cmAuthor id="1224" name="咩咩so" initials="咩" lastIdx="0" clrIdx="1223"/>
  <p:cmAuthor id="1225" name="13910" initials="1" lastIdx="0" clrIdx="1224"/>
  <p:cmAuthor id="1226" name="王晓龙" initials="王" lastIdx="0" clrIdx="1225"/>
  <p:cmAuthor id="1227" name="xxx" initials="x" lastIdx="0" clrIdx="1226"/>
  <p:cmAuthor id="1228" name="Juliet猪立业" initials="J" lastIdx="0" clrIdx="1227"/>
  <p:cmAuthor id="1229" name="阿郭" initials="阿" lastIdx="0" clrIdx="1228"/>
  <p:cmAuthor id="1230" name="袁凌康" initials="袁" lastIdx="0" clrIdx="1229"/>
  <p:cmAuthor id="1231" name="zqsgs" initials="z" lastIdx="0" clrIdx="1230"/>
  <p:cmAuthor id="1232" name="刘晓杨" initials="刘" lastIdx="0" clrIdx="1231"/>
  <p:cmAuthor id="1521316394" name="182----2928" initials="1" lastIdx="1" clrIdx="663"/>
  <p:cmAuthor id="1233" name="10177653" initials="1" lastIdx="0" clrIdx="1232"/>
  <p:cmAuthor id="1234" name="一个不愿意透露姓名" initials="lasdf" lastIdx="0" clrIdx="1233"/>
  <p:cmAuthor id="1235" name="86188" initials="8" lastIdx="0" clrIdx="1234"/>
  <p:cmAuthor id="163458894" name="13488749431手机用户" initials="1" lastIdx="1" clrIdx="683"/>
  <p:cmAuthor id="1236" name="10205805" initials="1" lastIdx="0" clrIdx="1235"/>
  <p:cmAuthor id="1237" name="xueyan" initials="x" lastIdx="0" clrIdx="1236"/>
  <p:cmAuthor id="1238" name="ZF" initials="ZF" lastIdx="0" clrIdx="1237"/>
  <p:cmAuthor id="1239" name="KZY" initials="K" lastIdx="0" clrIdx="1238"/>
  <p:cmAuthor id="1240" name="WHF" initials="W" lastIdx="0" clrIdx="1239"/>
  <p:cmAuthor id="1241" name="huxiaolu" initials="h" lastIdx="0" clrIdx="1240"/>
  <p:cmAuthor id="1242" name="Chen Qiyang" initials="C" lastIdx="0" clrIdx="1241"/>
  <p:cmAuthor id="838166357" name="X13-Y" initials="X" lastIdx="1" clrIdx="893"/>
  <p:cmAuthor id="1243" name="mzj" initials="m" lastIdx="0" clrIdx="1242"/>
  <p:cmAuthor id="1244" name="thinkin" initials="t" lastIdx="0" clrIdx="1243"/>
  <p:cmAuthor id="1245" name="黄薇（IT）" initials="l" lastIdx="0" clrIdx="1244"/>
  <p:cmAuthor id="1246" name="yangjianhe1" initials="y" lastIdx="0" clrIdx="1245"/>
  <p:cmAuthor id="1247" name="tong" initials="t" lastIdx="0" clrIdx="1246"/>
  <p:cmAuthor id="457519743" name="梅杰" initials="梅" lastIdx="2" clrIdx="674"/>
  <p:cmAuthor id="1248" name="cpic" initials="c" lastIdx="0" clrIdx="1247"/>
  <p:cmAuthor id="1249" name="PC" initials="P" lastIdx="0" clrIdx="1248"/>
  <p:cmAuthor id="1250" name="Dizzy" initials="D" lastIdx="0" clrIdx="1249"/>
  <p:cmAuthor id="1251" name="huawei" initials="h" lastIdx="0" clrIdx="1250"/>
  <p:cmAuthor id="1252" name="Caoshiming" initials="C" lastIdx="0" clrIdx="1251"/>
  <p:cmAuthor id="1253" name="yezengwei" initials="y" lastIdx="0" clrIdx="1252"/>
  <p:cmAuthor id="1254" name="颓废中奋进" initials="颓" lastIdx="0" clrIdx="1253"/>
  <p:cmAuthor id="1255" name="孙璐璐" initials="孙" lastIdx="0" clrIdx="1254"/>
  <p:cmAuthor id="1256" name="1003776019@qq.com" initials="1" lastIdx="0" clrIdx="1255"/>
  <p:cmAuthor id="409564025" name="begin" initials="b" lastIdx="2" clrIdx="348"/>
  <p:cmAuthor id="1257" name="徐坡" initials="徐" lastIdx="0" clrIdx="1256"/>
  <p:cmAuthor id="1258" name="cici" initials="c" lastIdx="0" clrIdx="1257"/>
  <p:cmAuthor id="1259" name="86134" initials="8" lastIdx="0" clrIdx="1258"/>
  <p:cmAuthor id="1260" name="方绍波|fangshaobo" initials="方" lastIdx="0" clrIdx="1259"/>
  <p:cmAuthor id="1261" name="王 金谦" initials="王" lastIdx="0" clrIdx="1260"/>
  <p:cmAuthor id="1262" name="Mary Beattie" initials="M" lastIdx="0" clrIdx="1261"/>
  <p:cmAuthor id="1263" name="15090" initials="1" lastIdx="0" clrIdx="1262"/>
  <p:cmAuthor id="666509453" name="许愿池的~" initials="许" lastIdx="1" clrIdx="851"/>
  <p:cmAuthor id="1264" name="Andrea Michels" initials="A" lastIdx="0" clrIdx="1263"/>
  <p:cmAuthor id="1265" name="石晓利" initials="C" lastIdx="0" clrIdx="1264"/>
  <p:cmAuthor id="1266" name="admin" initials="a" lastIdx="0" clrIdx="1265"/>
  <p:cmAuthor id="1267" name="anni" initials="a" lastIdx="0" clrIdx="1266"/>
  <p:cmAuthor id="1268" name="ma yanru" initials="my" lastIdx="0" clrIdx="1267"/>
  <p:cmAuthor id="1269" name="songlinyan" initials="s" lastIdx="0" clrIdx="1268"/>
  <p:cmAuthor id="1270" name="Mark McGregor (HI)" initials="M" lastIdx="0" clrIdx="1269"/>
  <p:cmAuthor id="1271" name="zhouyangcheng" initials="z" lastIdx="0" clrIdx="1270"/>
  <p:cmAuthor id="1272" name="YUN Jiayue" initials="Y" lastIdx="0" clrIdx="1271"/>
  <p:cmAuthor id="1273" name="Louise Adamson (HI)" initials="L" lastIdx="0" clrIdx="1272"/>
  <p:cmAuthor id="1274" name="Yoda KK" initials="Y" lastIdx="0" clrIdx="1273"/>
  <p:cmAuthor id="1275" name="ZYM" initials="Z" lastIdx="0" clrIdx="1274"/>
  <p:cmAuthor id="1276" name="周君_MfIffYra" initials="authorId_375419134" lastIdx="0" clrIdx="1275"/>
  <p:cmAuthor id="1277" name="zhouyangfan" initials="z" lastIdx="0" clrIdx="1276"/>
  <p:cmAuthor id="1278" name="HNN" initials="H" lastIdx="0" clrIdx="1277"/>
  <p:cmAuthor id="1279" name="刘国强" initials="刘" lastIdx="0" clrIdx="1278"/>
  <p:cmAuthor id="1280" name="Melanie Smitt" initials="M" lastIdx="0" clrIdx="1279"/>
  <p:cmAuthor id="1281" name="miaott" initials="m" lastIdx="0" clrIdx="1280"/>
  <p:cmAuthor id="1282" name="未知的使用者194" initials="未" lastIdx="0" clrIdx="1281"/>
  <p:cmAuthor id="1283" name="xusha" initials="x" lastIdx="0" clrIdx="1282"/>
  <p:cmAuthor id="660620438" name="奇点" initials="奇" lastIdx="1" clrIdx="53"/>
  <p:cmAuthor id="1284" name="王源" initials="王" lastIdx="0" clrIdx="1283"/>
  <p:cmAuthor id="1285" name="未知用户220" initials="未" lastIdx="0" clrIdx="1284"/>
  <p:cmAuthor id="1286" name="李 东科" initials="李" lastIdx="0" clrIdx="1285"/>
  <p:cmAuthor id="1287" name="未知用户199" initials="未" lastIdx="0" clrIdx="1286"/>
  <p:cmAuthor id="1288" name="夜尽迟渊_UrQfrmQZ" initials="夜" lastIdx="0" clrIdx="1287"/>
  <p:cmAuthor id="1289" name="未知的使用者196" initials="未" lastIdx="0" clrIdx="1288"/>
  <p:cmAuthor id="1290" name="未知用户204" initials="未" lastIdx="0" clrIdx="1289"/>
  <p:cmAuthor id="1291" name="王 钰" initials="王" lastIdx="0" clrIdx="1290"/>
  <p:cmAuthor id="1292" name="罗 罗" initials="罗" lastIdx="0" clrIdx="1291"/>
  <p:cmAuthor id="1293" name="ShanQiu LH" initials="SL" lastIdx="0" clrIdx="1292"/>
  <p:cmAuthor id="1499042558" name="WPS_1686010660" initials="W" lastIdx="16" clrIdx="412"/>
  <p:cmAuthor id="1294" name="未知用户84" initials="未" lastIdx="0" clrIdx="1293"/>
  <p:cmAuthor id="1295" name="未知用户210" initials="未" lastIdx="0" clrIdx="1294"/>
  <p:cmAuthor id="1296" name="?定义" initials="?" lastIdx="0" clrIdx="1295"/>
  <p:cmAuthor id="1297" name="sxp" initials="s" lastIdx="0" clrIdx="1296"/>
  <p:cmAuthor id="1298" name="allan" initials="a" lastIdx="0" clrIdx="1297"/>
  <p:cmAuthor id="1299" name="alpha" initials="a" lastIdx="0" clrIdx="1298"/>
  <p:cmAuthor id="1300" name="Unknown User22" initials="U" lastIdx="0" clrIdx="1299"/>
  <p:cmAuthor id="1301" name="胡益铭" initials="胡" lastIdx="0" clrIdx="1300"/>
  <p:cmAuthor id="1302" name="Unknown User23" initials="U" lastIdx="0" clrIdx="1301"/>
  <p:cmAuthor id="1303" name="未知的使用者75" initials="未" lastIdx="0" clrIdx="1302"/>
  <p:cmAuthor id="1304" name="未知的使用者77" initials="未" lastIdx="0" clrIdx="1303"/>
  <p:cmAuthor id="1305" name="未知用户186" initials="未" lastIdx="0" clrIdx="1304"/>
  <p:cmAuthor id="1306" name="朱朱朱_EfIvmAF7" initials="朱" lastIdx="0" clrIdx="1305"/>
  <p:cmAuthor id="1307" name="wswsbo" initials="w" lastIdx="0" clrIdx="1306"/>
  <p:cmAuthor id="1308" name="未知的使用者102" initials="未" lastIdx="0" clrIdx="1307"/>
  <p:cmAuthor id="1309" name="仝德志" initials="仝" lastIdx="0" clrIdx="1308"/>
  <p:cmAuthor id="1310" name="13783587607" initials="1" lastIdx="0" clrIdx="1309"/>
  <p:cmAuthor id="1311" name="未知用户162" initials="未" lastIdx="0" clrIdx="1310"/>
  <p:cmAuthor id="1312" name="針對所選的門市進行小範圍實驗，捕捉驅動績效的關鍵影響因子" initials="針" lastIdx="0" clrIdx="1311"/>
  <p:cmAuthor id="1313" name="James" initials="J" lastIdx="0" clrIdx="1312"/>
  <p:cmAuthor id="1314" name="  " initials=" " lastIdx="0" clrIdx="1313"/>
  <p:cmAuthor id="1315" name="未知的使用者114" initials="未" lastIdx="0" clrIdx="1314"/>
  <p:cmAuthor id="1316" name="未知的使用者185" initials="未" lastIdx="0" clrIdx="1315"/>
  <p:cmAuthor id="1317" name="未知的使用者181" initials="未" lastIdx="0" clrIdx="1316"/>
  <p:cmAuthor id="258699233" name="永月墨夜" initials="永" lastIdx="1" clrIdx="790"/>
  <p:cmAuthor id="1318" name="未知的使用者141" initials="未" lastIdx="0" clrIdx="1317"/>
  <p:cmAuthor id="1319" name="文森特" initials="文" lastIdx="0" clrIdx="1318"/>
  <p:cmAuthor id="1320" name="王薇（政企）" initials="王" lastIdx="0" clrIdx="1319"/>
  <p:cmAuthor id="1321" name="未知用户165" initials="未" lastIdx="0" clrIdx="1320"/>
  <p:cmAuthor id="1322" name="未知用户202" initials="未" lastIdx="0" clrIdx="1321"/>
  <p:cmAuthor id="1323" name="未知用户205" initials="未" lastIdx="0" clrIdx="1322"/>
  <p:cmAuthor id="1324" name="Unknown User11" initials="U" lastIdx="0" clrIdx="1323"/>
  <p:cmAuthor id="1325" name="Unknown User112" initials="U" lastIdx="0" clrIdx="1324"/>
  <p:cmAuthor id="1326" name="Unknown User59" initials="U" lastIdx="0" clrIdx="1325"/>
  <p:cmAuthor id="1327" name="未知用户176" initials="未" lastIdx="0" clrIdx="1326"/>
  <p:cmAuthor id="1328" name="未知用户36" initials="未" lastIdx="0" clrIdx="1327"/>
  <p:cmAuthor id="1329" name="WANGZF" initials="W" lastIdx="0" clrIdx="1328"/>
  <p:cmAuthor id="1330" name="Ohayolanda" initials="O" lastIdx="0" clrIdx="1329"/>
  <p:cmAuthor id="1331" name="王 刚" initials="王" lastIdx="0" clrIdx="1330"/>
  <p:cmAuthor id="635724682" name="马宇媛" initials="马" lastIdx="2" clrIdx="478"/>
  <p:cmAuthor id="1332" name="张静_Anua7Nne" initials="authorId_935319063" lastIdx="0" clrIdx="1331"/>
  <p:cmAuthor id="1133312682" name="WPS_1602979380" initials="W" lastIdx="1" clrIdx="622"/>
  <p:cmAuthor id="1017522315" name="WPS_1592556096" initials="W" lastIdx="1" clrIdx="667"/>
  <p:cmAuthor id="1333" name="41586" initials="4" lastIdx="0" clrIdx="1332"/>
  <p:cmAuthor id="1334" name="琦琴 黄" initials="琦黄" lastIdx="0" clrIdx="1333"/>
  <p:cmAuthor id="1335" name="alexw" initials="a" lastIdx="0" clrIdx="1334"/>
  <p:cmAuthor id="1336" name="Well Li" initials="W" lastIdx="0" clrIdx="1335"/>
  <p:cmAuthor id="1337" name="任俊宣" initials="任" lastIdx="0" clrIdx="1336"/>
  <p:cmAuthor id="1338" name="渠沛" initials="渠" lastIdx="0" clrIdx="1337"/>
  <p:cmAuthor id="1339" name="未知用户189" initials="未" lastIdx="0" clrIdx="1338"/>
  <p:cmAuthor id="1340" name="cs" initials="x" lastIdx="0" clrIdx="1339"/>
  <p:cmAuthor id="1341" name="盖珂" initials="GK" lastIdx="0" clrIdx="1340"/>
  <p:cmAuthor id="429932411" name="妍" initials="妍" lastIdx="2" clrIdx="888"/>
  <p:cmAuthor id="1342" name="panghuihui" initials="p" lastIdx="0" clrIdx="1341"/>
  <p:cmAuthor id="1343" name="李强" initials="A" lastIdx="0" clrIdx="1342"/>
  <p:cmAuthor id="1344" name="许诺" initials="许" lastIdx="0" clrIdx="1343"/>
  <p:cmAuthor id="1345" name="未知用户325" initials="未" lastIdx="0" clrIdx="1344"/>
  <p:cmAuthor id="1346" name="shery" initials="s" lastIdx="0" clrIdx="1345"/>
  <p:cmAuthor id="1347" name="未知用户302" initials="未" lastIdx="0" clrIdx="1346"/>
  <p:cmAuthor id="1348" name="cgm" initials="c" lastIdx="0" clrIdx="1347"/>
  <p:cmAuthor id="1349" name="未知用户303" initials="未" lastIdx="0" clrIdx="1348"/>
  <p:cmAuthor id="1350" name="78234500@qq.com" initials="7" lastIdx="0" clrIdx="1349"/>
  <p:cmAuthor id="1351" name="panjm" initials="p" lastIdx="0" clrIdx="1350"/>
  <p:cmAuthor id="1352" name="果子" initials="果" lastIdx="0" clrIdx="1351"/>
  <p:cmAuthor id="1353" name="liuchunhua199110" initials="l" lastIdx="0" clrIdx="1352"/>
  <p:cmAuthor id="1354" name="未知用户256" initials="未" lastIdx="0" clrIdx="1353"/>
  <p:cmAuthor id="445693934" name="袖盈嘉茉" initials="袖" lastIdx="2" clrIdx="677"/>
  <p:cmAuthor id="1355" name="施静伟" initials="施" lastIdx="0" clrIdx="1354"/>
  <p:cmAuthor id="513633834" name="张鑫" initials="张" lastIdx="13" clrIdx="761"/>
  <p:cmAuthor id="1356" name="未知用户258" initials="未" lastIdx="0" clrIdx="1355"/>
  <p:cmAuthor id="1357" name="未知用户262" initials="未" lastIdx="0" clrIdx="1356"/>
  <p:cmAuthor id="1358" name="未知用户274" initials="未" lastIdx="0" clrIdx="1357"/>
  <p:cmAuthor id="1359" name="未知用户313" initials="未" lastIdx="0" clrIdx="1358"/>
  <p:cmAuthor id="1360" name="胡岱雯" initials="胡" lastIdx="0" clrIdx="1359"/>
  <p:cmAuthor id="1361" name="张 成亚" initials="张" lastIdx="0" clrIdx="1360"/>
  <p:cmAuthor id="1362" name="未知用户218" initials="未" lastIdx="0" clrIdx="1361"/>
  <p:cmAuthor id="1363" name="未知用户344" initials="未" lastIdx="0" clrIdx="1362"/>
  <p:cmAuthor id="1364" name="tianatan" initials="t" lastIdx="0" clrIdx="1363"/>
  <p:cmAuthor id="1365" name="未知用户345" initials="未" lastIdx="0" clrIdx="1364"/>
  <p:cmAuthor id="1366" name="未知用户347" initials="未" lastIdx="0" clrIdx="1365"/>
  <p:cmAuthor id="1593" name="think" initials="t" lastIdx="0" clrIdx="1592"/>
  <p:cmAuthor id="1594" name="sc_chenjia" initials="s" lastIdx="0" clrIdx="1593"/>
  <p:cmAuthor id="1595" name="happylifeccj happylifeccj" initials="hh" lastIdx="0" clrIdx="1594"/>
  <p:cmAuthor id="1596" name="liuyuanyuan1" initials="l" lastIdx="0" clrIdx="1595"/>
  <p:cmAuthor id="1597" name="12075" initials="1" lastIdx="0" clrIdx="1596"/>
  <p:cmAuthor id="1598" name="ce_wangyixian" initials="c" lastIdx="0" clrIdx="1597"/>
  <p:cmAuthor id="1599" name="姜伟光" initials="姜" lastIdx="0" clrIdx="1598"/>
  <p:cmAuthor id="1600" name="Mengqy61" initials="M" lastIdx="0" clrIdx="1599"/>
  <p:cmAuthor id="1601" name="00006891" initials="0" lastIdx="0" clrIdx="1600"/>
  <p:cmAuthor id="1602" name="yangl155" initials="y" lastIdx="0" clrIdx="1601"/>
  <p:cmAuthor id="1603" name="熊先奎10009191" initials="熊先奎10009191" lastIdx="0" clrIdx="1602"/>
  <p:cmAuthor id="1604" name="bokite" initials="b" lastIdx="0" clrIdx="1603"/>
  <p:cmAuthor id="1605" name="anima" initials="a" lastIdx="0" clrIdx="1604"/>
  <p:cmAuthor id="1606" name="刘蕾蕾" initials="刘" lastIdx="0" clrIdx="1605"/>
  <p:cmAuthor id="1607" name="yang li" initials="yl" lastIdx="0" clrIdx="1606"/>
  <p:cmAuthor id="1608" name="yumengfei@bj.cmcc" initials="yumengfei@bj.cmcc" lastIdx="0" clrIdx="1607"/>
  <p:cmAuthor id="1609" name="高欢" initials="高" lastIdx="0" clrIdx="1608"/>
  <p:cmAuthor id="1610" name="L Y" initials="LY" lastIdx="0" clrIdx="1609"/>
  <p:cmAuthor id="1611" name="王凯10177225" initials="王凯10177225" lastIdx="0" clrIdx="1610"/>
  <p:cmAuthor id="1612" name="wangyueran" initials="w" lastIdx="0" clrIdx="1611"/>
  <p:cmAuthor id="1613" name="周 宸宇" initials="周" lastIdx="0" clrIdx="1612"/>
  <p:cmAuthor id="1614" name="黄珂10009187" initials="黄珂10009187" lastIdx="0" clrIdx="1613"/>
  <p:cmAuthor id="1615" name="王明明" initials="王" lastIdx="0" clrIdx="1614"/>
  <p:cmAuthor id="1616" name="Kevin" initials="K" lastIdx="0" clrIdx="1615"/>
  <p:cmAuthor id="1617" name="caipeiyuan@sd.cmcc" initials="caipeiyuan" lastIdx="0" clrIdx="1616"/>
  <p:cmAuthor id="1618" name="番茄花园" initials="番" lastIdx="0" clrIdx="1617"/>
  <p:cmAuthor id="1619" name="张钰" initials="张" lastIdx="0" clrIdx="1618"/>
  <p:cmAuthor id="1620" name="朱悦龙" initials="朱" lastIdx="0" clrIdx="1619"/>
  <p:cmAuthor id="1621" name="郭 浩" initials="郭" lastIdx="0" clrIdx="1620"/>
  <p:cmAuthor id="1622" name="dell" initials="d" lastIdx="0" clrIdx="1621"/>
  <p:cmAuthor id="1623" name="宋海锐" initials="宋" lastIdx="0" clrIdx="1622"/>
  <p:cmAuthor id="1624" name="xiaver xiaver" initials="xx" lastIdx="0" clrIdx="1623"/>
  <p:cmAuthor id="1625" name="WPS_1689822718" initials="W" lastIdx="0" clrIdx="1624"/>
  <p:cmAuthor id="1626" name="wangzhuodong" initials="w" lastIdx="0" clrIdx="1625"/>
  <p:cmAuthor id="1627" name="zheng kedan" initials="zk" lastIdx="0" clrIdx="1626"/>
  <p:cmAuthor id="1628" name="李婧宜_YBferYVR" initials="authorId_1217247658" lastIdx="0" clrIdx="1627"/>
  <p:cmAuthor id="1629" name="DaiZhengYuan" initials="D" lastIdx="0" clrIdx="1628"/>
  <p:cmAuthor id="1630" name="Kristin" initials="K" lastIdx="0" clrIdx="1629"/>
  <p:cmAuthor id="1631" name="yangxiaohui (G)" initials="y(" lastIdx="0" clrIdx="1630"/>
  <p:cmAuthor id="1632" name="阮 德平" initials="阮" lastIdx="0" clrIdx="1631"/>
  <p:cmAuthor id="1633" name="S 风" initials="S风" lastIdx="0" clrIdx="1632"/>
  <p:cmAuthor id="1634" name="45383746@qq.com" initials="4" lastIdx="0" clrIdx="1633"/>
  <p:cmAuthor id="1635" name="王叶烨" initials="王" lastIdx="0" clrIdx="1634"/>
  <p:cmAuthor id="1636" name="cs_wuyue" initials="c" lastIdx="0" clrIdx="1635"/>
  <p:cmAuthor id="1637" name="hd_zhangyue@bj.cmcc" initials="hd_zhangyue@bj.cmcc" lastIdx="0" clrIdx="1636"/>
  <p:cmAuthor id="1638" name="浮浮浮云" initials="浮" lastIdx="0" clrIdx="1637"/>
  <p:cmAuthor id="1639" name="王林10186938" initials="王" lastIdx="0" clrIdx="1638"/>
  <p:cmAuthor id="1640" name="朱玉龙" initials="朱" lastIdx="0" clrIdx="1639"/>
  <p:cmAuthor id="1641" name="Yukun Zhang" initials="Y" lastIdx="0" clrIdx="1640"/>
  <p:cmAuthor id="1642" name="hjx" initials="h" lastIdx="0" clrIdx="1641"/>
  <p:cmAuthor id="1643" name="13810" initials="1" lastIdx="0" clrIdx="1642"/>
  <p:cmAuthor id="1644" name="liuyy" initials="l" lastIdx="0" clrIdx="1643"/>
  <p:cmAuthor id="1645" name="wrr" initials="w" lastIdx="0" clrIdx="1644"/>
  <p:cmAuthor id="1646" name="孙忆雯|sunyiwen" initials="孙" lastIdx="0" clrIdx="1645"/>
  <p:cmAuthor id="1647" name="wangziran" initials="w" lastIdx="0" clrIdx="1646"/>
  <p:cmAuthor id="1648" name="baimingxuan" initials="b" lastIdx="0" clrIdx="1647"/>
  <p:cmAuthor id="1649" name="A3416" initials="A" lastIdx="0" clrIdx="1648"/>
  <p:cmAuthor id="1650" name="WPS_1729045279" initials="W" lastIdx="0" clrIdx="1649"/>
  <p:cmAuthor id="1651" name="杜梦楠" initials="杜梦楠" lastIdx="0" clrIdx="1650"/>
  <p:cmAuthor id="1652" name="刘文举" initials="刘" lastIdx="0" clrIdx="1651"/>
  <p:cmAuthor id="1653" name="33505" initials="3" lastIdx="0" clrIdx="1652"/>
  <p:cmAuthor id="1654" name="mei shuo" initials="mei shuo" lastIdx="0" clrIdx="1653"/>
  <p:cmAuthor id="1655" name="George Clooney" initials="GC" lastIdx="0" clrIdx="1654"/>
  <p:cmAuthor id="1656" name="lvjun" initials="l" lastIdx="0" clrIdx="1655"/>
  <p:cmAuthor id="1657" name="Melody流星" initials="M" lastIdx="0" clrIdx="1656"/>
  <p:cmAuthor id="1658" name="未知用户123" initials="未" lastIdx="0" clrIdx="1657"/>
  <p:cmAuthor id="1659" name="caihui" initials="c" lastIdx="0" clrIdx="1658"/>
  <p:cmAuthor id="1660" name="Alex" initials="A" lastIdx="0" clrIdx="1659"/>
  <p:cmAuthor id="1661" name="山西公司计划部刘智" initials="u" lastIdx="0" clrIdx="1660"/>
  <p:cmAuthor id="1662" name="Janie" initials="J" lastIdx="0" clrIdx="1661"/>
  <p:cmAuthor id="1663" name="370369741@qq.com" initials="3" lastIdx="0" clrIdx="1662"/>
  <p:cmAuthor id="1664" name="along along" initials="aa" lastIdx="0" clrIdx="1663"/>
  <p:cmAuthor id="1665" name="Li Xinyi" initials="LX" lastIdx="0" clrIdx="1664"/>
  <p:cmAuthor id="1666" name="likaixi@bj.cmcc" initials="likaixi@bj.cmcc" lastIdx="0" clrIdx="1665"/>
  <p:cmAuthor id="1667" name="liang" initials="l" lastIdx="0" clrIdx="1666"/>
  <p:cmAuthor id="1668" name="xuerongx" initials="x" lastIdx="0" clrIdx="1667"/>
  <p:cmAuthor id="1669" name="huangyonghua" initials="h" lastIdx="0" clrIdx="1668"/>
  <p:cmAuthor id="1670" name="manman" initials="m" lastIdx="0" clrIdx="1669"/>
  <p:cmAuthor id="1671" name="GYD" initials="G" lastIdx="0" clrIdx="1670"/>
  <p:cmAuthor id="1672" name="李苏薇" initials="李" lastIdx="0" clrIdx="1671"/>
  <p:cmAuthor id="1673" name="燕" initials="燕" lastIdx="0" clrIdx="1672"/>
  <p:cmAuthor id="1674" name="李阳" initials="liyang37@ha.cmcc" lastIdx="0" clrIdx="1673"/>
  <p:cmAuthor id="1675" name="caorui" initials="c" lastIdx="0" clrIdx="1674"/>
  <p:cmAuthor id="1676" name="刘云湘" initials="刘" lastIdx="0" clrIdx="1675"/>
  <p:cmAuthor id="1677" name="汪勇" initials="汪" lastIdx="0" clrIdx="1676"/>
  <p:cmAuthor id="1678" name="maxinli@bj.cmcc" initials="maxinli@bj.cmcc" lastIdx="0" clrIdx="1677"/>
  <p:cmAuthor id="1679" name="K_Jank" initials="K" lastIdx="0" clrIdx="1678"/>
  <p:cmAuthor id="1680" name="wanghe@bj.cmcc" initials="wanghe@bj.cmcc" lastIdx="0" clrIdx="1679"/>
  <p:cmAuthor id="1681" name="All Hope Is Gone" initials="A" lastIdx="0" clrIdx="1680"/>
  <p:cmAuthor id="1682" name="454659240@qq.com" initials="4" lastIdx="0" clrIdx="1681"/>
  <p:cmAuthor id="1683" name="MC.C" initials="M" lastIdx="0" clrIdx="1682"/>
  <p:cmAuthor id="1684" name="张逸晨" initials="张" lastIdx="0" clrIdx="1683"/>
  <p:cmAuthor id="1685" name="张洁01-lhq" initials="张" lastIdx="0" clrIdx="1684"/>
  <p:cmAuthor id="1686" name="weiya" initials="w" lastIdx="0" clrIdx="1685"/>
  <p:cmAuthor id="1687" name="徐 正国" initials="徐" lastIdx="0" clrIdx="1686"/>
  <p:cmAuthor id="1688" name="qizhichao" initials="qizhichao" lastIdx="0" clrIdx="1687"/>
  <p:cmAuthor id="1689" name="A宗介" initials="A" lastIdx="0" clrIdx="1688"/>
  <p:cmAuthor id="1690" name="sunyujing" initials="s" lastIdx="0" clrIdx="1689"/>
  <p:cmAuthor id="1691" name="庄卫华" initials="庄" lastIdx="0" clrIdx="1690"/>
  <p:cmAuthor id="1692" name="dongwen" initials="d" lastIdx="0" clrIdx="1691"/>
  <p:cmAuthor id="1693" name="yang_yi" initials="y" lastIdx="0" clrIdx="1692"/>
  <p:cmAuthor id="1694" name="18811" initials="1" lastIdx="0" clrIdx="1693"/>
  <p:cmAuthor id="1695" name="杨 贺春" initials="杨" lastIdx="0" clrIdx="1694"/>
  <p:cmAuthor id="1696" name="wlj352" initials="w" lastIdx="0" clrIdx="1695"/>
  <p:cmAuthor id="1697" name="zilong.li" initials="z" lastIdx="0" clrIdx="1696"/>
  <p:cmAuthor id="1698" name="hauwei" initials="h" lastIdx="0" clrIdx="1697"/>
  <p:cmAuthor id="1699" name="zoupei" initials="z" lastIdx="0" clrIdx="1698"/>
  <p:cmAuthor id="1700" name="xq" initials="x" lastIdx="0" clrIdx="1699"/>
  <p:cmAuthor id="1701" name="yl" initials="y" lastIdx="0" clrIdx="1700"/>
  <p:cmAuthor id="1702" name="几点" initials="几" lastIdx="0" clrIdx="1701"/>
  <p:cmAuthor id="1703" name="王凯" initials="王" lastIdx="0" clrIdx="1702"/>
  <p:cmAuthor id="1704" name="10169602" initials="1" lastIdx="0" clrIdx="1703"/>
  <p:cmAuthor id="1705" name="LUO CHENG" initials="L" lastIdx="0" clrIdx="1704"/>
  <p:cmAuthor id="1706" name="shenyanning-001" initials="s" lastIdx="0" clrIdx="1705"/>
  <p:cmAuthor id="1707" name="庞亦龙" initials="庞亦龙" lastIdx="0" clrIdx="1706"/>
  <p:cmAuthor id="1708" name="Lihongxia Lihongxia" initials="LL" lastIdx="0" clrIdx="1707"/>
  <p:cmAuthor id="215" name="云峰 贾" initials="云" lastIdx="2" clrIdx="0"/>
  <p:cmAuthor id="393" name="罗丹_3uQfI32m" initials="罗" lastIdx="0" clrIdx="0"/>
  <p:cmAuthor id="465" name="橙子" initials="橙" lastIdx="2" clrIdx="1"/>
  <p:cmAuthor id="490" name="su pei" initials="s" lastIdx="1" clrIdx="5"/>
  <p:cmAuthor id="494" name="邢皓" initials="邢" lastIdx="1" clrIdx="0"/>
  <p:cmAuthor id="536" name="刘云轩" initials="刘" lastIdx="1" clrIdx="0"/>
  <p:cmAuthor id="1630558334" name="阿柴" initials="阿" lastIdx="1" clrIdx="3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DDFA"/>
    <a:srgbClr val="0070BF"/>
    <a:srgbClr val="FFFFFF"/>
    <a:srgbClr val="DEEBFE"/>
    <a:srgbClr val="BFBFBF"/>
    <a:srgbClr val="BFE5FF"/>
    <a:srgbClr val="F0F7FB"/>
    <a:srgbClr val="DAE3F5"/>
    <a:srgbClr val="A6A6A6"/>
    <a:srgbClr val="B6C7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0" autoAdjust="0"/>
    <p:restoredTop sz="95414" autoAdjust="0"/>
  </p:normalViewPr>
  <p:slideViewPr>
    <p:cSldViewPr snapToGrid="0" showGuides="1">
      <p:cViewPr varScale="1">
        <p:scale>
          <a:sx n="161" d="100"/>
          <a:sy n="161" d="100"/>
        </p:scale>
        <p:origin x="248" y="400"/>
      </p:cViewPr>
      <p:guideLst>
        <p:guide pos="7496"/>
        <p:guide orient="horz" pos="2002"/>
        <p:guide pos="1372"/>
        <p:guide orient="horz" pos="649"/>
        <p:guide orient="horz" pos="3443"/>
        <p:guide orient="horz" pos="1095"/>
        <p:guide pos="441"/>
        <p:guide orient="horz" pos="405"/>
      </p:guideLst>
    </p:cSldViewPr>
  </p:slideViewPr>
  <p:notesTextViewPr>
    <p:cViewPr>
      <p:scale>
        <a:sx n="133" d="100"/>
        <a:sy n="133"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8" Type="http://schemas.openxmlformats.org/officeDocument/2006/relationships/tags" Target="tags/tag244.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2943225" cy="496888"/>
          </a:xfrm>
          <a:prstGeom prst="rect">
            <a:avLst/>
          </a:prstGeom>
        </p:spPr>
        <p:txBody>
          <a:bodyPr vert="horz" lIns="91430" tIns="45716" rIns="91430" bIns="45716" rtlCol="0"/>
          <a:lstStyle>
            <a:lvl1pPr algn="l">
              <a:defRPr sz="1200"/>
            </a:lvl1pPr>
          </a:lstStyle>
          <a:p>
            <a:endParaRPr lang="zh-CN" altLang="en-US"/>
          </a:p>
        </p:txBody>
      </p:sp>
      <p:sp>
        <p:nvSpPr>
          <p:cNvPr id="3" name="日期占位符 2"/>
          <p:cNvSpPr>
            <a:spLocks noGrp="1"/>
          </p:cNvSpPr>
          <p:nvPr>
            <p:ph type="dt" sz="quarter" idx="1"/>
          </p:nvPr>
        </p:nvSpPr>
        <p:spPr>
          <a:xfrm>
            <a:off x="3848100" y="0"/>
            <a:ext cx="2943225" cy="496888"/>
          </a:xfrm>
          <a:prstGeom prst="rect">
            <a:avLst/>
          </a:prstGeom>
        </p:spPr>
        <p:txBody>
          <a:bodyPr vert="horz" lIns="91430" tIns="45716" rIns="91430" bIns="45716" rtlCol="0"/>
          <a:lstStyle>
            <a:lvl1pPr algn="r">
              <a:defRPr sz="1200"/>
            </a:lvl1pPr>
          </a:lstStyle>
          <a:p>
            <a:fld id="{E2288947-7DBE-486D-B717-453C55350157}" type="datetimeFigureOut">
              <a:rPr lang="zh-CN" altLang="en-US" smtClean="0"/>
            </a:fld>
            <a:endParaRPr lang="zh-CN" altLang="en-US"/>
          </a:p>
        </p:txBody>
      </p:sp>
      <p:sp>
        <p:nvSpPr>
          <p:cNvPr id="4" name="页脚占位符 3"/>
          <p:cNvSpPr>
            <a:spLocks noGrp="1"/>
          </p:cNvSpPr>
          <p:nvPr>
            <p:ph type="ftr" sz="quarter" idx="2"/>
          </p:nvPr>
        </p:nvSpPr>
        <p:spPr>
          <a:xfrm>
            <a:off x="1" y="9428164"/>
            <a:ext cx="2943225" cy="496887"/>
          </a:xfrm>
          <a:prstGeom prst="rect">
            <a:avLst/>
          </a:prstGeom>
        </p:spPr>
        <p:txBody>
          <a:bodyPr vert="horz" lIns="91430" tIns="45716" rIns="91430" bIns="45716"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8100" y="9428164"/>
            <a:ext cx="2943225" cy="496887"/>
          </a:xfrm>
          <a:prstGeom prst="rect">
            <a:avLst/>
          </a:prstGeom>
        </p:spPr>
        <p:txBody>
          <a:bodyPr vert="horz" lIns="91430" tIns="45716" rIns="91430" bIns="45716" rtlCol="0" anchor="b"/>
          <a:lstStyle>
            <a:lvl1pPr algn="r">
              <a:defRPr sz="1200"/>
            </a:lvl1pPr>
          </a:lstStyle>
          <a:p>
            <a:fld id="{33DF3C86-4A78-40DC-9D1D-FB8A3CD8655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0"/>
            <a:ext cx="2943595" cy="497976"/>
          </a:xfrm>
          <a:prstGeom prst="rect">
            <a:avLst/>
          </a:prstGeom>
        </p:spPr>
        <p:txBody>
          <a:bodyPr vert="horz" lIns="91393" tIns="45698" rIns="91393" bIns="45698" rtlCol="0"/>
          <a:lstStyle>
            <a:lvl1pPr algn="l">
              <a:defRPr sz="1200"/>
            </a:lvl1pPr>
          </a:lstStyle>
          <a:p>
            <a:endParaRPr lang="zh-CN" altLang="en-US"/>
          </a:p>
        </p:txBody>
      </p:sp>
      <p:sp>
        <p:nvSpPr>
          <p:cNvPr id="3" name="日期占位符 2"/>
          <p:cNvSpPr>
            <a:spLocks noGrp="1"/>
          </p:cNvSpPr>
          <p:nvPr>
            <p:ph type="dt" idx="1"/>
          </p:nvPr>
        </p:nvSpPr>
        <p:spPr>
          <a:xfrm>
            <a:off x="3847747" y="0"/>
            <a:ext cx="2943595" cy="497976"/>
          </a:xfrm>
          <a:prstGeom prst="rect">
            <a:avLst/>
          </a:prstGeom>
        </p:spPr>
        <p:txBody>
          <a:bodyPr vert="horz" lIns="91393" tIns="45698" rIns="91393" bIns="45698" rtlCol="0"/>
          <a:lstStyle>
            <a:lvl1pPr algn="r">
              <a:defRPr sz="1200"/>
            </a:lvl1pPr>
          </a:lstStyle>
          <a:p>
            <a:fld id="{ACC2A3E9-C55D-49C5-9C2D-1C776B49713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19100" y="1241425"/>
            <a:ext cx="5954713" cy="3349625"/>
          </a:xfrm>
          <a:prstGeom prst="rect">
            <a:avLst/>
          </a:prstGeom>
          <a:noFill/>
          <a:ln w="12700">
            <a:solidFill>
              <a:prstClr val="black"/>
            </a:solidFill>
          </a:ln>
        </p:spPr>
        <p:txBody>
          <a:bodyPr vert="horz" lIns="91393" tIns="45698" rIns="91393" bIns="45698" rtlCol="0" anchor="ctr"/>
          <a:lstStyle/>
          <a:p>
            <a:endParaRPr lang="zh-CN" altLang="en-US"/>
          </a:p>
        </p:txBody>
      </p:sp>
      <p:sp>
        <p:nvSpPr>
          <p:cNvPr id="5" name="备注占位符 4"/>
          <p:cNvSpPr>
            <a:spLocks noGrp="1"/>
          </p:cNvSpPr>
          <p:nvPr>
            <p:ph type="body" sz="quarter" idx="3"/>
          </p:nvPr>
        </p:nvSpPr>
        <p:spPr>
          <a:xfrm>
            <a:off x="679292" y="4776431"/>
            <a:ext cx="5434330" cy="3907989"/>
          </a:xfrm>
          <a:prstGeom prst="rect">
            <a:avLst/>
          </a:prstGeom>
        </p:spPr>
        <p:txBody>
          <a:bodyPr vert="horz" lIns="91393" tIns="45698" rIns="91393" bIns="45698"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2" y="9427077"/>
            <a:ext cx="2943595" cy="497975"/>
          </a:xfrm>
          <a:prstGeom prst="rect">
            <a:avLst/>
          </a:prstGeom>
        </p:spPr>
        <p:txBody>
          <a:bodyPr vert="horz" lIns="91393" tIns="45698" rIns="91393" bIns="45698"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7747" y="9427077"/>
            <a:ext cx="2943595" cy="497975"/>
          </a:xfrm>
          <a:prstGeom prst="rect">
            <a:avLst/>
          </a:prstGeom>
        </p:spPr>
        <p:txBody>
          <a:bodyPr vert="horz" lIns="91393" tIns="45698" rIns="91393" bIns="45698" rtlCol="0" anchor="b"/>
          <a:lstStyle>
            <a:lvl1pPr algn="r">
              <a:defRPr sz="1200"/>
            </a:lvl1pPr>
          </a:lstStyle>
          <a:p>
            <a:fld id="{7EB56644-5C9A-4E49-86F1-B9C70C47A35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defTabSz="457200">
              <a:defRPr/>
            </a:pPr>
            <a:fld id="{C3ED9B55-FA85-4F48-95B5-29DAAE83F6DA}" type="slidenum">
              <a:rPr lang="zh-CN" altLang="en-US">
                <a:solidFill>
                  <a:prstClr val="black"/>
                </a:solidFill>
              </a:rPr>
            </a:fld>
            <a:endParaRPr lang="zh-CN" altLang="en-US" dirty="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知识库数据汇聚</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当前的系统截图</a:t>
            </a:r>
            <a:r>
              <a:rPr lang="en-US" altLang="zh-CN" dirty="0"/>
              <a:t>，</a:t>
            </a:r>
            <a:r>
              <a:rPr lang="zh-CN" altLang="en-US" dirty="0"/>
              <a:t>讲一下入口有哪些</a:t>
            </a:r>
            <a:r>
              <a:rPr lang="en-US" altLang="zh-CN" dirty="0"/>
              <a:t>，</a:t>
            </a:r>
            <a:r>
              <a:rPr lang="zh-CN" altLang="en-US" dirty="0"/>
              <a:t>补充一下</a:t>
            </a:r>
            <a:r>
              <a:rPr lang="zh-CN" altLang="en-US" dirty="0"/>
              <a:t>功能介绍</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调度的材料后面</a:t>
            </a:r>
            <a:r>
              <a:rPr lang="zh-CN" altLang="en-US" dirty="0"/>
              <a:t>问问</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需求说明书</a:t>
            </a:r>
            <a:r>
              <a:rPr lang="zh-CN" altLang="en-US" dirty="0"/>
              <a:t>最后一个章节</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3ED9B55-FA85-4F48-95B5-29DAAE83F6DA}" type="slidenum">
              <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8.png"/><Relationship Id="rId4" Type="http://schemas.openxmlformats.org/officeDocument/2006/relationships/image" Target="../media/image7.png"/><Relationship Id="rId3" Type="http://schemas.microsoft.com/office/2007/relationships/hdphoto" Target="../media/image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image" Target="../media/image7.png"/><Relationship Id="rId4" Type="http://schemas.openxmlformats.org/officeDocument/2006/relationships/image" Target="../media/image8.png"/><Relationship Id="rId3" Type="http://schemas.microsoft.com/office/2007/relationships/hdphoto" Target="../media/image10.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7.png"/><Relationship Id="rId4" Type="http://schemas.openxmlformats.org/officeDocument/2006/relationships/image" Target="../media/image8.png"/><Relationship Id="rId3" Type="http://schemas.microsoft.com/office/2007/relationships/hdphoto" Target="../media/image12.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7.png"/><Relationship Id="rId4" Type="http://schemas.openxmlformats.org/officeDocument/2006/relationships/image" Target="../media/image8.png"/><Relationship Id="rId3" Type="http://schemas.microsoft.com/office/2007/relationships/hdphoto" Target="../media/image14.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7.png"/><Relationship Id="rId3" Type="http://schemas.microsoft.com/office/2007/relationships/hdphoto" Target="../media/image16.wdp"/><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image" Target="../media/image7.png"/><Relationship Id="rId4" Type="http://schemas.openxmlformats.org/officeDocument/2006/relationships/image" Target="../media/image8.png"/><Relationship Id="rId3" Type="http://schemas.microsoft.com/office/2007/relationships/hdphoto" Target="../media/image18.wdp"/><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image" Target="../media/image7.png"/><Relationship Id="rId4" Type="http://schemas.openxmlformats.org/officeDocument/2006/relationships/image" Target="../media/image8.png"/><Relationship Id="rId3" Type="http://schemas.microsoft.com/office/2007/relationships/hdphoto" Target="../media/image20.wdp"/><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image" Target="../media/image21.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1.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4.png"/><Relationship Id="rId3" Type="http://schemas.microsoft.com/office/2007/relationships/hdphoto" Target="../media/image23.wdp"/><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4" Type="http://schemas.openxmlformats.org/officeDocument/2006/relationships/image" Target="../media/image21.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5" Type="http://schemas.openxmlformats.org/officeDocument/2006/relationships/image" Target="../media/image8.png"/><Relationship Id="rId4" Type="http://schemas.openxmlformats.org/officeDocument/2006/relationships/image" Target="../media/image7.png"/><Relationship Id="rId3" Type="http://schemas.microsoft.com/office/2007/relationships/hdphoto" Target="../media/image16.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4" Type="http://schemas.openxmlformats.org/officeDocument/2006/relationships/image" Target="../media/image7.png"/><Relationship Id="rId3" Type="http://schemas.microsoft.com/office/2007/relationships/hdphoto" Target="../media/image16.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4" Type="http://schemas.openxmlformats.org/officeDocument/2006/relationships/image" Target="../media/image21.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213"/>
            <a:ext cx="12192000" cy="6858000"/>
          </a:xfrm>
          <a:prstGeom prst="rect">
            <a:avLst/>
          </a:prstGeom>
        </p:spPr>
      </p:pic>
      <p:sp>
        <p:nvSpPr>
          <p:cNvPr id="24" name="Title Placeholder 1"/>
          <p:cNvSpPr>
            <a:spLocks noGrp="1"/>
          </p:cNvSpPr>
          <p:nvPr>
            <p:ph type="title" hasCustomPrompt="1"/>
          </p:nvPr>
        </p:nvSpPr>
        <p:spPr>
          <a:xfrm>
            <a:off x="838200" y="2589215"/>
            <a:ext cx="10515600" cy="839786"/>
          </a:xfrm>
          <a:prstGeom prst="rect">
            <a:avLst/>
          </a:prstGeom>
        </p:spPr>
        <p:txBody>
          <a:bodyPr vert="horz" lIns="91440" tIns="45720" rIns="91440" bIns="45720" rtlCol="0" anchor="ctr">
            <a:normAutofit/>
          </a:bodyPr>
          <a:lstStyle>
            <a:lvl1pPr algn="ctr">
              <a:defRPr sz="40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sp>
        <p:nvSpPr>
          <p:cNvPr id="25" name="Text Placeholder 2"/>
          <p:cNvSpPr>
            <a:spLocks noGrp="1"/>
          </p:cNvSpPr>
          <p:nvPr>
            <p:ph type="body" idx="1" hasCustomPrompt="1"/>
          </p:nvPr>
        </p:nvSpPr>
        <p:spPr>
          <a:xfrm>
            <a:off x="3517108" y="4886327"/>
            <a:ext cx="5157787" cy="466725"/>
          </a:xfrm>
          <a:prstGeom prst="rect">
            <a:avLst/>
          </a:prstGeom>
        </p:spPr>
        <p:txBody>
          <a:bodyPr anchor="ctr">
            <a:normAutofit/>
          </a:bodyPr>
          <a:lstStyle>
            <a:lvl1pPr marL="0" indent="0" algn="ctr">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单击此处编辑日期</a:t>
            </a:r>
            <a:endParaRPr lang="zh-CN" altLang="en-US" dirty="0"/>
          </a:p>
        </p:txBody>
      </p:sp>
      <p:grpSp>
        <p:nvGrpSpPr>
          <p:cNvPr id="10" name="组合 9"/>
          <p:cNvGrpSpPr/>
          <p:nvPr userDrawn="1"/>
        </p:nvGrpSpPr>
        <p:grpSpPr>
          <a:xfrm>
            <a:off x="8809463" y="128913"/>
            <a:ext cx="3100266" cy="1067978"/>
            <a:chOff x="322377" y="128913"/>
            <a:chExt cx="3227035" cy="1067978"/>
          </a:xfrm>
        </p:grpSpPr>
        <p:pic>
          <p:nvPicPr>
            <p:cNvPr id="6" name="图片 5"/>
            <p:cNvPicPr>
              <a:picLocks noChangeAspect="1"/>
            </p:cNvPicPr>
            <p:nvPr userDrawn="1"/>
          </p:nvPicPr>
          <p:blipFill rotWithShape="1">
            <a:blip r:embed="rId4"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10" name="组合 9"/>
          <p:cNvGrpSpPr/>
          <p:nvPr userDrawn="1"/>
        </p:nvGrpSpPr>
        <p:grpSpPr>
          <a:xfrm>
            <a:off x="0" y="0"/>
            <a:ext cx="12192000" cy="6607788"/>
            <a:chOff x="0" y="0"/>
            <a:chExt cx="9144000" cy="6607788"/>
          </a:xfrm>
        </p:grpSpPr>
        <p:pic>
          <p:nvPicPr>
            <p:cNvPr id="8" name="图片 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r="23585"/>
            <a:stretch>
              <a:fillRect/>
            </a:stretch>
          </p:blipFill>
          <p:spPr>
            <a:xfrm>
              <a:off x="0" y="0"/>
              <a:ext cx="6688672" cy="6564808"/>
            </a:xfrm>
            <a:prstGeom prst="rect">
              <a:avLst/>
            </a:prstGeom>
          </p:spPr>
        </p:pic>
        <p:pic>
          <p:nvPicPr>
            <p:cNvPr id="14" name="图片 13"/>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l="17752" r="2147"/>
            <a:stretch>
              <a:fillRect/>
            </a:stretch>
          </p:blipFill>
          <p:spPr>
            <a:xfrm>
              <a:off x="2086881" y="0"/>
              <a:ext cx="7057119" cy="6607788"/>
            </a:xfrm>
            <a:prstGeom prst="rect">
              <a:avLst/>
            </a:prstGeom>
          </p:spPr>
        </p:pic>
      </p:grpSp>
      <p:sp>
        <p:nvSpPr>
          <p:cNvPr id="16" name="Text Placeholder 2"/>
          <p:cNvSpPr>
            <a:spLocks noGrp="1"/>
          </p:cNvSpPr>
          <p:nvPr>
            <p:ph type="body" idx="1" hasCustomPrompt="1"/>
          </p:nvPr>
        </p:nvSpPr>
        <p:spPr>
          <a:xfrm>
            <a:off x="2058839" y="1319842"/>
            <a:ext cx="8074325" cy="4557082"/>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20" name="Slide Number Placeholder 5"/>
          <p:cNvSpPr>
            <a:spLocks noGrp="1"/>
          </p:cNvSpPr>
          <p:nvPr>
            <p:ph type="sldNum" sz="quarter" idx="4"/>
          </p:nvPr>
        </p:nvSpPr>
        <p:spPr>
          <a:xfrm>
            <a:off x="9457265" y="6530533"/>
            <a:ext cx="2743200" cy="365125"/>
          </a:xfrm>
          <a:prstGeom prst="rect">
            <a:avLst/>
          </a:prstGeom>
        </p:spPr>
        <p:txBody>
          <a:bodyPr vert="horz" lIns="91440" tIns="45720" rIns="91440" bIns="45720" rtlCol="0" anchor="ctr"/>
          <a:lstStyle>
            <a:lvl1pPr algn="r">
              <a:defRPr sz="1200">
                <a:solidFill>
                  <a:schemeClr val="tx1"/>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pic>
        <p:nvPicPr>
          <p:cNvPr id="2" name="图片 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69190" y="41913"/>
            <a:ext cx="1906930" cy="1389056"/>
          </a:xfrm>
          <a:prstGeom prst="rect">
            <a:avLst/>
          </a:prstGeom>
        </p:spPr>
      </p:pic>
      <p:pic>
        <p:nvPicPr>
          <p:cNvPr id="3" name="图片 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68905" y="5872815"/>
            <a:ext cx="1437696" cy="808704"/>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l="22924" t="29923"/>
          <a:stretch>
            <a:fillRect/>
          </a:stretch>
        </p:blipFill>
        <p:spPr>
          <a:xfrm flipH="1">
            <a:off x="2" y="2052104"/>
            <a:ext cx="9397041" cy="4805896"/>
          </a:xfrm>
          <a:prstGeom prst="rect">
            <a:avLst/>
          </a:prstGeom>
        </p:spPr>
      </p:pic>
      <p:sp>
        <p:nvSpPr>
          <p:cNvPr id="21" name="Slide Number Placeholder 5"/>
          <p:cNvSpPr>
            <a:spLocks noGrp="1"/>
          </p:cNvSpPr>
          <p:nvPr>
            <p:ph type="sldNum" sz="quarter" idx="4"/>
          </p:nvPr>
        </p:nvSpPr>
        <p:spPr>
          <a:xfrm>
            <a:off x="9434689" y="6454332"/>
            <a:ext cx="2743200" cy="365125"/>
          </a:xfrm>
          <a:prstGeom prst="rect">
            <a:avLst/>
          </a:prstGeom>
        </p:spPr>
        <p:txBody>
          <a:bodyPr vert="horz" lIns="91440" tIns="45720" rIns="91440" bIns="45720" rtlCol="0" anchor="ctr"/>
          <a:lstStyle>
            <a:lvl1pPr algn="r">
              <a:defRPr sz="1200">
                <a:solidFill>
                  <a:schemeClr val="tx1"/>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sp>
        <p:nvSpPr>
          <p:cNvPr id="9"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10" name="Title Placeholder 1"/>
          <p:cNvSpPr>
            <a:spLocks noGrp="1"/>
          </p:cNvSpPr>
          <p:nvPr>
            <p:ph type="title" hasCustomPrompt="1"/>
          </p:nvPr>
        </p:nvSpPr>
        <p:spPr>
          <a:xfrm>
            <a:off x="914400" y="396345"/>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pic>
        <p:nvPicPr>
          <p:cNvPr id="4" name="图片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8905" y="5872815"/>
            <a:ext cx="1437696" cy="808704"/>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69190" y="41913"/>
            <a:ext cx="1906930" cy="1389056"/>
          </a:xfrm>
          <a:prstGeom prst="rect">
            <a:avLst/>
          </a:prstGeom>
        </p:spPr>
      </p:pic>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21" name="Slide Number Placeholder 5"/>
          <p:cNvSpPr>
            <a:spLocks noGrp="1"/>
          </p:cNvSpPr>
          <p:nvPr>
            <p:ph type="sldNum" sz="quarter" idx="4"/>
          </p:nvPr>
        </p:nvSpPr>
        <p:spPr>
          <a:xfrm>
            <a:off x="8610600" y="6242666"/>
            <a:ext cx="2743200" cy="365125"/>
          </a:xfrm>
          <a:prstGeom prst="rect">
            <a:avLst/>
          </a:prstGeom>
        </p:spPr>
        <p:txBody>
          <a:bodyPr vert="horz" lIns="91440" tIns="45720" rIns="91440" bIns="45720" rtlCol="0" anchor="ctr"/>
          <a:lstStyle>
            <a:lvl1pPr algn="r">
              <a:defRPr sz="1200">
                <a:solidFill>
                  <a:schemeClr val="tx1"/>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sp>
        <p:nvSpPr>
          <p:cNvPr id="7" name="Title Placeholder 1"/>
          <p:cNvSpPr>
            <a:spLocks noGrp="1"/>
          </p:cNvSpPr>
          <p:nvPr>
            <p:ph type="title" hasCustomPrompt="1"/>
          </p:nvPr>
        </p:nvSpPr>
        <p:spPr>
          <a:xfrm>
            <a:off x="914400" y="396345"/>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1397" y="5872815"/>
            <a:ext cx="1437696" cy="808704"/>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69190" y="41913"/>
            <a:ext cx="1906930" cy="1389056"/>
          </a:xfrm>
          <a:prstGeom prst="rect">
            <a:avLst/>
          </a:prstGeom>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Slide Number Placeholder 5"/>
          <p:cNvSpPr>
            <a:spLocks noGrp="1"/>
          </p:cNvSpPr>
          <p:nvPr>
            <p:ph type="sldNum" sz="quarter" idx="4"/>
          </p:nvPr>
        </p:nvSpPr>
        <p:spPr>
          <a:xfrm>
            <a:off x="8610600" y="6242666"/>
            <a:ext cx="2743200" cy="365125"/>
          </a:xfrm>
          <a:prstGeom prst="rect">
            <a:avLst/>
          </a:prstGeom>
        </p:spPr>
        <p:txBody>
          <a:bodyPr vert="horz" lIns="91440" tIns="45720" rIns="91440" bIns="45720" rtlCol="0" anchor="ctr"/>
          <a:lstStyle>
            <a:lvl1pPr algn="r">
              <a:defRPr sz="1200">
                <a:solidFill>
                  <a:schemeClr val="tx1"/>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pic>
        <p:nvPicPr>
          <p:cNvPr id="9" name="图片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8905" y="5872815"/>
            <a:ext cx="1437696" cy="808704"/>
          </a:xfrm>
          <a:prstGeom prst="rect">
            <a:avLst/>
          </a:prstGeom>
        </p:spPr>
      </p:pic>
      <p:sp>
        <p:nvSpPr>
          <p:cNvPr id="14"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15" name="Title Placeholder 1"/>
          <p:cNvSpPr>
            <a:spLocks noGrp="1"/>
          </p:cNvSpPr>
          <p:nvPr>
            <p:ph type="title" hasCustomPrompt="1"/>
          </p:nvPr>
        </p:nvSpPr>
        <p:spPr>
          <a:xfrm>
            <a:off x="914400" y="396345"/>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69190" y="41913"/>
            <a:ext cx="1906930" cy="1389056"/>
          </a:xfrm>
          <a:prstGeom prst="rect">
            <a:avLst/>
          </a:prstGeom>
        </p:spPr>
      </p:pic>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itle Placeholder 1"/>
          <p:cNvSpPr>
            <a:spLocks noGrp="1"/>
          </p:cNvSpPr>
          <p:nvPr>
            <p:ph type="title" hasCustomPrompt="1"/>
          </p:nvPr>
        </p:nvSpPr>
        <p:spPr>
          <a:xfrm>
            <a:off x="165205" y="76880"/>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sp>
        <p:nvSpPr>
          <p:cNvPr id="11" name="Slide Number Placeholder 5"/>
          <p:cNvSpPr>
            <a:spLocks noGrp="1"/>
          </p:cNvSpPr>
          <p:nvPr>
            <p:ph type="sldNum" sz="quarter" idx="4"/>
          </p:nvPr>
        </p:nvSpPr>
        <p:spPr>
          <a:xfrm>
            <a:off x="9502423" y="6538999"/>
            <a:ext cx="2743200" cy="365125"/>
          </a:xfrm>
          <a:prstGeom prst="rect">
            <a:avLst/>
          </a:prstGeom>
        </p:spPr>
        <p:txBody>
          <a:bodyPr vert="horz" lIns="91440" tIns="45720" rIns="91440" bIns="45720" rtlCol="0" anchor="ctr"/>
          <a:lstStyle>
            <a:lvl1pPr algn="r">
              <a:defRPr sz="1100" b="1">
                <a:solidFill>
                  <a:srgbClr val="8FC31F"/>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sp>
        <p:nvSpPr>
          <p:cNvPr id="18"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2" name="矩形 1"/>
          <p:cNvSpPr/>
          <p:nvPr userDrawn="1"/>
        </p:nvSpPr>
        <p:spPr>
          <a:xfrm>
            <a:off x="-76200" y="1273810"/>
            <a:ext cx="76200" cy="248285"/>
          </a:xfrm>
          <a:prstGeom prst="rect">
            <a:avLst/>
          </a:prstGeom>
          <a:solidFill>
            <a:srgbClr val="0B8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矩形 8"/>
          <p:cNvSpPr/>
          <p:nvPr userDrawn="1"/>
        </p:nvSpPr>
        <p:spPr>
          <a:xfrm>
            <a:off x="-76200" y="1696720"/>
            <a:ext cx="76200" cy="248285"/>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nvSpPr>
        <p:spPr>
          <a:xfrm>
            <a:off x="-76200" y="2119630"/>
            <a:ext cx="76200" cy="248285"/>
          </a:xfrm>
          <a:prstGeom prst="rect">
            <a:avLst/>
          </a:prstGeom>
          <a:solidFill>
            <a:srgbClr val="8FC3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userDrawn="1"/>
        </p:nvSpPr>
        <p:spPr>
          <a:xfrm>
            <a:off x="-76200" y="2541905"/>
            <a:ext cx="76200" cy="248285"/>
          </a:xfrm>
          <a:prstGeom prst="rect">
            <a:avLst/>
          </a:prstGeom>
          <a:solidFill>
            <a:srgbClr val="0098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76200" y="2964815"/>
            <a:ext cx="76200" cy="248285"/>
          </a:xfrm>
          <a:prstGeom prst="rect">
            <a:avLst/>
          </a:prstGeom>
          <a:solidFill>
            <a:srgbClr val="B4A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12" name="直接连接符 11"/>
          <p:cNvCxnSpPr/>
          <p:nvPr userDrawn="1"/>
        </p:nvCxnSpPr>
        <p:spPr>
          <a:xfrm>
            <a:off x="0" y="630673"/>
            <a:ext cx="12192000" cy="0"/>
          </a:xfrm>
          <a:prstGeom prst="line">
            <a:avLst/>
          </a:prstGeom>
          <a:ln w="38100">
            <a:gradFill flip="none" rotWithShape="1">
              <a:gsLst>
                <a:gs pos="70000">
                  <a:srgbClr val="91C8E9"/>
                </a:gs>
                <a:gs pos="0">
                  <a:schemeClr val="accent1">
                    <a:lumMod val="0"/>
                    <a:lumOff val="100000"/>
                  </a:schemeClr>
                </a:gs>
                <a:gs pos="100000">
                  <a:srgbClr val="0B85CF"/>
                </a:gs>
              </a:gsLst>
              <a:lin ang="10800000" scaled="0"/>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93831" y="-312056"/>
            <a:ext cx="1906930" cy="1389056"/>
          </a:xfrm>
          <a:prstGeom prst="rect">
            <a:avLst/>
          </a:prstGeom>
        </p:spPr>
      </p:pic>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图片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8960" y="5819140"/>
            <a:ext cx="1150620" cy="862965"/>
          </a:xfrm>
          <a:prstGeom prst="rect">
            <a:avLst/>
          </a:prstGeom>
        </p:spPr>
      </p:pic>
      <p:sp>
        <p:nvSpPr>
          <p:cNvPr id="10" name="Slide Number Placeholder 5"/>
          <p:cNvSpPr>
            <a:spLocks noGrp="1"/>
          </p:cNvSpPr>
          <p:nvPr>
            <p:ph type="sldNum" sz="quarter" idx="4"/>
          </p:nvPr>
        </p:nvSpPr>
        <p:spPr>
          <a:xfrm>
            <a:off x="8610600" y="6242666"/>
            <a:ext cx="2743200" cy="365125"/>
          </a:xfrm>
          <a:prstGeom prst="rect">
            <a:avLst/>
          </a:prstGeom>
        </p:spPr>
        <p:txBody>
          <a:bodyPr vert="horz" lIns="91440" tIns="45720" rIns="91440" bIns="45720" rtlCol="0" anchor="ctr"/>
          <a:lstStyle>
            <a:lvl1pPr algn="r">
              <a:defRPr sz="1200">
                <a:solidFill>
                  <a:schemeClr val="tx1"/>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sp>
        <p:nvSpPr>
          <p:cNvPr id="11"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12" name="Title Placeholder 1"/>
          <p:cNvSpPr>
            <a:spLocks noGrp="1"/>
          </p:cNvSpPr>
          <p:nvPr>
            <p:ph type="title" hasCustomPrompt="1"/>
          </p:nvPr>
        </p:nvSpPr>
        <p:spPr>
          <a:xfrm>
            <a:off x="914400" y="396345"/>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pic>
        <p:nvPicPr>
          <p:cNvPr id="9" name="图片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69190" y="41913"/>
            <a:ext cx="1906930" cy="1389056"/>
          </a:xfrm>
          <a:prstGeom prst="rect">
            <a:avLst/>
          </a:prstGeom>
        </p:spPr>
      </p:pic>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Slide Number Placeholder 5"/>
          <p:cNvSpPr>
            <a:spLocks noGrp="1"/>
          </p:cNvSpPr>
          <p:nvPr>
            <p:ph type="sldNum" sz="quarter" idx="4"/>
          </p:nvPr>
        </p:nvSpPr>
        <p:spPr>
          <a:xfrm>
            <a:off x="8610600" y="6242666"/>
            <a:ext cx="2743200" cy="365125"/>
          </a:xfrm>
          <a:prstGeom prst="rect">
            <a:avLst/>
          </a:prstGeom>
        </p:spPr>
        <p:txBody>
          <a:bodyPr vert="horz" lIns="91440" tIns="45720" rIns="91440" bIns="45720" rtlCol="0" anchor="ctr"/>
          <a:lstStyle>
            <a:lvl1pPr algn="r">
              <a:defRPr sz="1200">
                <a:solidFill>
                  <a:schemeClr val="tx1"/>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8905" y="5872815"/>
            <a:ext cx="1437696" cy="808704"/>
          </a:xfrm>
          <a:prstGeom prst="rect">
            <a:avLst/>
          </a:prstGeom>
        </p:spPr>
      </p:pic>
      <p:sp>
        <p:nvSpPr>
          <p:cNvPr id="16"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17" name="Title Placeholder 1"/>
          <p:cNvSpPr>
            <a:spLocks noGrp="1"/>
          </p:cNvSpPr>
          <p:nvPr>
            <p:ph type="title" hasCustomPrompt="1"/>
          </p:nvPr>
        </p:nvSpPr>
        <p:spPr>
          <a:xfrm>
            <a:off x="914400" y="396345"/>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69190" y="41913"/>
            <a:ext cx="1906930" cy="1389056"/>
          </a:xfrm>
          <a:prstGeom prst="rect">
            <a:avLst/>
          </a:prstGeom>
        </p:spPr>
      </p:pic>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213"/>
            <a:ext cx="12192000" cy="6858000"/>
          </a:xfrm>
          <a:prstGeom prst="rect">
            <a:avLst/>
          </a:prstGeom>
        </p:spPr>
      </p:pic>
      <p:sp>
        <p:nvSpPr>
          <p:cNvPr id="24" name="Title Placeholder 1"/>
          <p:cNvSpPr>
            <a:spLocks noGrp="1"/>
          </p:cNvSpPr>
          <p:nvPr>
            <p:ph type="title" hasCustomPrompt="1"/>
          </p:nvPr>
        </p:nvSpPr>
        <p:spPr>
          <a:xfrm>
            <a:off x="3951824" y="2655165"/>
            <a:ext cx="4288353" cy="707886"/>
          </a:xfrm>
          <a:prstGeom prst="rect">
            <a:avLst/>
          </a:prstGeom>
        </p:spPr>
        <p:txBody>
          <a:bodyPr vert="horz" wrap="none" lIns="91440" tIns="45720" rIns="91440" bIns="45720" rtlCol="0" anchor="ctr">
            <a:spAutoFit/>
          </a:bodyPr>
          <a:lstStyle>
            <a:lvl1pPr algn="ctr">
              <a:lnSpc>
                <a:spcPct val="100000"/>
              </a:lnSpc>
              <a:defRPr sz="4000" b="1">
                <a:solidFill>
                  <a:srgbClr val="0B85CF"/>
                </a:solidFill>
                <a:latin typeface="微软雅黑" panose="020B0503020204020204" charset="-122"/>
                <a:ea typeface="微软雅黑" panose="020B0503020204020204" charset="-122"/>
              </a:defRPr>
            </a:lvl1pPr>
          </a:lstStyle>
          <a:p>
            <a:r>
              <a:rPr lang="zh-CN" altLang="en-US" dirty="0"/>
              <a:t>单击此处编辑标题</a:t>
            </a:r>
            <a:endParaRPr lang="en-US" dirty="0"/>
          </a:p>
        </p:txBody>
      </p:sp>
      <p:sp>
        <p:nvSpPr>
          <p:cNvPr id="25" name="Text Placeholder 2"/>
          <p:cNvSpPr>
            <a:spLocks noGrp="1"/>
          </p:cNvSpPr>
          <p:nvPr>
            <p:ph type="body" idx="1" hasCustomPrompt="1"/>
          </p:nvPr>
        </p:nvSpPr>
        <p:spPr>
          <a:xfrm>
            <a:off x="5080338" y="4935021"/>
            <a:ext cx="2031325" cy="369332"/>
          </a:xfrm>
          <a:prstGeom prst="rect">
            <a:avLst/>
          </a:prstGeom>
        </p:spPr>
        <p:txBody>
          <a:bodyPr wrap="none" anchor="ctr">
            <a:spAutoFit/>
          </a:bodyPr>
          <a:lstStyle>
            <a:lvl1pPr marL="0" indent="0" algn="ctr">
              <a:lnSpc>
                <a:spcPct val="100000"/>
              </a:lnSpc>
              <a:buNone/>
              <a:defRPr sz="1800" b="0">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单击此处编辑日期</a:t>
            </a:r>
            <a:endParaRPr lang="zh-CN" altLang="en-US" dirty="0"/>
          </a:p>
        </p:txBody>
      </p:sp>
      <p:grpSp>
        <p:nvGrpSpPr>
          <p:cNvPr id="10" name="组合 9"/>
          <p:cNvGrpSpPr/>
          <p:nvPr userDrawn="1"/>
        </p:nvGrpSpPr>
        <p:grpSpPr>
          <a:xfrm>
            <a:off x="8981440" y="0"/>
            <a:ext cx="3210560" cy="1068070"/>
            <a:chOff x="322377" y="128913"/>
            <a:chExt cx="3227035" cy="1067978"/>
          </a:xfrm>
        </p:grpSpPr>
        <p:pic>
          <p:nvPicPr>
            <p:cNvPr id="6" name="图片 5"/>
            <p:cNvPicPr>
              <a:picLocks noChangeAspect="1"/>
            </p:cNvPicPr>
            <p:nvPr userDrawn="1"/>
          </p:nvPicPr>
          <p:blipFill rotWithShape="1">
            <a:blip r:embed="rId4"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884296" y="1797811"/>
            <a:ext cx="6423406" cy="609600"/>
          </a:xfrm>
        </p:spPr>
        <p:txBody>
          <a:bodyPr lIns="0" tIns="0" rIns="0" bIns="0"/>
          <a:lstStyle>
            <a:lvl1pPr>
              <a:defRPr sz="4000" b="1" i="0">
                <a:solidFill>
                  <a:srgbClr val="1689D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047699" y="3122041"/>
            <a:ext cx="10096601" cy="1652904"/>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11912092" y="6587596"/>
            <a:ext cx="209550" cy="184150"/>
          </a:xfrm>
        </p:spPr>
        <p:txBody>
          <a:bodyPr lIns="0" tIns="0" rIns="0" bIns="0"/>
          <a:lstStyle>
            <a:lvl1pPr>
              <a:defRPr sz="1100" b="1" i="1">
                <a:solidFill>
                  <a:srgbClr val="8FC31F"/>
                </a:solidFill>
                <a:latin typeface="方正黑体简体" panose="02000000000000000000" pitchFamily="2" charset="-122"/>
                <a:cs typeface="方正黑体简体" panose="02000000000000000000" pitchFamily="2" charset="-122"/>
              </a:defRPr>
            </a:lvl1pPr>
          </a:lstStyle>
          <a:p>
            <a:pPr marL="25400">
              <a:lnSpc>
                <a:spcPts val="1310"/>
              </a:lnSpc>
            </a:pPr>
            <a:fld id="{81D60167-4931-47E6-BA6A-407CBD079E47}" type="slidenum">
              <a:rPr i="0" spc="-5" dirty="0">
                <a:latin typeface="方正黑体简体" panose="02000000000000000000" pitchFamily="2" charset="-122"/>
                <a:cs typeface="方正黑体简体" panose="02000000000000000000" pitchFamily="2" charset="-122"/>
              </a:rPr>
            </a:fld>
            <a:endParaRPr i="0" spc="-5" dirty="0">
              <a:latin typeface="方正黑体简体" panose="02000000000000000000" pitchFamily="2" charset="-122"/>
              <a:cs typeface="方正黑体简体" panose="02000000000000000000" pitchFamily="2"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stretch>
            <a:fillRect/>
          </a:stretch>
        </p:blipFill>
        <p:spPr>
          <a:xfrm>
            <a:off x="0" y="214"/>
            <a:ext cx="12192000" cy="6858000"/>
          </a:xfrm>
          <a:prstGeom prst="rect">
            <a:avLst/>
          </a:prstGeom>
        </p:spPr>
      </p:pic>
      <p:sp>
        <p:nvSpPr>
          <p:cNvPr id="24" name="Title Placeholder 1"/>
          <p:cNvSpPr>
            <a:spLocks noGrp="1"/>
          </p:cNvSpPr>
          <p:nvPr>
            <p:ph type="title" hasCustomPrompt="1"/>
          </p:nvPr>
        </p:nvSpPr>
        <p:spPr>
          <a:xfrm>
            <a:off x="838200" y="1997544"/>
            <a:ext cx="10515600" cy="839786"/>
          </a:xfrm>
          <a:prstGeom prst="rect">
            <a:avLst/>
          </a:prstGeom>
        </p:spPr>
        <p:txBody>
          <a:bodyPr vert="horz" lIns="91440" tIns="45720" rIns="91440" bIns="45720" rtlCol="0" anchor="ctr">
            <a:normAutofit/>
          </a:bodyPr>
          <a:lstStyle>
            <a:lvl1pPr algn="ctr">
              <a:defRPr sz="4400" b="1">
                <a:solidFill>
                  <a:srgbClr val="0B85CF"/>
                </a:solidFill>
                <a:latin typeface="微软雅黑" panose="020B0503020204020204" charset="-122"/>
                <a:ea typeface="微软雅黑" panose="020B0503020204020204" charset="-122"/>
              </a:defRPr>
            </a:lvl1pPr>
          </a:lstStyle>
          <a:p>
            <a:r>
              <a:rPr lang="en-US" dirty="0" err="1"/>
              <a:t>单击此处输入正标题</a:t>
            </a:r>
            <a:endParaRPr lang="en-US" dirty="0"/>
          </a:p>
        </p:txBody>
      </p:sp>
      <p:grpSp>
        <p:nvGrpSpPr>
          <p:cNvPr id="2" name="组合 1"/>
          <p:cNvGrpSpPr/>
          <p:nvPr userDrawn="1"/>
        </p:nvGrpSpPr>
        <p:grpSpPr>
          <a:xfrm>
            <a:off x="8929156" y="40648"/>
            <a:ext cx="3227035" cy="1067978"/>
            <a:chOff x="322377" y="128913"/>
            <a:chExt cx="3227035" cy="1067978"/>
          </a:xfrm>
        </p:grpSpPr>
        <p:pic>
          <p:nvPicPr>
            <p:cNvPr id="3" name="图片 2"/>
            <p:cNvPicPr>
              <a:picLocks noChangeAspect="1"/>
            </p:cNvPicPr>
            <p:nvPr userDrawn="1"/>
          </p:nvPicPr>
          <p:blipFill rotWithShape="1">
            <a:blip r:embed="rId3" cstate="print"/>
            <a:srcRect t="22265" b="22265"/>
            <a:stretch>
              <a:fillRect/>
            </a:stretch>
          </p:blipFill>
          <p:spPr>
            <a:xfrm>
              <a:off x="322377" y="278431"/>
              <a:ext cx="2207678" cy="918460"/>
            </a:xfrm>
            <a:prstGeom prst="rect">
              <a:avLst/>
            </a:prstGeom>
          </p:spPr>
        </p:pic>
        <p:pic>
          <p:nvPicPr>
            <p:cNvPr id="4" name="图片 3"/>
            <p:cNvPicPr>
              <a:picLocks noChangeAspect="1"/>
            </p:cNvPicPr>
            <p:nvPr userDrawn="1"/>
          </p:nvPicPr>
          <p:blipFill>
            <a:blip r:embed="rId4" cstate="print"/>
            <a:stretch>
              <a:fillRect/>
            </a:stretch>
          </p:blipFill>
          <p:spPr>
            <a:xfrm>
              <a:off x="2264108" y="128913"/>
              <a:ext cx="1285304" cy="963978"/>
            </a:xfrm>
            <a:prstGeom prst="rect">
              <a:avLst/>
            </a:prstGeom>
          </p:spPr>
        </p:pic>
      </p:grpSp>
      <p:sp>
        <p:nvSpPr>
          <p:cNvPr id="18" name="文本占位符 17"/>
          <p:cNvSpPr>
            <a:spLocks noGrp="1"/>
          </p:cNvSpPr>
          <p:nvPr>
            <p:ph type="body" sz="quarter" idx="10" hasCustomPrompt="1"/>
          </p:nvPr>
        </p:nvSpPr>
        <p:spPr>
          <a:xfrm>
            <a:off x="838200" y="2952362"/>
            <a:ext cx="10515600" cy="877888"/>
          </a:xfrm>
          <a:prstGeom prst="rect">
            <a:avLst/>
          </a:prstGeom>
        </p:spPr>
        <p:txBody>
          <a:bodyPr anchor="ctr">
            <a:noAutofit/>
          </a:bodyPr>
          <a:lstStyle>
            <a:lvl1pPr marL="0" indent="0" algn="ctr">
              <a:buNone/>
              <a:defRPr sz="3600">
                <a:solidFill>
                  <a:schemeClr val="accent2"/>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单击此处输入副标题</a:t>
            </a:r>
            <a:endParaRPr kumimoji="1" lang="zh-CN" altLang="en-US" dirty="0"/>
          </a:p>
        </p:txBody>
      </p:sp>
      <p:sp>
        <p:nvSpPr>
          <p:cNvPr id="21" name="文本占位符 17"/>
          <p:cNvSpPr>
            <a:spLocks noGrp="1"/>
          </p:cNvSpPr>
          <p:nvPr>
            <p:ph type="body" sz="quarter" idx="11" hasCustomPrompt="1"/>
          </p:nvPr>
        </p:nvSpPr>
        <p:spPr>
          <a:xfrm>
            <a:off x="838200" y="4267200"/>
            <a:ext cx="10515600" cy="558130"/>
          </a:xfrm>
          <a:prstGeom prst="rect">
            <a:avLst/>
          </a:prstGeom>
        </p:spPr>
        <p:txBody>
          <a:bodyPr anchor="ctr">
            <a:noAutofit/>
          </a:bodyPr>
          <a:lstStyle>
            <a:lvl1pPr marL="0" indent="0" algn="ctr">
              <a:buNone/>
              <a:defRPr sz="2000">
                <a:solidFill>
                  <a:schemeClr val="tx1"/>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单击此处输入汇报部门 汇报人</a:t>
            </a:r>
            <a:endParaRPr kumimoji="1" lang="zh-CN" altLang="en-US" dirty="0"/>
          </a:p>
        </p:txBody>
      </p:sp>
      <p:sp>
        <p:nvSpPr>
          <p:cNvPr id="22" name="文本占位符 17"/>
          <p:cNvSpPr>
            <a:spLocks noGrp="1"/>
          </p:cNvSpPr>
          <p:nvPr>
            <p:ph type="body" sz="quarter" idx="12" hasCustomPrompt="1"/>
          </p:nvPr>
        </p:nvSpPr>
        <p:spPr>
          <a:xfrm>
            <a:off x="838200" y="4930589"/>
            <a:ext cx="10515600" cy="394447"/>
          </a:xfrm>
          <a:prstGeom prst="rect">
            <a:avLst/>
          </a:prstGeom>
        </p:spPr>
        <p:txBody>
          <a:bodyPr anchor="ctr">
            <a:noAutofit/>
          </a:bodyPr>
          <a:lstStyle>
            <a:lvl1pPr marL="0" indent="0" algn="ctr">
              <a:buNone/>
              <a:defRPr sz="1600">
                <a:solidFill>
                  <a:schemeClr val="accent3"/>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单击此处输入汇报日期：</a:t>
            </a:r>
            <a:r>
              <a:rPr kumimoji="1" lang="en-US" altLang="zh-CN" dirty="0"/>
              <a:t>YYYY-MM-DD</a:t>
            </a:r>
            <a:endParaRPr kumimoji="1" lang="zh-CN" altLang="en-US" dirty="0"/>
          </a:p>
        </p:txBody>
      </p:sp>
      <p:sp>
        <p:nvSpPr>
          <p:cNvPr id="23" name="文本框 2"/>
          <p:cNvSpPr txBox="1">
            <a:spLocks noChangeArrowheads="1"/>
          </p:cNvSpPr>
          <p:nvPr userDrawn="1"/>
        </p:nvSpPr>
        <p:spPr bwMode="auto">
          <a:xfrm>
            <a:off x="319295" y="255735"/>
            <a:ext cx="1857396" cy="523220"/>
          </a:xfrm>
          <a:prstGeom prst="rect">
            <a:avLst/>
          </a:prstGeom>
          <a:noFill/>
          <a:ln w="9525">
            <a:solidFill>
              <a:schemeClr val="accent5"/>
            </a:solidFill>
            <a:miter lim="800000"/>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spAutoFit/>
          </a:bodyPr>
          <a:lstStyle/>
          <a:p>
            <a:pPr algn="ctr">
              <a:spcAft>
                <a:spcPts val="0"/>
              </a:spcAft>
            </a:pPr>
            <a:r>
              <a:rPr lang="zh-CN" altLang="en-US" sz="2800" b="0" i="0" kern="120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rPr>
              <a:t>核心商密</a:t>
            </a:r>
            <a:endParaRPr lang="zh-CN" altLang="en-US" sz="1800" b="0" i="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标题_内容">
    <p:spTree>
      <p:nvGrpSpPr>
        <p:cNvPr id="1" name=""/>
        <p:cNvGrpSpPr/>
        <p:nvPr/>
      </p:nvGrpSpPr>
      <p:grpSpPr>
        <a:xfrm>
          <a:off x="0" y="0"/>
          <a:ext cx="0" cy="0"/>
          <a:chOff x="0" y="0"/>
          <a:chExt cx="0" cy="0"/>
        </a:xfrm>
      </p:grpSpPr>
      <p:sp>
        <p:nvSpPr>
          <p:cNvPr id="4" name="TextBox 3"/>
          <p:cNvSpPr txBox="1"/>
          <p:nvPr userDrawn="1"/>
        </p:nvSpPr>
        <p:spPr>
          <a:xfrm>
            <a:off x="11806239" y="661178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000" b="0" i="0" u="none" strike="noStrike" kern="1200" cap="none" spc="0" normalizeH="0" baseline="0" noProof="0" smtClean="0">
                <a:ln>
                  <a:noFill/>
                </a:ln>
                <a:solidFill>
                  <a:srgbClr val="8CC121"/>
                </a:solidFill>
                <a:effectLst/>
                <a:uLnTx/>
                <a:uFillTx/>
                <a:latin typeface="微软雅黑" panose="020B0503020204020204" charset="-122"/>
                <a:ea typeface="微软雅黑" panose="020B0503020204020204" charset="-122"/>
                <a:cs typeface="+mn-cs"/>
                <a:sym typeface="+mn-ea"/>
              </a:rPr>
            </a:fld>
            <a:endParaRPr kumimoji="1" lang="zh-CN" altLang="en-US" sz="1000" b="0" i="0" u="none" strike="noStrike" kern="1200" cap="none" spc="0" normalizeH="0" baseline="0" noProof="0" dirty="0">
              <a:ln>
                <a:noFill/>
              </a:ln>
              <a:solidFill>
                <a:srgbClr val="8CC121"/>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150829" y="274371"/>
            <a:ext cx="9577633" cy="48657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0"/>
          </p:nvPr>
        </p:nvSpPr>
        <p:spPr>
          <a:xfrm>
            <a:off x="0" y="931285"/>
            <a:ext cx="12178844" cy="539750"/>
          </a:xfrm>
          <a:prstGeom prst="rect">
            <a:avLst/>
          </a:prstGeom>
        </p:spPr>
        <p:txBody>
          <a:bodyPr lIns="540000" rIns="540000"/>
          <a:lstStyle>
            <a:lvl1pPr marL="0" indent="-285750">
              <a:buClr>
                <a:srgbClr val="009CE2"/>
              </a:buClr>
              <a:buFont typeface="Wingdings" panose="05000000000000000000" pitchFamily="2" charset="2"/>
              <a:buChar char="n"/>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charset="-122"/>
                <a:ea typeface="微软雅黑" panose="020B0503020204020204" charset="-122"/>
                <a:cs typeface="微软雅黑" panose="020B0503020204020204" charset="-122"/>
              </a:defRPr>
            </a:lvl1pPr>
            <a:lvl2pPr marL="457200" indent="0">
              <a:buNone/>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charset="-122"/>
                <a:ea typeface="微软雅黑" panose="020B0503020204020204" charset="-122"/>
                <a:cs typeface="微软雅黑" panose="020B0503020204020204" charset="-122"/>
              </a:defRPr>
            </a:lvl2pPr>
          </a:lstStyle>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r>
              <a:rPr lang="zh-CN" altLang="en-US" dirty="0"/>
              <a:t>单击此处编辑母版文本样式</a:t>
            </a:r>
            <a:endParaRPr lang="zh-CN" altLang="en-US" dirty="0"/>
          </a:p>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endParaRPr lang="zh-CN" altLang="en-US" dirty="0"/>
          </a:p>
          <a:p>
            <a:pPr lvl="0"/>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2_空白">
    <p:spTree>
      <p:nvGrpSpPr>
        <p:cNvPr id="1" name=""/>
        <p:cNvGrpSpPr/>
        <p:nvPr/>
      </p:nvGrpSpPr>
      <p:grpSpPr>
        <a:xfrm>
          <a:off x="0" y="0"/>
          <a:ext cx="0" cy="0"/>
          <a:chOff x="0" y="0"/>
          <a:chExt cx="0" cy="0"/>
        </a:xfrm>
      </p:grpSpPr>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6" name="图片 5"/>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7"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13" name="矩形 12"/>
          <p:cNvSpPr/>
          <p:nvPr userDrawn="1"/>
        </p:nvSpPr>
        <p:spPr>
          <a:xfrm>
            <a:off x="10917618" y="6551300"/>
            <a:ext cx="1222869" cy="261610"/>
          </a:xfrm>
          <a:prstGeom prst="rect">
            <a:avLst/>
          </a:prstGeom>
          <a:noFill/>
        </p:spPr>
        <p:txBody>
          <a:bodyPr wrap="none" rtlCol="0" anchor="ctr" anchorCtr="0">
            <a:noAutofit/>
          </a:bodyPr>
          <a:lstStyle/>
          <a:p>
            <a:pPr algn="r" defTabSz="914400"/>
            <a:fld id="{A3BAE1C6-4380-4491-8C76-C5075ED62E8D}" type="slidenum">
              <a:rPr kumimoji="1" lang="zh-CN" altLang="en-US" sz="1100" smtClean="0">
                <a:solidFill>
                  <a:srgbClr val="8FC31F"/>
                </a:solidFill>
              </a:rPr>
            </a:fld>
            <a:endParaRPr kumimoji="1" lang="zh-CN" altLang="en-US" sz="1100" dirty="0">
              <a:solidFill>
                <a:srgbClr val="8FC31F"/>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标题_内容">
    <p:spTree>
      <p:nvGrpSpPr>
        <p:cNvPr id="1" name=""/>
        <p:cNvGrpSpPr/>
        <p:nvPr/>
      </p:nvGrpSpPr>
      <p:grpSpPr>
        <a:xfrm>
          <a:off x="0" y="0"/>
          <a:ext cx="0" cy="0"/>
          <a:chOff x="0" y="0"/>
          <a:chExt cx="0" cy="0"/>
        </a:xfrm>
      </p:grpSpPr>
      <p:sp>
        <p:nvSpPr>
          <p:cNvPr id="4" name="TextBox 3"/>
          <p:cNvSpPr txBox="1"/>
          <p:nvPr userDrawn="1"/>
        </p:nvSpPr>
        <p:spPr>
          <a:xfrm>
            <a:off x="11806239" y="661178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000" b="0" i="0" u="none" strike="noStrike" kern="1200" cap="none" spc="0" normalizeH="0" baseline="0" noProof="0" smtClean="0">
                <a:ln>
                  <a:noFill/>
                </a:ln>
                <a:solidFill>
                  <a:srgbClr val="8CC121"/>
                </a:solidFill>
                <a:effectLst/>
                <a:uLnTx/>
                <a:uFillTx/>
                <a:latin typeface="微软雅黑" panose="020B0503020204020204" charset="-122"/>
                <a:ea typeface="微软雅黑" panose="020B0503020204020204" charset="-122"/>
                <a:cs typeface="+mn-cs"/>
                <a:sym typeface="+mn-ea"/>
              </a:rPr>
            </a:fld>
            <a:endParaRPr kumimoji="1" lang="zh-CN" altLang="en-US" sz="1000" b="0" i="0" u="none" strike="noStrike" kern="1200" cap="none" spc="0" normalizeH="0" baseline="0" noProof="0" dirty="0">
              <a:ln>
                <a:noFill/>
              </a:ln>
              <a:solidFill>
                <a:srgbClr val="8CC121"/>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195132" y="187505"/>
            <a:ext cx="7149329"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主标题+副标题">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10000"/>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0" y="12560"/>
            <a:ext cx="12192000" cy="6832879"/>
          </a:xfrm>
          <a:prstGeom prst="rect">
            <a:avLst/>
          </a:prstGeom>
        </p:spPr>
      </p:pic>
      <p:sp>
        <p:nvSpPr>
          <p:cNvPr id="18" name="文本占位符 3"/>
          <p:cNvSpPr>
            <a:spLocks noGrp="1"/>
          </p:cNvSpPr>
          <p:nvPr>
            <p:ph type="body" sz="quarter" idx="10" hasCustomPrompt="1"/>
          </p:nvPr>
        </p:nvSpPr>
        <p:spPr>
          <a:xfrm>
            <a:off x="277585" y="288000"/>
            <a:ext cx="11636455" cy="570766"/>
          </a:xfrm>
          <a:prstGeom prst="rect">
            <a:avLst/>
          </a:prstGeom>
        </p:spPr>
        <p:txBody>
          <a:bodyPr lIns="0" tIns="0" rIns="0" bIns="72000" anchor="t" anchorCtr="0"/>
          <a:lstStyle>
            <a:lvl1pPr marL="0" indent="0" algn="ctr">
              <a:buFontTx/>
              <a:buNone/>
              <a:defRPr sz="3600" b="1">
                <a:gradFill>
                  <a:gsLst>
                    <a:gs pos="32000">
                      <a:schemeClr val="accent1"/>
                    </a:gs>
                    <a:gs pos="64000">
                      <a:schemeClr val="accent3"/>
                    </a:gs>
                    <a:gs pos="0">
                      <a:schemeClr val="accent1"/>
                    </a:gs>
                    <a:gs pos="100000">
                      <a:schemeClr val="accent3"/>
                    </a:gs>
                  </a:gsLst>
                  <a:lin ang="0" scaled="0"/>
                </a:gradFill>
              </a:defRPr>
            </a:lvl1pPr>
          </a:lstStyle>
          <a:p>
            <a:r>
              <a:rPr kumimoji="1" lang="zh-CN" altLang="en-US" dirty="0"/>
              <a:t>编辑主标题文本</a:t>
            </a:r>
            <a:endParaRPr kumimoji="1" lang="zh-CN" altLang="en-US" dirty="0"/>
          </a:p>
        </p:txBody>
      </p:sp>
      <p:sp>
        <p:nvSpPr>
          <p:cNvPr id="7" name="文本占位符 6"/>
          <p:cNvSpPr>
            <a:spLocks noGrp="1"/>
          </p:cNvSpPr>
          <p:nvPr>
            <p:ph type="body" sz="quarter" idx="11" hasCustomPrompt="1"/>
          </p:nvPr>
        </p:nvSpPr>
        <p:spPr>
          <a:xfrm>
            <a:off x="283803" y="858952"/>
            <a:ext cx="11630237" cy="550508"/>
          </a:xfrm>
          <a:prstGeom prst="rect">
            <a:avLst/>
          </a:prstGeom>
        </p:spPr>
        <p:txBody>
          <a:bodyPr wrap="square" lIns="0" tIns="72000" rIns="0" bIns="144000" anchor="ctr" anchorCtr="0">
            <a:spAutoFit/>
          </a:bodyPr>
          <a:lstStyle>
            <a:lvl1pPr marL="0" indent="0" algn="ctr">
              <a:buNone/>
              <a:defRPr sz="2400">
                <a:solidFill>
                  <a:schemeClr val="tx1">
                    <a:lumMod val="25000"/>
                    <a:lumOff val="75000"/>
                  </a:schemeClr>
                </a:solidFill>
              </a:defRPr>
            </a:lvl1pPr>
          </a:lstStyle>
          <a:p>
            <a:pPr lvl="0"/>
            <a:r>
              <a:rPr lang="zh-CN" altLang="en-US" dirty="0"/>
              <a:t>编辑副标题文本</a:t>
            </a:r>
            <a:endParaRPr lang="zh-CN" altLang="en-US" dirty="0"/>
          </a:p>
        </p:txBody>
      </p:sp>
      <p:sp>
        <p:nvSpPr>
          <p:cNvPr id="9" name="日期占位符 1"/>
          <p:cNvSpPr txBox="1"/>
          <p:nvPr userDrawn="1"/>
        </p:nvSpPr>
        <p:spPr>
          <a:xfrm>
            <a:off x="275995" y="6579000"/>
            <a:ext cx="2743200" cy="123111"/>
          </a:xfrm>
          <a:prstGeom prst="rect">
            <a:avLst/>
          </a:prstGeom>
          <a:noFill/>
        </p:spPr>
        <p:txBody>
          <a:bodyPr lIns="0" tIns="0" rIns="0" bIns="0">
            <a:spAutoFit/>
          </a:bodyPr>
          <a:lstStyle>
            <a:defPPr>
              <a:defRPr lang="zh-CN"/>
            </a:defPPr>
            <a:lvl1pPr marL="0" algn="l" defTabSz="914400" rtl="0" eaLnBrk="1" latinLnBrk="0" hangingPunct="1">
              <a:defRPr sz="800" i="1" kern="1200">
                <a:solidFill>
                  <a:schemeClr val="bg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1"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charset="-122"/>
                <a:cs typeface="+mn-cs"/>
              </a:rPr>
              <a:t>©2025, </a:t>
            </a:r>
            <a:r>
              <a:rPr kumimoji="0" lang="zh-CN" altLang="en-US" sz="800" b="0" i="1" u="none" strike="noStrike" kern="1200" cap="none" spc="0" normalizeH="0" baseline="0" noProof="0" dirty="0">
                <a:ln>
                  <a:noFill/>
                </a:ln>
                <a:solidFill>
                  <a:srgbClr val="000000">
                    <a:lumMod val="75000"/>
                    <a:lumOff val="25000"/>
                  </a:srgbClr>
                </a:solidFill>
                <a:effectLst/>
                <a:uLnTx/>
                <a:uFillTx/>
                <a:latin typeface="思源黑体 CN Normal"/>
                <a:ea typeface="微软雅黑" panose="020B0503020204020204" charset="-122"/>
                <a:cs typeface="+mn-cs"/>
              </a:rPr>
              <a:t>由亚信科技或其附属公司保留所有权利。</a:t>
            </a:r>
            <a:endParaRPr kumimoji="0" lang="zh-CN" altLang="en-US" sz="800" b="0" i="1" u="none" strike="noStrike" kern="1200" cap="none" spc="0" normalizeH="0" baseline="0" noProof="0" dirty="0">
              <a:ln>
                <a:noFill/>
              </a:ln>
              <a:solidFill>
                <a:srgbClr val="000000">
                  <a:lumMod val="75000"/>
                  <a:lumOff val="25000"/>
                </a:srgbClr>
              </a:solidFill>
              <a:effectLst/>
              <a:uLnTx/>
              <a:uFillTx/>
              <a:latin typeface="思源黑体 CN Normal"/>
              <a:ea typeface="微软雅黑" panose="020B0503020204020204" charset="-122"/>
              <a:cs typeface="+mn-cs"/>
            </a:endParaRPr>
          </a:p>
        </p:txBody>
      </p:sp>
      <p:pic>
        <p:nvPicPr>
          <p:cNvPr id="10" name="图片 9"/>
          <p:cNvPicPr>
            <a:picLocks noChangeAspect="1"/>
          </p:cNvPicPr>
          <p:nvPr userDrawn="1"/>
        </p:nvPicPr>
        <p:blipFill>
          <a:blip r:embed="rId4" cstate="hqprint">
            <a:extLst>
              <a:ext uri="{28A0092B-C50C-407E-A947-70E740481C1C}">
                <a14:useLocalDpi xmlns:a14="http://schemas.microsoft.com/office/drawing/2010/main" val="0"/>
              </a:ext>
            </a:extLst>
          </a:blip>
          <a:srcRect/>
          <a:stretch>
            <a:fillRect/>
          </a:stretch>
        </p:blipFill>
        <p:spPr>
          <a:xfrm>
            <a:off x="10939586" y="6129000"/>
            <a:ext cx="1096414" cy="720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正文L">
    <p:spTree>
      <p:nvGrpSpPr>
        <p:cNvPr id="1" name=""/>
        <p:cNvGrpSpPr/>
        <p:nvPr/>
      </p:nvGrpSpPr>
      <p:grpSpPr>
        <a:xfrm>
          <a:off x="0" y="0"/>
          <a:ext cx="0" cy="0"/>
          <a:chOff x="0" y="0"/>
          <a:chExt cx="0" cy="0"/>
        </a:xfrm>
      </p:grpSpPr>
      <p:sp>
        <p:nvSpPr>
          <p:cNvPr id="3" name="矩形 2"/>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6"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TextBox 3"/>
          <p:cNvSpPr txBox="1"/>
          <p:nvPr userDrawn="1"/>
        </p:nvSpPr>
        <p:spPr>
          <a:xfrm>
            <a:off x="11661776" y="6481877"/>
            <a:ext cx="447676" cy="376120"/>
          </a:xfrm>
          <a:prstGeom prst="rect">
            <a:avLst/>
          </a:prstGeom>
          <a:noFill/>
        </p:spPr>
        <p:txBody>
          <a:bodyPr wrap="none" rtlCol="0" anchor="ctr" anchorCtr="0">
            <a:noAutofit/>
          </a:bodyPr>
          <a:lstStyle/>
          <a:p>
            <a:pPr algn="ctr" defTabSz="457200" fontAlgn="auto">
              <a:spcBef>
                <a:spcPts val="0"/>
              </a:spcBef>
              <a:spcAft>
                <a:spcPts val="0"/>
              </a:spcAft>
            </a:pPr>
            <a:fld id="{FDA8CB47-5F18-3A4B-AD3A-422A03DFB5D1}" type="slidenum">
              <a:rPr kumimoji="1" lang="zh-CN" altLang="en-US" sz="1100" smtClean="0">
                <a:solidFill>
                  <a:srgbClr val="8FC31F"/>
                </a:solidFill>
                <a:latin typeface="微软雅黑" panose="020B0503020204020204" charset="-122"/>
                <a:ea typeface="微软雅黑" panose="020B0503020204020204" charset="-122"/>
                <a:sym typeface="+mn-ea"/>
              </a:rPr>
            </a:fld>
            <a:endParaRPr kumimoji="1" lang="zh-CN" altLang="en-US" sz="1100" dirty="0">
              <a:solidFill>
                <a:srgbClr val="8FC31F"/>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1_空白">
    <p:spTree>
      <p:nvGrpSpPr>
        <p:cNvPr id="1" name=""/>
        <p:cNvGrpSpPr/>
        <p:nvPr/>
      </p:nvGrpSpPr>
      <p:grpSpPr>
        <a:xfrm>
          <a:off x="0" y="0"/>
          <a:ext cx="0" cy="0"/>
          <a:chOff x="0" y="0"/>
          <a:chExt cx="0" cy="0"/>
        </a:xfrm>
      </p:grpSpPr>
      <p:sp>
        <p:nvSpPr>
          <p:cNvPr id="7" name="矩形 6"/>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9"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5" name="TextBox 3"/>
          <p:cNvSpPr txBox="1"/>
          <p:nvPr userDrawn="1"/>
        </p:nvSpPr>
        <p:spPr>
          <a:xfrm>
            <a:off x="11661776" y="6481877"/>
            <a:ext cx="447676" cy="376120"/>
          </a:xfrm>
          <a:prstGeom prst="rect">
            <a:avLst/>
          </a:prstGeom>
          <a:noFill/>
        </p:spPr>
        <p:txBody>
          <a:bodyPr wrap="none" rtlCol="0" anchor="ctr" anchorCtr="0">
            <a:noAutofit/>
          </a:bodyPr>
          <a:lstStyle/>
          <a:p>
            <a:pPr algn="ctr" defTabSz="457200" fontAlgn="auto">
              <a:spcBef>
                <a:spcPts val="0"/>
              </a:spcBef>
              <a:spcAft>
                <a:spcPts val="0"/>
              </a:spcAft>
            </a:pPr>
            <a:fld id="{FDA8CB47-5F18-3A4B-AD3A-422A03DFB5D1}" type="slidenum">
              <a:rPr kumimoji="1" lang="zh-CN" altLang="en-US" sz="1100" smtClean="0">
                <a:solidFill>
                  <a:srgbClr val="8FC31F"/>
                </a:solidFill>
                <a:latin typeface="微软雅黑" panose="020B0503020204020204" charset="-122"/>
                <a:ea typeface="微软雅黑" panose="020B0503020204020204" charset="-122"/>
                <a:sym typeface="+mn-ea"/>
              </a:rPr>
            </a:fld>
            <a:endParaRPr kumimoji="1" lang="zh-CN" altLang="en-US" sz="1100" dirty="0">
              <a:solidFill>
                <a:srgbClr val="8FC31F"/>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2_空白">
    <p:spTree>
      <p:nvGrpSpPr>
        <p:cNvPr id="1" name=""/>
        <p:cNvGrpSpPr/>
        <p:nvPr/>
      </p:nvGrpSpPr>
      <p:grpSpPr>
        <a:xfrm>
          <a:off x="0" y="0"/>
          <a:ext cx="0" cy="0"/>
          <a:chOff x="0" y="0"/>
          <a:chExt cx="0" cy="0"/>
        </a:xfrm>
      </p:grpSpPr>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6" name="图片 5"/>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7"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lvl1pPr>
              <a:defRPr sz="2200"/>
            </a:lvl1pPr>
          </a:lstStyle>
          <a:p>
            <a:r>
              <a:rPr lang="zh-CN" altLang="en-US" dirty="0"/>
              <a:t>单击此处编辑母版标题样式</a:t>
            </a:r>
            <a:endParaRPr lang="zh-CN" altLang="en-US" dirty="0"/>
          </a:p>
        </p:txBody>
      </p:sp>
      <p:sp>
        <p:nvSpPr>
          <p:cNvPr id="8" name="TextBox 3"/>
          <p:cNvSpPr txBox="1"/>
          <p:nvPr userDrawn="1"/>
        </p:nvSpPr>
        <p:spPr>
          <a:xfrm>
            <a:off x="11677016" y="657661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100" b="0" smtClean="0">
                <a:solidFill>
                  <a:schemeClr val="accent2"/>
                </a:solidFill>
                <a:latin typeface="微软雅黑" panose="020B0503020204020204" charset="-122"/>
                <a:ea typeface="微软雅黑" panose="020B0503020204020204" charset="-122"/>
                <a:sym typeface="+mn-ea"/>
              </a:rPr>
            </a:fld>
            <a:endParaRPr kumimoji="1" lang="zh-CN" altLang="en-US" sz="1100" b="0" dirty="0">
              <a:solidFill>
                <a:schemeClr val="accent2"/>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3515" y="745073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07515" y="745073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69115" y="7450733"/>
            <a:ext cx="2700000" cy="316800"/>
          </a:xfrm>
        </p:spPr>
        <p:txBody>
          <a:bodyPr/>
          <a:lstStyle/>
          <a:p>
            <a:fld id="{49AE70B2-8BF9-45C0-BB95-33D1B9D3A854}" type="slidenum">
              <a:rPr lang="zh-CN" altLang="en-US" smtClean="0"/>
            </a:fld>
            <a:endParaRPr lang="zh-CN" altLang="en-US"/>
          </a:p>
        </p:txBody>
      </p:sp>
      <p:sp>
        <p:nvSpPr>
          <p:cNvPr id="5" name="TextBox 3"/>
          <p:cNvSpPr txBox="1"/>
          <p:nvPr userDrawn="1"/>
        </p:nvSpPr>
        <p:spPr>
          <a:xfrm>
            <a:off x="11661776" y="6481877"/>
            <a:ext cx="447676" cy="376120"/>
          </a:xfrm>
          <a:prstGeom prst="rect">
            <a:avLst/>
          </a:prstGeom>
          <a:noFill/>
        </p:spPr>
        <p:txBody>
          <a:bodyPr wrap="none" rtlCol="0" anchor="ctr" anchorCtr="0">
            <a:noAutofit/>
          </a:bodyPr>
          <a:lstStyle/>
          <a:p>
            <a:pPr algn="ctr" defTabSz="457200" fontAlgn="auto">
              <a:spcBef>
                <a:spcPts val="0"/>
              </a:spcBef>
              <a:spcAft>
                <a:spcPts val="0"/>
              </a:spcAft>
            </a:pPr>
            <a:fld id="{FDA8CB47-5F18-3A4B-AD3A-422A03DFB5D1}" type="slidenum">
              <a:rPr kumimoji="1" lang="zh-CN" altLang="en-US" sz="1100" smtClean="0">
                <a:solidFill>
                  <a:srgbClr val="8FC31F"/>
                </a:solidFill>
                <a:latin typeface="微软雅黑" panose="020B0503020204020204" charset="-122"/>
                <a:ea typeface="微软雅黑" panose="020B0503020204020204" charset="-122"/>
                <a:sym typeface="+mn-ea"/>
              </a:rPr>
            </a:fld>
            <a:endParaRPr kumimoji="1" lang="zh-CN" altLang="en-US" sz="1100" dirty="0">
              <a:solidFill>
                <a:srgbClr val="8FC31F"/>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4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stretch>
            <a:fillRect/>
          </a:stretch>
        </p:blipFill>
        <p:spPr>
          <a:xfrm>
            <a:off x="0" y="214"/>
            <a:ext cx="12192000" cy="6858000"/>
          </a:xfrm>
          <a:prstGeom prst="rect">
            <a:avLst/>
          </a:prstGeom>
        </p:spPr>
      </p:pic>
      <p:sp>
        <p:nvSpPr>
          <p:cNvPr id="24" name="Title Placeholder 1"/>
          <p:cNvSpPr>
            <a:spLocks noGrp="1"/>
          </p:cNvSpPr>
          <p:nvPr>
            <p:ph type="title" hasCustomPrompt="1"/>
          </p:nvPr>
        </p:nvSpPr>
        <p:spPr>
          <a:xfrm>
            <a:off x="838200" y="1997544"/>
            <a:ext cx="10515600" cy="839786"/>
          </a:xfrm>
          <a:prstGeom prst="rect">
            <a:avLst/>
          </a:prstGeom>
        </p:spPr>
        <p:txBody>
          <a:bodyPr vert="horz" lIns="91440" tIns="45720" rIns="91440" bIns="45720" rtlCol="0" anchor="ctr">
            <a:normAutofit/>
          </a:bodyPr>
          <a:lstStyle>
            <a:lvl1pPr algn="ctr">
              <a:defRPr sz="4400" b="1">
                <a:solidFill>
                  <a:srgbClr val="0B85CF"/>
                </a:solidFill>
                <a:latin typeface="微软雅黑" panose="020B0503020204020204" charset="-122"/>
                <a:ea typeface="微软雅黑" panose="020B0503020204020204" charset="-122"/>
              </a:defRPr>
            </a:lvl1pPr>
          </a:lstStyle>
          <a:p>
            <a:r>
              <a:rPr lang="en-US" dirty="0" err="1"/>
              <a:t>单击此处输入正标题</a:t>
            </a:r>
            <a:endParaRPr lang="en-US" dirty="0"/>
          </a:p>
        </p:txBody>
      </p:sp>
      <p:grpSp>
        <p:nvGrpSpPr>
          <p:cNvPr id="2" name="组合 1"/>
          <p:cNvGrpSpPr/>
          <p:nvPr userDrawn="1"/>
        </p:nvGrpSpPr>
        <p:grpSpPr>
          <a:xfrm>
            <a:off x="8929156" y="40648"/>
            <a:ext cx="3227035" cy="1067978"/>
            <a:chOff x="322377" y="128913"/>
            <a:chExt cx="3227035" cy="1067978"/>
          </a:xfrm>
        </p:grpSpPr>
        <p:pic>
          <p:nvPicPr>
            <p:cNvPr id="3" name="图片 2"/>
            <p:cNvPicPr>
              <a:picLocks noChangeAspect="1"/>
            </p:cNvPicPr>
            <p:nvPr userDrawn="1"/>
          </p:nvPicPr>
          <p:blipFill rotWithShape="1">
            <a:blip r:embed="rId3" cstate="print"/>
            <a:srcRect t="22265" b="22265"/>
            <a:stretch>
              <a:fillRect/>
            </a:stretch>
          </p:blipFill>
          <p:spPr>
            <a:xfrm>
              <a:off x="322377" y="278431"/>
              <a:ext cx="2207678" cy="918460"/>
            </a:xfrm>
            <a:prstGeom prst="rect">
              <a:avLst/>
            </a:prstGeom>
          </p:spPr>
        </p:pic>
        <p:pic>
          <p:nvPicPr>
            <p:cNvPr id="4" name="图片 3"/>
            <p:cNvPicPr>
              <a:picLocks noChangeAspect="1"/>
            </p:cNvPicPr>
            <p:nvPr userDrawn="1"/>
          </p:nvPicPr>
          <p:blipFill>
            <a:blip r:embed="rId4" cstate="print"/>
            <a:stretch>
              <a:fillRect/>
            </a:stretch>
          </p:blipFill>
          <p:spPr>
            <a:xfrm>
              <a:off x="2264108" y="128913"/>
              <a:ext cx="1285304" cy="963978"/>
            </a:xfrm>
            <a:prstGeom prst="rect">
              <a:avLst/>
            </a:prstGeom>
          </p:spPr>
        </p:pic>
      </p:grpSp>
      <p:sp>
        <p:nvSpPr>
          <p:cNvPr id="18" name="文本占位符 17"/>
          <p:cNvSpPr>
            <a:spLocks noGrp="1"/>
          </p:cNvSpPr>
          <p:nvPr>
            <p:ph type="body" sz="quarter" idx="10" hasCustomPrompt="1"/>
          </p:nvPr>
        </p:nvSpPr>
        <p:spPr>
          <a:xfrm>
            <a:off x="838200" y="2952362"/>
            <a:ext cx="10515600" cy="877888"/>
          </a:xfrm>
          <a:prstGeom prst="rect">
            <a:avLst/>
          </a:prstGeom>
        </p:spPr>
        <p:txBody>
          <a:bodyPr anchor="ctr">
            <a:noAutofit/>
          </a:bodyPr>
          <a:lstStyle>
            <a:lvl1pPr marL="0" indent="0" algn="ctr">
              <a:buNone/>
              <a:defRPr sz="3600">
                <a:solidFill>
                  <a:schemeClr val="accent2"/>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单击此处输入副标题</a:t>
            </a:r>
            <a:endParaRPr kumimoji="1" lang="zh-CN" altLang="en-US" dirty="0"/>
          </a:p>
        </p:txBody>
      </p:sp>
      <p:sp>
        <p:nvSpPr>
          <p:cNvPr id="21" name="文本占位符 17"/>
          <p:cNvSpPr>
            <a:spLocks noGrp="1"/>
          </p:cNvSpPr>
          <p:nvPr>
            <p:ph type="body" sz="quarter" idx="11" hasCustomPrompt="1"/>
          </p:nvPr>
        </p:nvSpPr>
        <p:spPr>
          <a:xfrm>
            <a:off x="838200" y="4267200"/>
            <a:ext cx="10515600" cy="558130"/>
          </a:xfrm>
          <a:prstGeom prst="rect">
            <a:avLst/>
          </a:prstGeom>
        </p:spPr>
        <p:txBody>
          <a:bodyPr anchor="ctr">
            <a:noAutofit/>
          </a:bodyPr>
          <a:lstStyle>
            <a:lvl1pPr marL="0" indent="0" algn="ctr">
              <a:buNone/>
              <a:defRPr sz="2000">
                <a:solidFill>
                  <a:schemeClr val="tx1"/>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单击此处输入汇报部门 汇报人</a:t>
            </a:r>
            <a:endParaRPr kumimoji="1" lang="zh-CN" altLang="en-US" dirty="0"/>
          </a:p>
        </p:txBody>
      </p:sp>
      <p:sp>
        <p:nvSpPr>
          <p:cNvPr id="22" name="文本占位符 17"/>
          <p:cNvSpPr>
            <a:spLocks noGrp="1"/>
          </p:cNvSpPr>
          <p:nvPr>
            <p:ph type="body" sz="quarter" idx="12" hasCustomPrompt="1"/>
          </p:nvPr>
        </p:nvSpPr>
        <p:spPr>
          <a:xfrm>
            <a:off x="838200" y="4930589"/>
            <a:ext cx="10515600" cy="394447"/>
          </a:xfrm>
          <a:prstGeom prst="rect">
            <a:avLst/>
          </a:prstGeom>
        </p:spPr>
        <p:txBody>
          <a:bodyPr anchor="ctr">
            <a:noAutofit/>
          </a:bodyPr>
          <a:lstStyle>
            <a:lvl1pPr marL="0" indent="0" algn="ctr">
              <a:buNone/>
              <a:defRPr sz="1600">
                <a:solidFill>
                  <a:schemeClr val="accent3"/>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单击此处输入汇报日期：</a:t>
            </a:r>
            <a:r>
              <a:rPr kumimoji="1" lang="en-US" altLang="zh-CN" dirty="0"/>
              <a:t>YYYY-MM-DD</a:t>
            </a:r>
            <a:endParaRPr kumimoji="1" lang="zh-CN" altLang="en-US" dirty="0"/>
          </a:p>
        </p:txBody>
      </p:sp>
      <p:sp>
        <p:nvSpPr>
          <p:cNvPr id="23" name="文本框 2"/>
          <p:cNvSpPr txBox="1">
            <a:spLocks noChangeArrowheads="1"/>
          </p:cNvSpPr>
          <p:nvPr userDrawn="1"/>
        </p:nvSpPr>
        <p:spPr bwMode="auto">
          <a:xfrm>
            <a:off x="319295" y="255735"/>
            <a:ext cx="1857396" cy="523220"/>
          </a:xfrm>
          <a:prstGeom prst="rect">
            <a:avLst/>
          </a:prstGeom>
          <a:noFill/>
          <a:ln w="9525">
            <a:solidFill>
              <a:schemeClr val="accent5"/>
            </a:solidFill>
            <a:miter lim="800000"/>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spAutoFit/>
          </a:bodyPr>
          <a:lstStyle/>
          <a:p>
            <a:pPr algn="ctr">
              <a:spcAft>
                <a:spcPts val="0"/>
              </a:spcAft>
            </a:pPr>
            <a:r>
              <a:rPr lang="zh-CN" altLang="en-US" sz="2800" b="0" i="0" kern="120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rPr>
              <a:t>核心商密</a:t>
            </a:r>
            <a:endParaRPr lang="zh-CN" altLang="en-US" sz="1800" b="0" i="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标题_内容">
    <p:spTree>
      <p:nvGrpSpPr>
        <p:cNvPr id="1" name=""/>
        <p:cNvGrpSpPr/>
        <p:nvPr/>
      </p:nvGrpSpPr>
      <p:grpSpPr>
        <a:xfrm>
          <a:off x="0" y="0"/>
          <a:ext cx="0" cy="0"/>
          <a:chOff x="0" y="0"/>
          <a:chExt cx="0" cy="0"/>
        </a:xfrm>
      </p:grpSpPr>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522000" y="187505"/>
            <a:ext cx="71280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userDrawn="1"/>
        </p:nvSpPr>
        <p:spPr>
          <a:xfrm>
            <a:off x="11604944" y="655971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100" b="0" i="0" u="none" strike="noStrike" kern="1200" cap="none" spc="0" normalizeH="0" baseline="0" noProof="0" smtClean="0">
                <a:ln>
                  <a:noFill/>
                </a:ln>
                <a:solidFill>
                  <a:srgbClr val="8CC121"/>
                </a:solidFill>
                <a:effectLst/>
                <a:uLnTx/>
                <a:uFillTx/>
                <a:latin typeface="微软雅黑" panose="020B0503020204020204" charset="-122"/>
                <a:ea typeface="微软雅黑" panose="020B0503020204020204" charset="-122"/>
                <a:cs typeface="+mn-cs"/>
                <a:sym typeface="+mn-ea"/>
              </a:rPr>
            </a:fld>
            <a:endParaRPr kumimoji="1" lang="zh-CN" altLang="en-US" sz="1100" b="0" i="0" u="none" strike="noStrike" kern="1200" cap="none" spc="0" normalizeH="0" baseline="0" noProof="0" dirty="0">
              <a:ln>
                <a:noFill/>
              </a:ln>
              <a:solidFill>
                <a:srgbClr val="8CC121"/>
              </a:solidFill>
              <a:effectLst/>
              <a:uLnTx/>
              <a:uFillTx/>
              <a:latin typeface="微软雅黑" panose="020B0503020204020204" charset="-122"/>
              <a:ea typeface="微软雅黑" panose="020B0503020204020204"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2_标题_内容">
    <p:spTree>
      <p:nvGrpSpPr>
        <p:cNvPr id="1" name=""/>
        <p:cNvGrpSpPr/>
        <p:nvPr/>
      </p:nvGrpSpPr>
      <p:grpSpPr>
        <a:xfrm>
          <a:off x="0" y="0"/>
          <a:ext cx="0" cy="0"/>
          <a:chOff x="0" y="0"/>
          <a:chExt cx="0" cy="0"/>
        </a:xfrm>
      </p:grpSpPr>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522000" y="274371"/>
            <a:ext cx="9577633" cy="48657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0"/>
          </p:nvPr>
        </p:nvSpPr>
        <p:spPr>
          <a:xfrm>
            <a:off x="522000" y="931285"/>
            <a:ext cx="11246400" cy="539750"/>
          </a:xfrm>
          <a:prstGeom prst="rect">
            <a:avLst/>
          </a:prstGeom>
        </p:spPr>
        <p:txBody>
          <a:bodyPr lIns="90170" rIns="90170"/>
          <a:lstStyle>
            <a:lvl1pPr marL="0" indent="0">
              <a:buClr>
                <a:srgbClr val="009CE2"/>
              </a:buClr>
              <a:buFont typeface="Wingdings" panose="05000000000000000000" pitchFamily="2" charset="2"/>
              <a:buNone/>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charset="-122"/>
                <a:ea typeface="微软雅黑" panose="020B0503020204020204" charset="-122"/>
                <a:cs typeface="微软雅黑" panose="020B0503020204020204" charset="-122"/>
              </a:defRPr>
            </a:lvl1pPr>
            <a:lvl2pPr marL="457200" indent="0">
              <a:buNone/>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charset="-122"/>
                <a:ea typeface="微软雅黑" panose="020B0503020204020204" charset="-122"/>
                <a:cs typeface="微软雅黑" panose="020B0503020204020204" charset="-122"/>
              </a:defRPr>
            </a:lvl2pPr>
          </a:lstStyle>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r>
              <a:rPr lang="zh-CN" altLang="en-US" dirty="0"/>
              <a:t>单击此处编辑母版文本样式</a:t>
            </a:r>
            <a:endParaRPr lang="zh-CN" altLang="en-US" dirty="0"/>
          </a:p>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endParaRPr lang="zh-CN" altLang="en-US" dirty="0"/>
          </a:p>
          <a:p>
            <a:pPr lvl="0"/>
            <a:endParaRPr lang="zh-CN" altLang="en-US" dirty="0"/>
          </a:p>
        </p:txBody>
      </p:sp>
      <p:sp>
        <p:nvSpPr>
          <p:cNvPr id="4" name="TextBox 3"/>
          <p:cNvSpPr txBox="1"/>
          <p:nvPr userDrawn="1"/>
        </p:nvSpPr>
        <p:spPr>
          <a:xfrm>
            <a:off x="11648759" y="654828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100" b="0" i="0" u="none" strike="noStrike" kern="1200" cap="none" spc="0" normalizeH="0" baseline="0" noProof="0" smtClean="0">
                <a:ln>
                  <a:noFill/>
                </a:ln>
                <a:solidFill>
                  <a:srgbClr val="8CC121"/>
                </a:solidFill>
                <a:effectLst/>
                <a:uLnTx/>
                <a:uFillTx/>
                <a:latin typeface="微软雅黑" panose="020B0503020204020204" charset="-122"/>
                <a:ea typeface="微软雅黑" panose="020B0503020204020204" charset="-122"/>
                <a:cs typeface="+mn-cs"/>
                <a:sym typeface="+mn-ea"/>
              </a:rPr>
            </a:fld>
            <a:endParaRPr kumimoji="1" lang="zh-CN" altLang="en-US" sz="1100" b="0" i="0" u="none" strike="noStrike" kern="1200" cap="none" spc="0" normalizeH="0" baseline="0" noProof="0" dirty="0">
              <a:ln>
                <a:noFill/>
              </a:ln>
              <a:solidFill>
                <a:srgbClr val="8CC121"/>
              </a:solidFill>
              <a:effectLst/>
              <a:uLnTx/>
              <a:uFillTx/>
              <a:latin typeface="微软雅黑" panose="020B0503020204020204" charset="-122"/>
              <a:ea typeface="微软雅黑" panose="020B0503020204020204"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6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stretch>
            <a:fillRect/>
          </a:stretch>
        </p:blipFill>
        <p:spPr>
          <a:xfrm>
            <a:off x="0" y="0"/>
            <a:ext cx="12192000" cy="6858000"/>
          </a:xfrm>
          <a:prstGeom prst="rect">
            <a:avLst/>
          </a:prstGeom>
        </p:spPr>
      </p:pic>
      <p:pic>
        <p:nvPicPr>
          <p:cNvPr id="17" name="图片 16"/>
          <p:cNvPicPr>
            <a:picLocks noChangeAspect="1"/>
          </p:cNvPicPr>
          <p:nvPr userDrawn="1"/>
        </p:nvPicPr>
        <p:blipFill>
          <a:blip r:embed="rId3" cstate="print"/>
          <a:stretch>
            <a:fillRect/>
          </a:stretch>
        </p:blipFill>
        <p:spPr>
          <a:xfrm>
            <a:off x="568960" y="5873115"/>
            <a:ext cx="1287780" cy="808990"/>
          </a:xfrm>
          <a:prstGeom prst="rect">
            <a:avLst/>
          </a:prstGeom>
        </p:spPr>
      </p:pic>
      <p:sp>
        <p:nvSpPr>
          <p:cNvPr id="8" name="矩形 7"/>
          <p:cNvSpPr/>
          <p:nvPr userDrawn="1"/>
        </p:nvSpPr>
        <p:spPr>
          <a:xfrm>
            <a:off x="515938" y="6576616"/>
            <a:ext cx="10708640" cy="246221"/>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rPr>
              <a:t>文档中的全部内容属</a:t>
            </a:r>
            <a:r>
              <a:rPr kumimoji="0" lang="zh-CN" altLang="en-US"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rPr>
              <a:t>中国移动</a:t>
            </a:r>
            <a:r>
              <a:rPr kumimoji="0" lang="zh-CN" altLang="zh-CN"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rPr>
              <a:t>所有，未经允许，不可全部或部分发表、复制、使用于任何目的</a:t>
            </a:r>
            <a:endParaRPr kumimoji="0" lang="zh-CN" altLang="en-US"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endParaRPr>
          </a:p>
        </p:txBody>
      </p:sp>
      <p:pic>
        <p:nvPicPr>
          <p:cNvPr id="9" name="图片 8"/>
          <p:cNvPicPr>
            <a:picLocks noChangeAspect="1"/>
          </p:cNvPicPr>
          <p:nvPr userDrawn="1"/>
        </p:nvPicPr>
        <p:blipFill rotWithShape="1">
          <a:blip r:embed="rId4" cstate="screen"/>
          <a:srcRect t="28597" b="32462"/>
          <a:stretch>
            <a:fillRect/>
          </a:stretch>
        </p:blipFill>
        <p:spPr>
          <a:xfrm>
            <a:off x="10348713" y="141668"/>
            <a:ext cx="1852076" cy="540912"/>
          </a:xfrm>
          <a:prstGeom prst="rect">
            <a:avLst/>
          </a:prstGeom>
        </p:spPr>
      </p:pic>
      <p:sp>
        <p:nvSpPr>
          <p:cNvPr id="11" name="标题占位符 10"/>
          <p:cNvSpPr>
            <a:spLocks noGrp="1"/>
          </p:cNvSpPr>
          <p:nvPr>
            <p:ph type="title"/>
          </p:nvPr>
        </p:nvSpPr>
        <p:spPr>
          <a:xfrm>
            <a:off x="1878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4" name="TextBox 3"/>
          <p:cNvSpPr txBox="1"/>
          <p:nvPr userDrawn="1"/>
        </p:nvSpPr>
        <p:spPr>
          <a:xfrm>
            <a:off x="11680189" y="6481877"/>
            <a:ext cx="447675" cy="376120"/>
          </a:xfrm>
          <a:prstGeom prst="rect">
            <a:avLst/>
          </a:prstGeom>
          <a:noFill/>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100" b="0" i="0" u="none" strike="noStrike" kern="1200" cap="none" spc="0" normalizeH="0" baseline="0" noProof="0" smtClean="0">
                <a:ln>
                  <a:noFill/>
                </a:ln>
                <a:solidFill>
                  <a:srgbClr val="8FC31F"/>
                </a:solidFill>
                <a:effectLst/>
                <a:uLnTx/>
                <a:uFillTx/>
                <a:latin typeface="微软雅黑" panose="020B0503020204020204" charset="-122"/>
                <a:ea typeface="微软雅黑" panose="020B0503020204020204" charset="-122"/>
                <a:cs typeface="+mn-cs"/>
                <a:sym typeface="+mn-ea"/>
              </a:rPr>
            </a:fld>
            <a:endParaRPr kumimoji="1" lang="zh-CN" altLang="en-US" sz="1100" b="0" i="0" u="none" strike="noStrike" kern="1200" cap="none" spc="0" normalizeH="0" baseline="0" noProof="0" dirty="0">
              <a:ln>
                <a:noFill/>
              </a:ln>
              <a:solidFill>
                <a:srgbClr val="8FC31F"/>
              </a:solidFill>
              <a:effectLst/>
              <a:uLnTx/>
              <a:uFillTx/>
              <a:latin typeface="微软雅黑" panose="020B0503020204020204" charset="-122"/>
              <a:ea typeface="微软雅黑" panose="020B0503020204020204"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_自定义版式">
    <p:spTree>
      <p:nvGrpSpPr>
        <p:cNvPr id="1" name=""/>
        <p:cNvGrpSpPr/>
        <p:nvPr/>
      </p:nvGrpSpPr>
      <p:grpSpPr>
        <a:xfrm>
          <a:off x="0" y="0"/>
          <a:ext cx="0" cy="0"/>
          <a:chOff x="0" y="0"/>
          <a:chExt cx="0" cy="0"/>
        </a:xfrm>
      </p:grpSpPr>
      <p:pic>
        <p:nvPicPr>
          <p:cNvPr id="12"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Lst>
          </a:blip>
          <a:stretch>
            <a:fillRect/>
          </a:stretch>
        </p:blipFill>
        <p:spPr>
          <a:xfrm>
            <a:off x="0" y="0"/>
            <a:ext cx="12192000" cy="6858000"/>
          </a:xfrm>
          <a:prstGeom prst="rect">
            <a:avLst/>
          </a:prstGeom>
        </p:spPr>
      </p:pic>
      <p:sp>
        <p:nvSpPr>
          <p:cNvPr id="13" name="Title Placeholder 1"/>
          <p:cNvSpPr>
            <a:spLocks noGrp="1"/>
          </p:cNvSpPr>
          <p:nvPr>
            <p:ph type="title" hasCustomPrompt="1"/>
          </p:nvPr>
        </p:nvSpPr>
        <p:spPr>
          <a:xfrm>
            <a:off x="277091" y="257891"/>
            <a:ext cx="11549724" cy="611184"/>
          </a:xfrm>
          <a:prstGeom prst="rect">
            <a:avLst/>
          </a:prstGeom>
        </p:spPr>
        <p:txBody>
          <a:bodyPr vert="horz" lIns="72000" tIns="36000" rIns="72000" bIns="36000" rtlCol="0" anchor="ctr">
            <a:noAutofit/>
          </a:bodyPr>
          <a:lstStyle>
            <a:lvl1pPr marL="8255" indent="0" algn="l">
              <a:defRPr sz="2200" b="1">
                <a:solidFill>
                  <a:srgbClr val="0B85CF"/>
                </a:solidFill>
                <a:latin typeface="微软雅黑" panose="020B0503020204020204" charset="-122"/>
                <a:ea typeface="微软雅黑" panose="020B0503020204020204" charset="-122"/>
              </a:defRPr>
            </a:lvl1pPr>
          </a:lstStyle>
          <a:p>
            <a:r>
              <a:rPr lang="zh-CN" altLang="en-US" dirty="0"/>
              <a:t>单击此处编辑标题</a:t>
            </a:r>
            <a:endParaRPr lang="en-US" dirty="0"/>
          </a:p>
        </p:txBody>
      </p:sp>
      <p:pic>
        <p:nvPicPr>
          <p:cNvPr id="14" name="图片 14"/>
          <p:cNvPicPr>
            <a:picLocks noChangeAspect="1"/>
          </p:cNvPicPr>
          <p:nvPr userDrawn="1"/>
        </p:nvPicPr>
        <p:blipFill>
          <a:blip r:embed="rId4" cstate="print"/>
          <a:stretch>
            <a:fillRect/>
          </a:stretch>
        </p:blipFill>
        <p:spPr>
          <a:xfrm>
            <a:off x="10135672" y="-64186"/>
            <a:ext cx="1873735" cy="1389056"/>
          </a:xfrm>
          <a:prstGeom prst="rect">
            <a:avLst/>
          </a:prstGeom>
        </p:spPr>
      </p:pic>
      <p:pic>
        <p:nvPicPr>
          <p:cNvPr id="15" name="图片 16"/>
          <p:cNvPicPr>
            <a:picLocks noChangeAspect="1"/>
          </p:cNvPicPr>
          <p:nvPr userDrawn="1"/>
        </p:nvPicPr>
        <p:blipFill>
          <a:blip r:embed="rId5" cstate="print"/>
          <a:stretch>
            <a:fillRect/>
          </a:stretch>
        </p:blipFill>
        <p:spPr>
          <a:xfrm>
            <a:off x="414668" y="5949933"/>
            <a:ext cx="1171760" cy="808704"/>
          </a:xfrm>
          <a:prstGeom prst="rect">
            <a:avLst/>
          </a:prstGeom>
        </p:spPr>
      </p:pic>
      <p:sp>
        <p:nvSpPr>
          <p:cNvPr id="16" name="内容占位符 2"/>
          <p:cNvSpPr>
            <a:spLocks noGrp="1"/>
          </p:cNvSpPr>
          <p:nvPr>
            <p:ph idx="1" hasCustomPrompt="1"/>
          </p:nvPr>
        </p:nvSpPr>
        <p:spPr>
          <a:xfrm>
            <a:off x="277091" y="937940"/>
            <a:ext cx="11549724" cy="547749"/>
          </a:xfrm>
          <a:prstGeom prst="rect">
            <a:avLst/>
          </a:prstGeom>
        </p:spPr>
        <p:txBody>
          <a:bodyPr lIns="72000" tIns="36000" rIns="72000" bIns="36000">
            <a:noAutofit/>
          </a:bodyPr>
          <a:lstStyle>
            <a:lvl1pPr marL="22225" marR="0" indent="0" algn="l" defTabSz="914400" rtl="0" eaLnBrk="1" fontAlgn="auto" latinLnBrk="0" hangingPunct="1">
              <a:lnSpc>
                <a:spcPct val="100000"/>
              </a:lnSpc>
              <a:spcBef>
                <a:spcPts val="0"/>
              </a:spcBef>
              <a:spcAft>
                <a:spcPts val="0"/>
              </a:spcAft>
              <a:buClrTx/>
              <a:buSzTx/>
              <a:buFontTx/>
              <a:buNone/>
              <a:defRPr sz="1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a:defRPr sz="2400">
                <a:solidFill>
                  <a:schemeClr val="accent6"/>
                </a:solidFill>
                <a:latin typeface="微软雅黑" panose="020B0503020204020204" charset="-122"/>
                <a:ea typeface="微软雅黑" panose="020B0503020204020204" charset="-122"/>
                <a:cs typeface="微软雅黑" panose="020B0503020204020204" charset="-122"/>
              </a:defRPr>
            </a:lvl2pPr>
            <a:lvl3pPr>
              <a:defRPr sz="2135">
                <a:solidFill>
                  <a:schemeClr val="accent6"/>
                </a:solidFill>
                <a:latin typeface="微软雅黑" panose="020B0503020204020204" charset="-122"/>
                <a:ea typeface="微软雅黑" panose="020B0503020204020204" charset="-122"/>
                <a:cs typeface="微软雅黑" panose="020B0503020204020204" charset="-122"/>
              </a:defRPr>
            </a:lvl3pPr>
            <a:lvl4pPr>
              <a:defRPr sz="1865">
                <a:solidFill>
                  <a:schemeClr val="accent6"/>
                </a:solidFill>
                <a:latin typeface="微软雅黑" panose="020B0503020204020204" charset="-122"/>
                <a:ea typeface="微软雅黑" panose="020B0503020204020204" charset="-122"/>
                <a:cs typeface="微软雅黑" panose="020B0503020204020204" charset="-122"/>
              </a:defRPr>
            </a:lvl4pPr>
            <a:lvl5pPr>
              <a:defRPr sz="1865">
                <a:solidFill>
                  <a:schemeClr val="accent6"/>
                </a:solidFill>
                <a:latin typeface="微软雅黑" panose="020B0503020204020204" charset="-122"/>
                <a:ea typeface="微软雅黑" panose="020B0503020204020204" charset="-122"/>
                <a:cs typeface="微软雅黑" panose="020B0503020204020204" charset="-122"/>
              </a:defRPr>
            </a:lvl5pPr>
          </a:lstStyle>
          <a:p>
            <a:pPr marL="22225" marR="0" lvl="0" indent="0" algn="l" defTabSz="914400" rtl="0" eaLnBrk="1" fontAlgn="auto" latinLnBrk="0" hangingPunct="1">
              <a:lnSpc>
                <a:spcPct val="130000"/>
              </a:lnSpc>
              <a:spcBef>
                <a:spcPct val="20000"/>
              </a:spcBef>
              <a:spcAft>
                <a:spcPts val="0"/>
              </a:spcAft>
              <a:buClrTx/>
              <a:buSzTx/>
              <a:buFontTx/>
              <a:buNone/>
              <a:defRPr/>
            </a:pPr>
            <a:r>
              <a:rPr lang="zh-CN" altLang="en-US" dirty="0"/>
              <a:t>单击此处编辑母版</a:t>
            </a:r>
            <a:endParaRPr lang="zh-CN" altLang="en-US" dirty="0"/>
          </a:p>
        </p:txBody>
      </p:sp>
      <p:sp>
        <p:nvSpPr>
          <p:cNvPr id="17" name="灯片编号占位符 4"/>
          <p:cNvSpPr>
            <a:spLocks noGrp="1"/>
          </p:cNvSpPr>
          <p:nvPr>
            <p:ph type="sldNum" sz="quarter" idx="12"/>
          </p:nvPr>
        </p:nvSpPr>
        <p:spPr>
          <a:xfrm>
            <a:off x="9448800" y="6492875"/>
            <a:ext cx="2743200" cy="365125"/>
          </a:xfrm>
        </p:spPr>
        <p:txBody>
          <a:bodyPr/>
          <a:lstStyle>
            <a:lvl1pPr algn="r">
              <a:defRPr sz="1000">
                <a:latin typeface="微软雅黑" panose="020B0503020204020204" charset="-122"/>
                <a:ea typeface="微软雅黑" panose="020B0503020204020204" charset="-122"/>
              </a:defRPr>
            </a:lvl1pPr>
          </a:lstStyle>
          <a:p>
            <a:fld id="{E077DA78-E013-4A8C-AD75-63A150561B10}" type="slidenum">
              <a:rPr/>
            </a:fld>
            <a:endParaRPr lang="zh-CN" altLang="en-US" dirty="0"/>
          </a:p>
        </p:txBody>
      </p:sp>
    </p:spTree>
  </p:cSld>
  <p:clrMapOvr>
    <a:masterClrMapping/>
  </p:clrMapOvr>
  <p:transition>
    <p:fade/>
  </p:transition>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itle Placeholder 1"/>
          <p:cNvSpPr>
            <a:spLocks noGrp="1"/>
          </p:cNvSpPr>
          <p:nvPr>
            <p:ph type="title" hasCustomPrompt="1"/>
          </p:nvPr>
        </p:nvSpPr>
        <p:spPr>
          <a:xfrm>
            <a:off x="165205" y="76880"/>
            <a:ext cx="8153400" cy="611184"/>
          </a:xfrm>
          <a:prstGeom prst="rect">
            <a:avLst/>
          </a:prstGeom>
        </p:spPr>
        <p:txBody>
          <a:bodyPr vert="horz" lIns="91440" tIns="45720" rIns="91440" bIns="45720" rtlCol="0" anchor="ctr">
            <a:normAutofit/>
          </a:bodyPr>
          <a:lstStyle>
            <a:lvl1pPr algn="l">
              <a:defRPr sz="2800" b="1">
                <a:solidFill>
                  <a:srgbClr val="0B85CF"/>
                </a:solidFill>
                <a:latin typeface="方正黑体简体" panose="02000000000000000000" pitchFamily="2" charset="-122"/>
                <a:ea typeface="方正黑体简体" panose="02000000000000000000" pitchFamily="2" charset="-122"/>
              </a:defRPr>
            </a:lvl1pPr>
          </a:lstStyle>
          <a:p>
            <a:r>
              <a:rPr lang="zh-CN" altLang="en-US" dirty="0"/>
              <a:t>单击此处编辑标题</a:t>
            </a:r>
            <a:endParaRPr lang="en-US" dirty="0"/>
          </a:p>
        </p:txBody>
      </p:sp>
      <p:sp>
        <p:nvSpPr>
          <p:cNvPr id="11" name="Slide Number Placeholder 5"/>
          <p:cNvSpPr>
            <a:spLocks noGrp="1"/>
          </p:cNvSpPr>
          <p:nvPr>
            <p:ph type="sldNum" sz="quarter" idx="4"/>
          </p:nvPr>
        </p:nvSpPr>
        <p:spPr>
          <a:xfrm>
            <a:off x="9502423" y="6538999"/>
            <a:ext cx="2743200" cy="365125"/>
          </a:xfrm>
          <a:prstGeom prst="rect">
            <a:avLst/>
          </a:prstGeom>
        </p:spPr>
        <p:txBody>
          <a:bodyPr vert="horz" lIns="91440" tIns="45720" rIns="91440" bIns="45720" rtlCol="0" anchor="ctr"/>
          <a:lstStyle>
            <a:lvl1pPr algn="r">
              <a:defRPr sz="1100" b="1">
                <a:solidFill>
                  <a:srgbClr val="8FC31F"/>
                </a:solidFill>
                <a:latin typeface="方正黑体简体" panose="02000000000000000000" pitchFamily="2" charset="-122"/>
                <a:ea typeface="方正黑体简体" panose="02000000000000000000" pitchFamily="2" charset="-122"/>
              </a:defRPr>
            </a:lvl1pPr>
          </a:lstStyle>
          <a:p>
            <a:fld id="{989A68CE-9FA7-456D-BE34-4C018B9CB8B8}" type="slidenum">
              <a:rPr lang="zh-CN" altLang="en-US" smtClean="0"/>
            </a:fld>
            <a:endParaRPr lang="zh-CN" altLang="en-US" dirty="0"/>
          </a:p>
        </p:txBody>
      </p:sp>
      <p:sp>
        <p:nvSpPr>
          <p:cNvPr id="18"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sp>
        <p:nvSpPr>
          <p:cNvPr id="2" name="矩形 1"/>
          <p:cNvSpPr/>
          <p:nvPr userDrawn="1"/>
        </p:nvSpPr>
        <p:spPr>
          <a:xfrm>
            <a:off x="-76200" y="1273810"/>
            <a:ext cx="76200" cy="248285"/>
          </a:xfrm>
          <a:prstGeom prst="rect">
            <a:avLst/>
          </a:prstGeom>
          <a:solidFill>
            <a:srgbClr val="0B8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矩形 8"/>
          <p:cNvSpPr/>
          <p:nvPr userDrawn="1"/>
        </p:nvSpPr>
        <p:spPr>
          <a:xfrm>
            <a:off x="-76200" y="1696720"/>
            <a:ext cx="76200" cy="248285"/>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nvSpPr>
        <p:spPr>
          <a:xfrm>
            <a:off x="-76200" y="2119630"/>
            <a:ext cx="76200" cy="248285"/>
          </a:xfrm>
          <a:prstGeom prst="rect">
            <a:avLst/>
          </a:prstGeom>
          <a:solidFill>
            <a:srgbClr val="8FC3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userDrawn="1"/>
        </p:nvSpPr>
        <p:spPr>
          <a:xfrm>
            <a:off x="-76200" y="2541905"/>
            <a:ext cx="76200" cy="248285"/>
          </a:xfrm>
          <a:prstGeom prst="rect">
            <a:avLst/>
          </a:prstGeom>
          <a:solidFill>
            <a:srgbClr val="0098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76200" y="2964815"/>
            <a:ext cx="76200" cy="248285"/>
          </a:xfrm>
          <a:prstGeom prst="rect">
            <a:avLst/>
          </a:prstGeom>
          <a:solidFill>
            <a:srgbClr val="B4A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12" name="直接连接符 11"/>
          <p:cNvCxnSpPr/>
          <p:nvPr userDrawn="1"/>
        </p:nvCxnSpPr>
        <p:spPr>
          <a:xfrm>
            <a:off x="0" y="630673"/>
            <a:ext cx="12192000" cy="0"/>
          </a:xfrm>
          <a:prstGeom prst="line">
            <a:avLst/>
          </a:prstGeom>
          <a:ln w="38100">
            <a:gradFill flip="none" rotWithShape="1">
              <a:gsLst>
                <a:gs pos="70000">
                  <a:srgbClr val="91C8E9"/>
                </a:gs>
                <a:gs pos="0">
                  <a:schemeClr val="accent1">
                    <a:lumMod val="0"/>
                    <a:lumOff val="100000"/>
                  </a:schemeClr>
                </a:gs>
                <a:gs pos="100000">
                  <a:srgbClr val="0B85CF"/>
                </a:gs>
              </a:gsLst>
              <a:lin ang="10800000" scaled="0"/>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93831" y="-312056"/>
            <a:ext cx="1906930" cy="13890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showMasterSp="0" userDrawn="1">
  <p:cSld name="正文L">
    <p:spTree>
      <p:nvGrpSpPr>
        <p:cNvPr id="1" name=""/>
        <p:cNvGrpSpPr/>
        <p:nvPr/>
      </p:nvGrpSpPr>
      <p:grpSpPr>
        <a:xfrm>
          <a:off x="0" y="0"/>
          <a:ext cx="0" cy="0"/>
          <a:chOff x="0" y="0"/>
          <a:chExt cx="0" cy="0"/>
        </a:xfrm>
      </p:grpSpPr>
      <p:sp>
        <p:nvSpPr>
          <p:cNvPr id="3" name="矩形 2"/>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6" name="标题占位符 10"/>
          <p:cNvSpPr>
            <a:spLocks noGrp="1"/>
          </p:cNvSpPr>
          <p:nvPr>
            <p:ph type="title"/>
          </p:nvPr>
        </p:nvSpPr>
        <p:spPr>
          <a:xfrm>
            <a:off x="32116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showMasterSp="0" userDrawn="1">
  <p:cSld name="1_空白">
    <p:spTree>
      <p:nvGrpSpPr>
        <p:cNvPr id="1" name=""/>
        <p:cNvGrpSpPr/>
        <p:nvPr/>
      </p:nvGrpSpPr>
      <p:grpSpPr>
        <a:xfrm>
          <a:off x="0" y="0"/>
          <a:ext cx="0" cy="0"/>
          <a:chOff x="0" y="0"/>
          <a:chExt cx="0" cy="0"/>
        </a:xfrm>
      </p:grpSpPr>
      <p:sp>
        <p:nvSpPr>
          <p:cNvPr id="5" name="TextBox 3"/>
          <p:cNvSpPr txBox="1"/>
          <p:nvPr userDrawn="1"/>
        </p:nvSpPr>
        <p:spPr>
          <a:xfrm>
            <a:off x="11744326" y="6481877"/>
            <a:ext cx="447676" cy="376120"/>
          </a:xfrm>
          <a:prstGeom prst="rect">
            <a:avLst/>
          </a:prstGeom>
          <a:noFill/>
        </p:spPr>
        <p:txBody>
          <a:bodyPr wrap="none" rtlCol="0" anchor="ctr" anchorCtr="0">
            <a:noAutofit/>
          </a:bodyPr>
          <a:lstStyle/>
          <a:p>
            <a:pPr algn="ctr" defTabSz="457200" fontAlgn="auto">
              <a:spcBef>
                <a:spcPts val="0"/>
              </a:spcBef>
              <a:spcAft>
                <a:spcPts val="0"/>
              </a:spcAft>
            </a:pPr>
            <a:fld id="{FDA8CB47-5F18-3A4B-AD3A-422A03DFB5D1}" type="slidenum">
              <a:rPr kumimoji="1" lang="zh-CN" altLang="en-US" sz="1100" smtClean="0">
                <a:solidFill>
                  <a:srgbClr val="8FC31F"/>
                </a:solidFill>
                <a:latin typeface="微软雅黑" panose="020B0503020204020204" charset="-122"/>
                <a:ea typeface="微软雅黑" panose="020B0503020204020204" charset="-122"/>
                <a:sym typeface="+mn-ea"/>
              </a:rPr>
            </a:fld>
            <a:endParaRPr kumimoji="1" lang="zh-CN" altLang="en-US" sz="1100" dirty="0">
              <a:solidFill>
                <a:srgbClr val="8FC31F"/>
              </a:solidFill>
              <a:latin typeface="微软雅黑" panose="020B0503020204020204" charset="-122"/>
              <a:ea typeface="微软雅黑" panose="020B0503020204020204" charset="-122"/>
              <a:sym typeface="+mn-ea"/>
            </a:endParaRPr>
          </a:p>
        </p:txBody>
      </p:sp>
      <p:sp>
        <p:nvSpPr>
          <p:cNvPr id="7" name="矩形 6"/>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9" name="标题占位符 10"/>
          <p:cNvSpPr>
            <a:spLocks noGrp="1"/>
          </p:cNvSpPr>
          <p:nvPr>
            <p:ph type="title"/>
          </p:nvPr>
        </p:nvSpPr>
        <p:spPr>
          <a:xfrm>
            <a:off x="32751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showMasterSp="0" userDrawn="1">
  <p:cSld name="2_空白">
    <p:spTree>
      <p:nvGrpSpPr>
        <p:cNvPr id="1" name=""/>
        <p:cNvGrpSpPr/>
        <p:nvPr/>
      </p:nvGrpSpPr>
      <p:grpSpPr>
        <a:xfrm>
          <a:off x="0" y="0"/>
          <a:ext cx="0" cy="0"/>
          <a:chOff x="0" y="0"/>
          <a:chExt cx="0" cy="0"/>
        </a:xfrm>
      </p:grpSpPr>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pic>
        <p:nvPicPr>
          <p:cNvPr id="6" name="图片 5"/>
          <p:cNvPicPr>
            <a:picLocks noChangeAspect="1"/>
          </p:cNvPicPr>
          <p:nvPr userDrawn="1"/>
        </p:nvPicPr>
        <p:blipFill rotWithShape="1">
          <a:blip r:embed="rId2" cstate="screen"/>
          <a:srcRect t="28597" b="32462"/>
          <a:stretch>
            <a:fillRect/>
          </a:stretch>
        </p:blipFill>
        <p:spPr>
          <a:xfrm>
            <a:off x="10348713" y="141668"/>
            <a:ext cx="1852076" cy="540912"/>
          </a:xfrm>
          <a:prstGeom prst="rect">
            <a:avLst/>
          </a:prstGeom>
        </p:spPr>
      </p:pic>
      <p:sp>
        <p:nvSpPr>
          <p:cNvPr id="7" name="标题占位符 10"/>
          <p:cNvSpPr>
            <a:spLocks noGrp="1"/>
          </p:cNvSpPr>
          <p:nvPr>
            <p:ph type="title"/>
          </p:nvPr>
        </p:nvSpPr>
        <p:spPr>
          <a:xfrm>
            <a:off x="346567" y="92410"/>
            <a:ext cx="10515600" cy="639427"/>
          </a:xfrm>
          <a:prstGeom prst="rect">
            <a:avLst/>
          </a:prstGeom>
        </p:spPr>
        <p:txBody>
          <a:bodyPr vert="horz" lIns="91440" tIns="45720" rIns="91440" bIns="45720" rtlCol="0" anchor="ctr">
            <a:normAutofit/>
          </a:bodyPr>
          <a:lstStyle>
            <a:lvl1pPr>
              <a:defRPr sz="2400"/>
            </a:lvl1pPr>
          </a:lstStyle>
          <a:p>
            <a:r>
              <a:rPr lang="zh-CN" altLang="en-US" dirty="0"/>
              <a:t>单击此处编辑母版标题样式</a:t>
            </a:r>
            <a:endParaRPr lang="zh-CN" altLang="en-US" dirty="0"/>
          </a:p>
        </p:txBody>
      </p:sp>
      <p:sp>
        <p:nvSpPr>
          <p:cNvPr id="8" name="TextBox 3"/>
          <p:cNvSpPr txBox="1"/>
          <p:nvPr userDrawn="1"/>
        </p:nvSpPr>
        <p:spPr>
          <a:xfrm>
            <a:off x="11740516" y="657661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000" b="0" smtClean="0">
                <a:solidFill>
                  <a:schemeClr val="accent2"/>
                </a:solidFill>
                <a:latin typeface="微软雅黑" panose="020B0503020204020204" charset="-122"/>
                <a:ea typeface="微软雅黑" panose="020B0503020204020204" charset="-122"/>
                <a:sym typeface="+mn-ea"/>
              </a:rPr>
            </a:fld>
            <a:endParaRPr kumimoji="1" lang="zh-CN" altLang="en-US" sz="1000" b="0" dirty="0">
              <a:solidFill>
                <a:schemeClr val="accent2"/>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a:xfrm>
            <a:off x="352917" y="92410"/>
            <a:ext cx="10515600" cy="639427"/>
          </a:xfr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3515" y="745073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07515" y="745073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69115" y="7450733"/>
            <a:ext cx="2700000" cy="316800"/>
          </a:xfrm>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4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stretch>
            <a:fillRect/>
          </a:stretch>
        </p:blipFill>
        <p:spPr>
          <a:xfrm>
            <a:off x="0" y="214"/>
            <a:ext cx="12192000" cy="6858000"/>
          </a:xfrm>
          <a:prstGeom prst="rect">
            <a:avLst/>
          </a:prstGeom>
        </p:spPr>
      </p:pic>
      <p:sp>
        <p:nvSpPr>
          <p:cNvPr id="24" name="Title Placeholder 1"/>
          <p:cNvSpPr>
            <a:spLocks noGrp="1"/>
          </p:cNvSpPr>
          <p:nvPr>
            <p:ph type="title" hasCustomPrompt="1"/>
          </p:nvPr>
        </p:nvSpPr>
        <p:spPr>
          <a:xfrm>
            <a:off x="838200" y="1997544"/>
            <a:ext cx="10515600" cy="839786"/>
          </a:xfrm>
          <a:prstGeom prst="rect">
            <a:avLst/>
          </a:prstGeom>
        </p:spPr>
        <p:txBody>
          <a:bodyPr vert="horz" lIns="91440" tIns="45720" rIns="91440" bIns="45720" rtlCol="0" anchor="ctr">
            <a:normAutofit/>
          </a:bodyPr>
          <a:lstStyle>
            <a:lvl1pPr algn="ctr">
              <a:defRPr sz="4400" b="1">
                <a:solidFill>
                  <a:srgbClr val="0B85CF"/>
                </a:solidFill>
                <a:latin typeface="微软雅黑" panose="020B0503020204020204" charset="-122"/>
                <a:ea typeface="微软雅黑" panose="020B0503020204020204" charset="-122"/>
              </a:defRPr>
            </a:lvl1pPr>
          </a:lstStyle>
          <a:p>
            <a:r>
              <a:rPr lang="en-US" dirty="0" err="1"/>
              <a:t>单击此处输入正标题</a:t>
            </a:r>
            <a:endParaRPr lang="en-US" dirty="0"/>
          </a:p>
        </p:txBody>
      </p:sp>
      <p:grpSp>
        <p:nvGrpSpPr>
          <p:cNvPr id="2" name="组合 1"/>
          <p:cNvGrpSpPr/>
          <p:nvPr userDrawn="1"/>
        </p:nvGrpSpPr>
        <p:grpSpPr>
          <a:xfrm>
            <a:off x="8929156" y="40648"/>
            <a:ext cx="3227035" cy="1067978"/>
            <a:chOff x="322377" y="128913"/>
            <a:chExt cx="3227035" cy="1067978"/>
          </a:xfrm>
        </p:grpSpPr>
        <p:pic>
          <p:nvPicPr>
            <p:cNvPr id="3" name="图片 2"/>
            <p:cNvPicPr>
              <a:picLocks noChangeAspect="1"/>
            </p:cNvPicPr>
            <p:nvPr userDrawn="1"/>
          </p:nvPicPr>
          <p:blipFill rotWithShape="1">
            <a:blip r:embed="rId3" cstate="print"/>
            <a:srcRect t="22265" b="22265"/>
            <a:stretch>
              <a:fillRect/>
            </a:stretch>
          </p:blipFill>
          <p:spPr>
            <a:xfrm>
              <a:off x="322377" y="278431"/>
              <a:ext cx="2207678" cy="918460"/>
            </a:xfrm>
            <a:prstGeom prst="rect">
              <a:avLst/>
            </a:prstGeom>
          </p:spPr>
        </p:pic>
        <p:pic>
          <p:nvPicPr>
            <p:cNvPr id="4" name="图片 3"/>
            <p:cNvPicPr>
              <a:picLocks noChangeAspect="1"/>
            </p:cNvPicPr>
            <p:nvPr userDrawn="1"/>
          </p:nvPicPr>
          <p:blipFill>
            <a:blip r:embed="rId4" cstate="print"/>
            <a:stretch>
              <a:fillRect/>
            </a:stretch>
          </p:blipFill>
          <p:spPr>
            <a:xfrm>
              <a:off x="2264108" y="128913"/>
              <a:ext cx="1285304" cy="963978"/>
            </a:xfrm>
            <a:prstGeom prst="rect">
              <a:avLst/>
            </a:prstGeom>
          </p:spPr>
        </p:pic>
      </p:grpSp>
      <p:sp>
        <p:nvSpPr>
          <p:cNvPr id="18" name="文本占位符 17"/>
          <p:cNvSpPr>
            <a:spLocks noGrp="1"/>
          </p:cNvSpPr>
          <p:nvPr>
            <p:ph type="body" sz="quarter" idx="10" hasCustomPrompt="1"/>
          </p:nvPr>
        </p:nvSpPr>
        <p:spPr>
          <a:xfrm>
            <a:off x="838200" y="2952362"/>
            <a:ext cx="10515600" cy="877888"/>
          </a:xfrm>
          <a:prstGeom prst="rect">
            <a:avLst/>
          </a:prstGeom>
        </p:spPr>
        <p:txBody>
          <a:bodyPr anchor="ctr">
            <a:noAutofit/>
          </a:bodyPr>
          <a:lstStyle>
            <a:lvl1pPr marL="0" indent="0" algn="ctr">
              <a:buNone/>
              <a:defRPr sz="3600">
                <a:solidFill>
                  <a:schemeClr val="accent2"/>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单击此处输入副标题</a:t>
            </a:r>
            <a:endParaRPr kumimoji="1" lang="zh-CN" altLang="en-US" dirty="0"/>
          </a:p>
        </p:txBody>
      </p:sp>
      <p:sp>
        <p:nvSpPr>
          <p:cNvPr id="21" name="文本占位符 17"/>
          <p:cNvSpPr>
            <a:spLocks noGrp="1"/>
          </p:cNvSpPr>
          <p:nvPr>
            <p:ph type="body" sz="quarter" idx="11" hasCustomPrompt="1"/>
          </p:nvPr>
        </p:nvSpPr>
        <p:spPr>
          <a:xfrm>
            <a:off x="838200" y="4267200"/>
            <a:ext cx="10515600" cy="558130"/>
          </a:xfrm>
          <a:prstGeom prst="rect">
            <a:avLst/>
          </a:prstGeom>
        </p:spPr>
        <p:txBody>
          <a:bodyPr anchor="ctr">
            <a:noAutofit/>
          </a:bodyPr>
          <a:lstStyle>
            <a:lvl1pPr marL="0" indent="0" algn="ctr">
              <a:buNone/>
              <a:defRPr sz="2000">
                <a:solidFill>
                  <a:schemeClr val="tx1"/>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单击此处输入汇报部门 汇报人</a:t>
            </a:r>
            <a:endParaRPr kumimoji="1" lang="zh-CN" altLang="en-US" dirty="0"/>
          </a:p>
        </p:txBody>
      </p:sp>
      <p:sp>
        <p:nvSpPr>
          <p:cNvPr id="22" name="文本占位符 17"/>
          <p:cNvSpPr>
            <a:spLocks noGrp="1"/>
          </p:cNvSpPr>
          <p:nvPr>
            <p:ph type="body" sz="quarter" idx="12" hasCustomPrompt="1"/>
          </p:nvPr>
        </p:nvSpPr>
        <p:spPr>
          <a:xfrm>
            <a:off x="838200" y="4930589"/>
            <a:ext cx="10515600" cy="394447"/>
          </a:xfrm>
          <a:prstGeom prst="rect">
            <a:avLst/>
          </a:prstGeom>
        </p:spPr>
        <p:txBody>
          <a:bodyPr anchor="ctr">
            <a:noAutofit/>
          </a:bodyPr>
          <a:lstStyle>
            <a:lvl1pPr marL="0" indent="0" algn="ctr">
              <a:buNone/>
              <a:defRPr sz="1600">
                <a:solidFill>
                  <a:schemeClr val="accent3"/>
                </a:solidFill>
                <a:latin typeface="微软雅黑" panose="020B0503020204020204" charset="-122"/>
                <a:ea typeface="微软雅黑" panose="020B0503020204020204" charset="-122"/>
              </a:defRPr>
            </a:lvl1pPr>
            <a:lvl2pPr marL="457200" indent="0">
              <a:buNone/>
              <a:defRPr sz="3400">
                <a:latin typeface="微软雅黑" panose="020B0503020204020204" charset="-122"/>
                <a:ea typeface="微软雅黑" panose="020B0503020204020204" charset="-122"/>
              </a:defRPr>
            </a:lvl2pPr>
            <a:lvl3pPr marL="914400" indent="0">
              <a:buNone/>
              <a:defRPr sz="3400">
                <a:latin typeface="微软雅黑" panose="020B0503020204020204" charset="-122"/>
                <a:ea typeface="微软雅黑" panose="020B0503020204020204" charset="-122"/>
              </a:defRPr>
            </a:lvl3pPr>
            <a:lvl4pPr marL="1371600" indent="0">
              <a:buNone/>
              <a:defRPr sz="3400">
                <a:latin typeface="微软雅黑" panose="020B0503020204020204" charset="-122"/>
                <a:ea typeface="微软雅黑" panose="020B0503020204020204" charset="-122"/>
              </a:defRPr>
            </a:lvl4pPr>
            <a:lvl5pPr marL="1828800" indent="0">
              <a:buNone/>
              <a:defRPr sz="3400">
                <a:latin typeface="微软雅黑" panose="020B0503020204020204" charset="-122"/>
                <a:ea typeface="微软雅黑" panose="020B0503020204020204" charset="-122"/>
              </a:defRPr>
            </a:lvl5pPr>
          </a:lstStyle>
          <a:p>
            <a:pPr lvl="0"/>
            <a:r>
              <a:rPr kumimoji="1" lang="zh-CN" altLang="en-US" dirty="0"/>
              <a:t>单击此处输入汇报日期：</a:t>
            </a:r>
            <a:r>
              <a:rPr kumimoji="1" lang="en-US" altLang="zh-CN" dirty="0"/>
              <a:t>YYYY-MM-DD</a:t>
            </a:r>
            <a:endParaRPr kumimoji="1" lang="zh-CN" altLang="en-US" dirty="0"/>
          </a:p>
        </p:txBody>
      </p:sp>
      <p:sp>
        <p:nvSpPr>
          <p:cNvPr id="23" name="文本框 2"/>
          <p:cNvSpPr txBox="1">
            <a:spLocks noChangeArrowheads="1"/>
          </p:cNvSpPr>
          <p:nvPr userDrawn="1"/>
        </p:nvSpPr>
        <p:spPr bwMode="auto">
          <a:xfrm>
            <a:off x="319295" y="255735"/>
            <a:ext cx="1857396" cy="523220"/>
          </a:xfrm>
          <a:prstGeom prst="rect">
            <a:avLst/>
          </a:prstGeom>
          <a:noFill/>
          <a:ln w="9525">
            <a:solidFill>
              <a:schemeClr val="accent5"/>
            </a:solidFill>
            <a:miter lim="800000"/>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spAutoFit/>
          </a:bodyPr>
          <a:lstStyle/>
          <a:p>
            <a:pPr algn="ctr">
              <a:spcAft>
                <a:spcPts val="0"/>
              </a:spcAft>
            </a:pPr>
            <a:r>
              <a:rPr lang="zh-CN" altLang="en-US" sz="2800" b="0" i="0" kern="120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rPr>
              <a:t>核心商密</a:t>
            </a:r>
            <a:endParaRPr lang="zh-CN" altLang="en-US" sz="1800" b="0" i="0" dirty="0">
              <a:ln>
                <a:noFill/>
              </a:ln>
              <a:solidFill>
                <a:schemeClr val="accent5"/>
              </a:solidFill>
              <a:effectLst/>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标题_内容">
    <p:spTree>
      <p:nvGrpSpPr>
        <p:cNvPr id="1" name=""/>
        <p:cNvGrpSpPr/>
        <p:nvPr/>
      </p:nvGrpSpPr>
      <p:grpSpPr>
        <a:xfrm>
          <a:off x="0" y="0"/>
          <a:ext cx="0" cy="0"/>
          <a:chOff x="0" y="0"/>
          <a:chExt cx="0" cy="0"/>
        </a:xfrm>
      </p:grpSpPr>
      <p:sp>
        <p:nvSpPr>
          <p:cNvPr id="4" name="TextBox 3"/>
          <p:cNvSpPr txBox="1"/>
          <p:nvPr userDrawn="1"/>
        </p:nvSpPr>
        <p:spPr>
          <a:xfrm>
            <a:off x="11527474" y="648732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000" b="0" i="0" u="none" strike="noStrike" kern="1200" cap="none" spc="0" normalizeH="0" baseline="0" noProof="0" smtClean="0">
                <a:ln>
                  <a:noFill/>
                </a:ln>
                <a:solidFill>
                  <a:srgbClr val="8CC121"/>
                </a:solidFill>
                <a:effectLst/>
                <a:uLnTx/>
                <a:uFillTx/>
                <a:latin typeface="微软雅黑" panose="020B0503020204020204" charset="-122"/>
                <a:ea typeface="微软雅黑" panose="020B0503020204020204" charset="-122"/>
                <a:cs typeface="+mn-cs"/>
                <a:sym typeface="+mn-ea"/>
              </a:rPr>
            </a:fld>
            <a:endParaRPr kumimoji="1" lang="zh-CN" altLang="en-US" sz="1000" b="0" i="0" u="none" strike="noStrike" kern="1200" cap="none" spc="0" normalizeH="0" baseline="0" noProof="0" dirty="0">
              <a:ln>
                <a:noFill/>
              </a:ln>
              <a:solidFill>
                <a:srgbClr val="8CC121"/>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379282" y="187505"/>
            <a:ext cx="7149329"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2_标题_内容">
    <p:spTree>
      <p:nvGrpSpPr>
        <p:cNvPr id="1" name=""/>
        <p:cNvGrpSpPr/>
        <p:nvPr/>
      </p:nvGrpSpPr>
      <p:grpSpPr>
        <a:xfrm>
          <a:off x="0" y="0"/>
          <a:ext cx="0" cy="0"/>
          <a:chOff x="0" y="0"/>
          <a:chExt cx="0" cy="0"/>
        </a:xfrm>
      </p:grpSpPr>
      <p:sp>
        <p:nvSpPr>
          <p:cNvPr id="4" name="TextBox 3"/>
          <p:cNvSpPr txBox="1"/>
          <p:nvPr userDrawn="1"/>
        </p:nvSpPr>
        <p:spPr>
          <a:xfrm>
            <a:off x="11806239" y="6611780"/>
            <a:ext cx="447675" cy="246221"/>
          </a:xfrm>
          <a:prstGeom prst="rect">
            <a:avLst/>
          </a:prstGeom>
          <a:noFill/>
        </p:spPr>
        <p:txBody>
          <a:bodyPr wrap="none" rtlCol="0" anchor="ctr" anchorCtr="0">
            <a:noAutofit/>
          </a:bodyPr>
          <a:lstStyle/>
          <a:p>
            <a:pPr marL="0" marR="0" lvl="0" indent="0" algn="r" defTabSz="4572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000" b="0" i="0" u="none" strike="noStrike" kern="1200" cap="none" spc="0" normalizeH="0" baseline="0" noProof="0" smtClean="0">
                <a:ln>
                  <a:noFill/>
                </a:ln>
                <a:solidFill>
                  <a:srgbClr val="8CC121"/>
                </a:solidFill>
                <a:effectLst/>
                <a:uLnTx/>
                <a:uFillTx/>
                <a:latin typeface="微软雅黑" panose="020B0503020204020204" charset="-122"/>
                <a:ea typeface="微软雅黑" panose="020B0503020204020204" charset="-122"/>
                <a:cs typeface="+mn-cs"/>
                <a:sym typeface="+mn-ea"/>
              </a:rPr>
            </a:fld>
            <a:endParaRPr kumimoji="1" lang="zh-CN" altLang="en-US" sz="1000" b="0" i="0" u="none" strike="noStrike" kern="1200" cap="none" spc="0" normalizeH="0" baseline="0" noProof="0" dirty="0">
              <a:ln>
                <a:noFill/>
              </a:ln>
              <a:solidFill>
                <a:srgbClr val="8CC121"/>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515939" y="6576618"/>
            <a:ext cx="10708640" cy="246221"/>
          </a:xfrm>
          <a:prstGeom prst="rect">
            <a:avLst/>
          </a:prstGeom>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文档中的全部内容属</a:t>
            </a:r>
            <a:r>
              <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中国移动</a:t>
            </a:r>
            <a:r>
              <a:rPr kumimoji="0" lang="zh-CN" altLang="zh-CN"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sym typeface="Arial" panose="020B0604020202020204" pitchFamily="34" charset="0"/>
              </a:rPr>
              <a:t>所有，未经允许，不可全部或部分发表、复制、使用于任何目的</a:t>
            </a:r>
            <a:endParaRPr kumimoji="0" lang="zh-CN" altLang="en-US" sz="1000" b="0" i="0" u="none" strike="noStrike" kern="1200" cap="none" spc="0" normalizeH="0" baseline="0" noProof="0" dirty="0">
              <a:ln>
                <a:noFill/>
              </a:ln>
              <a:solidFill>
                <a:srgbClr val="C6C7C6"/>
              </a:solidFill>
              <a:effectLst/>
              <a:uLnTx/>
              <a:uFillTx/>
              <a:latin typeface="微软雅黑 Light" panose="020B0502040204020203" pitchFamily="34" charset="-122"/>
              <a:ea typeface="微软雅黑 Light" panose="020B0502040204020203" pitchFamily="34" charset="-122"/>
              <a:cs typeface="+mn-cs"/>
            </a:endParaRPr>
          </a:p>
        </p:txBody>
      </p:sp>
      <p:pic>
        <p:nvPicPr>
          <p:cNvPr id="11" name="图片 10"/>
          <p:cNvPicPr>
            <a:picLocks noChangeAspect="1"/>
          </p:cNvPicPr>
          <p:nvPr userDrawn="1"/>
        </p:nvPicPr>
        <p:blipFill rotWithShape="1">
          <a:blip r:embed="rId2" cstate="screen"/>
          <a:srcRect t="28597" b="32462"/>
          <a:stretch>
            <a:fillRect/>
          </a:stretch>
        </p:blipFill>
        <p:spPr>
          <a:xfrm>
            <a:off x="10326768" y="229448"/>
            <a:ext cx="1852076" cy="540912"/>
          </a:xfrm>
          <a:prstGeom prst="rect">
            <a:avLst/>
          </a:prstGeom>
        </p:spPr>
      </p:pic>
      <p:sp>
        <p:nvSpPr>
          <p:cNvPr id="12" name="标题占位符 10"/>
          <p:cNvSpPr>
            <a:spLocks noGrp="1"/>
          </p:cNvSpPr>
          <p:nvPr>
            <p:ph type="title"/>
          </p:nvPr>
        </p:nvSpPr>
        <p:spPr>
          <a:xfrm>
            <a:off x="328629" y="229921"/>
            <a:ext cx="9577633" cy="48657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2" name="矩形 1"/>
          <p:cNvSpPr/>
          <p:nvPr userDrawn="1"/>
        </p:nvSpPr>
        <p:spPr>
          <a:xfrm>
            <a:off x="-1" y="802083"/>
            <a:ext cx="11052000" cy="72000"/>
          </a:xfrm>
          <a:prstGeom prst="rect">
            <a:avLst/>
          </a:prstGeom>
          <a:gradFill>
            <a:gsLst>
              <a:gs pos="100000">
                <a:schemeClr val="bg1"/>
              </a:gs>
              <a:gs pos="30000">
                <a:schemeClr val="accent1">
                  <a:lumMod val="45000"/>
                  <a:lumOff val="55000"/>
                </a:schemeClr>
              </a:gs>
              <a:gs pos="0">
                <a:srgbClr val="1184CF"/>
              </a:gs>
              <a:gs pos="100000">
                <a:schemeClr val="accent1">
                  <a:lumMod val="30000"/>
                  <a:lumOff val="7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p:cNvSpPr>
            <a:spLocks noGrp="1"/>
          </p:cNvSpPr>
          <p:nvPr>
            <p:ph type="body" sz="quarter" idx="10"/>
          </p:nvPr>
        </p:nvSpPr>
        <p:spPr>
          <a:xfrm>
            <a:off x="0" y="931285"/>
            <a:ext cx="12178844" cy="539750"/>
          </a:xfrm>
          <a:prstGeom prst="rect">
            <a:avLst/>
          </a:prstGeom>
        </p:spPr>
        <p:txBody>
          <a:bodyPr lIns="540000" rIns="540000"/>
          <a:lstStyle>
            <a:lvl1pPr marL="0" indent="-285750">
              <a:buClr>
                <a:srgbClr val="009CE2"/>
              </a:buClr>
              <a:buFont typeface="Wingdings" panose="05000000000000000000" pitchFamily="2" charset="2"/>
              <a:buChar char="n"/>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charset="-122"/>
                <a:ea typeface="微软雅黑" panose="020B0503020204020204" charset="-122"/>
                <a:cs typeface="微软雅黑" panose="020B0503020204020204" charset="-122"/>
              </a:defRPr>
            </a:lvl1pPr>
            <a:lvl2pPr marL="457200" indent="0">
              <a:buNone/>
              <a:defRPr kumimoji="0" lang="zh-CN" altLang="en-US" sz="1400" b="1" i="0" u="none" strike="noStrike" kern="0" cap="none" spc="0" normalizeH="0" baseline="0" dirty="0" smtClean="0">
                <a:ln>
                  <a:noFill/>
                </a:ln>
                <a:solidFill>
                  <a:srgbClr val="000000">
                    <a:alpha val="100000"/>
                  </a:srgbClr>
                </a:solidFill>
                <a:effectLst/>
                <a:uLnTx/>
                <a:uFillTx/>
                <a:latin typeface="微软雅黑" panose="020B0503020204020204" charset="-122"/>
                <a:ea typeface="微软雅黑" panose="020B0503020204020204" charset="-122"/>
                <a:cs typeface="微软雅黑" panose="020B0503020204020204" charset="-122"/>
              </a:defRPr>
            </a:lvl2pPr>
          </a:lstStyle>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r>
              <a:rPr lang="zh-CN" altLang="en-US" dirty="0"/>
              <a:t>单击此处编辑母版文本样式</a:t>
            </a:r>
            <a:endParaRPr lang="zh-CN" altLang="en-US" dirty="0"/>
          </a:p>
          <a:p>
            <a:pPr marL="0" marR="0" lvl="0" indent="-285750" algn="l" defTabSz="914400" rtl="0" eaLnBrk="1" fontAlgn="auto" latinLnBrk="0" hangingPunct="1">
              <a:lnSpc>
                <a:spcPct val="90000"/>
              </a:lnSpc>
              <a:spcBef>
                <a:spcPts val="1000"/>
              </a:spcBef>
              <a:spcAft>
                <a:spcPts val="0"/>
              </a:spcAft>
              <a:buClr>
                <a:srgbClr val="009CE2"/>
              </a:buClr>
              <a:buSzTx/>
              <a:buFont typeface="Wingdings" panose="05000000000000000000" pitchFamily="2" charset="2"/>
              <a:buChar char="n"/>
              <a:defRPr/>
            </a:pPr>
            <a:endParaRPr lang="zh-CN" altLang="en-US" dirty="0"/>
          </a:p>
          <a:p>
            <a:pPr lvl="0"/>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6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stretch>
            <a:fillRect/>
          </a:stretch>
        </p:blipFill>
        <p:spPr>
          <a:xfrm>
            <a:off x="0" y="0"/>
            <a:ext cx="12192000" cy="6858000"/>
          </a:xfrm>
          <a:prstGeom prst="rect">
            <a:avLst/>
          </a:prstGeom>
        </p:spPr>
      </p:pic>
      <p:pic>
        <p:nvPicPr>
          <p:cNvPr id="17" name="图片 16"/>
          <p:cNvPicPr>
            <a:picLocks noChangeAspect="1"/>
          </p:cNvPicPr>
          <p:nvPr userDrawn="1"/>
        </p:nvPicPr>
        <p:blipFill>
          <a:blip r:embed="rId3" cstate="print"/>
          <a:stretch>
            <a:fillRect/>
          </a:stretch>
        </p:blipFill>
        <p:spPr>
          <a:xfrm>
            <a:off x="568960" y="5873115"/>
            <a:ext cx="1287780" cy="808990"/>
          </a:xfrm>
          <a:prstGeom prst="rect">
            <a:avLst/>
          </a:prstGeom>
        </p:spPr>
      </p:pic>
      <p:sp>
        <p:nvSpPr>
          <p:cNvPr id="4" name="TextBox 3"/>
          <p:cNvSpPr txBox="1"/>
          <p:nvPr userDrawn="1"/>
        </p:nvSpPr>
        <p:spPr>
          <a:xfrm>
            <a:off x="11744324" y="6481877"/>
            <a:ext cx="447675" cy="376120"/>
          </a:xfrm>
          <a:prstGeom prst="rect">
            <a:avLst/>
          </a:prstGeom>
          <a:noFill/>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FDA8CB47-5F18-3A4B-AD3A-422A03DFB5D1}" type="slidenum">
              <a:rPr kumimoji="1" lang="zh-CN" altLang="en-US" sz="1100" b="0" i="0" u="none" strike="noStrike" kern="1200" cap="none" spc="0" normalizeH="0" baseline="0" noProof="0" smtClean="0">
                <a:ln>
                  <a:noFill/>
                </a:ln>
                <a:solidFill>
                  <a:srgbClr val="8FC31F"/>
                </a:solidFill>
                <a:effectLst/>
                <a:uLnTx/>
                <a:uFillTx/>
                <a:latin typeface="微软雅黑" panose="020B0503020204020204" charset="-122"/>
                <a:ea typeface="微软雅黑" panose="020B0503020204020204" charset="-122"/>
                <a:cs typeface="+mn-cs"/>
                <a:sym typeface="+mn-ea"/>
              </a:rPr>
            </a:fld>
            <a:endParaRPr kumimoji="1" lang="zh-CN" altLang="en-US" sz="1100" b="0" i="0" u="none" strike="noStrike" kern="1200" cap="none" spc="0" normalizeH="0" baseline="0" noProof="0" dirty="0">
              <a:ln>
                <a:noFill/>
              </a:ln>
              <a:solidFill>
                <a:srgbClr val="8FC31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515938" y="6576616"/>
            <a:ext cx="10708640" cy="246221"/>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rPr>
              <a:t>文档中的全部内容属</a:t>
            </a:r>
            <a:r>
              <a:rPr kumimoji="0" lang="zh-CN" altLang="en-US"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rPr>
              <a:t>中国移动</a:t>
            </a:r>
            <a:r>
              <a:rPr kumimoji="0" lang="zh-CN" altLang="zh-CN"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rPr>
              <a:t>所有，未经允许，不可全部或部分发表、复制、使用于任何目的</a:t>
            </a:r>
            <a:endParaRPr kumimoji="0" lang="zh-CN" altLang="en-US" sz="1000"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cs typeface="+mn-cs"/>
              <a:sym typeface="微软雅黑" panose="020B0503020204020204" charset="-122"/>
            </a:endParaRPr>
          </a:p>
        </p:txBody>
      </p:sp>
      <p:pic>
        <p:nvPicPr>
          <p:cNvPr id="9" name="图片 8"/>
          <p:cNvPicPr>
            <a:picLocks noChangeAspect="1"/>
          </p:cNvPicPr>
          <p:nvPr userDrawn="1"/>
        </p:nvPicPr>
        <p:blipFill rotWithShape="1">
          <a:blip r:embed="rId4" cstate="screen"/>
          <a:srcRect t="28597" b="32462"/>
          <a:stretch>
            <a:fillRect/>
          </a:stretch>
        </p:blipFill>
        <p:spPr>
          <a:xfrm>
            <a:off x="10348713" y="141668"/>
            <a:ext cx="1852076" cy="540912"/>
          </a:xfrm>
          <a:prstGeom prst="rect">
            <a:avLst/>
          </a:prstGeom>
        </p:spPr>
      </p:pic>
      <p:sp>
        <p:nvSpPr>
          <p:cNvPr id="11" name="标题占位符 10"/>
          <p:cNvSpPr>
            <a:spLocks noGrp="1"/>
          </p:cNvSpPr>
          <p:nvPr>
            <p:ph type="title"/>
          </p:nvPr>
        </p:nvSpPr>
        <p:spPr>
          <a:xfrm>
            <a:off x="32116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3" Type="http://schemas.openxmlformats.org/officeDocument/2006/relationships/theme" Target="../theme/theme2.xml"/><Relationship Id="rId12" Type="http://schemas.openxmlformats.org/officeDocument/2006/relationships/image" Target="../media/image7.png"/><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6.xml"/><Relationship Id="rId8" Type="http://schemas.openxmlformats.org/officeDocument/2006/relationships/slideLayout" Target="../slideLayouts/slideLayout35.xml"/><Relationship Id="rId7" Type="http://schemas.openxmlformats.org/officeDocument/2006/relationships/slideLayout" Target="../slideLayouts/slideLayout34.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3" Type="http://schemas.openxmlformats.org/officeDocument/2006/relationships/slideLayout" Target="../slideLayouts/slideLayout30.xml"/><Relationship Id="rId2" Type="http://schemas.openxmlformats.org/officeDocument/2006/relationships/slideLayout" Target="../slideLayouts/slideLayout29.xml"/><Relationship Id="rId11" Type="http://schemas.openxmlformats.org/officeDocument/2006/relationships/theme" Target="../theme/theme3.xml"/><Relationship Id="rId10" Type="http://schemas.openxmlformats.org/officeDocument/2006/relationships/image" Target="../media/image7.png"/><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12" cstate="screen"/>
          <a:srcRect t="28597" b="32462"/>
          <a:stretch>
            <a:fillRect/>
          </a:stretch>
        </p:blipFill>
        <p:spPr>
          <a:xfrm>
            <a:off x="10348713" y="141668"/>
            <a:ext cx="1852076" cy="540912"/>
          </a:xfrm>
          <a:prstGeom prst="rect">
            <a:avLst/>
          </a:prstGeom>
        </p:spPr>
      </p:pic>
      <p:sp>
        <p:nvSpPr>
          <p:cNvPr id="11" name="标题占位符 10"/>
          <p:cNvSpPr>
            <a:spLocks noGrp="1"/>
          </p:cNvSpPr>
          <p:nvPr>
            <p:ph type="title"/>
          </p:nvPr>
        </p:nvSpPr>
        <p:spPr>
          <a:xfrm>
            <a:off x="522000"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13" name="矩形 12"/>
          <p:cNvSpPr/>
          <p:nvPr userDrawn="1"/>
        </p:nvSpPr>
        <p:spPr>
          <a:xfrm>
            <a:off x="10860468" y="6551300"/>
            <a:ext cx="1222869" cy="261610"/>
          </a:xfrm>
          <a:prstGeom prst="rect">
            <a:avLst/>
          </a:prstGeom>
          <a:noFill/>
        </p:spPr>
        <p:txBody>
          <a:bodyPr wrap="none" rtlCol="0" anchor="ctr" anchorCtr="0">
            <a:noAutofit/>
          </a:bodyPr>
          <a:lstStyle/>
          <a:p>
            <a:pPr algn="r" defTabSz="914400"/>
            <a:fld id="{A3BAE1C6-4380-4491-8C76-C5075ED62E8D}" type="slidenum">
              <a:rPr kumimoji="1" lang="zh-CN" altLang="en-US" sz="1100" smtClean="0">
                <a:solidFill>
                  <a:srgbClr val="8FC31F"/>
                </a:solidFill>
              </a:rPr>
            </a:fld>
            <a:endParaRPr kumimoji="1" lang="zh-CN" altLang="en-US" sz="1100" dirty="0">
              <a:solidFill>
                <a:srgbClr val="8FC31F"/>
              </a:solidFill>
            </a:endParaRPr>
          </a:p>
        </p:txBody>
      </p:sp>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mc:AlternateContent xmlns:mc="http://schemas.openxmlformats.org/markup-compatibility/2006">
    <mc:Choice xmlns:p14="http://schemas.microsoft.com/office/powerpoint/2010/main" Requires="p14">
      <p:transition p14:dur="10"/>
    </mc:Choice>
    <mc:Fallback>
      <p:transition/>
    </mc:Fallback>
  </mc:AlternateContent>
  <p:hf sldNum="0" hdr="0" ftr="0" dt="0"/>
  <p:txStyles>
    <p:titleStyle>
      <a:lvl1pPr algn="l" defTabSz="914400" rtl="0" eaLnBrk="1" latinLnBrk="0" hangingPunct="1">
        <a:lnSpc>
          <a:spcPct val="90000"/>
        </a:lnSpc>
        <a:spcBef>
          <a:spcPct val="0"/>
        </a:spcBef>
        <a:buNone/>
        <a:defRPr lang="en-US" altLang="zh-CN" sz="2400" b="1" kern="1200" dirty="0">
          <a:solidFill>
            <a:srgbClr val="0070C0"/>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10" cstate="screen"/>
          <a:srcRect t="28597" b="32462"/>
          <a:stretch>
            <a:fillRect/>
          </a:stretch>
        </p:blipFill>
        <p:spPr>
          <a:xfrm>
            <a:off x="10348713" y="141668"/>
            <a:ext cx="1852076" cy="540912"/>
          </a:xfrm>
          <a:prstGeom prst="rect">
            <a:avLst/>
          </a:prstGeom>
        </p:spPr>
      </p:pic>
      <p:sp>
        <p:nvSpPr>
          <p:cNvPr id="11" name="标题占位符 10"/>
          <p:cNvSpPr>
            <a:spLocks noGrp="1"/>
          </p:cNvSpPr>
          <p:nvPr>
            <p:ph type="title"/>
          </p:nvPr>
        </p:nvSpPr>
        <p:spPr>
          <a:xfrm>
            <a:off x="321167" y="92410"/>
            <a:ext cx="10515600" cy="639427"/>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13" name="矩形 12"/>
          <p:cNvSpPr/>
          <p:nvPr userDrawn="1"/>
        </p:nvSpPr>
        <p:spPr>
          <a:xfrm>
            <a:off x="10917618" y="6551300"/>
            <a:ext cx="1222869" cy="261610"/>
          </a:xfrm>
          <a:prstGeom prst="rect">
            <a:avLst/>
          </a:prstGeom>
          <a:noFill/>
        </p:spPr>
        <p:txBody>
          <a:bodyPr wrap="none" rtlCol="0" anchor="ctr" anchorCtr="0">
            <a:noAutofit/>
          </a:bodyPr>
          <a:lstStyle/>
          <a:p>
            <a:pPr algn="r" defTabSz="914400"/>
            <a:fld id="{A3BAE1C6-4380-4491-8C76-C5075ED62E8D}" type="slidenum">
              <a:rPr kumimoji="1" lang="zh-CN" altLang="en-US" sz="1100" smtClean="0">
                <a:solidFill>
                  <a:srgbClr val="8FC31F"/>
                </a:solidFill>
              </a:rPr>
            </a:fld>
            <a:endParaRPr kumimoji="1" lang="zh-CN" altLang="en-US" sz="1100" dirty="0">
              <a:solidFill>
                <a:srgbClr val="8FC31F"/>
              </a:solidFill>
            </a:endParaRPr>
          </a:p>
        </p:txBody>
      </p:sp>
      <p:sp>
        <p:nvSpPr>
          <p:cNvPr id="5" name="矩形 4"/>
          <p:cNvSpPr/>
          <p:nvPr userDrawn="1"/>
        </p:nvSpPr>
        <p:spPr>
          <a:xfrm>
            <a:off x="515938" y="6576616"/>
            <a:ext cx="10708640" cy="246221"/>
          </a:xfrm>
          <a:prstGeom prst="rect">
            <a:avLst/>
          </a:prstGeom>
        </p:spPr>
        <p:txBody>
          <a:bodyPr wrap="square" anchor="ctr">
            <a:spAutoFit/>
          </a:bodyPr>
          <a:lstStyle/>
          <a:p>
            <a:pPr algn="l"/>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文档中的全部内容属</a:t>
            </a:r>
            <a:r>
              <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中国移动</a:t>
            </a:r>
            <a:r>
              <a:rPr lang="zh-CN" altLang="zh-CN"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rPr>
              <a:t>所有，未经允许，不可全部或部分发表、复制、使用于任何目的</a:t>
            </a:r>
            <a:endParaRPr lang="zh-CN" altLang="en-US" sz="1000" b="0" i="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Lst>
  <mc:AlternateContent xmlns:mc="http://schemas.openxmlformats.org/markup-compatibility/2006">
    <mc:Choice xmlns:p14="http://schemas.microsoft.com/office/powerpoint/2010/main" Requires="p14">
      <p:transition p14:dur="10"/>
    </mc:Choice>
    <mc:Fallback>
      <p:transition/>
    </mc:Fallback>
  </mc:AlternateContent>
  <p:hf sldNum="0" hdr="0" ftr="0" dt="0"/>
  <p:txStyles>
    <p:titleStyle>
      <a:lvl1pPr algn="l" defTabSz="914400" rtl="0" eaLnBrk="1" latinLnBrk="0" hangingPunct="1">
        <a:lnSpc>
          <a:spcPct val="90000"/>
        </a:lnSpc>
        <a:spcBef>
          <a:spcPct val="0"/>
        </a:spcBef>
        <a:buNone/>
        <a:defRPr lang="en-US" altLang="zh-CN" sz="2400" b="1" kern="1200" dirty="0">
          <a:solidFill>
            <a:srgbClr val="0070C0"/>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3.xml"/><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90" Type="http://schemas.openxmlformats.org/officeDocument/2006/relationships/notesSlide" Target="../notesSlides/notesSlide4.xml"/><Relationship Id="rId9" Type="http://schemas.openxmlformats.org/officeDocument/2006/relationships/tags" Target="../tags/tag24.xml"/><Relationship Id="rId89" Type="http://schemas.openxmlformats.org/officeDocument/2006/relationships/slideLayout" Target="../slideLayouts/slideLayout24.xml"/><Relationship Id="rId88" Type="http://schemas.openxmlformats.org/officeDocument/2006/relationships/tags" Target="../tags/tag103.xml"/><Relationship Id="rId87" Type="http://schemas.openxmlformats.org/officeDocument/2006/relationships/tags" Target="../tags/tag102.xml"/><Relationship Id="rId86" Type="http://schemas.openxmlformats.org/officeDocument/2006/relationships/tags" Target="../tags/tag101.xml"/><Relationship Id="rId85" Type="http://schemas.openxmlformats.org/officeDocument/2006/relationships/tags" Target="../tags/tag100.xml"/><Relationship Id="rId84" Type="http://schemas.openxmlformats.org/officeDocument/2006/relationships/tags" Target="../tags/tag99.xml"/><Relationship Id="rId83" Type="http://schemas.openxmlformats.org/officeDocument/2006/relationships/tags" Target="../tags/tag98.xml"/><Relationship Id="rId82" Type="http://schemas.openxmlformats.org/officeDocument/2006/relationships/tags" Target="../tags/tag97.xml"/><Relationship Id="rId81" Type="http://schemas.openxmlformats.org/officeDocument/2006/relationships/tags" Target="../tags/tag96.xml"/><Relationship Id="rId80" Type="http://schemas.openxmlformats.org/officeDocument/2006/relationships/tags" Target="../tags/tag95.xml"/><Relationship Id="rId8" Type="http://schemas.openxmlformats.org/officeDocument/2006/relationships/tags" Target="../tags/tag23.xml"/><Relationship Id="rId79" Type="http://schemas.openxmlformats.org/officeDocument/2006/relationships/tags" Target="../tags/tag94.xml"/><Relationship Id="rId78" Type="http://schemas.openxmlformats.org/officeDocument/2006/relationships/tags" Target="../tags/tag93.xml"/><Relationship Id="rId77" Type="http://schemas.openxmlformats.org/officeDocument/2006/relationships/tags" Target="../tags/tag92.xml"/><Relationship Id="rId76" Type="http://schemas.openxmlformats.org/officeDocument/2006/relationships/tags" Target="../tags/tag91.xml"/><Relationship Id="rId75" Type="http://schemas.openxmlformats.org/officeDocument/2006/relationships/tags" Target="../tags/tag90.xml"/><Relationship Id="rId74" Type="http://schemas.openxmlformats.org/officeDocument/2006/relationships/tags" Target="../tags/tag89.xml"/><Relationship Id="rId73" Type="http://schemas.openxmlformats.org/officeDocument/2006/relationships/tags" Target="../tags/tag88.xml"/><Relationship Id="rId72" Type="http://schemas.openxmlformats.org/officeDocument/2006/relationships/tags" Target="../tags/tag87.xml"/><Relationship Id="rId71" Type="http://schemas.openxmlformats.org/officeDocument/2006/relationships/tags" Target="../tags/tag86.xml"/><Relationship Id="rId70" Type="http://schemas.openxmlformats.org/officeDocument/2006/relationships/tags" Target="../tags/tag85.xml"/><Relationship Id="rId7" Type="http://schemas.openxmlformats.org/officeDocument/2006/relationships/tags" Target="../tags/tag22.xml"/><Relationship Id="rId69" Type="http://schemas.openxmlformats.org/officeDocument/2006/relationships/tags" Target="../tags/tag84.xml"/><Relationship Id="rId68" Type="http://schemas.openxmlformats.org/officeDocument/2006/relationships/tags" Target="../tags/tag83.xml"/><Relationship Id="rId67" Type="http://schemas.openxmlformats.org/officeDocument/2006/relationships/tags" Target="../tags/tag82.xml"/><Relationship Id="rId66" Type="http://schemas.openxmlformats.org/officeDocument/2006/relationships/tags" Target="../tags/tag81.xml"/><Relationship Id="rId65" Type="http://schemas.openxmlformats.org/officeDocument/2006/relationships/tags" Target="../tags/tag80.xml"/><Relationship Id="rId64" Type="http://schemas.openxmlformats.org/officeDocument/2006/relationships/tags" Target="../tags/tag79.xml"/><Relationship Id="rId63" Type="http://schemas.openxmlformats.org/officeDocument/2006/relationships/tags" Target="../tags/tag78.xml"/><Relationship Id="rId62" Type="http://schemas.openxmlformats.org/officeDocument/2006/relationships/tags" Target="../tags/tag77.xml"/><Relationship Id="rId61" Type="http://schemas.openxmlformats.org/officeDocument/2006/relationships/tags" Target="../tags/tag76.xml"/><Relationship Id="rId60" Type="http://schemas.openxmlformats.org/officeDocument/2006/relationships/tags" Target="../tags/tag75.xml"/><Relationship Id="rId6" Type="http://schemas.openxmlformats.org/officeDocument/2006/relationships/tags" Target="../tags/tag21.xml"/><Relationship Id="rId59" Type="http://schemas.openxmlformats.org/officeDocument/2006/relationships/tags" Target="../tags/tag74.xml"/><Relationship Id="rId58" Type="http://schemas.openxmlformats.org/officeDocument/2006/relationships/tags" Target="../tags/tag73.xml"/><Relationship Id="rId57" Type="http://schemas.openxmlformats.org/officeDocument/2006/relationships/tags" Target="../tags/tag72.xml"/><Relationship Id="rId56" Type="http://schemas.openxmlformats.org/officeDocument/2006/relationships/tags" Target="../tags/tag71.xml"/><Relationship Id="rId55" Type="http://schemas.openxmlformats.org/officeDocument/2006/relationships/tags" Target="../tags/tag70.xml"/><Relationship Id="rId54" Type="http://schemas.openxmlformats.org/officeDocument/2006/relationships/tags" Target="../tags/tag69.xml"/><Relationship Id="rId53" Type="http://schemas.openxmlformats.org/officeDocument/2006/relationships/tags" Target="../tags/tag68.xml"/><Relationship Id="rId52" Type="http://schemas.openxmlformats.org/officeDocument/2006/relationships/tags" Target="../tags/tag67.xml"/><Relationship Id="rId51" Type="http://schemas.openxmlformats.org/officeDocument/2006/relationships/tags" Target="../tags/tag66.xml"/><Relationship Id="rId50" Type="http://schemas.openxmlformats.org/officeDocument/2006/relationships/tags" Target="../tags/tag65.xml"/><Relationship Id="rId5" Type="http://schemas.openxmlformats.org/officeDocument/2006/relationships/tags" Target="../tags/tag20.xml"/><Relationship Id="rId49" Type="http://schemas.openxmlformats.org/officeDocument/2006/relationships/tags" Target="../tags/tag64.xml"/><Relationship Id="rId48" Type="http://schemas.openxmlformats.org/officeDocument/2006/relationships/tags" Target="../tags/tag63.xml"/><Relationship Id="rId47" Type="http://schemas.openxmlformats.org/officeDocument/2006/relationships/tags" Target="../tags/tag62.xml"/><Relationship Id="rId46" Type="http://schemas.openxmlformats.org/officeDocument/2006/relationships/tags" Target="../tags/tag61.xml"/><Relationship Id="rId45" Type="http://schemas.openxmlformats.org/officeDocument/2006/relationships/tags" Target="../tags/tag60.xml"/><Relationship Id="rId44" Type="http://schemas.openxmlformats.org/officeDocument/2006/relationships/tags" Target="../tags/tag59.xml"/><Relationship Id="rId43" Type="http://schemas.openxmlformats.org/officeDocument/2006/relationships/tags" Target="../tags/tag58.xml"/><Relationship Id="rId42" Type="http://schemas.openxmlformats.org/officeDocument/2006/relationships/tags" Target="../tags/tag57.xml"/><Relationship Id="rId41" Type="http://schemas.openxmlformats.org/officeDocument/2006/relationships/tags" Target="../tags/tag56.xml"/><Relationship Id="rId40" Type="http://schemas.openxmlformats.org/officeDocument/2006/relationships/tags" Target="../tags/tag55.xml"/><Relationship Id="rId4" Type="http://schemas.openxmlformats.org/officeDocument/2006/relationships/tags" Target="../tags/tag19.xml"/><Relationship Id="rId39" Type="http://schemas.openxmlformats.org/officeDocument/2006/relationships/tags" Target="../tags/tag54.xml"/><Relationship Id="rId38" Type="http://schemas.openxmlformats.org/officeDocument/2006/relationships/tags" Target="../tags/tag53.xml"/><Relationship Id="rId37" Type="http://schemas.openxmlformats.org/officeDocument/2006/relationships/tags" Target="../tags/tag52.xml"/><Relationship Id="rId36" Type="http://schemas.openxmlformats.org/officeDocument/2006/relationships/tags" Target="../tags/tag51.xml"/><Relationship Id="rId35" Type="http://schemas.openxmlformats.org/officeDocument/2006/relationships/tags" Target="../tags/tag50.xml"/><Relationship Id="rId34" Type="http://schemas.openxmlformats.org/officeDocument/2006/relationships/tags" Target="../tags/tag49.xml"/><Relationship Id="rId33" Type="http://schemas.openxmlformats.org/officeDocument/2006/relationships/tags" Target="../tags/tag48.xml"/><Relationship Id="rId32" Type="http://schemas.openxmlformats.org/officeDocument/2006/relationships/tags" Target="../tags/tag47.xml"/><Relationship Id="rId31" Type="http://schemas.openxmlformats.org/officeDocument/2006/relationships/tags" Target="../tags/tag46.xml"/><Relationship Id="rId30" Type="http://schemas.openxmlformats.org/officeDocument/2006/relationships/tags" Target="../tags/tag45.xml"/><Relationship Id="rId3" Type="http://schemas.openxmlformats.org/officeDocument/2006/relationships/tags" Target="../tags/tag18.xml"/><Relationship Id="rId29" Type="http://schemas.openxmlformats.org/officeDocument/2006/relationships/tags" Target="../tags/tag44.xml"/><Relationship Id="rId28" Type="http://schemas.openxmlformats.org/officeDocument/2006/relationships/tags" Target="../tags/tag43.xml"/><Relationship Id="rId27" Type="http://schemas.openxmlformats.org/officeDocument/2006/relationships/tags" Target="../tags/tag42.xml"/><Relationship Id="rId26" Type="http://schemas.openxmlformats.org/officeDocument/2006/relationships/tags" Target="../tags/tag41.xml"/><Relationship Id="rId25" Type="http://schemas.openxmlformats.org/officeDocument/2006/relationships/tags" Target="../tags/tag40.xml"/><Relationship Id="rId24" Type="http://schemas.openxmlformats.org/officeDocument/2006/relationships/tags" Target="../tags/tag39.xml"/><Relationship Id="rId23" Type="http://schemas.openxmlformats.org/officeDocument/2006/relationships/tags" Target="../tags/tag38.xml"/><Relationship Id="rId22" Type="http://schemas.openxmlformats.org/officeDocument/2006/relationships/tags" Target="../tags/tag37.xml"/><Relationship Id="rId21" Type="http://schemas.openxmlformats.org/officeDocument/2006/relationships/tags" Target="../tags/tag36.xml"/><Relationship Id="rId20" Type="http://schemas.openxmlformats.org/officeDocument/2006/relationships/tags" Target="../tags/tag35.xml"/><Relationship Id="rId2" Type="http://schemas.openxmlformats.org/officeDocument/2006/relationships/tags" Target="../tags/tag17.xml"/><Relationship Id="rId19" Type="http://schemas.openxmlformats.org/officeDocument/2006/relationships/tags" Target="../tags/tag34.xml"/><Relationship Id="rId18" Type="http://schemas.openxmlformats.org/officeDocument/2006/relationships/tags" Target="../tags/tag33.xml"/><Relationship Id="rId17" Type="http://schemas.openxmlformats.org/officeDocument/2006/relationships/tags" Target="../tags/tag32.xml"/><Relationship Id="rId16" Type="http://schemas.openxmlformats.org/officeDocument/2006/relationships/tags" Target="../tags/tag31.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3.xml"/><Relationship Id="rId1" Type="http://schemas.openxmlformats.org/officeDocument/2006/relationships/tags" Target="../tags/tag10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3.xml"/><Relationship Id="rId1" Type="http://schemas.openxmlformats.org/officeDocument/2006/relationships/tags" Target="../tags/tag105.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35.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35.xml"/><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4" Type="http://schemas.openxmlformats.org/officeDocument/2006/relationships/slideLayout" Target="../slideLayouts/slideLayout35.xml"/><Relationship Id="rId23" Type="http://schemas.openxmlformats.org/officeDocument/2006/relationships/tags" Target="../tags/tag128.xml"/><Relationship Id="rId22" Type="http://schemas.openxmlformats.org/officeDocument/2006/relationships/tags" Target="../tags/tag127.xml"/><Relationship Id="rId21" Type="http://schemas.openxmlformats.org/officeDocument/2006/relationships/tags" Target="../tags/tag126.xml"/><Relationship Id="rId20" Type="http://schemas.openxmlformats.org/officeDocument/2006/relationships/tags" Target="../tags/tag125.xml"/><Relationship Id="rId2" Type="http://schemas.openxmlformats.org/officeDocument/2006/relationships/tags" Target="../tags/tag107.xml"/><Relationship Id="rId19" Type="http://schemas.openxmlformats.org/officeDocument/2006/relationships/tags" Target="../tags/tag124.xml"/><Relationship Id="rId18" Type="http://schemas.openxmlformats.org/officeDocument/2006/relationships/tags" Target="../tags/tag123.xml"/><Relationship Id="rId17" Type="http://schemas.openxmlformats.org/officeDocument/2006/relationships/tags" Target="../tags/tag122.xml"/><Relationship Id="rId16" Type="http://schemas.openxmlformats.org/officeDocument/2006/relationships/tags" Target="../tags/tag121.xml"/><Relationship Id="rId15" Type="http://schemas.openxmlformats.org/officeDocument/2006/relationships/tags" Target="../tags/tag120.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36.png"/><Relationship Id="rId2" Type="http://schemas.openxmlformats.org/officeDocument/2006/relationships/tags" Target="../tags/tag130.xml"/><Relationship Id="rId1" Type="http://schemas.openxmlformats.org/officeDocument/2006/relationships/tags" Target="../tags/tag129.xml"/></Relationships>
</file>

<file path=ppt/slides/_rels/slide13.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1" Type="http://schemas.openxmlformats.org/officeDocument/2006/relationships/slideLayout" Target="../slideLayouts/slideLayout35.xml"/><Relationship Id="rId10" Type="http://schemas.openxmlformats.org/officeDocument/2006/relationships/image" Target="../media/image38.png"/><Relationship Id="rId1" Type="http://schemas.openxmlformats.org/officeDocument/2006/relationships/tags" Target="../tags/tag13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13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3.xml"/><Relationship Id="rId1" Type="http://schemas.openxmlformats.org/officeDocument/2006/relationships/tags" Target="../tags/tag140.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3.xml"/><Relationship Id="rId2" Type="http://schemas.openxmlformats.org/officeDocument/2006/relationships/tags" Target="../tags/tag141.xml"/><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0" Type="http://schemas.openxmlformats.org/officeDocument/2006/relationships/notesSlide" Target="../notesSlides/notesSlide14.xml"/><Relationship Id="rId1" Type="http://schemas.openxmlformats.org/officeDocument/2006/relationships/tags" Target="../tags/tag142.xml"/></Relationships>
</file>

<file path=ppt/slides/_rels/slide18.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0" Type="http://schemas.openxmlformats.org/officeDocument/2006/relationships/notesSlide" Target="../notesSlides/notesSlide15.xml"/><Relationship Id="rId4" Type="http://schemas.openxmlformats.org/officeDocument/2006/relationships/tags" Target="../tags/tag153.xml"/><Relationship Id="rId39" Type="http://schemas.openxmlformats.org/officeDocument/2006/relationships/slideLayout" Target="../slideLayouts/slideLayout23.xml"/><Relationship Id="rId38" Type="http://schemas.openxmlformats.org/officeDocument/2006/relationships/tags" Target="../tags/tag187.xml"/><Relationship Id="rId37" Type="http://schemas.openxmlformats.org/officeDocument/2006/relationships/tags" Target="../tags/tag186.xml"/><Relationship Id="rId36" Type="http://schemas.openxmlformats.org/officeDocument/2006/relationships/tags" Target="../tags/tag185.xml"/><Relationship Id="rId35" Type="http://schemas.openxmlformats.org/officeDocument/2006/relationships/tags" Target="../tags/tag184.xml"/><Relationship Id="rId34" Type="http://schemas.openxmlformats.org/officeDocument/2006/relationships/tags" Target="../tags/tag183.xml"/><Relationship Id="rId33" Type="http://schemas.openxmlformats.org/officeDocument/2006/relationships/tags" Target="../tags/tag182.xml"/><Relationship Id="rId32" Type="http://schemas.openxmlformats.org/officeDocument/2006/relationships/tags" Target="../tags/tag181.xml"/><Relationship Id="rId31" Type="http://schemas.openxmlformats.org/officeDocument/2006/relationships/tags" Target="../tags/tag180.xml"/><Relationship Id="rId30" Type="http://schemas.openxmlformats.org/officeDocument/2006/relationships/tags" Target="../tags/tag179.xml"/><Relationship Id="rId3" Type="http://schemas.openxmlformats.org/officeDocument/2006/relationships/tags" Target="../tags/tag152.xml"/><Relationship Id="rId29" Type="http://schemas.openxmlformats.org/officeDocument/2006/relationships/tags" Target="../tags/tag178.xml"/><Relationship Id="rId28" Type="http://schemas.openxmlformats.org/officeDocument/2006/relationships/tags" Target="../tags/tag177.xml"/><Relationship Id="rId27" Type="http://schemas.openxmlformats.org/officeDocument/2006/relationships/tags" Target="../tags/tag176.xml"/><Relationship Id="rId26" Type="http://schemas.openxmlformats.org/officeDocument/2006/relationships/tags" Target="../tags/tag175.xml"/><Relationship Id="rId25" Type="http://schemas.openxmlformats.org/officeDocument/2006/relationships/tags" Target="../tags/tag174.xml"/><Relationship Id="rId24" Type="http://schemas.openxmlformats.org/officeDocument/2006/relationships/tags" Target="../tags/tag173.xml"/><Relationship Id="rId23" Type="http://schemas.openxmlformats.org/officeDocument/2006/relationships/tags" Target="../tags/tag172.xml"/><Relationship Id="rId22" Type="http://schemas.openxmlformats.org/officeDocument/2006/relationships/tags" Target="../tags/tag171.xml"/><Relationship Id="rId21" Type="http://schemas.openxmlformats.org/officeDocument/2006/relationships/tags" Target="../tags/tag170.xml"/><Relationship Id="rId20" Type="http://schemas.openxmlformats.org/officeDocument/2006/relationships/tags" Target="../tags/tag169.xml"/><Relationship Id="rId2" Type="http://schemas.openxmlformats.org/officeDocument/2006/relationships/tags" Target="../tags/tag151.xml"/><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tags" Target="../tags/tag166.xml"/><Relationship Id="rId16" Type="http://schemas.openxmlformats.org/officeDocument/2006/relationships/tags" Target="../tags/tag165.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0.xml"/></Relationships>
</file>

<file path=ppt/slides/_rels/slide19.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image" Target="../media/image40.png"/><Relationship Id="rId45" Type="http://schemas.openxmlformats.org/officeDocument/2006/relationships/notesSlide" Target="../notesSlides/notesSlide16.xml"/><Relationship Id="rId44" Type="http://schemas.openxmlformats.org/officeDocument/2006/relationships/slideLayout" Target="../slideLayouts/slideLayout23.xml"/><Relationship Id="rId43" Type="http://schemas.openxmlformats.org/officeDocument/2006/relationships/tags" Target="../tags/tag225.xml"/><Relationship Id="rId42" Type="http://schemas.openxmlformats.org/officeDocument/2006/relationships/tags" Target="../tags/tag224.xml"/><Relationship Id="rId41" Type="http://schemas.openxmlformats.org/officeDocument/2006/relationships/tags" Target="../tags/tag223.xml"/><Relationship Id="rId40" Type="http://schemas.openxmlformats.org/officeDocument/2006/relationships/tags" Target="../tags/tag222.xml"/><Relationship Id="rId4" Type="http://schemas.openxmlformats.org/officeDocument/2006/relationships/tags" Target="../tags/tag191.xml"/><Relationship Id="rId39" Type="http://schemas.openxmlformats.org/officeDocument/2006/relationships/tags" Target="../tags/tag221.xml"/><Relationship Id="rId38" Type="http://schemas.openxmlformats.org/officeDocument/2006/relationships/tags" Target="../tags/tag220.xml"/><Relationship Id="rId37" Type="http://schemas.openxmlformats.org/officeDocument/2006/relationships/tags" Target="../tags/tag219.xml"/><Relationship Id="rId36" Type="http://schemas.openxmlformats.org/officeDocument/2006/relationships/tags" Target="../tags/tag218.xml"/><Relationship Id="rId35" Type="http://schemas.openxmlformats.org/officeDocument/2006/relationships/tags" Target="../tags/tag217.xml"/><Relationship Id="rId34" Type="http://schemas.openxmlformats.org/officeDocument/2006/relationships/tags" Target="../tags/tag216.xml"/><Relationship Id="rId33" Type="http://schemas.openxmlformats.org/officeDocument/2006/relationships/tags" Target="../tags/tag215.xml"/><Relationship Id="rId32" Type="http://schemas.openxmlformats.org/officeDocument/2006/relationships/tags" Target="../tags/tag214.xml"/><Relationship Id="rId31" Type="http://schemas.openxmlformats.org/officeDocument/2006/relationships/tags" Target="../tags/tag213.xml"/><Relationship Id="rId30" Type="http://schemas.openxmlformats.org/officeDocument/2006/relationships/tags" Target="../tags/tag212.xml"/><Relationship Id="rId3" Type="http://schemas.openxmlformats.org/officeDocument/2006/relationships/tags" Target="../tags/tag190.xml"/><Relationship Id="rId29" Type="http://schemas.openxmlformats.org/officeDocument/2006/relationships/tags" Target="../tags/tag211.xml"/><Relationship Id="rId28" Type="http://schemas.openxmlformats.org/officeDocument/2006/relationships/tags" Target="../tags/tag210.xml"/><Relationship Id="rId27" Type="http://schemas.openxmlformats.org/officeDocument/2006/relationships/tags" Target="../tags/tag209.xml"/><Relationship Id="rId26" Type="http://schemas.openxmlformats.org/officeDocument/2006/relationships/tags" Target="../tags/tag208.xml"/><Relationship Id="rId25" Type="http://schemas.openxmlformats.org/officeDocument/2006/relationships/tags" Target="../tags/tag207.xml"/><Relationship Id="rId24" Type="http://schemas.openxmlformats.org/officeDocument/2006/relationships/tags" Target="../tags/tag206.xml"/><Relationship Id="rId23" Type="http://schemas.openxmlformats.org/officeDocument/2006/relationships/tags" Target="../tags/tag205.xml"/><Relationship Id="rId22" Type="http://schemas.openxmlformats.org/officeDocument/2006/relationships/tags" Target="../tags/tag204.xml"/><Relationship Id="rId21" Type="http://schemas.openxmlformats.org/officeDocument/2006/relationships/tags" Target="../tags/tag203.xml"/><Relationship Id="rId20" Type="http://schemas.openxmlformats.org/officeDocument/2006/relationships/tags" Target="../tags/tag202.xml"/><Relationship Id="rId2" Type="http://schemas.openxmlformats.org/officeDocument/2006/relationships/tags" Target="../tags/tag189.xml"/><Relationship Id="rId19" Type="http://schemas.openxmlformats.org/officeDocument/2006/relationships/tags" Target="../tags/tag201.xml"/><Relationship Id="rId18" Type="http://schemas.openxmlformats.org/officeDocument/2006/relationships/image" Target="../media/image44.png"/><Relationship Id="rId17" Type="http://schemas.openxmlformats.org/officeDocument/2006/relationships/tags" Target="../tags/tag200.xml"/><Relationship Id="rId16" Type="http://schemas.openxmlformats.org/officeDocument/2006/relationships/tags" Target="../tags/tag199.xml"/><Relationship Id="rId15" Type="http://schemas.openxmlformats.org/officeDocument/2006/relationships/image" Target="../media/image43.png"/><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image" Target="../media/image42.png"/><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tags" Target="../tags/tag18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tags" Target="../tags/tag226.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3.xml"/><Relationship Id="rId2" Type="http://schemas.openxmlformats.org/officeDocument/2006/relationships/tags" Target="../tags/tag227.xml"/><Relationship Id="rId1" Type="http://schemas.openxmlformats.org/officeDocument/2006/relationships/image" Target="../media/image45.png"/></Relationships>
</file>

<file path=ppt/slides/_rels/slide22.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4" Type="http://schemas.openxmlformats.org/officeDocument/2006/relationships/notesSlide" Target="../notesSlides/notesSlide19.xml"/><Relationship Id="rId13" Type="http://schemas.openxmlformats.org/officeDocument/2006/relationships/slideLayout" Target="../slideLayouts/slideLayout23.xml"/><Relationship Id="rId12" Type="http://schemas.openxmlformats.org/officeDocument/2006/relationships/tags" Target="../tags/tag239.xml"/><Relationship Id="rId11" Type="http://schemas.openxmlformats.org/officeDocument/2006/relationships/tags" Target="../tags/tag238.xml"/><Relationship Id="rId10" Type="http://schemas.openxmlformats.org/officeDocument/2006/relationships/tags" Target="../tags/tag237.xml"/><Relationship Id="rId1" Type="http://schemas.openxmlformats.org/officeDocument/2006/relationships/tags" Target="../tags/tag22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3.xml"/><Relationship Id="rId1" Type="http://schemas.openxmlformats.org/officeDocument/2006/relationships/tags" Target="../tags/tag24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3.xml"/><Relationship Id="rId1" Type="http://schemas.openxmlformats.org/officeDocument/2006/relationships/tags" Target="../tags/tag24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3.xml"/><Relationship Id="rId2" Type="http://schemas.openxmlformats.org/officeDocument/2006/relationships/tags" Target="../tags/tag243.xml"/><Relationship Id="rId1" Type="http://schemas.openxmlformats.org/officeDocument/2006/relationships/tags" Target="../tags/tag2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838200" y="1997544"/>
            <a:ext cx="10515600" cy="1618492"/>
          </a:xfrm>
        </p:spPr>
        <p:txBody>
          <a:bodyPr>
            <a:normAutofit fontScale="90000"/>
          </a:bodyPr>
          <a:lstStyle/>
          <a:p>
            <a:pPr marL="0" indent="0" algn="ctr" fontAlgn="auto">
              <a:lnSpc>
                <a:spcPct val="150000"/>
              </a:lnSpc>
            </a:pPr>
            <a:r>
              <a:rPr kumimoji="1" lang="zh-CN" altLang="en-US" sz="4000">
                <a:sym typeface="+mn-ea"/>
              </a:rPr>
              <a:t>中国移动营服运营</a:t>
            </a:r>
            <a:r>
              <a:rPr kumimoji="1" lang="zh-CN" altLang="en-US" sz="4000">
                <a:sym typeface="+mn-ea"/>
              </a:rPr>
              <a:t>平台规划方案</a:t>
            </a:r>
            <a:br>
              <a:rPr kumimoji="1" lang="zh-CN" altLang="en-US" sz="4000">
                <a:sym typeface="+mn-ea"/>
              </a:rPr>
            </a:br>
            <a:r>
              <a:rPr kumimoji="1" lang="en-US" altLang="zh-CN" sz="2700">
                <a:sym typeface="+mn-ea"/>
              </a:rPr>
              <a:t>-----</a:t>
            </a:r>
            <a:r>
              <a:rPr kumimoji="1" lang="zh-CN" altLang="en-US" sz="2700">
                <a:sym typeface="+mn-ea"/>
              </a:rPr>
              <a:t>赋能管理，驱动运营，实现精细化决策</a:t>
            </a:r>
            <a:endParaRPr kumimoji="1" lang="zh-CN" altLang="en-US" sz="2700">
              <a:sym typeface="+mn-ea"/>
            </a:endParaRPr>
          </a:p>
        </p:txBody>
      </p:sp>
      <p:sp>
        <p:nvSpPr>
          <p:cNvPr id="10" name="文本占位符 3"/>
          <p:cNvSpPr>
            <a:spLocks noGrp="1"/>
          </p:cNvSpPr>
          <p:nvPr/>
        </p:nvSpPr>
        <p:spPr>
          <a:xfrm>
            <a:off x="838200" y="4513161"/>
            <a:ext cx="10515600" cy="558130"/>
          </a:xfr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2pPr>
            <a:lvl3pPr marL="9144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4pPr>
            <a:lvl5pPr marL="18288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sz="2000" b="1"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市场部、数智化部</a:t>
            </a:r>
            <a:endParaRPr kumimoji="1" lang="zh-CN" altLang="en-US" sz="2000" b="1"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sp>
        <p:nvSpPr>
          <p:cNvPr id="11" name="文本占位符 4"/>
          <p:cNvSpPr>
            <a:spLocks noGrp="1"/>
          </p:cNvSpPr>
          <p:nvPr/>
        </p:nvSpPr>
        <p:spPr>
          <a:xfrm>
            <a:off x="838200" y="5105429"/>
            <a:ext cx="10515600" cy="394447"/>
          </a:xfrm>
        </p:spPr>
        <p:txBody>
          <a:bodyPr vert="horz"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600" kern="1200">
                <a:solidFill>
                  <a:schemeClr val="accent3"/>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2pPr>
            <a:lvl3pPr marL="9144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3pPr>
            <a:lvl4pPr marL="13716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4pPr>
            <a:lvl5pPr marL="1828800" indent="0" algn="l" defTabSz="914400" rtl="0" eaLnBrk="1" latinLnBrk="0" hangingPunct="1">
              <a:lnSpc>
                <a:spcPct val="90000"/>
              </a:lnSpc>
              <a:spcBef>
                <a:spcPts val="500"/>
              </a:spcBef>
              <a:buFont typeface="Arial" panose="020B0604020202020204" pitchFamily="34" charset="0"/>
              <a:buNone/>
              <a:defRPr sz="34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1400"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202</a:t>
            </a:r>
            <a:r>
              <a:rPr kumimoji="0" lang="en-US" altLang="zh-CN" sz="1400"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5</a:t>
            </a:r>
            <a:r>
              <a:rPr kumimoji="0" lang="zh-CN" altLang="en-US" sz="1400"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年</a:t>
            </a:r>
            <a:r>
              <a:rPr kumimoji="0" lang="en-US" altLang="zh-CN" sz="1400"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10</a:t>
            </a:r>
            <a:r>
              <a:rPr kumimoji="0" lang="zh-CN" altLang="en-US" sz="1400"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月</a:t>
            </a:r>
            <a:endParaRPr kumimoji="0" lang="zh-CN" altLang="en-US" sz="1400" i="0" u="none" strike="noStrike" kern="1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rot="5400000">
            <a:off x="9849905" y="2823609"/>
            <a:ext cx="3262303" cy="830997"/>
          </a:xfrm>
          <a:prstGeom prst="rect">
            <a:avLst/>
          </a:prstGeom>
          <a:noFill/>
        </p:spPr>
        <p:txBody>
          <a:bodyPr wrap="none" rtlCol="0">
            <a:spAutoFit/>
          </a:bodyPr>
          <a:lstStyle/>
          <a:p>
            <a:pPr algn="r">
              <a:defRPr/>
            </a:pPr>
            <a:r>
              <a:rPr kumimoji="1" lang="en-US" altLang="zh-CN" sz="4800" b="1" dirty="0">
                <a:solidFill>
                  <a:srgbClr val="44546A">
                    <a:lumMod val="20000"/>
                    <a:lumOff val="80000"/>
                    <a:alpha val="25000"/>
                  </a:srgbClr>
                </a:solidFill>
                <a:cs typeface="Arial Black" panose="020B0A04020102020204" charset="0"/>
              </a:rPr>
              <a:t>CONTENT</a:t>
            </a:r>
            <a:endParaRPr kumimoji="1" lang="en-US" altLang="zh-CN" sz="4800" b="1" dirty="0">
              <a:solidFill>
                <a:srgbClr val="44546A">
                  <a:lumMod val="20000"/>
                  <a:lumOff val="80000"/>
                  <a:alpha val="25000"/>
                </a:srgbClr>
              </a:solidFill>
              <a:cs typeface="Arial Black" panose="020B0A04020102020204" charset="0"/>
            </a:endParaRPr>
          </a:p>
        </p:txBody>
      </p:sp>
      <p:sp>
        <p:nvSpPr>
          <p:cNvPr id="48" name="文本框 47"/>
          <p:cNvSpPr txBox="1"/>
          <p:nvPr/>
        </p:nvSpPr>
        <p:spPr>
          <a:xfrm>
            <a:off x="10592694" y="2454247"/>
            <a:ext cx="824743" cy="156966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1" lang="zh-CN" altLang="en-US" sz="4800" b="1" i="0" u="none" strike="noStrike" kern="0" cap="none" spc="0" normalizeH="0" baseline="0" noProof="0" dirty="0">
                <a:ln>
                  <a:noFill/>
                </a:ln>
                <a:solidFill>
                  <a:srgbClr val="0B85CF"/>
                </a:solidFill>
                <a:effectLst/>
                <a:uLnTx/>
                <a:uFillTx/>
              </a:rPr>
              <a:t>目录</a:t>
            </a:r>
            <a:endParaRPr kumimoji="1" lang="zh-CN" altLang="en-US" sz="4800" b="1" i="0" u="none" strike="noStrike" kern="0" cap="none" spc="0" normalizeH="0" baseline="0" noProof="0" dirty="0">
              <a:ln>
                <a:noFill/>
              </a:ln>
              <a:solidFill>
                <a:srgbClr val="0B85CF"/>
              </a:solidFill>
              <a:effectLst/>
              <a:uLnTx/>
              <a:uFillTx/>
            </a:endParaRPr>
          </a:p>
        </p:txBody>
      </p:sp>
      <p:sp>
        <p:nvSpPr>
          <p:cNvPr id="62" name="文本框 61"/>
          <p:cNvSpPr txBox="1"/>
          <p:nvPr/>
        </p:nvSpPr>
        <p:spPr>
          <a:xfrm rot="5400000">
            <a:off x="-1260000" y="2577417"/>
            <a:ext cx="5311967" cy="1323439"/>
          </a:xfrm>
          <a:prstGeom prst="rect">
            <a:avLst/>
          </a:prstGeom>
          <a:noFill/>
        </p:spPr>
        <p:txBody>
          <a:bodyPr wrap="none" rtlCol="0">
            <a:spAutoFit/>
          </a:bodyPr>
          <a:lstStyle/>
          <a:p>
            <a:pPr algn="r">
              <a:defRPr/>
            </a:pPr>
            <a:r>
              <a:rPr kumimoji="1" lang="en-US" altLang="zh-CN" sz="8000" b="1" dirty="0">
                <a:gradFill>
                  <a:gsLst>
                    <a:gs pos="0">
                      <a:srgbClr val="44546A">
                        <a:lumMod val="60000"/>
                        <a:lumOff val="40000"/>
                        <a:alpha val="10000"/>
                      </a:srgbClr>
                    </a:gs>
                    <a:gs pos="100000">
                      <a:srgbClr val="44546A">
                        <a:lumMod val="60000"/>
                        <a:lumOff val="40000"/>
                        <a:alpha val="20000"/>
                      </a:srgbClr>
                    </a:gs>
                  </a:gsLst>
                  <a:lin ang="16200000" scaled="0"/>
                </a:gradFill>
                <a:cs typeface="Arial Black" panose="020B0A04020102020204" charset="0"/>
              </a:rPr>
              <a:t>CONTENT</a:t>
            </a:r>
            <a:endParaRPr kumimoji="1" lang="en-US" altLang="zh-CN" sz="8000" b="1" dirty="0">
              <a:gradFill>
                <a:gsLst>
                  <a:gs pos="0">
                    <a:srgbClr val="44546A">
                      <a:lumMod val="60000"/>
                      <a:lumOff val="40000"/>
                      <a:alpha val="10000"/>
                    </a:srgbClr>
                  </a:gs>
                  <a:gs pos="100000">
                    <a:srgbClr val="44546A">
                      <a:lumMod val="60000"/>
                      <a:lumOff val="40000"/>
                      <a:alpha val="20000"/>
                    </a:srgbClr>
                  </a:gs>
                </a:gsLst>
                <a:lin ang="16200000" scaled="0"/>
              </a:gradFill>
              <a:cs typeface="Arial Black" panose="020B0A04020102020204" charset="0"/>
            </a:endParaRPr>
          </a:p>
        </p:txBody>
      </p:sp>
      <p:grpSp>
        <p:nvGrpSpPr>
          <p:cNvPr id="2" name="组合 1"/>
          <p:cNvGrpSpPr/>
          <p:nvPr/>
        </p:nvGrpSpPr>
        <p:grpSpPr>
          <a:xfrm>
            <a:off x="2438400" y="958215"/>
            <a:ext cx="6871970" cy="4995545"/>
            <a:chOff x="3840" y="523"/>
            <a:chExt cx="10822" cy="7867"/>
          </a:xfrm>
        </p:grpSpPr>
        <p:grpSp>
          <p:nvGrpSpPr>
            <p:cNvPr id="49" name="组合 48"/>
            <p:cNvGrpSpPr/>
            <p:nvPr/>
          </p:nvGrpSpPr>
          <p:grpSpPr>
            <a:xfrm>
              <a:off x="5701" y="2769"/>
              <a:ext cx="6119" cy="1822"/>
              <a:chOff x="4041" y="1285"/>
              <a:chExt cx="6119" cy="1822"/>
            </a:xfrm>
          </p:grpSpPr>
          <p:sp>
            <p:nvSpPr>
              <p:cNvPr id="50" name="文本框 49"/>
              <p:cNvSpPr txBox="1"/>
              <p:nvPr/>
            </p:nvSpPr>
            <p:spPr>
              <a:xfrm>
                <a:off x="4041" y="1285"/>
                <a:ext cx="1154" cy="169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6400" b="1" i="0" u="none" strike="noStrike" kern="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cs typeface="Arial Black" panose="020B0A04020102020204" charset="0"/>
                    <a:sym typeface="+mn-ea"/>
                  </a:rPr>
                  <a:t>2</a:t>
                </a:r>
                <a:endParaRPr kumimoji="1" lang="en-US" altLang="zh-CN" sz="6400" b="1" i="0" u="none" strike="noStrike" kern="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cs typeface="Arial Black" panose="020B0A04020102020204" charset="0"/>
                  <a:sym typeface="+mn-ea"/>
                </a:endParaRPr>
              </a:p>
            </p:txBody>
          </p:sp>
          <p:sp>
            <p:nvSpPr>
              <p:cNvPr id="51" name="直角三角形 50"/>
              <p:cNvSpPr/>
              <p:nvPr/>
            </p:nvSpPr>
            <p:spPr>
              <a:xfrm flipH="1">
                <a:off x="4084" y="1462"/>
                <a:ext cx="1645" cy="1645"/>
              </a:xfrm>
              <a:prstGeom prst="rtTriangle">
                <a:avLst/>
              </a:prstGeom>
              <a:solidFill>
                <a:srgbClr val="FFFFFF"/>
              </a:solidFill>
              <a:ln w="12700" cap="flat" cmpd="sng" algn="ctr">
                <a:noFill/>
                <a:prstDash val="solid"/>
                <a:miter lim="800000"/>
              </a:ln>
              <a:effectLst>
                <a:outerShdw blurRad="228600" dist="127000" dir="14760000" sx="80000" sy="80000" rotWithShape="0">
                  <a:srgbClr val="0070BF">
                    <a:lumMod val="60000"/>
                    <a:lumOff val="40000"/>
                    <a:alpha val="2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52" name="文本框 51"/>
              <p:cNvSpPr txBox="1"/>
              <p:nvPr/>
            </p:nvSpPr>
            <p:spPr>
              <a:xfrm>
                <a:off x="5507" y="1912"/>
                <a:ext cx="4653" cy="727"/>
              </a:xfrm>
              <a:prstGeom prst="rect">
                <a:avLst/>
              </a:prstGeom>
              <a:noFill/>
            </p:spPr>
            <p:txBody>
              <a:bodyPr wrap="none" rtlCol="0">
                <a:no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2400" kern="0" noProof="0" dirty="0">
                    <a:ln w="3175">
                      <a:noFill/>
                    </a:ln>
                    <a:solidFill>
                      <a:srgbClr val="44546A">
                        <a:alpha val="75000"/>
                      </a:srgbClr>
                    </a:solidFill>
                    <a:effectLst>
                      <a:outerShdw dist="76200" dir="5400000" algn="t" rotWithShape="0">
                        <a:srgbClr val="FFFFFF">
                          <a:alpha val="100000"/>
                        </a:srgbClr>
                      </a:outerShdw>
                    </a:effectLst>
                    <a:uLnTx/>
                    <a:uFillTx/>
                    <a:sym typeface="+mn-lt"/>
                  </a:rPr>
                  <a:t>蓝图：平台的总体构想是什么？</a:t>
                </a:r>
                <a:endParaRPr kumimoji="1" lang="zh-CN" altLang="en-US" sz="2400" b="0" i="0" u="none" strike="noStrike" kern="0" cap="none" spc="0" normalizeH="0" baseline="0" noProof="0" dirty="0">
                  <a:ln w="3175">
                    <a:noFill/>
                  </a:ln>
                  <a:solidFill>
                    <a:srgbClr val="44546A">
                      <a:alpha val="75000"/>
                    </a:srgbClr>
                  </a:solidFill>
                  <a:effectLst>
                    <a:outerShdw dist="76200" dir="5400000" algn="t" rotWithShape="0">
                      <a:srgbClr val="FFFFFF">
                        <a:alpha val="100000"/>
                      </a:srgbClr>
                    </a:outerShdw>
                  </a:effectLst>
                  <a:uLnTx/>
                  <a:uFillTx/>
                  <a:sym typeface="+mn-lt"/>
                </a:endParaRPr>
              </a:p>
            </p:txBody>
          </p:sp>
        </p:grpSp>
        <p:grpSp>
          <p:nvGrpSpPr>
            <p:cNvPr id="53" name="组合 52"/>
            <p:cNvGrpSpPr/>
            <p:nvPr/>
          </p:nvGrpSpPr>
          <p:grpSpPr>
            <a:xfrm>
              <a:off x="5672" y="4757"/>
              <a:ext cx="8060" cy="1822"/>
              <a:chOff x="4012" y="5537"/>
              <a:chExt cx="8060" cy="1822"/>
            </a:xfrm>
          </p:grpSpPr>
          <p:sp>
            <p:nvSpPr>
              <p:cNvPr id="54" name="文本框 53"/>
              <p:cNvSpPr txBox="1"/>
              <p:nvPr/>
            </p:nvSpPr>
            <p:spPr>
              <a:xfrm>
                <a:off x="4012" y="5537"/>
                <a:ext cx="1154" cy="169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6400" b="1" i="0" u="none" strike="noStrike" kern="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cs typeface="Arial Black" panose="020B0A04020102020204" charset="0"/>
                    <a:sym typeface="+mn-ea"/>
                  </a:rPr>
                  <a:t>3</a:t>
                </a:r>
                <a:endParaRPr kumimoji="1" lang="en-US" altLang="zh-CN" sz="6400" b="1" i="0" u="none" strike="noStrike" kern="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cs typeface="Arial Black" panose="020B0A04020102020204" charset="0"/>
                  <a:sym typeface="+mn-ea"/>
                </a:endParaRPr>
              </a:p>
            </p:txBody>
          </p:sp>
          <p:sp>
            <p:nvSpPr>
              <p:cNvPr id="55" name="直角三角形 54"/>
              <p:cNvSpPr/>
              <p:nvPr/>
            </p:nvSpPr>
            <p:spPr>
              <a:xfrm flipH="1">
                <a:off x="4055" y="5714"/>
                <a:ext cx="1645" cy="1645"/>
              </a:xfrm>
              <a:prstGeom prst="rtTriangle">
                <a:avLst/>
              </a:prstGeom>
              <a:solidFill>
                <a:srgbClr val="FFFFFF"/>
              </a:solidFill>
              <a:ln w="12700" cap="flat" cmpd="sng" algn="ctr">
                <a:noFill/>
                <a:prstDash val="solid"/>
                <a:miter lim="800000"/>
              </a:ln>
              <a:effectLst>
                <a:outerShdw blurRad="228600" dist="127000" dir="14760000" sx="80000" sy="80000" rotWithShape="0">
                  <a:srgbClr val="0070BF">
                    <a:lumMod val="60000"/>
                    <a:lumOff val="40000"/>
                    <a:alpha val="2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56" name="文本框 55"/>
              <p:cNvSpPr txBox="1"/>
              <p:nvPr/>
            </p:nvSpPr>
            <p:spPr>
              <a:xfrm>
                <a:off x="5478" y="6164"/>
                <a:ext cx="6594" cy="727"/>
              </a:xfrm>
              <a:prstGeom prst="rect">
                <a:avLst/>
              </a:prstGeom>
              <a:noFill/>
            </p:spPr>
            <p:txBody>
              <a:bodyPr wrap="none" lIns="90000" rtlCol="0">
                <a:no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2400" kern="0" noProof="0" dirty="0">
                    <a:ln w="3175">
                      <a:noFill/>
                    </a:ln>
                    <a:solidFill>
                      <a:srgbClr val="44546A">
                        <a:alpha val="75000"/>
                      </a:srgbClr>
                    </a:solidFill>
                    <a:effectLst>
                      <a:outerShdw dist="76200" dir="5400000" algn="t" rotWithShape="0">
                        <a:srgbClr val="FFFFFF">
                          <a:alpha val="100000"/>
                        </a:srgbClr>
                      </a:outerShdw>
                    </a:effectLst>
                    <a:uLnTx/>
                    <a:uFillTx/>
                    <a:sym typeface="+mn-lt"/>
                  </a:rPr>
                  <a:t>详解：平台具体提供哪些能力？</a:t>
                </a:r>
                <a:endParaRPr kumimoji="1" lang="zh-CN" altLang="en-US" sz="2400" b="0" i="0" u="none" strike="noStrike" kern="0" cap="none" spc="0" normalizeH="0" baseline="0" noProof="0" dirty="0">
                  <a:ln w="3175">
                    <a:noFill/>
                  </a:ln>
                  <a:solidFill>
                    <a:srgbClr val="44546A">
                      <a:alpha val="75000"/>
                    </a:srgbClr>
                  </a:solidFill>
                  <a:effectLst>
                    <a:outerShdw dist="76200" dir="5400000" algn="t" rotWithShape="0">
                      <a:srgbClr val="FFFFFF">
                        <a:alpha val="100000"/>
                      </a:srgbClr>
                    </a:outerShdw>
                  </a:effectLst>
                  <a:uLnTx/>
                  <a:uFillTx/>
                </a:endParaRPr>
              </a:p>
            </p:txBody>
          </p:sp>
        </p:grpSp>
        <p:grpSp>
          <p:nvGrpSpPr>
            <p:cNvPr id="57" name="组合 56"/>
            <p:cNvGrpSpPr/>
            <p:nvPr/>
          </p:nvGrpSpPr>
          <p:grpSpPr>
            <a:xfrm>
              <a:off x="3840" y="523"/>
              <a:ext cx="10823" cy="2012"/>
              <a:chOff x="1630" y="3651"/>
              <a:chExt cx="10823" cy="2012"/>
            </a:xfrm>
          </p:grpSpPr>
          <p:sp>
            <p:nvSpPr>
              <p:cNvPr id="58" name="文本框 57"/>
              <p:cNvSpPr txBox="1"/>
              <p:nvPr/>
            </p:nvSpPr>
            <p:spPr>
              <a:xfrm>
                <a:off x="1630" y="3651"/>
                <a:ext cx="1187" cy="189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7200" b="1" i="0" u="none" strike="noStrike" kern="0" cap="none" spc="0" normalizeH="0" baseline="0" noProof="0" dirty="0">
                    <a:ln>
                      <a:noFill/>
                    </a:ln>
                    <a:gradFill>
                      <a:gsLst>
                        <a:gs pos="0">
                          <a:srgbClr val="00B0F0"/>
                        </a:gs>
                        <a:gs pos="59000">
                          <a:srgbClr val="0070BF"/>
                        </a:gs>
                      </a:gsLst>
                      <a:lin ang="12300000" scaled="0"/>
                    </a:gradFill>
                    <a:effectLst/>
                    <a:uLnTx/>
                    <a:uFillTx/>
                    <a:cs typeface="Arial Black" panose="020B0A04020102020204" charset="0"/>
                  </a:rPr>
                  <a:t>1</a:t>
                </a:r>
                <a:endParaRPr kumimoji="1" lang="en-US" altLang="zh-CN" sz="7200" b="1" i="0" u="none" strike="noStrike" kern="0" cap="none" spc="0" normalizeH="0" baseline="0" noProof="0" dirty="0">
                  <a:ln>
                    <a:noFill/>
                  </a:ln>
                  <a:gradFill>
                    <a:gsLst>
                      <a:gs pos="0">
                        <a:srgbClr val="00B0F0"/>
                      </a:gs>
                      <a:gs pos="59000">
                        <a:srgbClr val="0070BF"/>
                      </a:gs>
                    </a:gsLst>
                    <a:lin ang="12300000" scaled="0"/>
                  </a:gradFill>
                  <a:effectLst/>
                  <a:uLnTx/>
                  <a:uFillTx/>
                  <a:cs typeface="Arial Black" panose="020B0A04020102020204" charset="0"/>
                </a:endParaRPr>
              </a:p>
            </p:txBody>
          </p:sp>
          <p:sp>
            <p:nvSpPr>
              <p:cNvPr id="59" name="直角三角形 58"/>
              <p:cNvSpPr/>
              <p:nvPr/>
            </p:nvSpPr>
            <p:spPr>
              <a:xfrm flipH="1">
                <a:off x="1733" y="4001"/>
                <a:ext cx="1645" cy="1645"/>
              </a:xfrm>
              <a:prstGeom prst="rtTriangle">
                <a:avLst/>
              </a:prstGeom>
              <a:solidFill>
                <a:srgbClr val="FFFFFF"/>
              </a:solidFill>
              <a:ln w="12700" cap="flat" cmpd="sng" algn="ctr">
                <a:noFill/>
                <a:prstDash val="solid"/>
                <a:miter lim="800000"/>
              </a:ln>
              <a:effectLst>
                <a:outerShdw blurRad="228600" dist="127000" dir="14760000" sx="80000" sy="80000" rotWithShape="0">
                  <a:srgbClr val="0070BF">
                    <a:lumMod val="60000"/>
                    <a:lumOff val="40000"/>
                    <a:alpha val="2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60" name="任意多边形 23"/>
              <p:cNvSpPr/>
              <p:nvPr/>
            </p:nvSpPr>
            <p:spPr>
              <a:xfrm>
                <a:off x="2388" y="4190"/>
                <a:ext cx="9354" cy="1473"/>
              </a:xfrm>
              <a:custGeom>
                <a:avLst/>
                <a:gdLst>
                  <a:gd name="connsiteX0" fmla="*/ 1490 w 12083"/>
                  <a:gd name="connsiteY0" fmla="*/ 0 h 1473"/>
                  <a:gd name="connsiteX1" fmla="*/ 12083 w 12083"/>
                  <a:gd name="connsiteY1" fmla="*/ 0 h 1473"/>
                  <a:gd name="connsiteX2" fmla="*/ 12083 w 12083"/>
                  <a:gd name="connsiteY2" fmla="*/ 1454 h 1473"/>
                  <a:gd name="connsiteX3" fmla="*/ 0 w 12083"/>
                  <a:gd name="connsiteY3" fmla="*/ 1473 h 1473"/>
                  <a:gd name="connsiteX4" fmla="*/ 1490 w 12083"/>
                  <a:gd name="connsiteY4" fmla="*/ 0 h 1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73">
                    <a:moveTo>
                      <a:pt x="1490" y="0"/>
                    </a:moveTo>
                    <a:lnTo>
                      <a:pt x="12083" y="0"/>
                    </a:lnTo>
                    <a:lnTo>
                      <a:pt x="12083" y="1454"/>
                    </a:lnTo>
                    <a:lnTo>
                      <a:pt x="0" y="1473"/>
                    </a:lnTo>
                    <a:lnTo>
                      <a:pt x="1490" y="0"/>
                    </a:lnTo>
                    <a:close/>
                  </a:path>
                </a:pathLst>
              </a:custGeom>
              <a:solidFill>
                <a:srgbClr val="FFFFFF"/>
              </a:solidFill>
              <a:ln w="12700" cap="flat" cmpd="sng" algn="ctr">
                <a:noFill/>
                <a:prstDash val="solid"/>
                <a:miter lim="800000"/>
              </a:ln>
              <a:effectLst>
                <a:outerShdw blurRad="368300" dist="254000" dir="5400000" sx="85000" sy="85000" algn="t" rotWithShape="0">
                  <a:srgbClr val="44546A">
                    <a:lumMod val="60000"/>
                    <a:lumOff val="40000"/>
                    <a:alpha val="40000"/>
                  </a:srgbClr>
                </a:outerShdw>
              </a:effec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sym typeface="+mn-ea"/>
                </a:endParaRPr>
              </a:p>
            </p:txBody>
          </p:sp>
          <p:sp>
            <p:nvSpPr>
              <p:cNvPr id="61" name="文本框 60"/>
              <p:cNvSpPr txBox="1"/>
              <p:nvPr/>
            </p:nvSpPr>
            <p:spPr>
              <a:xfrm>
                <a:off x="3378" y="4305"/>
                <a:ext cx="9075" cy="824"/>
              </a:xfrm>
              <a:prstGeom prst="rect">
                <a:avLst/>
              </a:prstGeom>
              <a:noFill/>
            </p:spPr>
            <p:txBody>
              <a:bodyPr wrap="none" lIns="90000" rtlCol="0">
                <a:noAutofit/>
              </a:bodyPr>
              <a:lstStyle/>
              <a:p>
                <a:pPr marL="0" marR="0" lvl="0" indent="0" algn="l" defTabSz="914400" eaLnBrk="1" fontAlgn="auto" latinLnBrk="0" hangingPunct="1">
                  <a:lnSpc>
                    <a:spcPct val="100000"/>
                  </a:lnSpc>
                  <a:spcBef>
                    <a:spcPts val="0"/>
                  </a:spcBef>
                  <a:spcAft>
                    <a:spcPts val="0"/>
                  </a:spcAft>
                  <a:buClrTx/>
                  <a:buSzTx/>
                  <a:buFontTx/>
                  <a:buNone/>
                  <a:defRPr/>
                </a:pPr>
                <a:r>
                  <a:rPr kumimoji="1" lang="zh-CN" altLang="en-US" sz="2800" b="1" i="0" u="none" strike="noStrike" kern="0" cap="none" spc="0" normalizeH="0" baseline="0" noProof="0" dirty="0">
                    <a:ln w="3175">
                      <a:noFill/>
                    </a:ln>
                    <a:solidFill>
                      <a:srgbClr val="000000"/>
                    </a:solidFill>
                    <a:effectLst>
                      <a:outerShdw dist="76200" dir="5400000" algn="t" rotWithShape="0">
                        <a:srgbClr val="FFFFFF">
                          <a:alpha val="100000"/>
                        </a:srgbClr>
                      </a:outerShdw>
                    </a:effectLst>
                    <a:uLnTx/>
                    <a:uFillTx/>
                  </a:rPr>
                  <a:t>破冰：</a:t>
                </a:r>
                <a:r>
                  <a:rPr kumimoji="1" lang="zh-CN" altLang="en-US" sz="2800" b="1" i="0" u="none" strike="noStrike" kern="0" cap="none" spc="0" normalizeH="0" baseline="0" noProof="0" dirty="0">
                    <a:ln w="3175">
                      <a:noFill/>
                    </a:ln>
                    <a:solidFill>
                      <a:srgbClr val="000000"/>
                    </a:solidFill>
                    <a:effectLst>
                      <a:outerShdw dist="76200" dir="5400000" algn="t" rotWithShape="0">
                        <a:srgbClr val="FFFFFF">
                          <a:alpha val="100000"/>
                        </a:srgbClr>
                      </a:outerShdw>
                    </a:effectLst>
                    <a:uLnTx/>
                    <a:uFillTx/>
                  </a:rPr>
                  <a:t>为什么我们需要这个平台？</a:t>
                </a:r>
                <a:endParaRPr kumimoji="1" lang="zh-CN" altLang="en-US" sz="2800" b="1" i="0" u="none" strike="noStrike" kern="0" cap="none" spc="0" normalizeH="0" baseline="0" noProof="0" dirty="0">
                  <a:ln w="3175">
                    <a:noFill/>
                  </a:ln>
                  <a:solidFill>
                    <a:srgbClr val="000000"/>
                  </a:solidFill>
                  <a:effectLst>
                    <a:outerShdw dist="76200" dir="5400000" algn="t" rotWithShape="0">
                      <a:srgbClr val="FFFFFF">
                        <a:alpha val="100000"/>
                      </a:srgbClr>
                    </a:outerShdw>
                  </a:effectLst>
                  <a:uLnTx/>
                  <a:uFillTx/>
                </a:endParaRPr>
              </a:p>
            </p:txBody>
          </p:sp>
        </p:grpSp>
        <p:grpSp>
          <p:nvGrpSpPr>
            <p:cNvPr id="63" name="组合 62"/>
            <p:cNvGrpSpPr/>
            <p:nvPr/>
          </p:nvGrpSpPr>
          <p:grpSpPr>
            <a:xfrm>
              <a:off x="5697" y="6550"/>
              <a:ext cx="1688" cy="1840"/>
              <a:chOff x="4038" y="7330"/>
              <a:chExt cx="1688" cy="1840"/>
            </a:xfrm>
          </p:grpSpPr>
          <p:sp>
            <p:nvSpPr>
              <p:cNvPr id="64" name="文本框 63"/>
              <p:cNvSpPr txBox="1"/>
              <p:nvPr/>
            </p:nvSpPr>
            <p:spPr>
              <a:xfrm>
                <a:off x="4038" y="7330"/>
                <a:ext cx="1154" cy="169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6400" b="1" i="0" u="none" strike="noStrike" kern="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cs typeface="Arial Black" panose="020B0A04020102020204" charset="0"/>
                    <a:sym typeface="+mn-ea"/>
                  </a:rPr>
                  <a:t>4</a:t>
                </a:r>
                <a:endParaRPr kumimoji="1" lang="en-US" altLang="zh-CN" sz="6400" b="1" i="0" u="none" strike="noStrike" kern="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cs typeface="Arial Black" panose="020B0A04020102020204" charset="0"/>
                  <a:sym typeface="+mn-ea"/>
                </a:endParaRPr>
              </a:p>
            </p:txBody>
          </p:sp>
          <p:sp>
            <p:nvSpPr>
              <p:cNvPr id="65" name="直角三角形 64"/>
              <p:cNvSpPr/>
              <p:nvPr/>
            </p:nvSpPr>
            <p:spPr>
              <a:xfrm flipH="1">
                <a:off x="4081" y="7525"/>
                <a:ext cx="1645" cy="1645"/>
              </a:xfrm>
              <a:prstGeom prst="rtTriangle">
                <a:avLst/>
              </a:prstGeom>
              <a:solidFill>
                <a:srgbClr val="FFFFFF"/>
              </a:solidFill>
              <a:ln w="12700" cap="flat" cmpd="sng" algn="ctr">
                <a:noFill/>
                <a:prstDash val="solid"/>
                <a:miter lim="800000"/>
              </a:ln>
              <a:effectLst>
                <a:outerShdw blurRad="228600" dist="127000" dir="14760000" sx="80000" sy="80000" rotWithShape="0">
                  <a:srgbClr val="0070BF">
                    <a:lumMod val="60000"/>
                    <a:lumOff val="40000"/>
                    <a:alpha val="2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grpSp>
        <p:sp>
          <p:nvSpPr>
            <p:cNvPr id="66" name="文本框 65"/>
            <p:cNvSpPr txBox="1"/>
            <p:nvPr/>
          </p:nvSpPr>
          <p:spPr>
            <a:xfrm>
              <a:off x="7164" y="7195"/>
              <a:ext cx="3684" cy="727"/>
            </a:xfrm>
            <a:prstGeom prst="rect">
              <a:avLst/>
            </a:prstGeom>
            <a:noFill/>
          </p:spPr>
          <p:txBody>
            <a:bodyPr wrap="none" lIns="90000" rtlCol="0">
              <a:noAutofit/>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2400" noProof="0" dirty="0">
                  <a:ln w="3175">
                    <a:noFill/>
                  </a:ln>
                  <a:solidFill>
                    <a:srgbClr val="44546A">
                      <a:alpha val="75000"/>
                    </a:srgbClr>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sym typeface="+mn-lt"/>
                </a:rPr>
                <a:t>路径：我们如何实现它？</a:t>
              </a:r>
              <a:endParaRPr kumimoji="1" lang="zh-CN" altLang="en-US" sz="2400" b="0" i="0" u="none" strike="noStrike" kern="0" cap="none" spc="0" normalizeH="0" baseline="0" noProof="0" dirty="0">
                <a:ln w="3175">
                  <a:noFill/>
                </a:ln>
                <a:solidFill>
                  <a:srgbClr val="44546A">
                    <a:alpha val="75000"/>
                  </a:srgbClr>
                </a:solidFill>
                <a:effectLst>
                  <a:outerShdw dist="76200" dir="5400000" algn="t" rotWithShape="0">
                    <a:srgbClr val="FFFFFF">
                      <a:alpha val="100000"/>
                    </a:srgbClr>
                  </a:outerShdw>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dirty="0">
                <a:sym typeface="+mn-ea"/>
              </a:rPr>
              <a:t>建设</a:t>
            </a:r>
            <a:r>
              <a:rPr lang="zh-CN" altLang="en-US" dirty="0">
                <a:sym typeface="+mn-ea"/>
              </a:rPr>
              <a:t>背景</a:t>
            </a:r>
            <a:endParaRPr lang="zh-CN" altLang="en-US" dirty="0">
              <a:sym typeface="+mn-ea"/>
            </a:endParaRPr>
          </a:p>
        </p:txBody>
      </p:sp>
      <p:sp>
        <p:nvSpPr>
          <p:cNvPr id="139" name="文本框 138"/>
          <p:cNvSpPr txBox="1"/>
          <p:nvPr/>
        </p:nvSpPr>
        <p:spPr>
          <a:xfrm>
            <a:off x="194945" y="899795"/>
            <a:ext cx="11433175" cy="756285"/>
          </a:xfrm>
          <a:prstGeom prst="rect">
            <a:avLst/>
          </a:prstGeom>
          <a:noFill/>
        </p:spPr>
        <p:txBody>
          <a:bodyPr wrap="square" rtlCol="0" anchor="t">
            <a:noAutofit/>
          </a:bodyPr>
          <a:lstStyle/>
          <a:p>
            <a:pPr marL="306070" marR="0" lvl="0" indent="-306070" algn="l" defTabSz="914400" rtl="0" eaLnBrk="0" fontAlgn="auto">
              <a:lnSpc>
                <a:spcPct val="120000"/>
              </a:lnSpc>
              <a:spcBef>
                <a:spcPts val="0"/>
              </a:spcBef>
              <a:spcAft>
                <a:spcPts val="0"/>
              </a:spcAft>
              <a:buClr>
                <a:srgbClr val="0070BF"/>
              </a:buClr>
              <a:buSzTx/>
              <a:buFont typeface="Wingdings" panose="05000000000000000000" charset="0"/>
              <a:buChar char="n"/>
              <a:tabLst>
                <a:tab pos="356870" algn="l"/>
              </a:tabLst>
              <a:defRPr/>
            </a:pPr>
            <a:r>
              <a:rPr lang="zh-CN" altLang="en-US" sz="1400" b="1" dirty="0">
                <a:solidFill>
                  <a:schemeClr val="tx1"/>
                </a:solidFill>
                <a:sym typeface="+mn-ea"/>
              </a:rPr>
              <a:t>承接中国移动数字化转型市场领域数智化转型专项规划及行动计划，聚焦市场领域重点工作，收敛集中化运营平台，细化形成“能力贯通、前台统一、多场景赋能”的市场数智转型体系，实现大中小屏高效联动。</a:t>
            </a:r>
            <a:endParaRPr kumimoji="1" lang="zh-CN" altLang="en-US" sz="1400" b="1" noProof="0" dirty="0">
              <a:solidFill>
                <a:schemeClr val="tx1"/>
              </a:solidFill>
              <a:ea typeface="+mn-lt"/>
              <a:cs typeface="+mn-lt"/>
              <a:sym typeface="+mn-ea"/>
            </a:endParaRPr>
          </a:p>
        </p:txBody>
      </p:sp>
      <p:grpSp>
        <p:nvGrpSpPr>
          <p:cNvPr id="6" name="组合 5"/>
          <p:cNvGrpSpPr/>
          <p:nvPr/>
        </p:nvGrpSpPr>
        <p:grpSpPr>
          <a:xfrm>
            <a:off x="561975" y="1671955"/>
            <a:ext cx="5256530" cy="2230120"/>
            <a:chOff x="885" y="2242"/>
            <a:chExt cx="8278" cy="3512"/>
          </a:xfrm>
        </p:grpSpPr>
        <p:sp>
          <p:nvSpPr>
            <p:cNvPr id="11" name="矩形 10"/>
            <p:cNvSpPr/>
            <p:nvPr/>
          </p:nvSpPr>
          <p:spPr>
            <a:xfrm>
              <a:off x="885" y="2242"/>
              <a:ext cx="8279" cy="640"/>
            </a:xfrm>
            <a:prstGeom prst="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numCol="1" spcCol="0" rtlCol="0" fromWordArt="0" anchor="ctr" anchorCtr="0" compatLnSpc="1">
              <a:normAutofit/>
            </a:bodyPr>
            <a:p>
              <a:pPr algn="ctr" defTabSz="913765"/>
              <a:r>
                <a:rPr lang="zh-CN" b="1" dirty="0">
                  <a:solidFill>
                    <a:srgbClr val="FFFFFF"/>
                  </a:solidFill>
                  <a:cs typeface="+mn-ea"/>
                  <a:sym typeface="+mn-lt"/>
                </a:rPr>
                <a:t>国家政策有要求</a:t>
              </a:r>
              <a:endParaRPr lang="zh-CN" b="1" dirty="0">
                <a:solidFill>
                  <a:srgbClr val="FFFFFF"/>
                </a:solidFill>
                <a:cs typeface="+mn-ea"/>
                <a:sym typeface="+mn-lt"/>
              </a:endParaRPr>
            </a:p>
          </p:txBody>
        </p:sp>
        <p:sp>
          <p:nvSpPr>
            <p:cNvPr id="31" name="文本框 30"/>
            <p:cNvSpPr txBox="1"/>
            <p:nvPr/>
          </p:nvSpPr>
          <p:spPr>
            <a:xfrm>
              <a:off x="902" y="2950"/>
              <a:ext cx="8160" cy="2804"/>
            </a:xfrm>
            <a:prstGeom prst="rect">
              <a:avLst/>
            </a:prstGeom>
            <a:noFill/>
            <a:ln>
              <a:solidFill>
                <a:schemeClr val="accent1">
                  <a:lumMod val="20000"/>
                  <a:lumOff val="80000"/>
                </a:schemeClr>
              </a:solidFill>
            </a:ln>
          </p:spPr>
          <p:txBody>
            <a:bodyPr wrap="square">
              <a:noAutofit/>
            </a:bodyPr>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党的二十届三中全会</a:t>
              </a:r>
              <a:r>
                <a:rPr lang="en-US" altLang="zh-CN"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a:t>
              </a:r>
              <a:r>
                <a:rPr lang="zh-CN" altLang="en-US"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决定</a:t>
              </a:r>
              <a:r>
                <a:rPr lang="en-US" altLang="zh-CN"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a:t>
              </a:r>
              <a:r>
                <a:rPr lang="zh-CN" altLang="zh-CN"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明确指出：</a:t>
              </a:r>
              <a:r>
                <a:rPr lang="zh-CN" altLang="en-US"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a:t>
              </a:r>
              <a:r>
                <a:rPr lang="zh-CN" altLang="en-US"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加快构建促进数字经济发展体制机制，完善促进</a:t>
              </a:r>
              <a:r>
                <a:rPr lang="zh-CN" altLang="en-US" sz="1200" b="1"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数字产业化和产业数字化</a:t>
              </a:r>
              <a:r>
                <a:rPr lang="zh-CN" altLang="en-US"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政策体系。加快新一代信息技术全方位全链条普及应用，发展工业互联网，打造具有国际竞争力的数字产业集群</a:t>
              </a:r>
              <a:r>
                <a:rPr lang="zh-CN" altLang="en-US"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a:t>
              </a:r>
              <a:r>
                <a:rPr lang="en-US" altLang="zh-CN"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en-US" altLang="zh-CN"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2024</a:t>
              </a:r>
              <a:r>
                <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年《</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关于印发国有企业数字化转型试点企业名单的通知</a:t>
              </a:r>
              <a:r>
                <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》，要求全面落实试点任务，形成可复制可推广的路径模式、样板标杆。</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endParaRPr>
            </a:p>
          </p:txBody>
        </p:sp>
      </p:grpSp>
      <p:grpSp>
        <p:nvGrpSpPr>
          <p:cNvPr id="8" name="组合 7"/>
          <p:cNvGrpSpPr/>
          <p:nvPr/>
        </p:nvGrpSpPr>
        <p:grpSpPr>
          <a:xfrm>
            <a:off x="6445885" y="1671955"/>
            <a:ext cx="5192395" cy="2219325"/>
            <a:chOff x="10151" y="2242"/>
            <a:chExt cx="8177" cy="3495"/>
          </a:xfrm>
        </p:grpSpPr>
        <p:sp>
          <p:nvSpPr>
            <p:cNvPr id="16" name="矩形 15"/>
            <p:cNvSpPr/>
            <p:nvPr/>
          </p:nvSpPr>
          <p:spPr>
            <a:xfrm>
              <a:off x="10151" y="2242"/>
              <a:ext cx="8161" cy="639"/>
            </a:xfrm>
            <a:prstGeom prst="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numCol="1" spcCol="0" rtlCol="0" fromWordArt="0" anchor="ctr" anchorCtr="0" compatLnSpc="1">
              <a:normAutofit/>
            </a:bodyPr>
            <a:p>
              <a:pPr algn="ctr" defTabSz="913765"/>
              <a:r>
                <a:rPr lang="zh-CN" b="1" dirty="0">
                  <a:solidFill>
                    <a:srgbClr val="FFFFFF"/>
                  </a:solidFill>
                  <a:cs typeface="+mn-ea"/>
                  <a:sym typeface="+mn-lt"/>
                </a:rPr>
                <a:t>运营支撑</a:t>
              </a:r>
              <a:r>
                <a:rPr lang="zh-CN" b="1" dirty="0">
                  <a:solidFill>
                    <a:srgbClr val="FFFFFF"/>
                  </a:solidFill>
                  <a:cs typeface="+mn-ea"/>
                  <a:sym typeface="+mn-lt"/>
                </a:rPr>
                <a:t>有痛点</a:t>
              </a:r>
              <a:endParaRPr lang="zh-CN" b="1" dirty="0">
                <a:solidFill>
                  <a:srgbClr val="FFFFFF"/>
                </a:solidFill>
                <a:cs typeface="+mn-ea"/>
                <a:sym typeface="+mn-lt"/>
              </a:endParaRPr>
            </a:p>
          </p:txBody>
        </p:sp>
        <p:sp>
          <p:nvSpPr>
            <p:cNvPr id="2" name="文本框 1"/>
            <p:cNvSpPr txBox="1"/>
            <p:nvPr/>
          </p:nvSpPr>
          <p:spPr>
            <a:xfrm>
              <a:off x="10168" y="2933"/>
              <a:ext cx="8161" cy="2804"/>
            </a:xfrm>
            <a:prstGeom prst="rect">
              <a:avLst/>
            </a:prstGeom>
            <a:noFill/>
            <a:ln>
              <a:solidFill>
                <a:schemeClr val="accent1">
                  <a:lumMod val="20000"/>
                  <a:lumOff val="80000"/>
                </a:schemeClr>
              </a:solidFill>
            </a:ln>
          </p:spPr>
          <p:txBody>
            <a:bodyPr wrap="square">
              <a:noAutofit/>
            </a:bodyPr>
            <a:p>
              <a:pPr indent="0" fontAlgn="auto">
                <a:lnSpc>
                  <a:spcPct val="120000"/>
                </a:lnSpc>
                <a:spcBef>
                  <a:spcPct val="0"/>
                </a:spcBef>
                <a:spcAft>
                  <a:spcPct val="0"/>
                </a:spcAft>
                <a:buFont typeface="Arial" panose="020B0604020202020204"/>
                <a:buChar char="•"/>
              </a:pPr>
              <a:r>
                <a:rPr lang="zh-CN" altLang="en-US" sz="1200" b="1">
                  <a:solidFill>
                    <a:srgbClr val="0F1115"/>
                  </a:solidFill>
                  <a:latin typeface="微软雅黑" panose="020B0503020204020204" charset="-122"/>
                  <a:ea typeface="微软雅黑" panose="020B0503020204020204" charset="-122"/>
                  <a:cs typeface="微软雅黑" panose="020B0503020204020204" charset="-122"/>
                  <a:sym typeface="+mn-ea"/>
                </a:rPr>
                <a:t>数据孤岛，决策滞后：</a:t>
              </a:r>
              <a:r>
                <a:rPr lang="en-US" altLang="zh-CN" sz="1200">
                  <a:solidFill>
                    <a:srgbClr val="0F1115"/>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数据分散在不同系统，缺乏统一视图，决策依赖人工报表，响应慢。</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p>
              <a:pPr indent="0" fontAlgn="auto">
                <a:lnSpc>
                  <a:spcPct val="120000"/>
                </a:lnSpc>
                <a:spcBef>
                  <a:spcPct val="0"/>
                </a:spcBef>
                <a:spcAft>
                  <a:spcPct val="0"/>
                </a:spcAft>
                <a:buFont typeface="Arial" panose="020B0604020202020204"/>
                <a:buChar char="•"/>
              </a:pPr>
              <a:r>
                <a:rPr lang="zh-CN" altLang="en-US" sz="1200" b="1">
                  <a:solidFill>
                    <a:srgbClr val="0F1115"/>
                  </a:solidFill>
                  <a:latin typeface="微软雅黑" panose="020B0503020204020204" charset="-122"/>
                  <a:ea typeface="微软雅黑" panose="020B0503020204020204" charset="-122"/>
                  <a:cs typeface="微软雅黑" panose="020B0503020204020204" charset="-122"/>
                  <a:sym typeface="+mn-ea"/>
                </a:rPr>
                <a:t>问题定位低效，根因分析困难：</a:t>
              </a:r>
              <a:r>
                <a:rPr lang="en-US" altLang="zh-CN" sz="1200">
                  <a:solidFill>
                    <a:srgbClr val="0F1115"/>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出现运营问题后，需要跨部门、跨系统排查，定位周期长，原因难以追溯。</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p>
              <a:pPr indent="0" fontAlgn="auto">
                <a:lnSpc>
                  <a:spcPct val="120000"/>
                </a:lnSpc>
                <a:spcBef>
                  <a:spcPct val="0"/>
                </a:spcBef>
                <a:spcAft>
                  <a:spcPct val="0"/>
                </a:spcAft>
                <a:buFont typeface="Arial" panose="020B0604020202020204"/>
                <a:buChar char="•"/>
              </a:pPr>
              <a:r>
                <a:rPr lang="zh-CN" altLang="en-US" sz="1200" b="1">
                  <a:solidFill>
                    <a:srgbClr val="0F1115"/>
                  </a:solidFill>
                  <a:latin typeface="微软雅黑" panose="020B0503020204020204" charset="-122"/>
                  <a:ea typeface="微软雅黑" panose="020B0503020204020204" charset="-122"/>
                  <a:cs typeface="微软雅黑" panose="020B0503020204020204" charset="-122"/>
                  <a:sym typeface="+mn-ea"/>
                </a:rPr>
                <a:t>任务调度依赖人工，效率与准确性低</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rgbClr val="0F1115"/>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大量依赖人工的调度、配置任务，易出错，缺乏标准化流程。</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p>
              <a:pPr indent="0" fontAlgn="auto">
                <a:lnSpc>
                  <a:spcPct val="120000"/>
                </a:lnSpc>
                <a:spcBef>
                  <a:spcPct val="0"/>
                </a:spcBef>
                <a:spcAft>
                  <a:spcPct val="0"/>
                </a:spcAft>
                <a:buFont typeface="Arial" panose="020B0604020202020204"/>
                <a:buChar char="•"/>
              </a:pPr>
              <a:r>
                <a:rPr lang="zh-CN" altLang="en-US" sz="1200" b="1">
                  <a:solidFill>
                    <a:srgbClr val="0F1115"/>
                  </a:solidFill>
                  <a:latin typeface="微软雅黑" panose="020B0503020204020204" charset="-122"/>
                  <a:ea typeface="微软雅黑" panose="020B0503020204020204" charset="-122"/>
                  <a:cs typeface="微软雅黑" panose="020B0503020204020204" charset="-122"/>
                  <a:sym typeface="+mn-ea"/>
                </a:rPr>
                <a:t>效果评估凭经验，缺乏数据闭环：</a:t>
              </a:r>
              <a:r>
                <a:rPr lang="en-US" altLang="zh-CN" sz="1200">
                  <a:solidFill>
                    <a:srgbClr val="0F1115"/>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策略或变更上线后，效果评估缺乏量化数据支撑，难以形成“部署</a:t>
              </a:r>
              <a:r>
                <a:rPr lang="en-US" altLang="zh-CN" sz="12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评估</a:t>
              </a:r>
              <a:r>
                <a:rPr lang="en-US" altLang="zh-CN" sz="12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优化”的闭环。</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9" name="组合 8"/>
          <p:cNvGrpSpPr/>
          <p:nvPr/>
        </p:nvGrpSpPr>
        <p:grpSpPr>
          <a:xfrm>
            <a:off x="6445885" y="4208780"/>
            <a:ext cx="5181600" cy="2279650"/>
            <a:chOff x="10151" y="6271"/>
            <a:chExt cx="8160" cy="3590"/>
          </a:xfrm>
        </p:grpSpPr>
        <p:sp>
          <p:nvSpPr>
            <p:cNvPr id="18" name="矩形 17"/>
            <p:cNvSpPr/>
            <p:nvPr/>
          </p:nvSpPr>
          <p:spPr>
            <a:xfrm>
              <a:off x="10151" y="6271"/>
              <a:ext cx="8161" cy="673"/>
            </a:xfrm>
            <a:prstGeom prst="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numCol="1" spcCol="0" rtlCol="0" fromWordArt="0" anchor="ctr" anchorCtr="0" compatLnSpc="1">
              <a:normAutofit/>
            </a:bodyPr>
            <a:p>
              <a:pPr algn="ctr" defTabSz="913765"/>
              <a:r>
                <a:rPr lang="zh-CN" altLang="en-US" b="1" dirty="0">
                  <a:solidFill>
                    <a:srgbClr val="FFFFFF"/>
                  </a:solidFill>
                  <a:cs typeface="+mn-ea"/>
                  <a:sym typeface="+mn-lt"/>
                </a:rPr>
                <a:t>业务发展有</a:t>
              </a:r>
              <a:r>
                <a:rPr lang="zh-CN" altLang="en-US" b="1" dirty="0">
                  <a:solidFill>
                    <a:srgbClr val="FFFFFF"/>
                  </a:solidFill>
                  <a:cs typeface="+mn-ea"/>
                  <a:sym typeface="+mn-lt"/>
                </a:rPr>
                <a:t>需求</a:t>
              </a:r>
              <a:endParaRPr lang="zh-CN" altLang="en-US" b="1" dirty="0">
                <a:solidFill>
                  <a:srgbClr val="FFFFFF"/>
                </a:solidFill>
                <a:cs typeface="+mn-ea"/>
                <a:sym typeface="+mn-lt"/>
              </a:endParaRPr>
            </a:p>
          </p:txBody>
        </p:sp>
        <p:sp>
          <p:nvSpPr>
            <p:cNvPr id="4" name="文本框 3"/>
            <p:cNvSpPr txBox="1"/>
            <p:nvPr/>
          </p:nvSpPr>
          <p:spPr>
            <a:xfrm>
              <a:off x="10151" y="7057"/>
              <a:ext cx="8161" cy="2804"/>
            </a:xfrm>
            <a:prstGeom prst="rect">
              <a:avLst/>
            </a:prstGeom>
            <a:noFill/>
            <a:ln>
              <a:solidFill>
                <a:schemeClr val="accent1">
                  <a:lumMod val="20000"/>
                  <a:lumOff val="80000"/>
                </a:schemeClr>
              </a:solidFill>
            </a:ln>
          </p:spPr>
          <p:txBody>
            <a:bodyPr wrap="square">
              <a:noAutofit/>
            </a:bodyPr>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总部：</a:t>
              </a:r>
              <a:r>
                <a:rPr lang="en-US" altLang="zh-CN" sz="1200">
                  <a:solidFill>
                    <a:srgbClr val="1F2329"/>
                  </a:solidFill>
                  <a:latin typeface="微软雅黑" panose="020B0503020204020204" charset="-122"/>
                  <a:ea typeface="微软雅黑" panose="020B0503020204020204" charset="-122"/>
                  <a:sym typeface="+mn-ea"/>
                </a:rPr>
                <a:t>2346</a:t>
              </a:r>
              <a:r>
                <a:rPr lang="zh-CN" altLang="en-US" sz="1200">
                  <a:latin typeface="微软雅黑" panose="020B0503020204020204" charset="-122"/>
                  <a:ea typeface="微软雅黑" panose="020B0503020204020204" charset="-122"/>
                  <a:cs typeface="+mn-ea"/>
                  <a:sym typeface="+mn-ea"/>
                </a:rPr>
                <a:t>客户全生命周期数智运营体系规划。</a:t>
              </a:r>
              <a:r>
                <a:rPr lang="zh-CN" altLang="en-US" sz="1200">
                  <a:solidFill>
                    <a:srgbClr val="1F2329"/>
                  </a:solidFill>
                  <a:latin typeface="微软雅黑" panose="020B0503020204020204" charset="-122"/>
                  <a:ea typeface="微软雅黑" panose="020B0503020204020204" charset="-122"/>
                  <a:sym typeface="+mn-ea"/>
                </a:rPr>
                <a:t>总部对全网运营数据的实时监控、精准分析需求</a:t>
              </a:r>
              <a:endParaRPr lang="zh-CN" altLang="en-US" sz="1200">
                <a:solidFill>
                  <a:srgbClr val="1F2329"/>
                </a:solidFill>
                <a:latin typeface="微软雅黑" panose="020B0503020204020204" charset="-122"/>
                <a:ea typeface="微软雅黑" panose="020B0503020204020204" charset="-122"/>
                <a:sym typeface="+mn-ea"/>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lang="zh-CN" altLang="en-US" sz="1200" b="1"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rPr>
                <a:t>省份：</a:t>
              </a:r>
              <a:r>
                <a:rPr lang="zh-CN" sz="120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ea"/>
                </a:rPr>
                <a:t>对客户流失、降档、退订、满意度等前置化预警行为有自动化监测和提前干预能力的需求</a:t>
              </a:r>
              <a:endParaRPr lang="zh-CN" altLang="en-US" sz="120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sym typeface="+mn-ea"/>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专业公司：</a:t>
              </a:r>
              <a:r>
                <a:rPr lang="zh-CN" sz="120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ea"/>
                </a:rPr>
                <a:t>对整合客户个人、家庭、社会属性的融合运营场景，有业务专项运营的需求</a:t>
              </a:r>
              <a:endParaRPr lang="zh-CN" sz="120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ea"/>
              </a:endParaRPr>
            </a:p>
          </p:txBody>
        </p:sp>
      </p:grpSp>
      <p:grpSp>
        <p:nvGrpSpPr>
          <p:cNvPr id="10" name="组合 9"/>
          <p:cNvGrpSpPr/>
          <p:nvPr/>
        </p:nvGrpSpPr>
        <p:grpSpPr>
          <a:xfrm>
            <a:off x="561975" y="4187190"/>
            <a:ext cx="5256530" cy="2261870"/>
            <a:chOff x="885" y="6271"/>
            <a:chExt cx="8278" cy="3562"/>
          </a:xfrm>
        </p:grpSpPr>
        <p:sp>
          <p:nvSpPr>
            <p:cNvPr id="17" name="矩形 16"/>
            <p:cNvSpPr/>
            <p:nvPr/>
          </p:nvSpPr>
          <p:spPr>
            <a:xfrm>
              <a:off x="885" y="6271"/>
              <a:ext cx="8278" cy="673"/>
            </a:xfrm>
            <a:prstGeom prst="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vert="horz" wrap="square" lIns="91440" tIns="45720" rIns="91440" bIns="45720" numCol="1" spcCol="0" rtlCol="0" fromWordArt="0" anchor="ctr" anchorCtr="0" compatLnSpc="1">
              <a:normAutofit/>
            </a:bodyPr>
            <a:p>
              <a:pPr algn="ctr" defTabSz="913765"/>
              <a:r>
                <a:rPr lang="zh-CN" b="1" dirty="0">
                  <a:solidFill>
                    <a:srgbClr val="FFFFFF"/>
                  </a:solidFill>
                  <a:cs typeface="+mn-ea"/>
                  <a:sym typeface="+mn-lt"/>
                </a:rPr>
                <a:t>集团战略有部署</a:t>
              </a:r>
              <a:endParaRPr lang="zh-CN" b="1" dirty="0">
                <a:solidFill>
                  <a:srgbClr val="FFFFFF"/>
                </a:solidFill>
                <a:cs typeface="+mn-ea"/>
                <a:sym typeface="+mn-lt"/>
              </a:endParaRPr>
            </a:p>
          </p:txBody>
        </p:sp>
        <p:sp>
          <p:nvSpPr>
            <p:cNvPr id="5" name="文本框 4"/>
            <p:cNvSpPr txBox="1"/>
            <p:nvPr/>
          </p:nvSpPr>
          <p:spPr>
            <a:xfrm>
              <a:off x="902" y="7029"/>
              <a:ext cx="8161" cy="2804"/>
            </a:xfrm>
            <a:prstGeom prst="rect">
              <a:avLst/>
            </a:prstGeom>
            <a:noFill/>
            <a:ln>
              <a:solidFill>
                <a:schemeClr val="accent1">
                  <a:lumMod val="20000"/>
                  <a:lumOff val="80000"/>
                </a:schemeClr>
              </a:solidFill>
            </a:ln>
          </p:spPr>
          <p:txBody>
            <a:bodyPr wrap="square">
              <a:noAutofit/>
            </a:bodyPr>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杨杰董事长市场经营</a:t>
              </a:r>
              <a:r>
                <a:rPr kumimoji="0" lang="en-US" altLang="zh-CN"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新老三句话</a:t>
              </a:r>
              <a:r>
                <a:rPr kumimoji="0" lang="en-US" altLang="zh-CN"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细分市场是基础、存量经营、价值经营是长期性、战略性工作、大力加强产品供给、产品创新</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何飚总经理</a:t>
              </a:r>
              <a:r>
                <a:rPr kumimoji="0" lang="en-US" altLang="zh-CN"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构建高质量发展新格局</a:t>
              </a:r>
              <a:r>
                <a:rPr kumimoji="0" lang="en-US" altLang="zh-CN"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要求：</a:t>
              </a:r>
              <a:r>
                <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市场体系贯通升级、发展方式转变、增长动能转换、运营模式转型</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张冬副总经理市场经营</a:t>
              </a:r>
              <a:r>
                <a:rPr kumimoji="0" lang="en-US" altLang="zh-CN"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范式变迁</a:t>
              </a:r>
              <a:r>
                <a:rPr kumimoji="0" lang="en-US" altLang="zh-CN"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a:t>
              </a:r>
              <a:r>
                <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要求：</a:t>
              </a:r>
              <a:r>
                <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rPr>
                <a:t>客户至上，从数量增长向价值经营转变；需求引领，从客户份额向需求份额转变</a:t>
              </a: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endParaRPr>
            </a:p>
            <a:p>
              <a:pPr marL="285750" marR="0" lvl="0" indent="-285750" algn="l" defTabSz="914400" rtl="0" fontAlgn="auto">
                <a:lnSpc>
                  <a:spcPct val="150000"/>
                </a:lnSpc>
                <a:spcBef>
                  <a:spcPts val="0"/>
                </a:spcBef>
                <a:spcAft>
                  <a:spcPts val="300"/>
                </a:spcAft>
                <a:buClrTx/>
                <a:buSzTx/>
                <a:buFont typeface="Arial" panose="020B0604020202020204" pitchFamily="34" charset="0"/>
                <a:buChar char="•"/>
                <a:defRPr/>
              </a:pPr>
              <a:endParaRPr kumimoji="0" lang="zh-CN" altLang="en-US" sz="12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宋体" panose="02010600030101010101" pitchFamily="2" charset="-122"/>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94340" y="264211"/>
            <a:ext cx="9577633" cy="486572"/>
          </a:xfrm>
        </p:spPr>
        <p:txBody>
          <a:bodyPr/>
          <a:p>
            <a:r>
              <a:rPr lang="zh-CN" altLang="en-US">
                <a:solidFill>
                  <a:schemeClr val="accent1"/>
                </a:solidFill>
                <a:latin typeface="微软雅黑" panose="020B0503020204020204" charset="-122"/>
                <a:ea typeface="微软雅黑" panose="020B0503020204020204" charset="-122"/>
              </a:rPr>
              <a:t>市场领域</a:t>
            </a:r>
            <a:r>
              <a:rPr lang="zh-CN" altLang="en-US">
                <a:solidFill>
                  <a:schemeClr val="accent1"/>
                </a:solidFill>
                <a:latin typeface="微软雅黑" panose="020B0503020204020204" charset="-122"/>
                <a:ea typeface="微软雅黑" panose="020B0503020204020204" charset="-122"/>
              </a:rPr>
              <a:t>规划：</a:t>
            </a:r>
            <a:r>
              <a:rPr lang="zh-CN" altLang="en-US">
                <a:latin typeface="微软雅黑" panose="020B0503020204020204" charset="-122"/>
                <a:ea typeface="微软雅黑" panose="020B0503020204020204" charset="-122"/>
                <a:cs typeface="+mn-ea"/>
              </a:rPr>
              <a:t>构建</a:t>
            </a:r>
            <a:r>
              <a:rPr lang="zh-CN" altLang="en-US">
                <a:latin typeface="微软雅黑" panose="020B0503020204020204" charset="-122"/>
                <a:ea typeface="微软雅黑" panose="020B0503020204020204" charset="-122"/>
                <a:cs typeface="+mn-ea"/>
                <a:sym typeface="+mn-ea"/>
              </a:rPr>
              <a:t>“</a:t>
            </a:r>
            <a:r>
              <a:rPr lang="zh-CN" altLang="en-US">
                <a:solidFill>
                  <a:srgbClr val="C00000"/>
                </a:solidFill>
                <a:latin typeface="微软雅黑" panose="020B0503020204020204" charset="-122"/>
                <a:ea typeface="微软雅黑" panose="020B0503020204020204" charset="-122"/>
                <a:cs typeface="+mn-ea"/>
                <a:sym typeface="+mn-ea"/>
              </a:rPr>
              <a:t>2346</a:t>
            </a:r>
            <a:r>
              <a:rPr lang="zh-CN" altLang="en-US">
                <a:latin typeface="微软雅黑" panose="020B0503020204020204" charset="-122"/>
                <a:ea typeface="微软雅黑" panose="020B0503020204020204" charset="-122"/>
                <a:cs typeface="+mn-ea"/>
                <a:sym typeface="+mn-ea"/>
              </a:rPr>
              <a:t>”客户全生命周期数智运营体系</a:t>
            </a:r>
            <a:endParaRPr>
              <a:solidFill>
                <a:srgbClr val="C00000"/>
              </a:solidFill>
              <a:latin typeface="微软雅黑" panose="020B0503020204020204" charset="-122"/>
              <a:ea typeface="微软雅黑" panose="020B0503020204020204" charset="-122"/>
            </a:endParaRPr>
          </a:p>
        </p:txBody>
      </p:sp>
      <p:sp>
        <p:nvSpPr>
          <p:cNvPr id="414" name="矩形 413"/>
          <p:cNvSpPr/>
          <p:nvPr>
            <p:custDataLst>
              <p:tags r:id="rId1"/>
            </p:custDataLst>
          </p:nvPr>
        </p:nvSpPr>
        <p:spPr>
          <a:xfrm>
            <a:off x="250190" y="5567680"/>
            <a:ext cx="4189730" cy="961390"/>
          </a:xfrm>
          <a:prstGeom prst="rect">
            <a:avLst/>
          </a:prstGeom>
          <a:solidFill>
            <a:srgbClr val="E6F0F8"/>
          </a:solidFill>
          <a:ln w="12700" cap="flat" cmpd="sng" algn="ctr">
            <a:solidFill>
              <a:schemeClr val="bg1">
                <a:lumMod val="75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415" name="文本框 414"/>
          <p:cNvSpPr txBox="1"/>
          <p:nvPr/>
        </p:nvSpPr>
        <p:spPr>
          <a:xfrm>
            <a:off x="4477385" y="1879600"/>
            <a:ext cx="3093085" cy="337185"/>
          </a:xfrm>
          <a:prstGeom prst="rect">
            <a:avLst/>
          </a:prstGeom>
          <a:noFill/>
        </p:spPr>
        <p:txBody>
          <a:bodyPr wrap="square" rtlCol="0">
            <a:sp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mn-cs"/>
                <a:sym typeface="微软雅黑" panose="020B0503020204020204" charset="-122"/>
              </a:rPr>
              <a:t>央企</a:t>
            </a:r>
            <a:r>
              <a:rPr kumimoji="0" lang="zh-CN" altLang="en-US" sz="16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mn-cs"/>
              </a:rPr>
              <a:t>数字化转型标杆</a:t>
            </a:r>
            <a:endParaRPr kumimoji="0" lang="zh-CN" altLang="en-US" sz="1600" b="0" i="0" u="none" strike="noStrike" kern="1200" cap="none" spc="0" normalizeH="0" baseline="0" noProof="0">
              <a:ln>
                <a:noFill/>
              </a:ln>
              <a:solidFill>
                <a:sysClr val="window" lastClr="FFFFFF"/>
              </a:solidFill>
              <a:effectLst/>
              <a:uLnTx/>
              <a:uFillTx/>
              <a:latin typeface="微软雅黑" panose="020B0503020204020204" charset="-122"/>
              <a:ea typeface="微软雅黑" panose="020B0503020204020204" charset="-122"/>
              <a:cs typeface="+mn-cs"/>
            </a:endParaRPr>
          </a:p>
        </p:txBody>
      </p:sp>
      <p:grpSp>
        <p:nvGrpSpPr>
          <p:cNvPr id="416" name="组合 415"/>
          <p:cNvGrpSpPr/>
          <p:nvPr/>
        </p:nvGrpSpPr>
        <p:grpSpPr>
          <a:xfrm rot="0">
            <a:off x="1464310" y="1583690"/>
            <a:ext cx="10072370" cy="963295"/>
            <a:chOff x="3701" y="2115"/>
            <a:chExt cx="13065" cy="2592"/>
          </a:xfrm>
        </p:grpSpPr>
        <p:sp>
          <p:nvSpPr>
            <p:cNvPr id="417" name="等腰三角形 416"/>
            <p:cNvSpPr/>
            <p:nvPr/>
          </p:nvSpPr>
          <p:spPr>
            <a:xfrm>
              <a:off x="3701" y="2115"/>
              <a:ext cx="13065" cy="936"/>
            </a:xfrm>
            <a:prstGeom prst="triangle">
              <a:avLst>
                <a:gd name="adj" fmla="val 49703"/>
              </a:avLst>
            </a:prstGeom>
            <a:solidFill>
              <a:srgbClr val="0070C6"/>
            </a:solidFill>
            <a:ln w="12700" cap="flat" cmpd="sng" algn="ctr">
              <a:noFill/>
              <a:prstDash val="solid"/>
              <a:miter lim="800000"/>
            </a:ln>
            <a:effec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a:ln>
                    <a:noFill/>
                  </a:ln>
                  <a:solidFill>
                    <a:schemeClr val="accent6"/>
                  </a:solidFill>
                  <a:effectLst/>
                  <a:uLnTx/>
                  <a:uFillTx/>
                  <a:latin typeface="微软雅黑" panose="020B0503020204020204" charset="-122"/>
                  <a:ea typeface="微软雅黑" panose="020B0503020204020204" charset="-122"/>
                  <a:cs typeface="+mn-cs"/>
                </a:rPr>
                <a:t>基于用户细分、存增一体的客户全生命周期精准运营</a:t>
              </a:r>
              <a:endParaRPr kumimoji="0" lang="zh-CN" altLang="en-US" sz="1300" b="1" i="0" u="none" strike="noStrike" kern="1200" cap="none" spc="0" normalizeH="0" baseline="0" noProof="0">
                <a:ln>
                  <a:noFill/>
                </a:ln>
                <a:solidFill>
                  <a:schemeClr val="accent6"/>
                </a:solidFill>
                <a:effectLst/>
                <a:uLnTx/>
                <a:uFillTx/>
                <a:latin typeface="微软雅黑" panose="020B0503020204020204" charset="-122"/>
                <a:ea typeface="微软雅黑" panose="020B0503020204020204" charset="-122"/>
                <a:cs typeface="+mn-cs"/>
              </a:endParaRPr>
            </a:p>
          </p:txBody>
        </p:sp>
        <p:sp>
          <p:nvSpPr>
            <p:cNvPr id="418" name="文本框 417"/>
            <p:cNvSpPr txBox="1"/>
            <p:nvPr/>
          </p:nvSpPr>
          <p:spPr>
            <a:xfrm>
              <a:off x="6360" y="4089"/>
              <a:ext cx="6374" cy="618"/>
            </a:xfrm>
            <a:prstGeom prst="rect">
              <a:avLst/>
            </a:prstGeom>
            <a:noFill/>
          </p:spPr>
          <p:txBody>
            <a:bodyPr wrap="square" rtlCol="0">
              <a:sp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mn-cs"/>
                  <a:sym typeface="微软雅黑" panose="020B0503020204020204" charset="-122"/>
                </a:rPr>
                <a:t>基于用户细分、存增一体的客户全生命周期精准运营</a:t>
              </a:r>
              <a:endParaRPr kumimoji="0" lang="zh-CN" altLang="en-US" sz="900" b="1"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grpSp>
      <p:sp>
        <p:nvSpPr>
          <p:cNvPr id="419" name="矩形 418"/>
          <p:cNvSpPr/>
          <p:nvPr/>
        </p:nvSpPr>
        <p:spPr>
          <a:xfrm>
            <a:off x="5080000" y="3900170"/>
            <a:ext cx="1409700" cy="111379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lumMod val="60000"/>
                    <a:lumOff val="40000"/>
                  </a:schemeClr>
                </a:solidFill>
              </a14:hiddenFill>
            </a:ext>
          </a:ex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chemeClr val="tx1"/>
              </a:solidFill>
              <a:effectLst/>
              <a:uLnTx/>
              <a:uFillTx/>
              <a:latin typeface="Arial" panose="020B0604020202020204"/>
              <a:ea typeface="微软雅黑" panose="020B0503020204020204" charset="-122"/>
              <a:cs typeface="+mn-cs"/>
            </a:endParaRPr>
          </a:p>
        </p:txBody>
      </p:sp>
      <p:sp>
        <p:nvSpPr>
          <p:cNvPr id="420" name="矩形 419"/>
          <p:cNvSpPr/>
          <p:nvPr>
            <p:custDataLst>
              <p:tags r:id="rId2"/>
            </p:custDataLst>
          </p:nvPr>
        </p:nvSpPr>
        <p:spPr>
          <a:xfrm>
            <a:off x="199390" y="3314065"/>
            <a:ext cx="4530090" cy="2138680"/>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421" name="矩形 420"/>
          <p:cNvSpPr/>
          <p:nvPr>
            <p:custDataLst>
              <p:tags r:id="rId3"/>
            </p:custDataLst>
          </p:nvPr>
        </p:nvSpPr>
        <p:spPr>
          <a:xfrm>
            <a:off x="4792980" y="3314065"/>
            <a:ext cx="6219825" cy="2138680"/>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422" name="矩形 421"/>
          <p:cNvSpPr/>
          <p:nvPr>
            <p:custDataLst>
              <p:tags r:id="rId4"/>
            </p:custDataLst>
          </p:nvPr>
        </p:nvSpPr>
        <p:spPr>
          <a:xfrm>
            <a:off x="11048365" y="2914650"/>
            <a:ext cx="890270" cy="3815715"/>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noAutofit/>
          </a:bodyPr>
          <a:p>
            <a:pPr lvl="0" algn="ctr" defTabSz="457200">
              <a:spcBef>
                <a:spcPts val="0"/>
              </a:spcBef>
              <a:spcAft>
                <a:spcPts val="0"/>
              </a:spcAft>
              <a:buClrTx/>
              <a:buSzTx/>
              <a:buFontTx/>
              <a:defRPr/>
            </a:pPr>
            <a:endParaRPr lang="zh-CN" altLang="en-US" sz="1600" noProof="0">
              <a:ln>
                <a:noFill/>
              </a:ln>
              <a:solidFill>
                <a:sysClr val="window" lastClr="FFFFFF"/>
              </a:solidFill>
              <a:effectLst/>
              <a:uLnTx/>
              <a:uFillTx/>
              <a:latin typeface="Arial" panose="020B0604020202020204" pitchFamily="34" charset="0"/>
              <a:ea typeface="微软雅黑" panose="020B0503020204020204" charset="-122"/>
              <a:sym typeface="+mn-ea"/>
            </a:endParaRPr>
          </a:p>
        </p:txBody>
      </p:sp>
      <p:sp>
        <p:nvSpPr>
          <p:cNvPr id="423" name="矩形 422"/>
          <p:cNvSpPr/>
          <p:nvPr/>
        </p:nvSpPr>
        <p:spPr>
          <a:xfrm>
            <a:off x="4850765" y="3402330"/>
            <a:ext cx="6006465" cy="334010"/>
          </a:xfrm>
          <a:prstGeom prst="rect">
            <a:avLst/>
          </a:prstGeom>
          <a:solidFill>
            <a:srgbClr val="E6F0F8"/>
          </a:solidFill>
          <a:ln w="12700" cap="flat" cmpd="sng" algn="ctr">
            <a:noFill/>
            <a:prstDash val="solid"/>
            <a:miter lim="800000"/>
          </a:ln>
          <a:effectLst/>
        </p:spPr>
        <p:txBody>
          <a:bodyPr rtlCol="0" anchor="ctr">
            <a:noAutofit/>
          </a:bodyPr>
          <a:p>
            <a:pPr lvl="0" algn="ctr">
              <a:buClrTx/>
              <a:buSzTx/>
              <a:buFontTx/>
              <a:defRPr/>
            </a:pPr>
            <a:r>
              <a:rPr lang="en-US" altLang="zh-CN" sz="1400" b="1" kern="0" dirty="0">
                <a:solidFill>
                  <a:srgbClr val="C00000"/>
                </a:solidFill>
                <a:latin typeface="Arial" panose="020B0604020202020204"/>
                <a:ea typeface="微软雅黑" panose="020B0503020204020204" charset="-122"/>
                <a:sym typeface="+mn-ea"/>
              </a:rPr>
              <a:t>    </a:t>
            </a:r>
            <a:r>
              <a:rPr lang="zh-CN" altLang="en-US" sz="1200" b="1" kern="0" dirty="0">
                <a:solidFill>
                  <a:srgbClr val="C00000"/>
                </a:solidFill>
                <a:latin typeface="Arial" panose="020B0604020202020204"/>
                <a:ea typeface="微软雅黑" panose="020B0503020204020204" charset="-122"/>
                <a:sym typeface="+mn-ea"/>
              </a:rPr>
              <a:t>客户全生命周期</a:t>
            </a:r>
            <a:r>
              <a:rPr lang="en-US" altLang="zh-CN" sz="1200" b="1" kern="0" dirty="0">
                <a:solidFill>
                  <a:srgbClr val="C00000"/>
                </a:solidFill>
                <a:latin typeface="Arial" panose="020B0604020202020204"/>
                <a:ea typeface="微软雅黑" panose="020B0503020204020204" charset="-122"/>
                <a:sym typeface="+mn-ea"/>
              </a:rPr>
              <a:t>--</a:t>
            </a:r>
            <a:r>
              <a:rPr lang="zh-CN" altLang="en-US" sz="1400" b="1" kern="0" dirty="0">
                <a:solidFill>
                  <a:srgbClr val="C00000"/>
                </a:solidFill>
                <a:latin typeface="Arial" panose="020B0604020202020204"/>
                <a:ea typeface="微软雅黑" panose="020B0503020204020204" charset="-122"/>
                <a:sym typeface="+mn-ea"/>
              </a:rPr>
              <a:t>AI智慧大脑</a:t>
            </a:r>
            <a:endParaRPr lang="zh-CN" altLang="en-US" sz="1400" b="1" kern="0" dirty="0">
              <a:solidFill>
                <a:srgbClr val="C00000"/>
              </a:solidFill>
              <a:latin typeface="Arial" panose="020B0604020202020204"/>
              <a:ea typeface="微软雅黑" panose="020B0503020204020204" charset="-122"/>
              <a:sym typeface="+mn-ea"/>
            </a:endParaRPr>
          </a:p>
        </p:txBody>
      </p:sp>
      <p:sp>
        <p:nvSpPr>
          <p:cNvPr id="424" name="矩形 423"/>
          <p:cNvSpPr/>
          <p:nvPr>
            <p:custDataLst>
              <p:tags r:id="rId5"/>
            </p:custDataLst>
          </p:nvPr>
        </p:nvSpPr>
        <p:spPr>
          <a:xfrm>
            <a:off x="250825" y="3415665"/>
            <a:ext cx="4394835" cy="344170"/>
          </a:xfrm>
          <a:prstGeom prst="rect">
            <a:avLst/>
          </a:prstGeom>
          <a:solidFill>
            <a:srgbClr val="E6F0F8"/>
          </a:solidFill>
          <a:ln w="12700" cap="flat" cmpd="sng" algn="ctr">
            <a:noFill/>
            <a:prstDash val="solid"/>
            <a:miter lim="800000"/>
          </a:ln>
          <a:effectLst/>
        </p:spPr>
        <p:txBody>
          <a:bodyPr rtlCol="0" anchor="ctr">
            <a:noAutofit/>
          </a:bodyPr>
          <a:p>
            <a:pPr lvl="0" algn="ctr">
              <a:buClrTx/>
              <a:buSzTx/>
              <a:buFontTx/>
              <a:defRPr/>
            </a:pPr>
            <a:r>
              <a:rPr lang="zh-CN" altLang="en-US" sz="1200" b="1" kern="0" dirty="0">
                <a:solidFill>
                  <a:srgbClr val="C00000"/>
                </a:solidFill>
                <a:latin typeface="Arial" panose="020B0604020202020204"/>
                <a:ea typeface="微软雅黑" panose="020B0503020204020204" charset="-122"/>
                <a:sym typeface="+mn-ea"/>
              </a:rPr>
              <a:t>客户全生命周期</a:t>
            </a:r>
            <a:r>
              <a:rPr lang="en-US" altLang="zh-CN" sz="1200" b="1" kern="0" dirty="0">
                <a:solidFill>
                  <a:srgbClr val="C00000"/>
                </a:solidFill>
                <a:latin typeface="Arial" panose="020B0604020202020204"/>
                <a:ea typeface="微软雅黑" panose="020B0503020204020204" charset="-122"/>
                <a:sym typeface="+mn-ea"/>
              </a:rPr>
              <a:t>--</a:t>
            </a:r>
            <a:r>
              <a:rPr lang="zh-CN" altLang="en-US" sz="1400" b="1" kern="0" dirty="0">
                <a:solidFill>
                  <a:srgbClr val="C00000"/>
                </a:solidFill>
                <a:latin typeface="Arial" panose="020B0604020202020204"/>
                <a:ea typeface="微软雅黑" panose="020B0503020204020204" charset="-122"/>
                <a:sym typeface="+mn-ea"/>
              </a:rPr>
              <a:t>数据平台</a:t>
            </a:r>
            <a:endParaRPr lang="zh-CN" altLang="en-US" sz="1400" b="1" kern="0" dirty="0">
              <a:solidFill>
                <a:srgbClr val="C00000"/>
              </a:solidFill>
              <a:latin typeface="Arial" panose="020B0604020202020204"/>
              <a:ea typeface="微软雅黑" panose="020B0503020204020204" charset="-122"/>
              <a:sym typeface="+mn-ea"/>
            </a:endParaRPr>
          </a:p>
        </p:txBody>
      </p:sp>
      <p:sp>
        <p:nvSpPr>
          <p:cNvPr id="425" name="矩形 424"/>
          <p:cNvSpPr/>
          <p:nvPr>
            <p:custDataLst>
              <p:tags r:id="rId6"/>
            </p:custDataLst>
          </p:nvPr>
        </p:nvSpPr>
        <p:spPr>
          <a:xfrm>
            <a:off x="252730" y="6562090"/>
            <a:ext cx="10636250" cy="154940"/>
          </a:xfrm>
          <a:prstGeom prst="rect">
            <a:avLst/>
          </a:prstGeom>
          <a:solidFill>
            <a:srgbClr val="E6F0F8"/>
          </a:solidFill>
          <a:ln w="12700" cap="flat" cmpd="sng" algn="ctr">
            <a:noFill/>
            <a:prstDash val="solid"/>
            <a:miter lim="800000"/>
          </a:ln>
          <a:effectLst/>
        </p:spPr>
        <p:txBody>
          <a:bodyPr rtlCol="0" anchor="ctr">
            <a:noAutofit/>
          </a:bodyPr>
          <a:p>
            <a:pPr marL="0" marR="0" lvl="0" algn="ctr" defTabSz="457200" rtl="0" eaLnBrk="1" fontAlgn="auto" latinLnBrk="0" hangingPunct="1">
              <a:lnSpc>
                <a:spcPct val="100000"/>
              </a:lnSpc>
              <a:spcBef>
                <a:spcPts val="0"/>
              </a:spcBef>
              <a:spcAft>
                <a:spcPts val="0"/>
              </a:spcAft>
              <a:buClrTx/>
              <a:buSzTx/>
              <a:buFontTx/>
              <a:buNone/>
              <a:defRPr/>
            </a:pPr>
            <a:r>
              <a:rPr lang="zh-CN" altLang="en-US" sz="1200" b="1" noProof="0">
                <a:ln>
                  <a:noFill/>
                </a:ln>
                <a:solidFill>
                  <a:srgbClr val="0070C0"/>
                </a:solidFill>
                <a:effectLst/>
                <a:uLnTx/>
                <a:uFillTx/>
                <a:latin typeface="微软雅黑" panose="020B0503020204020204" charset="-122"/>
                <a:ea typeface="微软雅黑" panose="020B0503020204020204" charset="-122"/>
                <a:sym typeface="+mn-ea"/>
              </a:rPr>
              <a:t>能力中台支撑底座</a:t>
            </a:r>
            <a:endParaRPr lang="zh-CN" altLang="en-US" sz="1200" b="1" kern="0" noProof="0" dirty="0">
              <a:ln>
                <a:noFill/>
              </a:ln>
              <a:solidFill>
                <a:srgbClr val="0070C0"/>
              </a:solidFill>
              <a:effectLst/>
              <a:uLnTx/>
              <a:uFillTx/>
              <a:latin typeface="微软雅黑" panose="020B0503020204020204" charset="-122"/>
              <a:ea typeface="微软雅黑" panose="020B0503020204020204" charset="-122"/>
              <a:sym typeface="+mn-ea"/>
            </a:endParaRPr>
          </a:p>
        </p:txBody>
      </p:sp>
      <p:sp>
        <p:nvSpPr>
          <p:cNvPr id="426" name="矩形 425"/>
          <p:cNvSpPr/>
          <p:nvPr>
            <p:custDataLst>
              <p:tags r:id="rId7"/>
            </p:custDataLst>
          </p:nvPr>
        </p:nvSpPr>
        <p:spPr>
          <a:xfrm>
            <a:off x="208280" y="1583055"/>
            <a:ext cx="11708130" cy="610870"/>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427" name="文本框 426"/>
          <p:cNvSpPr txBox="1"/>
          <p:nvPr/>
        </p:nvSpPr>
        <p:spPr>
          <a:xfrm>
            <a:off x="208280" y="1593850"/>
            <a:ext cx="1016635" cy="271145"/>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目</a:t>
            </a:r>
            <a:r>
              <a:rPr kumimoji="0" lang="en-US" altLang="zh-CN" sz="14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   </a:t>
            </a:r>
            <a:r>
              <a:rPr kumimoji="0" lang="zh-CN" altLang="en-US" sz="14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标</a:t>
            </a:r>
            <a:endParaRPr kumimoji="0" lang="zh-CN" altLang="en-US" sz="14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grpSp>
        <p:nvGrpSpPr>
          <p:cNvPr id="428" name="组合 427"/>
          <p:cNvGrpSpPr/>
          <p:nvPr/>
        </p:nvGrpSpPr>
        <p:grpSpPr>
          <a:xfrm rot="0">
            <a:off x="264795" y="2863215"/>
            <a:ext cx="10502265" cy="367665"/>
            <a:chOff x="316" y="3061"/>
            <a:chExt cx="16700" cy="592"/>
          </a:xfrm>
        </p:grpSpPr>
        <p:sp>
          <p:nvSpPr>
            <p:cNvPr id="429" name="文本框 428"/>
            <p:cNvSpPr txBox="1"/>
            <p:nvPr/>
          </p:nvSpPr>
          <p:spPr>
            <a:xfrm>
              <a:off x="316" y="3061"/>
              <a:ext cx="1907" cy="552"/>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rPr>
                <a:t>4</a:t>
              </a:r>
              <a:r>
                <a:rPr kumimoji="0" lang="zh-CN"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rPr>
                <a:t>大关键</a:t>
              </a:r>
              <a:endParaRPr kumimoji="0" lang="zh-CN"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rPr>
                <a:t>融合运营能力</a:t>
              </a:r>
              <a:endParaRPr kumimoji="0" lang="zh-CN"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430" name="组合 429"/>
            <p:cNvGrpSpPr/>
            <p:nvPr/>
          </p:nvGrpSpPr>
          <p:grpSpPr>
            <a:xfrm rot="0">
              <a:off x="2224" y="3180"/>
              <a:ext cx="14792" cy="473"/>
              <a:chOff x="1702" y="4397"/>
              <a:chExt cx="13834" cy="1753"/>
            </a:xfrm>
          </p:grpSpPr>
          <p:sp>
            <p:nvSpPr>
              <p:cNvPr id="431" name="矩形 430"/>
              <p:cNvSpPr/>
              <p:nvPr>
                <p:custDataLst>
                  <p:tags r:id="rId8"/>
                </p:custDataLst>
              </p:nvPr>
            </p:nvSpPr>
            <p:spPr>
              <a:xfrm>
                <a:off x="1702" y="4465"/>
                <a:ext cx="3372" cy="1683"/>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noProof="0" dirty="0">
                    <a:ln>
                      <a:noFill/>
                    </a:ln>
                    <a:solidFill>
                      <a:schemeClr val="tx1"/>
                    </a:solidFill>
                    <a:effectLst/>
                    <a:uLnTx/>
                    <a:uFillTx/>
                    <a:latin typeface="微软雅黑" panose="020B0503020204020204" charset="-122"/>
                    <a:ea typeface="微软雅黑" panose="020B0503020204020204" charset="-122"/>
                    <a:sym typeface="+mn-ea"/>
                  </a:rPr>
                  <a:t>全领域</a:t>
                </a:r>
                <a:r>
                  <a:rPr kumimoji="1" lang="zh-CN" altLang="en-US" sz="1200" b="1" noProof="0" dirty="0">
                    <a:ln>
                      <a:noFill/>
                    </a:ln>
                    <a:solidFill>
                      <a:srgbClr val="000000"/>
                    </a:solidFill>
                    <a:effectLst/>
                    <a:uLnTx/>
                    <a:uFillTx/>
                    <a:latin typeface="微软雅黑" panose="020B0503020204020204" charset="-122"/>
                    <a:ea typeface="微软雅黑" panose="020B0503020204020204" charset="-122"/>
                    <a:sym typeface="+mn-ea"/>
                  </a:rPr>
                  <a:t>客户统一账号</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sp>
            <p:nvSpPr>
              <p:cNvPr id="432" name="矩形 431"/>
              <p:cNvSpPr/>
              <p:nvPr>
                <p:custDataLst>
                  <p:tags r:id="rId9"/>
                </p:custDataLst>
              </p:nvPr>
            </p:nvSpPr>
            <p:spPr>
              <a:xfrm>
                <a:off x="5161" y="4397"/>
                <a:ext cx="3372" cy="1684"/>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noProof="0" dirty="0">
                    <a:ln>
                      <a:noFill/>
                    </a:ln>
                    <a:solidFill>
                      <a:schemeClr val="tx1"/>
                    </a:solidFill>
                    <a:effectLst/>
                    <a:uLnTx/>
                    <a:uFillTx/>
                    <a:latin typeface="微软雅黑" panose="020B0503020204020204" charset="-122"/>
                    <a:ea typeface="微软雅黑" panose="020B0503020204020204" charset="-122"/>
                    <a:sym typeface="+mn-ea"/>
                  </a:rPr>
                  <a:t>全时空</a:t>
                </a:r>
                <a:r>
                  <a:rPr kumimoji="1" lang="zh-CN" altLang="en-US" sz="1200" b="1" noProof="0" dirty="0">
                    <a:ln>
                      <a:noFill/>
                    </a:ln>
                    <a:solidFill>
                      <a:srgbClr val="000000"/>
                    </a:solidFill>
                    <a:effectLst/>
                    <a:uLnTx/>
                    <a:uFillTx/>
                    <a:latin typeface="微软雅黑" panose="020B0503020204020204" charset="-122"/>
                    <a:ea typeface="微软雅黑" panose="020B0503020204020204" charset="-122"/>
                    <a:sym typeface="+mn-ea"/>
                  </a:rPr>
                  <a:t>客户融合洞察</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sp>
            <p:nvSpPr>
              <p:cNvPr id="433" name="矩形 432"/>
              <p:cNvSpPr/>
              <p:nvPr>
                <p:custDataLst>
                  <p:tags r:id="rId10"/>
                </p:custDataLst>
              </p:nvPr>
            </p:nvSpPr>
            <p:spPr>
              <a:xfrm>
                <a:off x="8667" y="4466"/>
                <a:ext cx="3372" cy="1684"/>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noProof="0" dirty="0">
                    <a:ln>
                      <a:noFill/>
                    </a:ln>
                    <a:solidFill>
                      <a:schemeClr val="tx1"/>
                    </a:solidFill>
                    <a:effectLst/>
                    <a:uLnTx/>
                    <a:uFillTx/>
                    <a:latin typeface="微软雅黑" panose="020B0503020204020204" charset="-122"/>
                    <a:ea typeface="微软雅黑" panose="020B0503020204020204" charset="-122"/>
                    <a:sym typeface="+mn-ea"/>
                  </a:rPr>
                  <a:t>全产品</a:t>
                </a:r>
                <a:r>
                  <a:rPr kumimoji="1" lang="zh-CN" altLang="en-US" sz="1200" b="1" noProof="0" dirty="0">
                    <a:ln>
                      <a:noFill/>
                    </a:ln>
                    <a:solidFill>
                      <a:srgbClr val="000000"/>
                    </a:solidFill>
                    <a:effectLst/>
                    <a:uLnTx/>
                    <a:uFillTx/>
                    <a:latin typeface="微软雅黑" panose="020B0503020204020204" charset="-122"/>
                    <a:ea typeface="微软雅黑" panose="020B0503020204020204" charset="-122"/>
                    <a:sym typeface="+mn-ea"/>
                  </a:rPr>
                  <a:t>灵活封装供给</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sp>
            <p:nvSpPr>
              <p:cNvPr id="434" name="矩形 433"/>
              <p:cNvSpPr/>
              <p:nvPr>
                <p:custDataLst>
                  <p:tags r:id="rId11"/>
                </p:custDataLst>
              </p:nvPr>
            </p:nvSpPr>
            <p:spPr>
              <a:xfrm>
                <a:off x="12164" y="4463"/>
                <a:ext cx="3372" cy="1684"/>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noProof="0" dirty="0">
                    <a:ln>
                      <a:noFill/>
                    </a:ln>
                    <a:solidFill>
                      <a:schemeClr val="tx1"/>
                    </a:solidFill>
                    <a:effectLst/>
                    <a:uLnTx/>
                    <a:uFillTx/>
                    <a:latin typeface="微软雅黑" panose="020B0503020204020204" charset="-122"/>
                    <a:ea typeface="微软雅黑" panose="020B0503020204020204" charset="-122"/>
                    <a:sym typeface="+mn-ea"/>
                  </a:rPr>
                  <a:t>全触点</a:t>
                </a:r>
                <a:r>
                  <a:rPr kumimoji="1" lang="zh-CN" altLang="en-US" sz="1200" b="1" noProof="0" dirty="0">
                    <a:ln>
                      <a:noFill/>
                    </a:ln>
                    <a:solidFill>
                      <a:srgbClr val="000000"/>
                    </a:solidFill>
                    <a:effectLst/>
                    <a:uLnTx/>
                    <a:uFillTx/>
                    <a:latin typeface="微软雅黑" panose="020B0503020204020204" charset="-122"/>
                    <a:ea typeface="微软雅黑" panose="020B0503020204020204" charset="-122"/>
                    <a:sym typeface="+mn-ea"/>
                  </a:rPr>
                  <a:t>联动智能交互</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endParaRPr>
              </a:p>
            </p:txBody>
          </p:sp>
        </p:grpSp>
      </p:grpSp>
      <p:grpSp>
        <p:nvGrpSpPr>
          <p:cNvPr id="435" name="组合 434"/>
          <p:cNvGrpSpPr/>
          <p:nvPr/>
        </p:nvGrpSpPr>
        <p:grpSpPr>
          <a:xfrm rot="0">
            <a:off x="11069955" y="2990215"/>
            <a:ext cx="840105" cy="3614420"/>
            <a:chOff x="17453" y="4109"/>
            <a:chExt cx="1323" cy="6351"/>
          </a:xfrm>
        </p:grpSpPr>
        <p:sp>
          <p:nvSpPr>
            <p:cNvPr id="436" name="矩形 435"/>
            <p:cNvSpPr/>
            <p:nvPr>
              <p:custDataLst>
                <p:tags r:id="rId12"/>
              </p:custDataLst>
            </p:nvPr>
          </p:nvSpPr>
          <p:spPr>
            <a:xfrm>
              <a:off x="17453" y="4109"/>
              <a:ext cx="1314" cy="832"/>
            </a:xfrm>
            <a:prstGeom prst="rect">
              <a:avLst/>
            </a:prstGeom>
            <a:solidFill>
              <a:srgbClr val="E6F0F8"/>
            </a:solidFill>
            <a:ln w="12700" cap="flat" cmpd="sng" algn="ctr">
              <a:noFill/>
              <a:prstDash val="solid"/>
              <a:miter lim="800000"/>
            </a:ln>
            <a:effectLst/>
          </p:spPr>
          <p:txBody>
            <a:bodyPr rtlCol="0" anchor="ctr">
              <a:noAutofit/>
            </a:bodyPr>
            <a:p>
              <a:pPr lvl="0" algn="ctr" defTabSz="457200">
                <a:spcBef>
                  <a:spcPts val="0"/>
                </a:spcBef>
                <a:spcAft>
                  <a:spcPts val="0"/>
                </a:spcAft>
                <a:buClrTx/>
                <a:buSzTx/>
                <a:buFontTx/>
                <a:defRPr/>
              </a:pPr>
              <a:r>
                <a:rPr lang="en-US" altLang="zh-CN" sz="1400" b="1" noProof="0">
                  <a:ln>
                    <a:noFill/>
                  </a:ln>
                  <a:solidFill>
                    <a:srgbClr val="C00000"/>
                  </a:solidFill>
                  <a:effectLst/>
                  <a:uLnTx/>
                  <a:uFillTx/>
                  <a:latin typeface="微软雅黑" panose="020B0503020204020204" charset="-122"/>
                  <a:ea typeface="微软雅黑" panose="020B0503020204020204" charset="-122"/>
                  <a:sym typeface="+mn-ea"/>
                </a:rPr>
                <a:t>6大要素</a:t>
              </a:r>
              <a:endParaRPr lang="en-US" altLang="zh-CN" sz="1400" b="1" noProof="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37" name="矩形 436"/>
            <p:cNvSpPr/>
            <p:nvPr/>
          </p:nvSpPr>
          <p:spPr>
            <a:xfrm>
              <a:off x="17461" y="4999"/>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charset="-122"/>
                  <a:sym typeface="+mn-ea"/>
                </a:rPr>
                <a:t>业务产品</a:t>
              </a:r>
              <a:endParaRPr lang="zh-CN" altLang="en-US" sz="1200" b="1" kern="0" noProof="0" dirty="0">
                <a:ln>
                  <a:noFill/>
                </a:ln>
                <a:effectLst/>
                <a:uLnTx/>
                <a:uFillTx/>
                <a:latin typeface="Arial" panose="020B0604020202020204"/>
                <a:ea typeface="微软雅黑" panose="020B0503020204020204" charset="-122"/>
                <a:sym typeface="+mn-ea"/>
              </a:endParaRPr>
            </a:p>
          </p:txBody>
        </p:sp>
        <p:sp>
          <p:nvSpPr>
            <p:cNvPr id="438" name="矩形 437"/>
            <p:cNvSpPr/>
            <p:nvPr/>
          </p:nvSpPr>
          <p:spPr>
            <a:xfrm>
              <a:off x="17461" y="5921"/>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charset="-122"/>
                  <a:sym typeface="+mn-ea"/>
                </a:rPr>
                <a:t>组织队伍</a:t>
              </a:r>
              <a:endParaRPr lang="zh-CN" altLang="en-US" sz="1200" b="1" kern="0" noProof="0" dirty="0">
                <a:ln>
                  <a:noFill/>
                </a:ln>
                <a:effectLst/>
                <a:uLnTx/>
                <a:uFillTx/>
                <a:latin typeface="Arial" panose="020B0604020202020204"/>
                <a:ea typeface="微软雅黑" panose="020B0503020204020204" charset="-122"/>
                <a:sym typeface="+mn-ea"/>
              </a:endParaRPr>
            </a:p>
          </p:txBody>
        </p:sp>
        <p:sp>
          <p:nvSpPr>
            <p:cNvPr id="439" name="矩形 438"/>
            <p:cNvSpPr/>
            <p:nvPr/>
          </p:nvSpPr>
          <p:spPr>
            <a:xfrm>
              <a:off x="17461" y="6838"/>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charset="-122"/>
                  <a:sym typeface="+mn-ea"/>
                </a:rPr>
                <a:t>平台工具</a:t>
              </a:r>
              <a:endParaRPr lang="zh-CN" altLang="en-US" sz="1200" b="1" kern="0" noProof="0" dirty="0">
                <a:ln>
                  <a:noFill/>
                </a:ln>
                <a:effectLst/>
                <a:uLnTx/>
                <a:uFillTx/>
                <a:latin typeface="Arial" panose="020B0604020202020204"/>
                <a:ea typeface="微软雅黑" panose="020B0503020204020204" charset="-122"/>
                <a:sym typeface="+mn-ea"/>
              </a:endParaRPr>
            </a:p>
          </p:txBody>
        </p:sp>
        <p:sp>
          <p:nvSpPr>
            <p:cNvPr id="440" name="矩形 439"/>
            <p:cNvSpPr/>
            <p:nvPr/>
          </p:nvSpPr>
          <p:spPr>
            <a:xfrm>
              <a:off x="17461" y="7763"/>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charset="-122"/>
                  <a:sym typeface="+mn-ea"/>
                </a:rPr>
                <a:t>渠道销售</a:t>
              </a:r>
              <a:endParaRPr lang="zh-CN" altLang="en-US" sz="1200" b="1" kern="0" noProof="0" dirty="0">
                <a:ln>
                  <a:noFill/>
                </a:ln>
                <a:effectLst/>
                <a:uLnTx/>
                <a:uFillTx/>
                <a:latin typeface="Arial" panose="020B0604020202020204"/>
                <a:ea typeface="微软雅黑" panose="020B0503020204020204" charset="-122"/>
                <a:sym typeface="+mn-ea"/>
              </a:endParaRPr>
            </a:p>
          </p:txBody>
        </p:sp>
        <p:sp>
          <p:nvSpPr>
            <p:cNvPr id="441" name="矩形 440"/>
            <p:cNvSpPr/>
            <p:nvPr/>
          </p:nvSpPr>
          <p:spPr>
            <a:xfrm>
              <a:off x="17461" y="8698"/>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charset="-122"/>
                  <a:sym typeface="+mn-ea"/>
                </a:rPr>
                <a:t>数据流程</a:t>
              </a:r>
              <a:endParaRPr lang="zh-CN" altLang="en-US" sz="1200" b="1" kern="0" noProof="0" dirty="0">
                <a:ln>
                  <a:noFill/>
                </a:ln>
                <a:effectLst/>
                <a:uLnTx/>
                <a:uFillTx/>
                <a:latin typeface="Arial" panose="020B0604020202020204"/>
                <a:ea typeface="微软雅黑" panose="020B0503020204020204" charset="-122"/>
                <a:sym typeface="+mn-ea"/>
              </a:endParaRPr>
            </a:p>
          </p:txBody>
        </p:sp>
        <p:sp>
          <p:nvSpPr>
            <p:cNvPr id="442" name="矩形 441"/>
            <p:cNvSpPr/>
            <p:nvPr/>
          </p:nvSpPr>
          <p:spPr>
            <a:xfrm>
              <a:off x="17461" y="9610"/>
              <a:ext cx="1315" cy="850"/>
            </a:xfrm>
            <a:prstGeom prst="rect">
              <a:avLst/>
            </a:prstGeom>
            <a:solidFill>
              <a:schemeClr val="bg1">
                <a:lumMod val="95000"/>
              </a:schemeClr>
            </a:solidFill>
            <a:ln w="12700" cap="flat" cmpd="sng" algn="ctr">
              <a:noFill/>
              <a:prstDash val="solid"/>
              <a:miter lim="800000"/>
            </a:ln>
            <a:effectLst/>
          </p:spPr>
          <p:txBody>
            <a:bodyPr rtlCol="0" anchor="ctr">
              <a:noAutofit/>
            </a:bodyPr>
            <a:p>
              <a:pPr lvl="0" algn="ctr">
                <a:spcBef>
                  <a:spcPts val="0"/>
                </a:spcBef>
                <a:spcAft>
                  <a:spcPts val="0"/>
                </a:spcAft>
                <a:buClrTx/>
                <a:buSzTx/>
                <a:buFontTx/>
                <a:defRPr/>
              </a:pPr>
              <a:r>
                <a:rPr lang="zh-CN" altLang="en-US" sz="1200" b="1" kern="0" noProof="0" dirty="0">
                  <a:ln>
                    <a:noFill/>
                  </a:ln>
                  <a:effectLst/>
                  <a:uLnTx/>
                  <a:uFillTx/>
                  <a:latin typeface="Arial" panose="020B0604020202020204"/>
                  <a:ea typeface="微软雅黑" panose="020B0503020204020204" charset="-122"/>
                  <a:sym typeface="+mn-ea"/>
                </a:rPr>
                <a:t>评价激励</a:t>
              </a:r>
              <a:endParaRPr lang="zh-CN" altLang="en-US" sz="1200" b="1" kern="0" noProof="0" dirty="0">
                <a:ln>
                  <a:noFill/>
                </a:ln>
                <a:effectLst/>
                <a:uLnTx/>
                <a:uFillTx/>
                <a:latin typeface="Arial" panose="020B0604020202020204"/>
                <a:ea typeface="微软雅黑" panose="020B0503020204020204" charset="-122"/>
                <a:sym typeface="+mn-ea"/>
              </a:endParaRPr>
            </a:p>
          </p:txBody>
        </p:sp>
      </p:grpSp>
      <p:sp>
        <p:nvSpPr>
          <p:cNvPr id="443" name="矩形: 圆角 485"/>
          <p:cNvSpPr/>
          <p:nvPr/>
        </p:nvSpPr>
        <p:spPr bwMode="auto">
          <a:xfrm>
            <a:off x="9297670" y="3785870"/>
            <a:ext cx="1438910" cy="1328420"/>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en-US" altLang="zh-CN" sz="1000" b="1" dirty="0">
              <a:latin typeface="+mj-ea"/>
              <a:ea typeface="+mj-ea"/>
            </a:endParaRPr>
          </a:p>
        </p:txBody>
      </p:sp>
      <p:sp>
        <p:nvSpPr>
          <p:cNvPr id="444" name="矩形 443"/>
          <p:cNvSpPr/>
          <p:nvPr/>
        </p:nvSpPr>
        <p:spPr>
          <a:xfrm>
            <a:off x="892810" y="5758180"/>
            <a:ext cx="662305" cy="26352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家庭关系</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识别模型</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445" name="矩形 444"/>
          <p:cNvSpPr/>
          <p:nvPr/>
        </p:nvSpPr>
        <p:spPr>
          <a:xfrm>
            <a:off x="924560" y="6255385"/>
            <a:ext cx="934720" cy="2571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新一代云原生BOSS数据直采</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446" name="矩形 445"/>
          <p:cNvSpPr/>
          <p:nvPr/>
        </p:nvSpPr>
        <p:spPr>
          <a:xfrm>
            <a:off x="912495" y="6036310"/>
            <a:ext cx="1237615" cy="1936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全景家视图</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grpSp>
        <p:nvGrpSpPr>
          <p:cNvPr id="447" name="组合 446"/>
          <p:cNvGrpSpPr/>
          <p:nvPr/>
        </p:nvGrpSpPr>
        <p:grpSpPr>
          <a:xfrm rot="0">
            <a:off x="5003800" y="3777615"/>
            <a:ext cx="1386251" cy="1354455"/>
            <a:chOff x="7807" y="5448"/>
            <a:chExt cx="2183" cy="2179"/>
          </a:xfrm>
        </p:grpSpPr>
        <p:grpSp>
          <p:nvGrpSpPr>
            <p:cNvPr id="448" name="组合 447"/>
            <p:cNvGrpSpPr/>
            <p:nvPr/>
          </p:nvGrpSpPr>
          <p:grpSpPr>
            <a:xfrm>
              <a:off x="7807" y="5448"/>
              <a:ext cx="2183" cy="2179"/>
              <a:chOff x="7768" y="6497"/>
              <a:chExt cx="2185" cy="2671"/>
            </a:xfrm>
          </p:grpSpPr>
          <p:sp>
            <p:nvSpPr>
              <p:cNvPr id="449" name="矩形 448"/>
              <p:cNvSpPr/>
              <p:nvPr/>
            </p:nvSpPr>
            <p:spPr>
              <a:xfrm>
                <a:off x="7796" y="7535"/>
                <a:ext cx="2143" cy="463"/>
              </a:xfrm>
              <a:prstGeom prst="rect">
                <a:avLst/>
              </a:prstGeom>
              <a:solidFill>
                <a:schemeClr val="bg1">
                  <a:lumMod val="95000"/>
                </a:schemeClr>
              </a:solidFill>
              <a:ln w="3175" cap="flat" cmpd="dbl" algn="ctr">
                <a:no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effectLst/>
                    <a:uLnTx/>
                    <a:uFillTx/>
                    <a:latin typeface="Arial" panose="020B0604020202020204"/>
                    <a:ea typeface="微软雅黑" panose="020B0503020204020204" charset="-122"/>
                    <a:sym typeface="+mn-ea"/>
                  </a:rPr>
                  <a:t>大模型算法</a:t>
                </a:r>
                <a:r>
                  <a:rPr lang="en-US" altLang="zh-CN" sz="800" kern="0" noProof="0" dirty="0">
                    <a:ln>
                      <a:noFill/>
                    </a:ln>
                    <a:effectLst/>
                    <a:uLnTx/>
                    <a:uFillTx/>
                    <a:latin typeface="Arial" panose="020B0604020202020204"/>
                    <a:ea typeface="微软雅黑" panose="020B0503020204020204" charset="-122"/>
                    <a:sym typeface="+mn-ea"/>
                  </a:rPr>
                  <a:t>“</a:t>
                </a:r>
                <a:r>
                  <a:rPr lang="zh-CN" altLang="en-US" sz="800" kern="0" noProof="0" dirty="0">
                    <a:ln>
                      <a:noFill/>
                    </a:ln>
                    <a:effectLst/>
                    <a:uLnTx/>
                    <a:uFillTx/>
                    <a:latin typeface="Arial" panose="020B0604020202020204"/>
                    <a:ea typeface="微软雅黑" panose="020B0503020204020204" charset="-122"/>
                    <a:sym typeface="+mn-ea"/>
                  </a:rPr>
                  <a:t>组标</a:t>
                </a:r>
                <a:r>
                  <a:rPr lang="en-US" altLang="zh-CN" sz="800" kern="0" noProof="0" dirty="0">
                    <a:ln>
                      <a:noFill/>
                    </a:ln>
                    <a:effectLst/>
                    <a:uLnTx/>
                    <a:uFillTx/>
                    <a:latin typeface="Arial" panose="020B0604020202020204"/>
                    <a:ea typeface="微软雅黑" panose="020B0503020204020204" charset="-122"/>
                    <a:sym typeface="+mn-ea"/>
                  </a:rPr>
                  <a:t>”</a:t>
                </a:r>
                <a:endParaRPr lang="en-US" altLang="zh-CN" sz="800" kern="0" noProof="0" dirty="0">
                  <a:ln>
                    <a:noFill/>
                  </a:ln>
                  <a:effectLst/>
                  <a:uLnTx/>
                  <a:uFillTx/>
                  <a:latin typeface="Arial" panose="020B0604020202020204"/>
                  <a:ea typeface="微软雅黑" panose="020B0503020204020204" charset="-122"/>
                  <a:sym typeface="+mn-ea"/>
                </a:endParaRPr>
              </a:p>
            </p:txBody>
          </p:sp>
          <p:sp>
            <p:nvSpPr>
              <p:cNvPr id="450" name="矩形 449"/>
              <p:cNvSpPr/>
              <p:nvPr/>
            </p:nvSpPr>
            <p:spPr>
              <a:xfrm>
                <a:off x="7796" y="8065"/>
                <a:ext cx="2143" cy="463"/>
              </a:xfrm>
              <a:prstGeom prst="rect">
                <a:avLst/>
              </a:prstGeom>
              <a:solidFill>
                <a:schemeClr val="bg1">
                  <a:lumMod val="95000"/>
                </a:schemeClr>
              </a:solidFill>
              <a:ln w="3175" cap="flat" cmpd="dbl" algn="ctr">
                <a:no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effectLst/>
                    <a:uLnTx/>
                    <a:uFillTx/>
                    <a:latin typeface="Arial" panose="020B0604020202020204"/>
                    <a:ea typeface="微软雅黑" panose="020B0503020204020204" charset="-122"/>
                    <a:sym typeface="+mn-ea"/>
                  </a:rPr>
                  <a:t>细分客群</a:t>
                </a:r>
                <a:r>
                  <a:rPr lang="en-US" altLang="zh-CN" sz="800" kern="0" noProof="0" dirty="0">
                    <a:ln>
                      <a:noFill/>
                    </a:ln>
                    <a:effectLst/>
                    <a:uLnTx/>
                    <a:uFillTx/>
                    <a:latin typeface="Arial" panose="020B0604020202020204"/>
                    <a:ea typeface="微软雅黑" panose="020B0503020204020204" charset="-122"/>
                    <a:sym typeface="+mn-ea"/>
                  </a:rPr>
                  <a:t>“</a:t>
                </a:r>
                <a:r>
                  <a:rPr lang="zh-CN" altLang="en-US" sz="800" kern="0" noProof="0" dirty="0">
                    <a:ln>
                      <a:noFill/>
                    </a:ln>
                    <a:effectLst/>
                    <a:uLnTx/>
                    <a:uFillTx/>
                    <a:latin typeface="Arial" panose="020B0604020202020204"/>
                    <a:ea typeface="微软雅黑" panose="020B0503020204020204" charset="-122"/>
                    <a:sym typeface="+mn-ea"/>
                  </a:rPr>
                  <a:t>用标</a:t>
                </a:r>
                <a:r>
                  <a:rPr lang="en-US" altLang="zh-CN" sz="800" kern="0" noProof="0" dirty="0">
                    <a:ln>
                      <a:noFill/>
                    </a:ln>
                    <a:effectLst/>
                    <a:uLnTx/>
                    <a:uFillTx/>
                    <a:latin typeface="Arial" panose="020B0604020202020204"/>
                    <a:ea typeface="微软雅黑" panose="020B0503020204020204" charset="-122"/>
                    <a:sym typeface="+mn-ea"/>
                  </a:rPr>
                  <a:t>”</a:t>
                </a:r>
                <a:r>
                  <a:rPr lang="zh-CN" altLang="en-US" sz="800" kern="0" noProof="0" dirty="0">
                    <a:ln>
                      <a:noFill/>
                    </a:ln>
                    <a:effectLst/>
                    <a:uLnTx/>
                    <a:uFillTx/>
                    <a:latin typeface="Arial" panose="020B0604020202020204"/>
                    <a:ea typeface="微软雅黑" panose="020B0503020204020204" charset="-122"/>
                    <a:sym typeface="+mn-ea"/>
                  </a:rPr>
                  <a:t>输出</a:t>
                </a:r>
                <a:endParaRPr lang="zh-CN" altLang="en-US" sz="800" kern="0" noProof="0" dirty="0">
                  <a:ln>
                    <a:noFill/>
                  </a:ln>
                  <a:effectLst/>
                  <a:uLnTx/>
                  <a:uFillTx/>
                  <a:latin typeface="Arial" panose="020B0604020202020204"/>
                  <a:ea typeface="微软雅黑" panose="020B0503020204020204" charset="-122"/>
                  <a:sym typeface="+mn-ea"/>
                </a:endParaRPr>
              </a:p>
            </p:txBody>
          </p:sp>
          <p:sp>
            <p:nvSpPr>
              <p:cNvPr id="451" name="矩形 450"/>
              <p:cNvSpPr/>
              <p:nvPr/>
            </p:nvSpPr>
            <p:spPr>
              <a:xfrm>
                <a:off x="7796" y="6998"/>
                <a:ext cx="2143" cy="463"/>
              </a:xfrm>
              <a:prstGeom prst="rect">
                <a:avLst/>
              </a:prstGeom>
              <a:solidFill>
                <a:schemeClr val="bg1">
                  <a:lumMod val="95000"/>
                </a:schemeClr>
              </a:solidFill>
              <a:ln w="3175" cap="flat" cmpd="dbl" algn="ctr">
                <a:noFill/>
                <a:prstDash val="solid"/>
                <a:miter lim="800000"/>
              </a:ln>
              <a:effectLst/>
            </p:spPr>
            <p:txBody>
              <a:bodyPr wrap="square" rtlCol="0" anchor="ctr">
                <a:noAutofit/>
              </a:bodyPr>
              <a:p>
                <a:pPr lvl="0" algn="ctr">
                  <a:spcBef>
                    <a:spcPts val="0"/>
                  </a:spcBef>
                  <a:spcAft>
                    <a:spcPts val="0"/>
                  </a:spcAft>
                  <a:buClrTx/>
                  <a:buSzTx/>
                  <a:buFontTx/>
                  <a:defRPr/>
                </a:pPr>
                <a:r>
                  <a:rPr lang="en-US" altLang="zh-CN" sz="800" kern="0" noProof="0" dirty="0">
                    <a:ln>
                      <a:noFill/>
                    </a:ln>
                    <a:effectLst/>
                    <a:uLnTx/>
                    <a:uFillTx/>
                    <a:latin typeface="Arial" panose="020B0604020202020204"/>
                    <a:ea typeface="微软雅黑" panose="020B0503020204020204" charset="-122"/>
                    <a:sym typeface="+mn-ea"/>
                  </a:rPr>
                  <a:t>“</a:t>
                </a:r>
                <a:r>
                  <a:rPr lang="zh-CN" altLang="en-US" sz="800" kern="0" noProof="0" dirty="0">
                    <a:ln>
                      <a:noFill/>
                    </a:ln>
                    <a:effectLst/>
                    <a:uLnTx/>
                    <a:uFillTx/>
                    <a:latin typeface="Arial" panose="020B0604020202020204"/>
                    <a:ea typeface="微软雅黑" panose="020B0503020204020204" charset="-122"/>
                    <a:sym typeface="+mn-ea"/>
                  </a:rPr>
                  <a:t>数字人</a:t>
                </a:r>
                <a:r>
                  <a:rPr lang="en-US" altLang="zh-CN" sz="800" kern="0" noProof="0" dirty="0">
                    <a:ln>
                      <a:noFill/>
                    </a:ln>
                    <a:effectLst/>
                    <a:uLnTx/>
                    <a:uFillTx/>
                    <a:latin typeface="Arial" panose="020B0604020202020204"/>
                    <a:ea typeface="微软雅黑" panose="020B0503020204020204" charset="-122"/>
                    <a:sym typeface="+mn-ea"/>
                  </a:rPr>
                  <a:t>”“</a:t>
                </a:r>
                <a:r>
                  <a:rPr lang="zh-CN" altLang="en-US" sz="800" kern="0" noProof="0" dirty="0">
                    <a:ln>
                      <a:noFill/>
                    </a:ln>
                    <a:effectLst/>
                    <a:uLnTx/>
                    <a:uFillTx/>
                    <a:latin typeface="Arial" panose="020B0604020202020204"/>
                    <a:ea typeface="微软雅黑" panose="020B0503020204020204" charset="-122"/>
                    <a:sym typeface="+mn-ea"/>
                  </a:rPr>
                  <a:t>打标</a:t>
                </a:r>
                <a:r>
                  <a:rPr lang="en-US" altLang="zh-CN" sz="800" kern="0" noProof="0" dirty="0">
                    <a:ln>
                      <a:noFill/>
                    </a:ln>
                    <a:effectLst/>
                    <a:uLnTx/>
                    <a:uFillTx/>
                    <a:latin typeface="Arial" panose="020B0604020202020204"/>
                    <a:ea typeface="微软雅黑" panose="020B0503020204020204" charset="-122"/>
                    <a:sym typeface="+mn-ea"/>
                  </a:rPr>
                  <a:t>”</a:t>
                </a:r>
                <a:r>
                  <a:rPr lang="zh-CN" altLang="en-US" sz="800" kern="0" noProof="0" dirty="0">
                    <a:ln>
                      <a:noFill/>
                    </a:ln>
                    <a:effectLst/>
                    <a:uLnTx/>
                    <a:uFillTx/>
                    <a:latin typeface="Arial" panose="020B0604020202020204"/>
                    <a:ea typeface="微软雅黑" panose="020B0503020204020204" charset="-122"/>
                    <a:sym typeface="+mn-ea"/>
                  </a:rPr>
                  <a:t>输入</a:t>
                </a:r>
                <a:endParaRPr lang="zh-CN" altLang="en-US" sz="800" kern="0" noProof="0" dirty="0">
                  <a:ln>
                    <a:noFill/>
                  </a:ln>
                  <a:effectLst/>
                  <a:uLnTx/>
                  <a:uFillTx/>
                  <a:latin typeface="Arial" panose="020B0604020202020204"/>
                  <a:ea typeface="微软雅黑" panose="020B0503020204020204" charset="-122"/>
                  <a:sym typeface="+mn-ea"/>
                </a:endParaRPr>
              </a:p>
            </p:txBody>
          </p:sp>
          <p:sp>
            <p:nvSpPr>
              <p:cNvPr id="452" name="矩形: 圆角 485"/>
              <p:cNvSpPr/>
              <p:nvPr/>
            </p:nvSpPr>
            <p:spPr bwMode="auto">
              <a:xfrm>
                <a:off x="7768" y="6497"/>
                <a:ext cx="2185" cy="2671"/>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zh-CN" sz="1000" b="1" dirty="0">
                  <a:latin typeface="+mj-ea"/>
                  <a:ea typeface="+mj-ea"/>
                </a:endParaRPr>
              </a:p>
            </p:txBody>
          </p:sp>
        </p:grpSp>
        <p:sp>
          <p:nvSpPr>
            <p:cNvPr id="453" name="文本框 452"/>
            <p:cNvSpPr txBox="1"/>
            <p:nvPr/>
          </p:nvSpPr>
          <p:spPr>
            <a:xfrm>
              <a:off x="7903" y="7109"/>
              <a:ext cx="2073" cy="451"/>
            </a:xfrm>
            <a:prstGeom prst="rect">
              <a:avLst/>
            </a:prstGeom>
            <a:solidFill>
              <a:schemeClr val="bg1"/>
            </a:solidFill>
          </p:spPr>
          <p:txBody>
            <a:bodyPr wrap="square" rtlCol="0">
              <a:noAutofit/>
            </a:bodyPr>
            <a:p>
              <a:pPr algn="ct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银发</a:t>
              </a:r>
              <a:r>
                <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rPr>
                <a:t> /</a:t>
              </a: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垂类</a:t>
              </a:r>
              <a:r>
                <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rPr>
                <a:t> /</a:t>
              </a: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乡村</a:t>
              </a:r>
              <a:r>
                <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rPr>
                <a:t>/</a:t>
              </a: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国际</a:t>
              </a:r>
              <a:endPar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endParaRPr>
            </a:p>
            <a:p>
              <a:pPr algn="ct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校园</a:t>
              </a:r>
              <a:r>
                <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rPr>
                <a:t> /</a:t>
              </a: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家庭</a:t>
              </a:r>
              <a:r>
                <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rPr>
                <a:t> /</a:t>
              </a: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商铺</a:t>
              </a:r>
              <a:r>
                <a:rPr lang="en-US" altLang="zh-CN" sz="800" b="1" kern="0" noProof="0" dirty="0">
                  <a:ln>
                    <a:noFill/>
                  </a:ln>
                  <a:effectLst/>
                  <a:uLnTx/>
                  <a:uFillTx/>
                  <a:latin typeface="微软雅黑" panose="020B0503020204020204" charset="-122"/>
                  <a:ea typeface="微软雅黑" panose="020B0503020204020204" charset="-122"/>
                  <a:cs typeface="微软雅黑" panose="020B0503020204020204" charset="-122"/>
                </a:rPr>
                <a:t>/</a:t>
              </a:r>
              <a:r>
                <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rPr>
                <a:t>政企</a:t>
              </a:r>
              <a:endParaRPr lang="zh-CN" altLang="en-US" sz="800" b="1" kern="0" noProof="0" dirty="0">
                <a:ln>
                  <a:noFill/>
                </a:ln>
                <a:effectLst/>
                <a:uLnTx/>
                <a:uFillTx/>
                <a:latin typeface="微软雅黑" panose="020B0503020204020204" charset="-122"/>
                <a:ea typeface="微软雅黑" panose="020B0503020204020204" charset="-122"/>
                <a:cs typeface="微软雅黑" panose="020B0503020204020204" charset="-122"/>
              </a:endParaRPr>
            </a:p>
          </p:txBody>
        </p:sp>
        <p:sp>
          <p:nvSpPr>
            <p:cNvPr id="454" name="文本框 453"/>
            <p:cNvSpPr txBox="1"/>
            <p:nvPr/>
          </p:nvSpPr>
          <p:spPr>
            <a:xfrm>
              <a:off x="7849" y="5490"/>
              <a:ext cx="2141" cy="348"/>
            </a:xfrm>
            <a:prstGeom prst="rect">
              <a:avLst/>
            </a:prstGeom>
            <a:solidFill>
              <a:srgbClr val="E6F0F8"/>
            </a:solidFill>
          </p:spPr>
          <p:txBody>
            <a:bodyPr wrap="square" rtlCol="0" anchor="t">
              <a:noAutofit/>
            </a:bodyPr>
            <a:p>
              <a:pPr algn="ctr"/>
              <a:r>
                <a:rPr lang="zh-CN" altLang="en-US" sz="1000" b="1">
                  <a:latin typeface="微软雅黑" panose="020B0503020204020204" charset="-122"/>
                  <a:ea typeface="微软雅黑" panose="020B0503020204020204" charset="-122"/>
                </a:rPr>
                <a:t>客群</a:t>
              </a:r>
              <a:r>
                <a:rPr lang="zh-CN" altLang="en-US" sz="1000" b="1">
                  <a:latin typeface="微软雅黑" panose="020B0503020204020204" charset="-122"/>
                  <a:ea typeface="微软雅黑" panose="020B0503020204020204" charset="-122"/>
                </a:rPr>
                <a:t>细分</a:t>
              </a:r>
              <a:endParaRPr lang="zh-CN" altLang="en-US" sz="1000" b="1">
                <a:latin typeface="微软雅黑" panose="020B0503020204020204" charset="-122"/>
                <a:ea typeface="微软雅黑" panose="020B0503020204020204" charset="-122"/>
              </a:endParaRPr>
            </a:p>
          </p:txBody>
        </p:sp>
      </p:grpSp>
      <p:grpSp>
        <p:nvGrpSpPr>
          <p:cNvPr id="455" name="组合 454"/>
          <p:cNvGrpSpPr/>
          <p:nvPr/>
        </p:nvGrpSpPr>
        <p:grpSpPr>
          <a:xfrm rot="0">
            <a:off x="7825105" y="3786505"/>
            <a:ext cx="1438910" cy="1328637"/>
            <a:chOff x="12480" y="5500"/>
            <a:chExt cx="2266" cy="2138"/>
          </a:xfrm>
        </p:grpSpPr>
        <p:grpSp>
          <p:nvGrpSpPr>
            <p:cNvPr id="456" name="组合 455"/>
            <p:cNvGrpSpPr/>
            <p:nvPr/>
          </p:nvGrpSpPr>
          <p:grpSpPr>
            <a:xfrm>
              <a:off x="12501" y="7176"/>
              <a:ext cx="2169" cy="396"/>
              <a:chOff x="12501" y="7280"/>
              <a:chExt cx="2169" cy="396"/>
            </a:xfrm>
          </p:grpSpPr>
          <p:sp>
            <p:nvSpPr>
              <p:cNvPr id="457" name="矩形 456"/>
              <p:cNvSpPr/>
              <p:nvPr/>
            </p:nvSpPr>
            <p:spPr>
              <a:xfrm>
                <a:off x="12501" y="7280"/>
                <a:ext cx="680" cy="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预演</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58" name="矩形 457"/>
              <p:cNvSpPr/>
              <p:nvPr/>
            </p:nvSpPr>
            <p:spPr>
              <a:xfrm>
                <a:off x="13252" y="7280"/>
                <a:ext cx="680" cy="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评估</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59" name="矩形 458"/>
              <p:cNvSpPr/>
              <p:nvPr/>
            </p:nvSpPr>
            <p:spPr>
              <a:xfrm>
                <a:off x="13990" y="7280"/>
                <a:ext cx="680" cy="3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优化</a:t>
                </a:r>
                <a:endParaRPr lang="zh-CN" altLang="en-US" sz="800" kern="100" dirty="0">
                  <a:solidFill>
                    <a:schemeClr val="tx1"/>
                  </a:solidFill>
                  <a:latin typeface="微软雅黑" panose="020B0503020204020204" charset="-122"/>
                  <a:ea typeface="微软雅黑" panose="020B0503020204020204" charset="-122"/>
                  <a:sym typeface="+mn-ea"/>
                </a:endParaRPr>
              </a:p>
            </p:txBody>
          </p:sp>
        </p:grpSp>
        <p:sp>
          <p:nvSpPr>
            <p:cNvPr id="460" name="矩形: 圆角 485"/>
            <p:cNvSpPr/>
            <p:nvPr/>
          </p:nvSpPr>
          <p:spPr bwMode="auto">
            <a:xfrm>
              <a:off x="12480" y="5500"/>
              <a:ext cx="2266" cy="2138"/>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zh-CN" sz="1000" b="1" dirty="0">
                <a:latin typeface="+mj-ea"/>
                <a:ea typeface="+mj-ea"/>
              </a:endParaRPr>
            </a:p>
          </p:txBody>
        </p:sp>
        <p:grpSp>
          <p:nvGrpSpPr>
            <p:cNvPr id="461" name="组合 460"/>
            <p:cNvGrpSpPr/>
            <p:nvPr/>
          </p:nvGrpSpPr>
          <p:grpSpPr>
            <a:xfrm>
              <a:off x="12501" y="6770"/>
              <a:ext cx="2169" cy="390"/>
              <a:chOff x="12501" y="7428"/>
              <a:chExt cx="2169" cy="390"/>
            </a:xfrm>
          </p:grpSpPr>
          <p:sp>
            <p:nvSpPr>
              <p:cNvPr id="462" name="矩形 461"/>
              <p:cNvSpPr/>
              <p:nvPr/>
            </p:nvSpPr>
            <p:spPr>
              <a:xfrm>
                <a:off x="12501" y="7428"/>
                <a:ext cx="680" cy="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触发</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63" name="矩形 462"/>
              <p:cNvSpPr/>
              <p:nvPr/>
            </p:nvSpPr>
            <p:spPr>
              <a:xfrm>
                <a:off x="13252" y="7428"/>
                <a:ext cx="680" cy="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促销</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64" name="矩形 463"/>
              <p:cNvSpPr/>
              <p:nvPr/>
            </p:nvSpPr>
            <p:spPr>
              <a:xfrm>
                <a:off x="13990" y="7428"/>
                <a:ext cx="680" cy="3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排序</a:t>
                </a:r>
                <a:endParaRPr lang="zh-CN" altLang="en-US" sz="800" kern="100" dirty="0">
                  <a:solidFill>
                    <a:schemeClr val="tx1"/>
                  </a:solidFill>
                  <a:latin typeface="微软雅黑" panose="020B0503020204020204" charset="-122"/>
                  <a:ea typeface="微软雅黑" panose="020B0503020204020204" charset="-122"/>
                  <a:sym typeface="+mn-ea"/>
                </a:endParaRPr>
              </a:p>
            </p:txBody>
          </p:sp>
        </p:grpSp>
        <p:grpSp>
          <p:nvGrpSpPr>
            <p:cNvPr id="465" name="组合 464"/>
            <p:cNvGrpSpPr/>
            <p:nvPr/>
          </p:nvGrpSpPr>
          <p:grpSpPr>
            <a:xfrm>
              <a:off x="12501" y="6015"/>
              <a:ext cx="2169" cy="425"/>
              <a:chOff x="12516" y="7428"/>
              <a:chExt cx="2169" cy="425"/>
            </a:xfrm>
          </p:grpSpPr>
          <p:sp>
            <p:nvSpPr>
              <p:cNvPr id="466" name="矩形 465"/>
              <p:cNvSpPr/>
              <p:nvPr/>
            </p:nvSpPr>
            <p:spPr>
              <a:xfrm>
                <a:off x="12516" y="7428"/>
                <a:ext cx="680" cy="4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行为</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67" name="矩形 466"/>
              <p:cNvSpPr/>
              <p:nvPr/>
            </p:nvSpPr>
            <p:spPr>
              <a:xfrm>
                <a:off x="13267" y="7428"/>
                <a:ext cx="680" cy="4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产品</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68" name="矩形 467"/>
              <p:cNvSpPr/>
              <p:nvPr/>
            </p:nvSpPr>
            <p:spPr>
              <a:xfrm>
                <a:off x="14005" y="7428"/>
                <a:ext cx="680" cy="4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推荐</a:t>
                </a:r>
                <a:endParaRPr lang="zh-CN" altLang="en-US" sz="800" kern="100" dirty="0">
                  <a:solidFill>
                    <a:schemeClr val="tx1"/>
                  </a:solidFill>
                  <a:latin typeface="微软雅黑" panose="020B0503020204020204" charset="-122"/>
                  <a:ea typeface="微软雅黑" panose="020B0503020204020204" charset="-122"/>
                  <a:sym typeface="+mn-ea"/>
                </a:endParaRPr>
              </a:p>
            </p:txBody>
          </p:sp>
        </p:grpSp>
        <p:sp>
          <p:nvSpPr>
            <p:cNvPr id="469" name="文本框 468"/>
            <p:cNvSpPr txBox="1"/>
            <p:nvPr/>
          </p:nvSpPr>
          <p:spPr>
            <a:xfrm>
              <a:off x="12531" y="5564"/>
              <a:ext cx="2153" cy="374"/>
            </a:xfrm>
            <a:prstGeom prst="rect">
              <a:avLst/>
            </a:prstGeom>
            <a:solidFill>
              <a:srgbClr val="E6F0F8"/>
            </a:solidFill>
          </p:spPr>
          <p:txBody>
            <a:bodyPr wrap="square" rtlCol="0" anchor="t">
              <a:noAutofit/>
            </a:bodyPr>
            <a:p>
              <a:pPr algn="ctr"/>
              <a:r>
                <a:rPr lang="zh-CN" altLang="en-US" sz="1000" b="1">
                  <a:latin typeface="微软雅黑" panose="020B0503020204020204" charset="-122"/>
                  <a:ea typeface="微软雅黑" panose="020B0503020204020204" charset="-122"/>
                </a:rPr>
                <a:t>策略</a:t>
              </a:r>
              <a:r>
                <a:rPr lang="zh-CN" altLang="en-US" sz="1000" b="1">
                  <a:latin typeface="微软雅黑" panose="020B0503020204020204" charset="-122"/>
                  <a:ea typeface="微软雅黑" panose="020B0503020204020204" charset="-122"/>
                </a:rPr>
                <a:t>适配</a:t>
              </a:r>
              <a:endParaRPr lang="zh-CN" altLang="en-US" sz="1000" b="1">
                <a:latin typeface="微软雅黑" panose="020B0503020204020204" charset="-122"/>
                <a:ea typeface="微软雅黑" panose="020B0503020204020204" charset="-122"/>
              </a:endParaRPr>
            </a:p>
          </p:txBody>
        </p:sp>
      </p:grpSp>
      <p:grpSp>
        <p:nvGrpSpPr>
          <p:cNvPr id="470" name="组合 469"/>
          <p:cNvGrpSpPr/>
          <p:nvPr/>
        </p:nvGrpSpPr>
        <p:grpSpPr>
          <a:xfrm rot="0">
            <a:off x="9323070" y="3800475"/>
            <a:ext cx="1394460" cy="1285240"/>
            <a:chOff x="14914" y="5515"/>
            <a:chExt cx="2196" cy="2068"/>
          </a:xfrm>
        </p:grpSpPr>
        <p:sp>
          <p:nvSpPr>
            <p:cNvPr id="471" name="矩形 470"/>
            <p:cNvSpPr/>
            <p:nvPr/>
          </p:nvSpPr>
          <p:spPr>
            <a:xfrm>
              <a:off x="14929" y="6336"/>
              <a:ext cx="2181" cy="3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投诉服务轨迹</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72" name="矩形 471"/>
            <p:cNvSpPr/>
            <p:nvPr/>
          </p:nvSpPr>
          <p:spPr>
            <a:xfrm>
              <a:off x="14914" y="6729"/>
              <a:ext cx="2181" cy="3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场景</a:t>
              </a:r>
              <a:r>
                <a:rPr lang="en-US" altLang="zh-CN" sz="800" kern="100" dirty="0">
                  <a:solidFill>
                    <a:schemeClr val="tx1"/>
                  </a:solidFill>
                  <a:latin typeface="微软雅黑" panose="020B0503020204020204" charset="-122"/>
                  <a:ea typeface="微软雅黑" panose="020B0503020204020204" charset="-122"/>
                  <a:sym typeface="+mn-ea"/>
                </a:rPr>
                <a:t>+</a:t>
              </a:r>
              <a:r>
                <a:rPr lang="zh-CN" altLang="en-US" sz="800" kern="100" dirty="0">
                  <a:solidFill>
                    <a:schemeClr val="tx1"/>
                  </a:solidFill>
                  <a:latin typeface="微软雅黑" panose="020B0503020204020204" charset="-122"/>
                  <a:ea typeface="微软雅黑" panose="020B0503020204020204" charset="-122"/>
                  <a:sym typeface="+mn-ea"/>
                </a:rPr>
                <a:t>产品</a:t>
              </a:r>
              <a:r>
                <a:rPr lang="en-US" altLang="zh-CN" sz="800" kern="100" dirty="0">
                  <a:solidFill>
                    <a:schemeClr val="tx1"/>
                  </a:solidFill>
                  <a:latin typeface="微软雅黑" panose="020B0503020204020204" charset="-122"/>
                  <a:ea typeface="微软雅黑" panose="020B0503020204020204" charset="-122"/>
                  <a:sym typeface="+mn-ea"/>
                </a:rPr>
                <a:t>+</a:t>
              </a:r>
              <a:r>
                <a:rPr lang="zh-CN" altLang="en-US" sz="800" kern="100" dirty="0">
                  <a:solidFill>
                    <a:schemeClr val="tx1"/>
                  </a:solidFill>
                  <a:latin typeface="微软雅黑" panose="020B0503020204020204" charset="-122"/>
                  <a:ea typeface="微软雅黑" panose="020B0503020204020204" charset="-122"/>
                  <a:sym typeface="+mn-ea"/>
                </a:rPr>
                <a:t>话术</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73" name="矩形 472"/>
            <p:cNvSpPr/>
            <p:nvPr/>
          </p:nvSpPr>
          <p:spPr>
            <a:xfrm>
              <a:off x="14929" y="5937"/>
              <a:ext cx="2181" cy="3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业务办理轨迹</a:t>
              </a:r>
              <a:endParaRPr lang="zh-CN" altLang="en-US" sz="800" kern="100" dirty="0">
                <a:solidFill>
                  <a:schemeClr val="tx1"/>
                </a:solidFill>
                <a:latin typeface="微软雅黑" panose="020B0503020204020204" charset="-122"/>
                <a:ea typeface="微软雅黑" panose="020B0503020204020204" charset="-122"/>
                <a:sym typeface="+mn-ea"/>
              </a:endParaRPr>
            </a:p>
          </p:txBody>
        </p:sp>
        <p:grpSp>
          <p:nvGrpSpPr>
            <p:cNvPr id="474" name="组合 473"/>
            <p:cNvGrpSpPr/>
            <p:nvPr/>
          </p:nvGrpSpPr>
          <p:grpSpPr>
            <a:xfrm>
              <a:off x="14935" y="7105"/>
              <a:ext cx="1407" cy="478"/>
              <a:chOff x="12468" y="7174"/>
              <a:chExt cx="1407" cy="478"/>
            </a:xfrm>
          </p:grpSpPr>
          <p:sp>
            <p:nvSpPr>
              <p:cNvPr id="475" name="矩形 474"/>
              <p:cNvSpPr/>
              <p:nvPr/>
            </p:nvSpPr>
            <p:spPr>
              <a:xfrm>
                <a:off x="12468" y="7174"/>
                <a:ext cx="680" cy="4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产能</a:t>
                </a:r>
                <a:r>
                  <a:rPr lang="zh-CN" altLang="en-US" sz="800" kern="100" dirty="0">
                    <a:solidFill>
                      <a:schemeClr val="tx1"/>
                    </a:solidFill>
                    <a:latin typeface="微软雅黑" panose="020B0503020204020204" charset="-122"/>
                    <a:ea typeface="微软雅黑" panose="020B0503020204020204" charset="-122"/>
                    <a:sym typeface="+mn-ea"/>
                  </a:rPr>
                  <a:t>高效</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476" name="矩形 475"/>
              <p:cNvSpPr/>
              <p:nvPr/>
            </p:nvSpPr>
            <p:spPr>
              <a:xfrm>
                <a:off x="13195" y="7189"/>
                <a:ext cx="680" cy="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免扰用户</a:t>
                </a:r>
                <a:endParaRPr lang="zh-CN" altLang="en-US" sz="800" kern="100" dirty="0">
                  <a:solidFill>
                    <a:schemeClr val="tx1"/>
                  </a:solidFill>
                  <a:latin typeface="微软雅黑" panose="020B0503020204020204" charset="-122"/>
                  <a:ea typeface="微软雅黑" panose="020B0503020204020204" charset="-122"/>
                  <a:sym typeface="+mn-ea"/>
                </a:endParaRPr>
              </a:p>
            </p:txBody>
          </p:sp>
        </p:grpSp>
        <p:sp>
          <p:nvSpPr>
            <p:cNvPr id="477" name="文本框 476"/>
            <p:cNvSpPr txBox="1"/>
            <p:nvPr/>
          </p:nvSpPr>
          <p:spPr>
            <a:xfrm>
              <a:off x="16323" y="7048"/>
              <a:ext cx="787" cy="483"/>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1"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协同</a:t>
              </a:r>
              <a:endParaRPr kumimoji="0" lang="zh-CN" altLang="en-US" sz="800" b="1" i="1"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1"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调度</a:t>
              </a:r>
              <a:endParaRPr kumimoji="0" lang="zh-CN" altLang="en-US" sz="800" b="1" i="1"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78" name="文本框 477"/>
            <p:cNvSpPr txBox="1"/>
            <p:nvPr/>
          </p:nvSpPr>
          <p:spPr>
            <a:xfrm>
              <a:off x="14927" y="5515"/>
              <a:ext cx="2183" cy="374"/>
            </a:xfrm>
            <a:prstGeom prst="rect">
              <a:avLst/>
            </a:prstGeom>
            <a:solidFill>
              <a:srgbClr val="E6F0F8"/>
            </a:solidFill>
          </p:spPr>
          <p:txBody>
            <a:bodyPr wrap="square" rtlCol="0" anchor="t">
              <a:noAutofit/>
            </a:bodyPr>
            <a:p>
              <a:pPr algn="ctr"/>
              <a:r>
                <a:rPr lang="zh-CN" altLang="en-US" sz="1000" b="1">
                  <a:latin typeface="微软雅黑" panose="020B0503020204020204" charset="-122"/>
                  <a:ea typeface="微软雅黑" panose="020B0503020204020204" charset="-122"/>
                </a:rPr>
                <a:t>触点</a:t>
              </a:r>
              <a:r>
                <a:rPr lang="zh-CN" altLang="en-US" sz="1000" b="1">
                  <a:latin typeface="微软雅黑" panose="020B0503020204020204" charset="-122"/>
                  <a:ea typeface="微软雅黑" panose="020B0503020204020204" charset="-122"/>
                </a:rPr>
                <a:t>执行</a:t>
              </a:r>
              <a:endParaRPr lang="zh-CN" altLang="en-US" sz="1000" b="1">
                <a:latin typeface="微软雅黑" panose="020B0503020204020204" charset="-122"/>
                <a:ea typeface="微软雅黑" panose="020B0503020204020204" charset="-122"/>
              </a:endParaRPr>
            </a:p>
          </p:txBody>
        </p:sp>
      </p:grpSp>
      <p:sp>
        <p:nvSpPr>
          <p:cNvPr id="479" name="文本框 478"/>
          <p:cNvSpPr txBox="1"/>
          <p:nvPr/>
        </p:nvSpPr>
        <p:spPr>
          <a:xfrm>
            <a:off x="1808480" y="5537835"/>
            <a:ext cx="1277620" cy="271145"/>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数据支撑能力</a:t>
            </a:r>
            <a:endParaRPr kumimoji="0" lang="zh-CN" altLang="en-US" sz="11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80" name="矩形 479"/>
          <p:cNvSpPr/>
          <p:nvPr>
            <p:custDataLst>
              <p:tags r:id="rId13"/>
            </p:custDataLst>
          </p:nvPr>
        </p:nvSpPr>
        <p:spPr>
          <a:xfrm>
            <a:off x="4478020" y="5567680"/>
            <a:ext cx="6442710" cy="951230"/>
          </a:xfrm>
          <a:prstGeom prst="rect">
            <a:avLst/>
          </a:prstGeom>
          <a:solidFill>
            <a:srgbClr val="E6F0F8"/>
          </a:solidFill>
          <a:ln w="12700" cap="flat" cmpd="sng" algn="ctr">
            <a:solidFill>
              <a:schemeClr val="bg1">
                <a:lumMod val="75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481" name="矩形 480"/>
          <p:cNvSpPr/>
          <p:nvPr/>
        </p:nvSpPr>
        <p:spPr>
          <a:xfrm>
            <a:off x="2244725" y="6045835"/>
            <a:ext cx="1195705" cy="1936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客户八大基础视图</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482" name="矩形 481"/>
          <p:cNvSpPr/>
          <p:nvPr/>
        </p:nvSpPr>
        <p:spPr>
          <a:xfrm>
            <a:off x="3532505" y="6043930"/>
            <a:ext cx="848995" cy="1936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a:t>
            </a:r>
            <a:endParaRPr 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83" name="文本框 482"/>
          <p:cNvSpPr txBox="1"/>
          <p:nvPr/>
        </p:nvSpPr>
        <p:spPr>
          <a:xfrm>
            <a:off x="264795" y="6037580"/>
            <a:ext cx="561340" cy="195580"/>
          </a:xfrm>
          <a:prstGeom prst="rect">
            <a:avLst/>
          </a:prstGeom>
          <a:noFill/>
        </p:spPr>
        <p:txBody>
          <a:bodyPr wrap="square" rtlCol="0">
            <a:noAutofit/>
          </a:bodyPr>
          <a:p>
            <a:pPr marL="0" marR="0" lvl="0" algn="l"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视图层</a:t>
            </a:r>
            <a:endParaRPr kumimoji="0" lang="zh-CN" altLang="en-US"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84" name="文本框 483"/>
          <p:cNvSpPr txBox="1"/>
          <p:nvPr/>
        </p:nvSpPr>
        <p:spPr>
          <a:xfrm>
            <a:off x="273685" y="5775325"/>
            <a:ext cx="561340" cy="195580"/>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模型层</a:t>
            </a:r>
            <a:endParaRPr kumimoji="0" lang="zh-CN" altLang="en-US"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85" name="文本框 484"/>
          <p:cNvSpPr txBox="1"/>
          <p:nvPr/>
        </p:nvSpPr>
        <p:spPr>
          <a:xfrm>
            <a:off x="208280" y="6282690"/>
            <a:ext cx="838200" cy="195580"/>
          </a:xfrm>
          <a:prstGeom prst="rect">
            <a:avLst/>
          </a:prstGeom>
          <a:noFill/>
        </p:spPr>
        <p:txBody>
          <a:bodyPr wrap="square" rtlCol="0">
            <a:noAutofit/>
          </a:bodyPr>
          <a:p>
            <a:pPr marL="0" marR="0" lvl="0" algn="l" defTabSz="4572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  </a:t>
            </a:r>
            <a:r>
              <a:rPr kumimoji="0" lang="zh-CN" altLang="en-US"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数据层</a:t>
            </a:r>
            <a:endParaRPr kumimoji="0" lang="zh-CN" altLang="en-US" sz="9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86" name="矩形 485"/>
          <p:cNvSpPr/>
          <p:nvPr/>
        </p:nvSpPr>
        <p:spPr>
          <a:xfrm>
            <a:off x="1711960" y="5782310"/>
            <a:ext cx="796290" cy="24003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家庭稳定度</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模型</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487" name="矩形 486"/>
          <p:cNvSpPr/>
          <p:nvPr/>
        </p:nvSpPr>
        <p:spPr>
          <a:xfrm>
            <a:off x="2580640" y="5775325"/>
            <a:ext cx="859790" cy="24638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中高端客户流失预警模型</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488" name="矩形 487"/>
          <p:cNvSpPr/>
          <p:nvPr/>
        </p:nvSpPr>
        <p:spPr>
          <a:xfrm>
            <a:off x="3532505" y="5772785"/>
            <a:ext cx="846455" cy="2571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银发群体</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识别模型</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489" name="文本框 488"/>
          <p:cNvSpPr txBox="1"/>
          <p:nvPr/>
        </p:nvSpPr>
        <p:spPr>
          <a:xfrm>
            <a:off x="7388860" y="5558155"/>
            <a:ext cx="1064895" cy="271145"/>
          </a:xfrm>
          <a:prstGeom prst="rect">
            <a:avLst/>
          </a:prstGeom>
          <a:noFill/>
        </p:spPr>
        <p:txBody>
          <a:bodyPr wrap="square" rtlCol="0">
            <a:noAutofit/>
          </a:bodyPr>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业务支撑能力</a:t>
            </a:r>
            <a:endParaRPr kumimoji="0" lang="zh-CN" altLang="en-US" sz="11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90" name="文本框 489"/>
          <p:cNvSpPr txBox="1"/>
          <p:nvPr/>
        </p:nvSpPr>
        <p:spPr>
          <a:xfrm>
            <a:off x="4645660" y="5788660"/>
            <a:ext cx="981710" cy="188595"/>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统一客户拉通</a:t>
            </a:r>
            <a:endPar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491" name="矩形 490"/>
          <p:cNvSpPr/>
          <p:nvPr/>
        </p:nvSpPr>
        <p:spPr>
          <a:xfrm>
            <a:off x="4629150" y="6318885"/>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全网客户中心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92" name="矩形 491"/>
          <p:cNvSpPr/>
          <p:nvPr/>
        </p:nvSpPr>
        <p:spPr>
          <a:xfrm>
            <a:off x="4623435" y="5999480"/>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客户统一编码</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93" name="矩形 492"/>
          <p:cNvSpPr/>
          <p:nvPr/>
        </p:nvSpPr>
        <p:spPr>
          <a:xfrm>
            <a:off x="4623435" y="6156960"/>
            <a:ext cx="1066165"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携转客户管理</a:t>
            </a:r>
            <a:endParaRPr lang="zh-CN"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94" name="文本框 493"/>
          <p:cNvSpPr txBox="1"/>
          <p:nvPr/>
        </p:nvSpPr>
        <p:spPr>
          <a:xfrm>
            <a:off x="5960110" y="5795010"/>
            <a:ext cx="904240" cy="34290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原子产品封装</a:t>
            </a:r>
            <a:endParaRPr kumimoji="0" lang="zh-CN" altLang="en-US" sz="8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mn-cs"/>
            </a:endParaRPr>
          </a:p>
        </p:txBody>
      </p:sp>
      <p:sp>
        <p:nvSpPr>
          <p:cNvPr id="495" name="矩形 494"/>
          <p:cNvSpPr/>
          <p:nvPr/>
        </p:nvSpPr>
        <p:spPr>
          <a:xfrm>
            <a:off x="5894070" y="6154420"/>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产品封装</a:t>
            </a:r>
            <a:r>
              <a:rPr lang="en-US" altLang="zh-CN"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AI</a:t>
            </a: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助手</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96" name="矩形 495"/>
          <p:cNvSpPr/>
          <p:nvPr/>
        </p:nvSpPr>
        <p:spPr>
          <a:xfrm>
            <a:off x="5896610" y="6318885"/>
            <a:ext cx="1066165"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一级产商品中心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97" name="文本框 496"/>
          <p:cNvSpPr txBox="1"/>
          <p:nvPr/>
        </p:nvSpPr>
        <p:spPr>
          <a:xfrm>
            <a:off x="7179310" y="5797550"/>
            <a:ext cx="1042670" cy="34290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订单受理开通</a:t>
            </a:r>
            <a:endParaRPr kumimoji="0" lang="zh-CN" altLang="en-US" sz="800" b="1"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mn-cs"/>
            </a:endParaRPr>
          </a:p>
        </p:txBody>
      </p:sp>
      <p:sp>
        <p:nvSpPr>
          <p:cNvPr id="498" name="矩形 497"/>
          <p:cNvSpPr/>
          <p:nvPr/>
        </p:nvSpPr>
        <p:spPr>
          <a:xfrm>
            <a:off x="7154545" y="5992495"/>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跨域协同视频服务</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499" name="矩形 498"/>
          <p:cNvSpPr/>
          <p:nvPr/>
        </p:nvSpPr>
        <p:spPr>
          <a:xfrm>
            <a:off x="7154545" y="6156960"/>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融合业务订单受理</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0" name="矩形 499"/>
          <p:cNvSpPr/>
          <p:nvPr/>
        </p:nvSpPr>
        <p:spPr>
          <a:xfrm>
            <a:off x="7157085" y="6321425"/>
            <a:ext cx="1066165"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一级订单中心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1" name="文本框 500"/>
          <p:cNvSpPr txBox="1"/>
          <p:nvPr/>
        </p:nvSpPr>
        <p:spPr>
          <a:xfrm>
            <a:off x="8453755" y="5795010"/>
            <a:ext cx="904240" cy="34290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触点智能调度</a:t>
            </a:r>
            <a:endPar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502" name="矩形 501"/>
          <p:cNvSpPr/>
          <p:nvPr/>
        </p:nvSpPr>
        <p:spPr>
          <a:xfrm>
            <a:off x="8428990" y="5989955"/>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私域流量营销能力</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3" name="矩形 502"/>
          <p:cNvSpPr/>
          <p:nvPr/>
        </p:nvSpPr>
        <p:spPr>
          <a:xfrm>
            <a:off x="8428990" y="6154420"/>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线上极速营销能力</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4" name="矩形 503"/>
          <p:cNvSpPr/>
          <p:nvPr/>
        </p:nvSpPr>
        <p:spPr>
          <a:xfrm>
            <a:off x="8431530" y="6318885"/>
            <a:ext cx="1066165"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触点融通中心</a:t>
            </a:r>
            <a:endPar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5" name="文本框 504"/>
          <p:cNvSpPr txBox="1"/>
          <p:nvPr/>
        </p:nvSpPr>
        <p:spPr>
          <a:xfrm>
            <a:off x="9754235" y="5795010"/>
            <a:ext cx="904240" cy="342900"/>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AI能力</a:t>
            </a:r>
            <a:endParaRPr kumimoji="0" lang="zh-CN" altLang="en-US" sz="8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506" name="矩形 505"/>
          <p:cNvSpPr/>
          <p:nvPr/>
        </p:nvSpPr>
        <p:spPr>
          <a:xfrm>
            <a:off x="9729470" y="5989955"/>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数字员工</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7" name="矩形 506"/>
          <p:cNvSpPr/>
          <p:nvPr/>
        </p:nvSpPr>
        <p:spPr>
          <a:xfrm>
            <a:off x="9729470" y="6154420"/>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网格通智能助理</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8" name="矩形 507"/>
          <p:cNvSpPr/>
          <p:nvPr/>
        </p:nvSpPr>
        <p:spPr>
          <a:xfrm>
            <a:off x="9732010" y="6318885"/>
            <a:ext cx="1066165"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灵犀智能体</a:t>
            </a:r>
            <a:endParaRPr lang="zh-CN" altLang="en-US" sz="800" b="1"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sp>
        <p:nvSpPr>
          <p:cNvPr id="509" name="矩形 508"/>
          <p:cNvSpPr/>
          <p:nvPr>
            <p:custDataLst>
              <p:tags r:id="rId14"/>
            </p:custDataLst>
          </p:nvPr>
        </p:nvSpPr>
        <p:spPr>
          <a:xfrm>
            <a:off x="199390" y="5524500"/>
            <a:ext cx="10813415" cy="1201420"/>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510" name="虚尾箭头 509"/>
          <p:cNvSpPr/>
          <p:nvPr>
            <p:custDataLst>
              <p:tags r:id="rId15"/>
            </p:custDataLst>
          </p:nvPr>
        </p:nvSpPr>
        <p:spPr>
          <a:xfrm>
            <a:off x="7830185" y="4394200"/>
            <a:ext cx="1388745" cy="156845"/>
          </a:xfrm>
          <a:prstGeom prst="stripedRightArrow">
            <a:avLst>
              <a:gd name="adj1" fmla="val 65919"/>
              <a:gd name="adj2" fmla="val 128720"/>
            </a:avLst>
          </a:prstGeom>
          <a:solidFill>
            <a:srgbClr val="C4DCF0"/>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511" name="矩形 510"/>
          <p:cNvSpPr/>
          <p:nvPr/>
        </p:nvSpPr>
        <p:spPr>
          <a:xfrm>
            <a:off x="1968500" y="6263005"/>
            <a:ext cx="764540" cy="25209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多模态信息</a:t>
            </a:r>
            <a:r>
              <a:rPr lang="zh-CN" altLang="en-US" sz="800" kern="0" noProof="0" dirty="0">
                <a:ln>
                  <a:noFill/>
                </a:ln>
                <a:solidFill>
                  <a:schemeClr val="tx1"/>
                </a:solidFill>
                <a:effectLst/>
                <a:uLnTx/>
                <a:uFillTx/>
                <a:latin typeface="Arial" panose="020B0604020202020204"/>
                <a:ea typeface="微软雅黑" panose="020B0503020204020204" charset="-122"/>
                <a:sym typeface="+mn-ea"/>
              </a:rPr>
              <a:t>知识库</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512" name="矩形 511"/>
          <p:cNvSpPr/>
          <p:nvPr/>
        </p:nvSpPr>
        <p:spPr>
          <a:xfrm>
            <a:off x="2839720" y="6255385"/>
            <a:ext cx="751205" cy="2571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周期数据</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a:ea typeface="微软雅黑" panose="020B0503020204020204" charset="-122"/>
                <a:sym typeface="+mn-ea"/>
              </a:rPr>
              <a:t>离线采集</a:t>
            </a:r>
            <a:endParaRPr lang="zh-CN" altLang="en-US"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513" name="矩形 512"/>
          <p:cNvSpPr/>
          <p:nvPr/>
        </p:nvSpPr>
        <p:spPr>
          <a:xfrm>
            <a:off x="3737610" y="6254115"/>
            <a:ext cx="589915" cy="257175"/>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sz="800" kern="0" noProof="0" dirty="0">
                <a:ln>
                  <a:noFill/>
                </a:ln>
                <a:solidFill>
                  <a:schemeClr val="tx1"/>
                </a:solidFill>
                <a:effectLst/>
                <a:uLnTx/>
                <a:uFillTx/>
                <a:latin typeface="Arial" panose="020B0604020202020204"/>
                <a:ea typeface="微软雅黑" panose="020B0503020204020204" charset="-122"/>
                <a:sym typeface="+mn-ea"/>
              </a:rPr>
              <a:t>实时数据</a:t>
            </a:r>
            <a:endParaRPr sz="800" kern="0" noProof="0" dirty="0">
              <a:ln>
                <a:noFill/>
              </a:ln>
              <a:solidFill>
                <a:schemeClr val="tx1"/>
              </a:solidFill>
              <a:effectLst/>
              <a:uLnTx/>
              <a:uFillTx/>
              <a:latin typeface="Arial" panose="020B0604020202020204"/>
              <a:ea typeface="微软雅黑" panose="020B0503020204020204" charset="-122"/>
              <a:sym typeface="+mn-ea"/>
            </a:endParaRPr>
          </a:p>
        </p:txBody>
      </p:sp>
      <p:sp>
        <p:nvSpPr>
          <p:cNvPr id="514" name="矩形 513"/>
          <p:cNvSpPr/>
          <p:nvPr/>
        </p:nvSpPr>
        <p:spPr>
          <a:xfrm>
            <a:off x="5894070" y="5989955"/>
            <a:ext cx="1068070" cy="140970"/>
          </a:xfrm>
          <a:prstGeom prst="rect">
            <a:avLst/>
          </a:prstGeom>
          <a:solidFill>
            <a:schemeClr val="bg1"/>
          </a:solidFill>
          <a:ln w="3175" cap="flat" cmpd="dbl" algn="ctr">
            <a:solidFill>
              <a:schemeClr val="bg1">
                <a:lumMod val="85000"/>
              </a:schemeClr>
            </a:solidFill>
            <a:prstDash val="solid"/>
            <a:miter lim="800000"/>
          </a:ln>
          <a:effectLst/>
        </p:spPr>
        <p:txBody>
          <a:bodyPr wrap="square" rtlCol="0" anchor="ctr">
            <a:noAutofit/>
          </a:bodyPr>
          <a:p>
            <a:pPr lvl="0" algn="ctr">
              <a:spcBef>
                <a:spcPts val="0"/>
              </a:spcBef>
              <a:spcAft>
                <a:spcPts val="0"/>
              </a:spcAft>
              <a:buClrTx/>
              <a:buSzTx/>
              <a:buFontTx/>
              <a:defRPr/>
            </a:pPr>
            <a:r>
              <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rPr>
              <a:t>全网原子产品库</a:t>
            </a:r>
            <a:endParaRPr lang="zh-CN" altLang="en-US" sz="800" kern="0" noProof="0" dirty="0">
              <a:ln>
                <a:noFill/>
              </a:ln>
              <a:solidFill>
                <a:schemeClr val="tx1"/>
              </a:solidFill>
              <a:effectLst/>
              <a:uLnTx/>
              <a:uFillTx/>
              <a:latin typeface="Arial" panose="020B0604020202020204" pitchFamily="34" charset="0"/>
              <a:ea typeface="微软雅黑" panose="020B0503020204020204" charset="-122"/>
              <a:cs typeface="Arial" panose="020B0604020202020204" pitchFamily="34" charset="0"/>
              <a:sym typeface="+mn-ea"/>
            </a:endParaRPr>
          </a:p>
        </p:txBody>
      </p:sp>
      <p:grpSp>
        <p:nvGrpSpPr>
          <p:cNvPr id="515" name="组合 514"/>
          <p:cNvGrpSpPr/>
          <p:nvPr/>
        </p:nvGrpSpPr>
        <p:grpSpPr>
          <a:xfrm rot="0">
            <a:off x="6426835" y="3776980"/>
            <a:ext cx="1437640" cy="1344930"/>
            <a:chOff x="10202" y="6453"/>
            <a:chExt cx="2264" cy="2653"/>
          </a:xfrm>
        </p:grpSpPr>
        <p:sp>
          <p:nvSpPr>
            <p:cNvPr id="516" name="矩形: 圆角 485"/>
            <p:cNvSpPr/>
            <p:nvPr/>
          </p:nvSpPr>
          <p:spPr bwMode="auto">
            <a:xfrm>
              <a:off x="10202" y="6453"/>
              <a:ext cx="2141" cy="2653"/>
            </a:xfrm>
            <a:prstGeom prst="roundRect">
              <a:avLst>
                <a:gd name="adj" fmla="val 5141"/>
              </a:avLst>
            </a:prstGeom>
            <a:noFill/>
            <a:ln w="6350" cmpd="sng">
              <a:solidFill>
                <a:schemeClr val="tx1"/>
              </a:solidFill>
              <a:prstDash val="dash"/>
              <a:miter lim="800000"/>
            </a:ln>
            <a:extLst>
              <a:ext uri="{909E8E84-426E-40DD-AFC4-6F175D3DCCD1}">
                <a14:hiddenFill xmlns:a14="http://schemas.microsoft.com/office/drawing/2010/main">
                  <a:solidFill>
                    <a:schemeClr val="bg1"/>
                  </a:solidFill>
                </a14:hiddenFill>
              </a:ext>
            </a:extLst>
          </p:spPr>
          <p:txBody>
            <a:bodyPr lIns="0" tIns="0" rIns="0" bIns="0" rtlCol="0" anchor="t" anchorCtr="0"/>
            <a:p>
              <a:pPr algn="ctr" defTabSz="685800"/>
              <a:endParaRPr lang="zh-CN" sz="1000" b="1" dirty="0">
                <a:latin typeface="+mj-ea"/>
                <a:ea typeface="+mj-ea"/>
              </a:endParaRPr>
            </a:p>
          </p:txBody>
        </p:sp>
        <p:sp>
          <p:nvSpPr>
            <p:cNvPr id="517" name="矩形 516"/>
            <p:cNvSpPr/>
            <p:nvPr/>
          </p:nvSpPr>
          <p:spPr>
            <a:xfrm>
              <a:off x="10246" y="6548"/>
              <a:ext cx="2220" cy="2197"/>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lumMod val="60000"/>
                      <a:lumOff val="40000"/>
                    </a:schemeClr>
                  </a:solidFill>
                </a14:hiddenFill>
              </a:ext>
            </a:ex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chemeClr val="tx1"/>
                </a:solidFill>
                <a:effectLst/>
                <a:uLnTx/>
                <a:uFillTx/>
                <a:latin typeface="Arial" panose="020B0604020202020204"/>
                <a:ea typeface="微软雅黑" panose="020B0503020204020204" charset="-122"/>
                <a:cs typeface="+mn-cs"/>
              </a:endParaRPr>
            </a:p>
          </p:txBody>
        </p:sp>
        <p:sp>
          <p:nvSpPr>
            <p:cNvPr id="518" name="五边形 18"/>
            <p:cNvSpPr/>
            <p:nvPr/>
          </p:nvSpPr>
          <p:spPr bwMode="auto">
            <a:xfrm>
              <a:off x="10214" y="6973"/>
              <a:ext cx="655" cy="852"/>
            </a:xfrm>
            <a:prstGeom prst="homePlate">
              <a:avLst>
                <a:gd name="adj" fmla="val 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i="1" dirty="0">
                  <a:solidFill>
                    <a:srgbClr val="0070C0"/>
                  </a:solidFill>
                  <a:latin typeface="微软雅黑" panose="020B0503020204020204" charset="-122"/>
                  <a:ea typeface="微软雅黑" panose="020B0503020204020204" charset="-122"/>
                </a:rPr>
                <a:t>预知</a:t>
              </a:r>
              <a:endParaRPr lang="zh-CN" altLang="en-US" sz="800" b="1" i="1" dirty="0">
                <a:solidFill>
                  <a:srgbClr val="0070C0"/>
                </a:solidFill>
                <a:latin typeface="微软雅黑" panose="020B0503020204020204" charset="-122"/>
                <a:ea typeface="微软雅黑" panose="020B0503020204020204" charset="-122"/>
              </a:endParaRPr>
            </a:p>
            <a:p>
              <a:pPr algn="ctr"/>
              <a:r>
                <a:rPr lang="zh-CN" altLang="en-US" sz="800" b="1" i="1" dirty="0">
                  <a:solidFill>
                    <a:srgbClr val="0070C0"/>
                  </a:solidFill>
                  <a:latin typeface="微软雅黑" panose="020B0503020204020204" charset="-122"/>
                  <a:ea typeface="微软雅黑" panose="020B0503020204020204" charset="-122"/>
                </a:rPr>
                <a:t>需求</a:t>
              </a:r>
              <a:endParaRPr lang="zh-CN" altLang="en-US" sz="800" b="1" i="1" dirty="0">
                <a:solidFill>
                  <a:srgbClr val="0070C0"/>
                </a:solidFill>
                <a:latin typeface="微软雅黑" panose="020B0503020204020204" charset="-122"/>
                <a:ea typeface="微软雅黑" panose="020B0503020204020204" charset="-122"/>
              </a:endParaRPr>
            </a:p>
          </p:txBody>
        </p:sp>
        <p:sp>
          <p:nvSpPr>
            <p:cNvPr id="519" name="矩形 518"/>
            <p:cNvSpPr/>
            <p:nvPr/>
          </p:nvSpPr>
          <p:spPr>
            <a:xfrm>
              <a:off x="10924" y="7003"/>
              <a:ext cx="656" cy="4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换机</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0" name="矩形 519"/>
            <p:cNvSpPr/>
            <p:nvPr/>
          </p:nvSpPr>
          <p:spPr>
            <a:xfrm>
              <a:off x="11650" y="7017"/>
              <a:ext cx="671" cy="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升档</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1" name="矩形 520"/>
            <p:cNvSpPr/>
            <p:nvPr/>
          </p:nvSpPr>
          <p:spPr>
            <a:xfrm>
              <a:off x="10924" y="7452"/>
              <a:ext cx="656" cy="4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副卡</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2" name="矩形 521"/>
            <p:cNvSpPr/>
            <p:nvPr/>
          </p:nvSpPr>
          <p:spPr>
            <a:xfrm>
              <a:off x="11650" y="7452"/>
              <a:ext cx="671" cy="4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共享</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3" name="五边形 522"/>
            <p:cNvSpPr/>
            <p:nvPr/>
          </p:nvSpPr>
          <p:spPr bwMode="auto">
            <a:xfrm>
              <a:off x="11650" y="8031"/>
              <a:ext cx="682" cy="967"/>
            </a:xfrm>
            <a:prstGeom prst="homePlate">
              <a:avLst>
                <a:gd name="adj" fmla="val 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i="1" dirty="0">
                  <a:solidFill>
                    <a:srgbClr val="0070C0"/>
                  </a:solidFill>
                  <a:latin typeface="微软雅黑" panose="020B0503020204020204" charset="-122"/>
                  <a:ea typeface="微软雅黑" panose="020B0503020204020204" charset="-122"/>
                </a:rPr>
                <a:t>预判风险</a:t>
              </a:r>
              <a:endParaRPr lang="zh-CN" altLang="en-US" sz="800" b="1" i="1" dirty="0">
                <a:solidFill>
                  <a:srgbClr val="0070C0"/>
                </a:solidFill>
                <a:latin typeface="微软雅黑" panose="020B0503020204020204" charset="-122"/>
                <a:ea typeface="微软雅黑" panose="020B0503020204020204" charset="-122"/>
              </a:endParaRPr>
            </a:p>
          </p:txBody>
        </p:sp>
        <p:sp>
          <p:nvSpPr>
            <p:cNvPr id="524" name="矩形 523"/>
            <p:cNvSpPr/>
            <p:nvPr/>
          </p:nvSpPr>
          <p:spPr>
            <a:xfrm>
              <a:off x="10214" y="8031"/>
              <a:ext cx="656" cy="5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携转</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5" name="矩形 524"/>
            <p:cNvSpPr/>
            <p:nvPr/>
          </p:nvSpPr>
          <p:spPr>
            <a:xfrm>
              <a:off x="10924" y="8031"/>
              <a:ext cx="656" cy="5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离网</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6" name="矩形 525"/>
            <p:cNvSpPr/>
            <p:nvPr/>
          </p:nvSpPr>
          <p:spPr>
            <a:xfrm>
              <a:off x="10214" y="8499"/>
              <a:ext cx="656" cy="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降档</a:t>
              </a:r>
              <a:endParaRPr lang="zh-CN" altLang="en-US" sz="800" kern="100" dirty="0">
                <a:solidFill>
                  <a:schemeClr val="tx1"/>
                </a:solidFill>
                <a:latin typeface="微软雅黑" panose="020B0503020204020204" charset="-122"/>
                <a:ea typeface="微软雅黑" panose="020B0503020204020204" charset="-122"/>
                <a:sym typeface="+mn-ea"/>
              </a:endParaRPr>
            </a:p>
          </p:txBody>
        </p:sp>
        <p:sp>
          <p:nvSpPr>
            <p:cNvPr id="527" name="矩形 526"/>
            <p:cNvSpPr/>
            <p:nvPr/>
          </p:nvSpPr>
          <p:spPr>
            <a:xfrm>
              <a:off x="10924" y="8499"/>
              <a:ext cx="656" cy="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kern="100" dirty="0">
                  <a:solidFill>
                    <a:schemeClr val="tx1"/>
                  </a:solidFill>
                  <a:latin typeface="微软雅黑" panose="020B0503020204020204" charset="-122"/>
                  <a:ea typeface="微软雅黑" panose="020B0503020204020204" charset="-122"/>
                  <a:sym typeface="+mn-ea"/>
                </a:rPr>
                <a:t>沉默</a:t>
              </a:r>
              <a:endParaRPr lang="zh-CN" altLang="en-US" sz="800" kern="100" dirty="0">
                <a:solidFill>
                  <a:schemeClr val="tx1"/>
                </a:solidFill>
                <a:latin typeface="微软雅黑" panose="020B0503020204020204" charset="-122"/>
                <a:ea typeface="微软雅黑" panose="020B0503020204020204" charset="-122"/>
                <a:sym typeface="+mn-ea"/>
              </a:endParaRPr>
            </a:p>
          </p:txBody>
        </p:sp>
      </p:grpSp>
      <p:sp>
        <p:nvSpPr>
          <p:cNvPr id="528" name="文本框 527"/>
          <p:cNvSpPr txBox="1"/>
          <p:nvPr/>
        </p:nvSpPr>
        <p:spPr>
          <a:xfrm>
            <a:off x="6445250" y="3808730"/>
            <a:ext cx="1318260" cy="202565"/>
          </a:xfrm>
          <a:prstGeom prst="rect">
            <a:avLst/>
          </a:prstGeom>
          <a:solidFill>
            <a:srgbClr val="E6F0F8"/>
          </a:solidFill>
        </p:spPr>
        <p:txBody>
          <a:bodyPr wrap="square" rtlCol="0" anchor="t">
            <a:noAutofit/>
          </a:bodyPr>
          <a:p>
            <a:pPr algn="ctr"/>
            <a:r>
              <a:rPr lang="zh-CN" altLang="en-US" sz="1000" b="1">
                <a:latin typeface="微软雅黑" panose="020B0503020204020204" charset="-122"/>
                <a:ea typeface="微软雅黑" panose="020B0503020204020204" charset="-122"/>
              </a:rPr>
              <a:t>需求</a:t>
            </a:r>
            <a:r>
              <a:rPr lang="zh-CN" altLang="en-US" sz="1000" b="1">
                <a:latin typeface="微软雅黑" panose="020B0503020204020204" charset="-122"/>
                <a:ea typeface="微软雅黑" panose="020B0503020204020204" charset="-122"/>
              </a:rPr>
              <a:t>洞察</a:t>
            </a:r>
            <a:endParaRPr lang="zh-CN" altLang="en-US" sz="1000" b="1">
              <a:latin typeface="微软雅黑" panose="020B0503020204020204" charset="-122"/>
              <a:ea typeface="微软雅黑" panose="020B0503020204020204" charset="-122"/>
            </a:endParaRPr>
          </a:p>
        </p:txBody>
      </p:sp>
      <p:grpSp>
        <p:nvGrpSpPr>
          <p:cNvPr id="529" name="组合 528"/>
          <p:cNvGrpSpPr/>
          <p:nvPr/>
        </p:nvGrpSpPr>
        <p:grpSpPr>
          <a:xfrm rot="0">
            <a:off x="4095115" y="1972945"/>
            <a:ext cx="1451610" cy="206375"/>
            <a:chOff x="16495" y="4202"/>
            <a:chExt cx="1905" cy="484"/>
          </a:xfrm>
        </p:grpSpPr>
        <p:sp>
          <p:nvSpPr>
            <p:cNvPr id="530" name="矩形: 圆角 35"/>
            <p:cNvSpPr/>
            <p:nvPr>
              <p:custDataLst>
                <p:tags r:id="rId16"/>
              </p:custDataLst>
            </p:nvPr>
          </p:nvSpPr>
          <p:spPr>
            <a:xfrm>
              <a:off x="16498" y="4202"/>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531" name="矩形 530"/>
            <p:cNvSpPr/>
            <p:nvPr>
              <p:custDataLst>
                <p:tags r:id="rId17"/>
              </p:custDataLst>
            </p:nvPr>
          </p:nvSpPr>
          <p:spPr>
            <a:xfrm>
              <a:off x="16495" y="4237"/>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charset="-122"/>
                  <a:ea typeface="微软雅黑" panose="020B0503020204020204" charset="-122"/>
                  <a:sym typeface="+mn-ea"/>
                </a:rPr>
                <a:t>产品运营</a:t>
              </a:r>
              <a:endParaRPr lang="zh-CN" altLang="en-US" sz="1000" b="1" dirty="0">
                <a:solidFill>
                  <a:srgbClr val="0070C0"/>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532" name="组合 531"/>
          <p:cNvGrpSpPr/>
          <p:nvPr/>
        </p:nvGrpSpPr>
        <p:grpSpPr>
          <a:xfrm rot="0">
            <a:off x="1927860" y="1932305"/>
            <a:ext cx="1911350" cy="245110"/>
            <a:chOff x="16025" y="4146"/>
            <a:chExt cx="2508" cy="574"/>
          </a:xfrm>
        </p:grpSpPr>
        <p:sp>
          <p:nvSpPr>
            <p:cNvPr id="533" name="矩形: 圆角 35"/>
            <p:cNvSpPr/>
            <p:nvPr>
              <p:custDataLst>
                <p:tags r:id="rId18"/>
              </p:custDataLst>
            </p:nvPr>
          </p:nvSpPr>
          <p:spPr>
            <a:xfrm>
              <a:off x="16025" y="4208"/>
              <a:ext cx="2376"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534" name="矩形 533"/>
            <p:cNvSpPr/>
            <p:nvPr>
              <p:custDataLst>
                <p:tags r:id="rId19"/>
              </p:custDataLst>
            </p:nvPr>
          </p:nvSpPr>
          <p:spPr>
            <a:xfrm>
              <a:off x="16147" y="4146"/>
              <a:ext cx="2386" cy="57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charset="-122"/>
                  <a:ea typeface="微软雅黑" panose="020B0503020204020204" charset="-122"/>
                </a:rPr>
                <a:t>存量（全球通、网龄升级</a:t>
              </a:r>
              <a:r>
                <a:rPr lang="en-US" altLang="zh-CN" sz="1100" b="1" noProof="0">
                  <a:ln>
                    <a:noFill/>
                  </a:ln>
                  <a:solidFill>
                    <a:srgbClr val="0070C0"/>
                  </a:solidFill>
                  <a:effectLst/>
                  <a:uLnTx/>
                  <a:uFillTx/>
                  <a:latin typeface="微软雅黑" panose="020B0503020204020204" charset="-122"/>
                  <a:ea typeface="微软雅黑" panose="020B0503020204020204" charset="-122"/>
                </a:rPr>
                <a:t>...</a:t>
              </a:r>
              <a:r>
                <a:rPr lang="zh-CN" altLang="en-US" sz="1100" b="1" noProof="0">
                  <a:ln>
                    <a:noFill/>
                  </a:ln>
                  <a:solidFill>
                    <a:srgbClr val="0070C0"/>
                  </a:solidFill>
                  <a:effectLst/>
                  <a:uLnTx/>
                  <a:uFillTx/>
                  <a:latin typeface="微软雅黑" panose="020B0503020204020204" charset="-122"/>
                  <a:ea typeface="微软雅黑" panose="020B0503020204020204" charset="-122"/>
                </a:rPr>
                <a:t>）</a:t>
              </a:r>
              <a:endParaRPr lang="zh-CN" altLang="en-US" sz="1100" b="1" noProof="0">
                <a:ln>
                  <a:noFill/>
                </a:ln>
                <a:solidFill>
                  <a:srgbClr val="0070C0"/>
                </a:solidFill>
                <a:effectLst/>
                <a:uLnTx/>
                <a:uFillTx/>
                <a:latin typeface="微软雅黑" panose="020B0503020204020204" charset="-122"/>
                <a:ea typeface="微软雅黑" panose="020B0503020204020204" charset="-122"/>
              </a:endParaRPr>
            </a:p>
          </p:txBody>
        </p:sp>
      </p:grpSp>
      <p:grpSp>
        <p:nvGrpSpPr>
          <p:cNvPr id="535" name="组合 534"/>
          <p:cNvGrpSpPr/>
          <p:nvPr/>
        </p:nvGrpSpPr>
        <p:grpSpPr>
          <a:xfrm rot="0">
            <a:off x="7917180" y="1969135"/>
            <a:ext cx="1451610" cy="206375"/>
            <a:chOff x="16495" y="4202"/>
            <a:chExt cx="1905" cy="484"/>
          </a:xfrm>
        </p:grpSpPr>
        <p:sp>
          <p:nvSpPr>
            <p:cNvPr id="536" name="矩形: 圆角 35"/>
            <p:cNvSpPr/>
            <p:nvPr>
              <p:custDataLst>
                <p:tags r:id="rId20"/>
              </p:custDataLst>
            </p:nvPr>
          </p:nvSpPr>
          <p:spPr>
            <a:xfrm>
              <a:off x="16498" y="4202"/>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537" name="矩形 536"/>
            <p:cNvSpPr/>
            <p:nvPr>
              <p:custDataLst>
                <p:tags r:id="rId21"/>
              </p:custDataLst>
            </p:nvPr>
          </p:nvSpPr>
          <p:spPr>
            <a:xfrm>
              <a:off x="16495" y="4237"/>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charset="-122"/>
                  <a:ea typeface="微软雅黑" panose="020B0503020204020204" charset="-122"/>
                  <a:sym typeface="+mn-ea"/>
                </a:rPr>
                <a:t>生态合作</a:t>
              </a:r>
              <a:endParaRPr lang="zh-CN" altLang="en-US" sz="1100" b="1" noProof="0">
                <a:ln>
                  <a:noFill/>
                </a:ln>
                <a:solidFill>
                  <a:srgbClr val="0070C0"/>
                </a:solidFill>
                <a:effectLst/>
                <a:uLnTx/>
                <a:uFillTx/>
                <a:latin typeface="微软雅黑" panose="020B0503020204020204" charset="-122"/>
                <a:ea typeface="微软雅黑" panose="020B0503020204020204" charset="-122"/>
                <a:sym typeface="+mn-ea"/>
              </a:endParaRPr>
            </a:p>
          </p:txBody>
        </p:sp>
      </p:grpSp>
      <p:grpSp>
        <p:nvGrpSpPr>
          <p:cNvPr id="538" name="组合 537"/>
          <p:cNvGrpSpPr/>
          <p:nvPr/>
        </p:nvGrpSpPr>
        <p:grpSpPr>
          <a:xfrm rot="0">
            <a:off x="5996305" y="1971040"/>
            <a:ext cx="1451610" cy="206375"/>
            <a:chOff x="16495" y="4202"/>
            <a:chExt cx="1905" cy="484"/>
          </a:xfrm>
        </p:grpSpPr>
        <p:sp>
          <p:nvSpPr>
            <p:cNvPr id="539" name="矩形: 圆角 35"/>
            <p:cNvSpPr/>
            <p:nvPr>
              <p:custDataLst>
                <p:tags r:id="rId22"/>
              </p:custDataLst>
            </p:nvPr>
          </p:nvSpPr>
          <p:spPr>
            <a:xfrm>
              <a:off x="16498" y="4202"/>
              <a:ext cx="1902" cy="484"/>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rgbClr val="C00000"/>
                </a:solidFill>
                <a:effectLst/>
              </a:endParaRPr>
            </a:p>
          </p:txBody>
        </p:sp>
        <p:sp>
          <p:nvSpPr>
            <p:cNvPr id="540" name="矩形 539"/>
            <p:cNvSpPr/>
            <p:nvPr>
              <p:custDataLst>
                <p:tags r:id="rId23"/>
              </p:custDataLst>
            </p:nvPr>
          </p:nvSpPr>
          <p:spPr>
            <a:xfrm>
              <a:off x="16495" y="4237"/>
              <a:ext cx="1895" cy="42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zh-CN" altLang="en-US" sz="1100" b="1" noProof="0">
                  <a:ln>
                    <a:noFill/>
                  </a:ln>
                  <a:solidFill>
                    <a:srgbClr val="0070C0"/>
                  </a:solidFill>
                  <a:effectLst/>
                  <a:uLnTx/>
                  <a:uFillTx/>
                  <a:latin typeface="微软雅黑" panose="020B0503020204020204" charset="-122"/>
                  <a:ea typeface="微软雅黑" panose="020B0503020204020204" charset="-122"/>
                  <a:sym typeface="+mn-ea"/>
                </a:rPr>
                <a:t>家庭融合</a:t>
              </a:r>
              <a:endParaRPr lang="zh-CN" altLang="en-US" sz="1000" b="1" dirty="0">
                <a:solidFill>
                  <a:srgbClr val="C00000"/>
                </a:solidFill>
                <a:effectLst/>
                <a:latin typeface="微软雅黑" panose="020B0503020204020204" charset="-122"/>
                <a:ea typeface="微软雅黑" panose="020B0503020204020204" charset="-122"/>
                <a:cs typeface="微软雅黑" panose="020B0503020204020204" charset="-122"/>
                <a:sym typeface="+mn-ea"/>
              </a:endParaRPr>
            </a:p>
          </p:txBody>
        </p:sp>
      </p:grpSp>
      <p:grpSp>
        <p:nvGrpSpPr>
          <p:cNvPr id="541" name="组合 540"/>
          <p:cNvGrpSpPr/>
          <p:nvPr/>
        </p:nvGrpSpPr>
        <p:grpSpPr>
          <a:xfrm rot="0">
            <a:off x="9643110" y="1976755"/>
            <a:ext cx="1450340" cy="203200"/>
            <a:chOff x="16562" y="4219"/>
            <a:chExt cx="1903" cy="477"/>
          </a:xfrm>
        </p:grpSpPr>
        <p:sp>
          <p:nvSpPr>
            <p:cNvPr id="542" name="矩形: 圆角 35"/>
            <p:cNvSpPr/>
            <p:nvPr>
              <p:custDataLst>
                <p:tags r:id="rId24"/>
              </p:custDataLst>
            </p:nvPr>
          </p:nvSpPr>
          <p:spPr>
            <a:xfrm>
              <a:off x="16562" y="4219"/>
              <a:ext cx="1902" cy="477"/>
            </a:xfrm>
            <a:prstGeom prst="roundRect">
              <a:avLst/>
            </a:prstGeom>
            <a:solidFill>
              <a:srgbClr val="FFFFFF"/>
            </a:solidFill>
            <a:ln w="3175" cap="flat" cmpd="sng" algn="ctr">
              <a:solidFill>
                <a:srgbClr val="5B9BD5">
                  <a:alpha val="20000"/>
                </a:srgbClr>
              </a:solidFill>
              <a:prstDash val="solid"/>
              <a:round/>
              <a:headEnd type="none" w="med" len="med"/>
              <a:tailEnd type="none" w="med" len="med"/>
            </a:ln>
            <a:effectLst>
              <a:outerShdw blurRad="508000" dist="50800" dir="5400000" algn="ctr" rotWithShape="0">
                <a:srgbClr val="5B9BD5">
                  <a:alpha val="20000"/>
                </a:srgbClr>
              </a:outerShdw>
            </a:effectLst>
          </p:spPr>
          <p:txBody>
            <a:bodyPr lIns="0" rIns="0" rtlCol="0" anchor="ctr">
              <a:noAutofit/>
            </a:bodyPr>
            <a:p>
              <a:pPr algn="ctr"/>
              <a:endParaRPr lang="zh-CN" altLang="en-US" sz="1600">
                <a:solidFill>
                  <a:sysClr val="windowText" lastClr="000000"/>
                </a:solidFill>
              </a:endParaRPr>
            </a:p>
          </p:txBody>
        </p:sp>
        <p:sp>
          <p:nvSpPr>
            <p:cNvPr id="543" name="矩形 542"/>
            <p:cNvSpPr/>
            <p:nvPr>
              <p:custDataLst>
                <p:tags r:id="rId25"/>
              </p:custDataLst>
            </p:nvPr>
          </p:nvSpPr>
          <p:spPr>
            <a:xfrm>
              <a:off x="16570" y="4369"/>
              <a:ext cx="1895" cy="236"/>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en-US" altLang="zh-CN" sz="1000" b="1" dirty="0">
                  <a:solidFill>
                    <a:sysClr val="windowText" lastClr="000000">
                      <a:lumMod val="85000"/>
                      <a:lumOff val="15000"/>
                    </a:sysClr>
                  </a:solidFill>
                  <a:latin typeface="微软雅黑" panose="020B0503020204020204" charset="-122"/>
                  <a:ea typeface="微软雅黑" panose="020B0503020204020204" charset="-122"/>
                  <a:cs typeface="微软雅黑" panose="020B0503020204020204" charset="-122"/>
                  <a:sym typeface="+mn-ea"/>
                </a:rPr>
                <a:t>......</a:t>
              </a:r>
              <a:endParaRPr lang="en-US" altLang="zh-CN" sz="1000" b="1" dirty="0">
                <a:solidFill>
                  <a:sysClr val="windowText" lastClr="000000">
                    <a:lumMod val="85000"/>
                    <a:lumOff val="15000"/>
                  </a:sysClr>
                </a:solidFill>
                <a:latin typeface="微软雅黑" panose="020B0503020204020204" charset="-122"/>
                <a:ea typeface="微软雅黑" panose="020B0503020204020204" charset="-122"/>
                <a:cs typeface="微软雅黑" panose="020B0503020204020204" charset="-122"/>
                <a:sym typeface="+mn-ea"/>
              </a:endParaRPr>
            </a:p>
          </p:txBody>
        </p:sp>
      </p:grpSp>
      <p:sp>
        <p:nvSpPr>
          <p:cNvPr id="544" name="文本框 543"/>
          <p:cNvSpPr txBox="1"/>
          <p:nvPr/>
        </p:nvSpPr>
        <p:spPr>
          <a:xfrm>
            <a:off x="208280" y="1883410"/>
            <a:ext cx="1016635" cy="271145"/>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rPr>
              <a:t>运营场景</a:t>
            </a:r>
            <a:endParaRPr kumimoji="0" lang="zh-CN" alt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545" name="组合 544"/>
          <p:cNvGrpSpPr/>
          <p:nvPr/>
        </p:nvGrpSpPr>
        <p:grpSpPr>
          <a:xfrm rot="0">
            <a:off x="264795" y="3841750"/>
            <a:ext cx="2841625" cy="1610995"/>
            <a:chOff x="5541" y="6431"/>
            <a:chExt cx="5229" cy="3270"/>
          </a:xfrm>
        </p:grpSpPr>
        <p:cxnSp>
          <p:nvCxnSpPr>
            <p:cNvPr id="546" name="直接箭头连接符 545"/>
            <p:cNvCxnSpPr/>
            <p:nvPr/>
          </p:nvCxnSpPr>
          <p:spPr>
            <a:xfrm>
              <a:off x="5890" y="9457"/>
              <a:ext cx="4880" cy="0"/>
            </a:xfrm>
            <a:prstGeom prst="straightConnector1">
              <a:avLst/>
            </a:prstGeom>
            <a:ln w="12700">
              <a:solidFill>
                <a:schemeClr val="accent3"/>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47" name="直接箭头连接符 546"/>
            <p:cNvCxnSpPr/>
            <p:nvPr>
              <p:custDataLst>
                <p:tags r:id="rId26"/>
              </p:custDataLst>
            </p:nvPr>
          </p:nvCxnSpPr>
          <p:spPr>
            <a:xfrm flipV="1">
              <a:off x="5907" y="6431"/>
              <a:ext cx="0" cy="3046"/>
            </a:xfrm>
            <a:prstGeom prst="straightConnector1">
              <a:avLst/>
            </a:prstGeom>
            <a:ln w="12700">
              <a:solidFill>
                <a:schemeClr val="accent3"/>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548" name="矩形 547"/>
            <p:cNvSpPr/>
            <p:nvPr>
              <p:custDataLst>
                <p:tags r:id="rId27"/>
              </p:custDataLst>
            </p:nvPr>
          </p:nvSpPr>
          <p:spPr>
            <a:xfrm>
              <a:off x="5541" y="7407"/>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9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动作维度</a:t>
              </a:r>
              <a:endParaRPr lang="zh-CN" altLang="en-US" sz="9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49" name="矩形 548"/>
            <p:cNvSpPr/>
            <p:nvPr>
              <p:custDataLst>
                <p:tags r:id="rId28"/>
              </p:custDataLst>
            </p:nvPr>
          </p:nvSpPr>
          <p:spPr>
            <a:xfrm>
              <a:off x="6570" y="9335"/>
              <a:ext cx="3608" cy="366"/>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9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时间维度</a:t>
              </a:r>
              <a:endParaRPr lang="en-US" altLang="zh-CN" sz="9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50" name="矩形 549"/>
            <p:cNvSpPr/>
            <p:nvPr/>
          </p:nvSpPr>
          <p:spPr>
            <a:xfrm>
              <a:off x="6423" y="7283"/>
              <a:ext cx="3712" cy="1946"/>
            </a:xfrm>
            <a:prstGeom prst="rect">
              <a:avLst/>
            </a:prstGeom>
            <a:noFill/>
            <a:ln>
              <a:solidFill>
                <a:schemeClr val="accent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551" name="平行四边形 550"/>
            <p:cNvSpPr/>
            <p:nvPr/>
          </p:nvSpPr>
          <p:spPr>
            <a:xfrm>
              <a:off x="6423" y="6660"/>
              <a:ext cx="4303" cy="620"/>
            </a:xfrm>
            <a:prstGeom prst="parallelogram">
              <a:avLst>
                <a:gd name="adj" fmla="val 104239"/>
              </a:avLst>
            </a:prstGeom>
            <a:noFill/>
            <a:ln>
              <a:solidFill>
                <a:schemeClr val="accent1">
                  <a:lumMod val="5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cxnSp>
          <p:nvCxnSpPr>
            <p:cNvPr id="552" name="直接连接符 551"/>
            <p:cNvCxnSpPr/>
            <p:nvPr/>
          </p:nvCxnSpPr>
          <p:spPr>
            <a:xfrm>
              <a:off x="10740" y="6655"/>
              <a:ext cx="0" cy="1940"/>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53" name="直接连接符 552"/>
            <p:cNvCxnSpPr/>
            <p:nvPr>
              <p:custDataLst>
                <p:tags r:id="rId29"/>
              </p:custDataLst>
            </p:nvPr>
          </p:nvCxnSpPr>
          <p:spPr>
            <a:xfrm flipH="1">
              <a:off x="10145" y="8595"/>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54" name="直接连接符 553"/>
            <p:cNvCxnSpPr/>
            <p:nvPr>
              <p:custDataLst>
                <p:tags r:id="rId30"/>
              </p:custDataLst>
            </p:nvPr>
          </p:nvCxnSpPr>
          <p:spPr>
            <a:xfrm flipH="1">
              <a:off x="10285" y="7122"/>
              <a:ext cx="5" cy="19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55" name="直接连接符 554"/>
            <p:cNvCxnSpPr/>
            <p:nvPr>
              <p:custDataLst>
                <p:tags r:id="rId31"/>
              </p:custDataLst>
            </p:nvPr>
          </p:nvCxnSpPr>
          <p:spPr>
            <a:xfrm>
              <a:off x="10449" y="6955"/>
              <a:ext cx="0" cy="1941"/>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556" name="矩形 555"/>
            <p:cNvSpPr/>
            <p:nvPr>
              <p:custDataLst>
                <p:tags r:id="rId32"/>
              </p:custDataLst>
            </p:nvPr>
          </p:nvSpPr>
          <p:spPr>
            <a:xfrm>
              <a:off x="10043" y="7620"/>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学习空间</a:t>
              </a:r>
              <a:endPar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57" name="矩形 556"/>
            <p:cNvSpPr/>
            <p:nvPr>
              <p:custDataLst>
                <p:tags r:id="rId33"/>
              </p:custDataLst>
            </p:nvPr>
          </p:nvSpPr>
          <p:spPr>
            <a:xfrm>
              <a:off x="10210" y="7505"/>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工作空间</a:t>
              </a:r>
              <a:endPar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58" name="矩形 557"/>
            <p:cNvSpPr/>
            <p:nvPr>
              <p:custDataLst>
                <p:tags r:id="rId34"/>
              </p:custDataLst>
            </p:nvPr>
          </p:nvSpPr>
          <p:spPr>
            <a:xfrm>
              <a:off x="10358" y="7383"/>
              <a:ext cx="341" cy="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生活空间</a:t>
              </a:r>
              <a:endPar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59" name="圆角矩形 558"/>
            <p:cNvSpPr/>
            <p:nvPr>
              <p:custDataLst>
                <p:tags r:id="rId35"/>
              </p:custDataLst>
            </p:nvPr>
          </p:nvSpPr>
          <p:spPr>
            <a:xfrm>
              <a:off x="6570"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charset="-122"/>
                  <a:ea typeface="微软雅黑" panose="020B0503020204020204" charset="-122"/>
                  <a:sym typeface="+mn-ea"/>
                </a:rPr>
                <a:t>自然属性</a:t>
              </a:r>
              <a:endParaRPr lang="zh-CN" altLang="en-US" sz="700" b="1" dirty="0">
                <a:solidFill>
                  <a:schemeClr val="bg1"/>
                </a:solidFill>
                <a:latin typeface="微软雅黑" panose="020B0503020204020204" charset="-122"/>
                <a:ea typeface="微软雅黑" panose="020B0503020204020204" charset="-122"/>
                <a:sym typeface="+mn-ea"/>
              </a:endParaRPr>
            </a:p>
          </p:txBody>
        </p:sp>
        <p:sp>
          <p:nvSpPr>
            <p:cNvPr id="560" name="圆角矩形 559"/>
            <p:cNvSpPr/>
            <p:nvPr>
              <p:custDataLst>
                <p:tags r:id="rId36"/>
              </p:custDataLst>
            </p:nvPr>
          </p:nvSpPr>
          <p:spPr>
            <a:xfrm>
              <a:off x="7441"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charset="-122"/>
                  <a:ea typeface="微软雅黑" panose="020B0503020204020204" charset="-122"/>
                  <a:sym typeface="+mn-ea"/>
                </a:rPr>
                <a:t>行为属性</a:t>
              </a:r>
              <a:endParaRPr lang="zh-CN" altLang="en-US" sz="700" b="1" dirty="0">
                <a:solidFill>
                  <a:schemeClr val="bg1"/>
                </a:solidFill>
                <a:latin typeface="微软雅黑" panose="020B0503020204020204" charset="-122"/>
                <a:ea typeface="微软雅黑" panose="020B0503020204020204" charset="-122"/>
                <a:sym typeface="+mn-ea"/>
              </a:endParaRPr>
            </a:p>
          </p:txBody>
        </p:sp>
        <p:sp>
          <p:nvSpPr>
            <p:cNvPr id="561" name="圆角矩形 560"/>
            <p:cNvSpPr/>
            <p:nvPr>
              <p:custDataLst>
                <p:tags r:id="rId37"/>
              </p:custDataLst>
            </p:nvPr>
          </p:nvSpPr>
          <p:spPr>
            <a:xfrm>
              <a:off x="8313"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charset="-122"/>
                  <a:ea typeface="微软雅黑" panose="020B0503020204020204" charset="-122"/>
                  <a:sym typeface="+mn-ea"/>
                </a:rPr>
                <a:t>价值属性</a:t>
              </a:r>
              <a:endParaRPr lang="zh-CN" altLang="en-US" sz="700" b="1" dirty="0">
                <a:solidFill>
                  <a:schemeClr val="bg1"/>
                </a:solidFill>
                <a:latin typeface="微软雅黑" panose="020B0503020204020204" charset="-122"/>
                <a:ea typeface="微软雅黑" panose="020B0503020204020204" charset="-122"/>
                <a:sym typeface="+mn-ea"/>
              </a:endParaRPr>
            </a:p>
          </p:txBody>
        </p:sp>
        <p:sp>
          <p:nvSpPr>
            <p:cNvPr id="562" name="圆角矩形 561"/>
            <p:cNvSpPr/>
            <p:nvPr>
              <p:custDataLst>
                <p:tags r:id="rId38"/>
              </p:custDataLst>
            </p:nvPr>
          </p:nvSpPr>
          <p:spPr>
            <a:xfrm>
              <a:off x="9184" y="7418"/>
              <a:ext cx="794" cy="283"/>
            </a:xfrm>
            <a:prstGeom prst="roundRect">
              <a:avLst>
                <a:gd name="adj" fmla="val 10797"/>
              </a:avLst>
            </a:prstGeom>
            <a:solidFill>
              <a:schemeClr val="accent1">
                <a:lumMod val="75000"/>
              </a:schemeClr>
            </a:solidFill>
            <a:ln>
              <a:noFill/>
            </a:ln>
            <a:effectLst/>
          </p:spPr>
          <p:style>
            <a:lnRef idx="3">
              <a:schemeClr val="lt1"/>
            </a:lnRef>
            <a:fillRef idx="1">
              <a:schemeClr val="accent5"/>
            </a:fillRef>
            <a:effectRef idx="1">
              <a:schemeClr val="accent5"/>
            </a:effectRef>
            <a:fontRef idx="minor">
              <a:schemeClr val="lt1"/>
            </a:fontRef>
          </p:style>
          <p:txBody>
            <a:bodyPr vertOverflow="overflow" horzOverflow="overflow" vert="horz" wrap="square" lIns="0" rIns="0" numCol="1" spcCol="0" rtlCol="0" fromWordArt="0" anchor="ctr" anchorCtr="0" forceAA="0" compatLnSpc="1">
              <a:noAutofit/>
            </a:bodyPr>
            <a:p>
              <a:pPr lvl="0" algn="ctr">
                <a:buClrTx/>
                <a:buSzTx/>
                <a:buFontTx/>
              </a:pPr>
              <a:r>
                <a:rPr lang="zh-CN" altLang="en-US" sz="700" b="1" dirty="0">
                  <a:solidFill>
                    <a:schemeClr val="bg1"/>
                  </a:solidFill>
                  <a:latin typeface="微软雅黑" panose="020B0503020204020204" charset="-122"/>
                  <a:ea typeface="微软雅黑" panose="020B0503020204020204" charset="-122"/>
                  <a:sym typeface="+mn-ea"/>
                </a:rPr>
                <a:t>偏好属性</a:t>
              </a:r>
              <a:endParaRPr lang="zh-CN" altLang="en-US" sz="700" b="1" dirty="0">
                <a:solidFill>
                  <a:schemeClr val="bg1"/>
                </a:solidFill>
                <a:latin typeface="微软雅黑" panose="020B0503020204020204" charset="-122"/>
                <a:ea typeface="微软雅黑" panose="020B0503020204020204" charset="-122"/>
                <a:sym typeface="+mn-ea"/>
              </a:endParaRPr>
            </a:p>
          </p:txBody>
        </p:sp>
        <p:sp>
          <p:nvSpPr>
            <p:cNvPr id="563" name="圆角矩形 562"/>
            <p:cNvSpPr/>
            <p:nvPr>
              <p:custDataLst>
                <p:tags r:id="rId39"/>
              </p:custDataLst>
            </p:nvPr>
          </p:nvSpPr>
          <p:spPr>
            <a:xfrm>
              <a:off x="6570" y="7759"/>
              <a:ext cx="793" cy="170"/>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基础属性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64" name="圆角矩形 563"/>
            <p:cNvSpPr/>
            <p:nvPr>
              <p:custDataLst>
                <p:tags r:id="rId40"/>
              </p:custDataLst>
            </p:nvPr>
          </p:nvSpPr>
          <p:spPr>
            <a:xfrm>
              <a:off x="7460" y="7759"/>
              <a:ext cx="793" cy="165"/>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消费行为</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65" name="圆角矩形 564"/>
            <p:cNvSpPr/>
            <p:nvPr>
              <p:custDataLst>
                <p:tags r:id="rId41"/>
              </p:custDataLst>
            </p:nvPr>
          </p:nvSpPr>
          <p:spPr>
            <a:xfrm>
              <a:off x="8312" y="7758"/>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稳定性属性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66" name="圆角矩形 565"/>
            <p:cNvSpPr/>
            <p:nvPr>
              <p:custDataLst>
                <p:tags r:id="rId42"/>
              </p:custDataLst>
            </p:nvPr>
          </p:nvSpPr>
          <p:spPr>
            <a:xfrm>
              <a:off x="8312" y="8054"/>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贡献属性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67" name="圆角矩形 566"/>
            <p:cNvSpPr/>
            <p:nvPr>
              <p:custDataLst>
                <p:tags r:id="rId43"/>
              </p:custDataLst>
            </p:nvPr>
          </p:nvSpPr>
          <p:spPr>
            <a:xfrm>
              <a:off x="8312" y="8350"/>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潜力属性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68" name="圆角矩形 567"/>
            <p:cNvSpPr/>
            <p:nvPr>
              <p:custDataLst>
                <p:tags r:id="rId44"/>
              </p:custDataLst>
            </p:nvPr>
          </p:nvSpPr>
          <p:spPr>
            <a:xfrm>
              <a:off x="8312" y="8646"/>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生命周期属性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569" name="圆角矩形 568"/>
            <p:cNvSpPr/>
            <p:nvPr>
              <p:custDataLst>
                <p:tags r:id="rId45"/>
              </p:custDataLst>
            </p:nvPr>
          </p:nvSpPr>
          <p:spPr>
            <a:xfrm>
              <a:off x="8312" y="8939"/>
              <a:ext cx="794" cy="226"/>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700" dirty="0">
                  <a:solidFill>
                    <a:schemeClr val="tx1">
                      <a:lumMod val="85000"/>
                      <a:lumOff val="15000"/>
                    </a:schemeClr>
                  </a:solidFill>
                  <a:latin typeface="微软雅黑" panose="020B0503020204020204" charset="-122"/>
                  <a:ea typeface="微软雅黑" panose="020B0503020204020204" charset="-122"/>
                  <a:sym typeface="+mn-ea"/>
                </a:rPr>
                <a:t>......</a:t>
              </a:r>
              <a:endParaRPr lang="en-US" altLang="zh-CN" sz="700" dirty="0">
                <a:solidFill>
                  <a:schemeClr val="tx1">
                    <a:lumMod val="85000"/>
                    <a:lumOff val="15000"/>
                  </a:schemeClr>
                </a:solidFill>
                <a:latin typeface="微软雅黑" panose="020B0503020204020204" charset="-122"/>
                <a:ea typeface="微软雅黑" panose="020B0503020204020204" charset="-122"/>
                <a:sym typeface="+mn-ea"/>
              </a:endParaRPr>
            </a:p>
          </p:txBody>
        </p:sp>
        <p:cxnSp>
          <p:nvCxnSpPr>
            <p:cNvPr id="570" name="直接连接符 569"/>
            <p:cNvCxnSpPr/>
            <p:nvPr>
              <p:custDataLst>
                <p:tags r:id="rId46"/>
              </p:custDataLst>
            </p:nvPr>
          </p:nvCxnSpPr>
          <p:spPr>
            <a:xfrm flipH="1">
              <a:off x="7154" y="6646"/>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71" name="直接连接符 570"/>
            <p:cNvCxnSpPr/>
            <p:nvPr>
              <p:custDataLst>
                <p:tags r:id="rId47"/>
              </p:custDataLst>
            </p:nvPr>
          </p:nvCxnSpPr>
          <p:spPr>
            <a:xfrm flipH="1">
              <a:off x="7877" y="6653"/>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72" name="直接连接符 571"/>
            <p:cNvCxnSpPr/>
            <p:nvPr>
              <p:custDataLst>
                <p:tags r:id="rId48"/>
              </p:custDataLst>
            </p:nvPr>
          </p:nvCxnSpPr>
          <p:spPr>
            <a:xfrm flipH="1">
              <a:off x="8600" y="6649"/>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73" name="直接连接符 572"/>
            <p:cNvCxnSpPr/>
            <p:nvPr>
              <p:custDataLst>
                <p:tags r:id="rId49"/>
              </p:custDataLst>
            </p:nvPr>
          </p:nvCxnSpPr>
          <p:spPr>
            <a:xfrm flipH="1">
              <a:off x="9368" y="6655"/>
              <a:ext cx="606" cy="636"/>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574" name="矩形 573"/>
            <p:cNvSpPr/>
            <p:nvPr>
              <p:custDataLst>
                <p:tags r:id="rId50"/>
              </p:custDataLst>
            </p:nvPr>
          </p:nvSpPr>
          <p:spPr>
            <a:xfrm>
              <a:off x="6702"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个人</a:t>
              </a:r>
              <a:r>
                <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客户</a:t>
              </a:r>
              <a:endPar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75" name="矩形 574"/>
            <p:cNvSpPr/>
            <p:nvPr>
              <p:custDataLst>
                <p:tags r:id="rId51"/>
              </p:custDataLst>
            </p:nvPr>
          </p:nvSpPr>
          <p:spPr>
            <a:xfrm>
              <a:off x="7414"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家庭客户</a:t>
              </a:r>
              <a:endPar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76" name="矩形 575"/>
            <p:cNvSpPr/>
            <p:nvPr>
              <p:custDataLst>
                <p:tags r:id="rId52"/>
              </p:custDataLst>
            </p:nvPr>
          </p:nvSpPr>
          <p:spPr>
            <a:xfrm>
              <a:off x="8165"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商业客户</a:t>
              </a:r>
              <a:endPar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77" name="矩形 576"/>
            <p:cNvSpPr/>
            <p:nvPr>
              <p:custDataLst>
                <p:tags r:id="rId53"/>
              </p:custDataLst>
            </p:nvPr>
          </p:nvSpPr>
          <p:spPr>
            <a:xfrm>
              <a:off x="8875" y="6745"/>
              <a:ext cx="758" cy="510"/>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战略客户</a:t>
              </a:r>
              <a:endPar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78" name="矩形 577"/>
            <p:cNvSpPr/>
            <p:nvPr>
              <p:custDataLst>
                <p:tags r:id="rId54"/>
              </p:custDataLst>
            </p:nvPr>
          </p:nvSpPr>
          <p:spPr>
            <a:xfrm>
              <a:off x="9650" y="6745"/>
              <a:ext cx="778" cy="471"/>
            </a:xfrm>
            <a:prstGeom prst="rect">
              <a:avLst/>
            </a:prstGeom>
            <a:scene3d>
              <a:camera prst="orthographicFront">
                <a:rot lat="0" lon="0" rev="0"/>
              </a:camera>
              <a:lightRig rig="threePt" dir="t"/>
            </a:scene3d>
            <a:sp3d/>
          </p:spPr>
          <p:txBody>
            <a:bodyPr wrap="square">
              <a:noAutofit/>
              <a:scene3d>
                <a:camera prst="orthographicFront">
                  <a:rot lat="0" lon="3600000" rev="0"/>
                </a:camera>
                <a:lightRig rig="threePt" dir="t"/>
              </a:scene3d>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国际客户</a:t>
              </a:r>
              <a:endParaRPr lang="zh-CN" altLang="en-US" sz="7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79" name="矩形 578"/>
            <p:cNvSpPr/>
            <p:nvPr>
              <p:custDataLst>
                <p:tags r:id="rId55"/>
              </p:custDataLst>
            </p:nvPr>
          </p:nvSpPr>
          <p:spPr>
            <a:xfrm>
              <a:off x="5919" y="7124"/>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浏览</a:t>
              </a:r>
              <a:endPar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80" name="矩形 579"/>
            <p:cNvSpPr/>
            <p:nvPr>
              <p:custDataLst>
                <p:tags r:id="rId56"/>
              </p:custDataLst>
            </p:nvPr>
          </p:nvSpPr>
          <p:spPr>
            <a:xfrm>
              <a:off x="5907" y="7532"/>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注册</a:t>
              </a:r>
              <a:endPar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81" name="矩形 580"/>
            <p:cNvSpPr/>
            <p:nvPr>
              <p:custDataLst>
                <p:tags r:id="rId57"/>
              </p:custDataLst>
            </p:nvPr>
          </p:nvSpPr>
          <p:spPr>
            <a:xfrm>
              <a:off x="5919" y="8390"/>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驻足</a:t>
              </a:r>
              <a:endPar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82" name="矩形 581"/>
            <p:cNvSpPr/>
            <p:nvPr>
              <p:custDataLst>
                <p:tags r:id="rId58"/>
              </p:custDataLst>
            </p:nvPr>
          </p:nvSpPr>
          <p:spPr>
            <a:xfrm>
              <a:off x="5907" y="7971"/>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使用</a:t>
              </a:r>
              <a:endPar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583" name="矩形 582"/>
            <p:cNvSpPr/>
            <p:nvPr>
              <p:custDataLst>
                <p:tags r:id="rId59"/>
              </p:custDataLst>
            </p:nvPr>
          </p:nvSpPr>
          <p:spPr>
            <a:xfrm>
              <a:off x="5907" y="8744"/>
              <a:ext cx="498" cy="296"/>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离开</a:t>
              </a:r>
              <a:endParaRPr lang="zh-CN" altLang="en-US"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grpSp>
      <p:sp>
        <p:nvSpPr>
          <p:cNvPr id="584" name="矩形 583"/>
          <p:cNvSpPr/>
          <p:nvPr>
            <p:custDataLst>
              <p:tags r:id="rId60"/>
            </p:custDataLst>
          </p:nvPr>
        </p:nvSpPr>
        <p:spPr>
          <a:xfrm>
            <a:off x="3440430" y="3983990"/>
            <a:ext cx="1205230" cy="276225"/>
          </a:xfrm>
          <a:prstGeom prst="rect">
            <a:avLst/>
          </a:prstGeom>
          <a:solidFill>
            <a:srgbClr val="0070C0"/>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模型库</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85" name="矩形 584"/>
          <p:cNvSpPr/>
          <p:nvPr>
            <p:custDataLst>
              <p:tags r:id="rId61"/>
            </p:custDataLst>
          </p:nvPr>
        </p:nvSpPr>
        <p:spPr>
          <a:xfrm>
            <a:off x="3440430" y="4391025"/>
            <a:ext cx="1190625" cy="276225"/>
          </a:xfrm>
          <a:prstGeom prst="rect">
            <a:avLst/>
          </a:prstGeom>
          <a:solidFill>
            <a:srgbClr val="0070C0"/>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标签库</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86" name="矩形 585"/>
          <p:cNvSpPr/>
          <p:nvPr/>
        </p:nvSpPr>
        <p:spPr bwMode="auto">
          <a:xfrm>
            <a:off x="3399155" y="4872355"/>
            <a:ext cx="495935" cy="389890"/>
          </a:xfrm>
          <a:prstGeom prst="rect">
            <a:avLst/>
          </a:prstGeom>
          <a:solidFill>
            <a:srgbClr val="BDD7EE">
              <a:alpha val="80000"/>
            </a:srgbClr>
          </a:solidFill>
          <a:ln>
            <a:noFill/>
          </a:ln>
          <a:effectLst/>
        </p:spPr>
        <p:txBody>
          <a:bodyPr vert="horz" wrap="square" lIns="72000" tIns="60944" rIns="121888" bIns="60944" numCol="1" rtlCol="0" anchor="ctr" anchorCtr="0" compatLnSpc="1">
            <a:noAutofit/>
          </a:bodyPr>
          <a:p>
            <a:pPr lvl="0" algn="r">
              <a:spcBef>
                <a:spcPts val="0"/>
              </a:spcBef>
              <a:spcAft>
                <a:spcPts val="0"/>
              </a:spcAft>
              <a:buClr>
                <a:srgbClr val="CC9900"/>
              </a:buClr>
              <a:buSzTx/>
              <a:buFontTx/>
              <a:defRPr/>
            </a:pPr>
            <a:r>
              <a:rPr lang="zh-CN" altLang="en-US" sz="900" b="1" kern="0" noProof="0" dirty="0">
                <a:ln>
                  <a:noFill/>
                </a:ln>
                <a:solidFill>
                  <a:schemeClr val="accent1">
                    <a:lumMod val="50000"/>
                  </a:schemeClr>
                </a:solidFill>
                <a:effectLst/>
                <a:uLnTx/>
                <a:uFillTx/>
                <a:latin typeface="微软雅黑" panose="020B0503020204020204" charset="-122"/>
                <a:sym typeface="+mn-ea"/>
              </a:rPr>
              <a:t>原子标签</a:t>
            </a:r>
            <a:endParaRPr lang="zh-CN" altLang="en-US" sz="900" b="1" kern="0" noProof="0" dirty="0">
              <a:ln>
                <a:noFill/>
              </a:ln>
              <a:solidFill>
                <a:schemeClr val="accent1">
                  <a:lumMod val="50000"/>
                </a:schemeClr>
              </a:solidFill>
              <a:effectLst/>
              <a:uLnTx/>
              <a:uFillTx/>
              <a:latin typeface="微软雅黑" panose="020B0503020204020204" charset="-122"/>
              <a:sym typeface="+mn-ea"/>
            </a:endParaRPr>
          </a:p>
        </p:txBody>
      </p:sp>
      <p:sp>
        <p:nvSpPr>
          <p:cNvPr id="587" name="矩形 586"/>
          <p:cNvSpPr/>
          <p:nvPr/>
        </p:nvSpPr>
        <p:spPr bwMode="auto">
          <a:xfrm>
            <a:off x="4214495" y="4860925"/>
            <a:ext cx="457835" cy="389890"/>
          </a:xfrm>
          <a:prstGeom prst="rect">
            <a:avLst/>
          </a:prstGeom>
          <a:solidFill>
            <a:srgbClr val="BDD7EE">
              <a:alpha val="80000"/>
            </a:srgbClr>
          </a:solidFill>
          <a:ln>
            <a:noFill/>
          </a:ln>
          <a:effectLst/>
        </p:spPr>
        <p:txBody>
          <a:bodyPr vert="horz" wrap="square" lIns="72000" tIns="60944" rIns="121888" bIns="60944" numCol="1" rtlCol="0" anchor="ctr" anchorCtr="0" compatLnSpc="1">
            <a:noAutofit/>
          </a:bodyPr>
          <a:p>
            <a:pPr lvl="0" algn="r">
              <a:spcBef>
                <a:spcPts val="0"/>
              </a:spcBef>
              <a:spcAft>
                <a:spcPts val="0"/>
              </a:spcAft>
              <a:buClr>
                <a:srgbClr val="CC9900"/>
              </a:buClr>
              <a:buSzTx/>
              <a:buFontTx/>
              <a:defRPr/>
            </a:pPr>
            <a:r>
              <a:rPr lang="zh-CN" altLang="en-US" sz="900" b="1" kern="0" noProof="0" dirty="0">
                <a:ln>
                  <a:noFill/>
                </a:ln>
                <a:solidFill>
                  <a:schemeClr val="accent1">
                    <a:lumMod val="50000"/>
                  </a:schemeClr>
                </a:solidFill>
                <a:effectLst/>
                <a:uLnTx/>
                <a:uFillTx/>
                <a:latin typeface="微软雅黑" panose="020B0503020204020204" charset="-122"/>
                <a:sym typeface="+mn-ea"/>
              </a:rPr>
              <a:t>衍生标签</a:t>
            </a:r>
            <a:endParaRPr lang="zh-CN" altLang="en-US" sz="900" b="1" kern="0" noProof="0" dirty="0">
              <a:ln>
                <a:noFill/>
              </a:ln>
              <a:solidFill>
                <a:schemeClr val="accent1">
                  <a:lumMod val="50000"/>
                </a:schemeClr>
              </a:solidFill>
              <a:effectLst/>
              <a:uLnTx/>
              <a:uFillTx/>
              <a:latin typeface="微软雅黑" panose="020B0503020204020204" charset="-122"/>
              <a:sym typeface="+mn-ea"/>
            </a:endParaRPr>
          </a:p>
        </p:txBody>
      </p:sp>
      <p:sp>
        <p:nvSpPr>
          <p:cNvPr id="588" name="箭头: 上 1"/>
          <p:cNvSpPr/>
          <p:nvPr/>
        </p:nvSpPr>
        <p:spPr>
          <a:xfrm rot="5400000">
            <a:off x="3994785" y="4884420"/>
            <a:ext cx="165735" cy="313690"/>
          </a:xfrm>
          <a:prstGeom prst="upArrow">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589" name="矩形 588"/>
          <p:cNvSpPr/>
          <p:nvPr>
            <p:custDataLst>
              <p:tags r:id="rId62"/>
            </p:custDataLst>
          </p:nvPr>
        </p:nvSpPr>
        <p:spPr>
          <a:xfrm>
            <a:off x="1045845" y="3736340"/>
            <a:ext cx="2040255" cy="191770"/>
          </a:xfrm>
          <a:prstGeom prst="rect">
            <a:avLst/>
          </a:prstGeom>
          <a:solidFill>
            <a:srgbClr val="0070C0"/>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四度三维体系</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590" name="组合 589"/>
          <p:cNvGrpSpPr/>
          <p:nvPr/>
        </p:nvGrpSpPr>
        <p:grpSpPr>
          <a:xfrm rot="0">
            <a:off x="209550" y="2248535"/>
            <a:ext cx="11706860" cy="584835"/>
            <a:chOff x="389" y="3890"/>
            <a:chExt cx="16886" cy="941"/>
          </a:xfrm>
        </p:grpSpPr>
        <p:sp>
          <p:nvSpPr>
            <p:cNvPr id="591" name="矩形 590"/>
            <p:cNvSpPr/>
            <p:nvPr>
              <p:custDataLst>
                <p:tags r:id="rId63"/>
              </p:custDataLst>
            </p:nvPr>
          </p:nvSpPr>
          <p:spPr>
            <a:xfrm>
              <a:off x="389" y="3890"/>
              <a:ext cx="16886" cy="941"/>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592" name="文本框 591"/>
            <p:cNvSpPr txBox="1"/>
            <p:nvPr/>
          </p:nvSpPr>
          <p:spPr>
            <a:xfrm>
              <a:off x="574" y="4004"/>
              <a:ext cx="1424" cy="552"/>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rPr>
                <a:t>统一前台</a:t>
              </a:r>
              <a:endParaRPr kumimoji="0" lang="zh-CN" altLang="en-US"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200" b="1" noProof="0">
                  <a:ln>
                    <a:noFill/>
                  </a:ln>
                  <a:solidFill>
                    <a:srgbClr val="C00000"/>
                  </a:solidFill>
                  <a:effectLst/>
                  <a:uLnTx/>
                  <a:uFillTx/>
                  <a:latin typeface="微软雅黑" panose="020B0503020204020204" charset="-122"/>
                  <a:ea typeface="微软雅黑" panose="020B0503020204020204" charset="-122"/>
                  <a:sym typeface="+mn-ea"/>
                </a:rPr>
                <a:t>3</a:t>
              </a:r>
              <a:r>
                <a:rPr lang="zh-CN" altLang="en-US" sz="1200" b="1" noProof="0">
                  <a:ln>
                    <a:noFill/>
                  </a:ln>
                  <a:solidFill>
                    <a:srgbClr val="C00000"/>
                  </a:solidFill>
                  <a:effectLst/>
                  <a:uLnTx/>
                  <a:uFillTx/>
                  <a:latin typeface="微软雅黑" panose="020B0503020204020204" charset="-122"/>
                  <a:ea typeface="微软雅黑" panose="020B0503020204020204" charset="-122"/>
                  <a:sym typeface="+mn-ea"/>
                </a:rPr>
                <a:t>屏联动</a:t>
              </a:r>
              <a:endParaRPr kumimoji="0" lang="zh-CN" altLang="en-US" sz="12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pSp>
          <p:nvGrpSpPr>
            <p:cNvPr id="593" name="组合 592"/>
            <p:cNvGrpSpPr/>
            <p:nvPr/>
          </p:nvGrpSpPr>
          <p:grpSpPr>
            <a:xfrm rot="0">
              <a:off x="2295" y="4487"/>
              <a:ext cx="14739" cy="236"/>
              <a:chOff x="2272" y="4106"/>
              <a:chExt cx="14789" cy="486"/>
            </a:xfrm>
          </p:grpSpPr>
          <p:sp>
            <p:nvSpPr>
              <p:cNvPr id="594" name="矩形 593"/>
              <p:cNvSpPr/>
              <p:nvPr>
                <p:custDataLst>
                  <p:tags r:id="rId64"/>
                </p:custDataLst>
              </p:nvPr>
            </p:nvSpPr>
            <p:spPr>
              <a:xfrm>
                <a:off x="2272" y="4106"/>
                <a:ext cx="4161" cy="485"/>
              </a:xfrm>
              <a:prstGeom prst="rect">
                <a:avLst/>
              </a:prstGeom>
              <a:solidFill>
                <a:srgbClr val="F0F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大屏：</a:t>
                </a:r>
                <a:r>
                  <a:rPr kumimoji="1" lang="zh-CN" altLang="en-US" sz="1200" b="1" noProof="0" dirty="0">
                    <a:ln>
                      <a:noFill/>
                    </a:ln>
                    <a:solidFill>
                      <a:srgbClr val="0070C0"/>
                    </a:solidFill>
                    <a:effectLst/>
                    <a:uLnTx/>
                    <a:uFillTx/>
                    <a:latin typeface="微软雅黑" panose="020B0503020204020204" charset="-122"/>
                    <a:ea typeface="微软雅黑" panose="020B0503020204020204" charset="-122"/>
                    <a:sym typeface="+mn-ea"/>
                  </a:rPr>
                  <a:t>（智慧运营驾驶舱</a:t>
                </a:r>
                <a:r>
                  <a:rPr kumimoji="1" lang="zh-CN" altLang="en-US" sz="1200" b="1" noProof="0" dirty="0">
                    <a:ln>
                      <a:noFill/>
                    </a:ln>
                    <a:solidFill>
                      <a:srgbClr val="0070C0"/>
                    </a:solidFill>
                    <a:effectLst/>
                    <a:uLnTx/>
                    <a:uFillTx/>
                    <a:latin typeface="微软雅黑" panose="020B0503020204020204" charset="-122"/>
                    <a:ea typeface="微软雅黑" panose="020B0503020204020204" charset="-122"/>
                    <a:sym typeface="+mn-ea"/>
                  </a:rPr>
                  <a:t>等）</a:t>
                </a:r>
                <a:endParaRPr kumimoji="1" lang="zh-CN" altLang="en-US" sz="1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sym typeface="+mn-ea"/>
                </a:endParaRPr>
              </a:p>
            </p:txBody>
          </p:sp>
          <p:sp>
            <p:nvSpPr>
              <p:cNvPr id="595" name="矩形 594"/>
              <p:cNvSpPr/>
              <p:nvPr>
                <p:custDataLst>
                  <p:tags r:id="rId65"/>
                </p:custDataLst>
              </p:nvPr>
            </p:nvSpPr>
            <p:spPr>
              <a:xfrm>
                <a:off x="6658" y="4106"/>
                <a:ext cx="6212" cy="486"/>
              </a:xfrm>
              <a:prstGeom prst="rect">
                <a:avLst/>
              </a:prstGeom>
              <a:solidFill>
                <a:srgbClr val="F0F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algn="ctr" defTabSz="4572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中屏：</a:t>
                </a:r>
                <a:r>
                  <a:rPr kumimoji="1"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sym typeface="+mn-ea"/>
                  </a:rPr>
                  <a:t>（工作台</a:t>
                </a:r>
                <a:r>
                  <a:rPr kumimoji="1" lang="en-US" altLang="zh-CN"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sym typeface="+mn-ea"/>
                  </a:rPr>
                  <a:t>PC</a:t>
                </a:r>
                <a:r>
                  <a:rPr kumimoji="1"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sym typeface="+mn-ea"/>
                  </a:rPr>
                  <a:t>门户）</a:t>
                </a:r>
                <a:endParaRPr kumimoji="1"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sym typeface="+mn-ea"/>
                </a:endParaRPr>
              </a:p>
            </p:txBody>
          </p:sp>
          <p:sp>
            <p:nvSpPr>
              <p:cNvPr id="596" name="矩形 595"/>
              <p:cNvSpPr/>
              <p:nvPr>
                <p:custDataLst>
                  <p:tags r:id="rId66"/>
                </p:custDataLst>
              </p:nvPr>
            </p:nvSpPr>
            <p:spPr>
              <a:xfrm>
                <a:off x="13063" y="4106"/>
                <a:ext cx="3998" cy="486"/>
              </a:xfrm>
              <a:prstGeom prst="rect">
                <a:avLst/>
              </a:prstGeom>
              <a:solidFill>
                <a:srgbClr val="F0F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1" noProof="0" dirty="0">
                    <a:ln>
                      <a:noFill/>
                    </a:ln>
                    <a:solidFill>
                      <a:schemeClr val="tx1"/>
                    </a:solidFill>
                    <a:effectLst/>
                    <a:uLnTx/>
                    <a:uFillTx/>
                    <a:latin typeface="微软雅黑" panose="020B0503020204020204" charset="-122"/>
                    <a:ea typeface="微软雅黑" panose="020B0503020204020204" charset="-122"/>
                    <a:sym typeface="+mn-ea"/>
                  </a:rPr>
                  <a:t>小屏：</a:t>
                </a:r>
                <a:r>
                  <a:rPr kumimoji="1" lang="zh-CN" altLang="en-US" sz="1200" b="1" noProof="0" dirty="0">
                    <a:ln>
                      <a:noFill/>
                    </a:ln>
                    <a:solidFill>
                      <a:srgbClr val="0070C0"/>
                    </a:solidFill>
                    <a:effectLst/>
                    <a:uLnTx/>
                    <a:uFillTx/>
                    <a:latin typeface="微软雅黑" panose="020B0503020204020204" charset="-122"/>
                    <a:ea typeface="微软雅黑" panose="020B0503020204020204" charset="-122"/>
                    <a:sym typeface="+mn-ea"/>
                  </a:rPr>
                  <a:t>（网格通APP</a:t>
                </a:r>
                <a:r>
                  <a:rPr kumimoji="1" lang="zh-CN" altLang="en-US" sz="1200" b="1" noProof="0" dirty="0">
                    <a:ln>
                      <a:noFill/>
                    </a:ln>
                    <a:solidFill>
                      <a:srgbClr val="0070C0"/>
                    </a:solidFill>
                    <a:effectLst/>
                    <a:uLnTx/>
                    <a:uFillTx/>
                    <a:latin typeface="微软雅黑" panose="020B0503020204020204" charset="-122"/>
                    <a:ea typeface="微软雅黑" panose="020B0503020204020204" charset="-122"/>
                    <a:sym typeface="+mn-ea"/>
                  </a:rPr>
                  <a:t>等）</a:t>
                </a:r>
                <a:endParaRPr kumimoji="1" lang="zh-CN" altLang="en-US" sz="12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sym typeface="+mn-ea"/>
                </a:endParaRPr>
              </a:p>
            </p:txBody>
          </p:sp>
        </p:grpSp>
        <p:sp>
          <p:nvSpPr>
            <p:cNvPr id="597" name="矩形 596"/>
            <p:cNvSpPr/>
            <p:nvPr>
              <p:custDataLst>
                <p:tags r:id="rId67"/>
              </p:custDataLst>
            </p:nvPr>
          </p:nvSpPr>
          <p:spPr>
            <a:xfrm>
              <a:off x="2296" y="4019"/>
              <a:ext cx="14719" cy="371"/>
            </a:xfrm>
            <a:prstGeom prst="rect">
              <a:avLst/>
            </a:prstGeom>
            <a:solidFill>
              <a:srgbClr val="E6F0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200" b="1" noProof="0">
                  <a:ln>
                    <a:noFill/>
                  </a:ln>
                  <a:solidFill>
                    <a:srgbClr val="0070C0"/>
                  </a:solidFill>
                  <a:effectLst/>
                  <a:uLnTx/>
                  <a:uFillTx/>
                  <a:latin typeface="微软雅黑" panose="020B0503020204020204" charset="-122"/>
                  <a:ea typeface="微软雅黑" panose="020B0503020204020204" charset="-122"/>
                  <a:sym typeface="+mn-ea"/>
                </a:rPr>
                <a:t>市场运营工作台</a:t>
              </a:r>
              <a:r>
                <a:rPr lang="zh-CN" altLang="en-US" sz="1400" b="1" noProof="0">
                  <a:ln>
                    <a:noFill/>
                  </a:ln>
                  <a:solidFill>
                    <a:srgbClr val="0070C0"/>
                  </a:solidFill>
                  <a:effectLst/>
                  <a:uLnTx/>
                  <a:uFillTx/>
                  <a:latin typeface="微软雅黑" panose="020B0503020204020204" charset="-122"/>
                  <a:ea typeface="微软雅黑" panose="020B0503020204020204" charset="-122"/>
                  <a:sym typeface="+mn-ea"/>
                </a:rPr>
                <a:t>（</a:t>
              </a:r>
              <a:r>
                <a:rPr lang="zh-CN" altLang="en-US" sz="1200" b="1" noProof="0">
                  <a:ln>
                    <a:noFill/>
                  </a:ln>
                  <a:solidFill>
                    <a:srgbClr val="0070C0"/>
                  </a:solidFill>
                  <a:effectLst/>
                  <a:uLnTx/>
                  <a:uFillTx/>
                  <a:latin typeface="微软雅黑" panose="020B0503020204020204" charset="-122"/>
                  <a:ea typeface="微软雅黑" panose="020B0503020204020204" charset="-122"/>
                  <a:sym typeface="+mn-ea"/>
                </a:rPr>
                <a:t>大中小屏融合拉通，实现一屏通看、通管、通办</a:t>
              </a:r>
              <a:r>
                <a:rPr lang="en-US" altLang="zh-CN" sz="1200" b="1" noProof="0">
                  <a:ln>
                    <a:noFill/>
                  </a:ln>
                  <a:solidFill>
                    <a:srgbClr val="0070C0"/>
                  </a:solidFill>
                  <a:effectLst/>
                  <a:uLnTx/>
                  <a:uFillTx/>
                  <a:latin typeface="微软雅黑" panose="020B0503020204020204" charset="-122"/>
                  <a:ea typeface="微软雅黑" panose="020B0503020204020204" charset="-122"/>
                  <a:sym typeface="+mn-ea"/>
                </a:rPr>
                <a:t>)</a:t>
              </a:r>
              <a:endParaRPr kumimoji="0" lang="en-US" altLang="zh-CN" sz="1200" b="1" i="0" u="none" strike="noStrike" kern="1200" cap="none" spc="0" normalizeH="0" baseline="0" noProof="0">
                <a:ln>
                  <a:noFill/>
                </a:ln>
                <a:solidFill>
                  <a:srgbClr val="0070C0"/>
                </a:solidFill>
                <a:effectLst/>
                <a:uLnTx/>
                <a:uFillTx/>
                <a:latin typeface="微软雅黑" panose="020B0503020204020204" charset="-122"/>
                <a:ea typeface="微软雅黑" panose="020B0503020204020204" charset="-122"/>
                <a:cs typeface="+mn-cs"/>
                <a:sym typeface="+mn-ea"/>
              </a:endParaRPr>
            </a:p>
          </p:txBody>
        </p:sp>
      </p:grpSp>
      <p:sp>
        <p:nvSpPr>
          <p:cNvPr id="598" name="矩形 597"/>
          <p:cNvSpPr/>
          <p:nvPr>
            <p:custDataLst>
              <p:tags r:id="rId68"/>
            </p:custDataLst>
          </p:nvPr>
        </p:nvSpPr>
        <p:spPr>
          <a:xfrm>
            <a:off x="199390" y="2931160"/>
            <a:ext cx="10814050" cy="352425"/>
          </a:xfrm>
          <a:prstGeom prst="rect">
            <a:avLst/>
          </a:prstGeom>
          <a:noFill/>
          <a:ln w="3175" cap="flat" cmpd="sng" algn="ctr">
            <a:solidFill>
              <a:schemeClr val="accent1">
                <a:shade val="50000"/>
              </a:schemeClr>
            </a:solidFill>
            <a:prstDash val="solid"/>
            <a:miter lim="800000"/>
          </a:ln>
          <a:effectLst/>
          <a:extLst>
            <a:ext uri="{909E8E84-426E-40DD-AFC4-6F175D3DCCD1}">
              <a14:hiddenFill xmlns:a14="http://schemas.microsoft.com/office/drawing/2010/main">
                <a:solidFill>
                  <a:srgbClr val="4874CB"/>
                </a:solidFill>
              </a14:hiddenFill>
            </a:ext>
          </a:ex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Arial" panose="020B0604020202020204" pitchFamily="34" charset="0"/>
              <a:ea typeface="微软雅黑" panose="020B0503020204020204" charset="-122"/>
              <a:cs typeface="+mn-cs"/>
            </a:endParaRPr>
          </a:p>
        </p:txBody>
      </p:sp>
      <p:sp>
        <p:nvSpPr>
          <p:cNvPr id="599" name="圆角矩形 598"/>
          <p:cNvSpPr/>
          <p:nvPr>
            <p:custDataLst>
              <p:tags r:id="rId69"/>
            </p:custDataLst>
          </p:nvPr>
        </p:nvSpPr>
        <p:spPr>
          <a:xfrm>
            <a:off x="856349" y="4642686"/>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地域属性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0" name="圆角矩形 599"/>
          <p:cNvSpPr/>
          <p:nvPr>
            <p:custDataLst>
              <p:tags r:id="rId70"/>
            </p:custDataLst>
          </p:nvPr>
        </p:nvSpPr>
        <p:spPr>
          <a:xfrm>
            <a:off x="856984" y="4768416"/>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家庭属性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1" name="圆角矩形 600"/>
          <p:cNvSpPr/>
          <p:nvPr>
            <p:custDataLst>
              <p:tags r:id="rId71"/>
            </p:custDataLst>
          </p:nvPr>
        </p:nvSpPr>
        <p:spPr>
          <a:xfrm>
            <a:off x="857619" y="4890971"/>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设备属性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2" name="圆角矩形 601"/>
          <p:cNvSpPr/>
          <p:nvPr>
            <p:custDataLst>
              <p:tags r:id="rId72"/>
            </p:custDataLst>
          </p:nvPr>
        </p:nvSpPr>
        <p:spPr>
          <a:xfrm>
            <a:off x="858254" y="5015431"/>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身份属性</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3" name="圆角矩形 602"/>
          <p:cNvSpPr/>
          <p:nvPr>
            <p:custDataLst>
              <p:tags r:id="rId73"/>
            </p:custDataLst>
          </p:nvPr>
        </p:nvSpPr>
        <p:spPr>
          <a:xfrm>
            <a:off x="861429" y="5132906"/>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500" dirty="0">
                <a:solidFill>
                  <a:schemeClr val="tx1">
                    <a:lumMod val="85000"/>
                    <a:lumOff val="15000"/>
                  </a:schemeClr>
                </a:solidFill>
                <a:latin typeface="微软雅黑" panose="020B0503020204020204" charset="-122"/>
                <a:ea typeface="微软雅黑" panose="020B0503020204020204" charset="-122"/>
                <a:sym typeface="+mn-ea"/>
              </a:rPr>
              <a:t>......</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4" name="圆角矩形 603"/>
          <p:cNvSpPr/>
          <p:nvPr>
            <p:custDataLst>
              <p:tags r:id="rId74"/>
            </p:custDataLst>
          </p:nvPr>
        </p:nvSpPr>
        <p:spPr>
          <a:xfrm>
            <a:off x="1344429" y="4642609"/>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通信行为</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5" name="圆角矩形 604"/>
          <p:cNvSpPr/>
          <p:nvPr>
            <p:custDataLst>
              <p:tags r:id="rId75"/>
            </p:custDataLst>
          </p:nvPr>
        </p:nvSpPr>
        <p:spPr>
          <a:xfrm>
            <a:off x="1344429" y="4770879"/>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互联网行为</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6" name="圆角矩形 605"/>
          <p:cNvSpPr/>
          <p:nvPr>
            <p:custDataLst>
              <p:tags r:id="rId76"/>
            </p:custDataLst>
          </p:nvPr>
        </p:nvSpPr>
        <p:spPr>
          <a:xfrm>
            <a:off x="1345064" y="4890894"/>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投诉行为</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7" name="圆角矩形 606"/>
          <p:cNvSpPr/>
          <p:nvPr>
            <p:custDataLst>
              <p:tags r:id="rId77"/>
            </p:custDataLst>
          </p:nvPr>
        </p:nvSpPr>
        <p:spPr>
          <a:xfrm>
            <a:off x="1344429" y="5017894"/>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渠道交互行为</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8" name="圆角矩形 607"/>
          <p:cNvSpPr/>
          <p:nvPr>
            <p:custDataLst>
              <p:tags r:id="rId78"/>
            </p:custDataLst>
          </p:nvPr>
        </p:nvSpPr>
        <p:spPr>
          <a:xfrm>
            <a:off x="1344664" y="5132906"/>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500" dirty="0">
                <a:solidFill>
                  <a:schemeClr val="tx1">
                    <a:lumMod val="85000"/>
                    <a:lumOff val="15000"/>
                  </a:schemeClr>
                </a:solidFill>
                <a:latin typeface="微软雅黑" panose="020B0503020204020204" charset="-122"/>
                <a:ea typeface="微软雅黑" panose="020B0503020204020204" charset="-122"/>
                <a:sym typeface="+mn-ea"/>
              </a:rPr>
              <a:t>......</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09" name="圆角矩形 608"/>
          <p:cNvSpPr/>
          <p:nvPr>
            <p:custDataLst>
              <p:tags r:id="rId79"/>
            </p:custDataLst>
          </p:nvPr>
        </p:nvSpPr>
        <p:spPr>
          <a:xfrm>
            <a:off x="2280419" y="4524576"/>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产品偏好</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10" name="圆角矩形 609"/>
          <p:cNvSpPr/>
          <p:nvPr>
            <p:custDataLst>
              <p:tags r:id="rId80"/>
            </p:custDataLst>
          </p:nvPr>
        </p:nvSpPr>
        <p:spPr>
          <a:xfrm>
            <a:off x="2280419" y="4626176"/>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渠道偏好</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11" name="圆角矩形 610"/>
          <p:cNvSpPr/>
          <p:nvPr>
            <p:custDataLst>
              <p:tags r:id="rId81"/>
            </p:custDataLst>
          </p:nvPr>
        </p:nvSpPr>
        <p:spPr>
          <a:xfrm>
            <a:off x="2280419" y="4726506"/>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时间偏好</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12" name="圆角矩形 611"/>
          <p:cNvSpPr/>
          <p:nvPr>
            <p:custDataLst>
              <p:tags r:id="rId82"/>
            </p:custDataLst>
          </p:nvPr>
        </p:nvSpPr>
        <p:spPr>
          <a:xfrm>
            <a:off x="2279149" y="4823026"/>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终端偏好</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13" name="圆角矩形 612"/>
          <p:cNvSpPr/>
          <p:nvPr>
            <p:custDataLst>
              <p:tags r:id="rId83"/>
            </p:custDataLst>
          </p:nvPr>
        </p:nvSpPr>
        <p:spPr>
          <a:xfrm>
            <a:off x="2279149" y="4918911"/>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内容偏好</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14" name="圆角矩形 613"/>
          <p:cNvSpPr/>
          <p:nvPr>
            <p:custDataLst>
              <p:tags r:id="rId84"/>
            </p:custDataLst>
          </p:nvPr>
        </p:nvSpPr>
        <p:spPr>
          <a:xfrm>
            <a:off x="2281054" y="5024956"/>
            <a:ext cx="430924" cy="81289"/>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zh-CN" altLang="en-US" sz="500" dirty="0">
                <a:solidFill>
                  <a:schemeClr val="tx1">
                    <a:lumMod val="85000"/>
                    <a:lumOff val="15000"/>
                  </a:schemeClr>
                </a:solidFill>
                <a:latin typeface="微软雅黑" panose="020B0503020204020204" charset="-122"/>
                <a:ea typeface="微软雅黑" panose="020B0503020204020204" charset="-122"/>
                <a:sym typeface="+mn-ea"/>
              </a:rPr>
              <a:t>位置偏好</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615" name="圆角矩形 614"/>
          <p:cNvSpPr/>
          <p:nvPr>
            <p:custDataLst>
              <p:tags r:id="rId85"/>
            </p:custDataLst>
          </p:nvPr>
        </p:nvSpPr>
        <p:spPr>
          <a:xfrm>
            <a:off x="2278749" y="5125286"/>
            <a:ext cx="430924" cy="83752"/>
          </a:xfrm>
          <a:prstGeom prst="roundRect">
            <a:avLst/>
          </a:prstGeom>
          <a:solidFill>
            <a:schemeClr val="bg1"/>
          </a:solidFill>
          <a:ln w="6350">
            <a:solidFill>
              <a:schemeClr val="accent1">
                <a:lumMod val="50000"/>
              </a:schemeClr>
            </a:solidFill>
          </a:ln>
        </p:spPr>
        <p:style>
          <a:lnRef idx="0">
            <a:srgbClr val="FFFFFF"/>
          </a:lnRef>
          <a:fillRef idx="2">
            <a:schemeClr val="accent1"/>
          </a:fillRef>
          <a:effectRef idx="1">
            <a:schemeClr val="accent1"/>
          </a:effectRef>
          <a:fontRef idx="minor">
            <a:schemeClr val="lt1"/>
          </a:fontRef>
        </p:style>
        <p:txBody>
          <a:bodyPr vertOverflow="overflow" horzOverflow="overflow" vert="horz" wrap="square" lIns="0" tIns="36195" rIns="0" bIns="36195" numCol="1" spcCol="0" rtlCol="0" fromWordArt="0" anchor="ctr" anchorCtr="0" forceAA="0" compatLnSpc="1">
            <a:noAutofit/>
          </a:bodyPr>
          <a:p>
            <a:pPr lvl="0" algn="ctr">
              <a:buClrTx/>
              <a:buSzTx/>
              <a:buFontTx/>
            </a:pPr>
            <a:r>
              <a:rPr lang="en-US" altLang="zh-CN" sz="500" dirty="0">
                <a:solidFill>
                  <a:schemeClr val="tx1">
                    <a:lumMod val="85000"/>
                    <a:lumOff val="15000"/>
                  </a:schemeClr>
                </a:solidFill>
                <a:latin typeface="微软雅黑" panose="020B0503020204020204" charset="-122"/>
                <a:ea typeface="微软雅黑" panose="020B0503020204020204" charset="-122"/>
                <a:sym typeface="+mn-ea"/>
              </a:rPr>
              <a:t>......</a:t>
            </a:r>
            <a:endParaRPr lang="zh-CN" altLang="en-US" sz="500" dirty="0">
              <a:solidFill>
                <a:schemeClr val="tx1">
                  <a:lumMod val="85000"/>
                  <a:lumOff val="15000"/>
                </a:schemeClr>
              </a:solidFill>
              <a:latin typeface="微软雅黑" panose="020B0503020204020204" charset="-122"/>
              <a:ea typeface="微软雅黑" panose="020B0503020204020204" charset="-122"/>
              <a:sym typeface="+mn-ea"/>
            </a:endParaRPr>
          </a:p>
        </p:txBody>
      </p:sp>
      <p:cxnSp>
        <p:nvCxnSpPr>
          <p:cNvPr id="616" name="直接连接符 615"/>
          <p:cNvCxnSpPr/>
          <p:nvPr>
            <p:custDataLst>
              <p:tags r:id="rId86"/>
            </p:custDataLst>
          </p:nvPr>
        </p:nvCxnSpPr>
        <p:spPr>
          <a:xfrm flipH="1">
            <a:off x="3045297" y="4042477"/>
            <a:ext cx="2717" cy="953788"/>
          </a:xfrm>
          <a:prstGeom prst="line">
            <a:avLst/>
          </a:prstGeom>
          <a:ln w="12700">
            <a:solidFill>
              <a:schemeClr val="accent1">
                <a:lumMod val="50000"/>
              </a:schemeClr>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617" name="矩形 616"/>
          <p:cNvSpPr/>
          <p:nvPr>
            <p:custDataLst>
              <p:tags r:id="rId87"/>
            </p:custDataLst>
          </p:nvPr>
        </p:nvSpPr>
        <p:spPr>
          <a:xfrm>
            <a:off x="2998606" y="4246626"/>
            <a:ext cx="185303" cy="561139"/>
          </a:xfrm>
          <a:prstGeom prst="rect">
            <a:avLst/>
          </a:prstGeom>
        </p:spPr>
        <p:txBody>
          <a:bodyPr wrap="square">
            <a:no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居住空间</a:t>
            </a:r>
            <a:endParaRPr lang="zh-CN" altLang="en-US" sz="5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618" name="矩形 617"/>
          <p:cNvSpPr/>
          <p:nvPr>
            <p:custDataLst>
              <p:tags r:id="rId88"/>
            </p:custDataLst>
          </p:nvPr>
        </p:nvSpPr>
        <p:spPr>
          <a:xfrm>
            <a:off x="506863" y="5162245"/>
            <a:ext cx="270618" cy="145827"/>
          </a:xfrm>
          <a:prstGeom prst="rect">
            <a:avLst/>
          </a:prstGeom>
          <a:scene3d>
            <a:camera prst="orthographicFront">
              <a:rot lat="0" lon="0" rev="0"/>
            </a:camera>
            <a:lightRig rig="threePt" dir="t"/>
          </a:scene3d>
          <a:sp3d/>
        </p:spPr>
        <p:txBody>
          <a:bodyPr wrap="square" lIns="0" tIns="36195" rIns="0" bIns="36195">
            <a:noAutofit/>
            <a:scene3d>
              <a:camera prst="orthographicFront">
                <a:rot lat="0" lon="3600000" rev="0"/>
              </a:camera>
              <a:lightRig rig="threePt" dir="t"/>
            </a:scene3d>
          </a:bodyPr>
          <a:p>
            <a:pPr marL="0" marR="0" lvl="0" indent="0" algn="just" defTabSz="914400" rtl="0" eaLnBrk="1" fontAlgn="base" latinLnBrk="0" hangingPunct="1">
              <a:lnSpc>
                <a:spcPct val="100000"/>
              </a:lnSpc>
              <a:spcBef>
                <a:spcPct val="0"/>
              </a:spcBef>
              <a:spcAft>
                <a:spcPct val="0"/>
              </a:spcAft>
              <a:buClrTx/>
              <a:buSzTx/>
              <a:buFontTx/>
              <a:buNone/>
              <a:defRPr/>
            </a:pPr>
            <a:r>
              <a:rPr lang="en-US" altLang="zh-CN"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rPr>
              <a:t>......</a:t>
            </a:r>
            <a:endParaRPr lang="en-US" altLang="zh-CN" sz="600" i="0" u="none" strike="noStrike"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3" name="矩形 2"/>
          <p:cNvSpPr/>
          <p:nvPr/>
        </p:nvSpPr>
        <p:spPr>
          <a:xfrm>
            <a:off x="227965" y="852805"/>
            <a:ext cx="11446510" cy="715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marL="306070" lvl="0" indent="-306070" algn="l" defTabSz="914400" eaLnBrk="0">
              <a:lnSpc>
                <a:spcPct val="109000"/>
              </a:lnSpc>
              <a:spcBef>
                <a:spcPts val="0"/>
              </a:spcBef>
              <a:spcAft>
                <a:spcPts val="0"/>
              </a:spcAft>
              <a:buClr>
                <a:srgbClr val="0070BF"/>
              </a:buClr>
              <a:buSzTx/>
              <a:buFont typeface="Wingdings" panose="05000000000000000000" charset="0"/>
              <a:buChar char="n"/>
              <a:tabLst>
                <a:tab pos="356235" algn="l"/>
              </a:tabLst>
              <a:defRPr/>
            </a:pPr>
            <a:r>
              <a:rPr kumimoji="1" lang="zh-CN" altLang="en-US" sz="1400" b="1" noProof="0" dirty="0">
                <a:solidFill>
                  <a:srgbClr val="000000">
                    <a:alpha val="100000"/>
                  </a:srgbClr>
                </a:solidFill>
                <a:ea typeface="+mn-lt"/>
                <a:cs typeface="+mn-lt"/>
                <a:sym typeface="+mn-ea"/>
              </a:rPr>
              <a:t>按照公司数智化转型总体要求，构建全生命周期数据平台、AI智慧大脑2个支撑底座，收敛3屏联动的市场运营工作前台，聚焦4大关键融合运营能力，落地到6大要素，支撑各细分运营场景，实现存增一体客户全生命周期精准运营</a:t>
            </a:r>
            <a:endParaRPr kumimoji="1" lang="zh-CN" altLang="en-US" sz="1400" b="1" noProof="0" dirty="0">
              <a:solidFill>
                <a:srgbClr val="000000">
                  <a:alpha val="100000"/>
                </a:srgbClr>
              </a:solidFill>
              <a:ea typeface="+mn-lt"/>
              <a:cs typeface="+mn-lt"/>
              <a:sym typeface="+mn-ea"/>
            </a:endParaRPr>
          </a:p>
        </p:txBody>
      </p:sp>
      <p:sp>
        <p:nvSpPr>
          <p:cNvPr id="4" name="文本框 3"/>
          <p:cNvSpPr txBox="1"/>
          <p:nvPr/>
        </p:nvSpPr>
        <p:spPr>
          <a:xfrm>
            <a:off x="9155430" y="2293620"/>
            <a:ext cx="2975610" cy="276860"/>
          </a:xfrm>
          <a:prstGeom prst="rect">
            <a:avLst/>
          </a:prstGeom>
          <a:noFill/>
        </p:spPr>
        <p:txBody>
          <a:bodyPr wrap="square" rtlCol="0" anchor="t">
            <a:noAutofit/>
          </a:bodyPr>
          <a:p>
            <a:pPr algn="l"/>
            <a:endParaRPr kumimoji="1" lang="zh-CN" altLang="en-US" sz="1000" dirty="0" smtClean="0">
              <a:latin typeface="微软雅黑" panose="020B0503020204020204" charset="-122"/>
              <a:ea typeface="微软雅黑" panose="020B0503020204020204" charset="-122"/>
            </a:endParaRPr>
          </a:p>
        </p:txBody>
      </p:sp>
      <p:grpSp>
        <p:nvGrpSpPr>
          <p:cNvPr id="24" name="组合 23"/>
          <p:cNvGrpSpPr/>
          <p:nvPr/>
        </p:nvGrpSpPr>
        <p:grpSpPr>
          <a:xfrm>
            <a:off x="4880610" y="4505325"/>
            <a:ext cx="6007100" cy="802005"/>
            <a:chOff x="7686" y="7095"/>
            <a:chExt cx="9460" cy="1263"/>
          </a:xfrm>
        </p:grpSpPr>
        <p:cxnSp>
          <p:nvCxnSpPr>
            <p:cNvPr id="14" name="直接连接符 13"/>
            <p:cNvCxnSpPr/>
            <p:nvPr/>
          </p:nvCxnSpPr>
          <p:spPr>
            <a:xfrm>
              <a:off x="7686" y="8355"/>
              <a:ext cx="9426" cy="0"/>
            </a:xfrm>
            <a:prstGeom prst="line">
              <a:avLst/>
            </a:prstGeom>
          </p:spPr>
          <p:style>
            <a:lnRef idx="3">
              <a:schemeClr val="accent1"/>
            </a:lnRef>
            <a:fillRef idx="0">
              <a:srgbClr val="FFFFFF"/>
            </a:fillRef>
            <a:effectRef idx="0">
              <a:srgbClr val="FFFFFF"/>
            </a:effectRef>
            <a:fontRef idx="minor">
              <a:schemeClr val="tx1"/>
            </a:fontRef>
          </p:style>
        </p:cxnSp>
        <p:cxnSp>
          <p:nvCxnSpPr>
            <p:cNvPr id="16" name="直接连接符 15"/>
            <p:cNvCxnSpPr/>
            <p:nvPr/>
          </p:nvCxnSpPr>
          <p:spPr>
            <a:xfrm flipV="1">
              <a:off x="17105" y="7110"/>
              <a:ext cx="0" cy="1248"/>
            </a:xfrm>
            <a:prstGeom prst="line">
              <a:avLst/>
            </a:prstGeom>
          </p:spPr>
          <p:style>
            <a:lnRef idx="3">
              <a:schemeClr val="accent1"/>
            </a:lnRef>
            <a:fillRef idx="0">
              <a:srgbClr val="FFFFFF"/>
            </a:fillRef>
            <a:effectRef idx="0">
              <a:srgbClr val="FFFFFF"/>
            </a:effectRef>
            <a:fontRef idx="minor">
              <a:schemeClr val="tx1"/>
            </a:fontRef>
          </p:style>
        </p:cxnSp>
        <p:cxnSp>
          <p:nvCxnSpPr>
            <p:cNvPr id="18" name="直接连接符 17"/>
            <p:cNvCxnSpPr/>
            <p:nvPr/>
          </p:nvCxnSpPr>
          <p:spPr>
            <a:xfrm flipV="1">
              <a:off x="7689" y="7095"/>
              <a:ext cx="0" cy="1249"/>
            </a:xfrm>
            <a:prstGeom prst="line">
              <a:avLst/>
            </a:prstGeom>
          </p:spPr>
          <p:style>
            <a:lnRef idx="3">
              <a:schemeClr val="accent1"/>
            </a:lnRef>
            <a:fillRef idx="0">
              <a:srgbClr val="FFFFFF"/>
            </a:fillRef>
            <a:effectRef idx="0">
              <a:srgbClr val="FFFFFF"/>
            </a:effectRef>
            <a:fontRef idx="minor">
              <a:schemeClr val="tx1"/>
            </a:fontRef>
          </p:style>
        </p:cxnSp>
        <p:cxnSp>
          <p:nvCxnSpPr>
            <p:cNvPr id="22" name="直接箭头连接符 21"/>
            <p:cNvCxnSpPr/>
            <p:nvPr/>
          </p:nvCxnSpPr>
          <p:spPr>
            <a:xfrm flipV="1">
              <a:off x="16908" y="7100"/>
              <a:ext cx="238" cy="1"/>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23" name="直接箭头连接符 22"/>
            <p:cNvCxnSpPr/>
            <p:nvPr/>
          </p:nvCxnSpPr>
          <p:spPr>
            <a:xfrm flipV="1">
              <a:off x="7694" y="7114"/>
              <a:ext cx="238" cy="1"/>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grpSp>
      <p:sp>
        <p:nvSpPr>
          <p:cNvPr id="25" name="文本框 24"/>
          <p:cNvSpPr txBox="1"/>
          <p:nvPr/>
        </p:nvSpPr>
        <p:spPr>
          <a:xfrm>
            <a:off x="7388225" y="5150485"/>
            <a:ext cx="1110615" cy="182245"/>
          </a:xfrm>
          <a:prstGeom prst="rect">
            <a:avLst/>
          </a:prstGeom>
          <a:solidFill>
            <a:schemeClr val="bg1"/>
          </a:solidFill>
        </p:spPr>
        <p:txBody>
          <a:bodyPr wrap="square" rtlCol="0">
            <a:noAutofit/>
          </a:bodyPr>
          <a:p>
            <a:pPr algn="ctr"/>
            <a:r>
              <a:rPr kumimoji="1" lang="zh-CN" altLang="en-US" sz="1200" b="1" dirty="0" smtClean="0">
                <a:solidFill>
                  <a:schemeClr val="tx1"/>
                </a:solidFill>
                <a:latin typeface="微软雅黑" panose="020B0503020204020204" charset="-122"/>
                <a:ea typeface="微软雅黑" panose="020B0503020204020204" charset="-122"/>
              </a:rPr>
              <a:t>评估</a:t>
            </a:r>
            <a:r>
              <a:rPr kumimoji="1" lang="zh-CN" altLang="en-US" sz="1200" b="1" dirty="0" smtClean="0">
                <a:solidFill>
                  <a:schemeClr val="tx1"/>
                </a:solidFill>
                <a:latin typeface="微软雅黑" panose="020B0503020204020204" charset="-122"/>
                <a:ea typeface="微软雅黑" panose="020B0503020204020204" charset="-122"/>
              </a:rPr>
              <a:t>优化</a:t>
            </a:r>
            <a:endParaRPr kumimoji="1" lang="zh-CN" altLang="en-US" sz="1200" b="1" dirty="0" smtClean="0">
              <a:solidFill>
                <a:schemeClr val="tx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rot="5400000">
            <a:off x="9845833" y="2823609"/>
            <a:ext cx="3270447" cy="830997"/>
          </a:xfrm>
          <a:prstGeom prst="rect">
            <a:avLst/>
          </a:prstGeom>
          <a:noFill/>
        </p:spPr>
        <p:txBody>
          <a:bodyPr wrap="none" rtlCol="0">
            <a:spAutoFit/>
          </a:bodyPr>
          <a:lstStyle/>
          <a:p>
            <a:pPr algn="r" defTabSz="914400">
              <a:defRPr/>
            </a:pPr>
            <a:r>
              <a:rPr kumimoji="1" lang="en-US" altLang="zh-CN" sz="4800" b="1" dirty="0">
                <a:solidFill>
                  <a:srgbClr val="44546A">
                    <a:lumMod val="20000"/>
                    <a:lumOff val="80000"/>
                    <a:alpha val="25000"/>
                  </a:srgbClr>
                </a:solidFill>
                <a:latin typeface="微软雅黑" panose="020B0503020204020204" charset="-122"/>
                <a:ea typeface="微软雅黑" panose="020B0503020204020204" charset="-122"/>
                <a:cs typeface="Arial Black" panose="020B0A04020102020204" charset="0"/>
              </a:rPr>
              <a:t>CONTENT</a:t>
            </a:r>
            <a:endParaRPr kumimoji="1" lang="en-US" altLang="zh-CN" sz="4800" b="1" dirty="0">
              <a:solidFill>
                <a:srgbClr val="44546A">
                  <a:lumMod val="20000"/>
                  <a:lumOff val="80000"/>
                  <a:alpha val="25000"/>
                </a:srgbClr>
              </a:solidFill>
              <a:latin typeface="微软雅黑" panose="020B0503020204020204" charset="-122"/>
              <a:ea typeface="微软雅黑" panose="020B0503020204020204" charset="-122"/>
              <a:cs typeface="Arial Black" panose="020B0A04020102020204" charset="0"/>
            </a:endParaRPr>
          </a:p>
        </p:txBody>
      </p:sp>
      <p:sp>
        <p:nvSpPr>
          <p:cNvPr id="23" name="文本框 22"/>
          <p:cNvSpPr txBox="1"/>
          <p:nvPr/>
        </p:nvSpPr>
        <p:spPr>
          <a:xfrm>
            <a:off x="10592694" y="2454247"/>
            <a:ext cx="824743" cy="1569660"/>
          </a:xfrm>
          <a:prstGeom prst="rect">
            <a:avLst/>
          </a:prstGeom>
          <a:noFill/>
        </p:spPr>
        <p:txBody>
          <a:bodyPr wrap="square" rtlCol="0">
            <a:spAutoFit/>
          </a:bodyPr>
          <a:lstStyle/>
          <a:p>
            <a:pPr algn="r" defTabSz="914400">
              <a:defRPr/>
            </a:pPr>
            <a:r>
              <a:rPr kumimoji="1" lang="zh-CN" altLang="en-US" sz="4800" b="1" dirty="0">
                <a:solidFill>
                  <a:srgbClr val="0B85CF"/>
                </a:solidFill>
                <a:latin typeface="微软雅黑" panose="020B0503020204020204" charset="-122"/>
                <a:ea typeface="微软雅黑" panose="020B0503020204020204" charset="-122"/>
              </a:rPr>
              <a:t>目录</a:t>
            </a:r>
            <a:endParaRPr kumimoji="1" lang="zh-CN" altLang="en-US" sz="4800" b="1" dirty="0">
              <a:solidFill>
                <a:srgbClr val="0B85CF"/>
              </a:solidFill>
              <a:latin typeface="微软雅黑" panose="020B0503020204020204" charset="-122"/>
              <a:ea typeface="微软雅黑" panose="020B0503020204020204" charset="-122"/>
            </a:endParaRPr>
          </a:p>
        </p:txBody>
      </p:sp>
      <p:sp>
        <p:nvSpPr>
          <p:cNvPr id="37" name="文本框 36"/>
          <p:cNvSpPr txBox="1"/>
          <p:nvPr/>
        </p:nvSpPr>
        <p:spPr>
          <a:xfrm rot="5400000">
            <a:off x="-1260000" y="2577417"/>
            <a:ext cx="5325497" cy="1323439"/>
          </a:xfrm>
          <a:prstGeom prst="rect">
            <a:avLst/>
          </a:prstGeom>
          <a:noFill/>
        </p:spPr>
        <p:txBody>
          <a:bodyPr wrap="none" rtlCol="0">
            <a:spAutoFit/>
          </a:bodyPr>
          <a:lstStyle/>
          <a:p>
            <a:pPr algn="r" defTabSz="914400">
              <a:defRPr/>
            </a:pPr>
            <a:r>
              <a:rPr kumimoji="1" lang="en-US" altLang="zh-CN" sz="8000" b="1" dirty="0">
                <a:gradFill>
                  <a:gsLst>
                    <a:gs pos="0">
                      <a:srgbClr val="44546A">
                        <a:lumMod val="60000"/>
                        <a:lumOff val="40000"/>
                        <a:alpha val="10000"/>
                      </a:srgbClr>
                    </a:gs>
                    <a:gs pos="100000">
                      <a:srgbClr val="44546A">
                        <a:lumMod val="60000"/>
                        <a:lumOff val="40000"/>
                        <a:alpha val="20000"/>
                      </a:srgbClr>
                    </a:gs>
                  </a:gsLst>
                  <a:lin ang="16200000" scaled="0"/>
                </a:gradFill>
                <a:latin typeface="微软雅黑" panose="020B0503020204020204" charset="-122"/>
                <a:ea typeface="微软雅黑" panose="020B0503020204020204" charset="-122"/>
                <a:cs typeface="Arial Black" panose="020B0A04020102020204" charset="0"/>
              </a:rPr>
              <a:t>CONTENT</a:t>
            </a:r>
            <a:endParaRPr kumimoji="1" lang="en-US" altLang="zh-CN" sz="8000" b="1" dirty="0">
              <a:gradFill>
                <a:gsLst>
                  <a:gs pos="0">
                    <a:srgbClr val="44546A">
                      <a:lumMod val="60000"/>
                      <a:lumOff val="40000"/>
                      <a:alpha val="10000"/>
                    </a:srgbClr>
                  </a:gs>
                  <a:gs pos="100000">
                    <a:srgbClr val="44546A">
                      <a:lumMod val="60000"/>
                      <a:lumOff val="40000"/>
                      <a:alpha val="20000"/>
                    </a:srgbClr>
                  </a:gs>
                </a:gsLst>
                <a:lin ang="16200000" scaled="0"/>
              </a:gradFill>
              <a:latin typeface="微软雅黑" panose="020B0503020204020204" charset="-122"/>
              <a:ea typeface="微软雅黑" panose="020B0503020204020204" charset="-122"/>
              <a:cs typeface="Arial Black" panose="020B0A04020102020204" charset="0"/>
            </a:endParaRPr>
          </a:p>
        </p:txBody>
      </p:sp>
      <p:grpSp>
        <p:nvGrpSpPr>
          <p:cNvPr id="2" name="组合 1"/>
          <p:cNvGrpSpPr/>
          <p:nvPr/>
        </p:nvGrpSpPr>
        <p:grpSpPr>
          <a:xfrm>
            <a:off x="2400300" y="995045"/>
            <a:ext cx="6866890" cy="4827270"/>
            <a:chOff x="3780" y="768"/>
            <a:chExt cx="10814" cy="7602"/>
          </a:xfrm>
        </p:grpSpPr>
        <p:grpSp>
          <p:nvGrpSpPr>
            <p:cNvPr id="24" name="组合 23"/>
            <p:cNvGrpSpPr/>
            <p:nvPr/>
          </p:nvGrpSpPr>
          <p:grpSpPr>
            <a:xfrm>
              <a:off x="5674" y="768"/>
              <a:ext cx="8921" cy="1822"/>
              <a:chOff x="4074" y="1285"/>
              <a:chExt cx="8921" cy="1822"/>
            </a:xfrm>
          </p:grpSpPr>
          <p:sp>
            <p:nvSpPr>
              <p:cNvPr id="25" name="文本框 24"/>
              <p:cNvSpPr txBox="1"/>
              <p:nvPr/>
            </p:nvSpPr>
            <p:spPr>
              <a:xfrm>
                <a:off x="4074" y="1285"/>
                <a:ext cx="1089" cy="1696"/>
              </a:xfrm>
              <a:prstGeom prst="rect">
                <a:avLst/>
              </a:prstGeom>
              <a:noFill/>
            </p:spPr>
            <p:txBody>
              <a:bodyPr wrap="none" rtlCol="0">
                <a:spAutoFit/>
              </a:bodyPr>
              <a:lstStyle/>
              <a:p>
                <a:pPr algn="ctr" defTabSz="914400">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微软雅黑" panose="020B0503020204020204" charset="-122"/>
                    <a:ea typeface="微软雅黑" panose="020B0503020204020204" charset="-122"/>
                    <a:cs typeface="Arial Black" panose="020B0A04020102020204" charset="0"/>
                    <a:sym typeface="+mn-ea"/>
                  </a:rPr>
                  <a:t>1</a:t>
                </a:r>
                <a:endPar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微软雅黑" panose="020B0503020204020204" charset="-122"/>
                  <a:ea typeface="微软雅黑" panose="020B0503020204020204" charset="-122"/>
                  <a:cs typeface="Arial Black" panose="020B0A04020102020204" charset="0"/>
                  <a:sym typeface="+mn-ea"/>
                </a:endParaRPr>
              </a:p>
            </p:txBody>
          </p:sp>
          <p:sp>
            <p:nvSpPr>
              <p:cNvPr id="26" name="直角三角形 25"/>
              <p:cNvSpPr/>
              <p:nvPr/>
            </p:nvSpPr>
            <p:spPr>
              <a:xfrm flipH="1">
                <a:off x="4084" y="1462"/>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sp>
            <p:nvSpPr>
              <p:cNvPr id="27" name="文本框 26"/>
              <p:cNvSpPr txBox="1"/>
              <p:nvPr/>
            </p:nvSpPr>
            <p:spPr>
              <a:xfrm>
                <a:off x="5507" y="1912"/>
                <a:ext cx="7488" cy="725"/>
              </a:xfrm>
              <a:prstGeom prst="rect">
                <a:avLst/>
              </a:prstGeom>
              <a:noFill/>
            </p:spPr>
            <p:txBody>
              <a:bodyPr wrap="none" rtlCol="0">
                <a:spAutoFit/>
              </a:bodyPr>
              <a:lstStyle/>
              <a:p>
                <a:pPr algn="l" defTabSz="914400">
                  <a:buClrTx/>
                  <a:buSzTx/>
                  <a:buFontTx/>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ea"/>
                  </a:rPr>
                  <a:t>破冰：为什么我们需要这个平台？</a:t>
                </a:r>
                <a:endPar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ea"/>
                </a:endParaRPr>
              </a:p>
            </p:txBody>
          </p:sp>
        </p:grpSp>
        <p:grpSp>
          <p:nvGrpSpPr>
            <p:cNvPr id="28" name="组合 27"/>
            <p:cNvGrpSpPr/>
            <p:nvPr/>
          </p:nvGrpSpPr>
          <p:grpSpPr>
            <a:xfrm>
              <a:off x="5612" y="4737"/>
              <a:ext cx="8474" cy="1822"/>
              <a:chOff x="4012" y="5537"/>
              <a:chExt cx="8474" cy="1822"/>
            </a:xfrm>
          </p:grpSpPr>
          <p:sp>
            <p:nvSpPr>
              <p:cNvPr id="29" name="文本框 28"/>
              <p:cNvSpPr txBox="1"/>
              <p:nvPr/>
            </p:nvSpPr>
            <p:spPr>
              <a:xfrm>
                <a:off x="4012" y="5537"/>
                <a:ext cx="1154" cy="1696"/>
              </a:xfrm>
              <a:prstGeom prst="rect">
                <a:avLst/>
              </a:prstGeom>
              <a:noFill/>
            </p:spPr>
            <p:txBody>
              <a:bodyPr wrap="none" rtlCol="0">
                <a:spAutoFit/>
              </a:bodyPr>
              <a:lstStyle/>
              <a:p>
                <a:pPr algn="ctr" defTabSz="914400">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rPr>
                  <a:t>3</a:t>
                </a:r>
                <a:endPar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endParaRPr>
              </a:p>
            </p:txBody>
          </p:sp>
          <p:sp>
            <p:nvSpPr>
              <p:cNvPr id="30" name="直角三角形 29"/>
              <p:cNvSpPr/>
              <p:nvPr/>
            </p:nvSpPr>
            <p:spPr>
              <a:xfrm flipH="1">
                <a:off x="4055" y="5714"/>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sp>
            <p:nvSpPr>
              <p:cNvPr id="31" name="文本框 30"/>
              <p:cNvSpPr txBox="1"/>
              <p:nvPr/>
            </p:nvSpPr>
            <p:spPr>
              <a:xfrm>
                <a:off x="5478" y="6164"/>
                <a:ext cx="7008" cy="725"/>
              </a:xfrm>
              <a:prstGeom prst="rect">
                <a:avLst/>
              </a:prstGeom>
              <a:noFill/>
            </p:spPr>
            <p:txBody>
              <a:bodyPr wrap="none" rtlCol="0">
                <a:spAutoFit/>
              </a:bodyPr>
              <a:lstStyle/>
              <a:p>
                <a:pPr algn="l" defTabSz="914400">
                  <a:buClrTx/>
                  <a:buSzTx/>
                  <a:buFontTx/>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详解：平台具体提供哪些能力？</a:t>
                </a:r>
                <a:endPar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endParaRPr>
              </a:p>
            </p:txBody>
          </p:sp>
        </p:grpSp>
        <p:grpSp>
          <p:nvGrpSpPr>
            <p:cNvPr id="32" name="组合 31"/>
            <p:cNvGrpSpPr/>
            <p:nvPr/>
          </p:nvGrpSpPr>
          <p:grpSpPr>
            <a:xfrm>
              <a:off x="3780" y="2767"/>
              <a:ext cx="10112" cy="2012"/>
              <a:chOff x="1630" y="3651"/>
              <a:chExt cx="10112" cy="2012"/>
            </a:xfrm>
          </p:grpSpPr>
          <p:sp>
            <p:nvSpPr>
              <p:cNvPr id="33" name="文本框 32"/>
              <p:cNvSpPr txBox="1"/>
              <p:nvPr/>
            </p:nvSpPr>
            <p:spPr>
              <a:xfrm>
                <a:off x="1630" y="3651"/>
                <a:ext cx="1187" cy="1890"/>
              </a:xfrm>
              <a:prstGeom prst="rect">
                <a:avLst/>
              </a:prstGeom>
              <a:noFill/>
            </p:spPr>
            <p:txBody>
              <a:bodyPr wrap="none" rtlCol="0">
                <a:spAutoFit/>
              </a:bodyPr>
              <a:lstStyle/>
              <a:p>
                <a:pPr algn="ctr" defTabSz="914400">
                  <a:defRPr/>
                </a:pPr>
                <a:r>
                  <a:rPr kumimoji="1" lang="en-US" altLang="zh-CN" sz="7200" b="1" dirty="0">
                    <a:gradFill>
                      <a:gsLst>
                        <a:gs pos="0">
                          <a:srgbClr val="00B0F0"/>
                        </a:gs>
                        <a:gs pos="59000">
                          <a:srgbClr val="0070BF"/>
                        </a:gs>
                      </a:gsLst>
                      <a:lin ang="12300000" scaled="0"/>
                    </a:gradFill>
                    <a:latin typeface="微软雅黑" panose="020B0503020204020204" charset="-122"/>
                    <a:ea typeface="微软雅黑" panose="020B0503020204020204" charset="-122"/>
                    <a:cs typeface="Arial Black" panose="020B0A04020102020204" charset="0"/>
                  </a:rPr>
                  <a:t>2</a:t>
                </a:r>
                <a:endParaRPr kumimoji="1" lang="en-US" altLang="zh-CN" sz="7200" b="1" dirty="0">
                  <a:gradFill>
                    <a:gsLst>
                      <a:gs pos="0">
                        <a:srgbClr val="00B0F0"/>
                      </a:gs>
                      <a:gs pos="59000">
                        <a:srgbClr val="0070BF"/>
                      </a:gs>
                    </a:gsLst>
                    <a:lin ang="12300000" scaled="0"/>
                  </a:gradFill>
                  <a:latin typeface="微软雅黑" panose="020B0503020204020204" charset="-122"/>
                  <a:ea typeface="微软雅黑" panose="020B0503020204020204" charset="-122"/>
                  <a:cs typeface="Arial Black" panose="020B0A04020102020204" charset="0"/>
                </a:endParaRPr>
              </a:p>
            </p:txBody>
          </p:sp>
          <p:sp>
            <p:nvSpPr>
              <p:cNvPr id="34" name="直角三角形 33"/>
              <p:cNvSpPr/>
              <p:nvPr/>
            </p:nvSpPr>
            <p:spPr>
              <a:xfrm flipH="1">
                <a:off x="1733" y="4001"/>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sp>
            <p:nvSpPr>
              <p:cNvPr id="35" name="任意多边形 23"/>
              <p:cNvSpPr/>
              <p:nvPr/>
            </p:nvSpPr>
            <p:spPr>
              <a:xfrm>
                <a:off x="2388" y="4190"/>
                <a:ext cx="9354" cy="1473"/>
              </a:xfrm>
              <a:custGeom>
                <a:avLst/>
                <a:gdLst>
                  <a:gd name="connsiteX0" fmla="*/ 1490 w 12083"/>
                  <a:gd name="connsiteY0" fmla="*/ 0 h 1473"/>
                  <a:gd name="connsiteX1" fmla="*/ 12083 w 12083"/>
                  <a:gd name="connsiteY1" fmla="*/ 0 h 1473"/>
                  <a:gd name="connsiteX2" fmla="*/ 12083 w 12083"/>
                  <a:gd name="connsiteY2" fmla="*/ 1454 h 1473"/>
                  <a:gd name="connsiteX3" fmla="*/ 0 w 12083"/>
                  <a:gd name="connsiteY3" fmla="*/ 1473 h 1473"/>
                  <a:gd name="connsiteX4" fmla="*/ 1490 w 12083"/>
                  <a:gd name="connsiteY4" fmla="*/ 0 h 1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73">
                    <a:moveTo>
                      <a:pt x="1490" y="0"/>
                    </a:moveTo>
                    <a:lnTo>
                      <a:pt x="12083" y="0"/>
                    </a:lnTo>
                    <a:lnTo>
                      <a:pt x="12083" y="1454"/>
                    </a:lnTo>
                    <a:lnTo>
                      <a:pt x="0" y="1473"/>
                    </a:lnTo>
                    <a:lnTo>
                      <a:pt x="1490" y="0"/>
                    </a:lnTo>
                    <a:close/>
                  </a:path>
                </a:pathLst>
              </a:custGeom>
              <a:solidFill>
                <a:schemeClr val="bg1"/>
              </a:solidFill>
              <a:ln>
                <a:noFill/>
              </a:ln>
              <a:effectLst>
                <a:outerShdw blurRad="368300" dist="254000" dir="5400000" sx="85000" sy="85000" algn="t" rotWithShape="0">
                  <a:schemeClr val="tx2">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defTabSz="914400">
                  <a:defRPr/>
                </a:pPr>
                <a:endParaRPr lang="zh-CN" altLang="en-US">
                  <a:solidFill>
                    <a:srgbClr val="FFFFFF"/>
                  </a:solidFill>
                  <a:latin typeface="Calibri" panose="020F0502020204030204"/>
                  <a:ea typeface="等线" panose="02010600030101010101" charset="-122"/>
                  <a:sym typeface="+mn-ea"/>
                </a:endParaRPr>
              </a:p>
            </p:txBody>
          </p:sp>
          <p:sp>
            <p:nvSpPr>
              <p:cNvPr id="36" name="文本框 35"/>
              <p:cNvSpPr txBox="1"/>
              <p:nvPr/>
            </p:nvSpPr>
            <p:spPr>
              <a:xfrm>
                <a:off x="3378" y="4305"/>
                <a:ext cx="8128" cy="822"/>
              </a:xfrm>
              <a:prstGeom prst="rect">
                <a:avLst/>
              </a:prstGeom>
              <a:noFill/>
            </p:spPr>
            <p:txBody>
              <a:bodyPr wrap="none" rtlCol="0">
                <a:spAutoFit/>
              </a:bodyPr>
              <a:lstStyle/>
              <a:p>
                <a:pPr algn="l" defTabSz="914400">
                  <a:defRPr/>
                </a:pPr>
                <a:r>
                  <a:rPr kumimoji="1" lang="zh-CN" altLang="en-US" sz="2800" b="1" dirty="0">
                    <a:ln w="3175">
                      <a:noFill/>
                    </a:ln>
                    <a:solidFill>
                      <a:srgbClr val="000000"/>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蓝图：</a:t>
                </a:r>
                <a:r>
                  <a:rPr kumimoji="1" lang="zh-CN" altLang="en-US" sz="2800" b="1" dirty="0">
                    <a:ln w="3175">
                      <a:noFill/>
                    </a:ln>
                    <a:solidFill>
                      <a:srgbClr val="000000"/>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平台的总体构想是什么？</a:t>
                </a:r>
                <a:endParaRPr kumimoji="1" lang="zh-CN" altLang="en-US" sz="2800" b="1" dirty="0">
                  <a:ln w="3175">
                    <a:noFill/>
                  </a:ln>
                  <a:solidFill>
                    <a:srgbClr val="000000"/>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endParaRPr>
              </a:p>
            </p:txBody>
          </p:sp>
        </p:grpSp>
        <p:grpSp>
          <p:nvGrpSpPr>
            <p:cNvPr id="38" name="组合 37"/>
            <p:cNvGrpSpPr/>
            <p:nvPr/>
          </p:nvGrpSpPr>
          <p:grpSpPr>
            <a:xfrm>
              <a:off x="5637" y="6530"/>
              <a:ext cx="1688" cy="1840"/>
              <a:chOff x="4038" y="7330"/>
              <a:chExt cx="1688" cy="1840"/>
            </a:xfrm>
          </p:grpSpPr>
          <p:sp>
            <p:nvSpPr>
              <p:cNvPr id="39" name="文本框 38"/>
              <p:cNvSpPr txBox="1"/>
              <p:nvPr/>
            </p:nvSpPr>
            <p:spPr>
              <a:xfrm>
                <a:off x="4038" y="7330"/>
                <a:ext cx="1154" cy="1696"/>
              </a:xfrm>
              <a:prstGeom prst="rect">
                <a:avLst/>
              </a:prstGeom>
              <a:noFill/>
            </p:spPr>
            <p:txBody>
              <a:bodyPr wrap="none" rtlCol="0">
                <a:spAutoFit/>
              </a:bodyPr>
              <a:lstStyle/>
              <a:p>
                <a:pPr algn="ctr" defTabSz="914400">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rPr>
                  <a:t>4</a:t>
                </a:r>
                <a:endPar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endParaRPr>
              </a:p>
            </p:txBody>
          </p:sp>
          <p:sp>
            <p:nvSpPr>
              <p:cNvPr id="40" name="直角三角形 39"/>
              <p:cNvSpPr/>
              <p:nvPr/>
            </p:nvSpPr>
            <p:spPr>
              <a:xfrm flipH="1">
                <a:off x="4081" y="7525"/>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grpSp>
        <p:sp>
          <p:nvSpPr>
            <p:cNvPr id="41" name="文本框 40"/>
            <p:cNvSpPr txBox="1"/>
            <p:nvPr/>
          </p:nvSpPr>
          <p:spPr>
            <a:xfrm>
              <a:off x="7104" y="7175"/>
              <a:ext cx="5568" cy="725"/>
            </a:xfrm>
            <a:prstGeom prst="rect">
              <a:avLst/>
            </a:prstGeom>
            <a:noFill/>
          </p:spPr>
          <p:txBody>
            <a:bodyPr wrap="non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2400" noProof="0" dirty="0">
                  <a:ln w="3175">
                    <a:noFill/>
                  </a:ln>
                  <a:solidFill>
                    <a:srgbClr val="44546A">
                      <a:alpha val="75000"/>
                    </a:srgbClr>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sym typeface="+mn-lt"/>
                </a:rPr>
                <a:t>路径：我们如何实现它？</a:t>
              </a:r>
              <a:endPar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平台定位与</a:t>
            </a:r>
            <a:r>
              <a:rPr lang="zh-CN" altLang="en-US">
                <a:sym typeface="+mn-ea"/>
              </a:rPr>
              <a:t>目标</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wrap="square" rtlCol="0" anchor="t">
            <a:noAutofit/>
          </a:bodyPr>
          <a:lstStyle/>
          <a:p>
            <a:pPr marL="306070" marR="0" lvl="0" indent="-306070" algn="l" defTabSz="914400" rtl="0" eaLnBrk="0" fontAlgn="auto">
              <a:lnSpc>
                <a:spcPct val="120000"/>
              </a:lnSpc>
              <a:spcBef>
                <a:spcPts val="0"/>
              </a:spcBef>
              <a:spcAft>
                <a:spcPts val="0"/>
              </a:spcAft>
              <a:buClr>
                <a:srgbClr val="0070BF"/>
              </a:buClr>
              <a:buSzTx/>
              <a:buFont typeface="Wingdings" panose="05000000000000000000" charset="0"/>
              <a:buChar char="n"/>
              <a:tabLst>
                <a:tab pos="356870" algn="l"/>
              </a:tabLst>
              <a:defRPr/>
            </a:pPr>
            <a:r>
              <a:rPr kumimoji="1" lang="zh-CN" altLang="en-US" sz="1400" b="1" noProof="0" dirty="0">
                <a:solidFill>
                  <a:srgbClr val="000000">
                    <a:alpha val="100000"/>
                  </a:srgbClr>
                </a:solidFill>
                <a:ea typeface="+mn-lt"/>
                <a:cs typeface="+mn-lt"/>
                <a:sym typeface="+mn-ea"/>
              </a:rPr>
              <a:t>以</a:t>
            </a:r>
            <a:r>
              <a:rPr kumimoji="1" lang="en-US" altLang="zh-CN" sz="1400" b="1" noProof="0" dirty="0">
                <a:solidFill>
                  <a:srgbClr val="000000">
                    <a:alpha val="100000"/>
                  </a:srgbClr>
                </a:solidFill>
                <a:ea typeface="+mn-lt"/>
                <a:cs typeface="+mn-lt"/>
                <a:sym typeface="+mn-ea"/>
              </a:rPr>
              <a:t> “</a:t>
            </a:r>
            <a:r>
              <a:rPr kumimoji="1" lang="zh-CN" altLang="en-US" sz="1400" b="1" noProof="0" dirty="0">
                <a:solidFill>
                  <a:srgbClr val="000000">
                    <a:alpha val="100000"/>
                  </a:srgbClr>
                </a:solidFill>
                <a:ea typeface="+mn-lt"/>
                <a:cs typeface="+mn-lt"/>
                <a:sym typeface="+mn-ea"/>
              </a:rPr>
              <a:t>构建平台化作战体系</a:t>
            </a:r>
            <a:r>
              <a:rPr kumimoji="1" lang="en-US" altLang="zh-CN" sz="1400" b="1" noProof="0" dirty="0">
                <a:solidFill>
                  <a:srgbClr val="000000">
                    <a:alpha val="100000"/>
                  </a:srgbClr>
                </a:solidFill>
                <a:ea typeface="+mn-lt"/>
                <a:cs typeface="+mn-lt"/>
                <a:sym typeface="+mn-ea"/>
              </a:rPr>
              <a:t>” </a:t>
            </a:r>
            <a:r>
              <a:rPr kumimoji="1" lang="zh-CN" altLang="en-US" sz="1400" b="1" noProof="0" dirty="0">
                <a:solidFill>
                  <a:srgbClr val="000000">
                    <a:alpha val="100000"/>
                  </a:srgbClr>
                </a:solidFill>
                <a:ea typeface="+mn-lt"/>
                <a:cs typeface="+mn-lt"/>
                <a:sym typeface="+mn-ea"/>
              </a:rPr>
              <a:t>为核心目标，通过</a:t>
            </a:r>
            <a:r>
              <a:rPr kumimoji="1" lang="en-US" altLang="zh-CN" sz="1400" b="1" noProof="0" dirty="0">
                <a:solidFill>
                  <a:srgbClr val="000000">
                    <a:alpha val="100000"/>
                  </a:srgbClr>
                </a:solidFill>
                <a:ea typeface="+mn-lt"/>
                <a:cs typeface="+mn-lt"/>
                <a:sym typeface="+mn-ea"/>
              </a:rPr>
              <a:t> “</a:t>
            </a:r>
            <a:r>
              <a:rPr kumimoji="1" lang="zh-CN" altLang="en-US" sz="1400" b="1" noProof="0" dirty="0">
                <a:solidFill>
                  <a:srgbClr val="000000">
                    <a:alpha val="100000"/>
                  </a:srgbClr>
                </a:solidFill>
                <a:ea typeface="+mn-lt"/>
                <a:cs typeface="+mn-lt"/>
                <a:sym typeface="+mn-ea"/>
              </a:rPr>
              <a:t>看得清、找得准、管得住、评得明</a:t>
            </a:r>
            <a:r>
              <a:rPr kumimoji="1" lang="en-US" altLang="zh-CN" sz="1400" b="1" noProof="0" dirty="0">
                <a:solidFill>
                  <a:srgbClr val="000000">
                    <a:alpha val="100000"/>
                  </a:srgbClr>
                </a:solidFill>
                <a:ea typeface="+mn-lt"/>
                <a:cs typeface="+mn-lt"/>
                <a:sym typeface="+mn-ea"/>
              </a:rPr>
              <a:t>” </a:t>
            </a:r>
            <a:r>
              <a:rPr kumimoji="1" lang="zh-CN" altLang="en-US" sz="1400" b="1" noProof="0" dirty="0">
                <a:solidFill>
                  <a:srgbClr val="000000">
                    <a:alpha val="100000"/>
                  </a:srgbClr>
                </a:solidFill>
                <a:ea typeface="+mn-lt"/>
                <a:cs typeface="+mn-lt"/>
                <a:sym typeface="+mn-ea"/>
              </a:rPr>
              <a:t>四大举措，分别为管理层提供一站式数据决策支持、为运营人员打造一体化问题处置工作台、为业务建立可量化的效果评估体系，实现多层级价值闭环。</a:t>
            </a:r>
            <a:endParaRPr kumimoji="1" lang="zh-CN" altLang="en-US" sz="1400" b="1" noProof="0" dirty="0">
              <a:solidFill>
                <a:srgbClr val="000000">
                  <a:alpha val="100000"/>
                </a:srgbClr>
              </a:solidFill>
              <a:ea typeface="+mn-lt"/>
              <a:cs typeface="+mn-lt"/>
              <a:sym typeface="+mn-ea"/>
            </a:endParaRPr>
          </a:p>
        </p:txBody>
      </p:sp>
      <p:sp>
        <p:nvSpPr>
          <p:cNvPr id="2" name="矩形 1"/>
          <p:cNvSpPr/>
          <p:nvPr/>
        </p:nvSpPr>
        <p:spPr>
          <a:xfrm>
            <a:off x="760730" y="1912620"/>
            <a:ext cx="1418590" cy="41338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t>一个</a:t>
            </a:r>
            <a:r>
              <a:rPr lang="zh-CN" altLang="zh-HK" sz="1400" b="1"/>
              <a:t>目标</a:t>
            </a:r>
            <a:endParaRPr lang="zh-CN" altLang="zh-HK" sz="1400" b="1"/>
          </a:p>
        </p:txBody>
      </p:sp>
      <p:sp>
        <p:nvSpPr>
          <p:cNvPr id="4" name="矩形 3"/>
          <p:cNvSpPr/>
          <p:nvPr/>
        </p:nvSpPr>
        <p:spPr>
          <a:xfrm>
            <a:off x="760730" y="3411855"/>
            <a:ext cx="1418590" cy="41338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t>四个</a:t>
            </a:r>
            <a:r>
              <a:rPr lang="zh-CN" altLang="zh-HK" sz="1400" b="1"/>
              <a:t>举措</a:t>
            </a:r>
            <a:endParaRPr lang="zh-CN" altLang="zh-HK" sz="1400" b="1"/>
          </a:p>
        </p:txBody>
      </p:sp>
      <p:sp>
        <p:nvSpPr>
          <p:cNvPr id="11" name="矩形 10"/>
          <p:cNvSpPr/>
          <p:nvPr/>
        </p:nvSpPr>
        <p:spPr>
          <a:xfrm>
            <a:off x="760730" y="5227955"/>
            <a:ext cx="1418590" cy="41338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t>三个</a:t>
            </a:r>
            <a:r>
              <a:rPr lang="zh-CN" altLang="zh-HK" sz="1400" b="1"/>
              <a:t>价值</a:t>
            </a:r>
            <a:endParaRPr lang="zh-CN" altLang="zh-HK" sz="1400" b="1"/>
          </a:p>
        </p:txBody>
      </p:sp>
      <p:sp>
        <p:nvSpPr>
          <p:cNvPr id="13" name="矩形 12"/>
          <p:cNvSpPr/>
          <p:nvPr/>
        </p:nvSpPr>
        <p:spPr>
          <a:xfrm>
            <a:off x="2745105" y="1791335"/>
            <a:ext cx="8268335" cy="644525"/>
          </a:xfrm>
          <a:prstGeom prst="rect">
            <a:avLst/>
          </a:prstGeom>
          <a:solidFill>
            <a:srgbClr val="000000">
              <a:alpha val="0"/>
            </a:srgb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algn="ctr"/>
            <a:r>
              <a:rPr lang="zh-CN" altLang="en-US" sz="1600" b="1">
                <a:solidFill>
                  <a:schemeClr val="tx1"/>
                </a:solidFill>
                <a:sym typeface="+mn-ea"/>
              </a:rPr>
              <a:t>构建平台化作战体系</a:t>
            </a:r>
            <a:endParaRPr lang="zh-CN" altLang="en-US" sz="1600" b="1">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4" name="矩形 13"/>
          <p:cNvSpPr/>
          <p:nvPr/>
        </p:nvSpPr>
        <p:spPr>
          <a:xfrm>
            <a:off x="2745105" y="2802255"/>
            <a:ext cx="3943985" cy="85852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algn="ctr">
              <a:lnSpc>
                <a:spcPct val="150000"/>
              </a:lnSpc>
            </a:pPr>
            <a:r>
              <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rPr>
              <a:t>看得清</a:t>
            </a:r>
            <a:endPar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全网核心指标一目了然</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15" name="矩形 14"/>
          <p:cNvSpPr/>
          <p:nvPr/>
        </p:nvSpPr>
        <p:spPr>
          <a:xfrm>
            <a:off x="7069455" y="2802255"/>
            <a:ext cx="3943985" cy="85852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algn="ctr">
              <a:lnSpc>
                <a:spcPct val="150000"/>
              </a:lnSpc>
            </a:pPr>
            <a:r>
              <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rPr>
              <a:t>找得准</a:t>
            </a:r>
            <a:endPar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快速定位问题并找到根因</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16" name="矩形 15"/>
          <p:cNvSpPr/>
          <p:nvPr/>
        </p:nvSpPr>
        <p:spPr>
          <a:xfrm>
            <a:off x="2745105" y="3856355"/>
            <a:ext cx="3943985" cy="85852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algn="ctr">
              <a:lnSpc>
                <a:spcPct val="150000"/>
              </a:lnSpc>
            </a:pPr>
            <a:r>
              <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rPr>
              <a:t>管得住</a:t>
            </a:r>
            <a:endPar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关键任务可调度、可执行</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17" name="矩形 16"/>
          <p:cNvSpPr/>
          <p:nvPr/>
        </p:nvSpPr>
        <p:spPr>
          <a:xfrm>
            <a:off x="7069455" y="3856355"/>
            <a:ext cx="3943985" cy="85852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algn="ctr">
              <a:lnSpc>
                <a:spcPct val="150000"/>
              </a:lnSpc>
            </a:pPr>
            <a:r>
              <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rPr>
              <a:t>评得明</a:t>
            </a:r>
            <a:endParaRPr lang="zh-CN" altLang="en-US" sz="1600" b="1" u="sng">
              <a:solidFill>
                <a:srgbClr val="0070BF"/>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运营动作效果可量化、可评估</a:t>
            </a:r>
            <a:endParaRPr lang="zh-CN" altLang="en-US" sz="14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5" name="文字框 4"/>
          <p:cNvSpPr txBox="1"/>
          <p:nvPr/>
        </p:nvSpPr>
        <p:spPr>
          <a:xfrm>
            <a:off x="3721735" y="5106035"/>
            <a:ext cx="794385" cy="337185"/>
          </a:xfrm>
          <a:prstGeom prst="rect">
            <a:avLst/>
          </a:prstGeom>
          <a:noFill/>
        </p:spPr>
        <p:txBody>
          <a:bodyPr wrap="none" rtlCol="0">
            <a:spAutoFit/>
          </a:bodyPr>
          <a:p>
            <a:pPr algn="ctr"/>
            <a:r>
              <a:rPr kumimoji="1" lang="zh-CN" altLang="zh-HK" sz="1600" b="1" dirty="0" smtClean="0">
                <a:solidFill>
                  <a:srgbClr val="C00000"/>
                </a:solidFill>
                <a:latin typeface="微软雅黑" panose="020B0503020204020204" charset="-122"/>
                <a:ea typeface="微软雅黑" panose="020B0503020204020204" charset="-122"/>
              </a:rPr>
              <a:t>管理层</a:t>
            </a:r>
            <a:endParaRPr kumimoji="1" lang="zh-CN" altLang="zh-HK" sz="1600" b="1" dirty="0" smtClean="0">
              <a:solidFill>
                <a:srgbClr val="C00000"/>
              </a:solidFill>
              <a:latin typeface="微软雅黑" panose="020B0503020204020204" charset="-122"/>
              <a:ea typeface="微软雅黑" panose="020B0503020204020204" charset="-122"/>
            </a:endParaRPr>
          </a:p>
        </p:txBody>
      </p:sp>
      <p:sp>
        <p:nvSpPr>
          <p:cNvPr id="6" name="文字框 5"/>
          <p:cNvSpPr txBox="1"/>
          <p:nvPr/>
        </p:nvSpPr>
        <p:spPr>
          <a:xfrm>
            <a:off x="2745105" y="5481320"/>
            <a:ext cx="2672080" cy="645160"/>
          </a:xfrm>
          <a:prstGeom prst="rect">
            <a:avLst/>
          </a:prstGeom>
          <a:noFill/>
        </p:spPr>
        <p:txBody>
          <a:bodyPr wrap="square" rtlCol="0" anchor="t">
            <a:spAutoFit/>
          </a:bodyPr>
          <a:p>
            <a:pPr algn="ctr">
              <a:lnSpc>
                <a:spcPct val="150000"/>
              </a:lnSpc>
            </a:pP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提供一站式数据决策支持</a:t>
            </a:r>
            <a:endPar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从“被动救火”到“主动预警”</a:t>
            </a:r>
            <a:endParaRPr kumimoji="1" lang="zh-CN" altLang="en-US" sz="1200" dirty="0" smtClean="0">
              <a:solidFill>
                <a:srgbClr val="0F1115"/>
              </a:solidFill>
              <a:latin typeface="微软雅黑" panose="020B0503020204020204" charset="-122"/>
              <a:ea typeface="微软雅黑" panose="020B0503020204020204" charset="-122"/>
              <a:cs typeface="微软雅黑" panose="020B0503020204020204" charset="-122"/>
              <a:sym typeface="+mn-ea"/>
            </a:endParaRPr>
          </a:p>
        </p:txBody>
      </p:sp>
      <p:sp>
        <p:nvSpPr>
          <p:cNvPr id="7" name="文字框 6"/>
          <p:cNvSpPr txBox="1"/>
          <p:nvPr/>
        </p:nvSpPr>
        <p:spPr>
          <a:xfrm>
            <a:off x="6430645" y="5106035"/>
            <a:ext cx="998220" cy="337185"/>
          </a:xfrm>
          <a:prstGeom prst="rect">
            <a:avLst/>
          </a:prstGeom>
          <a:noFill/>
        </p:spPr>
        <p:txBody>
          <a:bodyPr wrap="none" rtlCol="0">
            <a:spAutoFit/>
          </a:bodyPr>
          <a:p>
            <a:pPr algn="ctr"/>
            <a:r>
              <a:rPr kumimoji="1" lang="zh-CN" altLang="zh-HK" sz="1600" b="1" dirty="0" smtClean="0">
                <a:solidFill>
                  <a:srgbClr val="C00000"/>
                </a:solidFill>
                <a:latin typeface="微软雅黑" panose="020B0503020204020204" charset="-122"/>
                <a:ea typeface="微软雅黑" panose="020B0503020204020204" charset="-122"/>
              </a:rPr>
              <a:t>运营</a:t>
            </a:r>
            <a:r>
              <a:rPr kumimoji="1" lang="zh-CN" altLang="zh-HK" sz="1600" b="1" dirty="0" smtClean="0">
                <a:solidFill>
                  <a:srgbClr val="C00000"/>
                </a:solidFill>
                <a:latin typeface="微软雅黑" panose="020B0503020204020204" charset="-122"/>
                <a:ea typeface="微软雅黑" panose="020B0503020204020204" charset="-122"/>
              </a:rPr>
              <a:t>人员</a:t>
            </a:r>
            <a:endParaRPr kumimoji="1" lang="zh-CN" altLang="zh-HK" sz="1600" b="1" dirty="0" smtClean="0">
              <a:solidFill>
                <a:srgbClr val="C00000"/>
              </a:solidFill>
              <a:latin typeface="微软雅黑" panose="020B0503020204020204" charset="-122"/>
              <a:ea typeface="微软雅黑" panose="020B0503020204020204" charset="-122"/>
            </a:endParaRPr>
          </a:p>
        </p:txBody>
      </p:sp>
      <p:sp>
        <p:nvSpPr>
          <p:cNvPr id="8" name="文字框 7"/>
          <p:cNvSpPr txBox="1"/>
          <p:nvPr/>
        </p:nvSpPr>
        <p:spPr>
          <a:xfrm>
            <a:off x="5543550" y="5471160"/>
            <a:ext cx="2669540" cy="645160"/>
          </a:xfrm>
          <a:prstGeom prst="rect">
            <a:avLst/>
          </a:prstGeom>
          <a:noFill/>
        </p:spPr>
        <p:txBody>
          <a:bodyPr wrap="square" rtlCol="0" anchor="t">
            <a:spAutoFit/>
          </a:bodyPr>
          <a:p>
            <a:pPr algn="ctr">
              <a:lnSpc>
                <a:spcPct val="150000"/>
              </a:lnSpc>
            </a:pP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打造一体化问题处置工作台</a:t>
            </a:r>
            <a:endPar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提升运营效率</a:t>
            </a:r>
            <a:endParaRPr kumimoji="1" lang="zh-CN" altLang="en-US" sz="1200" dirty="0" smtClean="0">
              <a:solidFill>
                <a:srgbClr val="0F1115"/>
              </a:solidFill>
              <a:latin typeface="微软雅黑" panose="020B0503020204020204" charset="-122"/>
              <a:ea typeface="微软雅黑" panose="020B0503020204020204" charset="-122"/>
              <a:cs typeface="微软雅黑" panose="020B0503020204020204" charset="-122"/>
              <a:sym typeface="+mn-ea"/>
            </a:endParaRPr>
          </a:p>
        </p:txBody>
      </p:sp>
      <p:sp>
        <p:nvSpPr>
          <p:cNvPr id="9" name="文字框 8"/>
          <p:cNvSpPr txBox="1"/>
          <p:nvPr/>
        </p:nvSpPr>
        <p:spPr>
          <a:xfrm>
            <a:off x="9295130" y="5106035"/>
            <a:ext cx="998220" cy="337185"/>
          </a:xfrm>
          <a:prstGeom prst="rect">
            <a:avLst/>
          </a:prstGeom>
          <a:noFill/>
        </p:spPr>
        <p:txBody>
          <a:bodyPr wrap="none" rtlCol="0">
            <a:spAutoFit/>
          </a:bodyPr>
          <a:p>
            <a:pPr algn="ctr"/>
            <a:r>
              <a:rPr kumimoji="1" lang="zh-CN" altLang="zh-HK" sz="1600" b="1" dirty="0" smtClean="0">
                <a:solidFill>
                  <a:srgbClr val="C00000"/>
                </a:solidFill>
                <a:latin typeface="微软雅黑" panose="020B0503020204020204" charset="-122"/>
                <a:ea typeface="微软雅黑" panose="020B0503020204020204" charset="-122"/>
              </a:rPr>
              <a:t>业务</a:t>
            </a:r>
            <a:r>
              <a:rPr kumimoji="1" lang="zh-CN" altLang="zh-HK" sz="1600" b="1" dirty="0" smtClean="0">
                <a:solidFill>
                  <a:srgbClr val="C00000"/>
                </a:solidFill>
                <a:latin typeface="微软雅黑" panose="020B0503020204020204" charset="-122"/>
                <a:ea typeface="微软雅黑" panose="020B0503020204020204" charset="-122"/>
              </a:rPr>
              <a:t>价值</a:t>
            </a:r>
            <a:endParaRPr kumimoji="1" lang="zh-CN" altLang="zh-HK" sz="1600" b="1" dirty="0" smtClean="0">
              <a:solidFill>
                <a:srgbClr val="C00000"/>
              </a:solidFill>
              <a:latin typeface="微软雅黑" panose="020B0503020204020204" charset="-122"/>
              <a:ea typeface="微软雅黑" panose="020B0503020204020204" charset="-122"/>
            </a:endParaRPr>
          </a:p>
        </p:txBody>
      </p:sp>
      <p:sp>
        <p:nvSpPr>
          <p:cNvPr id="10" name="文字框 9"/>
          <p:cNvSpPr txBox="1"/>
          <p:nvPr/>
        </p:nvSpPr>
        <p:spPr>
          <a:xfrm>
            <a:off x="8371840" y="5482590"/>
            <a:ext cx="2670175" cy="644525"/>
          </a:xfrm>
          <a:prstGeom prst="rect">
            <a:avLst/>
          </a:prstGeom>
          <a:noFill/>
        </p:spPr>
        <p:txBody>
          <a:bodyPr wrap="square" rtlCol="0" anchor="t">
            <a:noAutofit/>
          </a:bodyPr>
          <a:p>
            <a:pPr algn="ctr">
              <a:lnSpc>
                <a:spcPct val="150000"/>
              </a:lnSpc>
            </a:pP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建立可量化的效果评估体系</a:t>
            </a:r>
            <a:endPar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200">
                <a:solidFill>
                  <a:srgbClr val="0F1115"/>
                </a:solidFill>
                <a:latin typeface="微软雅黑" panose="020B0503020204020204" charset="-122"/>
                <a:ea typeface="微软雅黑" panose="020B0503020204020204" charset="-122"/>
                <a:cs typeface="微软雅黑" panose="020B0503020204020204" charset="-122"/>
                <a:sym typeface="+mn-ea"/>
              </a:rPr>
              <a:t>驱动业务持续优化</a:t>
            </a:r>
            <a:endParaRPr kumimoji="1" lang="zh-CN" altLang="en-US" sz="1200" dirty="0" smtClean="0">
              <a:solidFill>
                <a:srgbClr val="0F1115"/>
              </a:solidFill>
              <a:latin typeface="微软雅黑" panose="020B0503020204020204" charset="-122"/>
              <a:ea typeface="微软雅黑" panose="020B0503020204020204" charset="-122"/>
              <a:cs typeface="微软雅黑" panose="020B0503020204020204" charset="-122"/>
              <a:sym typeface="+mn-ea"/>
            </a:endParaRPr>
          </a:p>
        </p:txBody>
      </p:sp>
      <p:sp>
        <p:nvSpPr>
          <p:cNvPr id="44" name="矩形 43"/>
          <p:cNvSpPr/>
          <p:nvPr/>
        </p:nvSpPr>
        <p:spPr>
          <a:xfrm>
            <a:off x="2745105" y="4982210"/>
            <a:ext cx="2671445" cy="1249680"/>
          </a:xfrm>
          <a:prstGeom prst="rect">
            <a:avLst/>
          </a:prstGeom>
          <a:noFill/>
          <a:ln>
            <a:solidFill>
              <a:schemeClr val="bg1">
                <a:lumMod val="75000"/>
              </a:schemeClr>
            </a:solidFill>
          </a:ln>
          <a:extLst>
            <a:ext uri="{909E8E84-426E-40DD-AFC4-6F175D3DCCD1}">
              <a14:hiddenFill xmlns:a14="http://schemas.microsoft.com/office/drawing/2010/main">
                <a:solidFill>
                  <a:schemeClr val="bg1">
                    <a:lumMod val="95000"/>
                  </a:schemeClr>
                </a:solidFill>
              </a14:hiddenFill>
            </a:ext>
          </a:extLst>
        </p:spPr>
        <p:style>
          <a:lnRef idx="0">
            <a:srgbClr val="FFFFFF"/>
          </a:lnRef>
          <a:fillRef idx="1">
            <a:schemeClr val="accent1"/>
          </a:fillRef>
          <a:effectRef idx="0">
            <a:srgbClr val="FFFFFF"/>
          </a:effectRef>
          <a:fontRef idx="minor">
            <a:schemeClr val="lt1"/>
          </a:fontRef>
        </p:style>
        <p:txBody>
          <a:bodyPr lIns="0" tIns="0" rIns="0" bIns="0" rtlCol="0" anchor="ctr"/>
          <a:p>
            <a:pPr algn="ctr"/>
            <a:endParaRPr lang="zh-CN" altLang="en-US" sz="16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45" name="矩形 44"/>
          <p:cNvSpPr/>
          <p:nvPr/>
        </p:nvSpPr>
        <p:spPr>
          <a:xfrm>
            <a:off x="5543550" y="4981575"/>
            <a:ext cx="2671445" cy="1249680"/>
          </a:xfrm>
          <a:prstGeom prst="rect">
            <a:avLst/>
          </a:prstGeom>
          <a:noFill/>
          <a:ln>
            <a:solidFill>
              <a:schemeClr val="bg1">
                <a:lumMod val="75000"/>
              </a:schemeClr>
            </a:solidFill>
          </a:ln>
          <a:extLst>
            <a:ext uri="{909E8E84-426E-40DD-AFC4-6F175D3DCCD1}">
              <a14:hiddenFill xmlns:a14="http://schemas.microsoft.com/office/drawing/2010/main">
                <a:solidFill>
                  <a:schemeClr val="bg1">
                    <a:lumMod val="95000"/>
                  </a:schemeClr>
                </a:solidFill>
              </a14:hiddenFill>
            </a:ext>
          </a:extLst>
        </p:spPr>
        <p:style>
          <a:lnRef idx="0">
            <a:srgbClr val="FFFFFF"/>
          </a:lnRef>
          <a:fillRef idx="1">
            <a:schemeClr val="accent1"/>
          </a:fillRef>
          <a:effectRef idx="0">
            <a:srgbClr val="FFFFFF"/>
          </a:effectRef>
          <a:fontRef idx="minor">
            <a:schemeClr val="lt1"/>
          </a:fontRef>
        </p:style>
        <p:txBody>
          <a:bodyPr lIns="0" tIns="0" rIns="0" bIns="0" rtlCol="0" anchor="ctr"/>
          <a:p>
            <a:pPr algn="ctr"/>
            <a:endParaRPr lang="zh-CN" altLang="en-US" sz="16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46" name="矩形 45"/>
          <p:cNvSpPr/>
          <p:nvPr/>
        </p:nvSpPr>
        <p:spPr>
          <a:xfrm>
            <a:off x="8341995" y="4980940"/>
            <a:ext cx="2671445" cy="1249680"/>
          </a:xfrm>
          <a:prstGeom prst="rect">
            <a:avLst/>
          </a:prstGeom>
          <a:noFill/>
          <a:ln>
            <a:solidFill>
              <a:schemeClr val="bg1">
                <a:lumMod val="75000"/>
              </a:schemeClr>
            </a:solidFill>
          </a:ln>
          <a:extLst>
            <a:ext uri="{909E8E84-426E-40DD-AFC4-6F175D3DCCD1}">
              <a14:hiddenFill xmlns:a14="http://schemas.microsoft.com/office/drawing/2010/main">
                <a:solidFill>
                  <a:schemeClr val="bg1">
                    <a:lumMod val="95000"/>
                  </a:schemeClr>
                </a:solidFill>
              </a14:hiddenFill>
            </a:ext>
          </a:extLst>
        </p:spPr>
        <p:style>
          <a:lnRef idx="0">
            <a:srgbClr val="FFFFFF"/>
          </a:lnRef>
          <a:fillRef idx="1">
            <a:schemeClr val="accent1"/>
          </a:fillRef>
          <a:effectRef idx="0">
            <a:srgbClr val="FFFFFF"/>
          </a:effectRef>
          <a:fontRef idx="minor">
            <a:schemeClr val="lt1"/>
          </a:fontRef>
        </p:style>
        <p:txBody>
          <a:bodyPr lIns="0" tIns="0" rIns="0" bIns="0" rtlCol="0" anchor="ctr"/>
          <a:p>
            <a:pPr algn="ctr"/>
            <a:endParaRPr lang="zh-CN" altLang="en-US" sz="16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平台核心能力架构</a:t>
            </a:r>
            <a:endParaRPr>
              <a:sym typeface="+mn-ea"/>
            </a:endParaRPr>
          </a:p>
        </p:txBody>
      </p:sp>
      <p:sp>
        <p:nvSpPr>
          <p:cNvPr id="139" name="文本框 138"/>
          <p:cNvSpPr txBox="1"/>
          <p:nvPr/>
        </p:nvSpPr>
        <p:spPr>
          <a:xfrm>
            <a:off x="194945" y="899795"/>
            <a:ext cx="11433175" cy="240665"/>
          </a:xfrm>
          <a:prstGeom prst="rect">
            <a:avLst/>
          </a:prstGeom>
          <a:noFill/>
        </p:spPr>
        <p:txBody>
          <a:bodyPr wrap="square" rtlCol="0" anchor="t">
            <a:noAutofit/>
          </a:bodyPr>
          <a:lstStyle/>
          <a:p>
            <a:pPr marL="306070" marR="0" lvl="0" indent="-306070" algn="l" defTabSz="914400" rtl="0" eaLnBrk="0" fontAlgn="auto" latinLnBrk="0" hangingPunct="1">
              <a:lnSpc>
                <a:spcPct val="109000"/>
              </a:lnSpc>
              <a:spcBef>
                <a:spcPts val="0"/>
              </a:spcBef>
              <a:spcAft>
                <a:spcPts val="0"/>
              </a:spcAft>
              <a:buClr>
                <a:srgbClr val="0070BF"/>
              </a:buClr>
              <a:buSzTx/>
              <a:buFont typeface="Wingdings" panose="05000000000000000000" charset="0"/>
              <a:buChar char="n"/>
              <a:tabLst>
                <a:tab pos="356870" algn="l"/>
              </a:tabLst>
              <a:defRPr/>
            </a:pPr>
            <a:r>
              <a:rPr kumimoji="1" lang="zh-HK" altLang="en-US" sz="1400" b="1" noProof="0" dirty="0">
                <a:solidFill>
                  <a:srgbClr val="000000">
                    <a:alpha val="100000"/>
                  </a:srgbClr>
                </a:solidFill>
                <a:ea typeface="+mn-lt"/>
                <a:cs typeface="+mn-lt"/>
                <a:sym typeface="+mn-ea"/>
              </a:rPr>
              <a:t>通过整合指标、洞察、策略等核心能力，构建</a:t>
            </a:r>
            <a:r>
              <a:rPr kumimoji="1" lang="en-US" altLang="zh-HK" sz="1400" b="1" noProof="0" dirty="0">
                <a:solidFill>
                  <a:srgbClr val="000000">
                    <a:alpha val="100000"/>
                  </a:srgbClr>
                </a:solidFill>
                <a:ea typeface="+mn-lt"/>
                <a:cs typeface="+mn-lt"/>
                <a:sym typeface="+mn-ea"/>
              </a:rPr>
              <a:t>"</a:t>
            </a:r>
            <a:r>
              <a:rPr kumimoji="1" lang="zh-CN" altLang="en-US" sz="1400" b="1" noProof="0" dirty="0">
                <a:solidFill>
                  <a:srgbClr val="000000">
                    <a:alpha val="100000"/>
                  </a:srgbClr>
                </a:solidFill>
                <a:ea typeface="+mn-lt"/>
                <a:cs typeface="+mn-lt"/>
                <a:sym typeface="+mn-ea"/>
              </a:rPr>
              <a:t>察</a:t>
            </a:r>
            <a:r>
              <a:rPr kumimoji="1" lang="zh-HK" altLang="en-US" sz="1400" b="1" noProof="0" dirty="0">
                <a:solidFill>
                  <a:srgbClr val="000000">
                    <a:alpha val="100000"/>
                  </a:srgbClr>
                </a:solidFill>
                <a:ea typeface="+mn-lt"/>
                <a:cs typeface="+mn-lt"/>
                <a:sym typeface="+mn-ea"/>
              </a:rPr>
              <a:t>策打评</a:t>
            </a:r>
            <a:r>
              <a:rPr kumimoji="1" lang="en-US" altLang="zh-HK" sz="1400" b="1" noProof="0" dirty="0">
                <a:solidFill>
                  <a:srgbClr val="000000">
                    <a:alpha val="100000"/>
                  </a:srgbClr>
                </a:solidFill>
                <a:ea typeface="+mn-lt"/>
                <a:cs typeface="+mn-lt"/>
                <a:sym typeface="+mn-ea"/>
              </a:rPr>
              <a:t>"</a:t>
            </a:r>
            <a:r>
              <a:rPr kumimoji="1" lang="zh-HK" altLang="en-US" sz="1400" b="1" noProof="0" dirty="0">
                <a:solidFill>
                  <a:srgbClr val="000000">
                    <a:alpha val="100000"/>
                  </a:srgbClr>
                </a:solidFill>
                <a:ea typeface="+mn-lt"/>
                <a:cs typeface="+mn-lt"/>
                <a:sym typeface="+mn-ea"/>
              </a:rPr>
              <a:t>运营闭环，并向省端开放能力以实现统一框架下的属地化运营支撑。</a:t>
            </a:r>
            <a:endParaRPr kumimoji="1" lang="zh-HK" altLang="en-US" sz="1400" b="1" noProof="0" dirty="0">
              <a:solidFill>
                <a:srgbClr val="000000">
                  <a:alpha val="100000"/>
                </a:srgbClr>
              </a:solidFill>
              <a:ea typeface="+mn-lt"/>
              <a:cs typeface="+mn-lt"/>
              <a:sym typeface="+mn-ea"/>
            </a:endParaRPr>
          </a:p>
        </p:txBody>
      </p:sp>
      <p:sp>
        <p:nvSpPr>
          <p:cNvPr id="2" name="文字框 1"/>
          <p:cNvSpPr txBox="1"/>
          <p:nvPr/>
        </p:nvSpPr>
        <p:spPr>
          <a:xfrm>
            <a:off x="666750" y="2167255"/>
            <a:ext cx="626745" cy="337185"/>
          </a:xfrm>
          <a:prstGeom prst="rect">
            <a:avLst/>
          </a:prstGeom>
          <a:noFill/>
        </p:spPr>
        <p:txBody>
          <a:bodyPr wrap="square" rtlCol="0">
            <a:spAutoFit/>
          </a:bodyPr>
          <a:p>
            <a:pPr algn="l"/>
            <a:r>
              <a:rPr kumimoji="1" lang="zh-CN" altLang="zh-HK" sz="1600" b="1" dirty="0" smtClean="0">
                <a:solidFill>
                  <a:srgbClr val="0070BF"/>
                </a:solidFill>
                <a:latin typeface="微软雅黑" panose="020B0503020204020204" charset="-122"/>
                <a:ea typeface="微软雅黑" panose="020B0503020204020204" charset="-122"/>
              </a:rPr>
              <a:t>应用</a:t>
            </a:r>
            <a:endParaRPr kumimoji="1" lang="zh-CN" altLang="zh-HK" sz="1600" b="1" dirty="0" smtClean="0">
              <a:solidFill>
                <a:srgbClr val="0070BF"/>
              </a:solidFill>
              <a:latin typeface="微软雅黑" panose="020B0503020204020204" charset="-122"/>
              <a:ea typeface="微软雅黑" panose="020B0503020204020204" charset="-122"/>
            </a:endParaRPr>
          </a:p>
        </p:txBody>
      </p:sp>
      <p:sp>
        <p:nvSpPr>
          <p:cNvPr id="7" name="文字框 6"/>
          <p:cNvSpPr txBox="1"/>
          <p:nvPr/>
        </p:nvSpPr>
        <p:spPr>
          <a:xfrm>
            <a:off x="666750" y="4001135"/>
            <a:ext cx="626745" cy="337185"/>
          </a:xfrm>
          <a:prstGeom prst="rect">
            <a:avLst/>
          </a:prstGeom>
          <a:noFill/>
        </p:spPr>
        <p:txBody>
          <a:bodyPr wrap="square" rtlCol="0">
            <a:spAutoFit/>
          </a:bodyPr>
          <a:p>
            <a:pPr algn="l"/>
            <a:r>
              <a:rPr kumimoji="1" lang="zh-CN" altLang="zh-HK" sz="1600" b="1" dirty="0" smtClean="0">
                <a:solidFill>
                  <a:srgbClr val="0070BF"/>
                </a:solidFill>
                <a:latin typeface="微软雅黑" panose="020B0503020204020204" charset="-122"/>
                <a:ea typeface="微软雅黑" panose="020B0503020204020204" charset="-122"/>
              </a:rPr>
              <a:t>核心</a:t>
            </a:r>
            <a:endParaRPr kumimoji="1" lang="zh-CN" altLang="zh-HK" sz="1600" b="1" dirty="0" smtClean="0">
              <a:solidFill>
                <a:srgbClr val="0070BF"/>
              </a:solidFill>
              <a:latin typeface="微软雅黑" panose="020B0503020204020204" charset="-122"/>
              <a:ea typeface="微软雅黑" panose="020B0503020204020204" charset="-122"/>
            </a:endParaRPr>
          </a:p>
        </p:txBody>
      </p:sp>
      <p:sp>
        <p:nvSpPr>
          <p:cNvPr id="9" name="文字框 8"/>
          <p:cNvSpPr txBox="1"/>
          <p:nvPr/>
        </p:nvSpPr>
        <p:spPr>
          <a:xfrm>
            <a:off x="666750" y="5897880"/>
            <a:ext cx="626745" cy="337185"/>
          </a:xfrm>
          <a:prstGeom prst="rect">
            <a:avLst/>
          </a:prstGeom>
          <a:noFill/>
        </p:spPr>
        <p:txBody>
          <a:bodyPr wrap="square" rtlCol="0">
            <a:spAutoFit/>
          </a:bodyPr>
          <a:p>
            <a:pPr algn="l"/>
            <a:r>
              <a:rPr kumimoji="1" lang="zh-CN" altLang="zh-HK" sz="1600" b="1" dirty="0" smtClean="0">
                <a:solidFill>
                  <a:srgbClr val="0070BF"/>
                </a:solidFill>
                <a:latin typeface="微软雅黑" panose="020B0503020204020204" charset="-122"/>
                <a:ea typeface="微软雅黑" panose="020B0503020204020204" charset="-122"/>
              </a:rPr>
              <a:t>基础</a:t>
            </a:r>
            <a:endParaRPr kumimoji="1" lang="zh-CN" altLang="zh-HK" sz="1600" b="1" dirty="0" smtClean="0">
              <a:solidFill>
                <a:srgbClr val="0070BF"/>
              </a:solidFill>
              <a:latin typeface="微软雅黑" panose="020B0503020204020204" charset="-122"/>
              <a:ea typeface="微软雅黑" panose="020B0503020204020204" charset="-122"/>
            </a:endParaRPr>
          </a:p>
        </p:txBody>
      </p:sp>
      <p:sp>
        <p:nvSpPr>
          <p:cNvPr id="12" name="矩形 11"/>
          <p:cNvSpPr/>
          <p:nvPr/>
        </p:nvSpPr>
        <p:spPr>
          <a:xfrm>
            <a:off x="1687830" y="1835785"/>
            <a:ext cx="7839710" cy="1020445"/>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5" name="文字框 14"/>
          <p:cNvSpPr txBox="1"/>
          <p:nvPr/>
        </p:nvSpPr>
        <p:spPr>
          <a:xfrm>
            <a:off x="4393565" y="1477645"/>
            <a:ext cx="2428240" cy="337185"/>
          </a:xfrm>
          <a:prstGeom prst="rect">
            <a:avLst/>
          </a:prstGeom>
          <a:noFill/>
        </p:spPr>
        <p:txBody>
          <a:bodyPr wrap="square" rtlCol="0" anchor="t">
            <a:spAutoFit/>
          </a:bodyPr>
          <a:p>
            <a:pPr algn="ctr"/>
            <a:r>
              <a:rPr kumimoji="1" lang="zh-CN" altLang="en-US" sz="1600" b="1" dirty="0" smtClean="0">
                <a:solidFill>
                  <a:srgbClr val="0070BF"/>
                </a:solidFill>
                <a:latin typeface="微软雅黑" panose="020B0503020204020204" charset="-122"/>
                <a:ea typeface="微软雅黑" panose="020B0503020204020204" charset="-122"/>
                <a:sym typeface="+mn-ea"/>
              </a:rPr>
              <a:t>一级</a:t>
            </a:r>
            <a:r>
              <a:rPr kumimoji="1" lang="zh-CN" altLang="en-US" sz="1600" b="1" dirty="0" smtClean="0">
                <a:solidFill>
                  <a:srgbClr val="0070BF"/>
                </a:solidFill>
                <a:latin typeface="微软雅黑" panose="020B0503020204020204" charset="-122"/>
                <a:ea typeface="微软雅黑" panose="020B0503020204020204" charset="-122"/>
                <a:sym typeface="+mn-ea"/>
              </a:rPr>
              <a:t>工作台</a:t>
            </a:r>
            <a:endParaRPr kumimoji="1" lang="zh-CN" altLang="en-US" sz="1600" b="1" dirty="0" smtClean="0">
              <a:solidFill>
                <a:srgbClr val="0070BF"/>
              </a:solidFill>
              <a:latin typeface="微软雅黑" panose="020B0503020204020204" charset="-122"/>
              <a:ea typeface="微软雅黑" panose="020B0503020204020204" charset="-122"/>
              <a:sym typeface="+mn-ea"/>
            </a:endParaRPr>
          </a:p>
        </p:txBody>
      </p:sp>
      <p:sp>
        <p:nvSpPr>
          <p:cNvPr id="16" name="矩形 15"/>
          <p:cNvSpPr/>
          <p:nvPr/>
        </p:nvSpPr>
        <p:spPr>
          <a:xfrm>
            <a:off x="10084435" y="1835785"/>
            <a:ext cx="1462405" cy="1020445"/>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7" name="文字框 16"/>
          <p:cNvSpPr txBox="1"/>
          <p:nvPr/>
        </p:nvSpPr>
        <p:spPr>
          <a:xfrm>
            <a:off x="10003155" y="1477645"/>
            <a:ext cx="1624965" cy="337185"/>
          </a:xfrm>
          <a:prstGeom prst="rect">
            <a:avLst/>
          </a:prstGeom>
          <a:noFill/>
        </p:spPr>
        <p:txBody>
          <a:bodyPr wrap="square" rtlCol="0" anchor="t">
            <a:spAutoFit/>
          </a:bodyPr>
          <a:p>
            <a:pPr algn="ctr"/>
            <a:r>
              <a:rPr kumimoji="1" lang="zh-CN" altLang="en-US" sz="1600" b="1" dirty="0" smtClean="0">
                <a:solidFill>
                  <a:srgbClr val="0070BF"/>
                </a:solidFill>
                <a:latin typeface="微软雅黑" panose="020B0503020204020204" charset="-122"/>
                <a:ea typeface="微软雅黑" panose="020B0503020204020204" charset="-122"/>
                <a:sym typeface="+mn-ea"/>
              </a:rPr>
              <a:t>省级</a:t>
            </a:r>
            <a:r>
              <a:rPr kumimoji="1" lang="zh-CN" altLang="en-US" sz="1600" b="1" dirty="0" smtClean="0">
                <a:solidFill>
                  <a:srgbClr val="0070BF"/>
                </a:solidFill>
                <a:latin typeface="微软雅黑" panose="020B0503020204020204" charset="-122"/>
                <a:ea typeface="微软雅黑" panose="020B0503020204020204" charset="-122"/>
                <a:sym typeface="+mn-ea"/>
              </a:rPr>
              <a:t>节点</a:t>
            </a:r>
            <a:endParaRPr kumimoji="1" lang="zh-CN" altLang="en-US" sz="1600" b="1" dirty="0" smtClean="0">
              <a:solidFill>
                <a:srgbClr val="0070BF"/>
              </a:solidFill>
              <a:latin typeface="微软雅黑" panose="020B0503020204020204" charset="-122"/>
              <a:ea typeface="微软雅黑" panose="020B0503020204020204" charset="-122"/>
              <a:sym typeface="+mn-ea"/>
            </a:endParaRPr>
          </a:p>
        </p:txBody>
      </p:sp>
      <p:sp>
        <p:nvSpPr>
          <p:cNvPr id="18" name="文字框 17"/>
          <p:cNvSpPr txBox="1"/>
          <p:nvPr/>
        </p:nvSpPr>
        <p:spPr>
          <a:xfrm>
            <a:off x="10186035" y="2036445"/>
            <a:ext cx="1236345" cy="583565"/>
          </a:xfrm>
          <a:prstGeom prst="rect">
            <a:avLst/>
          </a:prstGeom>
          <a:noFill/>
        </p:spPr>
        <p:txBody>
          <a:bodyPr wrap="square" rtlCol="0" anchor="t">
            <a:spAutoFit/>
          </a:bodyPr>
          <a:p>
            <a:pPr algn="ctr"/>
            <a:r>
              <a:rPr kumimoji="1" lang="zh-CN" altLang="en-US" sz="1600" dirty="0" smtClean="0">
                <a:latin typeface="微软雅黑" panose="020B0503020204020204" charset="-122"/>
                <a:ea typeface="微软雅黑" panose="020B0503020204020204" charset="-122"/>
                <a:sym typeface="+mn-ea"/>
              </a:rPr>
              <a:t>按需接入一级</a:t>
            </a:r>
            <a:r>
              <a:rPr kumimoji="1" lang="zh-CN" altLang="en-US" sz="1600" dirty="0" smtClean="0">
                <a:latin typeface="微软雅黑" panose="020B0503020204020204" charset="-122"/>
                <a:ea typeface="微软雅黑" panose="020B0503020204020204" charset="-122"/>
                <a:sym typeface="+mn-ea"/>
              </a:rPr>
              <a:t>能力</a:t>
            </a:r>
            <a:endParaRPr kumimoji="1" lang="zh-CN" altLang="en-US" sz="1600" dirty="0" smtClean="0">
              <a:latin typeface="微软雅黑" panose="020B0503020204020204" charset="-122"/>
              <a:ea typeface="微软雅黑" panose="020B0503020204020204" charset="-122"/>
              <a:sym typeface="+mn-ea"/>
            </a:endParaRPr>
          </a:p>
        </p:txBody>
      </p:sp>
      <p:grpSp>
        <p:nvGrpSpPr>
          <p:cNvPr id="36" name="組合 35"/>
          <p:cNvGrpSpPr/>
          <p:nvPr/>
        </p:nvGrpSpPr>
        <p:grpSpPr>
          <a:xfrm rot="0">
            <a:off x="1882775" y="2003425"/>
            <a:ext cx="7494905" cy="431165"/>
            <a:chOff x="3122" y="3144"/>
            <a:chExt cx="11603" cy="640"/>
          </a:xfrm>
          <a:solidFill>
            <a:srgbClr val="DEEBFE"/>
          </a:solidFill>
        </p:grpSpPr>
        <p:sp>
          <p:nvSpPr>
            <p:cNvPr id="19" name="矩形 18"/>
            <p:cNvSpPr/>
            <p:nvPr/>
          </p:nvSpPr>
          <p:spPr>
            <a:xfrm>
              <a:off x="3122"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指标</a:t>
              </a:r>
              <a:endParaRPr lang="zh-CN" altLang="zh-HK" sz="1400">
                <a:solidFill>
                  <a:schemeClr val="tx1"/>
                </a:solidFill>
              </a:endParaRPr>
            </a:p>
          </p:txBody>
        </p:sp>
        <p:sp>
          <p:nvSpPr>
            <p:cNvPr id="20" name="矩形 19"/>
            <p:cNvSpPr/>
            <p:nvPr/>
          </p:nvSpPr>
          <p:spPr>
            <a:xfrm>
              <a:off x="4433"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洞察</a:t>
              </a:r>
              <a:endParaRPr lang="zh-CN" altLang="zh-HK" sz="1400">
                <a:solidFill>
                  <a:schemeClr val="tx1"/>
                </a:solidFill>
              </a:endParaRPr>
            </a:p>
          </p:txBody>
        </p:sp>
        <p:sp>
          <p:nvSpPr>
            <p:cNvPr id="21" name="矩形 20"/>
            <p:cNvSpPr/>
            <p:nvPr/>
          </p:nvSpPr>
          <p:spPr>
            <a:xfrm>
              <a:off x="5743"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策略</a:t>
              </a:r>
              <a:endParaRPr lang="zh-CN" altLang="zh-HK" sz="1400">
                <a:solidFill>
                  <a:schemeClr val="tx1"/>
                </a:solidFill>
              </a:endParaRPr>
            </a:p>
          </p:txBody>
        </p:sp>
        <p:sp>
          <p:nvSpPr>
            <p:cNvPr id="24" name="矩形 23"/>
            <p:cNvSpPr/>
            <p:nvPr/>
          </p:nvSpPr>
          <p:spPr>
            <a:xfrm>
              <a:off x="7054"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调度</a:t>
              </a:r>
              <a:endParaRPr lang="zh-CN" altLang="zh-HK" sz="1400">
                <a:solidFill>
                  <a:schemeClr val="tx1"/>
                </a:solidFill>
              </a:endParaRPr>
            </a:p>
          </p:txBody>
        </p:sp>
        <p:sp>
          <p:nvSpPr>
            <p:cNvPr id="27" name="矩形 26"/>
            <p:cNvSpPr/>
            <p:nvPr/>
          </p:nvSpPr>
          <p:spPr>
            <a:xfrm>
              <a:off x="8365"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评估</a:t>
              </a:r>
              <a:endParaRPr lang="zh-CN" altLang="zh-HK" sz="1400">
                <a:solidFill>
                  <a:schemeClr val="tx1"/>
                </a:solidFill>
              </a:endParaRPr>
            </a:p>
          </p:txBody>
        </p:sp>
        <p:sp>
          <p:nvSpPr>
            <p:cNvPr id="31" name="矩形 30"/>
            <p:cNvSpPr/>
            <p:nvPr/>
          </p:nvSpPr>
          <p:spPr>
            <a:xfrm>
              <a:off x="9676"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案例</a:t>
              </a:r>
              <a:endParaRPr lang="zh-CN" altLang="zh-HK" sz="1400">
                <a:solidFill>
                  <a:schemeClr val="tx1"/>
                </a:solidFill>
              </a:endParaRPr>
            </a:p>
          </p:txBody>
        </p:sp>
        <p:sp>
          <p:nvSpPr>
            <p:cNvPr id="32" name="矩形 31"/>
            <p:cNvSpPr/>
            <p:nvPr/>
          </p:nvSpPr>
          <p:spPr>
            <a:xfrm>
              <a:off x="10986"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素材</a:t>
              </a:r>
              <a:endParaRPr lang="zh-CN" altLang="zh-HK" sz="1400">
                <a:solidFill>
                  <a:schemeClr val="tx1"/>
                </a:solidFill>
              </a:endParaRPr>
            </a:p>
          </p:txBody>
        </p:sp>
        <p:sp>
          <p:nvSpPr>
            <p:cNvPr id="33" name="矩形 32"/>
            <p:cNvSpPr/>
            <p:nvPr/>
          </p:nvSpPr>
          <p:spPr>
            <a:xfrm>
              <a:off x="12297"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配置</a:t>
              </a:r>
              <a:endParaRPr lang="zh-CN" altLang="zh-HK" sz="1400">
                <a:solidFill>
                  <a:schemeClr val="tx1"/>
                </a:solidFill>
              </a:endParaRPr>
            </a:p>
          </p:txBody>
        </p:sp>
        <p:sp>
          <p:nvSpPr>
            <p:cNvPr id="35" name="矩形 34"/>
            <p:cNvSpPr/>
            <p:nvPr/>
          </p:nvSpPr>
          <p:spPr>
            <a:xfrm>
              <a:off x="13607" y="3144"/>
              <a:ext cx="1119" cy="640"/>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下载</a:t>
              </a:r>
              <a:endParaRPr lang="zh-CN" altLang="zh-HK" sz="1400">
                <a:solidFill>
                  <a:schemeClr val="tx1"/>
                </a:solidFill>
              </a:endParaRPr>
            </a:p>
          </p:txBody>
        </p:sp>
      </p:grpSp>
      <p:sp>
        <p:nvSpPr>
          <p:cNvPr id="37" name="文字框 36"/>
          <p:cNvSpPr txBox="1"/>
          <p:nvPr/>
        </p:nvSpPr>
        <p:spPr>
          <a:xfrm>
            <a:off x="2315845" y="2493010"/>
            <a:ext cx="6879590" cy="275590"/>
          </a:xfrm>
          <a:prstGeom prst="rect">
            <a:avLst/>
          </a:prstGeom>
          <a:noFill/>
        </p:spPr>
        <p:txBody>
          <a:bodyPr wrap="square" rtlCol="0" anchor="t">
            <a:spAutoFit/>
          </a:bodyPr>
          <a:p>
            <a:pPr algn="l"/>
            <a:r>
              <a:rPr lang="zh-CN" altLang="en-US" sz="1200">
                <a:solidFill>
                  <a:srgbClr val="0F1115"/>
                </a:solidFill>
                <a:latin typeface="微软雅黑" panose="020B0503020204020204" charset="-122"/>
                <a:ea typeface="微软雅黑" panose="020B0503020204020204" charset="-122"/>
                <a:sym typeface="+mn-ea"/>
              </a:rPr>
              <a:t>一级工作台整合各中心能力</a:t>
            </a:r>
            <a:r>
              <a:rPr lang="en-US" altLang="zh-CN" sz="1200">
                <a:solidFill>
                  <a:srgbClr val="0F1115"/>
                </a:solidFill>
                <a:latin typeface="微软雅黑" panose="020B0503020204020204" charset="-122"/>
                <a:ea typeface="微软雅黑" panose="020B0503020204020204" charset="-122"/>
                <a:sym typeface="+mn-ea"/>
              </a:rPr>
              <a:t>，</a:t>
            </a:r>
            <a:r>
              <a:rPr lang="zh-CN" altLang="en-US" sz="1200">
                <a:solidFill>
                  <a:srgbClr val="0F1115"/>
                </a:solidFill>
                <a:latin typeface="微软雅黑" panose="020B0503020204020204" charset="-122"/>
                <a:ea typeface="微软雅黑" panose="020B0503020204020204" charset="-122"/>
                <a:sym typeface="+mn-ea"/>
              </a:rPr>
              <a:t>后续向有需求的省份开放相关视图和功能，支持属地化运营</a:t>
            </a:r>
            <a:endParaRPr kumimoji="1" lang="zh-CN" altLang="en-US" sz="1200" dirty="0" smtClean="0">
              <a:solidFill>
                <a:srgbClr val="0F1115"/>
              </a:solidFill>
              <a:latin typeface="微软雅黑" panose="020B0503020204020204" charset="-122"/>
              <a:ea typeface="微软雅黑" panose="020B0503020204020204" charset="-122"/>
              <a:sym typeface="+mn-ea"/>
            </a:endParaRPr>
          </a:p>
        </p:txBody>
      </p:sp>
      <p:cxnSp>
        <p:nvCxnSpPr>
          <p:cNvPr id="38" name="直接箭頭連接符 37"/>
          <p:cNvCxnSpPr>
            <a:stCxn id="12" idx="3"/>
            <a:endCxn id="16" idx="1"/>
          </p:cNvCxnSpPr>
          <p:nvPr/>
        </p:nvCxnSpPr>
        <p:spPr>
          <a:xfrm>
            <a:off x="9527540" y="2345690"/>
            <a:ext cx="5568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9" name="矩形 38"/>
          <p:cNvSpPr/>
          <p:nvPr/>
        </p:nvSpPr>
        <p:spPr>
          <a:xfrm>
            <a:off x="1687830" y="3084195"/>
            <a:ext cx="250253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0" name="矩形 39"/>
          <p:cNvSpPr/>
          <p:nvPr/>
        </p:nvSpPr>
        <p:spPr>
          <a:xfrm>
            <a:off x="4357370" y="3084195"/>
            <a:ext cx="250253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1" name="矩形 40"/>
          <p:cNvSpPr/>
          <p:nvPr/>
        </p:nvSpPr>
        <p:spPr>
          <a:xfrm>
            <a:off x="7026910" y="3084195"/>
            <a:ext cx="250253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4" name="文字框 43"/>
          <p:cNvSpPr txBox="1"/>
          <p:nvPr/>
        </p:nvSpPr>
        <p:spPr>
          <a:xfrm>
            <a:off x="1762125" y="3084195"/>
            <a:ext cx="2428240" cy="306705"/>
          </a:xfrm>
          <a:prstGeom prst="rect">
            <a:avLst/>
          </a:prstGeom>
          <a:noFill/>
        </p:spPr>
        <p:txBody>
          <a:bodyPr wrap="square" rtlCol="0" anchor="t">
            <a:spAutoFit/>
          </a:bodyPr>
          <a:p>
            <a:pPr algn="ctr"/>
            <a:r>
              <a:rPr kumimoji="1" lang="zh-CN" altLang="en-US" sz="1400" b="1" dirty="0" smtClean="0">
                <a:solidFill>
                  <a:srgbClr val="0070BF"/>
                </a:solidFill>
                <a:latin typeface="微软雅黑" panose="020B0503020204020204" charset="-122"/>
                <a:ea typeface="微软雅黑" panose="020B0503020204020204" charset="-122"/>
                <a:sym typeface="+mn-ea"/>
              </a:rPr>
              <a:t>个人</a:t>
            </a:r>
            <a:r>
              <a:rPr kumimoji="1" lang="zh-CN" altLang="en-US" sz="1400" b="1" dirty="0" smtClean="0">
                <a:solidFill>
                  <a:srgbClr val="0070BF"/>
                </a:solidFill>
                <a:latin typeface="微软雅黑" panose="020B0503020204020204" charset="-122"/>
                <a:ea typeface="微软雅黑" panose="020B0503020204020204" charset="-122"/>
                <a:sym typeface="+mn-ea"/>
              </a:rPr>
              <a:t>工作台</a:t>
            </a:r>
            <a:endParaRPr kumimoji="1" lang="zh-CN" altLang="en-US" sz="1400" b="1" dirty="0" smtClean="0">
              <a:solidFill>
                <a:srgbClr val="0070BF"/>
              </a:solidFill>
              <a:latin typeface="微软雅黑" panose="020B0503020204020204" charset="-122"/>
              <a:ea typeface="微软雅黑" panose="020B0503020204020204" charset="-122"/>
              <a:sym typeface="+mn-ea"/>
            </a:endParaRPr>
          </a:p>
        </p:txBody>
      </p:sp>
      <p:sp>
        <p:nvSpPr>
          <p:cNvPr id="45" name="文字框 44"/>
          <p:cNvSpPr txBox="1"/>
          <p:nvPr/>
        </p:nvSpPr>
        <p:spPr>
          <a:xfrm>
            <a:off x="4403090" y="3084195"/>
            <a:ext cx="2428240" cy="306705"/>
          </a:xfrm>
          <a:prstGeom prst="rect">
            <a:avLst/>
          </a:prstGeom>
          <a:noFill/>
        </p:spPr>
        <p:txBody>
          <a:bodyPr wrap="square" rtlCol="0" anchor="t">
            <a:spAutoFit/>
          </a:bodyPr>
          <a:p>
            <a:pPr algn="ctr"/>
            <a:r>
              <a:rPr kumimoji="1" lang="zh-CN" altLang="en-US" sz="1400" b="1" dirty="0" smtClean="0">
                <a:solidFill>
                  <a:srgbClr val="0070BF"/>
                </a:solidFill>
                <a:latin typeface="微软雅黑" panose="020B0503020204020204" charset="-122"/>
                <a:ea typeface="微软雅黑" panose="020B0503020204020204" charset="-122"/>
                <a:sym typeface="+mn-ea"/>
              </a:rPr>
              <a:t>智慧</a:t>
            </a:r>
            <a:r>
              <a:rPr kumimoji="1" lang="zh-CN" altLang="en-US" sz="1400" b="1" dirty="0" smtClean="0">
                <a:solidFill>
                  <a:srgbClr val="0070BF"/>
                </a:solidFill>
                <a:latin typeface="微软雅黑" panose="020B0503020204020204" charset="-122"/>
                <a:ea typeface="微软雅黑" panose="020B0503020204020204" charset="-122"/>
                <a:sym typeface="+mn-ea"/>
              </a:rPr>
              <a:t>驾驶舱</a:t>
            </a:r>
            <a:endParaRPr kumimoji="1" lang="zh-CN" altLang="en-US" sz="1400" b="1" dirty="0" smtClean="0">
              <a:solidFill>
                <a:srgbClr val="0070BF"/>
              </a:solidFill>
              <a:latin typeface="微软雅黑" panose="020B0503020204020204" charset="-122"/>
              <a:ea typeface="微软雅黑" panose="020B0503020204020204" charset="-122"/>
              <a:sym typeface="+mn-ea"/>
            </a:endParaRPr>
          </a:p>
        </p:txBody>
      </p:sp>
      <p:sp>
        <p:nvSpPr>
          <p:cNvPr id="46" name="文字框 45"/>
          <p:cNvSpPr txBox="1"/>
          <p:nvPr/>
        </p:nvSpPr>
        <p:spPr>
          <a:xfrm>
            <a:off x="7044055" y="3084195"/>
            <a:ext cx="2428240" cy="306705"/>
          </a:xfrm>
          <a:prstGeom prst="rect">
            <a:avLst/>
          </a:prstGeom>
          <a:noFill/>
        </p:spPr>
        <p:txBody>
          <a:bodyPr wrap="square" rtlCol="0" anchor="t">
            <a:spAutoFit/>
          </a:bodyPr>
          <a:p>
            <a:pPr algn="ctr"/>
            <a:r>
              <a:rPr kumimoji="1" lang="zh-CN" altLang="en-US" sz="1400" b="1" dirty="0" smtClean="0">
                <a:solidFill>
                  <a:srgbClr val="0070BF"/>
                </a:solidFill>
                <a:latin typeface="微软雅黑" panose="020B0503020204020204" charset="-122"/>
                <a:ea typeface="微软雅黑" panose="020B0503020204020204" charset="-122"/>
                <a:sym typeface="+mn-ea"/>
              </a:rPr>
              <a:t>数智运营</a:t>
            </a:r>
            <a:r>
              <a:rPr kumimoji="1" lang="en-US" altLang="zh-CN" sz="1400" b="1" dirty="0" smtClean="0">
                <a:solidFill>
                  <a:srgbClr val="0070BF"/>
                </a:solidFill>
                <a:latin typeface="微软雅黑" panose="020B0503020204020204" charset="-122"/>
                <a:ea typeface="微软雅黑" panose="020B0503020204020204" charset="-122"/>
                <a:sym typeface="+mn-ea"/>
              </a:rPr>
              <a:t>（</a:t>
            </a:r>
            <a:r>
              <a:rPr kumimoji="1" lang="zh-CN" altLang="en-US" sz="1400" b="1" dirty="0" smtClean="0">
                <a:solidFill>
                  <a:srgbClr val="0070BF"/>
                </a:solidFill>
                <a:latin typeface="微软雅黑" panose="020B0503020204020204" charset="-122"/>
                <a:ea typeface="微软雅黑" panose="020B0503020204020204" charset="-122"/>
                <a:sym typeface="+mn-ea"/>
              </a:rPr>
              <a:t>专区</a:t>
            </a:r>
            <a:r>
              <a:rPr kumimoji="1" lang="en-US" altLang="zh-CN" sz="1400" b="1" dirty="0" smtClean="0">
                <a:solidFill>
                  <a:srgbClr val="0070BF"/>
                </a:solidFill>
                <a:latin typeface="微软雅黑" panose="020B0503020204020204" charset="-122"/>
                <a:ea typeface="微软雅黑" panose="020B0503020204020204" charset="-122"/>
                <a:sym typeface="+mn-ea"/>
              </a:rPr>
              <a:t>）</a:t>
            </a:r>
            <a:endParaRPr kumimoji="1" lang="en-US" altLang="zh-CN" sz="1400" b="1" dirty="0" smtClean="0">
              <a:solidFill>
                <a:srgbClr val="0070BF"/>
              </a:solidFill>
              <a:latin typeface="微软雅黑" panose="020B0503020204020204" charset="-122"/>
              <a:ea typeface="微软雅黑" panose="020B0503020204020204" charset="-122"/>
              <a:sym typeface="+mn-ea"/>
            </a:endParaRPr>
          </a:p>
        </p:txBody>
      </p:sp>
      <p:sp>
        <p:nvSpPr>
          <p:cNvPr id="48" name="文字框 47"/>
          <p:cNvSpPr txBox="1"/>
          <p:nvPr/>
        </p:nvSpPr>
        <p:spPr>
          <a:xfrm>
            <a:off x="4860925" y="2839085"/>
            <a:ext cx="1493520" cy="275590"/>
          </a:xfrm>
          <a:prstGeom prst="rect">
            <a:avLst/>
          </a:prstGeom>
          <a:noFill/>
        </p:spPr>
        <p:txBody>
          <a:bodyPr wrap="square" rtlCol="0">
            <a:spAutoFit/>
          </a:bodyPr>
          <a:p>
            <a:pPr algn="ctr"/>
            <a:r>
              <a:rPr kumimoji="1" lang="zh-CN" altLang="zh-HK" sz="1200" b="1" dirty="0" smtClean="0">
                <a:solidFill>
                  <a:srgbClr val="C00000"/>
                </a:solidFill>
                <a:latin typeface="微软雅黑" panose="020B0503020204020204" charset="-122"/>
                <a:ea typeface="微软雅黑" panose="020B0503020204020204" charset="-122"/>
              </a:rPr>
              <a:t>统一框架下可集成</a:t>
            </a:r>
            <a:endParaRPr kumimoji="1" lang="zh-CN" altLang="zh-HK" sz="1200" b="1" dirty="0" smtClean="0">
              <a:solidFill>
                <a:srgbClr val="C00000"/>
              </a:solidFill>
              <a:latin typeface="微软雅黑" panose="020B0503020204020204" charset="-122"/>
              <a:ea typeface="微软雅黑" panose="020B0503020204020204" charset="-122"/>
            </a:endParaRPr>
          </a:p>
        </p:txBody>
      </p:sp>
      <p:sp>
        <p:nvSpPr>
          <p:cNvPr id="49" name="文字框 48"/>
          <p:cNvSpPr txBox="1"/>
          <p:nvPr/>
        </p:nvSpPr>
        <p:spPr>
          <a:xfrm>
            <a:off x="1687195" y="3420110"/>
            <a:ext cx="518795" cy="460375"/>
          </a:xfrm>
          <a:prstGeom prst="rect">
            <a:avLst/>
          </a:prstGeom>
          <a:noFill/>
        </p:spPr>
        <p:txBody>
          <a:bodyPr wrap="square" rtlCol="0">
            <a:spAutoFit/>
          </a:bodyPr>
          <a:p>
            <a:pPr algn="l"/>
            <a:r>
              <a:rPr kumimoji="1" lang="zh-CN" altLang="zh-HK" sz="1200" b="1" dirty="0" smtClean="0">
                <a:latin typeface="微软雅黑" panose="020B0503020204020204" charset="-122"/>
                <a:ea typeface="微软雅黑" panose="020B0503020204020204" charset="-122"/>
              </a:rPr>
              <a:t>入口</a:t>
            </a:r>
            <a:endParaRPr kumimoji="1" lang="zh-CN" altLang="zh-HK" sz="1200" b="1" dirty="0" smtClean="0">
              <a:latin typeface="微软雅黑" panose="020B0503020204020204" charset="-122"/>
              <a:ea typeface="微软雅黑" panose="020B0503020204020204" charset="-122"/>
            </a:endParaRPr>
          </a:p>
          <a:p>
            <a:pPr algn="l"/>
            <a:r>
              <a:rPr kumimoji="1" lang="zh-CN" altLang="zh-HK" sz="1200" b="1" dirty="0" smtClean="0">
                <a:latin typeface="微软雅黑" panose="020B0503020204020204" charset="-122"/>
                <a:ea typeface="微软雅黑" panose="020B0503020204020204" charset="-122"/>
              </a:rPr>
              <a:t>集成</a:t>
            </a:r>
            <a:endParaRPr kumimoji="1" lang="zh-CN" altLang="zh-HK" sz="1200" b="1" dirty="0" smtClean="0">
              <a:latin typeface="微软雅黑" panose="020B0503020204020204" charset="-122"/>
              <a:ea typeface="微软雅黑" panose="020B0503020204020204" charset="-122"/>
            </a:endParaRPr>
          </a:p>
        </p:txBody>
      </p:sp>
      <p:sp>
        <p:nvSpPr>
          <p:cNvPr id="52" name="矩形 51"/>
          <p:cNvSpPr/>
          <p:nvPr/>
        </p:nvSpPr>
        <p:spPr>
          <a:xfrm>
            <a:off x="4502150" y="3430270"/>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运营总览</a:t>
            </a:r>
            <a:endParaRPr lang="zh-CN" altLang="zh-HK" sz="1200">
              <a:solidFill>
                <a:schemeClr val="tx1"/>
              </a:solidFill>
            </a:endParaRPr>
          </a:p>
        </p:txBody>
      </p:sp>
      <p:sp>
        <p:nvSpPr>
          <p:cNvPr id="53" name="矩形 52"/>
          <p:cNvSpPr/>
          <p:nvPr/>
        </p:nvSpPr>
        <p:spPr>
          <a:xfrm>
            <a:off x="5651500" y="3425190"/>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分系统大屏</a:t>
            </a:r>
            <a:endParaRPr lang="zh-CN" altLang="zh-HK" sz="1200">
              <a:solidFill>
                <a:schemeClr val="tx1"/>
              </a:solidFill>
            </a:endParaRPr>
          </a:p>
        </p:txBody>
      </p:sp>
      <p:sp>
        <p:nvSpPr>
          <p:cNvPr id="55" name="矩形 54"/>
          <p:cNvSpPr/>
          <p:nvPr/>
        </p:nvSpPr>
        <p:spPr>
          <a:xfrm>
            <a:off x="4496435" y="3708400"/>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一级元宇宙</a:t>
            </a:r>
            <a:endParaRPr lang="zh-CN" altLang="zh-HK" sz="1200">
              <a:solidFill>
                <a:schemeClr val="tx1"/>
              </a:solidFill>
            </a:endParaRPr>
          </a:p>
        </p:txBody>
      </p:sp>
      <p:sp>
        <p:nvSpPr>
          <p:cNvPr id="58" name="矩形 57"/>
          <p:cNvSpPr/>
          <p:nvPr/>
        </p:nvSpPr>
        <p:spPr>
          <a:xfrm>
            <a:off x="5651500" y="3708400"/>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统一调度</a:t>
            </a:r>
            <a:endParaRPr lang="zh-CN" altLang="zh-HK" sz="1200">
              <a:solidFill>
                <a:schemeClr val="tx1"/>
              </a:solidFill>
            </a:endParaRPr>
          </a:p>
        </p:txBody>
      </p:sp>
      <p:sp>
        <p:nvSpPr>
          <p:cNvPr id="59" name="矩形 58"/>
          <p:cNvSpPr/>
          <p:nvPr/>
        </p:nvSpPr>
        <p:spPr>
          <a:xfrm>
            <a:off x="7126605" y="3418205"/>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存量运营</a:t>
            </a:r>
            <a:endParaRPr lang="zh-CN" altLang="zh-HK" sz="1200">
              <a:solidFill>
                <a:schemeClr val="tx1"/>
              </a:solidFill>
            </a:endParaRPr>
          </a:p>
        </p:txBody>
      </p:sp>
      <p:sp>
        <p:nvSpPr>
          <p:cNvPr id="60" name="矩形 59"/>
          <p:cNvSpPr/>
          <p:nvPr/>
        </p:nvSpPr>
        <p:spPr>
          <a:xfrm>
            <a:off x="8275955" y="3413125"/>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国际业务</a:t>
            </a:r>
            <a:endParaRPr lang="zh-CN" altLang="zh-HK" sz="1200">
              <a:solidFill>
                <a:schemeClr val="tx1"/>
              </a:solidFill>
            </a:endParaRPr>
          </a:p>
        </p:txBody>
      </p:sp>
      <p:sp>
        <p:nvSpPr>
          <p:cNvPr id="61" name="矩形 60"/>
          <p:cNvSpPr/>
          <p:nvPr/>
        </p:nvSpPr>
        <p:spPr>
          <a:xfrm>
            <a:off x="7120255" y="3696335"/>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行业洞察</a:t>
            </a:r>
            <a:endParaRPr lang="zh-CN" altLang="zh-HK" sz="1200">
              <a:solidFill>
                <a:schemeClr val="tx1"/>
              </a:solidFill>
            </a:endParaRPr>
          </a:p>
        </p:txBody>
      </p:sp>
      <p:sp>
        <p:nvSpPr>
          <p:cNvPr id="62" name="矩形 61"/>
          <p:cNvSpPr/>
          <p:nvPr/>
        </p:nvSpPr>
        <p:spPr>
          <a:xfrm>
            <a:off x="8275955" y="3696335"/>
            <a:ext cx="1064260" cy="22034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省公司</a:t>
            </a:r>
            <a:endParaRPr lang="zh-CN" altLang="zh-HK" sz="1200">
              <a:solidFill>
                <a:schemeClr val="tx1"/>
              </a:solidFill>
            </a:endParaRPr>
          </a:p>
        </p:txBody>
      </p:sp>
      <p:grpSp>
        <p:nvGrpSpPr>
          <p:cNvPr id="69" name="組合 68"/>
          <p:cNvGrpSpPr/>
          <p:nvPr/>
        </p:nvGrpSpPr>
        <p:grpSpPr>
          <a:xfrm rot="0">
            <a:off x="2142490" y="3423920"/>
            <a:ext cx="2026285" cy="502920"/>
            <a:chOff x="5926" y="7098"/>
            <a:chExt cx="3292" cy="746"/>
          </a:xfrm>
          <a:solidFill>
            <a:srgbClr val="DEEBFE"/>
          </a:solidFill>
        </p:grpSpPr>
        <p:sp>
          <p:nvSpPr>
            <p:cNvPr id="63" name="矩形 62"/>
            <p:cNvSpPr/>
            <p:nvPr/>
          </p:nvSpPr>
          <p:spPr>
            <a:xfrm>
              <a:off x="5935" y="7105"/>
              <a:ext cx="1579" cy="327"/>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一级产商品</a:t>
              </a:r>
              <a:endParaRPr lang="zh-CN" altLang="zh-HK" sz="1200">
                <a:solidFill>
                  <a:schemeClr val="tx1"/>
                </a:solidFill>
              </a:endParaRPr>
            </a:p>
          </p:txBody>
        </p:sp>
        <p:sp>
          <p:nvSpPr>
            <p:cNvPr id="65" name="矩形 64"/>
            <p:cNvSpPr/>
            <p:nvPr/>
          </p:nvSpPr>
          <p:spPr>
            <a:xfrm>
              <a:off x="7640" y="7098"/>
              <a:ext cx="1579" cy="327"/>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一级</a:t>
              </a:r>
              <a:r>
                <a:rPr lang="en-US" altLang="zh-CN" sz="1200">
                  <a:solidFill>
                    <a:schemeClr val="tx1"/>
                  </a:solidFill>
                </a:rPr>
                <a:t>IOP</a:t>
              </a:r>
              <a:endParaRPr lang="en-US" altLang="zh-CN" sz="1200">
                <a:solidFill>
                  <a:schemeClr val="tx1"/>
                </a:solidFill>
              </a:endParaRPr>
            </a:p>
          </p:txBody>
        </p:sp>
        <p:sp>
          <p:nvSpPr>
            <p:cNvPr id="66" name="矩形 65"/>
            <p:cNvSpPr/>
            <p:nvPr/>
          </p:nvSpPr>
          <p:spPr>
            <a:xfrm>
              <a:off x="5926" y="7518"/>
              <a:ext cx="1579" cy="327"/>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渠道赋能</a:t>
              </a:r>
              <a:endParaRPr lang="zh-CN" altLang="zh-HK" sz="1200">
                <a:solidFill>
                  <a:schemeClr val="tx1"/>
                </a:solidFill>
              </a:endParaRPr>
            </a:p>
          </p:txBody>
        </p:sp>
        <p:sp>
          <p:nvSpPr>
            <p:cNvPr id="68" name="矩形 67"/>
            <p:cNvSpPr/>
            <p:nvPr/>
          </p:nvSpPr>
          <p:spPr>
            <a:xfrm>
              <a:off x="7640" y="7518"/>
              <a:ext cx="1579" cy="327"/>
            </a:xfrm>
            <a:prstGeom prst="rect">
              <a:avLst/>
            </a:prstGeom>
            <a:grp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泛全联盟</a:t>
              </a:r>
              <a:r>
                <a:rPr lang="en-US" altLang="zh-CN" sz="1200">
                  <a:solidFill>
                    <a:schemeClr val="tx1"/>
                  </a:solidFill>
                </a:rPr>
                <a:t>...</a:t>
              </a:r>
              <a:endParaRPr lang="en-US" altLang="zh-CN" sz="1200">
                <a:solidFill>
                  <a:schemeClr val="tx1"/>
                </a:solidFill>
              </a:endParaRPr>
            </a:p>
          </p:txBody>
        </p:sp>
      </p:grpSp>
      <p:sp>
        <p:nvSpPr>
          <p:cNvPr id="71" name="矩形 70"/>
          <p:cNvSpPr/>
          <p:nvPr/>
        </p:nvSpPr>
        <p:spPr>
          <a:xfrm>
            <a:off x="1687830" y="4452620"/>
            <a:ext cx="169735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2" name="矩形 71"/>
          <p:cNvSpPr/>
          <p:nvPr/>
        </p:nvSpPr>
        <p:spPr>
          <a:xfrm>
            <a:off x="3766820" y="4452620"/>
            <a:ext cx="169735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3" name="矩形 72"/>
          <p:cNvSpPr/>
          <p:nvPr/>
        </p:nvSpPr>
        <p:spPr>
          <a:xfrm>
            <a:off x="5802630" y="4452620"/>
            <a:ext cx="169735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4" name="矩形 73"/>
          <p:cNvSpPr/>
          <p:nvPr/>
        </p:nvSpPr>
        <p:spPr>
          <a:xfrm>
            <a:off x="7830820" y="4452620"/>
            <a:ext cx="1697355" cy="91694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6" name="文字框 75"/>
          <p:cNvSpPr txBox="1"/>
          <p:nvPr/>
        </p:nvSpPr>
        <p:spPr>
          <a:xfrm>
            <a:off x="2061845" y="4452620"/>
            <a:ext cx="951865" cy="306705"/>
          </a:xfrm>
          <a:prstGeom prst="rect">
            <a:avLst/>
          </a:prstGeom>
          <a:noFill/>
        </p:spPr>
        <p:txBody>
          <a:bodyPr wrap="square" rtlCol="0">
            <a:spAutoFit/>
          </a:bodyPr>
          <a:p>
            <a:pPr algn="l"/>
            <a:r>
              <a:rPr kumimoji="1" lang="zh-CN" altLang="zh-HK" sz="1400" b="1" dirty="0" smtClean="0">
                <a:solidFill>
                  <a:srgbClr val="0070BF"/>
                </a:solidFill>
                <a:latin typeface="微软雅黑" panose="020B0503020204020204" charset="-122"/>
                <a:ea typeface="微软雅黑" panose="020B0503020204020204" charset="-122"/>
              </a:rPr>
              <a:t>察</a:t>
            </a:r>
            <a:r>
              <a:rPr kumimoji="1" lang="en-US" altLang="zh-CN" sz="1400" b="1" dirty="0" smtClean="0">
                <a:solidFill>
                  <a:srgbClr val="0070BF"/>
                </a:solidFill>
                <a:latin typeface="微软雅黑" panose="020B0503020204020204" charset="-122"/>
                <a:ea typeface="微软雅黑" panose="020B0503020204020204" charset="-122"/>
              </a:rPr>
              <a:t>：</a:t>
            </a:r>
            <a:r>
              <a:rPr kumimoji="1" lang="zh-CN" altLang="en-US" sz="1400" b="1" dirty="0" smtClean="0">
                <a:solidFill>
                  <a:srgbClr val="0070BF"/>
                </a:solidFill>
                <a:latin typeface="微软雅黑" panose="020B0503020204020204" charset="-122"/>
                <a:ea typeface="微软雅黑" panose="020B0503020204020204" charset="-122"/>
              </a:rPr>
              <a:t>看数</a:t>
            </a:r>
            <a:endParaRPr kumimoji="1" lang="zh-CN" altLang="en-US" sz="1400" b="1" dirty="0" smtClean="0">
              <a:solidFill>
                <a:srgbClr val="0070BF"/>
              </a:solidFill>
              <a:latin typeface="微软雅黑" panose="020B0503020204020204" charset="-122"/>
              <a:ea typeface="微软雅黑" panose="020B0503020204020204" charset="-122"/>
            </a:endParaRPr>
          </a:p>
        </p:txBody>
      </p:sp>
      <p:sp>
        <p:nvSpPr>
          <p:cNvPr id="77" name="文字框 76"/>
          <p:cNvSpPr txBox="1"/>
          <p:nvPr/>
        </p:nvSpPr>
        <p:spPr>
          <a:xfrm>
            <a:off x="4169410" y="4452620"/>
            <a:ext cx="951865" cy="306705"/>
          </a:xfrm>
          <a:prstGeom prst="rect">
            <a:avLst/>
          </a:prstGeom>
          <a:noFill/>
        </p:spPr>
        <p:txBody>
          <a:bodyPr wrap="square" rtlCol="0">
            <a:spAutoFit/>
          </a:bodyPr>
          <a:p>
            <a:pPr algn="l"/>
            <a:r>
              <a:rPr kumimoji="1" lang="zh-CN" altLang="en-US" sz="1400" b="1" dirty="0" smtClean="0">
                <a:solidFill>
                  <a:srgbClr val="0070BF"/>
                </a:solidFill>
                <a:latin typeface="微软雅黑" panose="020B0503020204020204" charset="-122"/>
                <a:ea typeface="微软雅黑" panose="020B0503020204020204" charset="-122"/>
              </a:rPr>
              <a:t>策</a:t>
            </a:r>
            <a:r>
              <a:rPr kumimoji="1" lang="en-US" altLang="zh-CN" sz="1400" b="1" dirty="0" smtClean="0">
                <a:solidFill>
                  <a:srgbClr val="0070BF"/>
                </a:solidFill>
                <a:latin typeface="微软雅黑" panose="020B0503020204020204" charset="-122"/>
                <a:ea typeface="微软雅黑" panose="020B0503020204020204" charset="-122"/>
              </a:rPr>
              <a:t>：</a:t>
            </a:r>
            <a:r>
              <a:rPr kumimoji="1" lang="zh-CN" altLang="en-US" sz="1400" b="1" dirty="0" smtClean="0">
                <a:solidFill>
                  <a:srgbClr val="0070BF"/>
                </a:solidFill>
                <a:latin typeface="微软雅黑" panose="020B0503020204020204" charset="-122"/>
                <a:ea typeface="微软雅黑" panose="020B0503020204020204" charset="-122"/>
              </a:rPr>
              <a:t>定策</a:t>
            </a:r>
            <a:endParaRPr kumimoji="1" lang="zh-CN" altLang="en-US" sz="1400" b="1" dirty="0" smtClean="0">
              <a:solidFill>
                <a:srgbClr val="0070BF"/>
              </a:solidFill>
              <a:latin typeface="微软雅黑" panose="020B0503020204020204" charset="-122"/>
              <a:ea typeface="微软雅黑" panose="020B0503020204020204" charset="-122"/>
            </a:endParaRPr>
          </a:p>
        </p:txBody>
      </p:sp>
      <p:sp>
        <p:nvSpPr>
          <p:cNvPr id="78" name="文字框 77"/>
          <p:cNvSpPr txBox="1"/>
          <p:nvPr/>
        </p:nvSpPr>
        <p:spPr>
          <a:xfrm>
            <a:off x="6174740" y="4452620"/>
            <a:ext cx="951865" cy="306705"/>
          </a:xfrm>
          <a:prstGeom prst="rect">
            <a:avLst/>
          </a:prstGeom>
          <a:noFill/>
        </p:spPr>
        <p:txBody>
          <a:bodyPr wrap="square" rtlCol="0">
            <a:spAutoFit/>
          </a:bodyPr>
          <a:p>
            <a:pPr algn="l"/>
            <a:r>
              <a:rPr kumimoji="1" lang="zh-CN" altLang="en-US" sz="1400" b="1" dirty="0" smtClean="0">
                <a:solidFill>
                  <a:srgbClr val="0070BF"/>
                </a:solidFill>
                <a:latin typeface="微软雅黑" panose="020B0503020204020204" charset="-122"/>
                <a:ea typeface="微软雅黑" panose="020B0503020204020204" charset="-122"/>
              </a:rPr>
              <a:t>打</a:t>
            </a:r>
            <a:r>
              <a:rPr kumimoji="1" lang="en-US" altLang="zh-CN" sz="1400" b="1" dirty="0" smtClean="0">
                <a:solidFill>
                  <a:srgbClr val="0070BF"/>
                </a:solidFill>
                <a:latin typeface="微软雅黑" panose="020B0503020204020204" charset="-122"/>
                <a:ea typeface="微软雅黑" panose="020B0503020204020204" charset="-122"/>
              </a:rPr>
              <a:t>：</a:t>
            </a:r>
            <a:r>
              <a:rPr kumimoji="1" lang="zh-CN" altLang="en-US" sz="1400" b="1" dirty="0" smtClean="0">
                <a:solidFill>
                  <a:srgbClr val="0070BF"/>
                </a:solidFill>
                <a:latin typeface="微软雅黑" panose="020B0503020204020204" charset="-122"/>
                <a:ea typeface="微软雅黑" panose="020B0503020204020204" charset="-122"/>
              </a:rPr>
              <a:t>执行</a:t>
            </a:r>
            <a:endParaRPr kumimoji="1" lang="zh-CN" altLang="en-US" sz="1400" b="1" dirty="0" smtClean="0">
              <a:solidFill>
                <a:srgbClr val="0070BF"/>
              </a:solidFill>
              <a:latin typeface="微软雅黑" panose="020B0503020204020204" charset="-122"/>
              <a:ea typeface="微软雅黑" panose="020B0503020204020204" charset="-122"/>
            </a:endParaRPr>
          </a:p>
        </p:txBody>
      </p:sp>
      <p:sp>
        <p:nvSpPr>
          <p:cNvPr id="79" name="文字框 78"/>
          <p:cNvSpPr txBox="1"/>
          <p:nvPr/>
        </p:nvSpPr>
        <p:spPr>
          <a:xfrm>
            <a:off x="8190865" y="4452620"/>
            <a:ext cx="951865" cy="306705"/>
          </a:xfrm>
          <a:prstGeom prst="rect">
            <a:avLst/>
          </a:prstGeom>
          <a:noFill/>
        </p:spPr>
        <p:txBody>
          <a:bodyPr wrap="square" rtlCol="0">
            <a:spAutoFit/>
          </a:bodyPr>
          <a:p>
            <a:pPr algn="l"/>
            <a:r>
              <a:rPr kumimoji="1" lang="zh-CN" altLang="en-US" sz="1400" b="1" dirty="0" smtClean="0">
                <a:solidFill>
                  <a:srgbClr val="0070BF"/>
                </a:solidFill>
                <a:latin typeface="微软雅黑" panose="020B0503020204020204" charset="-122"/>
                <a:ea typeface="微软雅黑" panose="020B0503020204020204" charset="-122"/>
              </a:rPr>
              <a:t>评</a:t>
            </a:r>
            <a:r>
              <a:rPr kumimoji="1" lang="en-US" altLang="zh-CN" sz="1400" b="1" dirty="0" smtClean="0">
                <a:solidFill>
                  <a:srgbClr val="0070BF"/>
                </a:solidFill>
                <a:latin typeface="微软雅黑" panose="020B0503020204020204" charset="-122"/>
                <a:ea typeface="微软雅黑" panose="020B0503020204020204" charset="-122"/>
              </a:rPr>
              <a:t>：</a:t>
            </a:r>
            <a:r>
              <a:rPr kumimoji="1" lang="zh-CN" altLang="en-US" sz="1400" b="1" dirty="0" smtClean="0">
                <a:solidFill>
                  <a:srgbClr val="0070BF"/>
                </a:solidFill>
                <a:latin typeface="微软雅黑" panose="020B0503020204020204" charset="-122"/>
                <a:ea typeface="微软雅黑" panose="020B0503020204020204" charset="-122"/>
              </a:rPr>
              <a:t>评估</a:t>
            </a:r>
            <a:endParaRPr kumimoji="1" lang="zh-CN" altLang="en-US" sz="1400" b="1" dirty="0" smtClean="0">
              <a:solidFill>
                <a:srgbClr val="0070BF"/>
              </a:solidFill>
              <a:latin typeface="微软雅黑" panose="020B0503020204020204" charset="-122"/>
              <a:ea typeface="微软雅黑" panose="020B0503020204020204" charset="-122"/>
            </a:endParaRPr>
          </a:p>
        </p:txBody>
      </p:sp>
      <p:sp>
        <p:nvSpPr>
          <p:cNvPr id="80" name="文字框 79"/>
          <p:cNvSpPr txBox="1"/>
          <p:nvPr/>
        </p:nvSpPr>
        <p:spPr>
          <a:xfrm>
            <a:off x="1728470" y="4785995"/>
            <a:ext cx="1624965" cy="553085"/>
          </a:xfrm>
          <a:prstGeom prst="rect">
            <a:avLst/>
          </a:prstGeom>
          <a:noFill/>
        </p:spPr>
        <p:txBody>
          <a:bodyPr wrap="square" rtlCol="0" anchor="t">
            <a:spAutoFit/>
          </a:bodyPr>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sym typeface="微软雅黑" panose="020B0503020204020204" charset="-122"/>
              </a:rPr>
              <a:t>量质构效</a:t>
            </a:r>
            <a:endParaRPr lang="en-US" altLang="zh-CN" sz="1200" dirty="0">
              <a:solidFill>
                <a:schemeClr val="tx1"/>
              </a:solidFill>
            </a:endParaRPr>
          </a:p>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sym typeface="+mn-ea"/>
              </a:rPr>
              <a:t>业务异动实时监控</a:t>
            </a:r>
            <a:endParaRPr kumimoji="1" lang="zh-CN" altLang="en-US" sz="1200" dirty="0" smtClean="0">
              <a:solidFill>
                <a:schemeClr val="tx1"/>
              </a:solidFill>
              <a:latin typeface="微软雅黑" panose="020B0503020204020204" charset="-122"/>
              <a:ea typeface="微软雅黑" panose="020B0503020204020204" charset="-122"/>
              <a:sym typeface="+mn-ea"/>
            </a:endParaRPr>
          </a:p>
        </p:txBody>
      </p:sp>
      <p:sp>
        <p:nvSpPr>
          <p:cNvPr id="81" name="矩形: 圆角 99"/>
          <p:cNvSpPr/>
          <p:nvPr/>
        </p:nvSpPr>
        <p:spPr>
          <a:xfrm>
            <a:off x="3799205" y="4843145"/>
            <a:ext cx="1624965" cy="413385"/>
          </a:xfrm>
          <a:prstGeom prst="roundRect">
            <a:avLst/>
          </a:prstGeom>
          <a:no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rPr>
              <a:t>精准施策</a:t>
            </a:r>
            <a:endParaRPr lang="zh-CN" altLang="en-US" sz="1200" dirty="0">
              <a:solidFill>
                <a:schemeClr val="tx1"/>
              </a:solidFill>
            </a:endParaRPr>
          </a:p>
          <a:p>
            <a:pPr algn="ctr">
              <a:lnSpc>
                <a:spcPct val="125000"/>
              </a:lnSpc>
              <a:spcBef>
                <a:spcPts val="0"/>
              </a:spcBef>
              <a:spcAft>
                <a:spcPts val="0"/>
              </a:spcAft>
            </a:pPr>
            <a:r>
              <a:rPr sz="1200" dirty="0">
                <a:solidFill>
                  <a:schemeClr val="tx1"/>
                </a:solidFill>
              </a:rPr>
              <a:t>根因分析</a:t>
            </a:r>
            <a:r>
              <a:rPr lang="zh-CN" sz="1200" dirty="0">
                <a:solidFill>
                  <a:schemeClr val="tx1"/>
                </a:solidFill>
                <a:ea typeface="微软雅黑" panose="020B0503020204020204" charset="-122"/>
              </a:rPr>
              <a:t>按需</a:t>
            </a:r>
            <a:r>
              <a:rPr sz="1200" dirty="0">
                <a:solidFill>
                  <a:schemeClr val="tx1"/>
                </a:solidFill>
              </a:rPr>
              <a:t>定策</a:t>
            </a:r>
            <a:endParaRPr sz="1200" dirty="0">
              <a:solidFill>
                <a:schemeClr val="tx1"/>
              </a:solidFill>
            </a:endParaRPr>
          </a:p>
        </p:txBody>
      </p:sp>
      <p:sp>
        <p:nvSpPr>
          <p:cNvPr id="82" name="矩形: 圆角 101"/>
          <p:cNvSpPr/>
          <p:nvPr/>
        </p:nvSpPr>
        <p:spPr>
          <a:xfrm>
            <a:off x="5835015" y="4843145"/>
            <a:ext cx="1624965" cy="412750"/>
          </a:xfrm>
          <a:prstGeom prst="roundRect">
            <a:avLst/>
          </a:prstGeom>
          <a:no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rPr>
              <a:t>指挥调度</a:t>
            </a:r>
            <a:endParaRPr lang="en-US" altLang="zh-CN" sz="1200" dirty="0">
              <a:solidFill>
                <a:schemeClr val="tx1"/>
              </a:solidFill>
            </a:endParaRPr>
          </a:p>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rPr>
              <a:t>过程可视可管控</a:t>
            </a:r>
            <a:endParaRPr lang="zh-CN" altLang="en-US" sz="1200" dirty="0">
              <a:solidFill>
                <a:schemeClr val="tx1"/>
              </a:solidFill>
              <a:latin typeface="微软雅黑" panose="020B0503020204020204" charset="-122"/>
              <a:ea typeface="微软雅黑" panose="020B0503020204020204" charset="-122"/>
            </a:endParaRPr>
          </a:p>
        </p:txBody>
      </p:sp>
      <p:sp>
        <p:nvSpPr>
          <p:cNvPr id="111" name="矩形: 圆角 110"/>
          <p:cNvSpPr/>
          <p:nvPr/>
        </p:nvSpPr>
        <p:spPr>
          <a:xfrm>
            <a:off x="7863205" y="4843780"/>
            <a:ext cx="1624965" cy="412750"/>
          </a:xfrm>
          <a:prstGeom prst="roundRect">
            <a:avLst/>
          </a:prstGeom>
          <a:no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sym typeface="微软雅黑" panose="020B0503020204020204" charset="-122"/>
              </a:rPr>
              <a:t>量化评估</a:t>
            </a:r>
            <a:endParaRPr lang="en-US" altLang="zh-CN" sz="1200" dirty="0">
              <a:solidFill>
                <a:schemeClr val="tx1"/>
              </a:solidFill>
            </a:endParaRPr>
          </a:p>
          <a:p>
            <a:pPr algn="ctr">
              <a:lnSpc>
                <a:spcPct val="125000"/>
              </a:lnSpc>
              <a:spcBef>
                <a:spcPts val="0"/>
              </a:spcBef>
              <a:spcAft>
                <a:spcPts val="0"/>
              </a:spcAft>
            </a:pPr>
            <a:r>
              <a:rPr lang="zh-CN" altLang="en-US" sz="1200" dirty="0">
                <a:solidFill>
                  <a:schemeClr val="tx1"/>
                </a:solidFill>
                <a:latin typeface="微软雅黑" panose="020B0503020204020204" charset="-122"/>
                <a:ea typeface="微软雅黑" panose="020B0503020204020204" charset="-122"/>
              </a:rPr>
              <a:t>运营流程闭环</a:t>
            </a:r>
            <a:endParaRPr lang="zh-CN" altLang="en-US" sz="1200" dirty="0">
              <a:solidFill>
                <a:schemeClr val="tx1"/>
              </a:solidFill>
              <a:latin typeface="微软雅黑" panose="020B0503020204020204" charset="-122"/>
              <a:ea typeface="微软雅黑" panose="020B0503020204020204" charset="-122"/>
            </a:endParaRPr>
          </a:p>
        </p:txBody>
      </p:sp>
      <p:cxnSp>
        <p:nvCxnSpPr>
          <p:cNvPr id="83" name="直接箭頭連接符 82"/>
          <p:cNvCxnSpPr>
            <a:stCxn id="71" idx="3"/>
            <a:endCxn id="72" idx="1"/>
          </p:cNvCxnSpPr>
          <p:nvPr/>
        </p:nvCxnSpPr>
        <p:spPr>
          <a:xfrm>
            <a:off x="3385185" y="4911090"/>
            <a:ext cx="381635" cy="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85" name="直接箭頭連接符 84"/>
          <p:cNvCxnSpPr/>
          <p:nvPr/>
        </p:nvCxnSpPr>
        <p:spPr>
          <a:xfrm>
            <a:off x="5453380" y="4911090"/>
            <a:ext cx="381635" cy="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86" name="直接箭頭連接符 85"/>
          <p:cNvCxnSpPr/>
          <p:nvPr/>
        </p:nvCxnSpPr>
        <p:spPr>
          <a:xfrm>
            <a:off x="7481570" y="4911090"/>
            <a:ext cx="381635" cy="0"/>
          </a:xfrm>
          <a:prstGeom prst="straightConnector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88" name="肘形連接符 87"/>
          <p:cNvCxnSpPr>
            <a:stCxn id="79" idx="0"/>
            <a:endCxn id="76" idx="0"/>
          </p:cNvCxnSpPr>
          <p:nvPr/>
        </p:nvCxnSpPr>
        <p:spPr>
          <a:xfrm rot="16200000" flipH="1" flipV="1">
            <a:off x="5602605" y="1388110"/>
            <a:ext cx="3175" cy="6129020"/>
          </a:xfrm>
          <a:prstGeom prst="bentConnector3">
            <a:avLst>
              <a:gd name="adj1" fmla="val -7450000"/>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sp>
        <p:nvSpPr>
          <p:cNvPr id="89" name="矩形 88"/>
          <p:cNvSpPr/>
          <p:nvPr/>
        </p:nvSpPr>
        <p:spPr>
          <a:xfrm>
            <a:off x="4757420" y="4097655"/>
            <a:ext cx="1493520" cy="204470"/>
          </a:xfrm>
          <a:prstGeom prst="rect">
            <a:avLst/>
          </a:prstGeom>
          <a:solidFill>
            <a:schemeClr val="bg1"/>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评估结果赋能运营</a:t>
            </a:r>
            <a:endParaRPr lang="zh-CN" altLang="zh-HK" sz="1000"/>
          </a:p>
        </p:txBody>
      </p:sp>
      <p:sp>
        <p:nvSpPr>
          <p:cNvPr id="92" name="左大括號 91"/>
          <p:cNvSpPr/>
          <p:nvPr/>
        </p:nvSpPr>
        <p:spPr>
          <a:xfrm>
            <a:off x="1364615" y="3446145"/>
            <a:ext cx="281940" cy="144526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HK" altLang="en-US"/>
          </a:p>
        </p:txBody>
      </p:sp>
      <p:sp>
        <p:nvSpPr>
          <p:cNvPr id="93" name="矩形 92"/>
          <p:cNvSpPr/>
          <p:nvPr/>
        </p:nvSpPr>
        <p:spPr>
          <a:xfrm>
            <a:off x="10084435" y="3084830"/>
            <a:ext cx="1462405" cy="916305"/>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600">
                <a:solidFill>
                  <a:schemeClr val="tx1"/>
                </a:solidFill>
              </a:rPr>
              <a:t>已有</a:t>
            </a:r>
            <a:r>
              <a:rPr lang="en-US" altLang="zh-CN" sz="1600">
                <a:solidFill>
                  <a:schemeClr val="tx1"/>
                </a:solidFill>
              </a:rPr>
              <a:t>/</a:t>
            </a:r>
            <a:r>
              <a:rPr lang="zh-CN" altLang="en-US" sz="1600">
                <a:solidFill>
                  <a:schemeClr val="tx1"/>
                </a:solidFill>
              </a:rPr>
              <a:t>自建</a:t>
            </a:r>
            <a:endParaRPr lang="zh-CN" altLang="en-US" sz="1600">
              <a:solidFill>
                <a:schemeClr val="tx1"/>
              </a:solidFill>
            </a:endParaRPr>
          </a:p>
        </p:txBody>
      </p:sp>
      <p:sp>
        <p:nvSpPr>
          <p:cNvPr id="94" name="矩形 93"/>
          <p:cNvSpPr/>
          <p:nvPr/>
        </p:nvSpPr>
        <p:spPr>
          <a:xfrm>
            <a:off x="10091420" y="4454525"/>
            <a:ext cx="1462405" cy="894080"/>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600">
                <a:solidFill>
                  <a:schemeClr val="tx1"/>
                </a:solidFill>
              </a:rPr>
              <a:t>私有化</a:t>
            </a:r>
            <a:r>
              <a:rPr lang="zh-CN" altLang="zh-HK" sz="1600">
                <a:solidFill>
                  <a:schemeClr val="tx1"/>
                </a:solidFill>
              </a:rPr>
              <a:t>部署</a:t>
            </a:r>
            <a:endParaRPr lang="zh-CN" altLang="zh-HK" sz="1600">
              <a:solidFill>
                <a:schemeClr val="tx1"/>
              </a:solidFill>
            </a:endParaRPr>
          </a:p>
        </p:txBody>
      </p:sp>
      <p:sp>
        <p:nvSpPr>
          <p:cNvPr id="101" name="矩形 100"/>
          <p:cNvSpPr/>
          <p:nvPr/>
        </p:nvSpPr>
        <p:spPr>
          <a:xfrm>
            <a:off x="8317230" y="5619750"/>
            <a:ext cx="3230245" cy="819785"/>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02" name="文字框 101"/>
          <p:cNvSpPr txBox="1"/>
          <p:nvPr/>
        </p:nvSpPr>
        <p:spPr>
          <a:xfrm>
            <a:off x="8946515" y="5619115"/>
            <a:ext cx="1577975" cy="306705"/>
          </a:xfrm>
          <a:prstGeom prst="rect">
            <a:avLst/>
          </a:prstGeom>
          <a:noFill/>
        </p:spPr>
        <p:txBody>
          <a:bodyPr wrap="square" rtlCol="0">
            <a:spAutoFit/>
          </a:bodyPr>
          <a:p>
            <a:pPr algn="ctr"/>
            <a:r>
              <a:rPr kumimoji="1" lang="zh-CN" altLang="zh-HK" sz="1400" b="1" dirty="0" smtClean="0">
                <a:solidFill>
                  <a:srgbClr val="0070BF"/>
                </a:solidFill>
                <a:latin typeface="微软雅黑" panose="020B0503020204020204" charset="-122"/>
                <a:ea typeface="微软雅黑" panose="020B0503020204020204" charset="-122"/>
              </a:rPr>
              <a:t>统一流程</a:t>
            </a:r>
            <a:r>
              <a:rPr kumimoji="1" lang="zh-CN" altLang="zh-HK" sz="1400" b="1" dirty="0" smtClean="0">
                <a:solidFill>
                  <a:srgbClr val="0070BF"/>
                </a:solidFill>
                <a:latin typeface="微软雅黑" panose="020B0503020204020204" charset="-122"/>
                <a:ea typeface="微软雅黑" panose="020B0503020204020204" charset="-122"/>
              </a:rPr>
              <a:t>贯通</a:t>
            </a:r>
            <a:endParaRPr kumimoji="1" lang="zh-CN" altLang="zh-HK" sz="1400" b="1" dirty="0" smtClean="0">
              <a:solidFill>
                <a:srgbClr val="0070BF"/>
              </a:solidFill>
              <a:latin typeface="微软雅黑" panose="020B0503020204020204" charset="-122"/>
              <a:ea typeface="微软雅黑" panose="020B0503020204020204" charset="-122"/>
            </a:endParaRPr>
          </a:p>
        </p:txBody>
      </p:sp>
      <p:sp>
        <p:nvSpPr>
          <p:cNvPr id="95" name="矩形 94"/>
          <p:cNvSpPr/>
          <p:nvPr/>
        </p:nvSpPr>
        <p:spPr>
          <a:xfrm>
            <a:off x="1687830" y="5619115"/>
            <a:ext cx="6449695" cy="821055"/>
          </a:xfrm>
          <a:prstGeom prst="rect">
            <a:avLst/>
          </a:prstGeom>
          <a:solidFill>
            <a:schemeClr val="bg1">
              <a:lumMod val="95000"/>
            </a:schemeClr>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96" name="文字框 95"/>
          <p:cNvSpPr txBox="1"/>
          <p:nvPr/>
        </p:nvSpPr>
        <p:spPr>
          <a:xfrm>
            <a:off x="4246880" y="5619115"/>
            <a:ext cx="1906270" cy="306705"/>
          </a:xfrm>
          <a:prstGeom prst="rect">
            <a:avLst/>
          </a:prstGeom>
          <a:noFill/>
        </p:spPr>
        <p:txBody>
          <a:bodyPr wrap="square" rtlCol="0">
            <a:spAutoFit/>
          </a:bodyPr>
          <a:p>
            <a:pPr algn="l"/>
            <a:r>
              <a:rPr kumimoji="1" lang="zh-CN" altLang="zh-HK" sz="1400" b="1" dirty="0" smtClean="0">
                <a:solidFill>
                  <a:srgbClr val="0070BF"/>
                </a:solidFill>
                <a:latin typeface="微软雅黑" panose="020B0503020204020204" charset="-122"/>
                <a:ea typeface="微软雅黑" panose="020B0503020204020204" charset="-122"/>
              </a:rPr>
              <a:t>统一数据</a:t>
            </a:r>
            <a:r>
              <a:rPr kumimoji="1" lang="zh-CN" altLang="zh-HK" sz="1400" b="1" dirty="0" smtClean="0">
                <a:solidFill>
                  <a:srgbClr val="0070BF"/>
                </a:solidFill>
                <a:latin typeface="微软雅黑" panose="020B0503020204020204" charset="-122"/>
                <a:ea typeface="微软雅黑" panose="020B0503020204020204" charset="-122"/>
              </a:rPr>
              <a:t>支撑</a:t>
            </a:r>
            <a:endParaRPr kumimoji="1" lang="zh-CN" altLang="zh-HK" sz="1400" b="1" dirty="0" smtClean="0">
              <a:solidFill>
                <a:srgbClr val="0070BF"/>
              </a:solidFill>
              <a:latin typeface="微软雅黑" panose="020B0503020204020204" charset="-122"/>
              <a:ea typeface="微软雅黑" panose="020B0503020204020204" charset="-122"/>
            </a:endParaRPr>
          </a:p>
        </p:txBody>
      </p:sp>
      <p:sp>
        <p:nvSpPr>
          <p:cNvPr id="103" name="矩形 102"/>
          <p:cNvSpPr/>
          <p:nvPr/>
        </p:nvSpPr>
        <p:spPr>
          <a:xfrm>
            <a:off x="1908175" y="6000750"/>
            <a:ext cx="1101090"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指标中心</a:t>
            </a:r>
            <a:endParaRPr lang="zh-CN" altLang="zh-HK" sz="1200">
              <a:solidFill>
                <a:schemeClr val="tx1"/>
              </a:solidFill>
            </a:endParaRPr>
          </a:p>
        </p:txBody>
      </p:sp>
      <p:sp>
        <p:nvSpPr>
          <p:cNvPr id="104" name="矩形 103"/>
          <p:cNvSpPr/>
          <p:nvPr/>
        </p:nvSpPr>
        <p:spPr>
          <a:xfrm>
            <a:off x="3162300" y="6000750"/>
            <a:ext cx="1101090"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一级经分</a:t>
            </a:r>
            <a:endParaRPr lang="zh-CN" altLang="zh-HK" sz="1200">
              <a:solidFill>
                <a:schemeClr val="tx1"/>
              </a:solidFill>
            </a:endParaRPr>
          </a:p>
        </p:txBody>
      </p:sp>
      <p:sp>
        <p:nvSpPr>
          <p:cNvPr id="105" name="矩形 104"/>
          <p:cNvSpPr/>
          <p:nvPr/>
        </p:nvSpPr>
        <p:spPr>
          <a:xfrm>
            <a:off x="4414520" y="6000750"/>
            <a:ext cx="1101090"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可信空间</a:t>
            </a:r>
            <a:endParaRPr lang="zh-CN" altLang="zh-HK" sz="1200">
              <a:solidFill>
                <a:schemeClr val="tx1"/>
              </a:solidFill>
            </a:endParaRPr>
          </a:p>
        </p:txBody>
      </p:sp>
      <p:sp>
        <p:nvSpPr>
          <p:cNvPr id="106" name="矩形 105"/>
          <p:cNvSpPr/>
          <p:nvPr/>
        </p:nvSpPr>
        <p:spPr>
          <a:xfrm>
            <a:off x="5667375" y="6000750"/>
            <a:ext cx="1101090"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标签中心</a:t>
            </a:r>
            <a:endParaRPr lang="zh-CN" altLang="zh-HK" sz="1200">
              <a:solidFill>
                <a:schemeClr val="tx1"/>
              </a:solidFill>
            </a:endParaRPr>
          </a:p>
        </p:txBody>
      </p:sp>
      <p:sp>
        <p:nvSpPr>
          <p:cNvPr id="107" name="矩形 106"/>
          <p:cNvSpPr/>
          <p:nvPr/>
        </p:nvSpPr>
        <p:spPr>
          <a:xfrm>
            <a:off x="6854190" y="6000750"/>
            <a:ext cx="1101090"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模型中心</a:t>
            </a:r>
            <a:endParaRPr lang="zh-CN" altLang="zh-HK" sz="1200">
              <a:solidFill>
                <a:schemeClr val="tx1"/>
              </a:solidFill>
            </a:endParaRPr>
          </a:p>
        </p:txBody>
      </p:sp>
      <p:sp>
        <p:nvSpPr>
          <p:cNvPr id="110" name="矩形 109"/>
          <p:cNvSpPr/>
          <p:nvPr/>
        </p:nvSpPr>
        <p:spPr>
          <a:xfrm>
            <a:off x="8532495" y="6000750"/>
            <a:ext cx="1416685"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指挥调度平台</a:t>
            </a:r>
            <a:endParaRPr lang="zh-CN" altLang="zh-HK" sz="1200">
              <a:solidFill>
                <a:schemeClr val="tx1"/>
              </a:solidFill>
            </a:endParaRPr>
          </a:p>
        </p:txBody>
      </p:sp>
      <p:sp>
        <p:nvSpPr>
          <p:cNvPr id="112" name="矩形 111"/>
          <p:cNvSpPr/>
          <p:nvPr/>
        </p:nvSpPr>
        <p:spPr>
          <a:xfrm>
            <a:off x="10130155" y="6000750"/>
            <a:ext cx="1261745" cy="327025"/>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一级</a:t>
            </a:r>
            <a:r>
              <a:rPr lang="en-US" altLang="zh-CN" sz="1200">
                <a:solidFill>
                  <a:schemeClr val="tx1"/>
                </a:solidFill>
              </a:rPr>
              <a:t>IOP</a:t>
            </a:r>
            <a:endParaRPr lang="en-US" altLang="zh-CN" sz="1200">
              <a:solidFill>
                <a:schemeClr val="tx1"/>
              </a:solidFill>
            </a:endParaRPr>
          </a:p>
        </p:txBody>
      </p:sp>
      <p:cxnSp>
        <p:nvCxnSpPr>
          <p:cNvPr id="114" name="直接箭頭連接符 113"/>
          <p:cNvCxnSpPr>
            <a:stCxn id="93" idx="1"/>
            <a:endCxn id="41" idx="3"/>
          </p:cNvCxnSpPr>
          <p:nvPr/>
        </p:nvCxnSpPr>
        <p:spPr>
          <a:xfrm flipH="1" flipV="1">
            <a:off x="9528810" y="3542665"/>
            <a:ext cx="555625" cy="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5" name="肘形連接符 114"/>
          <p:cNvCxnSpPr>
            <a:stCxn id="94" idx="1"/>
            <a:endCxn id="41" idx="3"/>
          </p:cNvCxnSpPr>
          <p:nvPr/>
        </p:nvCxnSpPr>
        <p:spPr>
          <a:xfrm rot="10800000">
            <a:off x="9528810" y="3542665"/>
            <a:ext cx="561975" cy="135890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116" name="矩形 115"/>
          <p:cNvSpPr/>
          <p:nvPr/>
        </p:nvSpPr>
        <p:spPr>
          <a:xfrm>
            <a:off x="9251950" y="4097655"/>
            <a:ext cx="1101725" cy="204470"/>
          </a:xfrm>
          <a:prstGeom prst="rect">
            <a:avLst/>
          </a:prstGeom>
          <a:solidFill>
            <a:schemeClr val="bg1"/>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省级页面</a:t>
            </a:r>
            <a:r>
              <a:rPr lang="zh-CN" altLang="zh-HK" sz="1000"/>
              <a:t>嵌套</a:t>
            </a:r>
            <a:endParaRPr lang="zh-CN" altLang="zh-HK" sz="100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业务运营两级分工</a:t>
            </a:r>
            <a:endParaRPr lang="zh-CN" altLang="en-US"/>
          </a:p>
        </p:txBody>
      </p:sp>
      <p:sp>
        <p:nvSpPr>
          <p:cNvPr id="24" name="文本占位符 23"/>
          <p:cNvSpPr>
            <a:spLocks noGrp="1"/>
          </p:cNvSpPr>
          <p:nvPr>
            <p:ph type="body" sz="quarter" idx="10"/>
          </p:nvPr>
        </p:nvSpPr>
        <p:spPr>
          <a:xfrm>
            <a:off x="0" y="874395"/>
            <a:ext cx="12178665" cy="714375"/>
          </a:xfrm>
        </p:spPr>
        <p:txBody>
          <a:bodyPr/>
          <a:p>
            <a:pPr algn="l">
              <a:lnSpc>
                <a:spcPct val="150000"/>
              </a:lnSpc>
              <a:buSzTx/>
            </a:pPr>
            <a:r>
              <a:rPr lang="zh-CN" altLang="en-US"/>
              <a:t>以</a:t>
            </a:r>
            <a:r>
              <a:rPr lang="en-US" altLang="zh-CN"/>
              <a:t>“</a:t>
            </a:r>
            <a:r>
              <a:rPr lang="zh-CN" altLang="en-US"/>
              <a:t>看数</a:t>
            </a:r>
            <a:r>
              <a:rPr lang="en-US" altLang="zh-CN"/>
              <a:t>-</a:t>
            </a:r>
            <a:r>
              <a:rPr lang="zh-CN" altLang="en-US"/>
              <a:t>定策</a:t>
            </a:r>
            <a:r>
              <a:rPr lang="en-US" altLang="zh-CN"/>
              <a:t>-</a:t>
            </a:r>
            <a:r>
              <a:rPr lang="zh-CN" altLang="en-US"/>
              <a:t>执行</a:t>
            </a:r>
            <a:r>
              <a:rPr lang="en-US" altLang="zh-CN"/>
              <a:t>-</a:t>
            </a:r>
            <a:r>
              <a:rPr lang="zh-CN" altLang="en-US"/>
              <a:t>评估</a:t>
            </a:r>
            <a:r>
              <a:rPr lang="en-US" altLang="zh-CN"/>
              <a:t>”</a:t>
            </a:r>
            <a:r>
              <a:rPr lang="zh-CN" altLang="en-US"/>
              <a:t>运营体系为目标，集团市场部统一制定指标、发政策，调度执行并评估效果；各省公司开展二级运营，细分指标、分析异动，执行调度并跟踪策略</a:t>
            </a:r>
            <a:r>
              <a:rPr lang="zh-CN" altLang="en-US" noProof="0">
                <a:solidFill>
                  <a:prstClr val="black"/>
                </a:solidFill>
                <a:sym typeface="+mn-ea"/>
              </a:rPr>
              <a:t>。</a:t>
            </a:r>
            <a:endParaRPr lang="zh-CN" altLang="en-US" noProof="0">
              <a:solidFill>
                <a:prstClr val="black"/>
              </a:solidFill>
              <a:sym typeface="+mn-ea"/>
            </a:endParaRPr>
          </a:p>
        </p:txBody>
      </p:sp>
      <p:sp>
        <p:nvSpPr>
          <p:cNvPr id="6" name="矩形 5"/>
          <p:cNvSpPr/>
          <p:nvPr/>
        </p:nvSpPr>
        <p:spPr>
          <a:xfrm>
            <a:off x="676275" y="1710690"/>
            <a:ext cx="10868025" cy="4775835"/>
          </a:xfrm>
          <a:prstGeom prst="rect">
            <a:avLst/>
          </a:prstGeom>
          <a:solidFill>
            <a:schemeClr val="bg1"/>
          </a:solidFill>
          <a:ln w="6350" cap="flat">
            <a:solidFill>
              <a:srgbClr val="2F7AFF">
                <a:alpha val="15629"/>
              </a:srgbClr>
            </a:solid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charset="-122"/>
              <a:ea typeface="微软雅黑" panose="020B0503020204020204" charset="-122"/>
              <a:cs typeface="+mn-ea"/>
              <a:sym typeface="等线" panose="02010600030101010101" charset="-122"/>
            </a:endParaRPr>
          </a:p>
        </p:txBody>
      </p:sp>
      <p:sp>
        <p:nvSpPr>
          <p:cNvPr id="15" name="矩形 14"/>
          <p:cNvSpPr/>
          <p:nvPr/>
        </p:nvSpPr>
        <p:spPr>
          <a:xfrm>
            <a:off x="1026795" y="1924685"/>
            <a:ext cx="1270635" cy="4191000"/>
          </a:xfrm>
          <a:prstGeom prst="rect">
            <a:avLst/>
          </a:prstGeom>
          <a:solidFill>
            <a:srgbClr val="0070BF"/>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grpSp>
        <p:nvGrpSpPr>
          <p:cNvPr id="102" name="组合 101"/>
          <p:cNvGrpSpPr/>
          <p:nvPr/>
        </p:nvGrpSpPr>
        <p:grpSpPr>
          <a:xfrm rot="0">
            <a:off x="1201420" y="3495040"/>
            <a:ext cx="922020" cy="1327785"/>
            <a:chOff x="1201315" y="3137698"/>
            <a:chExt cx="921776" cy="1328022"/>
          </a:xfrm>
        </p:grpSpPr>
        <p:sp>
          <p:nvSpPr>
            <p:cNvPr id="19" name="文本框 18"/>
            <p:cNvSpPr txBox="1"/>
            <p:nvPr/>
          </p:nvSpPr>
          <p:spPr>
            <a:xfrm>
              <a:off x="1201315" y="3911870"/>
              <a:ext cx="921776" cy="553850"/>
            </a:xfrm>
            <a:prstGeom prst="rect">
              <a:avLst/>
            </a:prstGeom>
            <a:noFill/>
          </p:spPr>
          <p:txBody>
            <a:bodyPr vert="horz" wrap="square" lIns="0" tIns="0" rIns="0" bIns="0" rtlCol="0">
              <a:spAutoFit/>
            </a:bodyPr>
            <a:lstStyle/>
            <a:p>
              <a:pPr algn="ctr"/>
              <a:r>
                <a:rPr lang="zh-CN" altLang="en-US" dirty="0">
                  <a:solidFill>
                    <a:srgbClr val="FFFFFF"/>
                  </a:solidFill>
                  <a:latin typeface="微软雅黑" panose="020B0503020204020204" charset="-122"/>
                  <a:ea typeface="微软雅黑" panose="020B0503020204020204" charset="-122"/>
                </a:rPr>
                <a:t>营服一体</a:t>
              </a:r>
              <a:r>
                <a:rPr lang="zh-CN" altLang="en-US" dirty="0">
                  <a:solidFill>
                    <a:srgbClr val="FFFFFF"/>
                  </a:solidFill>
                  <a:latin typeface="微软雅黑" panose="020B0503020204020204" charset="-122"/>
                  <a:ea typeface="微软雅黑" panose="020B0503020204020204" charset="-122"/>
                </a:rPr>
                <a:t>运营</a:t>
              </a:r>
              <a:endParaRPr lang="zh-CN" altLang="en-US" dirty="0">
                <a:solidFill>
                  <a:srgbClr val="FFFFFF"/>
                </a:solidFill>
                <a:latin typeface="微软雅黑" panose="020B0503020204020204" charset="-122"/>
                <a:ea typeface="微软雅黑" panose="020B0503020204020204" charset="-122"/>
              </a:endParaRPr>
            </a:p>
          </p:txBody>
        </p:sp>
        <p:pic>
          <p:nvPicPr>
            <p:cNvPr id="101" name="图形 10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83946" y="3137698"/>
              <a:ext cx="756514" cy="756514"/>
            </a:xfrm>
            <a:prstGeom prst="rect">
              <a:avLst/>
            </a:prstGeom>
          </p:spPr>
        </p:pic>
      </p:grpSp>
      <p:sp>
        <p:nvSpPr>
          <p:cNvPr id="7" name="矩形 6"/>
          <p:cNvSpPr/>
          <p:nvPr/>
        </p:nvSpPr>
        <p:spPr>
          <a:xfrm flipV="1">
            <a:off x="3792855" y="2689860"/>
            <a:ext cx="1762125" cy="1306195"/>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charset="-122"/>
              <a:ea typeface="微软雅黑" panose="020B0503020204020204" charset="-122"/>
              <a:cs typeface="+mn-ea"/>
            </a:endParaRPr>
          </a:p>
        </p:txBody>
      </p:sp>
      <p:sp>
        <p:nvSpPr>
          <p:cNvPr id="8" name="矩形 7"/>
          <p:cNvSpPr/>
          <p:nvPr/>
        </p:nvSpPr>
        <p:spPr>
          <a:xfrm flipV="1">
            <a:off x="5626735" y="2689860"/>
            <a:ext cx="1762125" cy="1306195"/>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9" name="矩形 8"/>
          <p:cNvSpPr/>
          <p:nvPr/>
        </p:nvSpPr>
        <p:spPr>
          <a:xfrm flipV="1">
            <a:off x="7480300" y="2689860"/>
            <a:ext cx="1762125" cy="1306195"/>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0" name="矩形 9"/>
          <p:cNvSpPr/>
          <p:nvPr/>
        </p:nvSpPr>
        <p:spPr>
          <a:xfrm flipV="1">
            <a:off x="9304020" y="2689860"/>
            <a:ext cx="1762125" cy="1306195"/>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1" name="矩形 10"/>
          <p:cNvSpPr/>
          <p:nvPr/>
        </p:nvSpPr>
        <p:spPr>
          <a:xfrm>
            <a:off x="3792855" y="4434205"/>
            <a:ext cx="1762125" cy="1205230"/>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2" name="矩形 11"/>
          <p:cNvSpPr/>
          <p:nvPr/>
        </p:nvSpPr>
        <p:spPr>
          <a:xfrm>
            <a:off x="5626735" y="4434205"/>
            <a:ext cx="1762125" cy="1205230"/>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3" name="矩形 12"/>
          <p:cNvSpPr/>
          <p:nvPr/>
        </p:nvSpPr>
        <p:spPr>
          <a:xfrm>
            <a:off x="7480300" y="4434205"/>
            <a:ext cx="1762125" cy="1205230"/>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4" name="矩形 13"/>
          <p:cNvSpPr/>
          <p:nvPr/>
        </p:nvSpPr>
        <p:spPr>
          <a:xfrm>
            <a:off x="9304020" y="4434205"/>
            <a:ext cx="1762125" cy="1205230"/>
          </a:xfrm>
          <a:prstGeom prst="rect">
            <a:avLst/>
          </a:prstGeom>
          <a:solidFill>
            <a:srgbClr val="D1E3FE">
              <a:alpha val="33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7" name="矩形 16"/>
          <p:cNvSpPr/>
          <p:nvPr/>
        </p:nvSpPr>
        <p:spPr>
          <a:xfrm>
            <a:off x="2406015" y="1908810"/>
            <a:ext cx="1270635" cy="2087245"/>
          </a:xfrm>
          <a:prstGeom prst="rect">
            <a:avLst/>
          </a:prstGeom>
          <a:solidFill>
            <a:srgbClr val="D1E3FE">
              <a:alpha val="71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18" name="矩形 17"/>
          <p:cNvSpPr/>
          <p:nvPr/>
        </p:nvSpPr>
        <p:spPr>
          <a:xfrm>
            <a:off x="2406015" y="4077335"/>
            <a:ext cx="1270635" cy="1552575"/>
          </a:xfrm>
          <a:prstGeom prst="rect">
            <a:avLst/>
          </a:prstGeom>
          <a:solidFill>
            <a:srgbClr val="D1E3FE">
              <a:alpha val="71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endParaRPr>
          </a:p>
        </p:txBody>
      </p:sp>
      <p:sp>
        <p:nvSpPr>
          <p:cNvPr id="21" name="文本框 20"/>
          <p:cNvSpPr txBox="1"/>
          <p:nvPr/>
        </p:nvSpPr>
        <p:spPr>
          <a:xfrm>
            <a:off x="2406015" y="3286760"/>
            <a:ext cx="1270635" cy="202565"/>
          </a:xfrm>
          <a:prstGeom prst="rect">
            <a:avLst/>
          </a:prstGeom>
          <a:noFill/>
        </p:spPr>
        <p:txBody>
          <a:bodyPr wrap="square" lIns="0" tIns="0" rIns="0" bIns="0" rtlCol="0">
            <a:spAutoFit/>
          </a:bodyPr>
          <a:lstStyle/>
          <a:p>
            <a:pPr algn="ctr">
              <a:lnSpc>
                <a:spcPct val="120000"/>
              </a:lnSpc>
            </a:pP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（洞察</a:t>
            </a:r>
            <a:r>
              <a:rPr lang="en-US" altLang="zh-CN" sz="1100"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管理</a:t>
            </a:r>
            <a:r>
              <a:rPr lang="en-US" altLang="zh-CN" sz="1100"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调度）</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23" name="直接连接符 22"/>
          <p:cNvCxnSpPr/>
          <p:nvPr/>
        </p:nvCxnSpPr>
        <p:spPr>
          <a:xfrm>
            <a:off x="3792855" y="2170430"/>
            <a:ext cx="7273290" cy="0"/>
          </a:xfrm>
          <a:prstGeom prst="line">
            <a:avLst/>
          </a:prstGeom>
          <a:noFill/>
          <a:ln w="6350" cap="flat" cmpd="sng" algn="ctr">
            <a:solidFill>
              <a:srgbClr val="0070C0"/>
            </a:solidFill>
            <a:prstDash val="solid"/>
            <a:headEnd type="oval"/>
            <a:tailEnd type="oval"/>
          </a:ln>
          <a:effectLst/>
        </p:spPr>
      </p:cxnSp>
      <p:sp>
        <p:nvSpPr>
          <p:cNvPr id="25" name="矩形: 圆角 24"/>
          <p:cNvSpPr/>
          <p:nvPr/>
        </p:nvSpPr>
        <p:spPr>
          <a:xfrm>
            <a:off x="4199255" y="2024380"/>
            <a:ext cx="948690" cy="292735"/>
          </a:xfrm>
          <a:prstGeom prst="roundRect">
            <a:avLst>
              <a:gd name="adj" fmla="val 50000"/>
            </a:avLst>
          </a:prstGeom>
          <a:solidFill>
            <a:srgbClr val="0070C0"/>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FFFFFF"/>
              </a:solidFill>
              <a:latin typeface="微软雅黑" panose="020B0503020204020204" charset="-122"/>
              <a:ea typeface="微软雅黑" panose="020B0503020204020204" charset="-122"/>
              <a:cs typeface="+mn-ea"/>
            </a:endParaRPr>
          </a:p>
        </p:txBody>
      </p:sp>
      <p:sp>
        <p:nvSpPr>
          <p:cNvPr id="26" name="文本框 25"/>
          <p:cNvSpPr txBox="1"/>
          <p:nvPr/>
        </p:nvSpPr>
        <p:spPr>
          <a:xfrm>
            <a:off x="4489450" y="2046605"/>
            <a:ext cx="368300" cy="306705"/>
          </a:xfrm>
          <a:prstGeom prst="rect">
            <a:avLst/>
          </a:prstGeom>
          <a:noFill/>
        </p:spPr>
        <p:txBody>
          <a:bodyPr vert="horz" wrap="square" rtlCol="0">
            <a:spAutoFit/>
          </a:bodyPr>
          <a:lstStyle/>
          <a:p>
            <a:pPr algn="ctr"/>
            <a:r>
              <a:rPr lang="zh-CN" altLang="en-US" sz="1400" b="1" spc="60" dirty="0">
                <a:solidFill>
                  <a:srgbClr val="FFFFFF"/>
                </a:solidFill>
                <a:latin typeface="微软雅黑" panose="020B0503020204020204" charset="-122"/>
                <a:ea typeface="微软雅黑" panose="020B0503020204020204" charset="-122"/>
                <a:cs typeface="OPPOSans M" pitchFamily="18" charset="-122"/>
              </a:rPr>
              <a:t>察</a:t>
            </a:r>
            <a:endParaRPr lang="zh-CN" altLang="en-US" sz="1400" b="1" spc="60" dirty="0">
              <a:solidFill>
                <a:srgbClr val="FFFFFF"/>
              </a:solidFill>
              <a:latin typeface="微软雅黑" panose="020B0503020204020204" charset="-122"/>
              <a:ea typeface="微软雅黑" panose="020B0503020204020204" charset="-122"/>
              <a:cs typeface="OPPOSans M" pitchFamily="18" charset="-122"/>
            </a:endParaRPr>
          </a:p>
        </p:txBody>
      </p:sp>
      <p:sp>
        <p:nvSpPr>
          <p:cNvPr id="27" name="文本框 26"/>
          <p:cNvSpPr txBox="1"/>
          <p:nvPr/>
        </p:nvSpPr>
        <p:spPr>
          <a:xfrm>
            <a:off x="4419600" y="2398395"/>
            <a:ext cx="508000" cy="153670"/>
          </a:xfrm>
          <a:prstGeom prst="rect">
            <a:avLst/>
          </a:prstGeom>
          <a:noFill/>
        </p:spPr>
        <p:txBody>
          <a:bodyPr wrap="square" lIns="0" tIns="0" rIns="0" bIns="0" rtlCol="0">
            <a:spAutoFit/>
          </a:bodyPr>
          <a:lstStyle/>
          <a:p>
            <a:pPr algn="ctr"/>
            <a:r>
              <a:rPr lang="zh-CN" altLang="en-US" sz="1000" dirty="0">
                <a:solidFill>
                  <a:srgbClr val="000000">
                    <a:alpha val="50000"/>
                  </a:srgbClr>
                </a:solidFill>
                <a:latin typeface="微软雅黑" panose="020B0503020204020204" charset="-122"/>
                <a:ea typeface="微软雅黑" panose="020B0503020204020204" charset="-122"/>
              </a:rPr>
              <a:t>数据</a:t>
            </a:r>
            <a:r>
              <a:rPr lang="zh-CN" altLang="en-US" sz="1000" dirty="0">
                <a:solidFill>
                  <a:srgbClr val="000000">
                    <a:alpha val="50000"/>
                  </a:srgbClr>
                </a:solidFill>
                <a:latin typeface="微软雅黑" panose="020B0503020204020204" charset="-122"/>
                <a:ea typeface="微软雅黑" panose="020B0503020204020204" charset="-122"/>
              </a:rPr>
              <a:t>洞察</a:t>
            </a:r>
            <a:endParaRPr lang="zh-CN" altLang="en-US" sz="1000" dirty="0">
              <a:solidFill>
                <a:srgbClr val="000000">
                  <a:alpha val="50000"/>
                </a:srgbClr>
              </a:solidFill>
              <a:latin typeface="微软雅黑" panose="020B0503020204020204" charset="-122"/>
              <a:ea typeface="微软雅黑" panose="020B0503020204020204" charset="-122"/>
            </a:endParaRPr>
          </a:p>
        </p:txBody>
      </p:sp>
      <p:sp>
        <p:nvSpPr>
          <p:cNvPr id="28" name="文本框 27"/>
          <p:cNvSpPr txBox="1"/>
          <p:nvPr/>
        </p:nvSpPr>
        <p:spPr>
          <a:xfrm>
            <a:off x="4152900" y="2834640"/>
            <a:ext cx="1054100" cy="245745"/>
          </a:xfrm>
          <a:prstGeom prst="rect">
            <a:avLst/>
          </a:prstGeom>
          <a:noFill/>
        </p:spPr>
        <p:txBody>
          <a:bodyPr vert="horz" wrap="square" lIns="0" tIns="0" rIns="0" bIns="0" rtlCol="0">
            <a:spAutoFit/>
          </a:bodyPr>
          <a:lstStyle/>
          <a:p>
            <a:pPr algn="ctr"/>
            <a:r>
              <a:rPr lang="zh-CN" altLang="en-US" sz="1600" spc="60" dirty="0">
                <a:latin typeface="微软雅黑" panose="020B0503020204020204" charset="-122"/>
                <a:ea typeface="微软雅黑" panose="020B0503020204020204" charset="-122"/>
                <a:cs typeface="OPPOSans M" pitchFamily="18" charset="-122"/>
              </a:rPr>
              <a:t>全域全面性</a:t>
            </a:r>
            <a:endParaRPr lang="zh-CN" altLang="en-US" sz="1600" spc="60" dirty="0">
              <a:latin typeface="微软雅黑" panose="020B0503020204020204" charset="-122"/>
              <a:ea typeface="微软雅黑" panose="020B0503020204020204" charset="-122"/>
              <a:cs typeface="OPPOSans M" pitchFamily="18" charset="-122"/>
            </a:endParaRPr>
          </a:p>
        </p:txBody>
      </p:sp>
      <p:sp>
        <p:nvSpPr>
          <p:cNvPr id="31" name="矩形: 圆角 30"/>
          <p:cNvSpPr/>
          <p:nvPr/>
        </p:nvSpPr>
        <p:spPr>
          <a:xfrm>
            <a:off x="6033135" y="2024380"/>
            <a:ext cx="948690" cy="292735"/>
          </a:xfrm>
          <a:prstGeom prst="roundRect">
            <a:avLst>
              <a:gd name="adj" fmla="val 50000"/>
            </a:avLst>
          </a:prstGeom>
          <a:solidFill>
            <a:srgbClr val="0070C0"/>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en-US">
              <a:solidFill>
                <a:srgbClr val="FFFFFF"/>
              </a:solidFill>
              <a:latin typeface="微软雅黑" panose="020B0503020204020204" charset="-122"/>
              <a:ea typeface="微软雅黑" panose="020B0503020204020204" charset="-122"/>
              <a:cs typeface="+mn-ea"/>
              <a:sym typeface="+mn-ea"/>
            </a:endParaRPr>
          </a:p>
        </p:txBody>
      </p:sp>
      <p:sp>
        <p:nvSpPr>
          <p:cNvPr id="32" name="文本框 31"/>
          <p:cNvSpPr txBox="1"/>
          <p:nvPr/>
        </p:nvSpPr>
        <p:spPr>
          <a:xfrm>
            <a:off x="6323330" y="2046605"/>
            <a:ext cx="368300" cy="306705"/>
          </a:xfrm>
          <a:prstGeom prst="rect">
            <a:avLst/>
          </a:prstGeom>
          <a:noFill/>
        </p:spPr>
        <p:txBody>
          <a:bodyPr vert="horz" wrap="square" rtlCol="0">
            <a:spAutoFit/>
          </a:bodyPr>
          <a:lstStyle/>
          <a:p>
            <a:pPr algn="ctr"/>
            <a:r>
              <a:rPr lang="zh-CN" altLang="en-US" sz="1400" b="1" spc="60" dirty="0">
                <a:solidFill>
                  <a:srgbClr val="FFFFFF"/>
                </a:solidFill>
                <a:latin typeface="微软雅黑" panose="020B0503020204020204" charset="-122"/>
                <a:ea typeface="微软雅黑" panose="020B0503020204020204" charset="-122"/>
                <a:cs typeface="OPPOSans M" pitchFamily="18" charset="-122"/>
              </a:rPr>
              <a:t>策</a:t>
            </a:r>
            <a:endParaRPr lang="zh-CN" altLang="en-US" sz="1400" b="1" spc="60" dirty="0">
              <a:solidFill>
                <a:srgbClr val="FFFFFF"/>
              </a:solidFill>
              <a:latin typeface="微软雅黑" panose="020B0503020204020204" charset="-122"/>
              <a:ea typeface="微软雅黑" panose="020B0503020204020204" charset="-122"/>
              <a:cs typeface="OPPOSans M" pitchFamily="18" charset="-122"/>
            </a:endParaRPr>
          </a:p>
        </p:txBody>
      </p:sp>
      <p:sp>
        <p:nvSpPr>
          <p:cNvPr id="33" name="文本框 32"/>
          <p:cNvSpPr txBox="1"/>
          <p:nvPr/>
        </p:nvSpPr>
        <p:spPr>
          <a:xfrm>
            <a:off x="6253480" y="2398395"/>
            <a:ext cx="508000" cy="153670"/>
          </a:xfrm>
          <a:prstGeom prst="rect">
            <a:avLst/>
          </a:prstGeom>
          <a:noFill/>
        </p:spPr>
        <p:txBody>
          <a:bodyPr wrap="square" lIns="0" tIns="0" rIns="0" bIns="0" rtlCol="0">
            <a:spAutoFit/>
          </a:bodyPr>
          <a:lstStyle/>
          <a:p>
            <a:pPr algn="ctr"/>
            <a:r>
              <a:rPr lang="zh-CN" altLang="en-US" sz="1000" dirty="0">
                <a:solidFill>
                  <a:srgbClr val="000000">
                    <a:alpha val="50000"/>
                  </a:srgbClr>
                </a:solidFill>
                <a:latin typeface="微软雅黑" panose="020B0503020204020204" charset="-122"/>
                <a:ea typeface="微软雅黑" panose="020B0503020204020204" charset="-122"/>
              </a:rPr>
              <a:t>策略</a:t>
            </a:r>
            <a:r>
              <a:rPr lang="zh-CN" altLang="en-US" sz="1000" dirty="0">
                <a:solidFill>
                  <a:srgbClr val="000000">
                    <a:alpha val="50000"/>
                  </a:srgbClr>
                </a:solidFill>
                <a:latin typeface="微软雅黑" panose="020B0503020204020204" charset="-122"/>
                <a:ea typeface="微软雅黑" panose="020B0503020204020204" charset="-122"/>
              </a:rPr>
              <a:t>匹配</a:t>
            </a:r>
            <a:endParaRPr lang="zh-CN" altLang="en-US" sz="1000" dirty="0">
              <a:solidFill>
                <a:srgbClr val="000000">
                  <a:alpha val="50000"/>
                </a:srgbClr>
              </a:solidFill>
              <a:latin typeface="微软雅黑" panose="020B0503020204020204" charset="-122"/>
              <a:ea typeface="微软雅黑" panose="020B0503020204020204" charset="-122"/>
            </a:endParaRPr>
          </a:p>
        </p:txBody>
      </p:sp>
      <p:sp>
        <p:nvSpPr>
          <p:cNvPr id="34" name="文本框 33"/>
          <p:cNvSpPr txBox="1"/>
          <p:nvPr/>
        </p:nvSpPr>
        <p:spPr>
          <a:xfrm>
            <a:off x="6188075" y="2834640"/>
            <a:ext cx="745490" cy="217170"/>
          </a:xfrm>
          <a:prstGeom prst="rect">
            <a:avLst/>
          </a:prstGeom>
          <a:noFill/>
        </p:spPr>
        <p:txBody>
          <a:bodyPr vert="horz" wrap="none" lIns="0" tIns="0" rIns="0" bIns="0" rtlCol="0">
            <a:noAutofit/>
          </a:bodyPr>
          <a:lstStyle/>
          <a:p>
            <a:pPr algn="ctr"/>
            <a:r>
              <a:rPr lang="zh-CN" altLang="en-US" sz="1600" spc="60" dirty="0">
                <a:latin typeface="微软雅黑" panose="020B0503020204020204" charset="-122"/>
                <a:ea typeface="微软雅黑" panose="020B0503020204020204" charset="-122"/>
                <a:cs typeface="OPPOSans M" pitchFamily="18" charset="-122"/>
              </a:rPr>
              <a:t>全域统揽</a:t>
            </a:r>
            <a:endParaRPr lang="zh-CN" altLang="en-US" sz="1600" spc="60" dirty="0">
              <a:latin typeface="微软雅黑" panose="020B0503020204020204" charset="-122"/>
              <a:ea typeface="微软雅黑" panose="020B0503020204020204" charset="-122"/>
              <a:cs typeface="OPPOSans M" pitchFamily="18" charset="-122"/>
            </a:endParaRPr>
          </a:p>
        </p:txBody>
      </p:sp>
      <p:sp>
        <p:nvSpPr>
          <p:cNvPr id="37" name="矩形: 圆角 36"/>
          <p:cNvSpPr/>
          <p:nvPr/>
        </p:nvSpPr>
        <p:spPr>
          <a:xfrm>
            <a:off x="7886700" y="2024380"/>
            <a:ext cx="948690" cy="292735"/>
          </a:xfrm>
          <a:prstGeom prst="roundRect">
            <a:avLst>
              <a:gd name="adj" fmla="val 50000"/>
            </a:avLst>
          </a:prstGeom>
          <a:solidFill>
            <a:srgbClr val="0070C0"/>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en-US">
              <a:solidFill>
                <a:srgbClr val="FFFFFF"/>
              </a:solidFill>
              <a:latin typeface="微软雅黑" panose="020B0503020204020204" charset="-122"/>
              <a:ea typeface="微软雅黑" panose="020B0503020204020204" charset="-122"/>
              <a:cs typeface="+mn-ea"/>
              <a:sym typeface="+mn-ea"/>
            </a:endParaRPr>
          </a:p>
        </p:txBody>
      </p:sp>
      <p:sp>
        <p:nvSpPr>
          <p:cNvPr id="38" name="文本框 37"/>
          <p:cNvSpPr txBox="1"/>
          <p:nvPr/>
        </p:nvSpPr>
        <p:spPr>
          <a:xfrm>
            <a:off x="8176895" y="2046605"/>
            <a:ext cx="368300" cy="306705"/>
          </a:xfrm>
          <a:prstGeom prst="rect">
            <a:avLst/>
          </a:prstGeom>
          <a:noFill/>
        </p:spPr>
        <p:txBody>
          <a:bodyPr vert="horz" wrap="square" rtlCol="0">
            <a:spAutoFit/>
          </a:bodyPr>
          <a:lstStyle/>
          <a:p>
            <a:pPr algn="ctr"/>
            <a:r>
              <a:rPr lang="zh-CN" altLang="en-US" sz="1400" b="1" spc="60" dirty="0">
                <a:solidFill>
                  <a:srgbClr val="FFFFFF"/>
                </a:solidFill>
                <a:latin typeface="微软雅黑" panose="020B0503020204020204" charset="-122"/>
                <a:ea typeface="微软雅黑" panose="020B0503020204020204" charset="-122"/>
                <a:cs typeface="OPPOSans M" pitchFamily="18" charset="-122"/>
              </a:rPr>
              <a:t>打</a:t>
            </a:r>
            <a:endParaRPr lang="zh-CN" altLang="en-US" sz="1400" b="1" spc="60" dirty="0">
              <a:solidFill>
                <a:srgbClr val="FFFFFF"/>
              </a:solidFill>
              <a:latin typeface="微软雅黑" panose="020B0503020204020204" charset="-122"/>
              <a:ea typeface="微软雅黑" panose="020B0503020204020204" charset="-122"/>
              <a:cs typeface="OPPOSans M" pitchFamily="18" charset="-122"/>
            </a:endParaRPr>
          </a:p>
        </p:txBody>
      </p:sp>
      <p:sp>
        <p:nvSpPr>
          <p:cNvPr id="39" name="文本框 38"/>
          <p:cNvSpPr txBox="1"/>
          <p:nvPr/>
        </p:nvSpPr>
        <p:spPr>
          <a:xfrm>
            <a:off x="8107045" y="2398395"/>
            <a:ext cx="508000" cy="153670"/>
          </a:xfrm>
          <a:prstGeom prst="rect">
            <a:avLst/>
          </a:prstGeom>
          <a:noFill/>
        </p:spPr>
        <p:txBody>
          <a:bodyPr wrap="square" lIns="0" tIns="0" rIns="0" bIns="0" rtlCol="0">
            <a:spAutoFit/>
          </a:bodyPr>
          <a:lstStyle/>
          <a:p>
            <a:pPr algn="ctr"/>
            <a:r>
              <a:rPr lang="zh-CN" altLang="en-US" sz="1000" dirty="0">
                <a:solidFill>
                  <a:srgbClr val="000000">
                    <a:alpha val="50000"/>
                  </a:srgbClr>
                </a:solidFill>
                <a:latin typeface="微软雅黑" panose="020B0503020204020204" charset="-122"/>
                <a:ea typeface="微软雅黑" panose="020B0503020204020204" charset="-122"/>
              </a:rPr>
              <a:t>指挥</a:t>
            </a:r>
            <a:r>
              <a:rPr lang="zh-CN" altLang="en-US" sz="1000" dirty="0">
                <a:solidFill>
                  <a:srgbClr val="000000">
                    <a:alpha val="50000"/>
                  </a:srgbClr>
                </a:solidFill>
                <a:latin typeface="微软雅黑" panose="020B0503020204020204" charset="-122"/>
                <a:ea typeface="微软雅黑" panose="020B0503020204020204" charset="-122"/>
              </a:rPr>
              <a:t>调度</a:t>
            </a:r>
            <a:endParaRPr lang="zh-CN" altLang="en-US" sz="1000" dirty="0">
              <a:solidFill>
                <a:srgbClr val="000000">
                  <a:alpha val="50000"/>
                </a:srgbClr>
              </a:solidFill>
              <a:latin typeface="微软雅黑" panose="020B0503020204020204" charset="-122"/>
              <a:ea typeface="微软雅黑" panose="020B0503020204020204" charset="-122"/>
            </a:endParaRPr>
          </a:p>
        </p:txBody>
      </p:sp>
      <p:sp>
        <p:nvSpPr>
          <p:cNvPr id="40" name="文本框 39"/>
          <p:cNvSpPr txBox="1"/>
          <p:nvPr/>
        </p:nvSpPr>
        <p:spPr>
          <a:xfrm>
            <a:off x="7936230" y="2834640"/>
            <a:ext cx="843280" cy="245745"/>
          </a:xfrm>
          <a:prstGeom prst="rect">
            <a:avLst/>
          </a:prstGeom>
          <a:noFill/>
        </p:spPr>
        <p:txBody>
          <a:bodyPr vert="horz" wrap="square" lIns="0" tIns="0" rIns="0" bIns="0" rtlCol="0">
            <a:spAutoFit/>
          </a:bodyPr>
          <a:lstStyle/>
          <a:p>
            <a:pPr algn="ctr"/>
            <a:r>
              <a:rPr lang="zh-CN" altLang="en-US" sz="1600" spc="60" dirty="0">
                <a:latin typeface="微软雅黑" panose="020B0503020204020204" charset="-122"/>
                <a:ea typeface="微软雅黑" panose="020B0503020204020204" charset="-122"/>
                <a:cs typeface="OPPOSans M" pitchFamily="18" charset="-122"/>
              </a:rPr>
              <a:t>全局统筹</a:t>
            </a:r>
            <a:endParaRPr lang="zh-CN" altLang="en-US" sz="1600" spc="60" dirty="0">
              <a:latin typeface="微软雅黑" panose="020B0503020204020204" charset="-122"/>
              <a:ea typeface="微软雅黑" panose="020B0503020204020204" charset="-122"/>
              <a:cs typeface="OPPOSans M" pitchFamily="18" charset="-122"/>
            </a:endParaRPr>
          </a:p>
        </p:txBody>
      </p:sp>
      <p:sp>
        <p:nvSpPr>
          <p:cNvPr id="43" name="矩形: 圆角 42"/>
          <p:cNvSpPr/>
          <p:nvPr/>
        </p:nvSpPr>
        <p:spPr>
          <a:xfrm>
            <a:off x="9710420" y="2024380"/>
            <a:ext cx="948690" cy="292735"/>
          </a:xfrm>
          <a:prstGeom prst="roundRect">
            <a:avLst>
              <a:gd name="adj" fmla="val 50000"/>
            </a:avLst>
          </a:prstGeom>
          <a:solidFill>
            <a:srgbClr val="0070C0"/>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en-US">
              <a:solidFill>
                <a:srgbClr val="FFFFFF"/>
              </a:solidFill>
              <a:latin typeface="微软雅黑" panose="020B0503020204020204" charset="-122"/>
              <a:ea typeface="微软雅黑" panose="020B0503020204020204" charset="-122"/>
              <a:cs typeface="+mn-ea"/>
              <a:sym typeface="+mn-ea"/>
            </a:endParaRPr>
          </a:p>
        </p:txBody>
      </p:sp>
      <p:sp>
        <p:nvSpPr>
          <p:cNvPr id="44" name="文本框 43"/>
          <p:cNvSpPr txBox="1"/>
          <p:nvPr/>
        </p:nvSpPr>
        <p:spPr>
          <a:xfrm>
            <a:off x="10000615" y="2046605"/>
            <a:ext cx="368300" cy="306705"/>
          </a:xfrm>
          <a:prstGeom prst="rect">
            <a:avLst/>
          </a:prstGeom>
          <a:noFill/>
        </p:spPr>
        <p:txBody>
          <a:bodyPr vert="horz" wrap="square" rtlCol="0">
            <a:spAutoFit/>
          </a:bodyPr>
          <a:lstStyle/>
          <a:p>
            <a:pPr algn="ctr"/>
            <a:r>
              <a:rPr lang="zh-CN" altLang="en-US" sz="1400" b="1" spc="60" dirty="0">
                <a:solidFill>
                  <a:srgbClr val="FFFFFF"/>
                </a:solidFill>
                <a:latin typeface="微软雅黑" panose="020B0503020204020204" charset="-122"/>
                <a:ea typeface="微软雅黑" panose="020B0503020204020204" charset="-122"/>
                <a:cs typeface="OPPOSans M" pitchFamily="18" charset="-122"/>
              </a:rPr>
              <a:t>评</a:t>
            </a:r>
            <a:endParaRPr lang="zh-CN" altLang="en-US" sz="1400" b="1" spc="60" dirty="0">
              <a:solidFill>
                <a:srgbClr val="FFFFFF"/>
              </a:solidFill>
              <a:latin typeface="微软雅黑" panose="020B0503020204020204" charset="-122"/>
              <a:ea typeface="微软雅黑" panose="020B0503020204020204" charset="-122"/>
              <a:cs typeface="OPPOSans M" pitchFamily="18" charset="-122"/>
            </a:endParaRPr>
          </a:p>
        </p:txBody>
      </p:sp>
      <p:sp>
        <p:nvSpPr>
          <p:cNvPr id="45" name="文本框 44"/>
          <p:cNvSpPr txBox="1"/>
          <p:nvPr/>
        </p:nvSpPr>
        <p:spPr>
          <a:xfrm>
            <a:off x="9930765" y="2398395"/>
            <a:ext cx="508000" cy="153670"/>
          </a:xfrm>
          <a:prstGeom prst="rect">
            <a:avLst/>
          </a:prstGeom>
          <a:noFill/>
        </p:spPr>
        <p:txBody>
          <a:bodyPr wrap="square" lIns="0" tIns="0" rIns="0" bIns="0" rtlCol="0">
            <a:spAutoFit/>
          </a:bodyPr>
          <a:lstStyle/>
          <a:p>
            <a:pPr algn="ctr"/>
            <a:r>
              <a:rPr lang="zh-CN" altLang="en-US" sz="1000" dirty="0">
                <a:solidFill>
                  <a:srgbClr val="000000">
                    <a:alpha val="50000"/>
                  </a:srgbClr>
                </a:solidFill>
                <a:latin typeface="微软雅黑" panose="020B0503020204020204" charset="-122"/>
                <a:ea typeface="微软雅黑" panose="020B0503020204020204" charset="-122"/>
              </a:rPr>
              <a:t>效果</a:t>
            </a:r>
            <a:r>
              <a:rPr lang="zh-CN" altLang="en-US" sz="1000" dirty="0">
                <a:solidFill>
                  <a:srgbClr val="000000">
                    <a:alpha val="50000"/>
                  </a:srgbClr>
                </a:solidFill>
                <a:latin typeface="微软雅黑" panose="020B0503020204020204" charset="-122"/>
                <a:ea typeface="微软雅黑" panose="020B0503020204020204" charset="-122"/>
              </a:rPr>
              <a:t>评估</a:t>
            </a:r>
            <a:endParaRPr lang="zh-CN" altLang="en-US" sz="1000" dirty="0">
              <a:solidFill>
                <a:srgbClr val="000000">
                  <a:alpha val="50000"/>
                </a:srgbClr>
              </a:solidFill>
              <a:latin typeface="微软雅黑" panose="020B0503020204020204" charset="-122"/>
              <a:ea typeface="微软雅黑" panose="020B0503020204020204" charset="-122"/>
            </a:endParaRPr>
          </a:p>
        </p:txBody>
      </p:sp>
      <p:sp>
        <p:nvSpPr>
          <p:cNvPr id="46" name="文本框 45"/>
          <p:cNvSpPr txBox="1"/>
          <p:nvPr/>
        </p:nvSpPr>
        <p:spPr>
          <a:xfrm>
            <a:off x="9756140" y="2834640"/>
            <a:ext cx="843280" cy="245745"/>
          </a:xfrm>
          <a:prstGeom prst="rect">
            <a:avLst/>
          </a:prstGeom>
          <a:noFill/>
        </p:spPr>
        <p:txBody>
          <a:bodyPr vert="horz" wrap="square" lIns="0" tIns="0" rIns="0" bIns="0" rtlCol="0">
            <a:spAutoFit/>
          </a:bodyPr>
          <a:lstStyle/>
          <a:p>
            <a:pPr algn="ctr"/>
            <a:r>
              <a:rPr lang="zh-CN" altLang="en-US" sz="1600" spc="60" dirty="0">
                <a:latin typeface="微软雅黑" panose="020B0503020204020204" charset="-122"/>
                <a:ea typeface="微软雅黑" panose="020B0503020204020204" charset="-122"/>
                <a:cs typeface="OPPOSans M" pitchFamily="18" charset="-122"/>
              </a:rPr>
              <a:t>全网复盘</a:t>
            </a:r>
            <a:endParaRPr lang="zh-CN" altLang="en-US" sz="1600" spc="60" dirty="0">
              <a:latin typeface="微软雅黑" panose="020B0503020204020204" charset="-122"/>
              <a:ea typeface="微软雅黑" panose="020B0503020204020204" charset="-122"/>
              <a:cs typeface="OPPOSans M" pitchFamily="18" charset="-122"/>
            </a:endParaRPr>
          </a:p>
        </p:txBody>
      </p:sp>
      <p:sp>
        <p:nvSpPr>
          <p:cNvPr id="48" name="矩形 47"/>
          <p:cNvSpPr/>
          <p:nvPr/>
        </p:nvSpPr>
        <p:spPr>
          <a:xfrm>
            <a:off x="3792855" y="4077335"/>
            <a:ext cx="3596005" cy="285115"/>
          </a:xfrm>
          <a:prstGeom prst="rect">
            <a:avLst/>
          </a:prstGeom>
          <a:solidFill>
            <a:srgbClr val="BFE5FF"/>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lvl="0" algn="ctr" hangingPunct="0">
              <a:buClrTx/>
              <a:buSzTx/>
              <a:buFontTx/>
            </a:pPr>
            <a:r>
              <a:rPr lang="zh-CN" altLang="en-US" sz="1600">
                <a:solidFill>
                  <a:schemeClr val="accent1"/>
                </a:solidFill>
                <a:latin typeface="微软雅黑" panose="020B0503020204020204" charset="-122"/>
                <a:ea typeface="微软雅黑" panose="020B0503020204020204" charset="-122"/>
                <a:cs typeface="+mn-ea"/>
                <a:sym typeface="+mn-ea"/>
              </a:rPr>
              <a:t>数据融通</a:t>
            </a:r>
            <a:endParaRPr lang="zh-CN" altLang="en-US" sz="1600">
              <a:solidFill>
                <a:schemeClr val="accent1"/>
              </a:solidFill>
              <a:latin typeface="微软雅黑" panose="020B0503020204020204" charset="-122"/>
              <a:ea typeface="微软雅黑" panose="020B0503020204020204" charset="-122"/>
              <a:cs typeface="+mn-ea"/>
              <a:sym typeface="+mn-ea"/>
            </a:endParaRPr>
          </a:p>
        </p:txBody>
      </p:sp>
      <p:sp>
        <p:nvSpPr>
          <p:cNvPr id="49" name="矩形 48"/>
          <p:cNvSpPr/>
          <p:nvPr/>
        </p:nvSpPr>
        <p:spPr>
          <a:xfrm>
            <a:off x="7470140" y="4077335"/>
            <a:ext cx="3596005" cy="285115"/>
          </a:xfrm>
          <a:prstGeom prst="rect">
            <a:avLst/>
          </a:prstGeom>
          <a:solidFill>
            <a:schemeClr val="accent1">
              <a:lumMod val="20000"/>
              <a:lumOff val="80000"/>
            </a:schemeClr>
          </a:solidFill>
          <a:ln w="12700" cap="flat">
            <a:noFill/>
            <a:prstDash val="solid"/>
            <a:miter lim="800000"/>
          </a:ln>
          <a:effectLst>
            <a:outerShdw blurRad="317500" dist="63500" algn="ctr" rotWithShape="0">
              <a:srgbClr val="2F7AFF">
                <a:alpha val="30000"/>
              </a:srgbClr>
            </a:outerShdw>
          </a:effectLst>
          <a:sp3d/>
        </p:spPr>
        <p:txBody>
          <a:bodyPr rot="0" spcFirstLastPara="1" vertOverflow="overflow" horzOverflow="overflow" vert="horz" wrap="square" lIns="45719" tIns="45719" rIns="45719" bIns="45719" numCol="1" spcCol="38100" rtlCol="0" anchor="ctr">
            <a:noAutofit/>
          </a:bodyPr>
          <a:lstStyle/>
          <a:p>
            <a:pPr lvl="0" algn="ctr" hangingPunct="0">
              <a:buClrTx/>
              <a:buSzTx/>
              <a:buFontTx/>
            </a:pPr>
            <a:r>
              <a:rPr lang="zh-CN" altLang="en-US" sz="1600">
                <a:solidFill>
                  <a:schemeClr val="accent1"/>
                </a:solidFill>
                <a:latin typeface="微软雅黑" panose="020B0503020204020204" charset="-122"/>
                <a:ea typeface="微软雅黑" panose="020B0503020204020204" charset="-122"/>
                <a:cs typeface="+mn-ea"/>
                <a:sym typeface="+mn-ea"/>
              </a:rPr>
              <a:t>流程贯通</a:t>
            </a:r>
            <a:endParaRPr lang="zh-CN" altLang="en-US" sz="1600">
              <a:solidFill>
                <a:schemeClr val="accent1"/>
              </a:solidFill>
              <a:latin typeface="微软雅黑" panose="020B0503020204020204" charset="-122"/>
              <a:ea typeface="微软雅黑" panose="020B0503020204020204" charset="-122"/>
              <a:cs typeface="+mn-ea"/>
              <a:sym typeface="+mn-ea"/>
            </a:endParaRPr>
          </a:p>
        </p:txBody>
      </p:sp>
      <p:sp>
        <p:nvSpPr>
          <p:cNvPr id="52" name="文本框 51"/>
          <p:cNvSpPr txBox="1"/>
          <p:nvPr/>
        </p:nvSpPr>
        <p:spPr>
          <a:xfrm>
            <a:off x="4296410" y="3296285"/>
            <a:ext cx="762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全网共性</a:t>
            </a:r>
            <a:r>
              <a:rPr lang="zh-CN" altLang="en-US" sz="1000" dirty="0">
                <a:solidFill>
                  <a:srgbClr val="000000">
                    <a:alpha val="50000"/>
                  </a:srgbClr>
                </a:solidFill>
                <a:latin typeface="微软雅黑" panose="020B0503020204020204" charset="-122"/>
                <a:ea typeface="微软雅黑" panose="020B0503020204020204" charset="-122"/>
                <a:sym typeface="+mn-ea"/>
              </a:rPr>
              <a:t>指标</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53" name="文本框 52"/>
          <p:cNvSpPr txBox="1"/>
          <p:nvPr/>
        </p:nvSpPr>
        <p:spPr>
          <a:xfrm>
            <a:off x="4165600" y="3515360"/>
            <a:ext cx="1016000" cy="153670"/>
          </a:xfrm>
          <a:prstGeom prst="rect">
            <a:avLst/>
          </a:prstGeom>
          <a:noFill/>
        </p:spPr>
        <p:txBody>
          <a:bodyPr wrap="square" lIns="0" tIns="0" rIns="0" bIns="0" rtlCol="0">
            <a:spAutoFit/>
          </a:bodyPr>
          <a:lstStyle/>
          <a:p>
            <a:pPr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识别指标异动省份</a:t>
            </a:r>
            <a:endParaRPr lang="zh-CN" altLang="en-US" sz="1000" dirty="0">
              <a:solidFill>
                <a:srgbClr val="000000">
                  <a:alpha val="50000"/>
                </a:srgbClr>
              </a:solidFill>
              <a:latin typeface="微软雅黑" panose="020B0503020204020204" charset="-122"/>
              <a:ea typeface="微软雅黑" panose="020B0503020204020204" charset="-122"/>
            </a:endParaRPr>
          </a:p>
        </p:txBody>
      </p:sp>
      <p:sp>
        <p:nvSpPr>
          <p:cNvPr id="55" name="文本框 54"/>
          <p:cNvSpPr txBox="1"/>
          <p:nvPr/>
        </p:nvSpPr>
        <p:spPr>
          <a:xfrm>
            <a:off x="5999480" y="3296285"/>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制定全网管理政策</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56" name="文本框 55"/>
          <p:cNvSpPr txBox="1"/>
          <p:nvPr/>
        </p:nvSpPr>
        <p:spPr>
          <a:xfrm>
            <a:off x="5935980" y="3515360"/>
            <a:ext cx="1143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匹配全网差异化策略</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57" name="文本框 56"/>
          <p:cNvSpPr txBox="1"/>
          <p:nvPr/>
        </p:nvSpPr>
        <p:spPr>
          <a:xfrm>
            <a:off x="7853045" y="3296285"/>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全网管理工单调度</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58" name="文本框 57"/>
          <p:cNvSpPr txBox="1"/>
          <p:nvPr/>
        </p:nvSpPr>
        <p:spPr>
          <a:xfrm>
            <a:off x="7853045" y="3515360"/>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一级生产工单调度</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60" name="文本框 59"/>
          <p:cNvSpPr txBox="1"/>
          <p:nvPr/>
        </p:nvSpPr>
        <p:spPr>
          <a:xfrm>
            <a:off x="9676765" y="3296285"/>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评估全网整体效果</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61" name="文本框 60"/>
          <p:cNvSpPr txBox="1"/>
          <p:nvPr/>
        </p:nvSpPr>
        <p:spPr>
          <a:xfrm>
            <a:off x="9676765" y="3515360"/>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优秀案例全国推广</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64" name="文本框 63"/>
          <p:cNvSpPr txBox="1"/>
          <p:nvPr/>
        </p:nvSpPr>
        <p:spPr>
          <a:xfrm>
            <a:off x="4149725" y="4490085"/>
            <a:ext cx="1054100" cy="245745"/>
          </a:xfrm>
          <a:prstGeom prst="rect">
            <a:avLst/>
          </a:prstGeom>
          <a:noFill/>
        </p:spPr>
        <p:txBody>
          <a:bodyPr vert="horz" wrap="square" lIns="0" tIns="0" rIns="0" bIns="0" rtlCol="0">
            <a:spAutoFit/>
          </a:bodyPr>
          <a:lstStyle>
            <a:defPPr>
              <a:defRPr lang="zh-CN"/>
            </a:defPPr>
            <a:lvl1pPr algn="ctr">
              <a:defRPr sz="1600" spc="60">
                <a:latin typeface="OPPOSans M" pitchFamily="18" charset="-122"/>
                <a:ea typeface="OPPOSans M" pitchFamily="18" charset="-122"/>
                <a:cs typeface="OPPOSans M" pitchFamily="18" charset="-122"/>
              </a:defRPr>
            </a:lvl1pPr>
          </a:lstStyle>
          <a:p>
            <a:pPr algn="ctr"/>
            <a:r>
              <a:rPr lang="zh-CN" altLang="en-US" dirty="0">
                <a:latin typeface="微软雅黑" panose="020B0503020204020204" charset="-122"/>
                <a:ea typeface="微软雅黑" panose="020B0503020204020204" charset="-122"/>
              </a:rPr>
              <a:t>本地精细化</a:t>
            </a:r>
            <a:endParaRPr lang="zh-CN" altLang="en-US" dirty="0">
              <a:latin typeface="微软雅黑" panose="020B0503020204020204" charset="-122"/>
              <a:ea typeface="微软雅黑" panose="020B0503020204020204" charset="-122"/>
            </a:endParaRPr>
          </a:p>
        </p:txBody>
      </p:sp>
      <p:sp>
        <p:nvSpPr>
          <p:cNvPr id="65" name="文本框 64"/>
          <p:cNvSpPr txBox="1"/>
          <p:nvPr/>
        </p:nvSpPr>
        <p:spPr>
          <a:xfrm>
            <a:off x="4171315" y="4953000"/>
            <a:ext cx="1016000" cy="153670"/>
          </a:xfrm>
          <a:prstGeom prst="rect">
            <a:avLst/>
          </a:prstGeom>
          <a:noFill/>
        </p:spPr>
        <p:txBody>
          <a:bodyPr wrap="none" lIns="0" tIns="0" rIns="0" bIns="0" rtlCol="0">
            <a:noAutofit/>
          </a:bodyPr>
          <a:lstStyle>
            <a:defPPr>
              <a:defRPr lang="zh-CN"/>
            </a:defPPr>
            <a:lvl1pPr algn="ctr">
              <a:defRPr sz="1000">
                <a:solidFill>
                  <a:srgbClr val="000000">
                    <a:alpha val="50000"/>
                  </a:srgbClr>
                </a:solidFill>
                <a:latin typeface="OPPOSans R" charset="0"/>
              </a:defRPr>
            </a:lvl1pPr>
          </a:lstStyle>
          <a:p>
            <a:pPr algn="ctr"/>
            <a:r>
              <a:rPr lang="zh-CN" altLang="en-US" dirty="0">
                <a:latin typeface="微软雅黑" panose="020B0503020204020204" charset="-122"/>
                <a:ea typeface="微软雅黑" panose="020B0503020204020204" charset="-122"/>
                <a:cs typeface="微软雅黑" panose="020B0503020204020204" charset="-122"/>
              </a:rPr>
              <a:t>本省细颗粒度</a:t>
            </a:r>
            <a:r>
              <a:rPr lang="zh-CN" altLang="en-US" dirty="0">
                <a:latin typeface="微软雅黑" panose="020B0503020204020204" charset="-122"/>
                <a:ea typeface="微软雅黑" panose="020B0503020204020204" charset="-122"/>
                <a:cs typeface="微软雅黑" panose="020B0503020204020204" charset="-122"/>
              </a:rPr>
              <a:t>指标</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a:off x="4292600" y="5166995"/>
            <a:ext cx="762000" cy="135255"/>
          </a:xfrm>
          <a:prstGeom prst="rect">
            <a:avLst/>
          </a:prstGeom>
          <a:noFill/>
        </p:spPr>
        <p:txBody>
          <a:bodyPr wrap="none" lIns="0" tIns="0" rIns="0" bIns="0" rtlCol="0">
            <a:noAutofit/>
          </a:bodyPr>
          <a:lstStyle>
            <a:defPPr>
              <a:defRPr lang="zh-CN"/>
            </a:defPPr>
            <a:lvl1pPr algn="ctr">
              <a:defRPr sz="1000">
                <a:solidFill>
                  <a:srgbClr val="000000">
                    <a:alpha val="50000"/>
                  </a:srgbClr>
                </a:solidFill>
                <a:latin typeface="OPPOSans R" charset="0"/>
              </a:defRPr>
            </a:lvl1pPr>
          </a:lstStyle>
          <a:p>
            <a:pPr lvl="0" algn="ctr">
              <a:buClrTx/>
              <a:buSzTx/>
              <a:buFontTx/>
            </a:pPr>
            <a:r>
              <a:rPr lang="zh-CN" altLang="en-US" dirty="0">
                <a:latin typeface="微软雅黑" panose="020B0503020204020204" charset="-122"/>
                <a:ea typeface="微软雅黑" panose="020B0503020204020204" charset="-122"/>
                <a:cs typeface="微软雅黑" panose="020B0503020204020204" charset="-122"/>
                <a:sym typeface="+mn-ea"/>
              </a:rPr>
              <a:t>捕捉本地异动</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8" name="文本框 67"/>
          <p:cNvSpPr txBox="1"/>
          <p:nvPr/>
        </p:nvSpPr>
        <p:spPr>
          <a:xfrm>
            <a:off x="6078855" y="4490085"/>
            <a:ext cx="843280" cy="245745"/>
          </a:xfrm>
          <a:prstGeom prst="rect">
            <a:avLst/>
          </a:prstGeom>
          <a:noFill/>
        </p:spPr>
        <p:txBody>
          <a:bodyPr vert="horz" wrap="square" lIns="0" tIns="0" rIns="0" bIns="0" rtlCol="0">
            <a:spAutoFit/>
          </a:bodyPr>
          <a:lstStyle>
            <a:defPPr>
              <a:defRPr lang="zh-CN"/>
            </a:defPPr>
            <a:lvl1pPr algn="ctr">
              <a:defRPr sz="1600" spc="60">
                <a:latin typeface="OPPOSans M" pitchFamily="18" charset="-122"/>
                <a:ea typeface="OPPOSans M" pitchFamily="18" charset="-122"/>
                <a:cs typeface="OPPOSans M" pitchFamily="18" charset="-122"/>
              </a:defRPr>
            </a:lvl1pPr>
          </a:lstStyle>
          <a:p>
            <a:r>
              <a:rPr lang="zh-CN" altLang="en-US" dirty="0">
                <a:latin typeface="微软雅黑" panose="020B0503020204020204" charset="-122"/>
                <a:ea typeface="微软雅黑" panose="020B0503020204020204" charset="-122"/>
              </a:rPr>
              <a:t>属地适配</a:t>
            </a:r>
            <a:endParaRPr lang="zh-CN" altLang="en-US" dirty="0">
              <a:latin typeface="微软雅黑" panose="020B0503020204020204" charset="-122"/>
              <a:ea typeface="微软雅黑" panose="020B0503020204020204" charset="-122"/>
            </a:endParaRPr>
          </a:p>
        </p:txBody>
      </p:sp>
      <p:sp>
        <p:nvSpPr>
          <p:cNvPr id="69" name="文本框 68"/>
          <p:cNvSpPr txBox="1"/>
          <p:nvPr/>
        </p:nvSpPr>
        <p:spPr>
          <a:xfrm>
            <a:off x="5930265" y="4971415"/>
            <a:ext cx="1143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制定属地化运营</a:t>
            </a:r>
            <a:r>
              <a:rPr lang="zh-CN" altLang="en-US" sz="1000" dirty="0">
                <a:solidFill>
                  <a:srgbClr val="000000">
                    <a:alpha val="50000"/>
                  </a:srgbClr>
                </a:solidFill>
                <a:latin typeface="微软雅黑" panose="020B0503020204020204" charset="-122"/>
                <a:ea typeface="微软雅黑" panose="020B0503020204020204" charset="-122"/>
                <a:sym typeface="+mn-ea"/>
              </a:rPr>
              <a:t>策略</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70" name="文本框 69"/>
          <p:cNvSpPr txBox="1"/>
          <p:nvPr/>
        </p:nvSpPr>
        <p:spPr>
          <a:xfrm>
            <a:off x="6000115" y="5184775"/>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补充本地特色策略</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72" name="文本框 71"/>
          <p:cNvSpPr txBox="1"/>
          <p:nvPr/>
        </p:nvSpPr>
        <p:spPr>
          <a:xfrm>
            <a:off x="7936230" y="4490085"/>
            <a:ext cx="843280" cy="245745"/>
          </a:xfrm>
          <a:prstGeom prst="rect">
            <a:avLst/>
          </a:prstGeom>
          <a:noFill/>
        </p:spPr>
        <p:txBody>
          <a:bodyPr vert="horz" wrap="square" lIns="0" tIns="0" rIns="0" bIns="0" rtlCol="0">
            <a:spAutoFit/>
          </a:bodyPr>
          <a:lstStyle>
            <a:defPPr>
              <a:defRPr lang="zh-CN"/>
            </a:defPPr>
            <a:lvl1pPr algn="ctr">
              <a:defRPr sz="1600" spc="60">
                <a:latin typeface="OPPOSans M" pitchFamily="18" charset="-122"/>
                <a:ea typeface="OPPOSans M" pitchFamily="18" charset="-122"/>
                <a:cs typeface="OPPOSans M" pitchFamily="18" charset="-122"/>
              </a:defRPr>
            </a:lvl1pPr>
          </a:lstStyle>
          <a:p>
            <a:pPr algn="ctr"/>
            <a:r>
              <a:rPr lang="zh-CN" altLang="en-US" dirty="0">
                <a:latin typeface="微软雅黑" panose="020B0503020204020204" charset="-122"/>
                <a:ea typeface="微软雅黑" panose="020B0503020204020204" charset="-122"/>
              </a:rPr>
              <a:t>本地拆解</a:t>
            </a:r>
            <a:endParaRPr lang="zh-CN" altLang="en-US" dirty="0">
              <a:latin typeface="微软雅黑" panose="020B0503020204020204" charset="-122"/>
              <a:ea typeface="微软雅黑" panose="020B0503020204020204" charset="-122"/>
            </a:endParaRPr>
          </a:p>
        </p:txBody>
      </p:sp>
      <p:sp>
        <p:nvSpPr>
          <p:cNvPr id="73" name="文本框 72"/>
          <p:cNvSpPr txBox="1"/>
          <p:nvPr/>
        </p:nvSpPr>
        <p:spPr>
          <a:xfrm>
            <a:off x="7853045" y="4971415"/>
            <a:ext cx="889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省生产工单调度</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74" name="文本框 73"/>
          <p:cNvSpPr txBox="1"/>
          <p:nvPr/>
        </p:nvSpPr>
        <p:spPr>
          <a:xfrm>
            <a:off x="7853045" y="5166995"/>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策略推送渠道执行</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76" name="文本框 75"/>
          <p:cNvSpPr txBox="1"/>
          <p:nvPr/>
        </p:nvSpPr>
        <p:spPr>
          <a:xfrm>
            <a:off x="9759315" y="4490085"/>
            <a:ext cx="843280" cy="245745"/>
          </a:xfrm>
          <a:prstGeom prst="rect">
            <a:avLst/>
          </a:prstGeom>
          <a:noFill/>
        </p:spPr>
        <p:txBody>
          <a:bodyPr vert="horz" wrap="square" lIns="0" tIns="0" rIns="0" bIns="0" rtlCol="0">
            <a:spAutoFit/>
          </a:bodyPr>
          <a:lstStyle>
            <a:defPPr>
              <a:defRPr lang="zh-CN"/>
            </a:defPPr>
            <a:lvl1pPr algn="ctr">
              <a:defRPr sz="1600" spc="60">
                <a:latin typeface="OPPOSans M" pitchFamily="18" charset="-122"/>
                <a:ea typeface="OPPOSans M" pitchFamily="18" charset="-122"/>
                <a:cs typeface="OPPOSans M" pitchFamily="18" charset="-122"/>
              </a:defRPr>
            </a:lvl1pPr>
          </a:lstStyle>
          <a:p>
            <a:pPr algn="ctr"/>
            <a:r>
              <a:rPr lang="zh-CN" altLang="en-US" dirty="0">
                <a:latin typeface="微软雅黑" panose="020B0503020204020204" charset="-122"/>
                <a:ea typeface="微软雅黑" panose="020B0503020204020204" charset="-122"/>
              </a:rPr>
              <a:t>本地闭环</a:t>
            </a:r>
            <a:endParaRPr lang="zh-CN" altLang="en-US" dirty="0">
              <a:latin typeface="微软雅黑" panose="020B0503020204020204" charset="-122"/>
              <a:ea typeface="微软雅黑" panose="020B0503020204020204" charset="-122"/>
            </a:endParaRPr>
          </a:p>
        </p:txBody>
      </p:sp>
      <p:sp>
        <p:nvSpPr>
          <p:cNvPr id="77" name="文本框 76"/>
          <p:cNvSpPr txBox="1"/>
          <p:nvPr/>
        </p:nvSpPr>
        <p:spPr>
          <a:xfrm>
            <a:off x="9676765" y="4971415"/>
            <a:ext cx="1016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评估策略执行效果</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80" name="文本框 79"/>
          <p:cNvSpPr txBox="1"/>
          <p:nvPr/>
        </p:nvSpPr>
        <p:spPr>
          <a:xfrm>
            <a:off x="9803765" y="5184775"/>
            <a:ext cx="762000" cy="153670"/>
          </a:xfrm>
          <a:prstGeom prst="rect">
            <a:avLst/>
          </a:prstGeom>
          <a:noFill/>
        </p:spPr>
        <p:txBody>
          <a:bodyPr wrap="square" lIns="0" tIns="0" rIns="0" bIns="0" rtlCol="0">
            <a:spAutoFit/>
          </a:bodyPr>
          <a:lstStyle/>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运营结果上报</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82" name="矩形: 圆角 81"/>
          <p:cNvSpPr/>
          <p:nvPr/>
        </p:nvSpPr>
        <p:spPr>
          <a:xfrm>
            <a:off x="3935730" y="314896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3" name="矩形: 圆角 82"/>
          <p:cNvSpPr/>
          <p:nvPr/>
        </p:nvSpPr>
        <p:spPr>
          <a:xfrm>
            <a:off x="5778500" y="314896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4" name="矩形: 圆角 83"/>
          <p:cNvSpPr/>
          <p:nvPr/>
        </p:nvSpPr>
        <p:spPr>
          <a:xfrm>
            <a:off x="7602220" y="314896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5" name="矩形: 圆角 84"/>
          <p:cNvSpPr/>
          <p:nvPr/>
        </p:nvSpPr>
        <p:spPr>
          <a:xfrm>
            <a:off x="9375775" y="314896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6" name="矩形: 圆角 85"/>
          <p:cNvSpPr/>
          <p:nvPr/>
        </p:nvSpPr>
        <p:spPr>
          <a:xfrm>
            <a:off x="3935730" y="479361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7" name="矩形: 圆角 86"/>
          <p:cNvSpPr/>
          <p:nvPr/>
        </p:nvSpPr>
        <p:spPr>
          <a:xfrm>
            <a:off x="5769610" y="479361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8" name="矩形: 圆角 87"/>
          <p:cNvSpPr/>
          <p:nvPr/>
        </p:nvSpPr>
        <p:spPr>
          <a:xfrm>
            <a:off x="7623175" y="479361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89" name="矩形: 圆角 88"/>
          <p:cNvSpPr/>
          <p:nvPr/>
        </p:nvSpPr>
        <p:spPr>
          <a:xfrm>
            <a:off x="9446895" y="4793615"/>
            <a:ext cx="1475740" cy="12700"/>
          </a:xfrm>
          <a:prstGeom prst="roundRect">
            <a:avLst>
              <a:gd name="adj" fmla="val 50000"/>
            </a:avLst>
          </a:prstGeom>
          <a:solidFill>
            <a:srgbClr val="BCBCBC">
              <a:alpha val="50000"/>
            </a:srgbClr>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ea"/>
              <a:sym typeface="等线" panose="02010600030101010101" charset="-122"/>
            </a:endParaRPr>
          </a:p>
        </p:txBody>
      </p:sp>
      <p:sp>
        <p:nvSpPr>
          <p:cNvPr id="20" name="文本框 19"/>
          <p:cNvSpPr txBox="1"/>
          <p:nvPr/>
        </p:nvSpPr>
        <p:spPr>
          <a:xfrm>
            <a:off x="2392680" y="3096895"/>
            <a:ext cx="1297940" cy="215265"/>
          </a:xfrm>
          <a:prstGeom prst="rect">
            <a:avLst/>
          </a:prstGeom>
          <a:noFill/>
        </p:spPr>
        <p:txBody>
          <a:bodyPr vert="horz" wrap="square" lIns="0" tIns="0" rIns="0" bIns="0" rtlCol="0">
            <a:spAutoFit/>
          </a:bodyPr>
          <a:lstStyle/>
          <a:p>
            <a:pPr algn="ctr"/>
            <a:r>
              <a:rPr lang="zh-CN" altLang="en-US" sz="1400" b="1" spc="60" dirty="0">
                <a:solidFill>
                  <a:schemeClr val="accent1"/>
                </a:solidFill>
                <a:latin typeface="微软雅黑" panose="020B0503020204020204" charset="-122"/>
                <a:ea typeface="微软雅黑" panose="020B0503020204020204" charset="-122"/>
                <a:cs typeface="OPPOSans B" panose="00020600040101010101" pitchFamily="18" charset="-122"/>
              </a:rPr>
              <a:t>一级运营工作台</a:t>
            </a:r>
            <a:endParaRPr lang="zh-CN" altLang="en-US" sz="1400" b="1" spc="60" dirty="0">
              <a:solidFill>
                <a:schemeClr val="accent1"/>
              </a:solidFill>
              <a:latin typeface="微软雅黑" panose="020B0503020204020204" charset="-122"/>
              <a:ea typeface="微软雅黑" panose="020B0503020204020204" charset="-122"/>
              <a:cs typeface="OPPOSans B" panose="00020600040101010101" pitchFamily="18" charset="-122"/>
            </a:endParaRPr>
          </a:p>
        </p:txBody>
      </p:sp>
      <p:grpSp>
        <p:nvGrpSpPr>
          <p:cNvPr id="98" name="组合 97"/>
          <p:cNvGrpSpPr/>
          <p:nvPr/>
        </p:nvGrpSpPr>
        <p:grpSpPr>
          <a:xfrm rot="0">
            <a:off x="2707005" y="2394585"/>
            <a:ext cx="645160" cy="568325"/>
            <a:chOff x="2642785" y="2169139"/>
            <a:chExt cx="773142" cy="773142"/>
          </a:xfrm>
        </p:grpSpPr>
        <p:sp>
          <p:nvSpPr>
            <p:cNvPr id="96" name="椭圆 95"/>
            <p:cNvSpPr/>
            <p:nvPr/>
          </p:nvSpPr>
          <p:spPr>
            <a:xfrm>
              <a:off x="2642785" y="2169139"/>
              <a:ext cx="773142" cy="773142"/>
            </a:xfrm>
            <a:prstGeom prst="ellipse">
              <a:avLst/>
            </a:prstGeom>
            <a:solidFill>
              <a:srgbClr val="FFFFFF"/>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sym typeface="等线" panose="02010600030101010101" charset="-122"/>
              </a:endParaRPr>
            </a:p>
          </p:txBody>
        </p:sp>
        <p:pic>
          <p:nvPicPr>
            <p:cNvPr id="95" name="图形 9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3629" y="2329983"/>
              <a:ext cx="451454" cy="451454"/>
            </a:xfrm>
            <a:prstGeom prst="rect">
              <a:avLst/>
            </a:prstGeom>
          </p:spPr>
        </p:pic>
      </p:grpSp>
      <p:sp>
        <p:nvSpPr>
          <p:cNvPr id="22" name="文本框 21"/>
          <p:cNvSpPr txBox="1"/>
          <p:nvPr/>
        </p:nvSpPr>
        <p:spPr>
          <a:xfrm>
            <a:off x="2485390" y="4886960"/>
            <a:ext cx="1112520" cy="215265"/>
          </a:xfrm>
          <a:prstGeom prst="rect">
            <a:avLst/>
          </a:prstGeom>
          <a:noFill/>
        </p:spPr>
        <p:txBody>
          <a:bodyPr vert="horz" wrap="square" lIns="0" tIns="0" rIns="0" bIns="0" rtlCol="0">
            <a:spAutoFit/>
          </a:bodyPr>
          <a:lstStyle/>
          <a:p>
            <a:pPr algn="ctr"/>
            <a:r>
              <a:rPr lang="zh-CN" altLang="en-US" sz="1400" b="1" spc="60" dirty="0">
                <a:solidFill>
                  <a:schemeClr val="accent1"/>
                </a:solidFill>
                <a:latin typeface="微软雅黑" panose="020B0503020204020204" charset="-122"/>
                <a:ea typeface="微软雅黑" panose="020B0503020204020204" charset="-122"/>
                <a:cs typeface="OPPOSans B" panose="00020600040101010101" pitchFamily="18" charset="-122"/>
              </a:rPr>
              <a:t>省级运营节点</a:t>
            </a:r>
            <a:endParaRPr lang="zh-CN" altLang="en-US" sz="1400" b="1" spc="60" dirty="0">
              <a:solidFill>
                <a:schemeClr val="accent1"/>
              </a:solidFill>
              <a:latin typeface="微软雅黑" panose="020B0503020204020204" charset="-122"/>
              <a:ea typeface="微软雅黑" panose="020B0503020204020204" charset="-122"/>
              <a:cs typeface="OPPOSans B" panose="00020600040101010101" pitchFamily="18" charset="-122"/>
            </a:endParaRPr>
          </a:p>
        </p:txBody>
      </p:sp>
      <p:grpSp>
        <p:nvGrpSpPr>
          <p:cNvPr id="99" name="组合 98"/>
          <p:cNvGrpSpPr/>
          <p:nvPr/>
        </p:nvGrpSpPr>
        <p:grpSpPr>
          <a:xfrm rot="0">
            <a:off x="2738120" y="4265295"/>
            <a:ext cx="582295" cy="513080"/>
            <a:chOff x="2642785" y="4498068"/>
            <a:chExt cx="773142" cy="773142"/>
          </a:xfrm>
        </p:grpSpPr>
        <p:sp>
          <p:nvSpPr>
            <p:cNvPr id="97" name="椭圆 96"/>
            <p:cNvSpPr/>
            <p:nvPr/>
          </p:nvSpPr>
          <p:spPr>
            <a:xfrm>
              <a:off x="2642785" y="4498068"/>
              <a:ext cx="773142" cy="773142"/>
            </a:xfrm>
            <a:prstGeom prst="ellipse">
              <a:avLst/>
            </a:prstGeom>
            <a:solidFill>
              <a:srgbClr val="FFFFFF"/>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charset="-122"/>
                <a:ea typeface="微软雅黑" panose="020B0503020204020204" charset="-122"/>
                <a:cs typeface="+mn-ea"/>
                <a:sym typeface="等线" panose="02010600030101010101" charset="-122"/>
              </a:endParaRPr>
            </a:p>
          </p:txBody>
        </p:sp>
        <p:pic>
          <p:nvPicPr>
            <p:cNvPr id="93" name="图形 9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43288" y="4698571"/>
              <a:ext cx="372136" cy="372136"/>
            </a:xfrm>
            <a:prstGeom prst="rect">
              <a:avLst/>
            </a:prstGeom>
          </p:spPr>
        </p:pic>
      </p:grpSp>
      <p:sp>
        <p:nvSpPr>
          <p:cNvPr id="5" name="文本框 4"/>
          <p:cNvSpPr txBox="1"/>
          <p:nvPr/>
        </p:nvSpPr>
        <p:spPr>
          <a:xfrm>
            <a:off x="2419985" y="5118100"/>
            <a:ext cx="1270635" cy="202565"/>
          </a:xfrm>
          <a:prstGeom prst="rect">
            <a:avLst/>
          </a:prstGeom>
          <a:noFill/>
        </p:spPr>
        <p:txBody>
          <a:bodyPr wrap="square" lIns="0" tIns="0" rIns="0" bIns="0" rtlCol="0">
            <a:spAutoFit/>
          </a:bodyPr>
          <a:p>
            <a:pPr algn="ctr">
              <a:lnSpc>
                <a:spcPct val="120000"/>
              </a:lnSpc>
            </a:pP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运营</a:t>
            </a:r>
            <a:r>
              <a:rPr lang="en-US" altLang="zh-CN" sz="1100"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监控</a:t>
            </a:r>
            <a:r>
              <a:rPr lang="en-US" altLang="zh-CN" sz="1100" dirty="0">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执行）</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4279265" y="5363210"/>
            <a:ext cx="762000" cy="135255"/>
          </a:xfrm>
          <a:prstGeom prst="rect">
            <a:avLst/>
          </a:prstGeom>
          <a:noFill/>
        </p:spPr>
        <p:txBody>
          <a:bodyPr wrap="none" lIns="0" tIns="0" rIns="0" bIns="0" rtlCol="0">
            <a:noAutofit/>
          </a:bodyPr>
          <a:lstStyle>
            <a:defPPr>
              <a:defRPr lang="zh-CN"/>
            </a:defPPr>
            <a:lvl1pPr algn="ctr">
              <a:defRPr sz="1000">
                <a:solidFill>
                  <a:srgbClr val="000000">
                    <a:alpha val="50000"/>
                  </a:srgbClr>
                </a:solidFill>
                <a:latin typeface="OPPOSans R" charset="0"/>
              </a:defRPr>
            </a:lvl1pPr>
          </a:lstStyle>
          <a:p>
            <a:pPr lvl="0" algn="ctr">
              <a:buClrTx/>
              <a:buSzTx/>
              <a:buFontTx/>
            </a:pPr>
            <a:r>
              <a:rPr lang="zh-CN" altLang="en-US" dirty="0">
                <a:latin typeface="微软雅黑" panose="020B0503020204020204" charset="-122"/>
                <a:ea typeface="微软雅黑" panose="020B0503020204020204" charset="-122"/>
                <a:cs typeface="微软雅黑" panose="020B0503020204020204" charset="-122"/>
                <a:sym typeface="+mn-ea"/>
              </a:rPr>
              <a:t>分析本省指标异动根因</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5891530" y="3722370"/>
            <a:ext cx="1270000" cy="153670"/>
          </a:xfrm>
          <a:prstGeom prst="rect">
            <a:avLst/>
          </a:prstGeom>
          <a:noFill/>
        </p:spPr>
        <p:txBody>
          <a:bodyPr wrap="square" lIns="0" tIns="0" rIns="0" bIns="0" rtlCol="0">
            <a:spAutoFit/>
          </a:bodyPr>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明确策略落地核心</a:t>
            </a:r>
            <a:r>
              <a:rPr lang="zh-CN" altLang="en-US" sz="1000" dirty="0">
                <a:solidFill>
                  <a:srgbClr val="000000">
                    <a:alpha val="50000"/>
                  </a:srgbClr>
                </a:solidFill>
                <a:latin typeface="微软雅黑" panose="020B0503020204020204" charset="-122"/>
                <a:ea typeface="微软雅黑" panose="020B0503020204020204" charset="-122"/>
                <a:sym typeface="+mn-ea"/>
              </a:rPr>
              <a:t>要求</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29" name="文本框 28"/>
          <p:cNvSpPr txBox="1"/>
          <p:nvPr/>
        </p:nvSpPr>
        <p:spPr>
          <a:xfrm>
            <a:off x="7980045" y="3722370"/>
            <a:ext cx="762000" cy="153670"/>
          </a:xfrm>
          <a:prstGeom prst="rect">
            <a:avLst/>
          </a:prstGeom>
          <a:noFill/>
        </p:spPr>
        <p:txBody>
          <a:bodyPr wrap="square" lIns="0" tIns="0" rIns="0" bIns="0" rtlCol="0">
            <a:spAutoFit/>
          </a:bodyPr>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协调跨省</a:t>
            </a:r>
            <a:r>
              <a:rPr lang="zh-CN" altLang="en-US" sz="1000" dirty="0">
                <a:solidFill>
                  <a:srgbClr val="000000">
                    <a:alpha val="50000"/>
                  </a:srgbClr>
                </a:solidFill>
                <a:latin typeface="微软雅黑" panose="020B0503020204020204" charset="-122"/>
                <a:ea typeface="微软雅黑" panose="020B0503020204020204" charset="-122"/>
                <a:sym typeface="+mn-ea"/>
              </a:rPr>
              <a:t>协同</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30" name="文本框 29"/>
          <p:cNvSpPr txBox="1"/>
          <p:nvPr/>
        </p:nvSpPr>
        <p:spPr>
          <a:xfrm>
            <a:off x="7853045" y="5363210"/>
            <a:ext cx="1016000" cy="153670"/>
          </a:xfrm>
          <a:prstGeom prst="rect">
            <a:avLst/>
          </a:prstGeom>
          <a:noFill/>
        </p:spPr>
        <p:txBody>
          <a:bodyPr wrap="square" lIns="0" tIns="0" rIns="0" bIns="0" rtlCol="0">
            <a:spAutoFit/>
          </a:bodyPr>
          <a:p>
            <a:pPr lvl="0" algn="ctr">
              <a:buClrTx/>
              <a:buSzTx/>
              <a:buFontTx/>
            </a:pPr>
            <a:r>
              <a:rPr lang="zh-CN" altLang="en-US" sz="1000" dirty="0">
                <a:solidFill>
                  <a:srgbClr val="000000">
                    <a:alpha val="50000"/>
                  </a:srgbClr>
                </a:solidFill>
                <a:latin typeface="微软雅黑" panose="020B0503020204020204" charset="-122"/>
                <a:ea typeface="微软雅黑" panose="020B0503020204020204" charset="-122"/>
                <a:sym typeface="+mn-ea"/>
              </a:rPr>
              <a:t>反馈本地执行</a:t>
            </a:r>
            <a:r>
              <a:rPr lang="zh-CN" altLang="en-US" sz="1000" dirty="0">
                <a:solidFill>
                  <a:srgbClr val="000000">
                    <a:alpha val="50000"/>
                  </a:srgbClr>
                </a:solidFill>
                <a:latin typeface="微软雅黑" panose="020B0503020204020204" charset="-122"/>
                <a:ea typeface="微软雅黑" panose="020B0503020204020204" charset="-122"/>
                <a:sym typeface="+mn-ea"/>
              </a:rPr>
              <a:t>堵点</a:t>
            </a:r>
            <a:endParaRPr lang="zh-CN" altLang="en-US" sz="1000" dirty="0">
              <a:solidFill>
                <a:srgbClr val="000000">
                  <a:alpha val="50000"/>
                </a:srgbClr>
              </a:solidFill>
              <a:latin typeface="微软雅黑" panose="020B0503020204020204" charset="-122"/>
              <a:ea typeface="微软雅黑" panose="020B0503020204020204" charset="-122"/>
              <a:sym typeface="+mn-ea"/>
            </a:endParaRPr>
          </a:p>
        </p:txBody>
      </p:sp>
      <p:sp>
        <p:nvSpPr>
          <p:cNvPr id="35" name="矩形 34"/>
          <p:cNvSpPr/>
          <p:nvPr/>
        </p:nvSpPr>
        <p:spPr>
          <a:xfrm>
            <a:off x="2298065" y="5706745"/>
            <a:ext cx="8768715" cy="408940"/>
          </a:xfrm>
          <a:prstGeom prst="rect">
            <a:avLst/>
          </a:prstGeom>
          <a:solidFill>
            <a:srgbClr val="D1E3FE">
              <a:alpha val="71000"/>
            </a:srgbClr>
          </a:solidFill>
          <a:ln w="635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p>
            <a:pPr algn="ctr">
              <a:buClrTx/>
              <a:buSzTx/>
              <a:buFontTx/>
            </a:pPr>
            <a:r>
              <a:rPr lang="zh-CN" altLang="en-US" sz="1400" b="1" spc="60" dirty="0">
                <a:solidFill>
                  <a:schemeClr val="accent1"/>
                </a:solidFill>
                <a:latin typeface="微软雅黑" panose="020B0503020204020204" charset="-122"/>
                <a:ea typeface="微软雅黑" panose="020B0503020204020204" charset="-122"/>
                <a:cs typeface="OPPOSans B" panose="00020600040101010101" pitchFamily="18" charset="-122"/>
              </a:rPr>
              <a:t>协同+配合[按需提供产品和服务支撑配套]</a:t>
            </a:r>
            <a:endParaRPr lang="zh-CN" altLang="en-US" sz="1400" b="1" spc="60" dirty="0">
              <a:solidFill>
                <a:schemeClr val="accent1"/>
              </a:solidFill>
              <a:latin typeface="微软雅黑" panose="020B0503020204020204" charset="-122"/>
              <a:ea typeface="微软雅黑" panose="020B0503020204020204" charset="-122"/>
              <a:cs typeface="OPPOSans B"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rot="5400000">
            <a:off x="9845833" y="2823609"/>
            <a:ext cx="3270447" cy="830997"/>
          </a:xfrm>
          <a:prstGeom prst="rect">
            <a:avLst/>
          </a:prstGeom>
          <a:noFill/>
        </p:spPr>
        <p:txBody>
          <a:bodyPr wrap="none" rtlCol="0">
            <a:spAutoFit/>
          </a:bodyPr>
          <a:lstStyle/>
          <a:p>
            <a:pPr algn="r" defTabSz="914400">
              <a:defRPr/>
            </a:pPr>
            <a:r>
              <a:rPr kumimoji="1" lang="en-US" altLang="zh-CN" sz="4800" b="1" dirty="0">
                <a:solidFill>
                  <a:srgbClr val="44546A">
                    <a:lumMod val="20000"/>
                    <a:lumOff val="80000"/>
                    <a:alpha val="25000"/>
                  </a:srgbClr>
                </a:solidFill>
                <a:latin typeface="微软雅黑" panose="020B0503020204020204" charset="-122"/>
                <a:ea typeface="微软雅黑" panose="020B0503020204020204" charset="-122"/>
                <a:cs typeface="Arial Black" panose="020B0A04020102020204" charset="0"/>
              </a:rPr>
              <a:t>CONTENT</a:t>
            </a:r>
            <a:endParaRPr kumimoji="1" lang="en-US" altLang="zh-CN" sz="4800" b="1" dirty="0">
              <a:solidFill>
                <a:srgbClr val="44546A">
                  <a:lumMod val="20000"/>
                  <a:lumOff val="80000"/>
                  <a:alpha val="25000"/>
                </a:srgbClr>
              </a:solidFill>
              <a:latin typeface="微软雅黑" panose="020B0503020204020204" charset="-122"/>
              <a:ea typeface="微软雅黑" panose="020B0503020204020204" charset="-122"/>
              <a:cs typeface="Arial Black" panose="020B0A04020102020204" charset="0"/>
            </a:endParaRPr>
          </a:p>
        </p:txBody>
      </p:sp>
      <p:sp>
        <p:nvSpPr>
          <p:cNvPr id="23" name="文本框 22"/>
          <p:cNvSpPr txBox="1"/>
          <p:nvPr/>
        </p:nvSpPr>
        <p:spPr>
          <a:xfrm>
            <a:off x="10592694" y="2454247"/>
            <a:ext cx="824743" cy="1569660"/>
          </a:xfrm>
          <a:prstGeom prst="rect">
            <a:avLst/>
          </a:prstGeom>
          <a:noFill/>
        </p:spPr>
        <p:txBody>
          <a:bodyPr wrap="square" rtlCol="0">
            <a:spAutoFit/>
          </a:bodyPr>
          <a:lstStyle/>
          <a:p>
            <a:pPr algn="r" defTabSz="914400">
              <a:defRPr/>
            </a:pPr>
            <a:r>
              <a:rPr kumimoji="1" lang="zh-CN" altLang="en-US" sz="4800" b="1" dirty="0">
                <a:solidFill>
                  <a:srgbClr val="0B85CF"/>
                </a:solidFill>
                <a:latin typeface="微软雅黑" panose="020B0503020204020204" charset="-122"/>
                <a:ea typeface="微软雅黑" panose="020B0503020204020204" charset="-122"/>
              </a:rPr>
              <a:t>目录</a:t>
            </a:r>
            <a:endParaRPr kumimoji="1" lang="zh-CN" altLang="en-US" sz="4800" b="1" dirty="0">
              <a:solidFill>
                <a:srgbClr val="0B85CF"/>
              </a:solidFill>
              <a:latin typeface="微软雅黑" panose="020B0503020204020204" charset="-122"/>
              <a:ea typeface="微软雅黑" panose="020B0503020204020204" charset="-122"/>
            </a:endParaRPr>
          </a:p>
        </p:txBody>
      </p:sp>
      <p:sp>
        <p:nvSpPr>
          <p:cNvPr id="37" name="文本框 36"/>
          <p:cNvSpPr txBox="1"/>
          <p:nvPr/>
        </p:nvSpPr>
        <p:spPr>
          <a:xfrm rot="5400000">
            <a:off x="-1260000" y="2577417"/>
            <a:ext cx="5325497" cy="1323439"/>
          </a:xfrm>
          <a:prstGeom prst="rect">
            <a:avLst/>
          </a:prstGeom>
          <a:noFill/>
        </p:spPr>
        <p:txBody>
          <a:bodyPr wrap="none" rtlCol="0">
            <a:spAutoFit/>
          </a:bodyPr>
          <a:lstStyle/>
          <a:p>
            <a:pPr algn="r" defTabSz="914400">
              <a:defRPr/>
            </a:pPr>
            <a:r>
              <a:rPr kumimoji="1" lang="en-US" altLang="zh-CN" sz="8000" b="1" dirty="0">
                <a:gradFill>
                  <a:gsLst>
                    <a:gs pos="0">
                      <a:srgbClr val="44546A">
                        <a:lumMod val="60000"/>
                        <a:lumOff val="40000"/>
                        <a:alpha val="10000"/>
                      </a:srgbClr>
                    </a:gs>
                    <a:gs pos="100000">
                      <a:srgbClr val="44546A">
                        <a:lumMod val="60000"/>
                        <a:lumOff val="40000"/>
                        <a:alpha val="20000"/>
                      </a:srgbClr>
                    </a:gs>
                  </a:gsLst>
                  <a:lin ang="16200000" scaled="0"/>
                </a:gradFill>
                <a:latin typeface="微软雅黑" panose="020B0503020204020204" charset="-122"/>
                <a:ea typeface="微软雅黑" panose="020B0503020204020204" charset="-122"/>
                <a:cs typeface="Arial Black" panose="020B0A04020102020204" charset="0"/>
              </a:rPr>
              <a:t>CONTENT</a:t>
            </a:r>
            <a:endParaRPr kumimoji="1" lang="en-US" altLang="zh-CN" sz="8000" b="1" dirty="0">
              <a:gradFill>
                <a:gsLst>
                  <a:gs pos="0">
                    <a:srgbClr val="44546A">
                      <a:lumMod val="60000"/>
                      <a:lumOff val="40000"/>
                      <a:alpha val="10000"/>
                    </a:srgbClr>
                  </a:gs>
                  <a:gs pos="100000">
                    <a:srgbClr val="44546A">
                      <a:lumMod val="60000"/>
                      <a:lumOff val="40000"/>
                      <a:alpha val="20000"/>
                    </a:srgbClr>
                  </a:gs>
                </a:gsLst>
                <a:lin ang="16200000" scaled="0"/>
              </a:gradFill>
              <a:latin typeface="微软雅黑" panose="020B0503020204020204" charset="-122"/>
              <a:ea typeface="微软雅黑" panose="020B0503020204020204" charset="-122"/>
              <a:cs typeface="Arial Black" panose="020B0A04020102020204" charset="0"/>
            </a:endParaRPr>
          </a:p>
        </p:txBody>
      </p:sp>
      <p:grpSp>
        <p:nvGrpSpPr>
          <p:cNvPr id="2" name="组合 1"/>
          <p:cNvGrpSpPr/>
          <p:nvPr/>
        </p:nvGrpSpPr>
        <p:grpSpPr>
          <a:xfrm>
            <a:off x="2491105" y="907415"/>
            <a:ext cx="6891020" cy="4935220"/>
            <a:chOff x="3923" y="698"/>
            <a:chExt cx="10852" cy="7772"/>
          </a:xfrm>
        </p:grpSpPr>
        <p:grpSp>
          <p:nvGrpSpPr>
            <p:cNvPr id="42" name="组合 41"/>
            <p:cNvGrpSpPr/>
            <p:nvPr/>
          </p:nvGrpSpPr>
          <p:grpSpPr>
            <a:xfrm>
              <a:off x="5821" y="698"/>
              <a:ext cx="8954" cy="1822"/>
              <a:chOff x="4041" y="1285"/>
              <a:chExt cx="8954" cy="1822"/>
            </a:xfrm>
          </p:grpSpPr>
          <p:sp>
            <p:nvSpPr>
              <p:cNvPr id="43" name="文本框 42"/>
              <p:cNvSpPr txBox="1"/>
              <p:nvPr/>
            </p:nvSpPr>
            <p:spPr>
              <a:xfrm>
                <a:off x="4041" y="1285"/>
                <a:ext cx="1154" cy="1696"/>
              </a:xfrm>
              <a:prstGeom prst="rect">
                <a:avLst/>
              </a:prstGeom>
              <a:noFill/>
            </p:spPr>
            <p:txBody>
              <a:bodyPr wrap="none" rtlCol="0">
                <a:spAutoFit/>
              </a:bodyPr>
              <a:lstStyle/>
              <a:p>
                <a:pPr algn="ctr" defTabSz="914400">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rPr>
                  <a:t>1</a:t>
                </a:r>
                <a:endPar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endParaRPr>
              </a:p>
            </p:txBody>
          </p:sp>
          <p:sp>
            <p:nvSpPr>
              <p:cNvPr id="44" name="直角三角形 43"/>
              <p:cNvSpPr/>
              <p:nvPr/>
            </p:nvSpPr>
            <p:spPr>
              <a:xfrm flipH="1">
                <a:off x="4084" y="1462"/>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sp>
            <p:nvSpPr>
              <p:cNvPr id="45" name="文本框 44"/>
              <p:cNvSpPr txBox="1"/>
              <p:nvPr/>
            </p:nvSpPr>
            <p:spPr>
              <a:xfrm>
                <a:off x="5507" y="1912"/>
                <a:ext cx="7488" cy="725"/>
              </a:xfrm>
              <a:prstGeom prst="rect">
                <a:avLst/>
              </a:prstGeom>
              <a:noFill/>
            </p:spPr>
            <p:txBody>
              <a:bodyPr wrap="none" rtlCol="0">
                <a:spAutoFit/>
              </a:bodyPr>
              <a:lstStyle/>
              <a:p>
                <a:pPr algn="l" defTabSz="914400">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ea"/>
                  </a:rPr>
                  <a:t>破冰：为什么我们需要这个平台？</a:t>
                </a:r>
                <a:endPar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endParaRPr>
              </a:p>
            </p:txBody>
          </p:sp>
        </p:grpSp>
        <p:grpSp>
          <p:nvGrpSpPr>
            <p:cNvPr id="46" name="组合 45"/>
            <p:cNvGrpSpPr/>
            <p:nvPr/>
          </p:nvGrpSpPr>
          <p:grpSpPr>
            <a:xfrm>
              <a:off x="5817" y="6630"/>
              <a:ext cx="1688" cy="1840"/>
              <a:chOff x="4038" y="7330"/>
              <a:chExt cx="1688" cy="1840"/>
            </a:xfrm>
          </p:grpSpPr>
          <p:sp>
            <p:nvSpPr>
              <p:cNvPr id="47" name="文本框 46"/>
              <p:cNvSpPr txBox="1"/>
              <p:nvPr/>
            </p:nvSpPr>
            <p:spPr>
              <a:xfrm>
                <a:off x="4038" y="7330"/>
                <a:ext cx="1154" cy="1696"/>
              </a:xfrm>
              <a:prstGeom prst="rect">
                <a:avLst/>
              </a:prstGeom>
              <a:noFill/>
            </p:spPr>
            <p:txBody>
              <a:bodyPr wrap="none" rtlCol="0">
                <a:spAutoFit/>
              </a:bodyPr>
              <a:lstStyle/>
              <a:p>
                <a:pPr algn="ctr" defTabSz="914400">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rPr>
                  <a:t>4</a:t>
                </a:r>
                <a:endPar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endParaRPr>
              </a:p>
            </p:txBody>
          </p:sp>
          <p:sp>
            <p:nvSpPr>
              <p:cNvPr id="48" name="直角三角形 47"/>
              <p:cNvSpPr/>
              <p:nvPr/>
            </p:nvSpPr>
            <p:spPr>
              <a:xfrm flipH="1">
                <a:off x="4081" y="7525"/>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grpSp>
        <p:grpSp>
          <p:nvGrpSpPr>
            <p:cNvPr id="49" name="组合 48"/>
            <p:cNvGrpSpPr/>
            <p:nvPr/>
          </p:nvGrpSpPr>
          <p:grpSpPr>
            <a:xfrm>
              <a:off x="5821" y="2849"/>
              <a:ext cx="8474" cy="1822"/>
              <a:chOff x="4041" y="1285"/>
              <a:chExt cx="8474" cy="1822"/>
            </a:xfrm>
          </p:grpSpPr>
          <p:sp>
            <p:nvSpPr>
              <p:cNvPr id="50" name="文本框 49"/>
              <p:cNvSpPr txBox="1"/>
              <p:nvPr/>
            </p:nvSpPr>
            <p:spPr>
              <a:xfrm>
                <a:off x="4041" y="1285"/>
                <a:ext cx="1154" cy="1696"/>
              </a:xfrm>
              <a:prstGeom prst="rect">
                <a:avLst/>
              </a:prstGeom>
              <a:noFill/>
            </p:spPr>
            <p:txBody>
              <a:bodyPr wrap="none" rtlCol="0">
                <a:spAutoFit/>
              </a:bodyPr>
              <a:lstStyle/>
              <a:p>
                <a:pPr algn="ctr" defTabSz="914400">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rPr>
                  <a:t>2</a:t>
                </a:r>
                <a:endPar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endParaRPr>
              </a:p>
            </p:txBody>
          </p:sp>
          <p:sp>
            <p:nvSpPr>
              <p:cNvPr id="51" name="直角三角形 50"/>
              <p:cNvSpPr/>
              <p:nvPr/>
            </p:nvSpPr>
            <p:spPr>
              <a:xfrm flipH="1">
                <a:off x="4084" y="1462"/>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sp>
            <p:nvSpPr>
              <p:cNvPr id="52" name="文本框 51"/>
              <p:cNvSpPr txBox="1"/>
              <p:nvPr/>
            </p:nvSpPr>
            <p:spPr>
              <a:xfrm>
                <a:off x="5507" y="1912"/>
                <a:ext cx="7008" cy="725"/>
              </a:xfrm>
              <a:prstGeom prst="rect">
                <a:avLst/>
              </a:prstGeom>
              <a:noFill/>
            </p:spPr>
            <p:txBody>
              <a:bodyPr wrap="none" rtlCol="0">
                <a:spAutoFit/>
              </a:bodyPr>
              <a:lstStyle/>
              <a:p>
                <a:pPr algn="l" defTabSz="914400">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蓝图：平台的总体构想是什么？</a:t>
                </a:r>
                <a:endPar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endParaRPr>
              </a:p>
            </p:txBody>
          </p:sp>
        </p:grpSp>
        <p:grpSp>
          <p:nvGrpSpPr>
            <p:cNvPr id="53" name="组合 52"/>
            <p:cNvGrpSpPr/>
            <p:nvPr/>
          </p:nvGrpSpPr>
          <p:grpSpPr>
            <a:xfrm>
              <a:off x="3923" y="4592"/>
              <a:ext cx="10149" cy="2012"/>
              <a:chOff x="1593" y="3651"/>
              <a:chExt cx="10149" cy="2012"/>
            </a:xfrm>
          </p:grpSpPr>
          <p:sp>
            <p:nvSpPr>
              <p:cNvPr id="54" name="文本框 53"/>
              <p:cNvSpPr txBox="1"/>
              <p:nvPr/>
            </p:nvSpPr>
            <p:spPr>
              <a:xfrm>
                <a:off x="1593" y="3651"/>
                <a:ext cx="1260" cy="1890"/>
              </a:xfrm>
              <a:prstGeom prst="rect">
                <a:avLst/>
              </a:prstGeom>
              <a:noFill/>
            </p:spPr>
            <p:txBody>
              <a:bodyPr wrap="none" rtlCol="0">
                <a:spAutoFit/>
              </a:bodyPr>
              <a:lstStyle/>
              <a:p>
                <a:pPr algn="ctr" defTabSz="914400">
                  <a:defRPr/>
                </a:pPr>
                <a:r>
                  <a:rPr kumimoji="1" lang="en-US" altLang="zh-CN" sz="7200" b="1" dirty="0">
                    <a:gradFill>
                      <a:gsLst>
                        <a:gs pos="0">
                          <a:srgbClr val="00B0F0"/>
                        </a:gs>
                        <a:gs pos="59000">
                          <a:srgbClr val="0070BF"/>
                        </a:gs>
                      </a:gsLst>
                      <a:lin ang="12300000" scaled="0"/>
                    </a:gradFill>
                    <a:latin typeface="Arial Black" panose="020B0A04020102020204" charset="0"/>
                    <a:ea typeface="微软雅黑" panose="020B0503020204020204" charset="-122"/>
                    <a:cs typeface="Arial Black" panose="020B0A04020102020204" charset="0"/>
                  </a:rPr>
                  <a:t>3</a:t>
                </a:r>
                <a:endParaRPr kumimoji="1" lang="en-US" altLang="zh-CN" sz="7200" b="1" dirty="0">
                  <a:gradFill>
                    <a:gsLst>
                      <a:gs pos="0">
                        <a:srgbClr val="00B0F0"/>
                      </a:gs>
                      <a:gs pos="59000">
                        <a:srgbClr val="0070BF"/>
                      </a:gs>
                    </a:gsLst>
                    <a:lin ang="12300000" scaled="0"/>
                  </a:gradFill>
                  <a:latin typeface="Arial Black" panose="020B0A04020102020204" charset="0"/>
                  <a:ea typeface="微软雅黑" panose="020B0503020204020204" charset="-122"/>
                  <a:cs typeface="Arial Black" panose="020B0A04020102020204" charset="0"/>
                </a:endParaRPr>
              </a:p>
            </p:txBody>
          </p:sp>
          <p:sp>
            <p:nvSpPr>
              <p:cNvPr id="55" name="直角三角形 54"/>
              <p:cNvSpPr/>
              <p:nvPr/>
            </p:nvSpPr>
            <p:spPr>
              <a:xfrm flipH="1">
                <a:off x="1733" y="4001"/>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a:solidFill>
                    <a:srgbClr val="FFFFFF"/>
                  </a:solidFill>
                  <a:latin typeface="Calibri" panose="020F0502020204030204"/>
                  <a:ea typeface="等线" panose="02010600030101010101" charset="-122"/>
                </a:endParaRPr>
              </a:p>
            </p:txBody>
          </p:sp>
          <p:sp>
            <p:nvSpPr>
              <p:cNvPr id="56" name="任意多边形 23"/>
              <p:cNvSpPr/>
              <p:nvPr/>
            </p:nvSpPr>
            <p:spPr>
              <a:xfrm>
                <a:off x="2388" y="4190"/>
                <a:ext cx="9354" cy="1473"/>
              </a:xfrm>
              <a:custGeom>
                <a:avLst/>
                <a:gdLst>
                  <a:gd name="connsiteX0" fmla="*/ 1490 w 12083"/>
                  <a:gd name="connsiteY0" fmla="*/ 0 h 1473"/>
                  <a:gd name="connsiteX1" fmla="*/ 12083 w 12083"/>
                  <a:gd name="connsiteY1" fmla="*/ 0 h 1473"/>
                  <a:gd name="connsiteX2" fmla="*/ 12083 w 12083"/>
                  <a:gd name="connsiteY2" fmla="*/ 1454 h 1473"/>
                  <a:gd name="connsiteX3" fmla="*/ 0 w 12083"/>
                  <a:gd name="connsiteY3" fmla="*/ 1473 h 1473"/>
                  <a:gd name="connsiteX4" fmla="*/ 1490 w 12083"/>
                  <a:gd name="connsiteY4" fmla="*/ 0 h 1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73">
                    <a:moveTo>
                      <a:pt x="1490" y="0"/>
                    </a:moveTo>
                    <a:lnTo>
                      <a:pt x="12083" y="0"/>
                    </a:lnTo>
                    <a:lnTo>
                      <a:pt x="12083" y="1454"/>
                    </a:lnTo>
                    <a:lnTo>
                      <a:pt x="0" y="1473"/>
                    </a:lnTo>
                    <a:lnTo>
                      <a:pt x="1490" y="0"/>
                    </a:lnTo>
                    <a:close/>
                  </a:path>
                </a:pathLst>
              </a:custGeom>
              <a:solidFill>
                <a:schemeClr val="bg1"/>
              </a:solidFill>
              <a:ln>
                <a:noFill/>
              </a:ln>
              <a:effectLst>
                <a:outerShdw blurRad="368300" dist="254000" dir="5400000" sx="85000" sy="85000" algn="t" rotWithShape="0">
                  <a:schemeClr val="tx2">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defTabSz="914400">
                  <a:defRPr/>
                </a:pPr>
                <a:endParaRPr lang="zh-CN" altLang="en-US">
                  <a:solidFill>
                    <a:srgbClr val="FFFFFF"/>
                  </a:solidFill>
                  <a:latin typeface="Calibri" panose="020F0502020204030204"/>
                  <a:ea typeface="等线" panose="02010600030101010101" charset="-122"/>
                  <a:sym typeface="+mn-ea"/>
                </a:endParaRPr>
              </a:p>
            </p:txBody>
          </p:sp>
          <p:sp>
            <p:nvSpPr>
              <p:cNvPr id="57" name="文本框 56"/>
              <p:cNvSpPr txBox="1"/>
              <p:nvPr/>
            </p:nvSpPr>
            <p:spPr>
              <a:xfrm>
                <a:off x="3378" y="4305"/>
                <a:ext cx="8128" cy="822"/>
              </a:xfrm>
              <a:prstGeom prst="rect">
                <a:avLst/>
              </a:prstGeom>
              <a:noFill/>
            </p:spPr>
            <p:txBody>
              <a:bodyPr wrap="none" rtlCol="0">
                <a:spAutoFit/>
              </a:bodyPr>
              <a:lstStyle/>
              <a:p>
                <a:pPr algn="l" defTabSz="914400">
                  <a:defRPr/>
                </a:pPr>
                <a:r>
                  <a:rPr kumimoji="1" lang="zh-CN" altLang="en-US" sz="2800" b="1" dirty="0">
                    <a:ln w="3175">
                      <a:noFill/>
                    </a:ln>
                    <a:solidFill>
                      <a:srgbClr val="000000"/>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详解：</a:t>
                </a:r>
                <a:r>
                  <a:rPr kumimoji="1" lang="zh-CN" altLang="en-US" sz="2800" b="1" dirty="0">
                    <a:ln w="3175">
                      <a:noFill/>
                    </a:ln>
                    <a:solidFill>
                      <a:srgbClr val="000000"/>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平台具体提供哪些能力？</a:t>
                </a:r>
                <a:endParaRPr kumimoji="1" lang="zh-CN" altLang="en-US" sz="2800" b="1" dirty="0">
                  <a:ln w="3175">
                    <a:noFill/>
                  </a:ln>
                  <a:solidFill>
                    <a:srgbClr val="000000"/>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endParaRPr>
              </a:p>
            </p:txBody>
          </p:sp>
        </p:grpSp>
        <p:sp>
          <p:nvSpPr>
            <p:cNvPr id="58" name="文本框 57"/>
            <p:cNvSpPr txBox="1"/>
            <p:nvPr/>
          </p:nvSpPr>
          <p:spPr>
            <a:xfrm>
              <a:off x="7284" y="7275"/>
              <a:ext cx="5568" cy="725"/>
            </a:xfrm>
            <a:prstGeom prst="rect">
              <a:avLst/>
            </a:prstGeom>
            <a:noFill/>
          </p:spPr>
          <p:txBody>
            <a:bodyPr wrap="non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1" lang="zh-CN" altLang="en-US" sz="2400" noProof="0" dirty="0">
                  <a:ln w="3175">
                    <a:noFill/>
                  </a:ln>
                  <a:solidFill>
                    <a:srgbClr val="44546A">
                      <a:alpha val="75000"/>
                    </a:srgbClr>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sym typeface="+mn-lt"/>
                </a:rPr>
                <a:t>路径：我们如何实现它？</a:t>
              </a:r>
              <a:endPar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70BF"/>
                </a:solidFill>
                <a:latin typeface="微软雅黑" panose="020B0503020204020204" charset="-122"/>
                <a:ea typeface="微软雅黑" panose="020B0503020204020204" charset="-122"/>
                <a:sym typeface="+mn-ea"/>
              </a:rPr>
              <a:t>核心能力</a:t>
            </a:r>
            <a:r>
              <a:rPr>
                <a:solidFill>
                  <a:srgbClr val="0070BF"/>
                </a:solidFill>
                <a:latin typeface="微软雅黑" panose="020B0503020204020204" charset="-122"/>
                <a:ea typeface="微软雅黑" panose="020B0503020204020204" charset="-122"/>
                <a:sym typeface="+mn-ea"/>
              </a:rPr>
              <a:t>1</a:t>
            </a:r>
            <a:r>
              <a:rPr lang="zh-CN" altLang="en-US">
                <a:solidFill>
                  <a:srgbClr val="0070BF"/>
                </a:solidFill>
                <a:latin typeface="微软雅黑" panose="020B0503020204020204" charset="-122"/>
                <a:ea typeface="微软雅黑" panose="020B0503020204020204" charset="-122"/>
                <a:sym typeface="+mn-ea"/>
              </a:rPr>
              <a:t>：</a:t>
            </a:r>
            <a:r>
              <a:rPr lang="zh-CN" altLang="en-US">
                <a:solidFill>
                  <a:srgbClr val="C00000"/>
                </a:solidFill>
                <a:latin typeface="微软雅黑" panose="020B0503020204020204" charset="-122"/>
                <a:ea typeface="微软雅黑" panose="020B0503020204020204" charset="-122"/>
                <a:sym typeface="+mn-ea"/>
              </a:rPr>
              <a:t>察</a:t>
            </a:r>
            <a:r>
              <a:rPr lang="zh-CN" altLang="en-US">
                <a:solidFill>
                  <a:srgbClr val="0070BF"/>
                </a:solidFill>
                <a:latin typeface="微软雅黑" panose="020B0503020204020204" charset="-122"/>
                <a:ea typeface="微软雅黑" panose="020B0503020204020204" charset="-122"/>
                <a:sym typeface="+mn-ea"/>
              </a:rPr>
              <a:t>-全局数据联动，运营数据可视、可配</a:t>
            </a:r>
            <a:endParaRPr lang="zh-CN" altLang="en-US"/>
          </a:p>
        </p:txBody>
      </p:sp>
      <p:sp>
        <p:nvSpPr>
          <p:cNvPr id="36" name="文字框 26"/>
          <p:cNvSpPr txBox="1"/>
          <p:nvPr/>
        </p:nvSpPr>
        <p:spPr>
          <a:xfrm>
            <a:off x="635" y="875030"/>
            <a:ext cx="12191365" cy="774065"/>
          </a:xfrm>
          <a:prstGeom prst="rect">
            <a:avLst/>
          </a:prstGeom>
          <a:noFill/>
        </p:spPr>
        <p:txBody>
          <a:bodyPr vert="horz" wrap="square" lIns="91440" tIns="45720" rIns="91440" bIns="45720" numCol="1" spcCol="0" rtlCol="0" fromWordArt="0" anchor="t" anchorCtr="0" forceAA="0" compatLnSpc="0">
            <a:noAutofit/>
          </a:bodyPr>
          <a:p>
            <a:pPr marL="306070" lvl="0" indent="-306070" algn="l" defTabSz="914400" eaLnBrk="0">
              <a:lnSpc>
                <a:spcPct val="109000"/>
              </a:lnSpc>
              <a:spcBef>
                <a:spcPts val="0"/>
              </a:spcBef>
              <a:spcAft>
                <a:spcPts val="0"/>
              </a:spcAft>
              <a:buClr>
                <a:srgbClr val="0070BF"/>
              </a:buClr>
              <a:buSzTx/>
              <a:buFont typeface="Wingdings" panose="05000000000000000000" charset="0"/>
              <a:buChar char="n"/>
              <a:tabLst>
                <a:tab pos="356870" algn="l"/>
              </a:tabLst>
              <a:defRPr/>
            </a:pPr>
            <a:r>
              <a:rPr kumimoji="1" lang="zh-HK" altLang="en-US" sz="1400" b="1" noProof="0" dirty="0">
                <a:solidFill>
                  <a:srgbClr val="000000">
                    <a:alpha val="100000"/>
                  </a:srgbClr>
                </a:solidFill>
                <a:ea typeface="+mn-lt"/>
                <a:cs typeface="+mn-lt"/>
                <a:sym typeface="+mn-ea"/>
              </a:rPr>
              <a:t>接入指标中心</a:t>
            </a:r>
            <a:r>
              <a:rPr kumimoji="1" lang="zh-HK" altLang="en-US" sz="1400" b="1" noProof="0" dirty="0">
                <a:solidFill>
                  <a:srgbClr val="000000">
                    <a:alpha val="100000"/>
                  </a:srgbClr>
                </a:solidFill>
                <a:ea typeface="+mn-lt"/>
                <a:cs typeface="+mn-lt"/>
                <a:sym typeface="+mn-ea"/>
              </a:rPr>
              <a:t>数据构建指标项与指标集管理体系，基于运营场景支撑从数据接入、指标项配置、指标树配置、预警规则到指标集上架的全流程配置化管理，为数据可视化管理体系奠定基础支撑能力。</a:t>
            </a:r>
            <a:endParaRPr kumimoji="1" lang="zh-HK" altLang="en-US" sz="1400" b="1" noProof="0" dirty="0">
              <a:solidFill>
                <a:srgbClr val="000000">
                  <a:alpha val="100000"/>
                </a:srgbClr>
              </a:solidFill>
              <a:ea typeface="+mn-lt"/>
              <a:cs typeface="+mn-lt"/>
              <a:sym typeface="+mn-ea"/>
            </a:endParaRPr>
          </a:p>
        </p:txBody>
      </p:sp>
      <p:sp>
        <p:nvSpPr>
          <p:cNvPr id="41" name="矩形 40"/>
          <p:cNvSpPr/>
          <p:nvPr/>
        </p:nvSpPr>
        <p:spPr>
          <a:xfrm>
            <a:off x="285115" y="1624330"/>
            <a:ext cx="6102350" cy="4900295"/>
          </a:xfrm>
          <a:prstGeom prst="rect">
            <a:avLst/>
          </a:prstGeom>
          <a:noFill/>
          <a:ln w="317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2251902" y="1502810"/>
            <a:ext cx="221424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mn-ea"/>
              </a:rPr>
              <a:t>指标接入与根因</a:t>
            </a:r>
            <a:r>
              <a:rPr kumimoji="0"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mn-ea"/>
              </a:rPr>
              <a:t>分析</a:t>
            </a:r>
            <a:endParaRPr kumimoji="0" lang="zh-CN" altLang="en-US" sz="1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mn-ea"/>
            </a:endParaRPr>
          </a:p>
        </p:txBody>
      </p:sp>
      <p:sp>
        <p:nvSpPr>
          <p:cNvPr id="47" name="矩形 46"/>
          <p:cNvSpPr/>
          <p:nvPr/>
        </p:nvSpPr>
        <p:spPr>
          <a:xfrm>
            <a:off x="6605905" y="1624330"/>
            <a:ext cx="5148000" cy="4895850"/>
          </a:xfrm>
          <a:prstGeom prst="rect">
            <a:avLst/>
          </a:prstGeom>
          <a:noFill/>
          <a:ln w="3175">
            <a:solidFill>
              <a:srgbClr val="E7E6E6">
                <a:lumMod val="90000"/>
              </a:srgbClr>
            </a:solidFill>
          </a:ln>
        </p:spPr>
        <p:style>
          <a:lnRef idx="2">
            <a:srgbClr val="0070BF">
              <a:shade val="15000"/>
            </a:srgbClr>
          </a:lnRef>
          <a:fillRef idx="1">
            <a:srgbClr val="0070BF"/>
          </a:fillRef>
          <a:effectRef idx="0">
            <a:srgbClr val="0070BF"/>
          </a:effectRef>
          <a:fontRef idx="minor">
            <a:srgbClr val="FFFFFF"/>
          </a:fontRef>
        </p:style>
        <p:txBody>
          <a:bodyPr rtlCol="0" anchor="ctr"/>
          <a:lstStyle/>
          <a:p>
            <a:pPr indent="0">
              <a:lnSpc>
                <a:spcPct val="150000"/>
              </a:lnSpc>
              <a:buFont typeface="Wingdings" panose="05000000000000000000" pitchFamily="2" charset="2"/>
              <a:buNone/>
            </a:pPr>
            <a:endParaRPr kumimoji="1" lang="en-US" altLang="zh-CN" sz="1050" dirty="0">
              <a:solidFill>
                <a:srgbClr val="000000"/>
              </a:solidFill>
              <a:latin typeface="微软雅黑" panose="020B0503020204020204" charset="-122"/>
              <a:ea typeface="微软雅黑" panose="020B0503020204020204" charset="-122"/>
            </a:endParaRPr>
          </a:p>
        </p:txBody>
      </p:sp>
      <p:sp>
        <p:nvSpPr>
          <p:cNvPr id="50" name="矩形 49"/>
          <p:cNvSpPr/>
          <p:nvPr/>
        </p:nvSpPr>
        <p:spPr>
          <a:xfrm>
            <a:off x="8375552" y="1502810"/>
            <a:ext cx="221424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洞察中心</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51" name="文本框 50"/>
          <p:cNvSpPr txBox="1"/>
          <p:nvPr/>
        </p:nvSpPr>
        <p:spPr>
          <a:xfrm>
            <a:off x="6833235" y="1828800"/>
            <a:ext cx="4612640" cy="533400"/>
          </a:xfrm>
          <a:prstGeom prst="rect">
            <a:avLst/>
          </a:prstGeom>
          <a:noFill/>
        </p:spPr>
        <p:txBody>
          <a:bodyPr wrap="square" rtlCol="0">
            <a:spAutoFit/>
          </a:bodyPr>
          <a:lstStyle/>
          <a:p>
            <a:pPr indent="0" fontAlgn="auto">
              <a:lnSpc>
                <a:spcPct val="120000"/>
              </a:lnSpc>
              <a:buNone/>
            </a:pPr>
            <a:r>
              <a:rPr kumimoji="1" lang="zh-HK" altLang="en-US" sz="1200" dirty="0">
                <a:solidFill>
                  <a:srgbClr val="000000"/>
                </a:solidFill>
                <a:latin typeface="微软雅黑" panose="020B0503020204020204" charset="-122"/>
                <a:ea typeface="微软雅黑" panose="020B0503020204020204" charset="-122"/>
                <a:sym typeface="+mn-ea"/>
              </a:rPr>
              <a:t>提供数据洞察能力，解决问题定位困难的问题，变被动响应为主动发现</a:t>
            </a:r>
            <a:r>
              <a:rPr kumimoji="1" lang="en-US" altLang="zh-HK" sz="1200" dirty="0">
                <a:solidFill>
                  <a:srgbClr val="000000"/>
                </a:solidFill>
                <a:latin typeface="微软雅黑" panose="020B0503020204020204" charset="-122"/>
                <a:ea typeface="微软雅黑" panose="020B0503020204020204" charset="-122"/>
                <a:sym typeface="+mn-ea"/>
              </a:rPr>
              <a:t>。</a:t>
            </a:r>
            <a:endParaRPr kumimoji="1" lang="en-US" altLang="zh-HK" sz="1200" dirty="0">
              <a:solidFill>
                <a:srgbClr val="000000"/>
              </a:solidFill>
              <a:latin typeface="微软雅黑" panose="020B0503020204020204" charset="-122"/>
              <a:ea typeface="微软雅黑" panose="020B0503020204020204" charset="-122"/>
              <a:sym typeface="+mn-ea"/>
            </a:endParaRPr>
          </a:p>
        </p:txBody>
      </p:sp>
      <p:sp>
        <p:nvSpPr>
          <p:cNvPr id="54" name="文本框 53"/>
          <p:cNvSpPr txBox="1"/>
          <p:nvPr/>
        </p:nvSpPr>
        <p:spPr>
          <a:xfrm>
            <a:off x="436245" y="2205990"/>
            <a:ext cx="5785485" cy="533400"/>
          </a:xfrm>
          <a:prstGeom prst="rect">
            <a:avLst/>
          </a:prstGeom>
          <a:noFill/>
        </p:spPr>
        <p:txBody>
          <a:bodyPr wrap="square" rtlCol="0" anchor="t">
            <a:spAutoFit/>
          </a:bodyPr>
          <a:lstStyle/>
          <a:p>
            <a:pPr indent="0" fontAlgn="auto">
              <a:lnSpc>
                <a:spcPct val="120000"/>
              </a:lnSpc>
            </a:pPr>
            <a:r>
              <a:rPr lang="zh-CN" altLang="zh-HK" sz="1200">
                <a:solidFill>
                  <a:srgbClr val="0F1115"/>
                </a:solidFill>
                <a:latin typeface="微软雅黑" panose="020B0503020204020204" charset="-122"/>
                <a:ea typeface="微软雅黑" panose="020B0503020204020204" charset="-122"/>
                <a:sym typeface="+mn-ea"/>
              </a:rPr>
              <a:t>一级经分</a:t>
            </a:r>
            <a:r>
              <a:rPr lang="zh-HK" altLang="en-US" sz="1200">
                <a:solidFill>
                  <a:srgbClr val="0F1115"/>
                </a:solidFill>
                <a:latin typeface="微软雅黑" panose="020B0503020204020204" charset="-122"/>
                <a:ea typeface="微软雅黑" panose="020B0503020204020204" charset="-122"/>
                <a:sym typeface="+mn-ea"/>
              </a:rPr>
              <a:t>指标中心提供统一指标管理能力，运维人员在指标中心订阅所需的指标，通过标准</a:t>
            </a:r>
            <a:r>
              <a:rPr lang="en-US" altLang="zh-HK" sz="1200">
                <a:solidFill>
                  <a:srgbClr val="0F1115"/>
                </a:solidFill>
                <a:latin typeface="微软雅黑" panose="020B0503020204020204" charset="-122"/>
                <a:ea typeface="微软雅黑" panose="020B0503020204020204" charset="-122"/>
                <a:sym typeface="+mn-ea"/>
              </a:rPr>
              <a:t>API</a:t>
            </a:r>
            <a:r>
              <a:rPr lang="zh-HK" altLang="en-US" sz="1200">
                <a:solidFill>
                  <a:srgbClr val="0F1115"/>
                </a:solidFill>
                <a:latin typeface="微软雅黑" panose="020B0503020204020204" charset="-122"/>
                <a:ea typeface="微软雅黑" panose="020B0503020204020204" charset="-122"/>
                <a:sym typeface="+mn-ea"/>
              </a:rPr>
              <a:t>获取相应指标的指标值存储至数据平面</a:t>
            </a:r>
            <a:r>
              <a:rPr lang="zh-CN" altLang="zh-HK" sz="1200">
                <a:solidFill>
                  <a:srgbClr val="0F1115"/>
                </a:solidFill>
                <a:latin typeface="微软雅黑" panose="020B0503020204020204" charset="-122"/>
                <a:ea typeface="微软雅黑" panose="020B0503020204020204" charset="-122"/>
                <a:sym typeface="+mn-ea"/>
              </a:rPr>
              <a:t>供</a:t>
            </a:r>
            <a:r>
              <a:rPr lang="zh-HK" altLang="en-US" sz="1200">
                <a:solidFill>
                  <a:srgbClr val="0F1115"/>
                </a:solidFill>
                <a:latin typeface="微软雅黑" panose="020B0503020204020204" charset="-122"/>
                <a:ea typeface="微软雅黑" panose="020B0503020204020204" charset="-122"/>
                <a:sym typeface="+mn-ea"/>
              </a:rPr>
              <a:t>平台应用层调用</a:t>
            </a:r>
            <a:endParaRPr lang="zh-HK" altLang="en-US" sz="1200">
              <a:solidFill>
                <a:srgbClr val="0F1115"/>
              </a:solidFill>
              <a:latin typeface="微软雅黑" panose="020B0503020204020204" charset="-122"/>
              <a:ea typeface="微软雅黑" panose="020B0503020204020204" charset="-122"/>
              <a:sym typeface="+mn-ea"/>
            </a:endParaRPr>
          </a:p>
        </p:txBody>
      </p:sp>
      <p:sp>
        <p:nvSpPr>
          <p:cNvPr id="59" name="右箭頭 10"/>
          <p:cNvSpPr/>
          <p:nvPr/>
        </p:nvSpPr>
        <p:spPr>
          <a:xfrm>
            <a:off x="6833235" y="2973705"/>
            <a:ext cx="4786630" cy="1292225"/>
          </a:xfrm>
          <a:prstGeom prst="rightArrow">
            <a:avLst/>
          </a:prstGeom>
          <a:solidFill>
            <a:schemeClr val="bg1">
              <a:lumMod val="95000"/>
            </a:schemeClr>
          </a:solidFill>
          <a:ln>
            <a:solidFill>
              <a:schemeClr val="bg1">
                <a:lumMod val="9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HK" altLang="en-US"/>
          </a:p>
        </p:txBody>
      </p:sp>
      <p:sp>
        <p:nvSpPr>
          <p:cNvPr id="62" name="矩形 61"/>
          <p:cNvSpPr/>
          <p:nvPr/>
        </p:nvSpPr>
        <p:spPr>
          <a:xfrm>
            <a:off x="6833235" y="2491740"/>
            <a:ext cx="1275715" cy="337820"/>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b="1"/>
              <a:t>指标异常</a:t>
            </a:r>
            <a:endParaRPr lang="zh-CN" altLang="zh-HK" sz="1200" b="1"/>
          </a:p>
        </p:txBody>
      </p:sp>
      <p:sp>
        <p:nvSpPr>
          <p:cNvPr id="63" name="矩形 62"/>
          <p:cNvSpPr/>
          <p:nvPr/>
        </p:nvSpPr>
        <p:spPr>
          <a:xfrm>
            <a:off x="8284845" y="2491740"/>
            <a:ext cx="1574800" cy="33782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HK" altLang="en-US" sz="1200" b="1"/>
              <a:t>三维分析数据洞察</a:t>
            </a:r>
            <a:endParaRPr lang="zh-HK" altLang="en-US" sz="1200" b="1"/>
          </a:p>
        </p:txBody>
      </p:sp>
      <p:sp>
        <p:nvSpPr>
          <p:cNvPr id="67" name="矩形 66"/>
          <p:cNvSpPr/>
          <p:nvPr/>
        </p:nvSpPr>
        <p:spPr>
          <a:xfrm>
            <a:off x="10045700" y="2491740"/>
            <a:ext cx="1574800" cy="33782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zh-HK" sz="1200" b="1"/>
              <a:t>异常指标</a:t>
            </a:r>
            <a:r>
              <a:rPr lang="zh-CN" altLang="zh-HK" sz="1200" b="1"/>
              <a:t>定位</a:t>
            </a:r>
            <a:endParaRPr lang="zh-CN" altLang="zh-HK" sz="1200" b="1"/>
          </a:p>
        </p:txBody>
      </p:sp>
      <p:sp>
        <p:nvSpPr>
          <p:cNvPr id="71" name="文字框 8"/>
          <p:cNvSpPr txBox="1"/>
          <p:nvPr/>
        </p:nvSpPr>
        <p:spPr>
          <a:xfrm>
            <a:off x="8284845" y="3121025"/>
            <a:ext cx="1631315" cy="1014730"/>
          </a:xfrm>
          <a:prstGeom prst="rect">
            <a:avLst/>
          </a:prstGeom>
        </p:spPr>
        <p:txBody>
          <a:bodyPr wrap="square">
            <a:spAutoFit/>
          </a:bodyPr>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指标预警信息</a:t>
            </a:r>
            <a:endParaRPr lang="zh-CN" altLang="en-US" sz="1000">
              <a:latin typeface="微软雅黑" panose="020B0503020204020204" charset="-122"/>
              <a:ea typeface="微软雅黑" panose="020B0503020204020204" charset="-122"/>
            </a:endParaRPr>
          </a:p>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影响的问题（子）指标</a:t>
            </a:r>
            <a:endParaRPr lang="zh-CN" altLang="en-US" sz="1000">
              <a:latin typeface="微软雅黑" panose="020B0503020204020204" charset="-122"/>
              <a:ea typeface="微软雅黑" panose="020B0503020204020204" charset="-122"/>
            </a:endParaRPr>
          </a:p>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原因分析</a:t>
            </a:r>
            <a:endParaRPr lang="zh-CN" altLang="en-US" sz="1000">
              <a:latin typeface="微软雅黑" panose="020B0503020204020204" charset="-122"/>
              <a:ea typeface="微软雅黑" panose="020B0503020204020204" charset="-122"/>
            </a:endParaRPr>
          </a:p>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区域</a:t>
            </a:r>
            <a:r>
              <a:rPr lang="en-US" altLang="zh-CN" sz="1000">
                <a:latin typeface="微软雅黑" panose="020B0503020204020204" charset="-122"/>
                <a:ea typeface="微软雅黑" panose="020B0503020204020204" charset="-122"/>
              </a:rPr>
              <a:t>、</a:t>
            </a:r>
            <a:r>
              <a:rPr lang="zh-CN" altLang="en-US" sz="1000">
                <a:latin typeface="微软雅黑" panose="020B0503020204020204" charset="-122"/>
                <a:ea typeface="微软雅黑" panose="020B0503020204020204" charset="-122"/>
              </a:rPr>
              <a:t>时间</a:t>
            </a:r>
            <a:r>
              <a:rPr lang="en-US" altLang="zh-CN" sz="1000">
                <a:latin typeface="微软雅黑" panose="020B0503020204020204" charset="-122"/>
                <a:ea typeface="微软雅黑" panose="020B0503020204020204" charset="-122"/>
              </a:rPr>
              <a:t>、</a:t>
            </a:r>
            <a:r>
              <a:rPr lang="zh-CN" altLang="en-US" sz="1000">
                <a:latin typeface="微软雅黑" panose="020B0503020204020204" charset="-122"/>
                <a:ea typeface="微软雅黑" panose="020B0503020204020204" charset="-122"/>
              </a:rPr>
              <a:t>内容</a:t>
            </a:r>
            <a:endParaRPr lang="zh-CN" altLang="en-US" sz="1000">
              <a:latin typeface="微软雅黑" panose="020B0503020204020204" charset="-122"/>
              <a:ea typeface="微软雅黑" panose="020B0503020204020204" charset="-122"/>
            </a:endParaRPr>
          </a:p>
        </p:txBody>
      </p:sp>
      <p:sp>
        <p:nvSpPr>
          <p:cNvPr id="75" name="文字框 9"/>
          <p:cNvSpPr txBox="1"/>
          <p:nvPr/>
        </p:nvSpPr>
        <p:spPr>
          <a:xfrm>
            <a:off x="10045700" y="3121025"/>
            <a:ext cx="1400175" cy="1014730"/>
          </a:xfrm>
          <a:prstGeom prst="rect">
            <a:avLst/>
          </a:prstGeom>
        </p:spPr>
        <p:txBody>
          <a:bodyPr wrap="square">
            <a:spAutoFit/>
          </a:bodyPr>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异常区域</a:t>
            </a:r>
            <a:endParaRPr lang="zh-CN" altLang="en-US" sz="1000">
              <a:latin typeface="微软雅黑" panose="020B0503020204020204" charset="-122"/>
              <a:ea typeface="微软雅黑" panose="020B0503020204020204" charset="-122"/>
            </a:endParaRPr>
          </a:p>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异常</a:t>
            </a:r>
            <a:r>
              <a:rPr lang="zh-CN" altLang="en-US" sz="1000">
                <a:latin typeface="微软雅黑" panose="020B0503020204020204" charset="-122"/>
                <a:ea typeface="微软雅黑" panose="020B0503020204020204" charset="-122"/>
              </a:rPr>
              <a:t>客户群</a:t>
            </a:r>
            <a:endParaRPr lang="zh-CN" altLang="en-US" sz="1000">
              <a:latin typeface="微软雅黑" panose="020B0503020204020204" charset="-122"/>
              <a:ea typeface="微软雅黑" panose="020B0503020204020204" charset="-122"/>
            </a:endParaRPr>
          </a:p>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异常</a:t>
            </a:r>
            <a:r>
              <a:rPr lang="zh-CN" altLang="en-US" sz="1000">
                <a:latin typeface="微软雅黑" panose="020B0503020204020204" charset="-122"/>
                <a:ea typeface="微软雅黑" panose="020B0503020204020204" charset="-122"/>
              </a:rPr>
              <a:t>渠道</a:t>
            </a:r>
            <a:endParaRPr lang="zh-CN" altLang="en-US" sz="1000">
              <a:latin typeface="微软雅黑" panose="020B0503020204020204" charset="-122"/>
              <a:ea typeface="微软雅黑" panose="020B0503020204020204" charset="-122"/>
            </a:endParaRPr>
          </a:p>
          <a:p>
            <a:pPr marL="171450" indent="-171450" algn="just" defTabSz="266700">
              <a:lnSpc>
                <a:spcPct val="150000"/>
              </a:lnSpc>
              <a:spcBef>
                <a:spcPct val="0"/>
              </a:spcBef>
              <a:spcAft>
                <a:spcPct val="0"/>
              </a:spcAft>
              <a:buFont typeface="Arial" panose="020B0604020202020204" pitchFamily="34" charset="0"/>
              <a:buChar char="•"/>
            </a:pPr>
            <a:r>
              <a:rPr lang="zh-CN" altLang="en-US" sz="1000">
                <a:latin typeface="微软雅黑" panose="020B0503020204020204" charset="-122"/>
                <a:ea typeface="微软雅黑" panose="020B0503020204020204" charset="-122"/>
              </a:rPr>
              <a:t>异常</a:t>
            </a:r>
            <a:r>
              <a:rPr lang="zh-CN" altLang="en-US" sz="1000">
                <a:latin typeface="微软雅黑" panose="020B0503020204020204" charset="-122"/>
                <a:ea typeface="微软雅黑" panose="020B0503020204020204" charset="-122"/>
              </a:rPr>
              <a:t>产品</a:t>
            </a:r>
            <a:endParaRPr lang="zh-CN" altLang="en-US" sz="1000">
              <a:latin typeface="微软雅黑" panose="020B0503020204020204" charset="-122"/>
              <a:ea typeface="微软雅黑" panose="020B0503020204020204" charset="-122"/>
            </a:endParaRPr>
          </a:p>
        </p:txBody>
      </p:sp>
      <p:pic>
        <p:nvPicPr>
          <p:cNvPr id="78" name="图片 14"/>
          <p:cNvPicPr>
            <a:picLocks noChangeAspect="1"/>
          </p:cNvPicPr>
          <p:nvPr/>
        </p:nvPicPr>
        <p:blipFill>
          <a:blip r:embed="rId1"/>
          <a:stretch>
            <a:fillRect/>
          </a:stretch>
        </p:blipFill>
        <p:spPr>
          <a:xfrm>
            <a:off x="6749415" y="4922520"/>
            <a:ext cx="2417445" cy="1284605"/>
          </a:xfrm>
          <a:prstGeom prst="rect">
            <a:avLst/>
          </a:prstGeom>
          <a:noFill/>
          <a:ln>
            <a:noFill/>
          </a:ln>
        </p:spPr>
      </p:pic>
      <p:pic>
        <p:nvPicPr>
          <p:cNvPr id="79" name="图片 16"/>
          <p:cNvPicPr>
            <a:picLocks noChangeAspect="1"/>
          </p:cNvPicPr>
          <p:nvPr/>
        </p:nvPicPr>
        <p:blipFill>
          <a:blip r:embed="rId2"/>
          <a:stretch>
            <a:fillRect/>
          </a:stretch>
        </p:blipFill>
        <p:spPr>
          <a:xfrm>
            <a:off x="9411335" y="4931410"/>
            <a:ext cx="2208530" cy="1275715"/>
          </a:xfrm>
          <a:prstGeom prst="rect">
            <a:avLst/>
          </a:prstGeom>
          <a:noFill/>
          <a:ln>
            <a:noFill/>
          </a:ln>
        </p:spPr>
      </p:pic>
      <p:sp>
        <p:nvSpPr>
          <p:cNvPr id="81" name="文字框 12"/>
          <p:cNvSpPr txBox="1"/>
          <p:nvPr/>
        </p:nvSpPr>
        <p:spPr>
          <a:xfrm>
            <a:off x="7249160" y="4528185"/>
            <a:ext cx="1097280" cy="275590"/>
          </a:xfrm>
          <a:prstGeom prst="rect">
            <a:avLst/>
          </a:prstGeom>
          <a:noFill/>
        </p:spPr>
        <p:txBody>
          <a:bodyPr wrap="none" rtlCol="0">
            <a:spAutoFit/>
          </a:bodyPr>
          <a:p>
            <a:pPr algn="l"/>
            <a:r>
              <a:rPr kumimoji="1" lang="zh-CN" altLang="zh-HK" sz="1200" dirty="0" smtClean="0">
                <a:solidFill>
                  <a:srgbClr val="0070BF"/>
                </a:solidFill>
                <a:latin typeface="微软雅黑" panose="020B0503020204020204" charset="-122"/>
                <a:ea typeface="微软雅黑" panose="020B0503020204020204" charset="-122"/>
              </a:rPr>
              <a:t>指标分析报告</a:t>
            </a:r>
            <a:endParaRPr kumimoji="1" lang="zh-CN" altLang="zh-HK" sz="1200" dirty="0" smtClean="0">
              <a:solidFill>
                <a:srgbClr val="0070BF"/>
              </a:solidFill>
              <a:latin typeface="微软雅黑" panose="020B0503020204020204" charset="-122"/>
              <a:ea typeface="微软雅黑" panose="020B0503020204020204" charset="-122"/>
            </a:endParaRPr>
          </a:p>
        </p:txBody>
      </p:sp>
      <p:sp>
        <p:nvSpPr>
          <p:cNvPr id="90" name="文字框 13"/>
          <p:cNvSpPr txBox="1"/>
          <p:nvPr/>
        </p:nvSpPr>
        <p:spPr>
          <a:xfrm>
            <a:off x="9966960" y="4528185"/>
            <a:ext cx="1097280" cy="275590"/>
          </a:xfrm>
          <a:prstGeom prst="rect">
            <a:avLst/>
          </a:prstGeom>
          <a:noFill/>
        </p:spPr>
        <p:txBody>
          <a:bodyPr wrap="none" rtlCol="0">
            <a:spAutoFit/>
          </a:bodyPr>
          <a:p>
            <a:pPr algn="l"/>
            <a:r>
              <a:rPr kumimoji="1" lang="zh-CN" altLang="zh-HK" sz="1200" dirty="0" smtClean="0">
                <a:solidFill>
                  <a:srgbClr val="0070BF"/>
                </a:solidFill>
                <a:latin typeface="微软雅黑" panose="020B0503020204020204" charset="-122"/>
                <a:ea typeface="微软雅黑" panose="020B0503020204020204" charset="-122"/>
              </a:rPr>
              <a:t>客群画像</a:t>
            </a:r>
            <a:r>
              <a:rPr kumimoji="1" lang="zh-CN" altLang="zh-HK" sz="1200" dirty="0" smtClean="0">
                <a:solidFill>
                  <a:srgbClr val="0070BF"/>
                </a:solidFill>
                <a:latin typeface="微软雅黑" panose="020B0503020204020204" charset="-122"/>
                <a:ea typeface="微软雅黑" panose="020B0503020204020204" charset="-122"/>
              </a:rPr>
              <a:t>分析</a:t>
            </a:r>
            <a:endParaRPr kumimoji="1" lang="zh-CN" altLang="zh-HK" sz="1200" dirty="0" smtClean="0">
              <a:solidFill>
                <a:srgbClr val="0070BF"/>
              </a:solidFill>
              <a:latin typeface="微软雅黑" panose="020B0503020204020204" charset="-122"/>
              <a:ea typeface="微软雅黑" panose="020B0503020204020204" charset="-122"/>
            </a:endParaRPr>
          </a:p>
        </p:txBody>
      </p:sp>
      <p:sp>
        <p:nvSpPr>
          <p:cNvPr id="91" name="任意多边形: 形状 132"/>
          <p:cNvSpPr/>
          <p:nvPr/>
        </p:nvSpPr>
        <p:spPr>
          <a:xfrm>
            <a:off x="7137400" y="3074035"/>
            <a:ext cx="667385" cy="611505"/>
          </a:xfrm>
          <a:custGeom>
            <a:avLst/>
            <a:gdLst>
              <a:gd name="connsiteX0" fmla="*/ 0 w 353773"/>
              <a:gd name="connsiteY0" fmla="*/ 235849 h 235848"/>
              <a:gd name="connsiteX1" fmla="*/ 0 w 353773"/>
              <a:gd name="connsiteY1" fmla="*/ 194944 h 235848"/>
              <a:gd name="connsiteX2" fmla="*/ 6265 w 353773"/>
              <a:gd name="connsiteY2" fmla="*/ 171727 h 235848"/>
              <a:gd name="connsiteX3" fmla="*/ 23585 w 353773"/>
              <a:gd name="connsiteY3" fmla="*/ 155513 h 235848"/>
              <a:gd name="connsiteX4" fmla="*/ 33535 w 353773"/>
              <a:gd name="connsiteY4" fmla="*/ 150722 h 235848"/>
              <a:gd name="connsiteX5" fmla="*/ 44222 w 353773"/>
              <a:gd name="connsiteY5" fmla="*/ 146669 h 235848"/>
              <a:gd name="connsiteX6" fmla="*/ 44222 w 353773"/>
              <a:gd name="connsiteY6" fmla="*/ 235849 h 235848"/>
              <a:gd name="connsiteX7" fmla="*/ 0 w 353773"/>
              <a:gd name="connsiteY7" fmla="*/ 235849 h 235848"/>
              <a:gd name="connsiteX8" fmla="*/ 58962 w 353773"/>
              <a:gd name="connsiteY8" fmla="*/ 132665 h 235848"/>
              <a:gd name="connsiteX9" fmla="*/ 27639 w 353773"/>
              <a:gd name="connsiteY9" fmla="*/ 119767 h 235848"/>
              <a:gd name="connsiteX10" fmla="*/ 14741 w 353773"/>
              <a:gd name="connsiteY10" fmla="*/ 88443 h 235848"/>
              <a:gd name="connsiteX11" fmla="*/ 27639 w 353773"/>
              <a:gd name="connsiteY11" fmla="*/ 57120 h 235848"/>
              <a:gd name="connsiteX12" fmla="*/ 58962 w 353773"/>
              <a:gd name="connsiteY12" fmla="*/ 44222 h 235848"/>
              <a:gd name="connsiteX13" fmla="*/ 90286 w 353773"/>
              <a:gd name="connsiteY13" fmla="*/ 57120 h 235848"/>
              <a:gd name="connsiteX14" fmla="*/ 103184 w 353773"/>
              <a:gd name="connsiteY14" fmla="*/ 88443 h 235848"/>
              <a:gd name="connsiteX15" fmla="*/ 90286 w 353773"/>
              <a:gd name="connsiteY15" fmla="*/ 119767 h 235848"/>
              <a:gd name="connsiteX16" fmla="*/ 58962 w 353773"/>
              <a:gd name="connsiteY16" fmla="*/ 132665 h 235848"/>
              <a:gd name="connsiteX17" fmla="*/ 58962 w 353773"/>
              <a:gd name="connsiteY17" fmla="*/ 103184 h 235848"/>
              <a:gd name="connsiteX18" fmla="*/ 69281 w 353773"/>
              <a:gd name="connsiteY18" fmla="*/ 99130 h 235848"/>
              <a:gd name="connsiteX19" fmla="*/ 73703 w 353773"/>
              <a:gd name="connsiteY19" fmla="*/ 88443 h 235848"/>
              <a:gd name="connsiteX20" fmla="*/ 69281 w 353773"/>
              <a:gd name="connsiteY20" fmla="*/ 78125 h 235848"/>
              <a:gd name="connsiteX21" fmla="*/ 58962 w 353773"/>
              <a:gd name="connsiteY21" fmla="*/ 73703 h 235848"/>
              <a:gd name="connsiteX22" fmla="*/ 48275 w 353773"/>
              <a:gd name="connsiteY22" fmla="*/ 78125 h 235848"/>
              <a:gd name="connsiteX23" fmla="*/ 44222 w 353773"/>
              <a:gd name="connsiteY23" fmla="*/ 88443 h 235848"/>
              <a:gd name="connsiteX24" fmla="*/ 48275 w 353773"/>
              <a:gd name="connsiteY24" fmla="*/ 99130 h 235848"/>
              <a:gd name="connsiteX25" fmla="*/ 58962 w 353773"/>
              <a:gd name="connsiteY25" fmla="*/ 103184 h 235848"/>
              <a:gd name="connsiteX26" fmla="*/ 58962 w 353773"/>
              <a:gd name="connsiteY26" fmla="*/ 235849 h 235848"/>
              <a:gd name="connsiteX27" fmla="*/ 58962 w 353773"/>
              <a:gd name="connsiteY27" fmla="*/ 194575 h 235848"/>
              <a:gd name="connsiteX28" fmla="*/ 65227 w 353773"/>
              <a:gd name="connsiteY28" fmla="*/ 171727 h 235848"/>
              <a:gd name="connsiteX29" fmla="*/ 82547 w 353773"/>
              <a:gd name="connsiteY29" fmla="*/ 155513 h 235848"/>
              <a:gd name="connsiteX30" fmla="*/ 128980 w 353773"/>
              <a:gd name="connsiteY30" fmla="*/ 138561 h 235848"/>
              <a:gd name="connsiteX31" fmla="*/ 176887 w 353773"/>
              <a:gd name="connsiteY31" fmla="*/ 132665 h 235848"/>
              <a:gd name="connsiteX32" fmla="*/ 224793 w 353773"/>
              <a:gd name="connsiteY32" fmla="*/ 138561 h 235848"/>
              <a:gd name="connsiteX33" fmla="*/ 271226 w 353773"/>
              <a:gd name="connsiteY33" fmla="*/ 155513 h 235848"/>
              <a:gd name="connsiteX34" fmla="*/ 288178 w 353773"/>
              <a:gd name="connsiteY34" fmla="*/ 171727 h 235848"/>
              <a:gd name="connsiteX35" fmla="*/ 294811 w 353773"/>
              <a:gd name="connsiteY35" fmla="*/ 194575 h 235848"/>
              <a:gd name="connsiteX36" fmla="*/ 294811 w 353773"/>
              <a:gd name="connsiteY36" fmla="*/ 235849 h 235848"/>
              <a:gd name="connsiteX37" fmla="*/ 58962 w 353773"/>
              <a:gd name="connsiteY37" fmla="*/ 235849 h 235848"/>
              <a:gd name="connsiteX38" fmla="*/ 88443 w 353773"/>
              <a:gd name="connsiteY38" fmla="*/ 206368 h 235848"/>
              <a:gd name="connsiteX39" fmla="*/ 265330 w 353773"/>
              <a:gd name="connsiteY39" fmla="*/ 206368 h 235848"/>
              <a:gd name="connsiteX40" fmla="*/ 265330 w 353773"/>
              <a:gd name="connsiteY40" fmla="*/ 194575 h 235848"/>
              <a:gd name="connsiteX41" fmla="*/ 263119 w 353773"/>
              <a:gd name="connsiteY41" fmla="*/ 187205 h 235848"/>
              <a:gd name="connsiteX42" fmla="*/ 257960 w 353773"/>
              <a:gd name="connsiteY42" fmla="*/ 182046 h 235848"/>
              <a:gd name="connsiteX43" fmla="*/ 217792 w 353773"/>
              <a:gd name="connsiteY43" fmla="*/ 167305 h 235848"/>
              <a:gd name="connsiteX44" fmla="*/ 176887 w 353773"/>
              <a:gd name="connsiteY44" fmla="*/ 162146 h 235848"/>
              <a:gd name="connsiteX45" fmla="*/ 135982 w 353773"/>
              <a:gd name="connsiteY45" fmla="*/ 167305 h 235848"/>
              <a:gd name="connsiteX46" fmla="*/ 95814 w 353773"/>
              <a:gd name="connsiteY46" fmla="*/ 182046 h 235848"/>
              <a:gd name="connsiteX47" fmla="*/ 90286 w 353773"/>
              <a:gd name="connsiteY47" fmla="*/ 187205 h 235848"/>
              <a:gd name="connsiteX48" fmla="*/ 88443 w 353773"/>
              <a:gd name="connsiteY48" fmla="*/ 194575 h 235848"/>
              <a:gd name="connsiteX49" fmla="*/ 88443 w 353773"/>
              <a:gd name="connsiteY49" fmla="*/ 206368 h 235848"/>
              <a:gd name="connsiteX50" fmla="*/ 176887 w 353773"/>
              <a:gd name="connsiteY50" fmla="*/ 117924 h 235848"/>
              <a:gd name="connsiteX51" fmla="*/ 135244 w 353773"/>
              <a:gd name="connsiteY51" fmla="*/ 100604 h 235848"/>
              <a:gd name="connsiteX52" fmla="*/ 117924 w 353773"/>
              <a:gd name="connsiteY52" fmla="*/ 58962 h 235848"/>
              <a:gd name="connsiteX53" fmla="*/ 135244 w 353773"/>
              <a:gd name="connsiteY53" fmla="*/ 17320 h 235848"/>
              <a:gd name="connsiteX54" fmla="*/ 176887 w 353773"/>
              <a:gd name="connsiteY54" fmla="*/ 0 h 235848"/>
              <a:gd name="connsiteX55" fmla="*/ 218529 w 353773"/>
              <a:gd name="connsiteY55" fmla="*/ 17320 h 235848"/>
              <a:gd name="connsiteX56" fmla="*/ 235849 w 353773"/>
              <a:gd name="connsiteY56" fmla="*/ 58962 h 235848"/>
              <a:gd name="connsiteX57" fmla="*/ 218529 w 353773"/>
              <a:gd name="connsiteY57" fmla="*/ 100604 h 235848"/>
              <a:gd name="connsiteX58" fmla="*/ 176887 w 353773"/>
              <a:gd name="connsiteY58" fmla="*/ 117924 h 235848"/>
              <a:gd name="connsiteX59" fmla="*/ 176887 w 353773"/>
              <a:gd name="connsiteY59" fmla="*/ 88443 h 235848"/>
              <a:gd name="connsiteX60" fmla="*/ 197523 w 353773"/>
              <a:gd name="connsiteY60" fmla="*/ 79967 h 235848"/>
              <a:gd name="connsiteX61" fmla="*/ 206368 w 353773"/>
              <a:gd name="connsiteY61" fmla="*/ 58962 h 235848"/>
              <a:gd name="connsiteX62" fmla="*/ 197523 w 353773"/>
              <a:gd name="connsiteY62" fmla="*/ 38326 h 235848"/>
              <a:gd name="connsiteX63" fmla="*/ 176887 w 353773"/>
              <a:gd name="connsiteY63" fmla="*/ 29481 h 235848"/>
              <a:gd name="connsiteX64" fmla="*/ 155882 w 353773"/>
              <a:gd name="connsiteY64" fmla="*/ 38326 h 235848"/>
              <a:gd name="connsiteX65" fmla="*/ 147406 w 353773"/>
              <a:gd name="connsiteY65" fmla="*/ 58962 h 235848"/>
              <a:gd name="connsiteX66" fmla="*/ 155882 w 353773"/>
              <a:gd name="connsiteY66" fmla="*/ 79967 h 235848"/>
              <a:gd name="connsiteX67" fmla="*/ 176887 w 353773"/>
              <a:gd name="connsiteY67" fmla="*/ 88443 h 235848"/>
              <a:gd name="connsiteX68" fmla="*/ 294811 w 353773"/>
              <a:gd name="connsiteY68" fmla="*/ 132665 h 235848"/>
              <a:gd name="connsiteX69" fmla="*/ 263487 w 353773"/>
              <a:gd name="connsiteY69" fmla="*/ 119767 h 235848"/>
              <a:gd name="connsiteX70" fmla="*/ 250589 w 353773"/>
              <a:gd name="connsiteY70" fmla="*/ 88443 h 235848"/>
              <a:gd name="connsiteX71" fmla="*/ 263487 w 353773"/>
              <a:gd name="connsiteY71" fmla="*/ 57120 h 235848"/>
              <a:gd name="connsiteX72" fmla="*/ 294811 w 353773"/>
              <a:gd name="connsiteY72" fmla="*/ 44222 h 235848"/>
              <a:gd name="connsiteX73" fmla="*/ 326135 w 353773"/>
              <a:gd name="connsiteY73" fmla="*/ 57120 h 235848"/>
              <a:gd name="connsiteX74" fmla="*/ 339033 w 353773"/>
              <a:gd name="connsiteY74" fmla="*/ 88443 h 235848"/>
              <a:gd name="connsiteX75" fmla="*/ 326135 w 353773"/>
              <a:gd name="connsiteY75" fmla="*/ 119767 h 235848"/>
              <a:gd name="connsiteX76" fmla="*/ 294811 w 353773"/>
              <a:gd name="connsiteY76" fmla="*/ 132665 h 235848"/>
              <a:gd name="connsiteX77" fmla="*/ 294811 w 353773"/>
              <a:gd name="connsiteY77" fmla="*/ 103184 h 235848"/>
              <a:gd name="connsiteX78" fmla="*/ 305130 w 353773"/>
              <a:gd name="connsiteY78" fmla="*/ 99130 h 235848"/>
              <a:gd name="connsiteX79" fmla="*/ 309552 w 353773"/>
              <a:gd name="connsiteY79" fmla="*/ 88443 h 235848"/>
              <a:gd name="connsiteX80" fmla="*/ 305130 w 353773"/>
              <a:gd name="connsiteY80" fmla="*/ 78125 h 235848"/>
              <a:gd name="connsiteX81" fmla="*/ 294811 w 353773"/>
              <a:gd name="connsiteY81" fmla="*/ 73703 h 235848"/>
              <a:gd name="connsiteX82" fmla="*/ 284124 w 353773"/>
              <a:gd name="connsiteY82" fmla="*/ 78125 h 235848"/>
              <a:gd name="connsiteX83" fmla="*/ 280070 w 353773"/>
              <a:gd name="connsiteY83" fmla="*/ 88443 h 235848"/>
              <a:gd name="connsiteX84" fmla="*/ 284124 w 353773"/>
              <a:gd name="connsiteY84" fmla="*/ 99130 h 235848"/>
              <a:gd name="connsiteX85" fmla="*/ 294811 w 353773"/>
              <a:gd name="connsiteY85" fmla="*/ 103184 h 235848"/>
              <a:gd name="connsiteX86" fmla="*/ 309552 w 353773"/>
              <a:gd name="connsiteY86" fmla="*/ 235849 h 235848"/>
              <a:gd name="connsiteX87" fmla="*/ 309552 w 353773"/>
              <a:gd name="connsiteY87" fmla="*/ 146669 h 235848"/>
              <a:gd name="connsiteX88" fmla="*/ 319870 w 353773"/>
              <a:gd name="connsiteY88" fmla="*/ 150722 h 235848"/>
              <a:gd name="connsiteX89" fmla="*/ 330188 w 353773"/>
              <a:gd name="connsiteY89" fmla="*/ 155513 h 235848"/>
              <a:gd name="connsiteX90" fmla="*/ 347509 w 353773"/>
              <a:gd name="connsiteY90" fmla="*/ 171727 h 235848"/>
              <a:gd name="connsiteX91" fmla="*/ 353773 w 353773"/>
              <a:gd name="connsiteY91" fmla="*/ 194944 h 235848"/>
              <a:gd name="connsiteX92" fmla="*/ 353773 w 353773"/>
              <a:gd name="connsiteY92" fmla="*/ 235849 h 235848"/>
              <a:gd name="connsiteX93" fmla="*/ 309552 w 353773"/>
              <a:gd name="connsiteY93" fmla="*/ 235849 h 235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53773" h="235848">
                <a:moveTo>
                  <a:pt x="0" y="235849"/>
                </a:moveTo>
                <a:lnTo>
                  <a:pt x="0" y="194944"/>
                </a:lnTo>
                <a:cubicBezTo>
                  <a:pt x="0" y="186586"/>
                  <a:pt x="2093" y="178847"/>
                  <a:pt x="6265" y="171727"/>
                </a:cubicBezTo>
                <a:cubicBezTo>
                  <a:pt x="10436" y="164608"/>
                  <a:pt x="16215" y="159198"/>
                  <a:pt x="23585" y="155513"/>
                </a:cubicBezTo>
                <a:cubicBezTo>
                  <a:pt x="27020" y="153788"/>
                  <a:pt x="30336" y="152196"/>
                  <a:pt x="33535" y="150722"/>
                </a:cubicBezTo>
                <a:cubicBezTo>
                  <a:pt x="36969" y="149248"/>
                  <a:pt x="40537" y="147892"/>
                  <a:pt x="44222" y="146669"/>
                </a:cubicBezTo>
                <a:lnTo>
                  <a:pt x="44222" y="235849"/>
                </a:lnTo>
                <a:lnTo>
                  <a:pt x="0" y="235849"/>
                </a:lnTo>
                <a:close/>
                <a:moveTo>
                  <a:pt x="58962" y="132665"/>
                </a:moveTo>
                <a:cubicBezTo>
                  <a:pt x="46683" y="132665"/>
                  <a:pt x="36232" y="128361"/>
                  <a:pt x="27639" y="119767"/>
                </a:cubicBezTo>
                <a:cubicBezTo>
                  <a:pt x="19045" y="111173"/>
                  <a:pt x="14741" y="100722"/>
                  <a:pt x="14741" y="88443"/>
                </a:cubicBezTo>
                <a:cubicBezTo>
                  <a:pt x="14741" y="76164"/>
                  <a:pt x="19045" y="65713"/>
                  <a:pt x="27639" y="57120"/>
                </a:cubicBezTo>
                <a:cubicBezTo>
                  <a:pt x="36232" y="48526"/>
                  <a:pt x="46683" y="44222"/>
                  <a:pt x="58962" y="44222"/>
                </a:cubicBezTo>
                <a:cubicBezTo>
                  <a:pt x="71241" y="44222"/>
                  <a:pt x="81692" y="48526"/>
                  <a:pt x="90286" y="57120"/>
                </a:cubicBezTo>
                <a:cubicBezTo>
                  <a:pt x="98880" y="65713"/>
                  <a:pt x="103184" y="76164"/>
                  <a:pt x="103184" y="88443"/>
                </a:cubicBezTo>
                <a:cubicBezTo>
                  <a:pt x="103184" y="100722"/>
                  <a:pt x="98880" y="111173"/>
                  <a:pt x="90286" y="119767"/>
                </a:cubicBezTo>
                <a:cubicBezTo>
                  <a:pt x="81692" y="128361"/>
                  <a:pt x="71241" y="132665"/>
                  <a:pt x="58962" y="132665"/>
                </a:cubicBezTo>
                <a:close/>
                <a:moveTo>
                  <a:pt x="58962" y="103184"/>
                </a:moveTo>
                <a:cubicBezTo>
                  <a:pt x="63134" y="103184"/>
                  <a:pt x="66583" y="101828"/>
                  <a:pt x="69281" y="99130"/>
                </a:cubicBezTo>
                <a:cubicBezTo>
                  <a:pt x="72229" y="96182"/>
                  <a:pt x="73703" y="92615"/>
                  <a:pt x="73703" y="88443"/>
                </a:cubicBezTo>
                <a:cubicBezTo>
                  <a:pt x="73703" y="84272"/>
                  <a:pt x="72229" y="80822"/>
                  <a:pt x="69281" y="78125"/>
                </a:cubicBezTo>
                <a:cubicBezTo>
                  <a:pt x="66583" y="75177"/>
                  <a:pt x="63134" y="73703"/>
                  <a:pt x="58962" y="73703"/>
                </a:cubicBezTo>
                <a:cubicBezTo>
                  <a:pt x="54791" y="73703"/>
                  <a:pt x="51224" y="75177"/>
                  <a:pt x="48275" y="78125"/>
                </a:cubicBezTo>
                <a:cubicBezTo>
                  <a:pt x="45578" y="80822"/>
                  <a:pt x="44222" y="84272"/>
                  <a:pt x="44222" y="88443"/>
                </a:cubicBezTo>
                <a:cubicBezTo>
                  <a:pt x="44222" y="92615"/>
                  <a:pt x="45578" y="96182"/>
                  <a:pt x="48275" y="99130"/>
                </a:cubicBezTo>
                <a:cubicBezTo>
                  <a:pt x="51224" y="101828"/>
                  <a:pt x="54791" y="103184"/>
                  <a:pt x="58962" y="103184"/>
                </a:cubicBezTo>
                <a:close/>
                <a:moveTo>
                  <a:pt x="58962" y="235849"/>
                </a:moveTo>
                <a:lnTo>
                  <a:pt x="58962" y="194575"/>
                </a:lnTo>
                <a:cubicBezTo>
                  <a:pt x="58962" y="186217"/>
                  <a:pt x="61055" y="178611"/>
                  <a:pt x="65227" y="171727"/>
                </a:cubicBezTo>
                <a:cubicBezTo>
                  <a:pt x="69649" y="164608"/>
                  <a:pt x="75427" y="159198"/>
                  <a:pt x="82547" y="155513"/>
                </a:cubicBezTo>
                <a:cubicBezTo>
                  <a:pt x="97774" y="147892"/>
                  <a:pt x="113252" y="142246"/>
                  <a:pt x="128980" y="138561"/>
                </a:cubicBezTo>
                <a:cubicBezTo>
                  <a:pt x="144708" y="134625"/>
                  <a:pt x="160672" y="132665"/>
                  <a:pt x="176887" y="132665"/>
                </a:cubicBezTo>
                <a:cubicBezTo>
                  <a:pt x="193101" y="132665"/>
                  <a:pt x="209065" y="134625"/>
                  <a:pt x="224793" y="138561"/>
                </a:cubicBezTo>
                <a:cubicBezTo>
                  <a:pt x="240521" y="142246"/>
                  <a:pt x="255999" y="147892"/>
                  <a:pt x="271226" y="155513"/>
                </a:cubicBezTo>
                <a:cubicBezTo>
                  <a:pt x="278346" y="159198"/>
                  <a:pt x="284006" y="164608"/>
                  <a:pt x="288178" y="171727"/>
                </a:cubicBezTo>
                <a:cubicBezTo>
                  <a:pt x="292600" y="178611"/>
                  <a:pt x="294811" y="186217"/>
                  <a:pt x="294811" y="194575"/>
                </a:cubicBezTo>
                <a:lnTo>
                  <a:pt x="294811" y="235849"/>
                </a:lnTo>
                <a:lnTo>
                  <a:pt x="58962" y="235849"/>
                </a:lnTo>
                <a:close/>
                <a:moveTo>
                  <a:pt x="88443" y="206368"/>
                </a:moveTo>
                <a:lnTo>
                  <a:pt x="265330" y="206368"/>
                </a:lnTo>
                <a:lnTo>
                  <a:pt x="265330" y="194575"/>
                </a:lnTo>
                <a:cubicBezTo>
                  <a:pt x="265330" y="191878"/>
                  <a:pt x="264593" y="189416"/>
                  <a:pt x="263119" y="187205"/>
                </a:cubicBezTo>
                <a:cubicBezTo>
                  <a:pt x="261895" y="184994"/>
                  <a:pt x="260171" y="183269"/>
                  <a:pt x="257960" y="182046"/>
                </a:cubicBezTo>
                <a:cubicBezTo>
                  <a:pt x="244693" y="175412"/>
                  <a:pt x="231309" y="170504"/>
                  <a:pt x="217792" y="167305"/>
                </a:cubicBezTo>
                <a:cubicBezTo>
                  <a:pt x="204275" y="163871"/>
                  <a:pt x="190640" y="162146"/>
                  <a:pt x="176887" y="162146"/>
                </a:cubicBezTo>
                <a:cubicBezTo>
                  <a:pt x="163133" y="162146"/>
                  <a:pt x="149499" y="163871"/>
                  <a:pt x="135982" y="167305"/>
                </a:cubicBezTo>
                <a:cubicBezTo>
                  <a:pt x="122465" y="170504"/>
                  <a:pt x="109080" y="175412"/>
                  <a:pt x="95814" y="182046"/>
                </a:cubicBezTo>
                <a:cubicBezTo>
                  <a:pt x="93603" y="183269"/>
                  <a:pt x="91760" y="184994"/>
                  <a:pt x="90286" y="187205"/>
                </a:cubicBezTo>
                <a:cubicBezTo>
                  <a:pt x="89062" y="189416"/>
                  <a:pt x="88443" y="191878"/>
                  <a:pt x="88443" y="194575"/>
                </a:cubicBezTo>
                <a:lnTo>
                  <a:pt x="88443" y="206368"/>
                </a:lnTo>
                <a:close/>
                <a:moveTo>
                  <a:pt x="176887" y="117924"/>
                </a:moveTo>
                <a:cubicBezTo>
                  <a:pt x="160672" y="117924"/>
                  <a:pt x="146787" y="112146"/>
                  <a:pt x="135244" y="100604"/>
                </a:cubicBezTo>
                <a:cubicBezTo>
                  <a:pt x="123703" y="89062"/>
                  <a:pt x="117924" y="75177"/>
                  <a:pt x="117924" y="58962"/>
                </a:cubicBezTo>
                <a:cubicBezTo>
                  <a:pt x="117924" y="42748"/>
                  <a:pt x="123703" y="28862"/>
                  <a:pt x="135244" y="17320"/>
                </a:cubicBezTo>
                <a:cubicBezTo>
                  <a:pt x="146787" y="5778"/>
                  <a:pt x="160672" y="0"/>
                  <a:pt x="176887" y="0"/>
                </a:cubicBezTo>
                <a:cubicBezTo>
                  <a:pt x="193101" y="0"/>
                  <a:pt x="206987" y="5778"/>
                  <a:pt x="218529" y="17320"/>
                </a:cubicBezTo>
                <a:cubicBezTo>
                  <a:pt x="230071" y="28862"/>
                  <a:pt x="235849" y="42748"/>
                  <a:pt x="235849" y="58962"/>
                </a:cubicBezTo>
                <a:cubicBezTo>
                  <a:pt x="235849" y="75177"/>
                  <a:pt x="230071" y="89062"/>
                  <a:pt x="218529" y="100604"/>
                </a:cubicBezTo>
                <a:cubicBezTo>
                  <a:pt x="206987" y="112146"/>
                  <a:pt x="193101" y="117924"/>
                  <a:pt x="176887" y="117924"/>
                </a:cubicBezTo>
                <a:close/>
                <a:moveTo>
                  <a:pt x="176887" y="88443"/>
                </a:moveTo>
                <a:cubicBezTo>
                  <a:pt x="184994" y="88443"/>
                  <a:pt x="191878" y="85613"/>
                  <a:pt x="197523" y="79967"/>
                </a:cubicBezTo>
                <a:cubicBezTo>
                  <a:pt x="203419" y="74071"/>
                  <a:pt x="206368" y="67069"/>
                  <a:pt x="206368" y="58962"/>
                </a:cubicBezTo>
                <a:cubicBezTo>
                  <a:pt x="206368" y="50855"/>
                  <a:pt x="203419" y="43971"/>
                  <a:pt x="197523" y="38326"/>
                </a:cubicBezTo>
                <a:cubicBezTo>
                  <a:pt x="191878" y="32429"/>
                  <a:pt x="184994" y="29481"/>
                  <a:pt x="176887" y="29481"/>
                </a:cubicBezTo>
                <a:cubicBezTo>
                  <a:pt x="168779" y="29481"/>
                  <a:pt x="161778" y="32429"/>
                  <a:pt x="155882" y="38326"/>
                </a:cubicBezTo>
                <a:cubicBezTo>
                  <a:pt x="150235" y="43971"/>
                  <a:pt x="147406" y="50855"/>
                  <a:pt x="147406" y="58962"/>
                </a:cubicBezTo>
                <a:cubicBezTo>
                  <a:pt x="147406" y="67069"/>
                  <a:pt x="150235" y="74071"/>
                  <a:pt x="155882" y="79967"/>
                </a:cubicBezTo>
                <a:cubicBezTo>
                  <a:pt x="161778" y="85613"/>
                  <a:pt x="168779" y="88443"/>
                  <a:pt x="176887" y="88443"/>
                </a:cubicBezTo>
                <a:close/>
                <a:moveTo>
                  <a:pt x="294811" y="132665"/>
                </a:moveTo>
                <a:cubicBezTo>
                  <a:pt x="282532" y="132665"/>
                  <a:pt x="272081" y="128361"/>
                  <a:pt x="263487" y="119767"/>
                </a:cubicBezTo>
                <a:cubicBezTo>
                  <a:pt x="254893" y="111173"/>
                  <a:pt x="250589" y="100722"/>
                  <a:pt x="250589" y="88443"/>
                </a:cubicBezTo>
                <a:cubicBezTo>
                  <a:pt x="250589" y="76164"/>
                  <a:pt x="254893" y="65713"/>
                  <a:pt x="263487" y="57120"/>
                </a:cubicBezTo>
                <a:cubicBezTo>
                  <a:pt x="272081" y="48526"/>
                  <a:pt x="282532" y="44222"/>
                  <a:pt x="294811" y="44222"/>
                </a:cubicBezTo>
                <a:cubicBezTo>
                  <a:pt x="307090" y="44222"/>
                  <a:pt x="317541" y="48526"/>
                  <a:pt x="326135" y="57120"/>
                </a:cubicBezTo>
                <a:cubicBezTo>
                  <a:pt x="334729" y="65713"/>
                  <a:pt x="339033" y="76164"/>
                  <a:pt x="339033" y="88443"/>
                </a:cubicBezTo>
                <a:cubicBezTo>
                  <a:pt x="339033" y="100722"/>
                  <a:pt x="334729" y="111173"/>
                  <a:pt x="326135" y="119767"/>
                </a:cubicBezTo>
                <a:cubicBezTo>
                  <a:pt x="317541" y="128361"/>
                  <a:pt x="307090" y="132665"/>
                  <a:pt x="294811" y="132665"/>
                </a:cubicBezTo>
                <a:close/>
                <a:moveTo>
                  <a:pt x="294811" y="103184"/>
                </a:moveTo>
                <a:cubicBezTo>
                  <a:pt x="298982" y="103184"/>
                  <a:pt x="302432" y="101828"/>
                  <a:pt x="305130" y="99130"/>
                </a:cubicBezTo>
                <a:cubicBezTo>
                  <a:pt x="308077" y="96182"/>
                  <a:pt x="309552" y="92615"/>
                  <a:pt x="309552" y="88443"/>
                </a:cubicBezTo>
                <a:cubicBezTo>
                  <a:pt x="309552" y="84272"/>
                  <a:pt x="308077" y="80822"/>
                  <a:pt x="305130" y="78125"/>
                </a:cubicBezTo>
                <a:cubicBezTo>
                  <a:pt x="302432" y="75177"/>
                  <a:pt x="298982" y="73703"/>
                  <a:pt x="294811" y="73703"/>
                </a:cubicBezTo>
                <a:cubicBezTo>
                  <a:pt x="290640" y="73703"/>
                  <a:pt x="287072" y="75177"/>
                  <a:pt x="284124" y="78125"/>
                </a:cubicBezTo>
                <a:cubicBezTo>
                  <a:pt x="281427" y="80822"/>
                  <a:pt x="280070" y="84272"/>
                  <a:pt x="280070" y="88443"/>
                </a:cubicBezTo>
                <a:cubicBezTo>
                  <a:pt x="280070" y="92615"/>
                  <a:pt x="281427" y="96182"/>
                  <a:pt x="284124" y="99130"/>
                </a:cubicBezTo>
                <a:cubicBezTo>
                  <a:pt x="287072" y="101828"/>
                  <a:pt x="290640" y="103184"/>
                  <a:pt x="294811" y="103184"/>
                </a:cubicBezTo>
                <a:close/>
                <a:moveTo>
                  <a:pt x="309552" y="235849"/>
                </a:moveTo>
                <a:lnTo>
                  <a:pt x="309552" y="146669"/>
                </a:lnTo>
                <a:cubicBezTo>
                  <a:pt x="313237" y="147892"/>
                  <a:pt x="316671" y="149248"/>
                  <a:pt x="319870" y="150722"/>
                </a:cubicBezTo>
                <a:cubicBezTo>
                  <a:pt x="323305" y="152196"/>
                  <a:pt x="326754" y="153788"/>
                  <a:pt x="330188" y="155513"/>
                </a:cubicBezTo>
                <a:cubicBezTo>
                  <a:pt x="337559" y="159198"/>
                  <a:pt x="343337" y="164608"/>
                  <a:pt x="347509" y="171727"/>
                </a:cubicBezTo>
                <a:cubicBezTo>
                  <a:pt x="351680" y="178847"/>
                  <a:pt x="353773" y="186586"/>
                  <a:pt x="353773" y="194944"/>
                </a:cubicBezTo>
                <a:lnTo>
                  <a:pt x="353773" y="235849"/>
                </a:lnTo>
                <a:lnTo>
                  <a:pt x="309552" y="235849"/>
                </a:lnTo>
                <a:close/>
              </a:path>
            </a:pathLst>
          </a:custGeom>
          <a:solidFill>
            <a:srgbClr val="0070BF"/>
          </a:solidFill>
          <a:ln w="14739" cap="flat">
            <a:noFill/>
            <a:prstDash val="solid"/>
            <a:miter/>
          </a:ln>
        </p:spPr>
        <p:txBody>
          <a:bodyPr rtlCol="0"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黑体" panose="02010609060101010101" charset="-122"/>
              <a:ea typeface="黑体" panose="02010609060101010101" charset="-122"/>
              <a:cs typeface="+mn-cs"/>
              <a:sym typeface="Arial" panose="020B0604020202020204" pitchFamily="34" charset="0"/>
            </a:endParaRPr>
          </a:p>
        </p:txBody>
      </p:sp>
      <p:sp>
        <p:nvSpPr>
          <p:cNvPr id="92" name="文字框 15"/>
          <p:cNvSpPr txBox="1"/>
          <p:nvPr/>
        </p:nvSpPr>
        <p:spPr>
          <a:xfrm>
            <a:off x="7066915" y="3784600"/>
            <a:ext cx="795020" cy="275590"/>
          </a:xfrm>
          <a:prstGeom prst="rect">
            <a:avLst/>
          </a:prstGeom>
          <a:noFill/>
        </p:spPr>
        <p:txBody>
          <a:bodyPr wrap="none" rtlCol="0">
            <a:spAutoFit/>
          </a:bodyPr>
          <a:p>
            <a:pPr algn="l"/>
            <a:r>
              <a:rPr kumimoji="1" lang="zh-CN" altLang="zh-HK" sz="1200" b="1" dirty="0" smtClean="0">
                <a:latin typeface="微软雅黑" panose="020B0503020204020204" charset="-122"/>
                <a:ea typeface="微软雅黑" panose="020B0503020204020204" charset="-122"/>
              </a:rPr>
              <a:t>运营人员</a:t>
            </a:r>
            <a:endParaRPr kumimoji="1" lang="zh-CN" altLang="zh-HK" sz="1200" b="1" dirty="0" smtClean="0">
              <a:latin typeface="微软雅黑" panose="020B0503020204020204" charset="-122"/>
              <a:ea typeface="微软雅黑" panose="020B0503020204020204" charset="-122"/>
            </a:endParaRPr>
          </a:p>
        </p:txBody>
      </p:sp>
      <p:sp>
        <p:nvSpPr>
          <p:cNvPr id="94" name="矩形 93"/>
          <p:cNvSpPr/>
          <p:nvPr/>
        </p:nvSpPr>
        <p:spPr>
          <a:xfrm>
            <a:off x="530225" y="2827655"/>
            <a:ext cx="2207895" cy="440690"/>
          </a:xfrm>
          <a:prstGeom prst="rect">
            <a:avLst/>
          </a:prstGeom>
          <a:solidFill>
            <a:schemeClr val="bg1">
              <a:lumMod val="95000"/>
            </a:schemeClr>
          </a:solidFill>
          <a:ln>
            <a:solidFill>
              <a:schemeClr val="bg1">
                <a:lumMod val="9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HK" altLang="en-US"/>
          </a:p>
        </p:txBody>
      </p:sp>
      <p:sp>
        <p:nvSpPr>
          <p:cNvPr id="100" name="矩形 99"/>
          <p:cNvSpPr/>
          <p:nvPr/>
        </p:nvSpPr>
        <p:spPr>
          <a:xfrm>
            <a:off x="3963670" y="2827655"/>
            <a:ext cx="2207895" cy="440690"/>
          </a:xfrm>
          <a:prstGeom prst="rect">
            <a:avLst/>
          </a:prstGeom>
          <a:solidFill>
            <a:schemeClr val="bg1">
              <a:lumMod val="95000"/>
            </a:schemeClr>
          </a:solidFill>
          <a:ln>
            <a:solidFill>
              <a:schemeClr val="bg1">
                <a:lumMod val="9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HK" altLang="en-US"/>
          </a:p>
        </p:txBody>
      </p:sp>
      <p:sp>
        <p:nvSpPr>
          <p:cNvPr id="103" name="文字框 19"/>
          <p:cNvSpPr txBox="1"/>
          <p:nvPr/>
        </p:nvSpPr>
        <p:spPr>
          <a:xfrm>
            <a:off x="637540" y="2892425"/>
            <a:ext cx="8940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一级</a:t>
            </a:r>
            <a:r>
              <a:rPr kumimoji="1" lang="zh-CN" altLang="zh-HK" sz="1400" dirty="0" smtClean="0">
                <a:latin typeface="微软雅黑" panose="020B0503020204020204" charset="-122"/>
                <a:ea typeface="微软雅黑" panose="020B0503020204020204" charset="-122"/>
              </a:rPr>
              <a:t>经分</a:t>
            </a:r>
            <a:endParaRPr kumimoji="1" lang="zh-CN" altLang="zh-HK" sz="1400" dirty="0" smtClean="0">
              <a:latin typeface="微软雅黑" panose="020B0503020204020204" charset="-122"/>
              <a:ea typeface="微软雅黑" panose="020B0503020204020204" charset="-122"/>
            </a:endParaRPr>
          </a:p>
        </p:txBody>
      </p:sp>
      <p:sp>
        <p:nvSpPr>
          <p:cNvPr id="104" name="文字框 20"/>
          <p:cNvSpPr txBox="1"/>
          <p:nvPr/>
        </p:nvSpPr>
        <p:spPr>
          <a:xfrm>
            <a:off x="5203190" y="2892425"/>
            <a:ext cx="8940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运营</a:t>
            </a:r>
            <a:r>
              <a:rPr kumimoji="1" lang="zh-CN" altLang="zh-HK" sz="1400" dirty="0" smtClean="0">
                <a:latin typeface="微软雅黑" panose="020B0503020204020204" charset="-122"/>
                <a:ea typeface="微软雅黑" panose="020B0503020204020204" charset="-122"/>
              </a:rPr>
              <a:t>平台</a:t>
            </a:r>
            <a:endParaRPr kumimoji="1" lang="zh-CN" altLang="zh-HK" sz="1400" dirty="0" smtClean="0">
              <a:latin typeface="微软雅黑" panose="020B0503020204020204" charset="-122"/>
              <a:ea typeface="微软雅黑" panose="020B0503020204020204" charset="-122"/>
            </a:endParaRPr>
          </a:p>
        </p:txBody>
      </p:sp>
      <p:sp>
        <p:nvSpPr>
          <p:cNvPr id="105" name="矩形 104"/>
          <p:cNvSpPr/>
          <p:nvPr/>
        </p:nvSpPr>
        <p:spPr>
          <a:xfrm>
            <a:off x="1680210" y="2921000"/>
            <a:ext cx="882650" cy="240665"/>
          </a:xfrm>
          <a:prstGeom prst="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zh-HK" sz="1200"/>
              <a:t>指标中心</a:t>
            </a:r>
            <a:endParaRPr lang="zh-CN" altLang="zh-HK" sz="1200"/>
          </a:p>
        </p:txBody>
      </p:sp>
      <p:sp>
        <p:nvSpPr>
          <p:cNvPr id="106" name="矩形 105"/>
          <p:cNvSpPr/>
          <p:nvPr/>
        </p:nvSpPr>
        <p:spPr>
          <a:xfrm>
            <a:off x="4143375" y="2924810"/>
            <a:ext cx="882650" cy="240665"/>
          </a:xfrm>
          <a:prstGeom prst="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zh-HK" sz="1200"/>
              <a:t>指标中心</a:t>
            </a:r>
            <a:endParaRPr lang="zh-CN" altLang="zh-HK" sz="1200"/>
          </a:p>
        </p:txBody>
      </p:sp>
      <p:sp>
        <p:nvSpPr>
          <p:cNvPr id="107" name="右箭頭 24"/>
          <p:cNvSpPr/>
          <p:nvPr/>
        </p:nvSpPr>
        <p:spPr>
          <a:xfrm>
            <a:off x="2917825" y="2827655"/>
            <a:ext cx="882650" cy="414655"/>
          </a:xfrm>
          <a:prstGeom prst="rightArrow">
            <a:avLst/>
          </a:prstGeom>
          <a:solidFill>
            <a:schemeClr val="bg1">
              <a:lumMod val="75000"/>
            </a:schemeClr>
          </a:solidFill>
          <a:ln>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HK" sz="1000" b="1"/>
              <a:t>API</a:t>
            </a:r>
            <a:r>
              <a:rPr lang="zh-CN" altLang="en-US" sz="1000" b="1"/>
              <a:t>接口</a:t>
            </a:r>
            <a:endParaRPr lang="zh-CN" altLang="en-US" sz="1000" b="1"/>
          </a:p>
        </p:txBody>
      </p:sp>
      <p:sp>
        <p:nvSpPr>
          <p:cNvPr id="108" name="文字框 25"/>
          <p:cNvSpPr txBox="1"/>
          <p:nvPr/>
        </p:nvSpPr>
        <p:spPr>
          <a:xfrm>
            <a:off x="526415" y="1946910"/>
            <a:ext cx="1539240" cy="306705"/>
          </a:xfrm>
          <a:prstGeom prst="rect">
            <a:avLst/>
          </a:prstGeom>
          <a:noFill/>
        </p:spPr>
        <p:txBody>
          <a:bodyPr wrap="none" rtlCol="0">
            <a:spAutoFit/>
          </a:bodyPr>
          <a:p>
            <a:pPr marL="285750" indent="-285750" algn="l">
              <a:buFont typeface="Wingdings" panose="05000000000000000000" charset="0"/>
              <a:buChar char=""/>
            </a:pPr>
            <a:r>
              <a:rPr kumimoji="1" lang="zh-CN" altLang="zh-HK" sz="1400" b="1" dirty="0" smtClean="0">
                <a:solidFill>
                  <a:srgbClr val="0070BF"/>
                </a:solidFill>
                <a:latin typeface="微软雅黑" panose="020B0503020204020204" charset="-122"/>
                <a:ea typeface="微软雅黑" panose="020B0503020204020204" charset="-122"/>
              </a:rPr>
              <a:t>指标数据接入</a:t>
            </a:r>
            <a:endParaRPr kumimoji="1" lang="zh-CN" altLang="zh-HK" sz="1400" b="1" dirty="0" smtClean="0">
              <a:solidFill>
                <a:srgbClr val="0070BF"/>
              </a:solidFill>
              <a:latin typeface="微软雅黑" panose="020B0503020204020204" charset="-122"/>
              <a:ea typeface="微软雅黑" panose="020B0503020204020204" charset="-122"/>
            </a:endParaRPr>
          </a:p>
        </p:txBody>
      </p:sp>
      <p:sp>
        <p:nvSpPr>
          <p:cNvPr id="109" name="文字框 27"/>
          <p:cNvSpPr txBox="1"/>
          <p:nvPr/>
        </p:nvSpPr>
        <p:spPr>
          <a:xfrm>
            <a:off x="526415" y="3413125"/>
            <a:ext cx="1717675" cy="306705"/>
          </a:xfrm>
          <a:prstGeom prst="rect">
            <a:avLst/>
          </a:prstGeom>
          <a:noFill/>
        </p:spPr>
        <p:txBody>
          <a:bodyPr wrap="none" rtlCol="0">
            <a:spAutoFit/>
          </a:bodyPr>
          <a:p>
            <a:pPr marL="285750" indent="-285750" algn="l">
              <a:buFont typeface="Wingdings" panose="05000000000000000000" charset="0"/>
              <a:buChar char=""/>
            </a:pPr>
            <a:r>
              <a:rPr kumimoji="1" lang="zh-CN" altLang="zh-HK" sz="1400" b="1" dirty="0" smtClean="0">
                <a:solidFill>
                  <a:srgbClr val="0070BF"/>
                </a:solidFill>
                <a:latin typeface="微软雅黑" panose="020B0503020204020204" charset="-122"/>
                <a:ea typeface="微软雅黑" panose="020B0503020204020204" charset="-122"/>
              </a:rPr>
              <a:t>指标树根因分析</a:t>
            </a:r>
            <a:endParaRPr kumimoji="1" lang="zh-CN" altLang="zh-HK" sz="1400" b="1" dirty="0" smtClean="0">
              <a:solidFill>
                <a:srgbClr val="0070BF"/>
              </a:solidFill>
              <a:latin typeface="微软雅黑" panose="020B0503020204020204" charset="-122"/>
              <a:ea typeface="微软雅黑" panose="020B0503020204020204" charset="-122"/>
            </a:endParaRPr>
          </a:p>
        </p:txBody>
      </p:sp>
      <p:sp>
        <p:nvSpPr>
          <p:cNvPr id="110" name="Rectangle 104"/>
          <p:cNvSpPr/>
          <p:nvPr/>
        </p:nvSpPr>
        <p:spPr>
          <a:xfrm>
            <a:off x="561340" y="3804920"/>
            <a:ext cx="2686685" cy="663575"/>
          </a:xfrm>
          <a:prstGeom prst="rect">
            <a:avLst/>
          </a:prstGeom>
          <a:solidFill>
            <a:srgbClr val="5B9BD5">
              <a:lumMod val="60000"/>
              <a:lumOff val="40000"/>
              <a:alpha val="20000"/>
            </a:srgbClr>
          </a:solidFill>
          <a:ln w="12700" cap="flat" cmpd="sng" algn="ctr">
            <a:noFill/>
            <a:prstDash val="solid"/>
            <a:miter lim="800000"/>
          </a:ln>
          <a:effectLst/>
        </p:spPr>
        <p:txBody>
          <a:bodyPr lIns="0" tIns="36000" rIns="0" bIns="0" rtlCol="0" anchor="t" anchorCtr="0">
            <a:noAutofit/>
          </a:bodyPr>
          <a:p>
            <a:pPr algn="ctr" defTabSz="721360"/>
            <a:r>
              <a:rPr lang="zh-CN" altLang="en-US" sz="1200" b="1" kern="0" dirty="0">
                <a:solidFill>
                  <a:srgbClr val="0070BF">
                    <a:lumMod val="75000"/>
                  </a:srgbClr>
                </a:solidFill>
              </a:rPr>
              <a:t>初步拆解</a:t>
            </a:r>
            <a:endParaRPr lang="en-US" altLang="zh-CN" sz="1200" b="1" kern="0" dirty="0">
              <a:solidFill>
                <a:srgbClr val="0070BF">
                  <a:lumMod val="75000"/>
                </a:srgbClr>
              </a:solidFill>
            </a:endParaRPr>
          </a:p>
          <a:p>
            <a:pPr marL="171450" indent="-171450" defTabSz="721360">
              <a:lnSpc>
                <a:spcPct val="150000"/>
              </a:lnSpc>
              <a:buFont typeface="Arial" panose="020B0604020202020204" pitchFamily="34" charset="0"/>
              <a:buChar char="•"/>
            </a:pPr>
            <a:endParaRPr lang="en-US" altLang="zh-CN" sz="1200" b="1" kern="0" dirty="0">
              <a:solidFill>
                <a:srgbClr val="0070BF">
                  <a:lumMod val="75000"/>
                </a:srgbClr>
              </a:solidFill>
            </a:endParaRPr>
          </a:p>
        </p:txBody>
      </p:sp>
      <p:sp>
        <p:nvSpPr>
          <p:cNvPr id="111" name="Rectangle 104"/>
          <p:cNvSpPr/>
          <p:nvPr/>
        </p:nvSpPr>
        <p:spPr>
          <a:xfrm>
            <a:off x="561340" y="4533265"/>
            <a:ext cx="2697480" cy="662940"/>
          </a:xfrm>
          <a:prstGeom prst="rect">
            <a:avLst/>
          </a:prstGeom>
          <a:solidFill>
            <a:srgbClr val="5B9BD5">
              <a:lumMod val="60000"/>
              <a:lumOff val="40000"/>
              <a:alpha val="20000"/>
            </a:srgbClr>
          </a:solidFill>
          <a:ln w="12700" cap="flat" cmpd="sng" algn="ctr">
            <a:noFill/>
            <a:prstDash val="solid"/>
            <a:miter lim="800000"/>
          </a:ln>
          <a:effectLst/>
        </p:spPr>
        <p:txBody>
          <a:bodyPr lIns="0" tIns="36000" rIns="0" bIns="0" rtlCol="0" anchor="t" anchorCtr="0">
            <a:noAutofit/>
          </a:bodyPr>
          <a:p>
            <a:pPr algn="ctr" defTabSz="721360"/>
            <a:r>
              <a:rPr lang="zh-CN" altLang="en-US" sz="1000" b="1" kern="0" dirty="0">
                <a:solidFill>
                  <a:srgbClr val="0070BF">
                    <a:lumMod val="75000"/>
                  </a:srgbClr>
                </a:solidFill>
              </a:rPr>
              <a:t>多维对比</a:t>
            </a:r>
            <a:endParaRPr lang="en-US" altLang="zh-CN" sz="1000" b="1" kern="0" dirty="0">
              <a:solidFill>
                <a:srgbClr val="0070BF">
                  <a:lumMod val="75000"/>
                </a:srgbClr>
              </a:solidFill>
            </a:endParaRPr>
          </a:p>
          <a:p>
            <a:pPr marL="171450" indent="-171450" defTabSz="721360">
              <a:lnSpc>
                <a:spcPct val="150000"/>
              </a:lnSpc>
              <a:buFont typeface="Arial" panose="020B0604020202020204" pitchFamily="34" charset="0"/>
              <a:buChar char="•"/>
            </a:pPr>
            <a:endParaRPr lang="zh-CN" altLang="en-US" sz="900" b="1" kern="0" dirty="0">
              <a:solidFill>
                <a:srgbClr val="0070BF">
                  <a:lumMod val="75000"/>
                </a:srgbClr>
              </a:solidFill>
            </a:endParaRPr>
          </a:p>
        </p:txBody>
      </p:sp>
      <p:sp>
        <p:nvSpPr>
          <p:cNvPr id="112" name="Rectangle 104"/>
          <p:cNvSpPr/>
          <p:nvPr/>
        </p:nvSpPr>
        <p:spPr>
          <a:xfrm>
            <a:off x="558800" y="5260975"/>
            <a:ext cx="2721610" cy="1090295"/>
          </a:xfrm>
          <a:prstGeom prst="rect">
            <a:avLst/>
          </a:prstGeom>
          <a:solidFill>
            <a:srgbClr val="5B9BD5">
              <a:lumMod val="60000"/>
              <a:lumOff val="40000"/>
              <a:alpha val="20000"/>
            </a:srgbClr>
          </a:solidFill>
          <a:ln w="12700" cap="flat" cmpd="sng" algn="ctr">
            <a:noFill/>
            <a:prstDash val="solid"/>
            <a:miter lim="800000"/>
          </a:ln>
          <a:effectLst/>
        </p:spPr>
        <p:txBody>
          <a:bodyPr lIns="0" tIns="36000" rIns="0" bIns="0" rtlCol="0" anchor="t" anchorCtr="0">
            <a:noAutofit/>
          </a:bodyPr>
          <a:p>
            <a:pPr algn="ctr" defTabSz="721360"/>
            <a:r>
              <a:rPr lang="zh-CN" altLang="en-US" sz="1000" b="1" kern="0" dirty="0">
                <a:solidFill>
                  <a:srgbClr val="0070BF">
                    <a:lumMod val="75000"/>
                  </a:srgbClr>
                </a:solidFill>
              </a:rPr>
              <a:t>多维下钻</a:t>
            </a:r>
            <a:endParaRPr lang="en-US" altLang="zh-CN" sz="1000" b="1" kern="0" dirty="0">
              <a:solidFill>
                <a:srgbClr val="0070BF">
                  <a:lumMod val="75000"/>
                </a:srgbClr>
              </a:solidFill>
            </a:endParaRPr>
          </a:p>
          <a:p>
            <a:pPr marL="171450" indent="-171450" defTabSz="721360">
              <a:lnSpc>
                <a:spcPct val="150000"/>
              </a:lnSpc>
              <a:buFont typeface="Arial" panose="020B0604020202020204" pitchFamily="34" charset="0"/>
              <a:buChar char="•"/>
            </a:pPr>
            <a:endParaRPr lang="zh-CN" altLang="en-US" sz="900" b="0" dirty="0"/>
          </a:p>
        </p:txBody>
      </p:sp>
      <p:sp>
        <p:nvSpPr>
          <p:cNvPr id="113" name="文本框 4"/>
          <p:cNvSpPr txBox="1"/>
          <p:nvPr/>
        </p:nvSpPr>
        <p:spPr>
          <a:xfrm>
            <a:off x="637540" y="3987800"/>
            <a:ext cx="2536190" cy="423545"/>
          </a:xfrm>
          <a:prstGeom prst="rect">
            <a:avLst/>
          </a:prstGeom>
          <a:noFill/>
        </p:spPr>
        <p:txBody>
          <a:bodyPr wrap="square" rtlCol="0">
            <a:spAutoFit/>
          </a:bodyPr>
          <a:p>
            <a:pPr marL="171450" indent="-171450" fontAlgn="auto">
              <a:lnSpc>
                <a:spcPct val="120000"/>
              </a:lnSpc>
              <a:buFont typeface="Arial" panose="020B0604020202020204" pitchFamily="34" charset="0"/>
              <a:buChar char="•"/>
            </a:pPr>
            <a:r>
              <a:rPr lang="zh-CN" altLang="en-US" sz="900" dirty="0">
                <a:sym typeface="+mn-ea"/>
              </a:rPr>
              <a:t>根据计算公式和来源关系，定位父指标所关联的子指标异动情况</a:t>
            </a:r>
            <a:endParaRPr lang="zh-CN" altLang="en-US" sz="900" dirty="0">
              <a:sym typeface="+mn-ea"/>
            </a:endParaRPr>
          </a:p>
        </p:txBody>
      </p:sp>
      <p:sp>
        <p:nvSpPr>
          <p:cNvPr id="114" name="文本框 5"/>
          <p:cNvSpPr txBox="1"/>
          <p:nvPr/>
        </p:nvSpPr>
        <p:spPr>
          <a:xfrm>
            <a:off x="637540" y="4722495"/>
            <a:ext cx="2536190" cy="409575"/>
          </a:xfrm>
          <a:prstGeom prst="rect">
            <a:avLst/>
          </a:prstGeom>
          <a:noFill/>
        </p:spPr>
        <p:txBody>
          <a:bodyPr wrap="square" rtlCol="0">
            <a:noAutofit/>
          </a:bodyPr>
          <a:p>
            <a:pPr marL="171450" lvl="0" indent="-171450" algn="l">
              <a:lnSpc>
                <a:spcPct val="120000"/>
              </a:lnSpc>
              <a:buClrTx/>
              <a:buSzTx/>
              <a:buFont typeface="Arial" panose="020B0604020202020204" pitchFamily="34" charset="0"/>
              <a:buChar char="•"/>
            </a:pPr>
            <a:r>
              <a:rPr lang="zh-CN" altLang="en-US" sz="900" dirty="0">
                <a:sym typeface="+mn-ea"/>
              </a:rPr>
              <a:t>包括区域、时间、结构，定位变动项，如波动异常地区、流失异常、环比波动异常</a:t>
            </a:r>
            <a:endParaRPr lang="zh-CN" altLang="en-US" sz="900" dirty="0">
              <a:sym typeface="+mn-ea"/>
            </a:endParaRPr>
          </a:p>
        </p:txBody>
      </p:sp>
      <p:sp>
        <p:nvSpPr>
          <p:cNvPr id="115" name="文本框 6"/>
          <p:cNvSpPr txBox="1"/>
          <p:nvPr/>
        </p:nvSpPr>
        <p:spPr>
          <a:xfrm>
            <a:off x="637540" y="5504815"/>
            <a:ext cx="2611120" cy="887730"/>
          </a:xfrm>
          <a:prstGeom prst="rect">
            <a:avLst/>
          </a:prstGeom>
          <a:noFill/>
        </p:spPr>
        <p:txBody>
          <a:bodyPr wrap="square" rtlCol="0">
            <a:noAutofit/>
          </a:bodyPr>
          <a:p>
            <a:pPr marL="171450" lvl="0" indent="-171450" algn="l">
              <a:lnSpc>
                <a:spcPct val="120000"/>
              </a:lnSpc>
              <a:buClrTx/>
              <a:buSzTx/>
              <a:buFont typeface="Arial" panose="020B0604020202020204" pitchFamily="34" charset="0"/>
              <a:buChar char="•"/>
            </a:pPr>
            <a:r>
              <a:rPr lang="zh-CN" altLang="en-US" sz="900" dirty="0">
                <a:sym typeface="+mn-ea"/>
              </a:rPr>
              <a:t>根因指标、辅助指标多层级下钻，识别所关联的客户</a:t>
            </a:r>
            <a:r>
              <a:rPr lang="en-US" altLang="zh-CN" sz="900" dirty="0">
                <a:sym typeface="+mn-ea"/>
              </a:rPr>
              <a:t>\</a:t>
            </a:r>
            <a:r>
              <a:rPr lang="zh-CN" altLang="en-US" sz="900" dirty="0">
                <a:sym typeface="+mn-ea"/>
              </a:rPr>
              <a:t>产品</a:t>
            </a:r>
            <a:r>
              <a:rPr lang="en-US" altLang="zh-CN" sz="900" dirty="0">
                <a:sym typeface="+mn-ea"/>
              </a:rPr>
              <a:t>\</a:t>
            </a:r>
            <a:r>
              <a:rPr lang="zh-CN" altLang="en-US" sz="900" dirty="0">
                <a:sym typeface="+mn-ea"/>
              </a:rPr>
              <a:t>渠道细分相关指标；</a:t>
            </a:r>
            <a:endParaRPr lang="zh-CN" altLang="en-US" sz="900" dirty="0">
              <a:sym typeface="+mn-ea"/>
            </a:endParaRPr>
          </a:p>
          <a:p>
            <a:pPr marL="171450" lvl="0" indent="-171450" algn="l">
              <a:lnSpc>
                <a:spcPct val="120000"/>
              </a:lnSpc>
              <a:buClrTx/>
              <a:buSzTx/>
              <a:buFont typeface="Arial" panose="020B0604020202020204" pitchFamily="34" charset="0"/>
              <a:buChar char="•"/>
            </a:pPr>
            <a:r>
              <a:rPr lang="zh-CN" altLang="en-US" sz="900" dirty="0">
                <a:sym typeface="+mn-ea"/>
              </a:rPr>
              <a:t>根因影响权重分析：数据发展正相关分析，锁定影响权重高的根因。</a:t>
            </a:r>
            <a:endParaRPr lang="zh-CN" altLang="en-US" sz="900" dirty="0">
              <a:sym typeface="+mn-ea"/>
            </a:endParaRPr>
          </a:p>
        </p:txBody>
      </p:sp>
      <p:pic>
        <p:nvPicPr>
          <p:cNvPr id="193" name="Picture 2"/>
          <p:cNvPicPr>
            <a:picLocks noChangeAspect="1" noChangeArrowheads="1"/>
          </p:cNvPicPr>
          <p:nvPr/>
        </p:nvPicPr>
        <p:blipFill>
          <a:blip r:embed="rId3" cstate="print"/>
          <a:srcRect/>
          <a:stretch>
            <a:fillRect/>
          </a:stretch>
        </p:blipFill>
        <p:spPr bwMode="auto">
          <a:xfrm>
            <a:off x="3689350" y="4865370"/>
            <a:ext cx="724535" cy="671195"/>
          </a:xfrm>
          <a:prstGeom prst="rect">
            <a:avLst/>
          </a:prstGeom>
          <a:noFill/>
          <a:ln w="9525">
            <a:noFill/>
            <a:miter lim="800000"/>
            <a:headEnd/>
            <a:tailEnd/>
          </a:ln>
        </p:spPr>
      </p:pic>
      <p:pic>
        <p:nvPicPr>
          <p:cNvPr id="194" name="图片 193"/>
          <p:cNvPicPr/>
          <p:nvPr/>
        </p:nvPicPr>
        <p:blipFill>
          <a:blip r:embed="rId4" cstate="print"/>
          <a:srcRect/>
          <a:stretch>
            <a:fillRect/>
          </a:stretch>
        </p:blipFill>
        <p:spPr bwMode="auto">
          <a:xfrm>
            <a:off x="4422140" y="4946015"/>
            <a:ext cx="1002665" cy="562610"/>
          </a:xfrm>
          <a:prstGeom prst="rect">
            <a:avLst/>
          </a:prstGeom>
          <a:noFill/>
          <a:ln w="9525">
            <a:noFill/>
            <a:miter lim="800000"/>
            <a:headEnd/>
            <a:tailEnd/>
          </a:ln>
        </p:spPr>
      </p:pic>
      <p:pic>
        <p:nvPicPr>
          <p:cNvPr id="199" name="Picture 2"/>
          <p:cNvPicPr>
            <a:picLocks noChangeAspect="1" noChangeArrowheads="1"/>
          </p:cNvPicPr>
          <p:nvPr/>
        </p:nvPicPr>
        <p:blipFill>
          <a:blip r:embed="rId5" cstate="print"/>
          <a:srcRect/>
          <a:stretch>
            <a:fillRect/>
          </a:stretch>
        </p:blipFill>
        <p:spPr bwMode="auto">
          <a:xfrm>
            <a:off x="5492115" y="4874260"/>
            <a:ext cx="670560" cy="699770"/>
          </a:xfrm>
          <a:prstGeom prst="rect">
            <a:avLst/>
          </a:prstGeom>
          <a:noFill/>
          <a:ln w="9525">
            <a:noFill/>
            <a:miter lim="800000"/>
            <a:headEnd/>
            <a:tailEnd/>
          </a:ln>
        </p:spPr>
      </p:pic>
      <p:sp>
        <p:nvSpPr>
          <p:cNvPr id="176" name="Rectangle 104"/>
          <p:cNvSpPr/>
          <p:nvPr/>
        </p:nvSpPr>
        <p:spPr>
          <a:xfrm>
            <a:off x="3447415" y="3808730"/>
            <a:ext cx="2933700" cy="1088390"/>
          </a:xfrm>
          <a:prstGeom prst="rect">
            <a:avLst/>
          </a:prstGeom>
          <a:solidFill>
            <a:srgbClr val="5B9BD5">
              <a:lumMod val="60000"/>
              <a:lumOff val="40000"/>
              <a:alpha val="20000"/>
            </a:srgbClr>
          </a:solidFill>
          <a:ln w="12700" cap="flat" cmpd="sng" algn="ctr">
            <a:noFill/>
            <a:prstDash val="solid"/>
            <a:miter lim="800000"/>
          </a:ln>
          <a:effectLst/>
        </p:spPr>
        <p:txBody>
          <a:bodyPr lIns="0" tIns="36000" rIns="0" bIns="0" rtlCol="0" anchor="b" anchorCtr="0">
            <a:noAutofit/>
          </a:bodyPr>
          <a:lstStyle/>
          <a:p>
            <a:pPr algn="ctr" defTabSz="721360">
              <a:lnSpc>
                <a:spcPct val="150000"/>
              </a:lnSpc>
            </a:pPr>
            <a:r>
              <a:rPr lang="zh-CN" altLang="en-US" sz="1000" b="1" dirty="0"/>
              <a:t>海量指标定义、口径、数据输入大小模型</a:t>
            </a:r>
            <a:endParaRPr lang="en-US" altLang="zh-CN" sz="1000" b="1" kern="0" dirty="0">
              <a:solidFill>
                <a:srgbClr val="0070BF">
                  <a:lumMod val="75000"/>
                </a:srgbClr>
              </a:solidFill>
            </a:endParaRPr>
          </a:p>
        </p:txBody>
      </p:sp>
      <p:sp>
        <p:nvSpPr>
          <p:cNvPr id="177" name="矩形 176"/>
          <p:cNvSpPr/>
          <p:nvPr/>
        </p:nvSpPr>
        <p:spPr>
          <a:xfrm>
            <a:off x="3529965" y="3874135"/>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客户数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78" name="矩形 177"/>
          <p:cNvSpPr/>
          <p:nvPr/>
        </p:nvSpPr>
        <p:spPr>
          <a:xfrm>
            <a:off x="4203065" y="3874135"/>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净增数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79" name="矩形 178"/>
          <p:cNvSpPr/>
          <p:nvPr/>
        </p:nvSpPr>
        <p:spPr>
          <a:xfrm>
            <a:off x="4876800" y="3875405"/>
            <a:ext cx="73723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客户占比</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80" name="矩形 179"/>
          <p:cNvSpPr/>
          <p:nvPr/>
        </p:nvSpPr>
        <p:spPr>
          <a:xfrm>
            <a:off x="5632450" y="3875405"/>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离网数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81" name="矩形 180"/>
          <p:cNvSpPr/>
          <p:nvPr/>
        </p:nvSpPr>
        <p:spPr>
          <a:xfrm>
            <a:off x="3526790" y="4086225"/>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活跃数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82" name="矩形 181"/>
          <p:cNvSpPr/>
          <p:nvPr/>
        </p:nvSpPr>
        <p:spPr>
          <a:xfrm>
            <a:off x="4200525" y="4086225"/>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到期数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83" name="矩形 182"/>
          <p:cNvSpPr/>
          <p:nvPr/>
        </p:nvSpPr>
        <p:spPr>
          <a:xfrm>
            <a:off x="4873625" y="4088130"/>
            <a:ext cx="73723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降档数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84" name="矩形 183"/>
          <p:cNvSpPr/>
          <p:nvPr/>
        </p:nvSpPr>
        <p:spPr>
          <a:xfrm>
            <a:off x="5629910" y="4088130"/>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续约数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85" name="矩形 184"/>
          <p:cNvSpPr/>
          <p:nvPr/>
        </p:nvSpPr>
        <p:spPr>
          <a:xfrm>
            <a:off x="3524250" y="4299585"/>
            <a:ext cx="654685" cy="18732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800" dirty="0">
                <a:solidFill>
                  <a:schemeClr val="tx1"/>
                </a:solidFill>
                <a:latin typeface="微软雅黑" panose="020B0503020204020204" charset="-122"/>
                <a:ea typeface="微软雅黑" panose="020B0503020204020204" charset="-122"/>
              </a:rPr>
              <a:t>合约取消</a:t>
            </a:r>
            <a:endParaRPr kumimoji="1" lang="zh-CN" altLang="en-US" sz="800" dirty="0">
              <a:solidFill>
                <a:schemeClr val="tx1"/>
              </a:solidFill>
              <a:latin typeface="微软雅黑" panose="020B0503020204020204" charset="-122"/>
              <a:ea typeface="微软雅黑" panose="020B0503020204020204" charset="-122"/>
            </a:endParaRPr>
          </a:p>
        </p:txBody>
      </p:sp>
      <p:sp>
        <p:nvSpPr>
          <p:cNvPr id="186" name="矩形 185"/>
          <p:cNvSpPr/>
          <p:nvPr/>
        </p:nvSpPr>
        <p:spPr>
          <a:xfrm>
            <a:off x="4197985" y="4299585"/>
            <a:ext cx="654685" cy="18732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800" dirty="0">
                <a:solidFill>
                  <a:schemeClr val="tx1"/>
                </a:solidFill>
                <a:latin typeface="微软雅黑" panose="020B0503020204020204" charset="-122"/>
                <a:ea typeface="微软雅黑" panose="020B0503020204020204" charset="-122"/>
              </a:rPr>
              <a:t>折扣到期</a:t>
            </a:r>
            <a:endParaRPr kumimoji="1" lang="zh-CN" altLang="en-US" sz="800" dirty="0">
              <a:solidFill>
                <a:schemeClr val="tx1"/>
              </a:solidFill>
              <a:latin typeface="微软雅黑" panose="020B0503020204020204" charset="-122"/>
              <a:ea typeface="微软雅黑" panose="020B0503020204020204" charset="-122"/>
            </a:endParaRPr>
          </a:p>
        </p:txBody>
      </p:sp>
      <p:sp>
        <p:nvSpPr>
          <p:cNvPr id="187" name="矩形 186"/>
          <p:cNvSpPr/>
          <p:nvPr/>
        </p:nvSpPr>
        <p:spPr>
          <a:xfrm>
            <a:off x="4871085" y="4300220"/>
            <a:ext cx="73723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800" dirty="0">
                <a:solidFill>
                  <a:schemeClr val="tx1"/>
                </a:solidFill>
                <a:latin typeface="微软雅黑" panose="020B0503020204020204" charset="-122"/>
                <a:ea typeface="微软雅黑" panose="020B0503020204020204" charset="-122"/>
              </a:rPr>
              <a:t>副卡解绑降档</a:t>
            </a:r>
            <a:endParaRPr kumimoji="1" lang="zh-CN" altLang="en-US" sz="800" dirty="0">
              <a:solidFill>
                <a:schemeClr val="tx1"/>
              </a:solidFill>
              <a:latin typeface="微软雅黑" panose="020B0503020204020204" charset="-122"/>
              <a:ea typeface="微软雅黑" panose="020B0503020204020204" charset="-122"/>
            </a:endParaRPr>
          </a:p>
        </p:txBody>
      </p:sp>
      <p:sp>
        <p:nvSpPr>
          <p:cNvPr id="188" name="矩形 187"/>
          <p:cNvSpPr/>
          <p:nvPr/>
        </p:nvSpPr>
        <p:spPr>
          <a:xfrm>
            <a:off x="5626735" y="4300220"/>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800" dirty="0">
                <a:solidFill>
                  <a:schemeClr val="tx1"/>
                </a:solidFill>
                <a:latin typeface="微软雅黑" panose="020B0503020204020204" charset="-122"/>
                <a:ea typeface="微软雅黑" panose="020B0503020204020204" charset="-122"/>
              </a:rPr>
              <a:t>宽带取消</a:t>
            </a:r>
            <a:endParaRPr kumimoji="1" lang="zh-CN" altLang="en-US" sz="800" dirty="0">
              <a:solidFill>
                <a:schemeClr val="tx1"/>
              </a:solidFill>
              <a:latin typeface="微软雅黑" panose="020B0503020204020204" charset="-122"/>
              <a:ea typeface="微软雅黑" panose="020B0503020204020204" charset="-122"/>
            </a:endParaRPr>
          </a:p>
        </p:txBody>
      </p:sp>
      <p:sp>
        <p:nvSpPr>
          <p:cNvPr id="189" name="矩形 188"/>
          <p:cNvSpPr/>
          <p:nvPr/>
        </p:nvSpPr>
        <p:spPr>
          <a:xfrm>
            <a:off x="3524250" y="4514850"/>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投诉降档</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90" name="矩形 189"/>
          <p:cNvSpPr/>
          <p:nvPr/>
        </p:nvSpPr>
        <p:spPr>
          <a:xfrm>
            <a:off x="4197985" y="4514850"/>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700" dirty="0">
                <a:solidFill>
                  <a:schemeClr val="tx1"/>
                </a:solidFill>
                <a:latin typeface="微软雅黑" panose="020B0503020204020204" charset="-122"/>
                <a:ea typeface="微软雅黑" panose="020B0503020204020204" charset="-122"/>
              </a:rPr>
              <a:t>开新弃旧离网</a:t>
            </a:r>
            <a:endParaRPr kumimoji="1" lang="zh-CN" altLang="en-US" sz="700" dirty="0">
              <a:solidFill>
                <a:schemeClr val="tx1"/>
              </a:solidFill>
              <a:latin typeface="微软雅黑" panose="020B0503020204020204" charset="-122"/>
              <a:ea typeface="微软雅黑" panose="020B0503020204020204" charset="-122"/>
            </a:endParaRPr>
          </a:p>
        </p:txBody>
      </p:sp>
      <p:sp>
        <p:nvSpPr>
          <p:cNvPr id="191" name="矩形 190"/>
          <p:cNvSpPr/>
          <p:nvPr/>
        </p:nvSpPr>
        <p:spPr>
          <a:xfrm>
            <a:off x="4871085" y="4516120"/>
            <a:ext cx="73723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800" dirty="0">
                <a:solidFill>
                  <a:schemeClr val="tx1"/>
                </a:solidFill>
                <a:latin typeface="微软雅黑" panose="020B0503020204020204" charset="-122"/>
                <a:ea typeface="微软雅黑" panose="020B0503020204020204" charset="-122"/>
              </a:rPr>
              <a:t>携转咨询离网</a:t>
            </a:r>
            <a:endParaRPr kumimoji="1" lang="zh-CN" altLang="en-US" sz="800" dirty="0">
              <a:solidFill>
                <a:schemeClr val="tx1"/>
              </a:solidFill>
              <a:latin typeface="微软雅黑" panose="020B0503020204020204" charset="-122"/>
              <a:ea typeface="微软雅黑" panose="020B0503020204020204" charset="-122"/>
            </a:endParaRPr>
          </a:p>
        </p:txBody>
      </p:sp>
      <p:sp>
        <p:nvSpPr>
          <p:cNvPr id="192" name="矩形 191"/>
          <p:cNvSpPr/>
          <p:nvPr/>
        </p:nvSpPr>
        <p:spPr>
          <a:xfrm>
            <a:off x="5626735" y="4516120"/>
            <a:ext cx="654685" cy="186055"/>
          </a:xfrm>
          <a:prstGeom prst="rect">
            <a:avLst/>
          </a:prstGeom>
          <a:solidFill>
            <a:schemeClr val="bg1">
              <a:lumMod val="85000"/>
            </a:schemeClr>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700" dirty="0">
                <a:solidFill>
                  <a:schemeClr val="tx1"/>
                </a:solidFill>
                <a:latin typeface="微软雅黑" panose="020B0503020204020204" charset="-122"/>
                <a:ea typeface="微软雅黑" panose="020B0503020204020204" charset="-122"/>
              </a:rPr>
              <a:t>资费不满离网</a:t>
            </a:r>
            <a:endParaRPr kumimoji="1" lang="zh-CN" altLang="en-US" sz="700" dirty="0">
              <a:solidFill>
                <a:schemeClr val="tx1"/>
              </a:solidFill>
              <a:latin typeface="微软雅黑" panose="020B0503020204020204" charset="-122"/>
              <a:ea typeface="微软雅黑" panose="020B0503020204020204" charset="-122"/>
            </a:endParaRPr>
          </a:p>
        </p:txBody>
      </p:sp>
      <p:sp>
        <p:nvSpPr>
          <p:cNvPr id="116" name="梯形 115"/>
          <p:cNvSpPr/>
          <p:nvPr/>
        </p:nvSpPr>
        <p:spPr>
          <a:xfrm rot="10800000">
            <a:off x="3448685" y="4928870"/>
            <a:ext cx="2923540" cy="990600"/>
          </a:xfrm>
          <a:prstGeom prst="trapezoid">
            <a:avLst/>
          </a:prstGeom>
          <a:solidFill>
            <a:srgbClr val="5B9BD5">
              <a:lumMod val="60000"/>
              <a:lumOff val="40000"/>
              <a:alpha val="10996"/>
            </a:srgbClr>
          </a:solidFill>
          <a:ln w="12700" cap="flat" cmpd="sng" algn="ctr">
            <a:noFill/>
            <a:prstDash val="solid"/>
            <a:miter lim="800000"/>
          </a:ln>
          <a:effectLst/>
        </p:spPr>
        <p:txBody>
          <a:bodyPr lIns="0" tIns="36000" rIns="0" bIns="0" rtlCol="0" anchor="t" anchorCtr="0">
            <a:noAutofit/>
          </a:bodyPr>
          <a:lstStyle/>
          <a:p>
            <a:pPr algn="ctr" defTabSz="721360"/>
            <a:endParaRPr lang="zh-CN" altLang="en-US" sz="1000" b="1" kern="0" dirty="0">
              <a:solidFill>
                <a:srgbClr val="4472C4">
                  <a:lumMod val="75000"/>
                </a:srgbClr>
              </a:solidFill>
              <a:latin typeface="Arial" panose="020B0604020202020204"/>
            </a:endParaRPr>
          </a:p>
        </p:txBody>
      </p:sp>
      <p:sp>
        <p:nvSpPr>
          <p:cNvPr id="200" name="矩形 199"/>
          <p:cNvSpPr/>
          <p:nvPr/>
        </p:nvSpPr>
        <p:spPr>
          <a:xfrm>
            <a:off x="3696970" y="5939155"/>
            <a:ext cx="406400" cy="403860"/>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降档数</a:t>
            </a:r>
            <a:endParaRPr kumimoji="1" lang="zh-CN" altLang="en-US" sz="900" dirty="0">
              <a:solidFill>
                <a:schemeClr val="tx1"/>
              </a:solidFill>
              <a:latin typeface="微软雅黑" panose="020B0503020204020204" charset="-122"/>
              <a:ea typeface="微软雅黑" panose="020B0503020204020204" charset="-122"/>
            </a:endParaRPr>
          </a:p>
        </p:txBody>
      </p:sp>
      <p:sp>
        <p:nvSpPr>
          <p:cNvPr id="201" name="矩形 200"/>
          <p:cNvSpPr/>
          <p:nvPr/>
        </p:nvSpPr>
        <p:spPr>
          <a:xfrm>
            <a:off x="4819650" y="6165215"/>
            <a:ext cx="654685" cy="186055"/>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合约取消</a:t>
            </a:r>
            <a:endParaRPr kumimoji="1" lang="zh-CN" altLang="en-US" sz="900" dirty="0">
              <a:solidFill>
                <a:schemeClr val="tx1"/>
              </a:solidFill>
              <a:latin typeface="微软雅黑" panose="020B0503020204020204" charset="-122"/>
              <a:ea typeface="微软雅黑" panose="020B0503020204020204" charset="-122"/>
            </a:endParaRPr>
          </a:p>
        </p:txBody>
      </p:sp>
      <p:sp>
        <p:nvSpPr>
          <p:cNvPr id="202" name="矩形 201"/>
          <p:cNvSpPr/>
          <p:nvPr/>
        </p:nvSpPr>
        <p:spPr>
          <a:xfrm>
            <a:off x="5499735" y="6165215"/>
            <a:ext cx="654685" cy="186055"/>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折扣到期</a:t>
            </a:r>
            <a:endParaRPr kumimoji="1" lang="zh-CN" altLang="en-US" sz="900" dirty="0">
              <a:solidFill>
                <a:schemeClr val="tx1"/>
              </a:solidFill>
              <a:latin typeface="微软雅黑" panose="020B0503020204020204" charset="-122"/>
              <a:ea typeface="微软雅黑" panose="020B0503020204020204" charset="-122"/>
            </a:endParaRPr>
          </a:p>
        </p:txBody>
      </p:sp>
      <p:sp>
        <p:nvSpPr>
          <p:cNvPr id="203" name="矩形 202"/>
          <p:cNvSpPr/>
          <p:nvPr/>
        </p:nvSpPr>
        <p:spPr>
          <a:xfrm>
            <a:off x="4128770" y="5946775"/>
            <a:ext cx="664210" cy="186055"/>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副卡解绑</a:t>
            </a:r>
            <a:endParaRPr kumimoji="1" lang="zh-CN" altLang="en-US" sz="900" dirty="0">
              <a:solidFill>
                <a:schemeClr val="tx1"/>
              </a:solidFill>
              <a:latin typeface="微软雅黑" panose="020B0503020204020204" charset="-122"/>
              <a:ea typeface="微软雅黑" panose="020B0503020204020204" charset="-122"/>
            </a:endParaRPr>
          </a:p>
        </p:txBody>
      </p:sp>
      <p:sp>
        <p:nvSpPr>
          <p:cNvPr id="204" name="矩形 203"/>
          <p:cNvSpPr/>
          <p:nvPr/>
        </p:nvSpPr>
        <p:spPr>
          <a:xfrm>
            <a:off x="4817110" y="5946775"/>
            <a:ext cx="654685" cy="186055"/>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宽带取消</a:t>
            </a:r>
            <a:endParaRPr kumimoji="1" lang="zh-CN" altLang="en-US" sz="900" dirty="0">
              <a:solidFill>
                <a:schemeClr val="tx1"/>
              </a:solidFill>
              <a:latin typeface="微软雅黑" panose="020B0503020204020204" charset="-122"/>
              <a:ea typeface="微软雅黑" panose="020B0503020204020204" charset="-122"/>
            </a:endParaRPr>
          </a:p>
        </p:txBody>
      </p:sp>
      <p:sp>
        <p:nvSpPr>
          <p:cNvPr id="205" name="矩形 204"/>
          <p:cNvSpPr/>
          <p:nvPr/>
        </p:nvSpPr>
        <p:spPr>
          <a:xfrm>
            <a:off x="5489575" y="5949315"/>
            <a:ext cx="654685" cy="186055"/>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投诉</a:t>
            </a:r>
            <a:endParaRPr kumimoji="1" lang="zh-CN" altLang="en-US" sz="900" dirty="0">
              <a:solidFill>
                <a:schemeClr val="tx1"/>
              </a:solidFill>
              <a:latin typeface="微软雅黑" panose="020B0503020204020204" charset="-122"/>
              <a:ea typeface="微软雅黑" panose="020B0503020204020204" charset="-122"/>
            </a:endParaRPr>
          </a:p>
        </p:txBody>
      </p:sp>
      <p:sp>
        <p:nvSpPr>
          <p:cNvPr id="206" name="矩形 205"/>
          <p:cNvSpPr/>
          <p:nvPr/>
        </p:nvSpPr>
        <p:spPr>
          <a:xfrm>
            <a:off x="4130040" y="6160770"/>
            <a:ext cx="664210" cy="186055"/>
          </a:xfrm>
          <a:prstGeom prst="rect">
            <a:avLst/>
          </a:prstGeom>
          <a:solidFill>
            <a:srgbClr val="C8DAF5"/>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r>
              <a:rPr kumimoji="1" lang="zh-CN" altLang="en-US" sz="900" dirty="0">
                <a:solidFill>
                  <a:schemeClr val="tx1"/>
                </a:solidFill>
                <a:latin typeface="微软雅黑" panose="020B0503020204020204" charset="-122"/>
                <a:ea typeface="微软雅黑" panose="020B0503020204020204" charset="-122"/>
              </a:rPr>
              <a:t>权益取消</a:t>
            </a:r>
            <a:endParaRPr kumimoji="1" lang="zh-CN" altLang="en-US" sz="900" dirty="0">
              <a:solidFill>
                <a:schemeClr val="tx1"/>
              </a:solidFill>
              <a:latin typeface="微软雅黑" panose="020B0503020204020204" charset="-122"/>
              <a:ea typeface="微软雅黑" panose="020B0503020204020204" charset="-122"/>
            </a:endParaRPr>
          </a:p>
        </p:txBody>
      </p:sp>
      <p:sp>
        <p:nvSpPr>
          <p:cNvPr id="117" name="文本框 68"/>
          <p:cNvSpPr txBox="1"/>
          <p:nvPr/>
        </p:nvSpPr>
        <p:spPr>
          <a:xfrm>
            <a:off x="3898900" y="5657850"/>
            <a:ext cx="0" cy="0"/>
          </a:xfrm>
          <a:prstGeom prst="rect">
            <a:avLst/>
          </a:prstGeom>
          <a:solidFill>
            <a:srgbClr val="F0F7FB"/>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360000" tIns="0" rIns="360000" bIns="36000" numCol="1" spcCol="0" rtlCol="0" fromWordArt="0" anchor="ctr" anchorCtr="0" compatLnSpc="1">
            <a:noAutofit/>
          </a:bodyPr>
          <a:lstStyle/>
          <a:p>
            <a:pPr marL="285750" indent="-285750" algn="l" defTabSz="914400">
              <a:lnSpc>
                <a:spcPct val="150000"/>
              </a:lnSpc>
              <a:spcBef>
                <a:spcPts val="0"/>
              </a:spcBef>
              <a:spcAft>
                <a:spcPts val="0"/>
              </a:spcAft>
              <a:buClrTx/>
              <a:buSzTx/>
              <a:buFont typeface="Wingdings" panose="05000000000000000000" pitchFamily="2" charset="2"/>
              <a:buChar char="n"/>
            </a:pPr>
            <a:endParaRPr kumimoji="1" lang="zh-CN" altLang="en-US" sz="1400" b="1" kern="0" dirty="0">
              <a:ln>
                <a:noFill/>
              </a:ln>
              <a:solidFill>
                <a:srgbClr val="0070B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6" name="矩形 195"/>
          <p:cNvSpPr/>
          <p:nvPr/>
        </p:nvSpPr>
        <p:spPr>
          <a:xfrm>
            <a:off x="3627755" y="5519420"/>
            <a:ext cx="794385" cy="213360"/>
          </a:xfrm>
          <a:prstGeom prst="rect">
            <a:avLst/>
          </a:prstGeom>
          <a:noFill/>
          <a:ln>
            <a:noFill/>
          </a:ln>
        </p:spPr>
        <p:style>
          <a:lnRef idx="2">
            <a:srgbClr val="0070BF">
              <a:lumMod val="75000"/>
            </a:srgbClr>
          </a:lnRef>
          <a:fillRef idx="1">
            <a:srgbClr val="0070BF"/>
          </a:fillRef>
          <a:effectRef idx="0">
            <a:srgbClr val="FFFFFF"/>
          </a:effectRef>
          <a:fontRef idx="minor">
            <a:srgbClr val="FFFFFF"/>
          </a:fontRef>
        </p:style>
        <p:txBody>
          <a:bodyPr rtlCol="0" anchor="ctr"/>
          <a:lstStyle/>
          <a:p>
            <a:pPr algn="ctr"/>
            <a:r>
              <a:rPr lang="zh-CN" altLang="en-US" sz="1000" dirty="0">
                <a:solidFill>
                  <a:srgbClr val="000000"/>
                </a:solidFill>
                <a:latin typeface="微软雅黑" panose="020B0503020204020204" charset="-122"/>
                <a:ea typeface="微软雅黑" panose="020B0503020204020204" charset="-122"/>
              </a:rPr>
              <a:t>聚类</a:t>
            </a:r>
            <a:r>
              <a:rPr lang="zh-CN" altLang="en-US" sz="1000" dirty="0">
                <a:solidFill>
                  <a:srgbClr val="000000"/>
                </a:solidFill>
                <a:latin typeface="微软雅黑" panose="020B0503020204020204" charset="-122"/>
                <a:ea typeface="微软雅黑" panose="020B0503020204020204" charset="-122"/>
              </a:rPr>
              <a:t>分析</a:t>
            </a:r>
            <a:endParaRPr lang="zh-CN" altLang="en-US" sz="1000" dirty="0">
              <a:solidFill>
                <a:srgbClr val="000000"/>
              </a:solidFill>
              <a:latin typeface="微软雅黑" panose="020B0503020204020204" charset="-122"/>
              <a:ea typeface="微软雅黑" panose="020B0503020204020204" charset="-122"/>
            </a:endParaRPr>
          </a:p>
        </p:txBody>
      </p:sp>
      <p:sp>
        <p:nvSpPr>
          <p:cNvPr id="197" name="矩形 196"/>
          <p:cNvSpPr/>
          <p:nvPr/>
        </p:nvSpPr>
        <p:spPr>
          <a:xfrm>
            <a:off x="4465955" y="5534660"/>
            <a:ext cx="876300" cy="198120"/>
          </a:xfrm>
          <a:prstGeom prst="rect">
            <a:avLst/>
          </a:prstGeom>
          <a:noFill/>
          <a:ln>
            <a:noFill/>
          </a:ln>
        </p:spPr>
        <p:style>
          <a:lnRef idx="2">
            <a:srgbClr val="0070BF">
              <a:lumMod val="75000"/>
            </a:srgbClr>
          </a:lnRef>
          <a:fillRef idx="1">
            <a:srgbClr val="0070BF"/>
          </a:fillRef>
          <a:effectRef idx="0">
            <a:srgbClr val="FFFFFF"/>
          </a:effectRef>
          <a:fontRef idx="minor">
            <a:srgbClr val="FFFFFF"/>
          </a:fontRef>
        </p:style>
        <p:txBody>
          <a:bodyPr rtlCol="0" anchor="ctr"/>
          <a:lstStyle/>
          <a:p>
            <a:pPr algn="ctr"/>
            <a:r>
              <a:rPr lang="zh-CN" altLang="en-US" sz="1000" dirty="0">
                <a:solidFill>
                  <a:srgbClr val="000000"/>
                </a:solidFill>
                <a:latin typeface="微软雅黑" panose="020B0503020204020204" charset="-122"/>
                <a:ea typeface="微软雅黑" panose="020B0503020204020204" charset="-122"/>
              </a:rPr>
              <a:t>交叉关联</a:t>
            </a:r>
            <a:endParaRPr lang="zh-CN" altLang="en-US" sz="1000" dirty="0">
              <a:solidFill>
                <a:srgbClr val="000000"/>
              </a:solidFill>
              <a:latin typeface="微软雅黑" panose="020B0503020204020204" charset="-122"/>
              <a:ea typeface="微软雅黑" panose="020B0503020204020204" charset="-122"/>
            </a:endParaRPr>
          </a:p>
        </p:txBody>
      </p:sp>
      <p:sp>
        <p:nvSpPr>
          <p:cNvPr id="198" name="矩形 197"/>
          <p:cNvSpPr/>
          <p:nvPr/>
        </p:nvSpPr>
        <p:spPr>
          <a:xfrm>
            <a:off x="5313045" y="5515610"/>
            <a:ext cx="974090" cy="213360"/>
          </a:xfrm>
          <a:prstGeom prst="rect">
            <a:avLst/>
          </a:prstGeom>
          <a:noFill/>
          <a:ln>
            <a:noFill/>
          </a:ln>
        </p:spPr>
        <p:style>
          <a:lnRef idx="2">
            <a:srgbClr val="0070BF">
              <a:lumMod val="75000"/>
            </a:srgbClr>
          </a:lnRef>
          <a:fillRef idx="1">
            <a:srgbClr val="0070BF"/>
          </a:fillRef>
          <a:effectRef idx="0">
            <a:srgbClr val="FFFFFF"/>
          </a:effectRef>
          <a:fontRef idx="minor">
            <a:srgbClr val="FFFFFF"/>
          </a:fontRef>
        </p:style>
        <p:txBody>
          <a:bodyPr rtlCol="0" anchor="ctr"/>
          <a:lstStyle/>
          <a:p>
            <a:pPr algn="ctr"/>
            <a:r>
              <a:rPr lang="zh-CN" altLang="en-US" sz="900" dirty="0">
                <a:solidFill>
                  <a:srgbClr val="000000"/>
                </a:solidFill>
                <a:latin typeface="微软雅黑" panose="020B0503020204020204" charset="-122"/>
                <a:ea typeface="微软雅黑" panose="020B0503020204020204" charset="-122"/>
              </a:rPr>
              <a:t>二次相关性</a:t>
            </a:r>
            <a:endParaRPr lang="zh-CN" altLang="en-US" sz="900" dirty="0">
              <a:solidFill>
                <a:srgbClr val="000000"/>
              </a:solidFill>
              <a:latin typeface="微软雅黑" panose="020B0503020204020204" charset="-122"/>
              <a:ea typeface="微软雅黑" panose="020B0503020204020204" charset="-122"/>
            </a:endParaRPr>
          </a:p>
        </p:txBody>
      </p:sp>
      <p:sp>
        <p:nvSpPr>
          <p:cNvPr id="208" name="文本框 207"/>
          <p:cNvSpPr txBox="1"/>
          <p:nvPr/>
        </p:nvSpPr>
        <p:spPr>
          <a:xfrm>
            <a:off x="3340735" y="5659755"/>
            <a:ext cx="3026410" cy="299085"/>
          </a:xfrm>
          <a:prstGeom prst="rect">
            <a:avLst/>
          </a:prstGeom>
          <a:noFill/>
          <a:ln w="12700" cap="flat" cmpd="sng" algn="ctr">
            <a:noFill/>
            <a:prstDash val="solid"/>
            <a:miter lim="800000"/>
          </a:ln>
          <a:effectLst/>
        </p:spPr>
        <p:style>
          <a:lnRef idx="2">
            <a:srgbClr val="0070BF">
              <a:shade val="50000"/>
            </a:srgbClr>
          </a:lnRef>
          <a:fillRef idx="1">
            <a:srgbClr val="0070BF"/>
          </a:fillRef>
          <a:effectRef idx="0">
            <a:srgbClr val="0070BF"/>
          </a:effectRef>
          <a:fontRef idx="minor">
            <a:srgbClr val="FFFFFF"/>
          </a:fontRef>
        </p:style>
        <p:txBody>
          <a:bodyPr wrap="square">
            <a:spAutoFit/>
          </a:bodyPr>
          <a:lstStyle/>
          <a:p>
            <a:pPr algn="ctr" defTabSz="721360">
              <a:lnSpc>
                <a:spcPct val="150000"/>
              </a:lnSpc>
            </a:pPr>
            <a:r>
              <a:rPr lang="zh-CN" altLang="en-US" sz="900" b="1" dirty="0">
                <a:solidFill>
                  <a:srgbClr val="000000"/>
                </a:solidFill>
                <a:latin typeface="微软雅黑" panose="020B0503020204020204" charset="-122"/>
                <a:ea typeface="微软雅黑" panose="020B0503020204020204" charset="-122"/>
              </a:rPr>
              <a:t>基于大模型指标理解，小模型聚类关联因果关系分析</a:t>
            </a:r>
            <a:endParaRPr lang="zh-CN" altLang="en-US" sz="900" b="1" kern="0" dirty="0">
              <a:solidFill>
                <a:srgbClr val="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70BF"/>
                </a:solidFill>
                <a:latin typeface="微软雅黑" panose="020B0503020204020204" charset="-122"/>
                <a:ea typeface="微软雅黑" panose="020B0503020204020204" charset="-122"/>
                <a:sym typeface="+mn-ea"/>
              </a:rPr>
              <a:t>核心能力</a:t>
            </a:r>
            <a:r>
              <a:rPr>
                <a:solidFill>
                  <a:srgbClr val="0070BF"/>
                </a:solidFill>
                <a:latin typeface="微软雅黑" panose="020B0503020204020204" charset="-122"/>
                <a:ea typeface="微软雅黑" panose="020B0503020204020204" charset="-122"/>
                <a:sym typeface="+mn-ea"/>
              </a:rPr>
              <a:t>2</a:t>
            </a:r>
            <a:r>
              <a:rPr lang="zh-CN" altLang="en-US">
                <a:solidFill>
                  <a:srgbClr val="0070BF"/>
                </a:solidFill>
                <a:latin typeface="微软雅黑" panose="020B0503020204020204" charset="-122"/>
                <a:ea typeface="微软雅黑" panose="020B0503020204020204" charset="-122"/>
                <a:sym typeface="+mn-ea"/>
              </a:rPr>
              <a:t>：</a:t>
            </a:r>
            <a:r>
              <a:rPr lang="zh-CN" altLang="en-US">
                <a:solidFill>
                  <a:srgbClr val="C00000"/>
                </a:solidFill>
                <a:latin typeface="微软雅黑" panose="020B0503020204020204" charset="-122"/>
                <a:ea typeface="微软雅黑" panose="020B0503020204020204" charset="-122"/>
                <a:sym typeface="+mn-ea"/>
              </a:rPr>
              <a:t>策</a:t>
            </a:r>
            <a:r>
              <a:rPr lang="zh-CN" altLang="en-US">
                <a:solidFill>
                  <a:srgbClr val="0070BF"/>
                </a:solidFill>
                <a:latin typeface="微软雅黑" panose="020B0503020204020204" charset="-122"/>
                <a:ea typeface="微软雅黑" panose="020B0503020204020204" charset="-122"/>
                <a:sym typeface="+mn-ea"/>
              </a:rPr>
              <a:t>-全智能分析，实现业务智能监测与洞察</a:t>
            </a:r>
            <a:endParaRPr lang="zh-CN" altLang="en-US"/>
          </a:p>
        </p:txBody>
      </p:sp>
      <p:sp>
        <p:nvSpPr>
          <p:cNvPr id="3" name="文本占位符 2"/>
          <p:cNvSpPr txBox="1">
            <a:spLocks noGrp="1"/>
          </p:cNvSpPr>
          <p:nvPr>
            <p:ph type="body" sz="quarter" idx="10"/>
          </p:nvPr>
        </p:nvSpPr>
        <p:spPr>
          <a:noFill/>
        </p:spPr>
        <p:txBody>
          <a:bodyPr vert="horz" wrap="square" lIns="91440" tIns="45720" rIns="91440" bIns="45720" numCol="1" spcCol="0" rtlCol="0" fromWordArt="0" anchor="t" anchorCtr="0" forceAA="0" compatLnSpc="0">
            <a:noAutofit/>
          </a:bodyPr>
          <a:p>
            <a:pPr marL="306070" lvl="0" indent="-306070" algn="l" defTabSz="914400" eaLnBrk="0">
              <a:lnSpc>
                <a:spcPct val="109000"/>
              </a:lnSpc>
              <a:spcBef>
                <a:spcPts val="0"/>
              </a:spcBef>
              <a:spcAft>
                <a:spcPts val="0"/>
              </a:spcAft>
              <a:buSzTx/>
              <a:buFont typeface="Wingdings" panose="05000000000000000000" charset="0"/>
              <a:tabLst>
                <a:tab pos="356870" algn="l"/>
              </a:tabLst>
              <a:defRPr/>
            </a:pPr>
            <a:r>
              <a:rPr kumimoji="1" lang="zh-HK" kern="1200" noProof="0">
                <a:latin typeface="+mn-lt"/>
                <a:ea typeface="+mn-lt"/>
                <a:cs typeface="+mn-lt"/>
                <a:sym typeface="宋体" panose="02010600030101010101" pitchFamily="2" charset="-122"/>
              </a:rPr>
              <a:t>结合业务实际，沉淀业务知识库、经验库，融合大小模型能力，构建</a:t>
            </a:r>
            <a:r>
              <a:rPr kumimoji="1" lang="zh-HK" kern="1200" noProof="0">
                <a:latin typeface="+mn-lt"/>
                <a:ea typeface="+mn-lt"/>
                <a:cs typeface="+mn-lt"/>
                <a:sym typeface="宋体" panose="02010600030101010101" pitchFamily="2" charset="-122"/>
              </a:rPr>
              <a:t>策略</a:t>
            </a:r>
            <a:r>
              <a:rPr kumimoji="1" lang="zh-HK" kern="1200" noProof="0">
                <a:latin typeface="+mn-lt"/>
                <a:ea typeface="+mn-lt"/>
                <a:cs typeface="+mn-lt"/>
                <a:sym typeface="宋体" panose="02010600030101010101" pitchFamily="2" charset="-122"/>
              </a:rPr>
              <a:t>分析及匹配能力</a:t>
            </a:r>
            <a:r>
              <a:rPr kumimoji="1" lang="zh-HK" kern="1200" noProof="0">
                <a:latin typeface="+mn-lt"/>
                <a:ea typeface="+mn-lt"/>
                <a:cs typeface="+mn-lt"/>
                <a:sym typeface="宋体" panose="02010600030101010101" pitchFamily="2" charset="-122"/>
              </a:rPr>
              <a:t>。基于智能诊断结果</a:t>
            </a:r>
            <a:r>
              <a:rPr kumimoji="1" lang="zh-HK" kern="1200" noProof="0">
                <a:latin typeface="+mn-lt"/>
                <a:ea typeface="+mn-lt"/>
                <a:cs typeface="+mn-lt"/>
                <a:sym typeface="宋体" panose="02010600030101010101" pitchFamily="2" charset="-122"/>
              </a:rPr>
              <a:t>及策略</a:t>
            </a:r>
            <a:r>
              <a:rPr kumimoji="1" lang="zh-HK" kern="1200" noProof="0">
                <a:latin typeface="+mn-lt"/>
                <a:ea typeface="+mn-lt"/>
                <a:cs typeface="+mn-lt"/>
                <a:sym typeface="宋体" panose="02010600030101010101" pitchFamily="2" charset="-122"/>
              </a:rPr>
              <a:t>知识库，结合对运营策略及要素解析，生成面向看管、营销、调度等</a:t>
            </a:r>
            <a:r>
              <a:rPr kumimoji="1" lang="zh-HK" kern="1200" noProof="0">
                <a:latin typeface="+mn-lt"/>
                <a:ea typeface="+mn-lt"/>
                <a:cs typeface="+mn-lt"/>
                <a:sym typeface="宋体" panose="02010600030101010101" pitchFamily="2" charset="-122"/>
              </a:rPr>
              <a:t>多类型运营任务的</a:t>
            </a:r>
            <a:r>
              <a:rPr kumimoji="1" lang="zh-HK" kern="1200" noProof="0">
                <a:latin typeface="+mn-lt"/>
                <a:ea typeface="+mn-lt"/>
                <a:cs typeface="+mn-lt"/>
                <a:sym typeface="宋体" panose="02010600030101010101" pitchFamily="2" charset="-122"/>
              </a:rPr>
              <a:t>策略建议</a:t>
            </a:r>
            <a:r>
              <a:rPr kumimoji="1" lang="zh-HK" kern="1200" noProof="0">
                <a:latin typeface="+mn-lt"/>
                <a:ea typeface="+mn-lt"/>
                <a:cs typeface="+mn-lt"/>
                <a:sym typeface="宋体" panose="02010600030101010101" pitchFamily="2" charset="-122"/>
              </a:rPr>
              <a:t>，并支持策略调整及自定义</a:t>
            </a:r>
            <a:r>
              <a:rPr kumimoji="1" lang="zh-HK" kern="1200" noProof="0">
                <a:latin typeface="+mn-lt"/>
                <a:ea typeface="+mn-lt"/>
                <a:cs typeface="+mn-lt"/>
                <a:sym typeface="宋体" panose="02010600030101010101" pitchFamily="2" charset="-122"/>
              </a:rPr>
              <a:t>。</a:t>
            </a:r>
            <a:endParaRPr kumimoji="1" lang="zh-HK" kern="1200" noProof="0">
              <a:latin typeface="+mn-lt"/>
              <a:ea typeface="+mn-lt"/>
              <a:cs typeface="+mn-lt"/>
              <a:sym typeface="宋体" panose="02010600030101010101" pitchFamily="2" charset="-122"/>
            </a:endParaRPr>
          </a:p>
        </p:txBody>
      </p:sp>
      <p:sp>
        <p:nvSpPr>
          <p:cNvPr id="255" name="矩形 254"/>
          <p:cNvSpPr/>
          <p:nvPr/>
        </p:nvSpPr>
        <p:spPr>
          <a:xfrm>
            <a:off x="1718310" y="5659755"/>
            <a:ext cx="4745355" cy="817880"/>
          </a:xfrm>
          <a:prstGeom prst="rect">
            <a:avLst/>
          </a:prstGeom>
          <a:solidFill>
            <a:schemeClr val="bg1">
              <a:lumMod val="95000"/>
            </a:schemeClr>
          </a:solidFill>
          <a:ln>
            <a:solidFill>
              <a:schemeClr val="bg1">
                <a:lumMod val="9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endParaRPr lang="zh-CN" altLang="en-US" sz="1200">
              <a:solidFill>
                <a:schemeClr val="tx1"/>
              </a:solidFill>
            </a:endParaRPr>
          </a:p>
        </p:txBody>
      </p:sp>
      <p:sp>
        <p:nvSpPr>
          <p:cNvPr id="105" name="矩形 104"/>
          <p:cNvSpPr/>
          <p:nvPr/>
        </p:nvSpPr>
        <p:spPr>
          <a:xfrm>
            <a:off x="187960" y="1656715"/>
            <a:ext cx="6343650" cy="4896485"/>
          </a:xfrm>
          <a:prstGeom prst="rect">
            <a:avLst/>
          </a:prstGeom>
          <a:noFill/>
          <a:ln w="3175">
            <a:solidFill>
              <a:srgbClr val="E7E6E6">
                <a:lumMod val="90000"/>
              </a:srgbClr>
            </a:solid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106" name="矩形 105"/>
          <p:cNvSpPr/>
          <p:nvPr/>
        </p:nvSpPr>
        <p:spPr>
          <a:xfrm>
            <a:off x="2006600" y="1531074"/>
            <a:ext cx="261302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策略库与</a:t>
            </a:r>
            <a:r>
              <a:rPr lang="en-US" altLang="zh-CN"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AI</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辅助策略</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匹配</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36" name="矩形 35"/>
          <p:cNvSpPr/>
          <p:nvPr/>
        </p:nvSpPr>
        <p:spPr>
          <a:xfrm>
            <a:off x="6713855" y="1656715"/>
            <a:ext cx="5148000" cy="4895850"/>
          </a:xfrm>
          <a:prstGeom prst="rect">
            <a:avLst/>
          </a:prstGeom>
          <a:noFill/>
          <a:ln w="3175">
            <a:solidFill>
              <a:srgbClr val="E7E6E6">
                <a:lumMod val="90000"/>
              </a:srgbClr>
            </a:solidFill>
          </a:ln>
        </p:spPr>
        <p:style>
          <a:lnRef idx="2">
            <a:srgbClr val="0070BF">
              <a:shade val="15000"/>
            </a:srgbClr>
          </a:lnRef>
          <a:fillRef idx="1">
            <a:srgbClr val="0070BF"/>
          </a:fillRef>
          <a:effectRef idx="0">
            <a:srgbClr val="0070BF"/>
          </a:effectRef>
          <a:fontRef idx="minor">
            <a:srgbClr val="FFFFFF"/>
          </a:fontRef>
        </p:style>
        <p:txBody>
          <a:bodyPr rtlCol="0" anchor="ctr"/>
          <a:lstStyle/>
          <a:p>
            <a:pPr indent="0">
              <a:lnSpc>
                <a:spcPct val="150000"/>
              </a:lnSpc>
              <a:buFont typeface="Wingdings" panose="05000000000000000000" pitchFamily="2" charset="2"/>
              <a:buNone/>
            </a:pPr>
            <a:endParaRPr kumimoji="1" lang="en-US" altLang="zh-CN" sz="1050" dirty="0">
              <a:solidFill>
                <a:srgbClr val="000000"/>
              </a:solidFill>
              <a:latin typeface="微软雅黑" panose="020B0503020204020204" charset="-122"/>
              <a:ea typeface="微软雅黑" panose="020B0503020204020204" charset="-122"/>
            </a:endParaRPr>
          </a:p>
        </p:txBody>
      </p:sp>
      <p:sp>
        <p:nvSpPr>
          <p:cNvPr id="43" name="矩形 42"/>
          <p:cNvSpPr/>
          <p:nvPr/>
        </p:nvSpPr>
        <p:spPr>
          <a:xfrm>
            <a:off x="8483502" y="1535195"/>
            <a:ext cx="221424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策略中心</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44" name="文本框 43"/>
          <p:cNvSpPr txBox="1"/>
          <p:nvPr/>
        </p:nvSpPr>
        <p:spPr>
          <a:xfrm>
            <a:off x="6941185" y="1861185"/>
            <a:ext cx="4612640" cy="645160"/>
          </a:xfrm>
          <a:prstGeom prst="rect">
            <a:avLst/>
          </a:prstGeom>
          <a:noFill/>
        </p:spPr>
        <p:txBody>
          <a:bodyPr wrap="square" rtlCol="0">
            <a:spAutoFit/>
          </a:bodyPr>
          <a:lstStyle/>
          <a:p>
            <a:pPr indent="0">
              <a:lnSpc>
                <a:spcPct val="150000"/>
              </a:lnSpc>
              <a:buFont typeface="Wingdings" panose="05000000000000000000" pitchFamily="2" charset="2"/>
              <a:buNone/>
            </a:pPr>
            <a:r>
              <a:rPr kumimoji="1" lang="zh-HK" altLang="en-US" sz="1200" dirty="0">
                <a:solidFill>
                  <a:srgbClr val="000000"/>
                </a:solidFill>
                <a:latin typeface="微软雅黑" panose="020B0503020204020204" charset="-122"/>
                <a:ea typeface="微软雅黑" panose="020B0503020204020204" charset="-122"/>
                <a:sym typeface="+mn-ea"/>
              </a:rPr>
              <a:t>提供运营策略的统一管理和策略匹配能力，解决优秀策略无法复用和执行过程不透明的问题</a:t>
            </a:r>
            <a:r>
              <a:rPr kumimoji="1" lang="en-US" altLang="zh-HK" sz="1200" dirty="0">
                <a:solidFill>
                  <a:srgbClr val="000000"/>
                </a:solidFill>
                <a:latin typeface="微软雅黑" panose="020B0503020204020204" charset="-122"/>
                <a:ea typeface="微软雅黑" panose="020B0503020204020204" charset="-122"/>
                <a:sym typeface="+mn-ea"/>
              </a:rPr>
              <a:t>。</a:t>
            </a:r>
            <a:endParaRPr kumimoji="1" lang="en-US" altLang="zh-HK" sz="1200" dirty="0">
              <a:solidFill>
                <a:srgbClr val="000000"/>
              </a:solidFill>
              <a:latin typeface="微软雅黑" panose="020B0503020204020204" charset="-122"/>
              <a:ea typeface="微软雅黑" panose="020B0503020204020204" charset="-122"/>
              <a:sym typeface="+mn-ea"/>
            </a:endParaRPr>
          </a:p>
        </p:txBody>
      </p:sp>
      <p:sp>
        <p:nvSpPr>
          <p:cNvPr id="14" name="文字框 13"/>
          <p:cNvSpPr txBox="1"/>
          <p:nvPr/>
        </p:nvSpPr>
        <p:spPr>
          <a:xfrm>
            <a:off x="6941185" y="2542540"/>
            <a:ext cx="2631440" cy="275590"/>
          </a:xfrm>
          <a:prstGeom prst="rect">
            <a:avLst/>
          </a:prstGeom>
          <a:noFill/>
        </p:spPr>
        <p:txBody>
          <a:bodyPr wrap="none" rtlCol="0">
            <a:spAutoFit/>
          </a:bodyPr>
          <a:p>
            <a:pPr algn="l"/>
            <a:r>
              <a:rPr kumimoji="1" lang="zh-CN" altLang="zh-HK" sz="1200" b="1" dirty="0" smtClean="0">
                <a:solidFill>
                  <a:srgbClr val="0070BF"/>
                </a:solidFill>
                <a:latin typeface="微软雅黑" panose="020B0503020204020204" charset="-122"/>
                <a:ea typeface="微软雅黑" panose="020B0503020204020204" charset="-122"/>
              </a:rPr>
              <a:t>场景一</a:t>
            </a:r>
            <a:r>
              <a:rPr kumimoji="1" lang="en-US" altLang="zh-CN" sz="1200" b="1" dirty="0" smtClean="0">
                <a:solidFill>
                  <a:srgbClr val="0070BF"/>
                </a:solidFill>
                <a:latin typeface="微软雅黑" panose="020B0503020204020204" charset="-122"/>
                <a:ea typeface="微软雅黑" panose="020B0503020204020204" charset="-122"/>
              </a:rPr>
              <a:t>：</a:t>
            </a:r>
            <a:r>
              <a:rPr kumimoji="1" lang="zh-CN" altLang="en-US" sz="1200" b="1" dirty="0" smtClean="0">
                <a:solidFill>
                  <a:srgbClr val="0070BF"/>
                </a:solidFill>
                <a:latin typeface="微软雅黑" panose="020B0503020204020204" charset="-122"/>
                <a:ea typeface="微软雅黑" panose="020B0503020204020204" charset="-122"/>
              </a:rPr>
              <a:t>运营人员手工维护策略内容</a:t>
            </a:r>
            <a:endParaRPr kumimoji="1" lang="zh-CN" altLang="en-US" sz="1200" b="1" dirty="0" smtClean="0">
              <a:solidFill>
                <a:srgbClr val="0070BF"/>
              </a:solidFill>
              <a:latin typeface="微软雅黑" panose="020B0503020204020204" charset="-122"/>
              <a:ea typeface="微软雅黑" panose="020B0503020204020204" charset="-122"/>
            </a:endParaRPr>
          </a:p>
        </p:txBody>
      </p:sp>
      <p:sp>
        <p:nvSpPr>
          <p:cNvPr id="8" name="圓角矩形 7"/>
          <p:cNvSpPr/>
          <p:nvPr/>
        </p:nvSpPr>
        <p:spPr>
          <a:xfrm>
            <a:off x="6941185" y="3350260"/>
            <a:ext cx="897255"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latin typeface="微软雅黑" panose="020B0503020204020204" charset="-122"/>
                <a:ea typeface="微软雅黑" panose="020B0503020204020204" charset="-122"/>
              </a:rPr>
              <a:t>策略录入</a:t>
            </a:r>
            <a:endParaRPr lang="zh-CN" altLang="zh-HK" sz="1000">
              <a:solidFill>
                <a:schemeClr val="tx1"/>
              </a:solidFill>
              <a:latin typeface="微软雅黑" panose="020B0503020204020204" charset="-122"/>
              <a:ea typeface="微软雅黑" panose="020B0503020204020204" charset="-122"/>
            </a:endParaRPr>
          </a:p>
        </p:txBody>
      </p:sp>
      <p:sp>
        <p:nvSpPr>
          <p:cNvPr id="16" name="圓角矩形 15"/>
          <p:cNvSpPr/>
          <p:nvPr/>
        </p:nvSpPr>
        <p:spPr>
          <a:xfrm>
            <a:off x="8202295" y="3350260"/>
            <a:ext cx="897255"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策略审批</a:t>
            </a:r>
            <a:endParaRPr lang="zh-CN" altLang="en-US" sz="1000">
              <a:solidFill>
                <a:schemeClr val="tx1"/>
              </a:solidFill>
              <a:latin typeface="微软雅黑" panose="020B0503020204020204" charset="-122"/>
              <a:ea typeface="微软雅黑" panose="020B0503020204020204" charset="-122"/>
            </a:endParaRPr>
          </a:p>
        </p:txBody>
      </p:sp>
      <p:sp>
        <p:nvSpPr>
          <p:cNvPr id="23" name="圓角矩形 22"/>
          <p:cNvSpPr/>
          <p:nvPr/>
        </p:nvSpPr>
        <p:spPr>
          <a:xfrm>
            <a:off x="10657205" y="3350260"/>
            <a:ext cx="897255"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策略归档</a:t>
            </a:r>
            <a:endParaRPr lang="zh-CN" altLang="en-US" sz="1000">
              <a:solidFill>
                <a:schemeClr val="tx1"/>
              </a:solidFill>
              <a:latin typeface="微软雅黑" panose="020B0503020204020204" charset="-122"/>
              <a:ea typeface="微软雅黑" panose="020B0503020204020204" charset="-122"/>
            </a:endParaRPr>
          </a:p>
        </p:txBody>
      </p:sp>
      <p:cxnSp>
        <p:nvCxnSpPr>
          <p:cNvPr id="24" name="直接箭頭連接符 23"/>
          <p:cNvCxnSpPr>
            <a:stCxn id="8" idx="3"/>
            <a:endCxn id="16" idx="1"/>
          </p:cNvCxnSpPr>
          <p:nvPr/>
        </p:nvCxnSpPr>
        <p:spPr>
          <a:xfrm>
            <a:off x="7838440" y="3488055"/>
            <a:ext cx="363855" cy="0"/>
          </a:xfrm>
          <a:prstGeom prst="straightConnector1">
            <a:avLst/>
          </a:prstGeom>
          <a:solidFill>
            <a:srgbClr val="DEEBFE"/>
          </a:solidFill>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25" name="直接箭頭連接符 24"/>
          <p:cNvCxnSpPr>
            <a:stCxn id="16" idx="3"/>
          </p:cNvCxnSpPr>
          <p:nvPr/>
        </p:nvCxnSpPr>
        <p:spPr>
          <a:xfrm flipV="1">
            <a:off x="9099550" y="3487420"/>
            <a:ext cx="316230" cy="635"/>
          </a:xfrm>
          <a:prstGeom prst="straightConnector1">
            <a:avLst/>
          </a:prstGeom>
          <a:solidFill>
            <a:srgbClr val="DEEBFE"/>
          </a:solidFill>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26" name="直接箭頭連接符 25"/>
          <p:cNvCxnSpPr>
            <a:endCxn id="23" idx="1"/>
          </p:cNvCxnSpPr>
          <p:nvPr/>
        </p:nvCxnSpPr>
        <p:spPr>
          <a:xfrm>
            <a:off x="10312400" y="3487420"/>
            <a:ext cx="344805" cy="635"/>
          </a:xfrm>
          <a:prstGeom prst="straightConnector1">
            <a:avLst/>
          </a:prstGeom>
          <a:solidFill>
            <a:srgbClr val="DEEBFE"/>
          </a:solidFill>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29" name="肘形連接符 28"/>
          <p:cNvCxnSpPr>
            <a:stCxn id="31" idx="0"/>
            <a:endCxn id="16" idx="0"/>
          </p:cNvCxnSpPr>
          <p:nvPr/>
        </p:nvCxnSpPr>
        <p:spPr>
          <a:xfrm rot="16200000" flipH="1" flipV="1">
            <a:off x="9257030" y="2743200"/>
            <a:ext cx="3175" cy="1213485"/>
          </a:xfrm>
          <a:prstGeom prst="bentConnector3">
            <a:avLst>
              <a:gd name="adj1" fmla="val -11760000"/>
            </a:avLst>
          </a:prstGeom>
          <a:solidFill>
            <a:srgbClr val="DEEBFE"/>
          </a:solidFill>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30" name="文字框 29"/>
          <p:cNvSpPr txBox="1"/>
          <p:nvPr/>
        </p:nvSpPr>
        <p:spPr>
          <a:xfrm>
            <a:off x="10591800" y="3674110"/>
            <a:ext cx="1097280" cy="213995"/>
          </a:xfrm>
          <a:prstGeom prst="rect">
            <a:avLst/>
          </a:prstGeom>
          <a:noFill/>
        </p:spPr>
        <p:txBody>
          <a:bodyPr wrap="none" rtlCol="0">
            <a:spAutoFit/>
          </a:bodyPr>
          <a:p>
            <a:pPr algn="l"/>
            <a:r>
              <a:rPr kumimoji="1" lang="zh-CN" altLang="zh-HK" sz="800" dirty="0" smtClean="0">
                <a:latin typeface="微软雅黑" panose="020B0503020204020204" charset="-122"/>
                <a:ea typeface="微软雅黑" panose="020B0503020204020204" charset="-122"/>
              </a:rPr>
              <a:t>入向量化策略知识库</a:t>
            </a:r>
            <a:endParaRPr kumimoji="1" lang="zh-CN" altLang="zh-HK" sz="800" dirty="0" smtClean="0">
              <a:latin typeface="微软雅黑" panose="020B0503020204020204" charset="-122"/>
              <a:ea typeface="微软雅黑" panose="020B0503020204020204" charset="-122"/>
            </a:endParaRPr>
          </a:p>
        </p:txBody>
      </p:sp>
      <p:sp>
        <p:nvSpPr>
          <p:cNvPr id="31" name="圓角矩形 30"/>
          <p:cNvSpPr/>
          <p:nvPr/>
        </p:nvSpPr>
        <p:spPr>
          <a:xfrm>
            <a:off x="9415780" y="3348990"/>
            <a:ext cx="897255"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策略发布</a:t>
            </a:r>
            <a:endParaRPr lang="zh-CN" altLang="en-US" sz="1000">
              <a:solidFill>
                <a:schemeClr val="tx1"/>
              </a:solidFill>
              <a:latin typeface="微软雅黑" panose="020B0503020204020204" charset="-122"/>
              <a:ea typeface="微软雅黑" panose="020B0503020204020204" charset="-122"/>
            </a:endParaRPr>
          </a:p>
        </p:txBody>
      </p:sp>
      <p:sp>
        <p:nvSpPr>
          <p:cNvPr id="32" name="文字框 31"/>
          <p:cNvSpPr txBox="1"/>
          <p:nvPr/>
        </p:nvSpPr>
        <p:spPr>
          <a:xfrm>
            <a:off x="9639935" y="3674110"/>
            <a:ext cx="589280" cy="213995"/>
          </a:xfrm>
          <a:prstGeom prst="rect">
            <a:avLst/>
          </a:prstGeom>
          <a:noFill/>
        </p:spPr>
        <p:txBody>
          <a:bodyPr wrap="none" rtlCol="0">
            <a:spAutoFit/>
          </a:bodyPr>
          <a:p>
            <a:pPr algn="l"/>
            <a:r>
              <a:rPr kumimoji="1" lang="zh-CN" altLang="zh-HK" sz="800" dirty="0" smtClean="0">
                <a:latin typeface="微软雅黑" panose="020B0503020204020204" charset="-122"/>
                <a:ea typeface="微软雅黑" panose="020B0503020204020204" charset="-122"/>
              </a:rPr>
              <a:t>入</a:t>
            </a:r>
            <a:r>
              <a:rPr kumimoji="1" lang="zh-CN" altLang="zh-HK" sz="800" dirty="0" smtClean="0">
                <a:latin typeface="微软雅黑" panose="020B0503020204020204" charset="-122"/>
                <a:ea typeface="微软雅黑" panose="020B0503020204020204" charset="-122"/>
              </a:rPr>
              <a:t>策略库</a:t>
            </a:r>
            <a:endParaRPr kumimoji="1" lang="zh-CN" altLang="zh-HK" sz="800" dirty="0" smtClean="0">
              <a:latin typeface="微软雅黑" panose="020B0503020204020204" charset="-122"/>
              <a:ea typeface="微软雅黑" panose="020B0503020204020204" charset="-122"/>
            </a:endParaRPr>
          </a:p>
        </p:txBody>
      </p:sp>
      <p:sp>
        <p:nvSpPr>
          <p:cNvPr id="33" name="矩形 32"/>
          <p:cNvSpPr/>
          <p:nvPr/>
        </p:nvSpPr>
        <p:spPr>
          <a:xfrm>
            <a:off x="8828405" y="2900045"/>
            <a:ext cx="862330" cy="1352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800">
                <a:solidFill>
                  <a:schemeClr val="tx1"/>
                </a:solidFill>
              </a:rPr>
              <a:t>策略内容修正</a:t>
            </a:r>
            <a:endParaRPr lang="zh-CN" altLang="zh-HK" sz="800">
              <a:solidFill>
                <a:schemeClr val="tx1"/>
              </a:solidFill>
            </a:endParaRPr>
          </a:p>
        </p:txBody>
      </p:sp>
      <p:sp>
        <p:nvSpPr>
          <p:cNvPr id="34" name="文字框 33"/>
          <p:cNvSpPr txBox="1"/>
          <p:nvPr/>
        </p:nvSpPr>
        <p:spPr>
          <a:xfrm>
            <a:off x="6941185" y="4149090"/>
            <a:ext cx="2631440" cy="275590"/>
          </a:xfrm>
          <a:prstGeom prst="rect">
            <a:avLst/>
          </a:prstGeom>
          <a:noFill/>
        </p:spPr>
        <p:txBody>
          <a:bodyPr wrap="none" rtlCol="0">
            <a:spAutoFit/>
          </a:bodyPr>
          <a:p>
            <a:pPr algn="l"/>
            <a:r>
              <a:rPr kumimoji="1" lang="zh-CN" altLang="zh-HK" sz="1200" b="1" dirty="0" smtClean="0">
                <a:solidFill>
                  <a:srgbClr val="0070BF"/>
                </a:solidFill>
                <a:latin typeface="微软雅黑" panose="020B0503020204020204" charset="-122"/>
                <a:ea typeface="微软雅黑" panose="020B0503020204020204" charset="-122"/>
              </a:rPr>
              <a:t>场景二</a:t>
            </a:r>
            <a:r>
              <a:rPr kumimoji="1" lang="en-US" altLang="zh-CN" sz="1200" b="1" dirty="0" smtClean="0">
                <a:solidFill>
                  <a:srgbClr val="0070BF"/>
                </a:solidFill>
                <a:latin typeface="微软雅黑" panose="020B0503020204020204" charset="-122"/>
                <a:ea typeface="微软雅黑" panose="020B0503020204020204" charset="-122"/>
              </a:rPr>
              <a:t>：</a:t>
            </a:r>
            <a:r>
              <a:rPr kumimoji="1" lang="zh-CN" altLang="en-US" sz="1200" b="1" dirty="0" smtClean="0">
                <a:solidFill>
                  <a:srgbClr val="0070BF"/>
                </a:solidFill>
                <a:latin typeface="微软雅黑" panose="020B0503020204020204" charset="-122"/>
                <a:ea typeface="微软雅黑" panose="020B0503020204020204" charset="-122"/>
              </a:rPr>
              <a:t>运营人员发起运营调度</a:t>
            </a:r>
            <a:r>
              <a:rPr kumimoji="1" lang="zh-CN" altLang="en-US" sz="1200" b="1" dirty="0" smtClean="0">
                <a:solidFill>
                  <a:srgbClr val="0070BF"/>
                </a:solidFill>
                <a:latin typeface="微软雅黑" panose="020B0503020204020204" charset="-122"/>
                <a:ea typeface="微软雅黑" panose="020B0503020204020204" charset="-122"/>
              </a:rPr>
              <a:t>任务</a:t>
            </a:r>
            <a:endParaRPr kumimoji="1" lang="zh-CN" altLang="en-US" sz="1200" b="1" dirty="0" smtClean="0">
              <a:solidFill>
                <a:srgbClr val="0070BF"/>
              </a:solidFill>
              <a:latin typeface="微软雅黑" panose="020B0503020204020204" charset="-122"/>
              <a:ea typeface="微软雅黑" panose="020B0503020204020204" charset="-122"/>
            </a:endParaRPr>
          </a:p>
        </p:txBody>
      </p:sp>
      <p:sp>
        <p:nvSpPr>
          <p:cNvPr id="35" name="圓角矩形 34"/>
          <p:cNvSpPr/>
          <p:nvPr/>
        </p:nvSpPr>
        <p:spPr>
          <a:xfrm>
            <a:off x="6941185" y="5227320"/>
            <a:ext cx="897255" cy="401320"/>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latin typeface="微软雅黑" panose="020B0503020204020204" charset="-122"/>
                <a:ea typeface="微软雅黑" panose="020B0503020204020204" charset="-122"/>
              </a:rPr>
              <a:t>发现指标</a:t>
            </a:r>
            <a:endParaRPr lang="zh-CN" altLang="zh-HK" sz="1000">
              <a:solidFill>
                <a:schemeClr val="tx1"/>
              </a:solidFill>
              <a:latin typeface="微软雅黑" panose="020B0503020204020204" charset="-122"/>
              <a:ea typeface="微软雅黑" panose="020B0503020204020204" charset="-122"/>
            </a:endParaRPr>
          </a:p>
          <a:p>
            <a:pPr algn="ctr"/>
            <a:r>
              <a:rPr lang="zh-CN" altLang="zh-HK" sz="1000">
                <a:solidFill>
                  <a:schemeClr val="tx1"/>
                </a:solidFill>
                <a:latin typeface="微软雅黑" panose="020B0503020204020204" charset="-122"/>
                <a:ea typeface="微软雅黑" panose="020B0503020204020204" charset="-122"/>
              </a:rPr>
              <a:t>异常</a:t>
            </a:r>
            <a:endParaRPr lang="zh-CN" altLang="zh-HK" sz="1000">
              <a:solidFill>
                <a:schemeClr val="tx1"/>
              </a:solidFill>
              <a:latin typeface="微软雅黑" panose="020B0503020204020204" charset="-122"/>
              <a:ea typeface="微软雅黑" panose="020B0503020204020204" charset="-122"/>
            </a:endParaRPr>
          </a:p>
        </p:txBody>
      </p:sp>
      <p:sp>
        <p:nvSpPr>
          <p:cNvPr id="37" name="菱形 36"/>
          <p:cNvSpPr/>
          <p:nvPr/>
        </p:nvSpPr>
        <p:spPr>
          <a:xfrm>
            <a:off x="8267700" y="5226685"/>
            <a:ext cx="772160" cy="401955"/>
          </a:xfrm>
          <a:prstGeom prst="diamond">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800">
                <a:solidFill>
                  <a:schemeClr val="tx1"/>
                </a:solidFill>
              </a:rPr>
              <a:t>策略选择</a:t>
            </a:r>
            <a:endParaRPr lang="zh-CN" altLang="zh-HK" sz="800">
              <a:solidFill>
                <a:schemeClr val="tx1"/>
              </a:solidFill>
            </a:endParaRPr>
          </a:p>
        </p:txBody>
      </p:sp>
      <p:sp>
        <p:nvSpPr>
          <p:cNvPr id="38" name="圓角矩形 37"/>
          <p:cNvSpPr/>
          <p:nvPr/>
        </p:nvSpPr>
        <p:spPr>
          <a:xfrm>
            <a:off x="8202295" y="4554855"/>
            <a:ext cx="897255"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solidFill>
                  <a:schemeClr val="tx1"/>
                </a:solidFill>
                <a:latin typeface="微软雅黑" panose="020B0503020204020204" charset="-122"/>
                <a:ea typeface="微软雅黑" panose="020B0503020204020204" charset="-122"/>
              </a:rPr>
              <a:t>AI</a:t>
            </a:r>
            <a:r>
              <a:rPr lang="zh-CN" altLang="en-US" sz="1000">
                <a:solidFill>
                  <a:schemeClr val="tx1"/>
                </a:solidFill>
                <a:latin typeface="微软雅黑" panose="020B0503020204020204" charset="-122"/>
                <a:ea typeface="微软雅黑" panose="020B0503020204020204" charset="-122"/>
              </a:rPr>
              <a:t>策略</a:t>
            </a:r>
            <a:endParaRPr lang="zh-CN" altLang="en-US" sz="1000">
              <a:solidFill>
                <a:schemeClr val="tx1"/>
              </a:solidFill>
              <a:latin typeface="微软雅黑" panose="020B0503020204020204" charset="-122"/>
              <a:ea typeface="微软雅黑" panose="020B0503020204020204" charset="-122"/>
            </a:endParaRPr>
          </a:p>
        </p:txBody>
      </p:sp>
      <p:sp>
        <p:nvSpPr>
          <p:cNvPr id="39" name="圓角矩形 38"/>
          <p:cNvSpPr/>
          <p:nvPr/>
        </p:nvSpPr>
        <p:spPr>
          <a:xfrm>
            <a:off x="8202295" y="5983605"/>
            <a:ext cx="897255"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已有策略</a:t>
            </a:r>
            <a:endParaRPr lang="zh-CN" altLang="en-US" sz="1000">
              <a:solidFill>
                <a:schemeClr val="tx1"/>
              </a:solidFill>
              <a:latin typeface="微软雅黑" panose="020B0503020204020204" charset="-122"/>
              <a:ea typeface="微软雅黑" panose="020B0503020204020204" charset="-122"/>
            </a:endParaRPr>
          </a:p>
        </p:txBody>
      </p:sp>
      <p:sp>
        <p:nvSpPr>
          <p:cNvPr id="40" name="圓角矩形 39"/>
          <p:cNvSpPr/>
          <p:nvPr/>
        </p:nvSpPr>
        <p:spPr>
          <a:xfrm>
            <a:off x="10229215" y="4554855"/>
            <a:ext cx="1003300"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发起调度任务</a:t>
            </a:r>
            <a:endParaRPr lang="zh-CN" altLang="en-US" sz="1000">
              <a:solidFill>
                <a:schemeClr val="tx1"/>
              </a:solidFill>
              <a:latin typeface="微软雅黑" panose="020B0503020204020204" charset="-122"/>
              <a:ea typeface="微软雅黑" panose="020B0503020204020204" charset="-122"/>
            </a:endParaRPr>
          </a:p>
        </p:txBody>
      </p:sp>
      <p:sp>
        <p:nvSpPr>
          <p:cNvPr id="41" name="圓角矩形 40"/>
          <p:cNvSpPr/>
          <p:nvPr/>
        </p:nvSpPr>
        <p:spPr>
          <a:xfrm>
            <a:off x="10229215" y="5983605"/>
            <a:ext cx="1003300" cy="274955"/>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发起调度任务</a:t>
            </a:r>
            <a:endParaRPr lang="zh-CN" altLang="en-US" sz="1000">
              <a:solidFill>
                <a:schemeClr val="tx1"/>
              </a:solidFill>
              <a:latin typeface="微软雅黑" panose="020B0503020204020204" charset="-122"/>
              <a:ea typeface="微软雅黑" panose="020B0503020204020204" charset="-122"/>
            </a:endParaRPr>
          </a:p>
        </p:txBody>
      </p:sp>
      <p:cxnSp>
        <p:nvCxnSpPr>
          <p:cNvPr id="42" name="直接箭頭連接符 41"/>
          <p:cNvCxnSpPr>
            <a:stCxn id="35" idx="3"/>
            <a:endCxn id="37" idx="1"/>
          </p:cNvCxnSpPr>
          <p:nvPr/>
        </p:nvCxnSpPr>
        <p:spPr>
          <a:xfrm>
            <a:off x="7838440" y="5427980"/>
            <a:ext cx="429260"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45" name="直接箭頭連接符 44"/>
          <p:cNvCxnSpPr>
            <a:stCxn id="37" idx="0"/>
            <a:endCxn id="38" idx="2"/>
          </p:cNvCxnSpPr>
          <p:nvPr/>
        </p:nvCxnSpPr>
        <p:spPr>
          <a:xfrm flipH="1" flipV="1">
            <a:off x="8651240" y="4829810"/>
            <a:ext cx="2540" cy="396875"/>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46" name="直接箭頭連接符 45"/>
          <p:cNvCxnSpPr>
            <a:stCxn id="37" idx="2"/>
          </p:cNvCxnSpPr>
          <p:nvPr/>
        </p:nvCxnSpPr>
        <p:spPr>
          <a:xfrm>
            <a:off x="8653780" y="5628640"/>
            <a:ext cx="0" cy="363855"/>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47" name="直接箭頭連接符 46"/>
          <p:cNvCxnSpPr>
            <a:stCxn id="38" idx="3"/>
            <a:endCxn id="40" idx="1"/>
          </p:cNvCxnSpPr>
          <p:nvPr/>
        </p:nvCxnSpPr>
        <p:spPr>
          <a:xfrm>
            <a:off x="9099550" y="4692650"/>
            <a:ext cx="1129665"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48" name="矩形 47"/>
          <p:cNvSpPr/>
          <p:nvPr/>
        </p:nvSpPr>
        <p:spPr>
          <a:xfrm>
            <a:off x="9192260" y="4613275"/>
            <a:ext cx="862330" cy="1352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800">
                <a:solidFill>
                  <a:schemeClr val="tx1"/>
                </a:solidFill>
              </a:rPr>
              <a:t>策略内容修正</a:t>
            </a:r>
            <a:endParaRPr lang="zh-CN" altLang="zh-HK" sz="800">
              <a:solidFill>
                <a:schemeClr val="tx1"/>
              </a:solidFill>
            </a:endParaRPr>
          </a:p>
        </p:txBody>
      </p:sp>
      <p:cxnSp>
        <p:nvCxnSpPr>
          <p:cNvPr id="50" name="直接箭頭連接符 49"/>
          <p:cNvCxnSpPr>
            <a:stCxn id="39" idx="3"/>
            <a:endCxn id="41" idx="1"/>
          </p:cNvCxnSpPr>
          <p:nvPr/>
        </p:nvCxnSpPr>
        <p:spPr>
          <a:xfrm>
            <a:off x="9099550" y="6121400"/>
            <a:ext cx="1129665"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51" name="圓角矩形 50"/>
          <p:cNvSpPr/>
          <p:nvPr/>
        </p:nvSpPr>
        <p:spPr>
          <a:xfrm>
            <a:off x="10791825" y="5227320"/>
            <a:ext cx="897255" cy="401320"/>
          </a:xfrm>
          <a:prstGeom prst="roundRect">
            <a:avLst/>
          </a:prstGeom>
          <a:solidFill>
            <a:srgbClr val="DEEBF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latin typeface="微软雅黑" panose="020B0503020204020204" charset="-122"/>
                <a:ea typeface="微软雅黑" panose="020B0503020204020204" charset="-122"/>
              </a:rPr>
              <a:t>任务执行</a:t>
            </a:r>
            <a:endParaRPr lang="zh-CN" altLang="zh-HK" sz="1000">
              <a:solidFill>
                <a:schemeClr val="tx1"/>
              </a:solidFill>
              <a:latin typeface="微软雅黑" panose="020B0503020204020204" charset="-122"/>
              <a:ea typeface="微软雅黑" panose="020B0503020204020204" charset="-122"/>
            </a:endParaRPr>
          </a:p>
          <a:p>
            <a:pPr algn="ctr"/>
            <a:r>
              <a:rPr lang="en-US" altLang="zh-CN" sz="1000">
                <a:solidFill>
                  <a:schemeClr val="tx1"/>
                </a:solidFill>
                <a:latin typeface="微软雅黑" panose="020B0503020204020204" charset="-122"/>
                <a:ea typeface="微软雅黑" panose="020B0503020204020204" charset="-122"/>
              </a:rPr>
              <a:t>&amp;</a:t>
            </a:r>
            <a:r>
              <a:rPr lang="zh-CN" altLang="en-US" sz="1000">
                <a:solidFill>
                  <a:schemeClr val="tx1"/>
                </a:solidFill>
                <a:latin typeface="微软雅黑" panose="020B0503020204020204" charset="-122"/>
                <a:ea typeface="微软雅黑" panose="020B0503020204020204" charset="-122"/>
              </a:rPr>
              <a:t>跟踪</a:t>
            </a:r>
            <a:endParaRPr lang="zh-CN" altLang="en-US" sz="1000">
              <a:solidFill>
                <a:schemeClr val="tx1"/>
              </a:solidFill>
              <a:latin typeface="微软雅黑" panose="020B0503020204020204" charset="-122"/>
              <a:ea typeface="微软雅黑" panose="020B0503020204020204" charset="-122"/>
            </a:endParaRPr>
          </a:p>
        </p:txBody>
      </p:sp>
      <p:cxnSp>
        <p:nvCxnSpPr>
          <p:cNvPr id="52" name="肘形連接符 51"/>
          <p:cNvCxnSpPr>
            <a:stCxn id="40" idx="2"/>
            <a:endCxn id="51" idx="0"/>
          </p:cNvCxnSpPr>
          <p:nvPr/>
        </p:nvCxnSpPr>
        <p:spPr>
          <a:xfrm rot="5400000" flipV="1">
            <a:off x="10786745" y="4773295"/>
            <a:ext cx="397510" cy="509905"/>
          </a:xfrm>
          <a:prstGeom prst="bentConnector3">
            <a:avLst>
              <a:gd name="adj1" fmla="val 49920"/>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53" name="肘形連接符 52"/>
          <p:cNvCxnSpPr>
            <a:stCxn id="41" idx="0"/>
            <a:endCxn id="51" idx="2"/>
          </p:cNvCxnSpPr>
          <p:nvPr/>
        </p:nvCxnSpPr>
        <p:spPr>
          <a:xfrm rot="16200000">
            <a:off x="10807700" y="5551170"/>
            <a:ext cx="354965" cy="509905"/>
          </a:xfrm>
          <a:prstGeom prst="bentConnector3">
            <a:avLst>
              <a:gd name="adj1" fmla="val 4991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54" name="肘形連接符 53"/>
          <p:cNvCxnSpPr>
            <a:stCxn id="40" idx="0"/>
            <a:endCxn id="16" idx="2"/>
          </p:cNvCxnSpPr>
          <p:nvPr/>
        </p:nvCxnSpPr>
        <p:spPr>
          <a:xfrm rot="16200000" flipV="1">
            <a:off x="9225915" y="3050540"/>
            <a:ext cx="929640" cy="2079625"/>
          </a:xfrm>
          <a:prstGeom prst="bentConnector3">
            <a:avLst>
              <a:gd name="adj1" fmla="val 50034"/>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55" name="矩形 54"/>
          <p:cNvSpPr/>
          <p:nvPr/>
        </p:nvSpPr>
        <p:spPr>
          <a:xfrm>
            <a:off x="8828405" y="4013835"/>
            <a:ext cx="1560195" cy="1352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800">
                <a:solidFill>
                  <a:schemeClr val="tx1"/>
                </a:solidFill>
              </a:rPr>
              <a:t>对已采纳的</a:t>
            </a:r>
            <a:r>
              <a:rPr lang="en-US" altLang="zh-CN" sz="800">
                <a:solidFill>
                  <a:schemeClr val="tx1"/>
                </a:solidFill>
              </a:rPr>
              <a:t>AI</a:t>
            </a:r>
            <a:r>
              <a:rPr lang="zh-CN" altLang="en-US" sz="800">
                <a:solidFill>
                  <a:schemeClr val="tx1"/>
                </a:solidFill>
              </a:rPr>
              <a:t>策略</a:t>
            </a:r>
            <a:r>
              <a:rPr lang="en-US" altLang="zh-CN" sz="800">
                <a:solidFill>
                  <a:schemeClr val="tx1"/>
                </a:solidFill>
              </a:rPr>
              <a:t>，</a:t>
            </a:r>
            <a:r>
              <a:rPr lang="zh-CN" altLang="en-US" sz="800">
                <a:solidFill>
                  <a:schemeClr val="tx1"/>
                </a:solidFill>
              </a:rPr>
              <a:t>审批</a:t>
            </a:r>
            <a:r>
              <a:rPr lang="zh-CN" altLang="en-US" sz="800">
                <a:solidFill>
                  <a:schemeClr val="tx1"/>
                </a:solidFill>
              </a:rPr>
              <a:t>入库</a:t>
            </a:r>
            <a:endParaRPr lang="zh-CN" altLang="en-US" sz="800">
              <a:solidFill>
                <a:schemeClr val="tx1"/>
              </a:solidFill>
            </a:endParaRPr>
          </a:p>
        </p:txBody>
      </p:sp>
      <p:grpSp>
        <p:nvGrpSpPr>
          <p:cNvPr id="81" name="組合 80"/>
          <p:cNvGrpSpPr/>
          <p:nvPr/>
        </p:nvGrpSpPr>
        <p:grpSpPr>
          <a:xfrm>
            <a:off x="416560" y="3515995"/>
            <a:ext cx="1293495" cy="262890"/>
            <a:chOff x="677" y="4135"/>
            <a:chExt cx="2037" cy="414"/>
          </a:xfrm>
        </p:grpSpPr>
        <p:sp>
          <p:nvSpPr>
            <p:cNvPr id="79" name="矩形 78"/>
            <p:cNvSpPr/>
            <p:nvPr>
              <p:custDataLst>
                <p:tags r:id="rId1"/>
              </p:custDataLst>
            </p:nvPr>
          </p:nvSpPr>
          <p:spPr>
            <a:xfrm>
              <a:off x="1068" y="4179"/>
              <a:ext cx="1646" cy="327"/>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r>
                <a:rPr lang="zh-CN" altLang="en-US" sz="1200" b="1" dirty="0">
                  <a:solidFill>
                    <a:srgbClr val="0070BF"/>
                  </a:solidFill>
                  <a:latin typeface="微软雅黑" panose="020B0503020204020204" charset="-122"/>
                  <a:ea typeface="微软雅黑" panose="020B0503020204020204" charset="-122"/>
                </a:rPr>
                <a:t>策略库</a:t>
              </a:r>
              <a:r>
                <a:rPr lang="zh-CN" altLang="en-US" sz="1200" b="1" dirty="0">
                  <a:solidFill>
                    <a:srgbClr val="0070BF"/>
                  </a:solidFill>
                  <a:latin typeface="微软雅黑" panose="020B0503020204020204" charset="-122"/>
                  <a:ea typeface="微软雅黑" panose="020B0503020204020204" charset="-122"/>
                </a:rPr>
                <a:t>管理</a:t>
              </a:r>
              <a:endParaRPr lang="zh-CN" altLang="en-US" sz="1200" b="1" dirty="0">
                <a:solidFill>
                  <a:srgbClr val="0070BF"/>
                </a:solidFill>
                <a:latin typeface="微软雅黑" panose="020B0503020204020204" charset="-122"/>
                <a:ea typeface="微软雅黑" panose="020B0503020204020204" charset="-122"/>
              </a:endParaRPr>
            </a:p>
          </p:txBody>
        </p:sp>
        <p:sp>
          <p:nvSpPr>
            <p:cNvPr id="80" name="preserver_125593"/>
            <p:cNvSpPr/>
            <p:nvPr/>
          </p:nvSpPr>
          <p:spPr>
            <a:xfrm>
              <a:off x="677" y="4135"/>
              <a:ext cx="414" cy="414"/>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88862 h 440259"/>
                <a:gd name="T11" fmla="*/ 88862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88862 h 440259"/>
                <a:gd name="T21" fmla="*/ 88862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88862 h 440259"/>
                <a:gd name="T45" fmla="*/ 88862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88862 h 440259"/>
                <a:gd name="T55" fmla="*/ 88862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88862 h 440259"/>
                <a:gd name="T69" fmla="*/ 88862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88862 h 440259"/>
                <a:gd name="T79" fmla="*/ 88862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88862 h 440259"/>
                <a:gd name="T93" fmla="*/ 88862 h 440259"/>
                <a:gd name="T94" fmla="*/ 278945 h 440259"/>
                <a:gd name="T95" fmla="*/ 278945 h 440259"/>
                <a:gd name="T96" fmla="*/ 278945 h 440259"/>
                <a:gd name="T97" fmla="*/ 278945 h 440259"/>
                <a:gd name="T98" fmla="*/ 278945 h 440259"/>
                <a:gd name="T99" fmla="*/ 278945 h 440259"/>
                <a:gd name="T100" fmla="*/ 278945 h 440259"/>
                <a:gd name="T101" fmla="*/ 278945 h 440259"/>
                <a:gd name="T102" fmla="*/ 88862 h 440259"/>
                <a:gd name="T103" fmla="*/ 88862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33" h="4933">
                  <a:moveTo>
                    <a:pt x="2467" y="0"/>
                  </a:moveTo>
                  <a:cubicBezTo>
                    <a:pt x="1107" y="0"/>
                    <a:pt x="0" y="1107"/>
                    <a:pt x="0" y="2467"/>
                  </a:cubicBezTo>
                  <a:cubicBezTo>
                    <a:pt x="0" y="3827"/>
                    <a:pt x="1107" y="4933"/>
                    <a:pt x="2467" y="4933"/>
                  </a:cubicBezTo>
                  <a:cubicBezTo>
                    <a:pt x="3827" y="4933"/>
                    <a:pt x="4933" y="3827"/>
                    <a:pt x="4933" y="2467"/>
                  </a:cubicBezTo>
                  <a:cubicBezTo>
                    <a:pt x="4933" y="1107"/>
                    <a:pt x="3827" y="0"/>
                    <a:pt x="2467" y="0"/>
                  </a:cubicBezTo>
                  <a:close/>
                  <a:moveTo>
                    <a:pt x="4423" y="1800"/>
                  </a:moveTo>
                  <a:lnTo>
                    <a:pt x="3543" y="1800"/>
                  </a:lnTo>
                  <a:cubicBezTo>
                    <a:pt x="3440" y="1634"/>
                    <a:pt x="3299" y="1493"/>
                    <a:pt x="3133" y="1390"/>
                  </a:cubicBezTo>
                  <a:lnTo>
                    <a:pt x="3133" y="510"/>
                  </a:lnTo>
                  <a:cubicBezTo>
                    <a:pt x="3738" y="717"/>
                    <a:pt x="4217" y="1196"/>
                    <a:pt x="4423" y="1800"/>
                  </a:cubicBezTo>
                  <a:close/>
                  <a:moveTo>
                    <a:pt x="2467" y="3333"/>
                  </a:moveTo>
                  <a:cubicBezTo>
                    <a:pt x="1989" y="3333"/>
                    <a:pt x="1600" y="2945"/>
                    <a:pt x="1600" y="2467"/>
                  </a:cubicBezTo>
                  <a:cubicBezTo>
                    <a:pt x="1600" y="1989"/>
                    <a:pt x="1989" y="1600"/>
                    <a:pt x="2467" y="1600"/>
                  </a:cubicBezTo>
                  <a:cubicBezTo>
                    <a:pt x="2945" y="1600"/>
                    <a:pt x="3333" y="1989"/>
                    <a:pt x="3333" y="2467"/>
                  </a:cubicBezTo>
                  <a:cubicBezTo>
                    <a:pt x="3333" y="2945"/>
                    <a:pt x="2945" y="3333"/>
                    <a:pt x="2467" y="3333"/>
                  </a:cubicBezTo>
                  <a:close/>
                  <a:moveTo>
                    <a:pt x="2733" y="417"/>
                  </a:moveTo>
                  <a:lnTo>
                    <a:pt x="2733" y="1228"/>
                  </a:lnTo>
                  <a:cubicBezTo>
                    <a:pt x="2647" y="1210"/>
                    <a:pt x="2558" y="1200"/>
                    <a:pt x="2467" y="1200"/>
                  </a:cubicBezTo>
                  <a:cubicBezTo>
                    <a:pt x="2375" y="1200"/>
                    <a:pt x="2286" y="1210"/>
                    <a:pt x="2200" y="1228"/>
                  </a:cubicBezTo>
                  <a:lnTo>
                    <a:pt x="2200" y="417"/>
                  </a:lnTo>
                  <a:cubicBezTo>
                    <a:pt x="2287" y="406"/>
                    <a:pt x="2376" y="400"/>
                    <a:pt x="2467" y="400"/>
                  </a:cubicBezTo>
                  <a:cubicBezTo>
                    <a:pt x="2557" y="400"/>
                    <a:pt x="2646" y="406"/>
                    <a:pt x="2733" y="417"/>
                  </a:cubicBezTo>
                  <a:close/>
                  <a:moveTo>
                    <a:pt x="1800" y="510"/>
                  </a:moveTo>
                  <a:lnTo>
                    <a:pt x="1800" y="1390"/>
                  </a:lnTo>
                  <a:cubicBezTo>
                    <a:pt x="1634" y="1493"/>
                    <a:pt x="1493" y="1634"/>
                    <a:pt x="1390" y="1800"/>
                  </a:cubicBezTo>
                  <a:lnTo>
                    <a:pt x="510" y="1800"/>
                  </a:lnTo>
                  <a:cubicBezTo>
                    <a:pt x="717" y="1196"/>
                    <a:pt x="1196" y="717"/>
                    <a:pt x="1800" y="510"/>
                  </a:cubicBezTo>
                  <a:close/>
                  <a:moveTo>
                    <a:pt x="1228" y="2733"/>
                  </a:moveTo>
                  <a:lnTo>
                    <a:pt x="417" y="2733"/>
                  </a:lnTo>
                  <a:cubicBezTo>
                    <a:pt x="406" y="2646"/>
                    <a:pt x="400" y="2557"/>
                    <a:pt x="400" y="2467"/>
                  </a:cubicBezTo>
                  <a:cubicBezTo>
                    <a:pt x="400" y="2376"/>
                    <a:pt x="406" y="2287"/>
                    <a:pt x="417" y="2200"/>
                  </a:cubicBezTo>
                  <a:lnTo>
                    <a:pt x="1228" y="2200"/>
                  </a:lnTo>
                  <a:cubicBezTo>
                    <a:pt x="1210" y="2286"/>
                    <a:pt x="1200" y="2375"/>
                    <a:pt x="1200" y="2467"/>
                  </a:cubicBezTo>
                  <a:cubicBezTo>
                    <a:pt x="1200" y="2558"/>
                    <a:pt x="1210" y="2647"/>
                    <a:pt x="1228" y="2733"/>
                  </a:cubicBezTo>
                  <a:close/>
                  <a:moveTo>
                    <a:pt x="510" y="3133"/>
                  </a:moveTo>
                  <a:lnTo>
                    <a:pt x="1390" y="3133"/>
                  </a:lnTo>
                  <a:cubicBezTo>
                    <a:pt x="1493" y="3299"/>
                    <a:pt x="1634" y="3440"/>
                    <a:pt x="1800" y="3543"/>
                  </a:cubicBezTo>
                  <a:lnTo>
                    <a:pt x="1800" y="4423"/>
                  </a:lnTo>
                  <a:cubicBezTo>
                    <a:pt x="1196" y="4217"/>
                    <a:pt x="717" y="3738"/>
                    <a:pt x="510" y="3133"/>
                  </a:cubicBezTo>
                  <a:close/>
                  <a:moveTo>
                    <a:pt x="2200" y="4516"/>
                  </a:moveTo>
                  <a:lnTo>
                    <a:pt x="2200" y="3705"/>
                  </a:lnTo>
                  <a:cubicBezTo>
                    <a:pt x="2286" y="3724"/>
                    <a:pt x="2375" y="3733"/>
                    <a:pt x="2467" y="3733"/>
                  </a:cubicBezTo>
                  <a:cubicBezTo>
                    <a:pt x="2558" y="3733"/>
                    <a:pt x="2647" y="3724"/>
                    <a:pt x="2733" y="3705"/>
                  </a:cubicBezTo>
                  <a:lnTo>
                    <a:pt x="2733" y="4516"/>
                  </a:lnTo>
                  <a:cubicBezTo>
                    <a:pt x="2646" y="4527"/>
                    <a:pt x="2557" y="4533"/>
                    <a:pt x="2467" y="4533"/>
                  </a:cubicBezTo>
                  <a:cubicBezTo>
                    <a:pt x="2376" y="4533"/>
                    <a:pt x="2287" y="4527"/>
                    <a:pt x="2200" y="4516"/>
                  </a:cubicBezTo>
                  <a:close/>
                  <a:moveTo>
                    <a:pt x="3133" y="4423"/>
                  </a:moveTo>
                  <a:lnTo>
                    <a:pt x="3133" y="3543"/>
                  </a:lnTo>
                  <a:cubicBezTo>
                    <a:pt x="3299" y="3440"/>
                    <a:pt x="3440" y="3299"/>
                    <a:pt x="3543" y="3133"/>
                  </a:cubicBezTo>
                  <a:lnTo>
                    <a:pt x="4423" y="3133"/>
                  </a:lnTo>
                  <a:cubicBezTo>
                    <a:pt x="4217" y="3738"/>
                    <a:pt x="3738" y="4217"/>
                    <a:pt x="3133" y="4423"/>
                  </a:cubicBezTo>
                  <a:close/>
                  <a:moveTo>
                    <a:pt x="4516" y="2200"/>
                  </a:moveTo>
                  <a:cubicBezTo>
                    <a:pt x="4527" y="2287"/>
                    <a:pt x="4533" y="2376"/>
                    <a:pt x="4533" y="2467"/>
                  </a:cubicBezTo>
                  <a:cubicBezTo>
                    <a:pt x="4533" y="2557"/>
                    <a:pt x="4527" y="2646"/>
                    <a:pt x="4516" y="2733"/>
                  </a:cubicBezTo>
                  <a:lnTo>
                    <a:pt x="3705" y="2733"/>
                  </a:lnTo>
                  <a:cubicBezTo>
                    <a:pt x="3724" y="2647"/>
                    <a:pt x="3733" y="2558"/>
                    <a:pt x="3733" y="2467"/>
                  </a:cubicBezTo>
                  <a:cubicBezTo>
                    <a:pt x="3733" y="2375"/>
                    <a:pt x="3724" y="2286"/>
                    <a:pt x="3705" y="2200"/>
                  </a:cubicBezTo>
                  <a:lnTo>
                    <a:pt x="4516" y="2200"/>
                  </a:lnTo>
                  <a:lnTo>
                    <a:pt x="4516" y="2200"/>
                  </a:lnTo>
                  <a:close/>
                </a:path>
              </a:pathLst>
            </a:custGeom>
            <a:solidFill>
              <a:srgbClr val="007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accent2">
                    <a:lumMod val="75000"/>
                  </a:schemeClr>
                </a:solidFill>
              </a:endParaRPr>
            </a:p>
          </p:txBody>
        </p:sp>
      </p:grpSp>
      <p:grpSp>
        <p:nvGrpSpPr>
          <p:cNvPr id="82" name="組合 81"/>
          <p:cNvGrpSpPr/>
          <p:nvPr/>
        </p:nvGrpSpPr>
        <p:grpSpPr>
          <a:xfrm>
            <a:off x="416560" y="2682240"/>
            <a:ext cx="1293495" cy="262890"/>
            <a:chOff x="677" y="4135"/>
            <a:chExt cx="2037" cy="414"/>
          </a:xfrm>
        </p:grpSpPr>
        <p:sp>
          <p:nvSpPr>
            <p:cNvPr id="83" name="矩形 82"/>
            <p:cNvSpPr/>
            <p:nvPr>
              <p:custDataLst>
                <p:tags r:id="rId2"/>
              </p:custDataLst>
            </p:nvPr>
          </p:nvSpPr>
          <p:spPr>
            <a:xfrm>
              <a:off x="1068" y="4179"/>
              <a:ext cx="1646" cy="327"/>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r>
                <a:rPr lang="zh-CN" altLang="en-US" sz="1200" b="1" dirty="0">
                  <a:solidFill>
                    <a:srgbClr val="0070BF"/>
                  </a:solidFill>
                  <a:latin typeface="微软雅黑" panose="020B0503020204020204" charset="-122"/>
                  <a:ea typeface="微软雅黑" panose="020B0503020204020204" charset="-122"/>
                </a:rPr>
                <a:t>策略</a:t>
              </a:r>
              <a:r>
                <a:rPr lang="zh-CN" altLang="en-US" sz="1200" b="1" dirty="0">
                  <a:solidFill>
                    <a:srgbClr val="0070BF"/>
                  </a:solidFill>
                  <a:latin typeface="微软雅黑" panose="020B0503020204020204" charset="-122"/>
                  <a:ea typeface="微软雅黑" panose="020B0503020204020204" charset="-122"/>
                </a:rPr>
                <a:t>对接</a:t>
              </a:r>
              <a:endParaRPr lang="zh-CN" altLang="en-US" sz="1200" b="1" dirty="0">
                <a:solidFill>
                  <a:srgbClr val="0070BF"/>
                </a:solidFill>
                <a:latin typeface="微软雅黑" panose="020B0503020204020204" charset="-122"/>
                <a:ea typeface="微软雅黑" panose="020B0503020204020204" charset="-122"/>
              </a:endParaRPr>
            </a:p>
          </p:txBody>
        </p:sp>
        <p:sp>
          <p:nvSpPr>
            <p:cNvPr id="84" name="preserver_125593"/>
            <p:cNvSpPr/>
            <p:nvPr/>
          </p:nvSpPr>
          <p:spPr>
            <a:xfrm>
              <a:off x="677" y="4135"/>
              <a:ext cx="414" cy="414"/>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88862 h 440259"/>
                <a:gd name="T11" fmla="*/ 88862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88862 h 440259"/>
                <a:gd name="T21" fmla="*/ 88862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88862 h 440259"/>
                <a:gd name="T45" fmla="*/ 88862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88862 h 440259"/>
                <a:gd name="T55" fmla="*/ 88862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88862 h 440259"/>
                <a:gd name="T69" fmla="*/ 88862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88862 h 440259"/>
                <a:gd name="T79" fmla="*/ 88862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88862 h 440259"/>
                <a:gd name="T93" fmla="*/ 88862 h 440259"/>
                <a:gd name="T94" fmla="*/ 278945 h 440259"/>
                <a:gd name="T95" fmla="*/ 278945 h 440259"/>
                <a:gd name="T96" fmla="*/ 278945 h 440259"/>
                <a:gd name="T97" fmla="*/ 278945 h 440259"/>
                <a:gd name="T98" fmla="*/ 278945 h 440259"/>
                <a:gd name="T99" fmla="*/ 278945 h 440259"/>
                <a:gd name="T100" fmla="*/ 278945 h 440259"/>
                <a:gd name="T101" fmla="*/ 278945 h 440259"/>
                <a:gd name="T102" fmla="*/ 88862 h 440259"/>
                <a:gd name="T103" fmla="*/ 88862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33" h="4933">
                  <a:moveTo>
                    <a:pt x="2467" y="0"/>
                  </a:moveTo>
                  <a:cubicBezTo>
                    <a:pt x="1107" y="0"/>
                    <a:pt x="0" y="1107"/>
                    <a:pt x="0" y="2467"/>
                  </a:cubicBezTo>
                  <a:cubicBezTo>
                    <a:pt x="0" y="3827"/>
                    <a:pt x="1107" y="4933"/>
                    <a:pt x="2467" y="4933"/>
                  </a:cubicBezTo>
                  <a:cubicBezTo>
                    <a:pt x="3827" y="4933"/>
                    <a:pt x="4933" y="3827"/>
                    <a:pt x="4933" y="2467"/>
                  </a:cubicBezTo>
                  <a:cubicBezTo>
                    <a:pt x="4933" y="1107"/>
                    <a:pt x="3827" y="0"/>
                    <a:pt x="2467" y="0"/>
                  </a:cubicBezTo>
                  <a:close/>
                  <a:moveTo>
                    <a:pt x="4423" y="1800"/>
                  </a:moveTo>
                  <a:lnTo>
                    <a:pt x="3543" y="1800"/>
                  </a:lnTo>
                  <a:cubicBezTo>
                    <a:pt x="3440" y="1634"/>
                    <a:pt x="3299" y="1493"/>
                    <a:pt x="3133" y="1390"/>
                  </a:cubicBezTo>
                  <a:lnTo>
                    <a:pt x="3133" y="510"/>
                  </a:lnTo>
                  <a:cubicBezTo>
                    <a:pt x="3738" y="717"/>
                    <a:pt x="4217" y="1196"/>
                    <a:pt x="4423" y="1800"/>
                  </a:cubicBezTo>
                  <a:close/>
                  <a:moveTo>
                    <a:pt x="2467" y="3333"/>
                  </a:moveTo>
                  <a:cubicBezTo>
                    <a:pt x="1989" y="3333"/>
                    <a:pt x="1600" y="2945"/>
                    <a:pt x="1600" y="2467"/>
                  </a:cubicBezTo>
                  <a:cubicBezTo>
                    <a:pt x="1600" y="1989"/>
                    <a:pt x="1989" y="1600"/>
                    <a:pt x="2467" y="1600"/>
                  </a:cubicBezTo>
                  <a:cubicBezTo>
                    <a:pt x="2945" y="1600"/>
                    <a:pt x="3333" y="1989"/>
                    <a:pt x="3333" y="2467"/>
                  </a:cubicBezTo>
                  <a:cubicBezTo>
                    <a:pt x="3333" y="2945"/>
                    <a:pt x="2945" y="3333"/>
                    <a:pt x="2467" y="3333"/>
                  </a:cubicBezTo>
                  <a:close/>
                  <a:moveTo>
                    <a:pt x="2733" y="417"/>
                  </a:moveTo>
                  <a:lnTo>
                    <a:pt x="2733" y="1228"/>
                  </a:lnTo>
                  <a:cubicBezTo>
                    <a:pt x="2647" y="1210"/>
                    <a:pt x="2558" y="1200"/>
                    <a:pt x="2467" y="1200"/>
                  </a:cubicBezTo>
                  <a:cubicBezTo>
                    <a:pt x="2375" y="1200"/>
                    <a:pt x="2286" y="1210"/>
                    <a:pt x="2200" y="1228"/>
                  </a:cubicBezTo>
                  <a:lnTo>
                    <a:pt x="2200" y="417"/>
                  </a:lnTo>
                  <a:cubicBezTo>
                    <a:pt x="2287" y="406"/>
                    <a:pt x="2376" y="400"/>
                    <a:pt x="2467" y="400"/>
                  </a:cubicBezTo>
                  <a:cubicBezTo>
                    <a:pt x="2557" y="400"/>
                    <a:pt x="2646" y="406"/>
                    <a:pt x="2733" y="417"/>
                  </a:cubicBezTo>
                  <a:close/>
                  <a:moveTo>
                    <a:pt x="1800" y="510"/>
                  </a:moveTo>
                  <a:lnTo>
                    <a:pt x="1800" y="1390"/>
                  </a:lnTo>
                  <a:cubicBezTo>
                    <a:pt x="1634" y="1493"/>
                    <a:pt x="1493" y="1634"/>
                    <a:pt x="1390" y="1800"/>
                  </a:cubicBezTo>
                  <a:lnTo>
                    <a:pt x="510" y="1800"/>
                  </a:lnTo>
                  <a:cubicBezTo>
                    <a:pt x="717" y="1196"/>
                    <a:pt x="1196" y="717"/>
                    <a:pt x="1800" y="510"/>
                  </a:cubicBezTo>
                  <a:close/>
                  <a:moveTo>
                    <a:pt x="1228" y="2733"/>
                  </a:moveTo>
                  <a:lnTo>
                    <a:pt x="417" y="2733"/>
                  </a:lnTo>
                  <a:cubicBezTo>
                    <a:pt x="406" y="2646"/>
                    <a:pt x="400" y="2557"/>
                    <a:pt x="400" y="2467"/>
                  </a:cubicBezTo>
                  <a:cubicBezTo>
                    <a:pt x="400" y="2376"/>
                    <a:pt x="406" y="2287"/>
                    <a:pt x="417" y="2200"/>
                  </a:cubicBezTo>
                  <a:lnTo>
                    <a:pt x="1228" y="2200"/>
                  </a:lnTo>
                  <a:cubicBezTo>
                    <a:pt x="1210" y="2286"/>
                    <a:pt x="1200" y="2375"/>
                    <a:pt x="1200" y="2467"/>
                  </a:cubicBezTo>
                  <a:cubicBezTo>
                    <a:pt x="1200" y="2558"/>
                    <a:pt x="1210" y="2647"/>
                    <a:pt x="1228" y="2733"/>
                  </a:cubicBezTo>
                  <a:close/>
                  <a:moveTo>
                    <a:pt x="510" y="3133"/>
                  </a:moveTo>
                  <a:lnTo>
                    <a:pt x="1390" y="3133"/>
                  </a:lnTo>
                  <a:cubicBezTo>
                    <a:pt x="1493" y="3299"/>
                    <a:pt x="1634" y="3440"/>
                    <a:pt x="1800" y="3543"/>
                  </a:cubicBezTo>
                  <a:lnTo>
                    <a:pt x="1800" y="4423"/>
                  </a:lnTo>
                  <a:cubicBezTo>
                    <a:pt x="1196" y="4217"/>
                    <a:pt x="717" y="3738"/>
                    <a:pt x="510" y="3133"/>
                  </a:cubicBezTo>
                  <a:close/>
                  <a:moveTo>
                    <a:pt x="2200" y="4516"/>
                  </a:moveTo>
                  <a:lnTo>
                    <a:pt x="2200" y="3705"/>
                  </a:lnTo>
                  <a:cubicBezTo>
                    <a:pt x="2286" y="3724"/>
                    <a:pt x="2375" y="3733"/>
                    <a:pt x="2467" y="3733"/>
                  </a:cubicBezTo>
                  <a:cubicBezTo>
                    <a:pt x="2558" y="3733"/>
                    <a:pt x="2647" y="3724"/>
                    <a:pt x="2733" y="3705"/>
                  </a:cubicBezTo>
                  <a:lnTo>
                    <a:pt x="2733" y="4516"/>
                  </a:lnTo>
                  <a:cubicBezTo>
                    <a:pt x="2646" y="4527"/>
                    <a:pt x="2557" y="4533"/>
                    <a:pt x="2467" y="4533"/>
                  </a:cubicBezTo>
                  <a:cubicBezTo>
                    <a:pt x="2376" y="4533"/>
                    <a:pt x="2287" y="4527"/>
                    <a:pt x="2200" y="4516"/>
                  </a:cubicBezTo>
                  <a:close/>
                  <a:moveTo>
                    <a:pt x="3133" y="4423"/>
                  </a:moveTo>
                  <a:lnTo>
                    <a:pt x="3133" y="3543"/>
                  </a:lnTo>
                  <a:cubicBezTo>
                    <a:pt x="3299" y="3440"/>
                    <a:pt x="3440" y="3299"/>
                    <a:pt x="3543" y="3133"/>
                  </a:cubicBezTo>
                  <a:lnTo>
                    <a:pt x="4423" y="3133"/>
                  </a:lnTo>
                  <a:cubicBezTo>
                    <a:pt x="4217" y="3738"/>
                    <a:pt x="3738" y="4217"/>
                    <a:pt x="3133" y="4423"/>
                  </a:cubicBezTo>
                  <a:close/>
                  <a:moveTo>
                    <a:pt x="4516" y="2200"/>
                  </a:moveTo>
                  <a:cubicBezTo>
                    <a:pt x="4527" y="2287"/>
                    <a:pt x="4533" y="2376"/>
                    <a:pt x="4533" y="2467"/>
                  </a:cubicBezTo>
                  <a:cubicBezTo>
                    <a:pt x="4533" y="2557"/>
                    <a:pt x="4527" y="2646"/>
                    <a:pt x="4516" y="2733"/>
                  </a:cubicBezTo>
                  <a:lnTo>
                    <a:pt x="3705" y="2733"/>
                  </a:lnTo>
                  <a:cubicBezTo>
                    <a:pt x="3724" y="2647"/>
                    <a:pt x="3733" y="2558"/>
                    <a:pt x="3733" y="2467"/>
                  </a:cubicBezTo>
                  <a:cubicBezTo>
                    <a:pt x="3733" y="2375"/>
                    <a:pt x="3724" y="2286"/>
                    <a:pt x="3705" y="2200"/>
                  </a:cubicBezTo>
                  <a:lnTo>
                    <a:pt x="4516" y="2200"/>
                  </a:lnTo>
                  <a:lnTo>
                    <a:pt x="4516" y="2200"/>
                  </a:lnTo>
                  <a:close/>
                </a:path>
              </a:pathLst>
            </a:custGeom>
            <a:solidFill>
              <a:srgbClr val="007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accent2">
                    <a:lumMod val="75000"/>
                  </a:schemeClr>
                </a:solidFill>
              </a:endParaRPr>
            </a:p>
          </p:txBody>
        </p:sp>
      </p:grpSp>
      <p:grpSp>
        <p:nvGrpSpPr>
          <p:cNvPr id="85" name="組合 84"/>
          <p:cNvGrpSpPr/>
          <p:nvPr/>
        </p:nvGrpSpPr>
        <p:grpSpPr>
          <a:xfrm>
            <a:off x="416560" y="4748530"/>
            <a:ext cx="1293495" cy="262890"/>
            <a:chOff x="677" y="4135"/>
            <a:chExt cx="2037" cy="414"/>
          </a:xfrm>
        </p:grpSpPr>
        <p:sp>
          <p:nvSpPr>
            <p:cNvPr id="86" name="矩形 85"/>
            <p:cNvSpPr/>
            <p:nvPr>
              <p:custDataLst>
                <p:tags r:id="rId3"/>
              </p:custDataLst>
            </p:nvPr>
          </p:nvSpPr>
          <p:spPr>
            <a:xfrm>
              <a:off x="1068" y="4179"/>
              <a:ext cx="1646" cy="327"/>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r>
                <a:rPr lang="zh-CN" altLang="en-US" sz="1200" b="1" dirty="0">
                  <a:solidFill>
                    <a:srgbClr val="0070BF"/>
                  </a:solidFill>
                  <a:latin typeface="微软雅黑" panose="020B0503020204020204" charset="-122"/>
                  <a:ea typeface="微软雅黑" panose="020B0503020204020204" charset="-122"/>
                </a:rPr>
                <a:t>策略</a:t>
              </a:r>
              <a:r>
                <a:rPr lang="zh-CN" altLang="en-US" sz="1200" b="1" dirty="0">
                  <a:solidFill>
                    <a:srgbClr val="0070BF"/>
                  </a:solidFill>
                  <a:latin typeface="微软雅黑" panose="020B0503020204020204" charset="-122"/>
                  <a:ea typeface="微软雅黑" panose="020B0503020204020204" charset="-122"/>
                </a:rPr>
                <a:t>推荐</a:t>
              </a:r>
              <a:endParaRPr lang="zh-CN" altLang="en-US" sz="1200" b="1" dirty="0">
                <a:solidFill>
                  <a:srgbClr val="0070BF"/>
                </a:solidFill>
                <a:latin typeface="微软雅黑" panose="020B0503020204020204" charset="-122"/>
                <a:ea typeface="微软雅黑" panose="020B0503020204020204" charset="-122"/>
              </a:endParaRPr>
            </a:p>
          </p:txBody>
        </p:sp>
        <p:sp>
          <p:nvSpPr>
            <p:cNvPr id="87" name="preserver_125593"/>
            <p:cNvSpPr/>
            <p:nvPr/>
          </p:nvSpPr>
          <p:spPr>
            <a:xfrm>
              <a:off x="677" y="4135"/>
              <a:ext cx="414" cy="414"/>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88862 h 440259"/>
                <a:gd name="T11" fmla="*/ 88862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88862 h 440259"/>
                <a:gd name="T21" fmla="*/ 88862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88862 h 440259"/>
                <a:gd name="T45" fmla="*/ 88862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88862 h 440259"/>
                <a:gd name="T55" fmla="*/ 88862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88862 h 440259"/>
                <a:gd name="T69" fmla="*/ 88862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88862 h 440259"/>
                <a:gd name="T79" fmla="*/ 88862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88862 h 440259"/>
                <a:gd name="T93" fmla="*/ 88862 h 440259"/>
                <a:gd name="T94" fmla="*/ 278945 h 440259"/>
                <a:gd name="T95" fmla="*/ 278945 h 440259"/>
                <a:gd name="T96" fmla="*/ 278945 h 440259"/>
                <a:gd name="T97" fmla="*/ 278945 h 440259"/>
                <a:gd name="T98" fmla="*/ 278945 h 440259"/>
                <a:gd name="T99" fmla="*/ 278945 h 440259"/>
                <a:gd name="T100" fmla="*/ 278945 h 440259"/>
                <a:gd name="T101" fmla="*/ 278945 h 440259"/>
                <a:gd name="T102" fmla="*/ 88862 h 440259"/>
                <a:gd name="T103" fmla="*/ 88862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33" h="4933">
                  <a:moveTo>
                    <a:pt x="2467" y="0"/>
                  </a:moveTo>
                  <a:cubicBezTo>
                    <a:pt x="1107" y="0"/>
                    <a:pt x="0" y="1107"/>
                    <a:pt x="0" y="2467"/>
                  </a:cubicBezTo>
                  <a:cubicBezTo>
                    <a:pt x="0" y="3827"/>
                    <a:pt x="1107" y="4933"/>
                    <a:pt x="2467" y="4933"/>
                  </a:cubicBezTo>
                  <a:cubicBezTo>
                    <a:pt x="3827" y="4933"/>
                    <a:pt x="4933" y="3827"/>
                    <a:pt x="4933" y="2467"/>
                  </a:cubicBezTo>
                  <a:cubicBezTo>
                    <a:pt x="4933" y="1107"/>
                    <a:pt x="3827" y="0"/>
                    <a:pt x="2467" y="0"/>
                  </a:cubicBezTo>
                  <a:close/>
                  <a:moveTo>
                    <a:pt x="4423" y="1800"/>
                  </a:moveTo>
                  <a:lnTo>
                    <a:pt x="3543" y="1800"/>
                  </a:lnTo>
                  <a:cubicBezTo>
                    <a:pt x="3440" y="1634"/>
                    <a:pt x="3299" y="1493"/>
                    <a:pt x="3133" y="1390"/>
                  </a:cubicBezTo>
                  <a:lnTo>
                    <a:pt x="3133" y="510"/>
                  </a:lnTo>
                  <a:cubicBezTo>
                    <a:pt x="3738" y="717"/>
                    <a:pt x="4217" y="1196"/>
                    <a:pt x="4423" y="1800"/>
                  </a:cubicBezTo>
                  <a:close/>
                  <a:moveTo>
                    <a:pt x="2467" y="3333"/>
                  </a:moveTo>
                  <a:cubicBezTo>
                    <a:pt x="1989" y="3333"/>
                    <a:pt x="1600" y="2945"/>
                    <a:pt x="1600" y="2467"/>
                  </a:cubicBezTo>
                  <a:cubicBezTo>
                    <a:pt x="1600" y="1989"/>
                    <a:pt x="1989" y="1600"/>
                    <a:pt x="2467" y="1600"/>
                  </a:cubicBezTo>
                  <a:cubicBezTo>
                    <a:pt x="2945" y="1600"/>
                    <a:pt x="3333" y="1989"/>
                    <a:pt x="3333" y="2467"/>
                  </a:cubicBezTo>
                  <a:cubicBezTo>
                    <a:pt x="3333" y="2945"/>
                    <a:pt x="2945" y="3333"/>
                    <a:pt x="2467" y="3333"/>
                  </a:cubicBezTo>
                  <a:close/>
                  <a:moveTo>
                    <a:pt x="2733" y="417"/>
                  </a:moveTo>
                  <a:lnTo>
                    <a:pt x="2733" y="1228"/>
                  </a:lnTo>
                  <a:cubicBezTo>
                    <a:pt x="2647" y="1210"/>
                    <a:pt x="2558" y="1200"/>
                    <a:pt x="2467" y="1200"/>
                  </a:cubicBezTo>
                  <a:cubicBezTo>
                    <a:pt x="2375" y="1200"/>
                    <a:pt x="2286" y="1210"/>
                    <a:pt x="2200" y="1228"/>
                  </a:cubicBezTo>
                  <a:lnTo>
                    <a:pt x="2200" y="417"/>
                  </a:lnTo>
                  <a:cubicBezTo>
                    <a:pt x="2287" y="406"/>
                    <a:pt x="2376" y="400"/>
                    <a:pt x="2467" y="400"/>
                  </a:cubicBezTo>
                  <a:cubicBezTo>
                    <a:pt x="2557" y="400"/>
                    <a:pt x="2646" y="406"/>
                    <a:pt x="2733" y="417"/>
                  </a:cubicBezTo>
                  <a:close/>
                  <a:moveTo>
                    <a:pt x="1800" y="510"/>
                  </a:moveTo>
                  <a:lnTo>
                    <a:pt x="1800" y="1390"/>
                  </a:lnTo>
                  <a:cubicBezTo>
                    <a:pt x="1634" y="1493"/>
                    <a:pt x="1493" y="1634"/>
                    <a:pt x="1390" y="1800"/>
                  </a:cubicBezTo>
                  <a:lnTo>
                    <a:pt x="510" y="1800"/>
                  </a:lnTo>
                  <a:cubicBezTo>
                    <a:pt x="717" y="1196"/>
                    <a:pt x="1196" y="717"/>
                    <a:pt x="1800" y="510"/>
                  </a:cubicBezTo>
                  <a:close/>
                  <a:moveTo>
                    <a:pt x="1228" y="2733"/>
                  </a:moveTo>
                  <a:lnTo>
                    <a:pt x="417" y="2733"/>
                  </a:lnTo>
                  <a:cubicBezTo>
                    <a:pt x="406" y="2646"/>
                    <a:pt x="400" y="2557"/>
                    <a:pt x="400" y="2467"/>
                  </a:cubicBezTo>
                  <a:cubicBezTo>
                    <a:pt x="400" y="2376"/>
                    <a:pt x="406" y="2287"/>
                    <a:pt x="417" y="2200"/>
                  </a:cubicBezTo>
                  <a:lnTo>
                    <a:pt x="1228" y="2200"/>
                  </a:lnTo>
                  <a:cubicBezTo>
                    <a:pt x="1210" y="2286"/>
                    <a:pt x="1200" y="2375"/>
                    <a:pt x="1200" y="2467"/>
                  </a:cubicBezTo>
                  <a:cubicBezTo>
                    <a:pt x="1200" y="2558"/>
                    <a:pt x="1210" y="2647"/>
                    <a:pt x="1228" y="2733"/>
                  </a:cubicBezTo>
                  <a:close/>
                  <a:moveTo>
                    <a:pt x="510" y="3133"/>
                  </a:moveTo>
                  <a:lnTo>
                    <a:pt x="1390" y="3133"/>
                  </a:lnTo>
                  <a:cubicBezTo>
                    <a:pt x="1493" y="3299"/>
                    <a:pt x="1634" y="3440"/>
                    <a:pt x="1800" y="3543"/>
                  </a:cubicBezTo>
                  <a:lnTo>
                    <a:pt x="1800" y="4423"/>
                  </a:lnTo>
                  <a:cubicBezTo>
                    <a:pt x="1196" y="4217"/>
                    <a:pt x="717" y="3738"/>
                    <a:pt x="510" y="3133"/>
                  </a:cubicBezTo>
                  <a:close/>
                  <a:moveTo>
                    <a:pt x="2200" y="4516"/>
                  </a:moveTo>
                  <a:lnTo>
                    <a:pt x="2200" y="3705"/>
                  </a:lnTo>
                  <a:cubicBezTo>
                    <a:pt x="2286" y="3724"/>
                    <a:pt x="2375" y="3733"/>
                    <a:pt x="2467" y="3733"/>
                  </a:cubicBezTo>
                  <a:cubicBezTo>
                    <a:pt x="2558" y="3733"/>
                    <a:pt x="2647" y="3724"/>
                    <a:pt x="2733" y="3705"/>
                  </a:cubicBezTo>
                  <a:lnTo>
                    <a:pt x="2733" y="4516"/>
                  </a:lnTo>
                  <a:cubicBezTo>
                    <a:pt x="2646" y="4527"/>
                    <a:pt x="2557" y="4533"/>
                    <a:pt x="2467" y="4533"/>
                  </a:cubicBezTo>
                  <a:cubicBezTo>
                    <a:pt x="2376" y="4533"/>
                    <a:pt x="2287" y="4527"/>
                    <a:pt x="2200" y="4516"/>
                  </a:cubicBezTo>
                  <a:close/>
                  <a:moveTo>
                    <a:pt x="3133" y="4423"/>
                  </a:moveTo>
                  <a:lnTo>
                    <a:pt x="3133" y="3543"/>
                  </a:lnTo>
                  <a:cubicBezTo>
                    <a:pt x="3299" y="3440"/>
                    <a:pt x="3440" y="3299"/>
                    <a:pt x="3543" y="3133"/>
                  </a:cubicBezTo>
                  <a:lnTo>
                    <a:pt x="4423" y="3133"/>
                  </a:lnTo>
                  <a:cubicBezTo>
                    <a:pt x="4217" y="3738"/>
                    <a:pt x="3738" y="4217"/>
                    <a:pt x="3133" y="4423"/>
                  </a:cubicBezTo>
                  <a:close/>
                  <a:moveTo>
                    <a:pt x="4516" y="2200"/>
                  </a:moveTo>
                  <a:cubicBezTo>
                    <a:pt x="4527" y="2287"/>
                    <a:pt x="4533" y="2376"/>
                    <a:pt x="4533" y="2467"/>
                  </a:cubicBezTo>
                  <a:cubicBezTo>
                    <a:pt x="4533" y="2557"/>
                    <a:pt x="4527" y="2646"/>
                    <a:pt x="4516" y="2733"/>
                  </a:cubicBezTo>
                  <a:lnTo>
                    <a:pt x="3705" y="2733"/>
                  </a:lnTo>
                  <a:cubicBezTo>
                    <a:pt x="3724" y="2647"/>
                    <a:pt x="3733" y="2558"/>
                    <a:pt x="3733" y="2467"/>
                  </a:cubicBezTo>
                  <a:cubicBezTo>
                    <a:pt x="3733" y="2375"/>
                    <a:pt x="3724" y="2286"/>
                    <a:pt x="3705" y="2200"/>
                  </a:cubicBezTo>
                  <a:lnTo>
                    <a:pt x="4516" y="2200"/>
                  </a:lnTo>
                  <a:lnTo>
                    <a:pt x="4516" y="2200"/>
                  </a:lnTo>
                  <a:close/>
                </a:path>
              </a:pathLst>
            </a:custGeom>
            <a:solidFill>
              <a:srgbClr val="007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accent2">
                    <a:lumMod val="75000"/>
                  </a:schemeClr>
                </a:solidFill>
              </a:endParaRPr>
            </a:p>
          </p:txBody>
        </p:sp>
      </p:grpSp>
      <p:grpSp>
        <p:nvGrpSpPr>
          <p:cNvPr id="88" name="組合 87"/>
          <p:cNvGrpSpPr/>
          <p:nvPr/>
        </p:nvGrpSpPr>
        <p:grpSpPr>
          <a:xfrm>
            <a:off x="416560" y="5720715"/>
            <a:ext cx="1293495" cy="262890"/>
            <a:chOff x="677" y="4135"/>
            <a:chExt cx="2037" cy="414"/>
          </a:xfrm>
        </p:grpSpPr>
        <p:sp>
          <p:nvSpPr>
            <p:cNvPr id="89" name="矩形 88"/>
            <p:cNvSpPr/>
            <p:nvPr>
              <p:custDataLst>
                <p:tags r:id="rId4"/>
              </p:custDataLst>
            </p:nvPr>
          </p:nvSpPr>
          <p:spPr>
            <a:xfrm>
              <a:off x="1068" y="4179"/>
              <a:ext cx="1646" cy="327"/>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r>
                <a:rPr lang="zh-CN" altLang="en-US" sz="1200" b="1" dirty="0">
                  <a:solidFill>
                    <a:srgbClr val="0070BF"/>
                  </a:solidFill>
                  <a:latin typeface="微软雅黑" panose="020B0503020204020204" charset="-122"/>
                  <a:ea typeface="微软雅黑" panose="020B0503020204020204" charset="-122"/>
                </a:rPr>
                <a:t>策略</a:t>
              </a:r>
              <a:r>
                <a:rPr lang="zh-CN" altLang="en-US" sz="1200" b="1" dirty="0">
                  <a:solidFill>
                    <a:srgbClr val="0070BF"/>
                  </a:solidFill>
                  <a:latin typeface="微软雅黑" panose="020B0503020204020204" charset="-122"/>
                  <a:ea typeface="微软雅黑" panose="020B0503020204020204" charset="-122"/>
                </a:rPr>
                <a:t>下发</a:t>
              </a:r>
              <a:endParaRPr lang="zh-CN" altLang="en-US" sz="1200" b="1" dirty="0">
                <a:solidFill>
                  <a:srgbClr val="0070BF"/>
                </a:solidFill>
                <a:latin typeface="微软雅黑" panose="020B0503020204020204" charset="-122"/>
                <a:ea typeface="微软雅黑" panose="020B0503020204020204" charset="-122"/>
              </a:endParaRPr>
            </a:p>
          </p:txBody>
        </p:sp>
        <p:sp>
          <p:nvSpPr>
            <p:cNvPr id="90" name="preserver_125593"/>
            <p:cNvSpPr/>
            <p:nvPr/>
          </p:nvSpPr>
          <p:spPr>
            <a:xfrm>
              <a:off x="677" y="4135"/>
              <a:ext cx="414" cy="414"/>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88862 h 440259"/>
                <a:gd name="T11" fmla="*/ 88862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88862 h 440259"/>
                <a:gd name="T21" fmla="*/ 88862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88862 h 440259"/>
                <a:gd name="T45" fmla="*/ 88862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88862 h 440259"/>
                <a:gd name="T55" fmla="*/ 88862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88862 h 440259"/>
                <a:gd name="T69" fmla="*/ 88862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88862 h 440259"/>
                <a:gd name="T79" fmla="*/ 88862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88862 h 440259"/>
                <a:gd name="T93" fmla="*/ 88862 h 440259"/>
                <a:gd name="T94" fmla="*/ 278945 h 440259"/>
                <a:gd name="T95" fmla="*/ 278945 h 440259"/>
                <a:gd name="T96" fmla="*/ 278945 h 440259"/>
                <a:gd name="T97" fmla="*/ 278945 h 440259"/>
                <a:gd name="T98" fmla="*/ 278945 h 440259"/>
                <a:gd name="T99" fmla="*/ 278945 h 440259"/>
                <a:gd name="T100" fmla="*/ 278945 h 440259"/>
                <a:gd name="T101" fmla="*/ 278945 h 440259"/>
                <a:gd name="T102" fmla="*/ 88862 h 440259"/>
                <a:gd name="T103" fmla="*/ 88862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33" h="4933">
                  <a:moveTo>
                    <a:pt x="2467" y="0"/>
                  </a:moveTo>
                  <a:cubicBezTo>
                    <a:pt x="1107" y="0"/>
                    <a:pt x="0" y="1107"/>
                    <a:pt x="0" y="2467"/>
                  </a:cubicBezTo>
                  <a:cubicBezTo>
                    <a:pt x="0" y="3827"/>
                    <a:pt x="1107" y="4933"/>
                    <a:pt x="2467" y="4933"/>
                  </a:cubicBezTo>
                  <a:cubicBezTo>
                    <a:pt x="3827" y="4933"/>
                    <a:pt x="4933" y="3827"/>
                    <a:pt x="4933" y="2467"/>
                  </a:cubicBezTo>
                  <a:cubicBezTo>
                    <a:pt x="4933" y="1107"/>
                    <a:pt x="3827" y="0"/>
                    <a:pt x="2467" y="0"/>
                  </a:cubicBezTo>
                  <a:close/>
                  <a:moveTo>
                    <a:pt x="4423" y="1800"/>
                  </a:moveTo>
                  <a:lnTo>
                    <a:pt x="3543" y="1800"/>
                  </a:lnTo>
                  <a:cubicBezTo>
                    <a:pt x="3440" y="1634"/>
                    <a:pt x="3299" y="1493"/>
                    <a:pt x="3133" y="1390"/>
                  </a:cubicBezTo>
                  <a:lnTo>
                    <a:pt x="3133" y="510"/>
                  </a:lnTo>
                  <a:cubicBezTo>
                    <a:pt x="3738" y="717"/>
                    <a:pt x="4217" y="1196"/>
                    <a:pt x="4423" y="1800"/>
                  </a:cubicBezTo>
                  <a:close/>
                  <a:moveTo>
                    <a:pt x="2467" y="3333"/>
                  </a:moveTo>
                  <a:cubicBezTo>
                    <a:pt x="1989" y="3333"/>
                    <a:pt x="1600" y="2945"/>
                    <a:pt x="1600" y="2467"/>
                  </a:cubicBezTo>
                  <a:cubicBezTo>
                    <a:pt x="1600" y="1989"/>
                    <a:pt x="1989" y="1600"/>
                    <a:pt x="2467" y="1600"/>
                  </a:cubicBezTo>
                  <a:cubicBezTo>
                    <a:pt x="2945" y="1600"/>
                    <a:pt x="3333" y="1989"/>
                    <a:pt x="3333" y="2467"/>
                  </a:cubicBezTo>
                  <a:cubicBezTo>
                    <a:pt x="3333" y="2945"/>
                    <a:pt x="2945" y="3333"/>
                    <a:pt x="2467" y="3333"/>
                  </a:cubicBezTo>
                  <a:close/>
                  <a:moveTo>
                    <a:pt x="2733" y="417"/>
                  </a:moveTo>
                  <a:lnTo>
                    <a:pt x="2733" y="1228"/>
                  </a:lnTo>
                  <a:cubicBezTo>
                    <a:pt x="2647" y="1210"/>
                    <a:pt x="2558" y="1200"/>
                    <a:pt x="2467" y="1200"/>
                  </a:cubicBezTo>
                  <a:cubicBezTo>
                    <a:pt x="2375" y="1200"/>
                    <a:pt x="2286" y="1210"/>
                    <a:pt x="2200" y="1228"/>
                  </a:cubicBezTo>
                  <a:lnTo>
                    <a:pt x="2200" y="417"/>
                  </a:lnTo>
                  <a:cubicBezTo>
                    <a:pt x="2287" y="406"/>
                    <a:pt x="2376" y="400"/>
                    <a:pt x="2467" y="400"/>
                  </a:cubicBezTo>
                  <a:cubicBezTo>
                    <a:pt x="2557" y="400"/>
                    <a:pt x="2646" y="406"/>
                    <a:pt x="2733" y="417"/>
                  </a:cubicBezTo>
                  <a:close/>
                  <a:moveTo>
                    <a:pt x="1800" y="510"/>
                  </a:moveTo>
                  <a:lnTo>
                    <a:pt x="1800" y="1390"/>
                  </a:lnTo>
                  <a:cubicBezTo>
                    <a:pt x="1634" y="1493"/>
                    <a:pt x="1493" y="1634"/>
                    <a:pt x="1390" y="1800"/>
                  </a:cubicBezTo>
                  <a:lnTo>
                    <a:pt x="510" y="1800"/>
                  </a:lnTo>
                  <a:cubicBezTo>
                    <a:pt x="717" y="1196"/>
                    <a:pt x="1196" y="717"/>
                    <a:pt x="1800" y="510"/>
                  </a:cubicBezTo>
                  <a:close/>
                  <a:moveTo>
                    <a:pt x="1228" y="2733"/>
                  </a:moveTo>
                  <a:lnTo>
                    <a:pt x="417" y="2733"/>
                  </a:lnTo>
                  <a:cubicBezTo>
                    <a:pt x="406" y="2646"/>
                    <a:pt x="400" y="2557"/>
                    <a:pt x="400" y="2467"/>
                  </a:cubicBezTo>
                  <a:cubicBezTo>
                    <a:pt x="400" y="2376"/>
                    <a:pt x="406" y="2287"/>
                    <a:pt x="417" y="2200"/>
                  </a:cubicBezTo>
                  <a:lnTo>
                    <a:pt x="1228" y="2200"/>
                  </a:lnTo>
                  <a:cubicBezTo>
                    <a:pt x="1210" y="2286"/>
                    <a:pt x="1200" y="2375"/>
                    <a:pt x="1200" y="2467"/>
                  </a:cubicBezTo>
                  <a:cubicBezTo>
                    <a:pt x="1200" y="2558"/>
                    <a:pt x="1210" y="2647"/>
                    <a:pt x="1228" y="2733"/>
                  </a:cubicBezTo>
                  <a:close/>
                  <a:moveTo>
                    <a:pt x="510" y="3133"/>
                  </a:moveTo>
                  <a:lnTo>
                    <a:pt x="1390" y="3133"/>
                  </a:lnTo>
                  <a:cubicBezTo>
                    <a:pt x="1493" y="3299"/>
                    <a:pt x="1634" y="3440"/>
                    <a:pt x="1800" y="3543"/>
                  </a:cubicBezTo>
                  <a:lnTo>
                    <a:pt x="1800" y="4423"/>
                  </a:lnTo>
                  <a:cubicBezTo>
                    <a:pt x="1196" y="4217"/>
                    <a:pt x="717" y="3738"/>
                    <a:pt x="510" y="3133"/>
                  </a:cubicBezTo>
                  <a:close/>
                  <a:moveTo>
                    <a:pt x="2200" y="4516"/>
                  </a:moveTo>
                  <a:lnTo>
                    <a:pt x="2200" y="3705"/>
                  </a:lnTo>
                  <a:cubicBezTo>
                    <a:pt x="2286" y="3724"/>
                    <a:pt x="2375" y="3733"/>
                    <a:pt x="2467" y="3733"/>
                  </a:cubicBezTo>
                  <a:cubicBezTo>
                    <a:pt x="2558" y="3733"/>
                    <a:pt x="2647" y="3724"/>
                    <a:pt x="2733" y="3705"/>
                  </a:cubicBezTo>
                  <a:lnTo>
                    <a:pt x="2733" y="4516"/>
                  </a:lnTo>
                  <a:cubicBezTo>
                    <a:pt x="2646" y="4527"/>
                    <a:pt x="2557" y="4533"/>
                    <a:pt x="2467" y="4533"/>
                  </a:cubicBezTo>
                  <a:cubicBezTo>
                    <a:pt x="2376" y="4533"/>
                    <a:pt x="2287" y="4527"/>
                    <a:pt x="2200" y="4516"/>
                  </a:cubicBezTo>
                  <a:close/>
                  <a:moveTo>
                    <a:pt x="3133" y="4423"/>
                  </a:moveTo>
                  <a:lnTo>
                    <a:pt x="3133" y="3543"/>
                  </a:lnTo>
                  <a:cubicBezTo>
                    <a:pt x="3299" y="3440"/>
                    <a:pt x="3440" y="3299"/>
                    <a:pt x="3543" y="3133"/>
                  </a:cubicBezTo>
                  <a:lnTo>
                    <a:pt x="4423" y="3133"/>
                  </a:lnTo>
                  <a:cubicBezTo>
                    <a:pt x="4217" y="3738"/>
                    <a:pt x="3738" y="4217"/>
                    <a:pt x="3133" y="4423"/>
                  </a:cubicBezTo>
                  <a:close/>
                  <a:moveTo>
                    <a:pt x="4516" y="2200"/>
                  </a:moveTo>
                  <a:cubicBezTo>
                    <a:pt x="4527" y="2287"/>
                    <a:pt x="4533" y="2376"/>
                    <a:pt x="4533" y="2467"/>
                  </a:cubicBezTo>
                  <a:cubicBezTo>
                    <a:pt x="4533" y="2557"/>
                    <a:pt x="4527" y="2646"/>
                    <a:pt x="4516" y="2733"/>
                  </a:cubicBezTo>
                  <a:lnTo>
                    <a:pt x="3705" y="2733"/>
                  </a:lnTo>
                  <a:cubicBezTo>
                    <a:pt x="3724" y="2647"/>
                    <a:pt x="3733" y="2558"/>
                    <a:pt x="3733" y="2467"/>
                  </a:cubicBezTo>
                  <a:cubicBezTo>
                    <a:pt x="3733" y="2375"/>
                    <a:pt x="3724" y="2286"/>
                    <a:pt x="3705" y="2200"/>
                  </a:cubicBezTo>
                  <a:lnTo>
                    <a:pt x="4516" y="2200"/>
                  </a:lnTo>
                  <a:lnTo>
                    <a:pt x="4516" y="2200"/>
                  </a:lnTo>
                  <a:close/>
                </a:path>
              </a:pathLst>
            </a:custGeom>
            <a:solidFill>
              <a:srgbClr val="007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accent2">
                    <a:lumMod val="75000"/>
                  </a:schemeClr>
                </a:solidFill>
              </a:endParaRPr>
            </a:p>
          </p:txBody>
        </p:sp>
      </p:grpSp>
      <p:sp>
        <p:nvSpPr>
          <p:cNvPr id="91" name="矩形 90"/>
          <p:cNvSpPr/>
          <p:nvPr/>
        </p:nvSpPr>
        <p:spPr>
          <a:xfrm>
            <a:off x="1717675" y="2614295"/>
            <a:ext cx="1117600" cy="421005"/>
          </a:xfrm>
          <a:prstGeom prst="rect">
            <a:avLst/>
          </a:prstGeom>
          <a:solidFill>
            <a:srgbClr val="DAE3F5"/>
          </a:solidFill>
          <a:ln>
            <a:solidFill>
              <a:srgbClr val="DAE3F5"/>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en-US" altLang="zh-HK" sz="1200">
                <a:solidFill>
                  <a:schemeClr val="tx1"/>
                </a:solidFill>
              </a:rPr>
              <a:t>IOP</a:t>
            </a:r>
            <a:endParaRPr lang="en-US" altLang="zh-HK" sz="1200">
              <a:solidFill>
                <a:schemeClr val="tx1"/>
              </a:solidFill>
            </a:endParaRPr>
          </a:p>
          <a:p>
            <a:pPr algn="ctr">
              <a:lnSpc>
                <a:spcPct val="100000"/>
              </a:lnSpc>
            </a:pPr>
            <a:r>
              <a:rPr lang="zh-CN" altLang="en-US" sz="1200">
                <a:solidFill>
                  <a:schemeClr val="tx1"/>
                </a:solidFill>
              </a:rPr>
              <a:t>营销</a:t>
            </a:r>
            <a:r>
              <a:rPr lang="zh-CN" altLang="en-US" sz="1200">
                <a:solidFill>
                  <a:schemeClr val="tx1"/>
                </a:solidFill>
              </a:rPr>
              <a:t>策略</a:t>
            </a:r>
            <a:endParaRPr lang="zh-CN" altLang="en-US" sz="1200">
              <a:solidFill>
                <a:schemeClr val="tx1"/>
              </a:solidFill>
            </a:endParaRPr>
          </a:p>
        </p:txBody>
      </p:sp>
      <p:sp>
        <p:nvSpPr>
          <p:cNvPr id="93" name="矩形 92"/>
          <p:cNvSpPr/>
          <p:nvPr/>
        </p:nvSpPr>
        <p:spPr>
          <a:xfrm>
            <a:off x="2943225" y="2613660"/>
            <a:ext cx="1117600" cy="421005"/>
          </a:xfrm>
          <a:prstGeom prst="rect">
            <a:avLst/>
          </a:prstGeom>
          <a:solidFill>
            <a:srgbClr val="DAE3F5"/>
          </a:solidFill>
          <a:ln>
            <a:solidFill>
              <a:srgbClr val="DAE3F5"/>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zh-CN" altLang="en-US" sz="1200">
                <a:solidFill>
                  <a:schemeClr val="tx1"/>
                </a:solidFill>
              </a:rPr>
              <a:t>需求管理平台</a:t>
            </a:r>
            <a:endParaRPr lang="en-US" altLang="zh-HK" sz="1200">
              <a:solidFill>
                <a:schemeClr val="tx1"/>
              </a:solidFill>
            </a:endParaRPr>
          </a:p>
          <a:p>
            <a:pPr algn="ctr">
              <a:lnSpc>
                <a:spcPct val="100000"/>
              </a:lnSpc>
            </a:pPr>
            <a:r>
              <a:rPr lang="zh-CN" altLang="en-US" sz="1200">
                <a:solidFill>
                  <a:schemeClr val="tx1"/>
                </a:solidFill>
              </a:rPr>
              <a:t>产品设计</a:t>
            </a:r>
            <a:r>
              <a:rPr lang="zh-CN" altLang="en-US" sz="1200">
                <a:solidFill>
                  <a:schemeClr val="tx1"/>
                </a:solidFill>
              </a:rPr>
              <a:t>策略</a:t>
            </a:r>
            <a:endParaRPr lang="zh-CN" altLang="en-US" sz="1200">
              <a:solidFill>
                <a:schemeClr val="tx1"/>
              </a:solidFill>
            </a:endParaRPr>
          </a:p>
        </p:txBody>
      </p:sp>
      <p:sp>
        <p:nvSpPr>
          <p:cNvPr id="95" name="矩形 94"/>
          <p:cNvSpPr/>
          <p:nvPr/>
        </p:nvSpPr>
        <p:spPr>
          <a:xfrm>
            <a:off x="4154805" y="2613660"/>
            <a:ext cx="1117600" cy="421005"/>
          </a:xfrm>
          <a:prstGeom prst="rect">
            <a:avLst/>
          </a:prstGeom>
          <a:solidFill>
            <a:srgbClr val="DAE3F5"/>
          </a:solidFill>
          <a:ln>
            <a:solidFill>
              <a:srgbClr val="DAE3F5"/>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zh-CN" altLang="en-US" sz="1200">
                <a:solidFill>
                  <a:schemeClr val="tx1"/>
                </a:solidFill>
              </a:rPr>
              <a:t>业务人员导入</a:t>
            </a:r>
            <a:endParaRPr lang="en-US" altLang="zh-HK" sz="1200">
              <a:solidFill>
                <a:schemeClr val="tx1"/>
              </a:solidFill>
            </a:endParaRPr>
          </a:p>
          <a:p>
            <a:pPr algn="ctr">
              <a:lnSpc>
                <a:spcPct val="100000"/>
              </a:lnSpc>
            </a:pPr>
            <a:r>
              <a:rPr lang="zh-CN" altLang="en-US" sz="1200">
                <a:solidFill>
                  <a:schemeClr val="tx1"/>
                </a:solidFill>
              </a:rPr>
              <a:t>运营</a:t>
            </a:r>
            <a:r>
              <a:rPr lang="zh-CN" altLang="en-US" sz="1200">
                <a:solidFill>
                  <a:schemeClr val="tx1"/>
                </a:solidFill>
              </a:rPr>
              <a:t>策略</a:t>
            </a:r>
            <a:endParaRPr lang="zh-CN" altLang="en-US" sz="1200">
              <a:solidFill>
                <a:schemeClr val="tx1"/>
              </a:solidFill>
            </a:endParaRPr>
          </a:p>
        </p:txBody>
      </p:sp>
      <p:sp>
        <p:nvSpPr>
          <p:cNvPr id="97" name="矩形 96"/>
          <p:cNvSpPr/>
          <p:nvPr/>
        </p:nvSpPr>
        <p:spPr>
          <a:xfrm>
            <a:off x="5346065" y="2614295"/>
            <a:ext cx="1117600" cy="421005"/>
          </a:xfrm>
          <a:prstGeom prst="rect">
            <a:avLst/>
          </a:prstGeom>
          <a:solidFill>
            <a:srgbClr val="DAE3F5"/>
          </a:solidFill>
          <a:ln>
            <a:solidFill>
              <a:srgbClr val="DAE3F5"/>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zh-CN" altLang="en-US" sz="1200">
                <a:solidFill>
                  <a:schemeClr val="tx1"/>
                </a:solidFill>
              </a:rPr>
              <a:t>其他平台</a:t>
            </a:r>
            <a:endParaRPr lang="en-US" altLang="zh-HK" sz="1200">
              <a:solidFill>
                <a:schemeClr val="tx1"/>
              </a:solidFill>
            </a:endParaRPr>
          </a:p>
          <a:p>
            <a:pPr algn="ctr">
              <a:lnSpc>
                <a:spcPct val="100000"/>
              </a:lnSpc>
            </a:pPr>
            <a:r>
              <a:rPr lang="zh-CN" altLang="en-US" sz="1200">
                <a:solidFill>
                  <a:schemeClr val="tx1"/>
                </a:solidFill>
              </a:rPr>
              <a:t>其他</a:t>
            </a:r>
            <a:r>
              <a:rPr lang="zh-CN" altLang="en-US" sz="1200">
                <a:solidFill>
                  <a:schemeClr val="tx1"/>
                </a:solidFill>
              </a:rPr>
              <a:t>策略</a:t>
            </a:r>
            <a:endParaRPr lang="zh-CN" altLang="en-US" sz="1200">
              <a:solidFill>
                <a:schemeClr val="tx1"/>
              </a:solidFill>
            </a:endParaRPr>
          </a:p>
        </p:txBody>
      </p:sp>
      <p:sp>
        <p:nvSpPr>
          <p:cNvPr id="100" name="矩形 99"/>
          <p:cNvSpPr/>
          <p:nvPr/>
        </p:nvSpPr>
        <p:spPr>
          <a:xfrm>
            <a:off x="1717675" y="3253105"/>
            <a:ext cx="4745355" cy="929005"/>
          </a:xfrm>
          <a:prstGeom prst="rect">
            <a:avLst/>
          </a:prstGeom>
          <a:solidFill>
            <a:schemeClr val="bg1">
              <a:lumMod val="95000"/>
            </a:schemeClr>
          </a:solidFill>
          <a:ln>
            <a:solidFill>
              <a:schemeClr val="bg1">
                <a:lumMod val="9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endParaRPr lang="zh-CN" altLang="en-US" sz="1200">
              <a:solidFill>
                <a:schemeClr val="tx1"/>
              </a:solidFill>
            </a:endParaRPr>
          </a:p>
        </p:txBody>
      </p:sp>
      <p:sp>
        <p:nvSpPr>
          <p:cNvPr id="101" name="圆角矩形 61"/>
          <p:cNvSpPr/>
          <p:nvPr>
            <p:custDataLst>
              <p:tags r:id="rId5"/>
            </p:custDataLst>
          </p:nvPr>
        </p:nvSpPr>
        <p:spPr bwMode="auto">
          <a:xfrm>
            <a:off x="1885315" y="3316605"/>
            <a:ext cx="1482090" cy="817880"/>
          </a:xfrm>
          <a:prstGeom prst="roundRect">
            <a:avLst>
              <a:gd name="adj" fmla="val 10938"/>
            </a:avLst>
          </a:prstGeom>
          <a:solidFill>
            <a:srgbClr val="44546A">
              <a:lumMod val="20000"/>
              <a:lumOff val="80000"/>
            </a:srgbClr>
          </a:solidFill>
          <a:ln w="6350" cap="sq" cmpd="sng" algn="ctr">
            <a:solidFill>
              <a:srgbClr val="309EFF"/>
            </a:solidFill>
            <a:prstDash val="sysDot"/>
          </a:ln>
          <a:effectLst/>
        </p:spPr>
        <p:txBody>
          <a:bodyPr lIns="0" tIns="0" rIns="0" bIns="0" rtlCol="0" anchor="ctr">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spcAft>
                <a:spcPts val="300"/>
              </a:spcAft>
              <a:defRPr/>
            </a:pPr>
            <a:endParaRPr lang="zh-CN" altLang="en-US" sz="680" kern="0" dirty="0">
              <a:solidFill>
                <a:srgbClr val="404040"/>
              </a:solidFill>
              <a:latin typeface="微软雅黑" panose="020B0503020204020204" charset="-122"/>
              <a:ea typeface="微软雅黑" panose="020B0503020204020204" charset="-122"/>
              <a:sym typeface="+mn-ea"/>
            </a:endParaRPr>
          </a:p>
        </p:txBody>
      </p:sp>
      <p:sp>
        <p:nvSpPr>
          <p:cNvPr id="102" name="圆角矩形 57"/>
          <p:cNvSpPr/>
          <p:nvPr>
            <p:custDataLst>
              <p:tags r:id="rId6"/>
            </p:custDataLst>
          </p:nvPr>
        </p:nvSpPr>
        <p:spPr>
          <a:xfrm>
            <a:off x="1953895" y="3655060"/>
            <a:ext cx="1319530" cy="424815"/>
          </a:xfrm>
          <a:prstGeom prst="roundRect">
            <a:avLst>
              <a:gd name="adj" fmla="val 10532"/>
            </a:avLst>
          </a:prstGeom>
          <a:solidFill>
            <a:srgbClr val="025DA9">
              <a:lumMod val="60000"/>
              <a:lumOff val="40000"/>
              <a:alpha val="10000"/>
            </a:srgbClr>
          </a:solidFill>
          <a:ln w="6350" cap="sq" cmpd="sng" algn="ctr">
            <a:solidFill>
              <a:srgbClr val="309EFF"/>
            </a:solidFill>
            <a:prstDash val="sysDot"/>
          </a:ln>
          <a:effectLst/>
        </p:spPr>
        <p:txBody>
          <a:bodyPr lIns="0" tIns="0" rIns="0" bIns="0" rtlCol="0" anchor="t">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defRPr/>
            </a:pPr>
            <a:r>
              <a:rPr lang="zh-CN" altLang="en-US" sz="750" dirty="0">
                <a:solidFill>
                  <a:srgbClr val="404040"/>
                </a:solidFill>
                <a:latin typeface="微软雅黑" panose="020B0503020204020204" charset="-122"/>
                <a:ea typeface="微软雅黑" panose="020B0503020204020204" charset="-122"/>
                <a:cs typeface="微软雅黑" panose="020B0503020204020204" charset="-122"/>
              </a:rPr>
              <a:t>文本切分</a:t>
            </a:r>
            <a:r>
              <a:rPr lang="en-US" altLang="zh-CN" sz="750" dirty="0">
                <a:solidFill>
                  <a:srgbClr val="404040"/>
                </a:solidFill>
                <a:latin typeface="微软雅黑" panose="020B0503020204020204" charset="-122"/>
                <a:ea typeface="微软雅黑" panose="020B0503020204020204" charset="-122"/>
                <a:cs typeface="微软雅黑" panose="020B0503020204020204" charset="-122"/>
              </a:rPr>
              <a:t> Text Splitter</a:t>
            </a:r>
            <a:endParaRPr lang="en-US" altLang="zh-CN" sz="750" dirty="0">
              <a:solidFill>
                <a:srgbClr val="404040"/>
              </a:solidFill>
              <a:latin typeface="微软雅黑" panose="020B0503020204020204" charset="-122"/>
              <a:ea typeface="微软雅黑" panose="020B0503020204020204" charset="-122"/>
              <a:cs typeface="微软雅黑" panose="020B0503020204020204" charset="-122"/>
            </a:endParaRPr>
          </a:p>
          <a:p>
            <a:pPr algn="ctr">
              <a:defRPr/>
            </a:pPr>
            <a:endParaRPr lang="en-US" altLang="zh-CN" sz="750" dirty="0">
              <a:solidFill>
                <a:srgbClr val="404040"/>
              </a:solidFill>
              <a:latin typeface="微软雅黑" panose="020B0503020204020204" charset="-122"/>
              <a:ea typeface="微软雅黑" panose="020B0503020204020204" charset="-122"/>
              <a:cs typeface="微软雅黑" panose="020B0503020204020204" charset="-122"/>
            </a:endParaRPr>
          </a:p>
          <a:p>
            <a:pPr algn="ctr">
              <a:defRPr/>
            </a:pPr>
            <a:endParaRPr lang="en-US" altLang="zh-CN" sz="750" dirty="0">
              <a:solidFill>
                <a:srgbClr val="404040"/>
              </a:solidFill>
              <a:latin typeface="微软雅黑" panose="020B0503020204020204" charset="-122"/>
              <a:ea typeface="微软雅黑" panose="020B0503020204020204" charset="-122"/>
              <a:cs typeface="微软雅黑" panose="020B0503020204020204" charset="-122"/>
            </a:endParaRPr>
          </a:p>
          <a:p>
            <a:pPr algn="ctr">
              <a:spcAft>
                <a:spcPts val="300"/>
              </a:spcAft>
              <a:defRPr/>
            </a:pPr>
            <a:endParaRPr lang="zh-CN" altLang="en-US" sz="750" kern="0" dirty="0">
              <a:solidFill>
                <a:srgbClr val="404040"/>
              </a:solidFill>
              <a:latin typeface="微软雅黑" panose="020B0503020204020204" charset="-122"/>
              <a:ea typeface="微软雅黑" panose="020B0503020204020204" charset="-122"/>
            </a:endParaRPr>
          </a:p>
        </p:txBody>
      </p:sp>
      <p:sp>
        <p:nvSpPr>
          <p:cNvPr id="103" name="圆角矩形 57"/>
          <p:cNvSpPr/>
          <p:nvPr>
            <p:custDataLst>
              <p:tags r:id="rId7"/>
            </p:custDataLst>
          </p:nvPr>
        </p:nvSpPr>
        <p:spPr>
          <a:xfrm>
            <a:off x="1962785" y="3353435"/>
            <a:ext cx="1301750" cy="130175"/>
          </a:xfrm>
          <a:prstGeom prst="roundRect">
            <a:avLst/>
          </a:prstGeom>
          <a:solidFill>
            <a:srgbClr val="0070BF">
              <a:lumMod val="20000"/>
              <a:lumOff val="80000"/>
            </a:srgbClr>
          </a:solidFill>
          <a:ln w="6350" cap="sq" cmpd="sng" algn="ctr">
            <a:solidFill>
              <a:srgbClr val="309EFF"/>
            </a:solidFill>
            <a:prstDash val="sysDot"/>
          </a:ln>
          <a:effectLst/>
        </p:spPr>
        <p:txBody>
          <a:bodyPr lIns="0" tIns="0" rIns="0" bIns="0" rtlCol="0" anchor="ctr">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spcAft>
                <a:spcPts val="300"/>
              </a:spcAft>
              <a:defRPr/>
            </a:pPr>
            <a:r>
              <a:rPr lang="zh-CN" altLang="en-US" sz="750" kern="0" dirty="0">
                <a:solidFill>
                  <a:srgbClr val="404040"/>
                </a:solidFill>
                <a:latin typeface="微软雅黑" panose="020B0503020204020204" charset="-122"/>
                <a:ea typeface="微软雅黑" panose="020B0503020204020204" charset="-122"/>
                <a:cs typeface="微软雅黑" panose="020B0503020204020204" charset="-122"/>
                <a:sym typeface="+mn-ea"/>
              </a:rPr>
              <a:t>文本Text</a:t>
            </a:r>
            <a:endParaRPr lang="zh-CN" altLang="en-US" sz="750" kern="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104" name="圆角矩形 57"/>
          <p:cNvSpPr/>
          <p:nvPr>
            <p:custDataLst>
              <p:tags r:id="rId8"/>
            </p:custDataLst>
          </p:nvPr>
        </p:nvSpPr>
        <p:spPr>
          <a:xfrm>
            <a:off x="2026285" y="3818255"/>
            <a:ext cx="1214120" cy="117475"/>
          </a:xfrm>
          <a:prstGeom prst="roundRect">
            <a:avLst/>
          </a:prstGeom>
          <a:solidFill>
            <a:srgbClr val="0070BF">
              <a:lumMod val="20000"/>
              <a:lumOff val="80000"/>
            </a:srgbClr>
          </a:solidFill>
          <a:ln w="6350" cap="sq" cmpd="sng" algn="ctr">
            <a:solidFill>
              <a:srgbClr val="309EFF"/>
            </a:solidFill>
            <a:prstDash val="sysDot"/>
          </a:ln>
          <a:effectLst/>
        </p:spPr>
        <p:txBody>
          <a:bodyPr lIns="0" tIns="0" rIns="0" bIns="0" rtlCol="0" anchor="ctr">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spcAft>
                <a:spcPts val="300"/>
              </a:spcAft>
              <a:defRPr/>
            </a:pPr>
            <a:r>
              <a:rPr lang="zh-CN" altLang="en-US" sz="750" kern="0" dirty="0">
                <a:solidFill>
                  <a:srgbClr val="404040"/>
                </a:solidFill>
                <a:latin typeface="微软雅黑" panose="020B0503020204020204" charset="-122"/>
                <a:ea typeface="微软雅黑" panose="020B0503020204020204" charset="-122"/>
                <a:sym typeface="+mn-ea"/>
              </a:rPr>
              <a:t>CHUNK</a:t>
            </a:r>
            <a:endParaRPr lang="zh-CN" altLang="en-US" sz="750" kern="0" dirty="0">
              <a:solidFill>
                <a:srgbClr val="404040"/>
              </a:solidFill>
              <a:latin typeface="微软雅黑" panose="020B0503020204020204" charset="-122"/>
              <a:ea typeface="微软雅黑" panose="020B0503020204020204" charset="-122"/>
              <a:sym typeface="+mn-ea"/>
            </a:endParaRPr>
          </a:p>
        </p:txBody>
      </p:sp>
      <p:sp>
        <p:nvSpPr>
          <p:cNvPr id="107" name="圆角矩形 57"/>
          <p:cNvSpPr/>
          <p:nvPr>
            <p:custDataLst>
              <p:tags r:id="rId9"/>
            </p:custDataLst>
          </p:nvPr>
        </p:nvSpPr>
        <p:spPr>
          <a:xfrm>
            <a:off x="2032635" y="3947160"/>
            <a:ext cx="1214120" cy="117475"/>
          </a:xfrm>
          <a:prstGeom prst="roundRect">
            <a:avLst/>
          </a:prstGeom>
          <a:solidFill>
            <a:srgbClr val="0070BF">
              <a:lumMod val="20000"/>
              <a:lumOff val="80000"/>
            </a:srgbClr>
          </a:solidFill>
          <a:ln w="6350" cap="sq" cmpd="sng" algn="ctr">
            <a:solidFill>
              <a:srgbClr val="309EFF"/>
            </a:solidFill>
            <a:prstDash val="sysDot"/>
          </a:ln>
          <a:effectLst/>
        </p:spPr>
        <p:txBody>
          <a:bodyPr lIns="0" tIns="0" rIns="0" bIns="0" rtlCol="0" anchor="ctr">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spcAft>
                <a:spcPts val="300"/>
              </a:spcAft>
              <a:defRPr/>
            </a:pPr>
            <a:r>
              <a:rPr lang="zh-CN" altLang="en-US" sz="750" kern="0" dirty="0">
                <a:solidFill>
                  <a:srgbClr val="404040"/>
                </a:solidFill>
                <a:latin typeface="微软雅黑" panose="020B0503020204020204" charset="-122"/>
                <a:ea typeface="微软雅黑" panose="020B0503020204020204" charset="-122"/>
                <a:sym typeface="+mn-ea"/>
              </a:rPr>
              <a:t>CHUNK</a:t>
            </a:r>
            <a:endParaRPr lang="zh-CN" altLang="en-US" sz="750" kern="0" dirty="0">
              <a:solidFill>
                <a:srgbClr val="404040"/>
              </a:solidFill>
              <a:latin typeface="微软雅黑" panose="020B0503020204020204" charset="-122"/>
              <a:ea typeface="微软雅黑" panose="020B0503020204020204" charset="-122"/>
              <a:sym typeface="+mn-ea"/>
            </a:endParaRPr>
          </a:p>
        </p:txBody>
      </p:sp>
      <p:sp>
        <p:nvSpPr>
          <p:cNvPr id="108" name="文本框 62"/>
          <p:cNvSpPr txBox="1"/>
          <p:nvPr>
            <p:custDataLst>
              <p:tags r:id="rId10"/>
            </p:custDataLst>
          </p:nvPr>
        </p:nvSpPr>
        <p:spPr>
          <a:xfrm>
            <a:off x="2560955" y="3454400"/>
            <a:ext cx="989965" cy="198755"/>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defRPr/>
            </a:pPr>
            <a:r>
              <a:rPr lang="zh-CN" altLang="en-US" sz="700" dirty="0">
                <a:solidFill>
                  <a:srgbClr val="404040"/>
                </a:solidFill>
                <a:latin typeface="微软雅黑" panose="020B0503020204020204" charset="-122"/>
                <a:ea typeface="微软雅黑" panose="020B0503020204020204" charset="-122"/>
              </a:rPr>
              <a:t>切片方式选择</a:t>
            </a:r>
            <a:endParaRPr lang="zh-CN" altLang="en-US" sz="700" dirty="0">
              <a:solidFill>
                <a:srgbClr val="404040"/>
              </a:solidFill>
              <a:latin typeface="微软雅黑" panose="020B0503020204020204" charset="-122"/>
              <a:ea typeface="微软雅黑" panose="020B0503020204020204" charset="-122"/>
            </a:endParaRPr>
          </a:p>
        </p:txBody>
      </p:sp>
      <p:cxnSp>
        <p:nvCxnSpPr>
          <p:cNvPr id="109" name="直接箭头连接符 153"/>
          <p:cNvCxnSpPr>
            <a:stCxn id="103" idx="2"/>
            <a:endCxn id="102" idx="0"/>
          </p:cNvCxnSpPr>
          <p:nvPr>
            <p:custDataLst>
              <p:tags r:id="rId11"/>
            </p:custDataLst>
          </p:nvPr>
        </p:nvCxnSpPr>
        <p:spPr>
          <a:xfrm flipH="1">
            <a:off x="2613025" y="3484245"/>
            <a:ext cx="0" cy="171450"/>
          </a:xfrm>
          <a:prstGeom prst="straightConnector1">
            <a:avLst/>
          </a:prstGeom>
          <a:noFill/>
          <a:ln w="6350" cap="flat" cmpd="sng" algn="ctr">
            <a:solidFill>
              <a:srgbClr val="0070BF"/>
            </a:solidFill>
            <a:prstDash val="solid"/>
            <a:miter lim="800000"/>
            <a:tailEnd type="triangle"/>
          </a:ln>
          <a:effectLst/>
        </p:spPr>
      </p:cxnSp>
      <p:sp>
        <p:nvSpPr>
          <p:cNvPr id="111" name="圆角矩形 57"/>
          <p:cNvSpPr/>
          <p:nvPr>
            <p:custDataLst>
              <p:tags r:id="rId12"/>
            </p:custDataLst>
          </p:nvPr>
        </p:nvSpPr>
        <p:spPr bwMode="auto">
          <a:xfrm>
            <a:off x="3629660" y="3356610"/>
            <a:ext cx="1242060" cy="748030"/>
          </a:xfrm>
          <a:prstGeom prst="roundRect">
            <a:avLst>
              <a:gd name="adj" fmla="val 16435"/>
            </a:avLst>
          </a:prstGeom>
          <a:solidFill>
            <a:srgbClr val="44546A">
              <a:lumMod val="20000"/>
              <a:lumOff val="80000"/>
            </a:srgbClr>
          </a:solidFill>
          <a:ln w="6350" cap="sq" cmpd="sng" algn="ctr">
            <a:solidFill>
              <a:srgbClr val="309EFF"/>
            </a:solidFill>
            <a:prstDash val="sysDot"/>
          </a:ln>
          <a:effectLst/>
        </p:spPr>
        <p:txBody>
          <a:bodyPr lIns="0" tIns="0" rIns="0" bIns="0" rtlCol="0" anchor="ctr">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lnSpc>
                <a:spcPct val="150000"/>
              </a:lnSpc>
              <a:spcAft>
                <a:spcPts val="300"/>
              </a:spcAft>
              <a:defRPr/>
            </a:pPr>
            <a:r>
              <a:rPr lang="zh-CN" altLang="en-US" sz="1000" kern="0" dirty="0">
                <a:solidFill>
                  <a:srgbClr val="404040"/>
                </a:solidFill>
                <a:latin typeface="微软雅黑" panose="020B0503020204020204" charset="-122"/>
                <a:ea typeface="微软雅黑" panose="020B0503020204020204" charset="-122"/>
                <a:sym typeface="+mn-ea"/>
              </a:rPr>
              <a:t>向量化模型</a:t>
            </a:r>
            <a:endParaRPr lang="zh-CN" altLang="en-US" sz="1000" kern="0" dirty="0">
              <a:solidFill>
                <a:srgbClr val="404040"/>
              </a:solidFill>
              <a:latin typeface="微软雅黑" panose="020B0503020204020204" charset="-122"/>
              <a:ea typeface="微软雅黑" panose="020B0503020204020204" charset="-122"/>
              <a:sym typeface="+mn-ea"/>
            </a:endParaRPr>
          </a:p>
          <a:p>
            <a:pPr algn="ctr">
              <a:lnSpc>
                <a:spcPct val="150000"/>
              </a:lnSpc>
              <a:spcAft>
                <a:spcPts val="300"/>
              </a:spcAft>
              <a:defRPr/>
            </a:pPr>
            <a:r>
              <a:rPr lang="zh-CN" altLang="en-US" sz="1000" kern="0" dirty="0">
                <a:solidFill>
                  <a:srgbClr val="404040"/>
                </a:solidFill>
                <a:latin typeface="微软雅黑" panose="020B0503020204020204" charset="-122"/>
                <a:ea typeface="微软雅黑" panose="020B0503020204020204" charset="-122"/>
                <a:sym typeface="+mn-ea"/>
              </a:rPr>
              <a:t>文本数据向量化</a:t>
            </a:r>
            <a:endParaRPr lang="zh-CN" altLang="en-US" sz="1000" kern="0" dirty="0">
              <a:solidFill>
                <a:srgbClr val="404040"/>
              </a:solidFill>
              <a:latin typeface="微软雅黑" panose="020B0503020204020204" charset="-122"/>
              <a:ea typeface="微软雅黑" panose="020B0503020204020204" charset="-122"/>
              <a:sym typeface="+mn-ea"/>
            </a:endParaRPr>
          </a:p>
        </p:txBody>
      </p:sp>
      <p:sp>
        <p:nvSpPr>
          <p:cNvPr id="112" name="圆角矩形 57"/>
          <p:cNvSpPr/>
          <p:nvPr>
            <p:custDataLst>
              <p:tags r:id="rId13"/>
            </p:custDataLst>
          </p:nvPr>
        </p:nvSpPr>
        <p:spPr bwMode="auto">
          <a:xfrm>
            <a:off x="5170805" y="3348355"/>
            <a:ext cx="1242060" cy="748030"/>
          </a:xfrm>
          <a:prstGeom prst="roundRect">
            <a:avLst>
              <a:gd name="adj" fmla="val 16435"/>
            </a:avLst>
          </a:prstGeom>
          <a:solidFill>
            <a:srgbClr val="44546A">
              <a:lumMod val="20000"/>
              <a:lumOff val="80000"/>
            </a:srgbClr>
          </a:solidFill>
          <a:ln w="6350" cap="sq" cmpd="sng" algn="ctr">
            <a:solidFill>
              <a:srgbClr val="309EFF"/>
            </a:solidFill>
            <a:prstDash val="sysDot"/>
          </a:ln>
          <a:effectLst/>
        </p:spPr>
        <p:txBody>
          <a:bodyPr lIns="0" tIns="0" rIns="0" bIns="0" rtlCol="0" anchor="ctr">
            <a:no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5530" algn="l" defTabSz="1219200" rtl="0" eaLnBrk="1" latinLnBrk="0" hangingPunct="1">
              <a:defRPr sz="2400" kern="1200">
                <a:solidFill>
                  <a:schemeClr val="tx1"/>
                </a:solidFill>
                <a:latin typeface="+mn-lt"/>
                <a:ea typeface="+mn-ea"/>
                <a:cs typeface="+mn-cs"/>
              </a:defRPr>
            </a:lvl9pPr>
          </a:lstStyle>
          <a:p>
            <a:pPr algn="ctr">
              <a:lnSpc>
                <a:spcPct val="150000"/>
              </a:lnSpc>
              <a:spcAft>
                <a:spcPts val="300"/>
              </a:spcAft>
              <a:defRPr/>
            </a:pPr>
            <a:r>
              <a:rPr lang="zh-CN" altLang="en-US" sz="1000" kern="0" dirty="0">
                <a:solidFill>
                  <a:srgbClr val="404040"/>
                </a:solidFill>
                <a:latin typeface="微软雅黑" panose="020B0503020204020204" charset="-122"/>
                <a:ea typeface="微软雅黑" panose="020B0503020204020204" charset="-122"/>
                <a:sym typeface="+mn-ea"/>
              </a:rPr>
              <a:t>市场运营</a:t>
            </a:r>
            <a:r>
              <a:rPr lang="zh-CN" altLang="en-US" sz="1000" kern="0" dirty="0">
                <a:solidFill>
                  <a:srgbClr val="404040"/>
                </a:solidFill>
                <a:latin typeface="微软雅黑" panose="020B0503020204020204" charset="-122"/>
                <a:ea typeface="微软雅黑" panose="020B0503020204020204" charset="-122"/>
                <a:sym typeface="+mn-ea"/>
              </a:rPr>
              <a:t>策略</a:t>
            </a:r>
            <a:endParaRPr lang="zh-CN" altLang="en-US" sz="1000" kern="0" dirty="0">
              <a:solidFill>
                <a:srgbClr val="404040"/>
              </a:solidFill>
              <a:latin typeface="微软雅黑" panose="020B0503020204020204" charset="-122"/>
              <a:ea typeface="微软雅黑" panose="020B0503020204020204" charset="-122"/>
              <a:sym typeface="+mn-ea"/>
            </a:endParaRPr>
          </a:p>
          <a:p>
            <a:pPr algn="ctr">
              <a:lnSpc>
                <a:spcPct val="150000"/>
              </a:lnSpc>
              <a:spcAft>
                <a:spcPts val="300"/>
              </a:spcAft>
              <a:defRPr/>
            </a:pPr>
            <a:r>
              <a:rPr lang="zh-CN" altLang="en-US" sz="1000" kern="0" dirty="0">
                <a:solidFill>
                  <a:srgbClr val="404040"/>
                </a:solidFill>
                <a:latin typeface="微软雅黑" panose="020B0503020204020204" charset="-122"/>
                <a:ea typeface="微软雅黑" panose="020B0503020204020204" charset="-122"/>
                <a:sym typeface="+mn-ea"/>
              </a:rPr>
              <a:t>向量数据库</a:t>
            </a:r>
            <a:endParaRPr lang="zh-CN" altLang="en-US" sz="1000" kern="0" dirty="0">
              <a:solidFill>
                <a:srgbClr val="404040"/>
              </a:solidFill>
              <a:latin typeface="微软雅黑" panose="020B0503020204020204" charset="-122"/>
              <a:ea typeface="微软雅黑" panose="020B0503020204020204" charset="-122"/>
              <a:sym typeface="+mn-ea"/>
            </a:endParaRPr>
          </a:p>
        </p:txBody>
      </p:sp>
      <p:cxnSp>
        <p:nvCxnSpPr>
          <p:cNvPr id="113" name="直接箭頭連接符 112"/>
          <p:cNvCxnSpPr>
            <a:stCxn id="101" idx="3"/>
            <a:endCxn id="111" idx="1"/>
          </p:cNvCxnSpPr>
          <p:nvPr/>
        </p:nvCxnSpPr>
        <p:spPr>
          <a:xfrm>
            <a:off x="3367405" y="3725545"/>
            <a:ext cx="262255" cy="50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4" name="直接箭頭連接符 113"/>
          <p:cNvCxnSpPr>
            <a:stCxn id="111" idx="3"/>
            <a:endCxn id="112" idx="1"/>
          </p:cNvCxnSpPr>
          <p:nvPr/>
        </p:nvCxnSpPr>
        <p:spPr>
          <a:xfrm flipV="1">
            <a:off x="4871720" y="3722370"/>
            <a:ext cx="299085" cy="82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5" name="文字框 114"/>
          <p:cNvSpPr txBox="1"/>
          <p:nvPr/>
        </p:nvSpPr>
        <p:spPr>
          <a:xfrm>
            <a:off x="4859655" y="3218180"/>
            <a:ext cx="316230" cy="774065"/>
          </a:xfrm>
          <a:prstGeom prst="rect">
            <a:avLst/>
          </a:prstGeom>
          <a:noFill/>
        </p:spPr>
        <p:txBody>
          <a:bodyPr vert="eaVert" wrap="none" rtlCol="0">
            <a:noAutofit/>
          </a:bodyPr>
          <a:p>
            <a:pPr algn="l"/>
            <a:r>
              <a:rPr kumimoji="1" lang="zh-CN" altLang="zh-HK" sz="800" dirty="0" smtClean="0">
                <a:latin typeface="微软雅黑" panose="020B0503020204020204" charset="-122"/>
                <a:ea typeface="微软雅黑" panose="020B0503020204020204" charset="-122"/>
              </a:rPr>
              <a:t>向量写入</a:t>
            </a:r>
            <a:endParaRPr kumimoji="1" lang="zh-CN" altLang="zh-HK" sz="800" dirty="0" smtClean="0">
              <a:latin typeface="微软雅黑" panose="020B0503020204020204" charset="-122"/>
              <a:ea typeface="微软雅黑" panose="020B0503020204020204" charset="-122"/>
            </a:endParaRPr>
          </a:p>
        </p:txBody>
      </p:sp>
      <p:sp>
        <p:nvSpPr>
          <p:cNvPr id="116" name="矩形 115"/>
          <p:cNvSpPr/>
          <p:nvPr/>
        </p:nvSpPr>
        <p:spPr>
          <a:xfrm>
            <a:off x="1718310" y="4309110"/>
            <a:ext cx="4745355" cy="1250950"/>
          </a:xfrm>
          <a:prstGeom prst="rect">
            <a:avLst/>
          </a:prstGeom>
          <a:solidFill>
            <a:schemeClr val="bg1">
              <a:lumMod val="95000"/>
            </a:schemeClr>
          </a:solidFill>
          <a:ln>
            <a:solidFill>
              <a:schemeClr val="bg1">
                <a:lumMod val="9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endParaRPr lang="zh-CN" altLang="en-US" sz="1200">
              <a:solidFill>
                <a:schemeClr val="tx1"/>
              </a:solidFill>
            </a:endParaRPr>
          </a:p>
        </p:txBody>
      </p:sp>
      <p:sp>
        <p:nvSpPr>
          <p:cNvPr id="119" name="圆角矩形 155"/>
          <p:cNvSpPr/>
          <p:nvPr/>
        </p:nvSpPr>
        <p:spPr>
          <a:xfrm>
            <a:off x="1885315" y="4478020"/>
            <a:ext cx="1097280" cy="351790"/>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策略推荐</a:t>
            </a:r>
            <a:endParaRPr kumimoji="1" lang="en-US" altLang="zh-CN" sz="1000" dirty="0">
              <a:solidFill>
                <a:schemeClr val="tx1"/>
              </a:solidFill>
              <a:latin typeface="微软雅黑" panose="020B0503020204020204" charset="-122"/>
              <a:ea typeface="微软雅黑" panose="020B0503020204020204" charset="-122"/>
            </a:endParaRPr>
          </a:p>
          <a:p>
            <a:pPr algn="ctr"/>
            <a:r>
              <a:rPr kumimoji="1" lang="en-US" altLang="zh-CN" sz="1000" dirty="0">
                <a:solidFill>
                  <a:schemeClr val="tx1"/>
                </a:solidFill>
                <a:latin typeface="微软雅黑" panose="020B0503020204020204" charset="-122"/>
                <a:ea typeface="微软雅黑" panose="020B0503020204020204" charset="-122"/>
              </a:rPr>
              <a:t>Embedding</a:t>
            </a:r>
            <a:endParaRPr kumimoji="1" lang="en-US" altLang="zh-CN" sz="1000" dirty="0">
              <a:solidFill>
                <a:schemeClr val="tx1"/>
              </a:solidFill>
              <a:latin typeface="微软雅黑" panose="020B0503020204020204" charset="-122"/>
              <a:ea typeface="微软雅黑" panose="020B0503020204020204" charset="-122"/>
            </a:endParaRPr>
          </a:p>
        </p:txBody>
      </p:sp>
      <p:sp>
        <p:nvSpPr>
          <p:cNvPr id="120" name="圆角矩形 155"/>
          <p:cNvSpPr/>
          <p:nvPr/>
        </p:nvSpPr>
        <p:spPr>
          <a:xfrm>
            <a:off x="3522345" y="4478020"/>
            <a:ext cx="1097280" cy="351790"/>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提示词工程</a:t>
            </a:r>
            <a:endParaRPr kumimoji="1" lang="zh-CN" altLang="en-US" sz="1000" dirty="0">
              <a:solidFill>
                <a:schemeClr val="tx1"/>
              </a:solidFill>
              <a:latin typeface="微软雅黑" panose="020B0503020204020204" charset="-122"/>
              <a:ea typeface="微软雅黑" panose="020B0503020204020204" charset="-122"/>
            </a:endParaRPr>
          </a:p>
        </p:txBody>
      </p:sp>
      <p:sp>
        <p:nvSpPr>
          <p:cNvPr id="126" name="圆角矩形 155"/>
          <p:cNvSpPr/>
          <p:nvPr/>
        </p:nvSpPr>
        <p:spPr>
          <a:xfrm>
            <a:off x="5118100" y="4478020"/>
            <a:ext cx="1097280" cy="351790"/>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按优先级推荐</a:t>
            </a:r>
            <a:endParaRPr kumimoji="1" lang="zh-CN" altLang="en-US" sz="1000" dirty="0">
              <a:solidFill>
                <a:schemeClr val="tx1"/>
              </a:solidFill>
              <a:latin typeface="微软雅黑" panose="020B0503020204020204" charset="-122"/>
              <a:ea typeface="微软雅黑" panose="020B0503020204020204" charset="-122"/>
            </a:endParaRPr>
          </a:p>
        </p:txBody>
      </p:sp>
      <p:cxnSp>
        <p:nvCxnSpPr>
          <p:cNvPr id="140" name="直接箭頭連接符 139"/>
          <p:cNvCxnSpPr>
            <a:stCxn id="119" idx="3"/>
            <a:endCxn id="120" idx="1"/>
          </p:cNvCxnSpPr>
          <p:nvPr/>
        </p:nvCxnSpPr>
        <p:spPr>
          <a:xfrm>
            <a:off x="2982595" y="4653915"/>
            <a:ext cx="539750"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150" name="直接箭頭連接符 149"/>
          <p:cNvCxnSpPr>
            <a:stCxn id="120" idx="3"/>
            <a:endCxn id="126" idx="1"/>
          </p:cNvCxnSpPr>
          <p:nvPr/>
        </p:nvCxnSpPr>
        <p:spPr>
          <a:xfrm>
            <a:off x="4619625" y="4653915"/>
            <a:ext cx="498475"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160" name="右箭頭 159"/>
          <p:cNvSpPr/>
          <p:nvPr/>
        </p:nvSpPr>
        <p:spPr>
          <a:xfrm>
            <a:off x="1800860" y="4873625"/>
            <a:ext cx="4612005" cy="645160"/>
          </a:xfrm>
          <a:prstGeom prst="rightArrow">
            <a:avLst/>
          </a:prstGeom>
          <a:solidFill>
            <a:srgbClr val="B6C7EA"/>
          </a:solidFill>
          <a:ln>
            <a:solidFill>
              <a:srgbClr val="B6C7E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HK" altLang="en-US"/>
          </a:p>
        </p:txBody>
      </p:sp>
      <p:grpSp>
        <p:nvGrpSpPr>
          <p:cNvPr id="159" name="組合 158"/>
          <p:cNvGrpSpPr/>
          <p:nvPr/>
        </p:nvGrpSpPr>
        <p:grpSpPr>
          <a:xfrm>
            <a:off x="1885315" y="5094605"/>
            <a:ext cx="4438650" cy="198755"/>
            <a:chOff x="2969" y="7960"/>
            <a:chExt cx="6990" cy="554"/>
          </a:xfrm>
        </p:grpSpPr>
        <p:sp>
          <p:nvSpPr>
            <p:cNvPr id="130" name="圆角矩形 155"/>
            <p:cNvSpPr/>
            <p:nvPr/>
          </p:nvSpPr>
          <p:spPr>
            <a:xfrm>
              <a:off x="2969" y="7960"/>
              <a:ext cx="1676" cy="554"/>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策略创建</a:t>
              </a:r>
              <a:endParaRPr kumimoji="1" lang="zh-CN" altLang="en-US" sz="1000" dirty="0">
                <a:solidFill>
                  <a:schemeClr val="tx1"/>
                </a:solidFill>
                <a:latin typeface="微软雅黑" panose="020B0503020204020204" charset="-122"/>
                <a:ea typeface="微软雅黑" panose="020B0503020204020204" charset="-122"/>
              </a:endParaRPr>
            </a:p>
          </p:txBody>
        </p:sp>
        <p:sp>
          <p:nvSpPr>
            <p:cNvPr id="131" name="圆角矩形 155"/>
            <p:cNvSpPr/>
            <p:nvPr/>
          </p:nvSpPr>
          <p:spPr>
            <a:xfrm>
              <a:off x="4759" y="7960"/>
              <a:ext cx="1676" cy="554"/>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关联指标</a:t>
              </a:r>
              <a:endParaRPr kumimoji="1" lang="zh-CN" altLang="en-US" sz="1000" dirty="0">
                <a:solidFill>
                  <a:schemeClr val="tx1"/>
                </a:solidFill>
                <a:latin typeface="微软雅黑" panose="020B0503020204020204" charset="-122"/>
                <a:ea typeface="微软雅黑" panose="020B0503020204020204" charset="-122"/>
              </a:endParaRPr>
            </a:p>
          </p:txBody>
        </p:sp>
        <p:sp>
          <p:nvSpPr>
            <p:cNvPr id="132" name="圆角矩形 155"/>
            <p:cNvSpPr/>
            <p:nvPr/>
          </p:nvSpPr>
          <p:spPr>
            <a:xfrm>
              <a:off x="6515" y="7960"/>
              <a:ext cx="1676" cy="554"/>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执行动作关联</a:t>
              </a:r>
              <a:endParaRPr kumimoji="1" lang="zh-CN" altLang="en-US" sz="1000" dirty="0">
                <a:solidFill>
                  <a:schemeClr val="tx1"/>
                </a:solidFill>
                <a:latin typeface="微软雅黑" panose="020B0503020204020204" charset="-122"/>
                <a:ea typeface="微软雅黑" panose="020B0503020204020204" charset="-122"/>
              </a:endParaRPr>
            </a:p>
          </p:txBody>
        </p:sp>
        <p:sp>
          <p:nvSpPr>
            <p:cNvPr id="134" name="圆角矩形 155"/>
            <p:cNvSpPr/>
            <p:nvPr/>
          </p:nvSpPr>
          <p:spPr>
            <a:xfrm>
              <a:off x="8283" y="7960"/>
              <a:ext cx="1676" cy="554"/>
            </a:xfrm>
            <a:prstGeom prst="roundRect">
              <a:avLst/>
            </a:prstGeom>
            <a:solidFill>
              <a:srgbClr val="B6C7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sz="1000" dirty="0">
                  <a:solidFill>
                    <a:schemeClr val="tx1"/>
                  </a:solidFill>
                  <a:latin typeface="微软雅黑" panose="020B0503020204020204" charset="-122"/>
                  <a:ea typeface="微软雅黑" panose="020B0503020204020204" charset="-122"/>
                </a:rPr>
                <a:t>策略审批发布</a:t>
              </a:r>
              <a:endParaRPr kumimoji="1" lang="zh-CN" altLang="en-US" sz="1000" dirty="0">
                <a:solidFill>
                  <a:schemeClr val="tx1"/>
                </a:solidFill>
                <a:latin typeface="微软雅黑" panose="020B0503020204020204" charset="-122"/>
                <a:ea typeface="微软雅黑" panose="020B0503020204020204" charset="-122"/>
              </a:endParaRPr>
            </a:p>
          </p:txBody>
        </p:sp>
      </p:grpSp>
      <p:grpSp>
        <p:nvGrpSpPr>
          <p:cNvPr id="241" name="組合 240"/>
          <p:cNvGrpSpPr/>
          <p:nvPr/>
        </p:nvGrpSpPr>
        <p:grpSpPr>
          <a:xfrm>
            <a:off x="2886075" y="5771515"/>
            <a:ext cx="2260600" cy="590550"/>
            <a:chOff x="10262" y="4081"/>
            <a:chExt cx="3560" cy="930"/>
          </a:xfrm>
        </p:grpSpPr>
        <p:sp>
          <p:nvSpPr>
            <p:cNvPr id="242" name="圆角矩形 179"/>
            <p:cNvSpPr/>
            <p:nvPr>
              <p:custDataLst>
                <p:tags r:id="rId14"/>
              </p:custDataLst>
            </p:nvPr>
          </p:nvSpPr>
          <p:spPr>
            <a:xfrm>
              <a:off x="13036" y="4101"/>
              <a:ext cx="787"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工作任务</a:t>
              </a:r>
              <a:endParaRPr lang="en-US" altLang="zh-CN" sz="800" dirty="0">
                <a:solidFill>
                  <a:prstClr val="black"/>
                </a:solidFill>
                <a:latin typeface="微软雅黑" panose="020B0503020204020204" charset="-122"/>
                <a:ea typeface="微软雅黑" panose="020B0503020204020204" charset="-122"/>
                <a:sym typeface="+mn-ea"/>
              </a:endParaRPr>
            </a:p>
          </p:txBody>
        </p:sp>
        <p:sp>
          <p:nvSpPr>
            <p:cNvPr id="243" name="圆角矩形 179"/>
            <p:cNvSpPr/>
            <p:nvPr>
              <p:custDataLst>
                <p:tags r:id="rId15"/>
              </p:custDataLst>
            </p:nvPr>
          </p:nvSpPr>
          <p:spPr>
            <a:xfrm>
              <a:off x="13036" y="4667"/>
              <a:ext cx="787"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网格通</a:t>
              </a:r>
              <a:endParaRPr lang="en-US" altLang="zh-CN" sz="800" dirty="0">
                <a:solidFill>
                  <a:prstClr val="black"/>
                </a:solidFill>
                <a:latin typeface="微软雅黑" panose="020B0503020204020204" charset="-122"/>
                <a:ea typeface="微软雅黑" panose="020B0503020204020204" charset="-122"/>
                <a:sym typeface="+mn-ea"/>
              </a:endParaRPr>
            </a:p>
          </p:txBody>
        </p:sp>
        <p:cxnSp>
          <p:nvCxnSpPr>
            <p:cNvPr id="244" name="直线箭头连接符 206"/>
            <p:cNvCxnSpPr>
              <a:stCxn id="242" idx="2"/>
              <a:endCxn id="243" idx="0"/>
            </p:cNvCxnSpPr>
            <p:nvPr/>
          </p:nvCxnSpPr>
          <p:spPr>
            <a:xfrm>
              <a:off x="13429" y="4445"/>
              <a:ext cx="0" cy="223"/>
            </a:xfrm>
            <a:prstGeom prst="straightConnector1">
              <a:avLst/>
            </a:prstGeom>
            <a:noFill/>
            <a:ln w="6350" cap="flat" cmpd="sng" algn="ctr">
              <a:solidFill>
                <a:srgbClr val="4472C4"/>
              </a:solidFill>
              <a:prstDash val="solid"/>
              <a:miter lim="800000"/>
              <a:tailEnd type="triangle"/>
            </a:ln>
            <a:effectLst/>
          </p:spPr>
        </p:cxnSp>
        <p:sp>
          <p:nvSpPr>
            <p:cNvPr id="245" name="圆角矩形 179"/>
            <p:cNvSpPr/>
            <p:nvPr>
              <p:custDataLst>
                <p:tags r:id="rId16"/>
              </p:custDataLst>
            </p:nvPr>
          </p:nvSpPr>
          <p:spPr>
            <a:xfrm>
              <a:off x="12151" y="4089"/>
              <a:ext cx="814"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营销任务</a:t>
              </a:r>
              <a:endParaRPr lang="en-US" altLang="zh-CN" sz="800" dirty="0">
                <a:solidFill>
                  <a:prstClr val="black"/>
                </a:solidFill>
                <a:latin typeface="微软雅黑" panose="020B0503020204020204" charset="-122"/>
                <a:ea typeface="微软雅黑" panose="020B0503020204020204" charset="-122"/>
                <a:sym typeface="+mn-ea"/>
              </a:endParaRPr>
            </a:p>
          </p:txBody>
        </p:sp>
        <p:sp>
          <p:nvSpPr>
            <p:cNvPr id="247" name="圆角矩形 179"/>
            <p:cNvSpPr/>
            <p:nvPr>
              <p:custDataLst>
                <p:tags r:id="rId17"/>
              </p:custDataLst>
            </p:nvPr>
          </p:nvSpPr>
          <p:spPr>
            <a:xfrm>
              <a:off x="12149" y="4667"/>
              <a:ext cx="816"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en-US" altLang="zh-CN" sz="800" dirty="0">
                  <a:solidFill>
                    <a:prstClr val="black"/>
                  </a:solidFill>
                  <a:latin typeface="微软雅黑" panose="020B0503020204020204" charset="-122"/>
                  <a:ea typeface="微软雅黑" panose="020B0503020204020204" charset="-122"/>
                  <a:sym typeface="+mn-ea"/>
                </a:rPr>
                <a:t>IOP</a:t>
              </a:r>
              <a:endParaRPr lang="en-US" altLang="zh-CN" sz="800" dirty="0">
                <a:solidFill>
                  <a:prstClr val="black"/>
                </a:solidFill>
                <a:latin typeface="微软雅黑" panose="020B0503020204020204" charset="-122"/>
                <a:ea typeface="微软雅黑" panose="020B0503020204020204" charset="-122"/>
                <a:sym typeface="+mn-ea"/>
              </a:endParaRPr>
            </a:p>
          </p:txBody>
        </p:sp>
        <p:cxnSp>
          <p:nvCxnSpPr>
            <p:cNvPr id="248" name="直线箭头连接符 210"/>
            <p:cNvCxnSpPr>
              <a:stCxn id="245" idx="2"/>
              <a:endCxn id="247" idx="0"/>
            </p:cNvCxnSpPr>
            <p:nvPr/>
          </p:nvCxnSpPr>
          <p:spPr>
            <a:xfrm flipH="1">
              <a:off x="12557" y="4432"/>
              <a:ext cx="1" cy="235"/>
            </a:xfrm>
            <a:prstGeom prst="straightConnector1">
              <a:avLst/>
            </a:prstGeom>
            <a:noFill/>
            <a:ln w="6350" cap="flat" cmpd="sng" algn="ctr">
              <a:solidFill>
                <a:srgbClr val="4472C4"/>
              </a:solidFill>
              <a:prstDash val="solid"/>
              <a:miter lim="800000"/>
              <a:tailEnd type="triangle"/>
            </a:ln>
            <a:effectLst/>
          </p:spPr>
        </p:cxnSp>
        <p:sp>
          <p:nvSpPr>
            <p:cNvPr id="249" name="圆角矩形 179"/>
            <p:cNvSpPr/>
            <p:nvPr>
              <p:custDataLst>
                <p:tags r:id="rId18"/>
              </p:custDataLst>
            </p:nvPr>
          </p:nvSpPr>
          <p:spPr>
            <a:xfrm>
              <a:off x="11241" y="4089"/>
              <a:ext cx="814"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预警任务</a:t>
              </a:r>
              <a:endParaRPr lang="en-US" altLang="zh-CN" sz="800" dirty="0">
                <a:solidFill>
                  <a:prstClr val="black"/>
                </a:solidFill>
                <a:latin typeface="微软雅黑" panose="020B0503020204020204" charset="-122"/>
                <a:ea typeface="微软雅黑" panose="020B0503020204020204" charset="-122"/>
                <a:sym typeface="+mn-ea"/>
              </a:endParaRPr>
            </a:p>
          </p:txBody>
        </p:sp>
        <p:sp>
          <p:nvSpPr>
            <p:cNvPr id="250" name="圆角矩形 179"/>
            <p:cNvSpPr/>
            <p:nvPr>
              <p:custDataLst>
                <p:tags r:id="rId19"/>
              </p:custDataLst>
            </p:nvPr>
          </p:nvSpPr>
          <p:spPr>
            <a:xfrm>
              <a:off x="11238" y="4667"/>
              <a:ext cx="816"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集中化</a:t>
              </a:r>
              <a:r>
                <a:rPr lang="en-US" altLang="zh-CN" sz="800" dirty="0">
                  <a:solidFill>
                    <a:prstClr val="black"/>
                  </a:solidFill>
                  <a:latin typeface="微软雅黑" panose="020B0503020204020204" charset="-122"/>
                  <a:ea typeface="微软雅黑" panose="020B0503020204020204" charset="-122"/>
                  <a:sym typeface="+mn-ea"/>
                </a:rPr>
                <a:t> OA</a:t>
              </a:r>
              <a:endParaRPr lang="en-US" altLang="zh-CN" sz="800" dirty="0">
                <a:solidFill>
                  <a:prstClr val="black"/>
                </a:solidFill>
                <a:latin typeface="微软雅黑" panose="020B0503020204020204" charset="-122"/>
                <a:ea typeface="微软雅黑" panose="020B0503020204020204" charset="-122"/>
                <a:sym typeface="+mn-ea"/>
              </a:endParaRPr>
            </a:p>
          </p:txBody>
        </p:sp>
        <p:cxnSp>
          <p:nvCxnSpPr>
            <p:cNvPr id="251" name="直线箭头连接符 215"/>
            <p:cNvCxnSpPr>
              <a:stCxn id="249" idx="2"/>
              <a:endCxn id="250" idx="0"/>
            </p:cNvCxnSpPr>
            <p:nvPr/>
          </p:nvCxnSpPr>
          <p:spPr>
            <a:xfrm flipH="1">
              <a:off x="11647" y="4432"/>
              <a:ext cx="1" cy="235"/>
            </a:xfrm>
            <a:prstGeom prst="straightConnector1">
              <a:avLst/>
            </a:prstGeom>
            <a:noFill/>
            <a:ln w="6350" cap="flat" cmpd="sng" algn="ctr">
              <a:solidFill>
                <a:srgbClr val="4472C4"/>
              </a:solidFill>
              <a:prstDash val="solid"/>
              <a:miter lim="800000"/>
              <a:tailEnd type="triangle"/>
            </a:ln>
            <a:effectLst/>
          </p:spPr>
        </p:cxnSp>
        <p:sp>
          <p:nvSpPr>
            <p:cNvPr id="252" name="圆角矩形 179"/>
            <p:cNvSpPr/>
            <p:nvPr>
              <p:custDataLst>
                <p:tags r:id="rId20"/>
              </p:custDataLst>
            </p:nvPr>
          </p:nvSpPr>
          <p:spPr>
            <a:xfrm>
              <a:off x="10262" y="4081"/>
              <a:ext cx="816"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其他任务</a:t>
              </a:r>
              <a:endParaRPr lang="en-US" altLang="zh-CN" sz="800" dirty="0">
                <a:solidFill>
                  <a:prstClr val="black"/>
                </a:solidFill>
                <a:latin typeface="微软雅黑" panose="020B0503020204020204" charset="-122"/>
                <a:ea typeface="微软雅黑" panose="020B0503020204020204" charset="-122"/>
                <a:sym typeface="+mn-ea"/>
              </a:endParaRPr>
            </a:p>
          </p:txBody>
        </p:sp>
        <p:sp>
          <p:nvSpPr>
            <p:cNvPr id="253" name="圆角矩形 179"/>
            <p:cNvSpPr/>
            <p:nvPr>
              <p:custDataLst>
                <p:tags r:id="rId21"/>
              </p:custDataLst>
            </p:nvPr>
          </p:nvSpPr>
          <p:spPr>
            <a:xfrm>
              <a:off x="10270" y="4667"/>
              <a:ext cx="816" cy="344"/>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800" dirty="0">
                  <a:solidFill>
                    <a:prstClr val="black"/>
                  </a:solidFill>
                  <a:latin typeface="微软雅黑" panose="020B0503020204020204" charset="-122"/>
                  <a:ea typeface="微软雅黑" panose="020B0503020204020204" charset="-122"/>
                  <a:sym typeface="+mn-ea"/>
                </a:rPr>
                <a:t>其他系统</a:t>
              </a:r>
              <a:endParaRPr lang="en-US" altLang="zh-CN" sz="800" dirty="0">
                <a:solidFill>
                  <a:prstClr val="black"/>
                </a:solidFill>
                <a:latin typeface="微软雅黑" panose="020B0503020204020204" charset="-122"/>
                <a:ea typeface="微软雅黑" panose="020B0503020204020204" charset="-122"/>
                <a:sym typeface="+mn-ea"/>
              </a:endParaRPr>
            </a:p>
          </p:txBody>
        </p:sp>
        <p:cxnSp>
          <p:nvCxnSpPr>
            <p:cNvPr id="254" name="直线箭头连接符 223"/>
            <p:cNvCxnSpPr>
              <a:endCxn id="253" idx="0"/>
            </p:cNvCxnSpPr>
            <p:nvPr/>
          </p:nvCxnSpPr>
          <p:spPr>
            <a:xfrm>
              <a:off x="10678" y="4425"/>
              <a:ext cx="0" cy="242"/>
            </a:xfrm>
            <a:prstGeom prst="straightConnector1">
              <a:avLst/>
            </a:prstGeom>
            <a:noFill/>
            <a:ln w="6350" cap="flat" cmpd="sng" algn="ctr">
              <a:solidFill>
                <a:srgbClr val="4472C4"/>
              </a:solidFill>
              <a:prstDash val="solid"/>
              <a:miter lim="800000"/>
              <a:tailEnd type="triangle"/>
            </a:ln>
            <a:effectLst/>
          </p:spPr>
        </p:cxnSp>
      </p:grpSp>
      <p:sp>
        <p:nvSpPr>
          <p:cNvPr id="256" name="圆角矩形 179"/>
          <p:cNvSpPr/>
          <p:nvPr>
            <p:custDataLst>
              <p:tags r:id="rId22"/>
            </p:custDataLst>
          </p:nvPr>
        </p:nvSpPr>
        <p:spPr>
          <a:xfrm>
            <a:off x="1885315" y="5748655"/>
            <a:ext cx="676275" cy="611505"/>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1000" dirty="0">
                <a:solidFill>
                  <a:prstClr val="black"/>
                </a:solidFill>
                <a:latin typeface="微软雅黑" panose="020B0503020204020204" charset="-122"/>
                <a:ea typeface="微软雅黑" panose="020B0503020204020204" charset="-122"/>
                <a:sym typeface="+mn-ea"/>
              </a:rPr>
              <a:t>策略</a:t>
            </a:r>
            <a:endParaRPr lang="zh-CN" altLang="en-US" sz="1000" dirty="0">
              <a:solidFill>
                <a:prstClr val="black"/>
              </a:solidFill>
              <a:latin typeface="微软雅黑" panose="020B0503020204020204" charset="-122"/>
              <a:ea typeface="微软雅黑" panose="020B0503020204020204" charset="-122"/>
              <a:sym typeface="+mn-ea"/>
            </a:endParaRPr>
          </a:p>
          <a:p>
            <a:pPr algn="ctr">
              <a:defRPr/>
            </a:pPr>
            <a:r>
              <a:rPr lang="zh-CN" altLang="en-US" sz="1000" dirty="0">
                <a:solidFill>
                  <a:prstClr val="black"/>
                </a:solidFill>
                <a:latin typeface="微软雅黑" panose="020B0503020204020204" charset="-122"/>
                <a:ea typeface="微软雅黑" panose="020B0503020204020204" charset="-122"/>
                <a:sym typeface="+mn-ea"/>
              </a:rPr>
              <a:t>采纳</a:t>
            </a:r>
            <a:endParaRPr lang="zh-CN" altLang="en-US" sz="1000" dirty="0">
              <a:solidFill>
                <a:prstClr val="black"/>
              </a:solidFill>
              <a:latin typeface="微软雅黑" panose="020B0503020204020204" charset="-122"/>
              <a:ea typeface="微软雅黑" panose="020B0503020204020204" charset="-122"/>
              <a:sym typeface="+mn-ea"/>
            </a:endParaRPr>
          </a:p>
          <a:p>
            <a:pPr algn="ctr">
              <a:defRPr/>
            </a:pPr>
            <a:r>
              <a:rPr lang="zh-CN" altLang="en-US" sz="1000" dirty="0">
                <a:solidFill>
                  <a:prstClr val="black"/>
                </a:solidFill>
                <a:latin typeface="微软雅黑" panose="020B0503020204020204" charset="-122"/>
                <a:ea typeface="微软雅黑" panose="020B0503020204020204" charset="-122"/>
                <a:sym typeface="+mn-ea"/>
              </a:rPr>
              <a:t>下发</a:t>
            </a:r>
            <a:endParaRPr lang="en-US" altLang="zh-CN" sz="1000" dirty="0">
              <a:solidFill>
                <a:prstClr val="black"/>
              </a:solidFill>
              <a:latin typeface="微软雅黑" panose="020B0503020204020204" charset="-122"/>
              <a:ea typeface="微软雅黑" panose="020B0503020204020204" charset="-122"/>
              <a:sym typeface="+mn-ea"/>
            </a:endParaRPr>
          </a:p>
        </p:txBody>
      </p:sp>
      <p:sp>
        <p:nvSpPr>
          <p:cNvPr id="258" name="圆角矩形 179"/>
          <p:cNvSpPr/>
          <p:nvPr>
            <p:custDataLst>
              <p:tags r:id="rId23"/>
            </p:custDataLst>
          </p:nvPr>
        </p:nvSpPr>
        <p:spPr>
          <a:xfrm>
            <a:off x="5675630" y="5748655"/>
            <a:ext cx="647700" cy="611505"/>
          </a:xfrm>
          <a:prstGeom prst="roundRect">
            <a:avLst/>
          </a:prstGeom>
          <a:solidFill>
            <a:srgbClr val="4472C4">
              <a:lumMod val="40000"/>
              <a:lumOff val="60000"/>
            </a:srgbClr>
          </a:solidFill>
          <a:ln w="12700" cap="flat" cmpd="sng" algn="ctr">
            <a:noFill/>
            <a:prstDash val="solid"/>
            <a:miter lim="800000"/>
          </a:ln>
          <a:effectLst/>
        </p:spPr>
        <p:txBody>
          <a:bodyPr lIns="36000" tIns="36000" rIns="36000" bIns="36000" rtlCol="0" anchor="ct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algn="ctr">
              <a:defRPr/>
            </a:pPr>
            <a:r>
              <a:rPr lang="zh-CN" altLang="en-US" sz="1000" dirty="0">
                <a:solidFill>
                  <a:prstClr val="black"/>
                </a:solidFill>
                <a:latin typeface="微软雅黑" panose="020B0503020204020204" charset="-122"/>
                <a:ea typeface="微软雅黑" panose="020B0503020204020204" charset="-122"/>
                <a:sym typeface="+mn-ea"/>
              </a:rPr>
              <a:t>结果反馈</a:t>
            </a:r>
            <a:endParaRPr lang="zh-CN" altLang="en-US" sz="1000" dirty="0">
              <a:solidFill>
                <a:prstClr val="black"/>
              </a:solidFill>
              <a:latin typeface="微软雅黑" panose="020B0503020204020204" charset="-122"/>
              <a:ea typeface="微软雅黑" panose="020B0503020204020204" charset="-122"/>
              <a:sym typeface="+mn-ea"/>
            </a:endParaRPr>
          </a:p>
          <a:p>
            <a:pPr algn="ctr">
              <a:defRPr/>
            </a:pPr>
            <a:r>
              <a:rPr lang="zh-CN" altLang="en-US" sz="1000" dirty="0">
                <a:solidFill>
                  <a:prstClr val="black"/>
                </a:solidFill>
                <a:latin typeface="微软雅黑" panose="020B0503020204020204" charset="-122"/>
                <a:ea typeface="微软雅黑" panose="020B0503020204020204" charset="-122"/>
                <a:sym typeface="+mn-ea"/>
              </a:rPr>
              <a:t>策略调优</a:t>
            </a:r>
            <a:endParaRPr lang="en-US" altLang="zh-CN" sz="1000" dirty="0">
              <a:solidFill>
                <a:prstClr val="black"/>
              </a:solidFill>
              <a:latin typeface="微软雅黑" panose="020B0503020204020204" charset="-122"/>
              <a:ea typeface="微软雅黑" panose="020B0503020204020204" charset="-122"/>
              <a:sym typeface="+mn-ea"/>
            </a:endParaRPr>
          </a:p>
        </p:txBody>
      </p:sp>
      <p:cxnSp>
        <p:nvCxnSpPr>
          <p:cNvPr id="259" name="直接箭頭連接符 258"/>
          <p:cNvCxnSpPr>
            <a:stCxn id="256" idx="3"/>
          </p:cNvCxnSpPr>
          <p:nvPr/>
        </p:nvCxnSpPr>
        <p:spPr>
          <a:xfrm>
            <a:off x="2561590" y="6054725"/>
            <a:ext cx="316865"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260" name="直接箭頭連接符 259"/>
          <p:cNvCxnSpPr/>
          <p:nvPr/>
        </p:nvCxnSpPr>
        <p:spPr>
          <a:xfrm>
            <a:off x="5259705" y="6054725"/>
            <a:ext cx="316865" cy="0"/>
          </a:xfrm>
          <a:prstGeom prst="straightConnector1">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261" name="文字框 260"/>
          <p:cNvSpPr txBox="1"/>
          <p:nvPr/>
        </p:nvSpPr>
        <p:spPr>
          <a:xfrm>
            <a:off x="416560" y="1901825"/>
            <a:ext cx="6046470" cy="645160"/>
          </a:xfrm>
          <a:prstGeom prst="rect">
            <a:avLst/>
          </a:prstGeom>
        </p:spPr>
        <p:txBody>
          <a:bodyPr wrap="square">
            <a:spAutoFit/>
          </a:bodyPr>
          <a:p>
            <a:pPr marL="0" indent="0">
              <a:lnSpc>
                <a:spcPct val="150000"/>
              </a:lnSpc>
            </a:pPr>
            <a:r>
              <a:rPr lang="zh-HK" altLang="en-US" sz="1200" b="0" i="0">
                <a:solidFill>
                  <a:srgbClr val="0F1115"/>
                </a:solidFill>
                <a:latin typeface="微软雅黑" panose="020B0503020204020204" charset="-122"/>
                <a:ea typeface="微软雅黑" panose="020B0503020204020204" charset="-122"/>
              </a:rPr>
              <a:t>通过</a:t>
            </a:r>
            <a:r>
              <a:rPr lang="en-US" altLang="zh-HK" sz="1200" b="0" i="0">
                <a:solidFill>
                  <a:srgbClr val="0F1115"/>
                </a:solidFill>
                <a:latin typeface="微软雅黑" panose="020B0503020204020204" charset="-122"/>
                <a:ea typeface="微软雅黑" panose="020B0503020204020204" charset="-122"/>
              </a:rPr>
              <a:t>AI</a:t>
            </a:r>
            <a:r>
              <a:rPr lang="zh-HK" altLang="en-US" sz="1200" b="0" i="0">
                <a:solidFill>
                  <a:srgbClr val="0F1115"/>
                </a:solidFill>
                <a:latin typeface="微软雅黑" panose="020B0503020204020204" charset="-122"/>
                <a:ea typeface="微软雅黑" panose="020B0503020204020204" charset="-122"/>
              </a:rPr>
              <a:t>技术实现策略智能管理与推荐，将多源策略进行向量化处理、基于</a:t>
            </a:r>
            <a:r>
              <a:rPr lang="en-US" altLang="zh-HK" sz="1200" b="0" i="0">
                <a:solidFill>
                  <a:srgbClr val="0F1115"/>
                </a:solidFill>
                <a:latin typeface="微软雅黑" panose="020B0503020204020204" charset="-122"/>
                <a:ea typeface="微软雅黑" panose="020B0503020204020204" charset="-122"/>
              </a:rPr>
              <a:t>Embedding</a:t>
            </a:r>
            <a:r>
              <a:rPr lang="zh-HK" altLang="en-US" sz="1200" b="0" i="0">
                <a:solidFill>
                  <a:srgbClr val="0F1115"/>
                </a:solidFill>
                <a:latin typeface="微软雅黑" panose="020B0503020204020204" charset="-122"/>
                <a:ea typeface="微软雅黑" panose="020B0503020204020204" charset="-122"/>
              </a:rPr>
              <a:t>智能匹配需求，并按优先级推荐，最终实现策略的精准、高效下发</a:t>
            </a:r>
            <a:endParaRPr lang="zh-HK" altLang="en-US" sz="1200" b="0" i="0">
              <a:solidFill>
                <a:srgbClr val="0F1115"/>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70BF"/>
                </a:solidFill>
                <a:latin typeface="微软雅黑" panose="020B0503020204020204" charset="-122"/>
                <a:ea typeface="微软雅黑" panose="020B0503020204020204" charset="-122"/>
                <a:sym typeface="+mn-ea"/>
              </a:rPr>
              <a:t>核心能力</a:t>
            </a:r>
            <a:r>
              <a:rPr>
                <a:solidFill>
                  <a:srgbClr val="0070BF"/>
                </a:solidFill>
                <a:latin typeface="微软雅黑" panose="020B0503020204020204" charset="-122"/>
                <a:ea typeface="微软雅黑" panose="020B0503020204020204" charset="-122"/>
                <a:sym typeface="+mn-ea"/>
              </a:rPr>
              <a:t>3</a:t>
            </a:r>
            <a:r>
              <a:rPr lang="zh-CN" altLang="en-US">
                <a:solidFill>
                  <a:srgbClr val="0070BF"/>
                </a:solidFill>
                <a:latin typeface="微软雅黑" panose="020B0503020204020204" charset="-122"/>
                <a:ea typeface="微软雅黑" panose="020B0503020204020204" charset="-122"/>
                <a:sym typeface="+mn-ea"/>
              </a:rPr>
              <a:t>：</a:t>
            </a:r>
            <a:r>
              <a:rPr lang="zh-CN" altLang="en-US">
                <a:solidFill>
                  <a:srgbClr val="C00000"/>
                </a:solidFill>
                <a:sym typeface="+mn-ea"/>
              </a:rPr>
              <a:t>打</a:t>
            </a:r>
            <a:r>
              <a:rPr>
                <a:solidFill>
                  <a:srgbClr val="0070BF"/>
                </a:solidFill>
                <a:sym typeface="+mn-ea"/>
              </a:rPr>
              <a:t>-</a:t>
            </a:r>
            <a:r>
              <a:rPr lang="zh-CN" altLang="en-US">
                <a:solidFill>
                  <a:srgbClr val="0070BF"/>
                </a:solidFill>
                <a:sym typeface="+mn-ea"/>
              </a:rPr>
              <a:t>全过程管控，实现智能场景化调度执行</a:t>
            </a:r>
            <a:endParaRPr lang="zh-CN" altLang="en-US"/>
          </a:p>
        </p:txBody>
      </p:sp>
      <p:sp>
        <p:nvSpPr>
          <p:cNvPr id="3" name="文本占位符 2"/>
          <p:cNvSpPr txBox="1">
            <a:spLocks noGrp="1"/>
          </p:cNvSpPr>
          <p:nvPr>
            <p:ph type="body" sz="quarter" idx="10"/>
          </p:nvPr>
        </p:nvSpPr>
        <p:spPr>
          <a:xfrm>
            <a:off x="0" y="855980"/>
            <a:ext cx="12178665" cy="397510"/>
          </a:xfrm>
          <a:noFill/>
        </p:spPr>
        <p:txBody>
          <a:bodyPr vert="horz" wrap="square" lIns="91440" tIns="45720" rIns="91440" bIns="45720" numCol="1" spcCol="0" rtlCol="0" fromWordArt="0" anchor="t" anchorCtr="0" compatLnSpc="0">
            <a:noAutofit/>
          </a:bodyPr>
          <a:p>
            <a:pPr marL="306070" lvl="0" indent="-306070" algn="l" defTabSz="914400" eaLnBrk="0">
              <a:lnSpc>
                <a:spcPct val="109000"/>
              </a:lnSpc>
              <a:spcBef>
                <a:spcPts val="0"/>
              </a:spcBef>
              <a:spcAft>
                <a:spcPts val="0"/>
              </a:spcAft>
              <a:buSzTx/>
              <a:buFont typeface="Wingdings" panose="05000000000000000000" charset="0"/>
              <a:tabLst>
                <a:tab pos="356870" algn="l"/>
              </a:tabLst>
              <a:defRPr/>
            </a:pPr>
            <a:r>
              <a:rPr kumimoji="1" altLang="zh-HK" kern="1200" noProof="0">
                <a:latin typeface="+mn-lt"/>
                <a:ea typeface="+mn-lt"/>
                <a:cs typeface="+mn-lt"/>
                <a:sym typeface="+mn-ea"/>
              </a:rPr>
              <a:t>对接全网指挥调度平台及一级</a:t>
            </a:r>
            <a:r>
              <a:rPr kumimoji="1" lang="en-US" altLang="zh-CN" kern="1200" noProof="0">
                <a:latin typeface="+mn-lt"/>
                <a:ea typeface="+mn-lt"/>
                <a:cs typeface="+mn-lt"/>
                <a:sym typeface="+mn-ea"/>
              </a:rPr>
              <a:t>IOP</a:t>
            </a:r>
            <a:r>
              <a:rPr kumimoji="1" kern="1200" noProof="0">
                <a:latin typeface="+mn-lt"/>
                <a:ea typeface="+mn-lt"/>
                <a:cs typeface="+mn-lt"/>
                <a:sym typeface="+mn-ea"/>
              </a:rPr>
              <a:t>平台，</a:t>
            </a:r>
            <a:r>
              <a:rPr kumimoji="1" lang="zh-HK" kern="1200" noProof="0">
                <a:latin typeface="+mn-lt"/>
                <a:ea typeface="+mn-lt"/>
                <a:cs typeface="+mn-lt"/>
                <a:sym typeface="+mn-ea"/>
              </a:rPr>
              <a:t>为运营策略的调度与执行提供统一全网指挥调度能力</a:t>
            </a:r>
            <a:r>
              <a:rPr kumimoji="1" altLang="zh-HK" kern="1200" noProof="0">
                <a:latin typeface="+mn-lt"/>
                <a:ea typeface="+mn-lt"/>
                <a:cs typeface="+mn-lt"/>
                <a:sym typeface="+mn-ea"/>
              </a:rPr>
              <a:t>，</a:t>
            </a:r>
            <a:r>
              <a:rPr kumimoji="1" altLang="zh-HK" kern="1200" noProof="0">
                <a:latin typeface="+mn-lt"/>
                <a:ea typeface="+mn-lt"/>
                <a:cs typeface="+mn-lt"/>
                <a:sym typeface="+mn-ea"/>
              </a:rPr>
              <a:t>拉通两级</a:t>
            </a:r>
            <a:r>
              <a:rPr kumimoji="1" lang="zh-HK" kern="1200" noProof="0">
                <a:latin typeface="+mn-lt"/>
                <a:ea typeface="+mn-lt"/>
                <a:cs typeface="+mn-lt"/>
                <a:sym typeface="+mn-ea"/>
              </a:rPr>
              <a:t>管理与生产两类运营调度任务</a:t>
            </a:r>
            <a:r>
              <a:rPr kumimoji="1" altLang="zh-HK" kern="1200" noProof="0">
                <a:latin typeface="+mn-lt"/>
                <a:ea typeface="+mn-lt"/>
                <a:cs typeface="+mn-lt"/>
                <a:sym typeface="+mn-ea"/>
              </a:rPr>
              <a:t>。</a:t>
            </a:r>
            <a:endParaRPr kumimoji="1" lang="zh-HK" kern="1200" noProof="0">
              <a:latin typeface="+mn-lt"/>
              <a:ea typeface="+mn-lt"/>
              <a:cs typeface="+mn-lt"/>
              <a:sym typeface="+mn-ea"/>
            </a:endParaRPr>
          </a:p>
        </p:txBody>
      </p:sp>
      <p:grpSp>
        <p:nvGrpSpPr>
          <p:cNvPr id="286" name="组合 285"/>
          <p:cNvGrpSpPr/>
          <p:nvPr/>
        </p:nvGrpSpPr>
        <p:grpSpPr>
          <a:xfrm rot="0">
            <a:off x="6704330" y="2504440"/>
            <a:ext cx="1350645" cy="3632835"/>
            <a:chOff x="11308861" y="1925354"/>
            <a:chExt cx="308460" cy="4133342"/>
          </a:xfrm>
        </p:grpSpPr>
        <p:cxnSp>
          <p:nvCxnSpPr>
            <p:cNvPr id="287" name="连接符: 肘形 177"/>
            <p:cNvCxnSpPr/>
            <p:nvPr/>
          </p:nvCxnSpPr>
          <p:spPr>
            <a:xfrm rot="5400000">
              <a:off x="9404356" y="3851500"/>
              <a:ext cx="4133342" cy="281050"/>
            </a:xfrm>
            <a:prstGeom prst="bentConnector3">
              <a:avLst>
                <a:gd name="adj1" fmla="val 99846"/>
              </a:avLst>
            </a:prstGeom>
            <a:ln w="12700" cmpd="sng">
              <a:solidFill>
                <a:schemeClr val="accent1">
                  <a:shade val="50000"/>
                </a:schemeClr>
              </a:solidFill>
              <a:prstDash val="sysDot"/>
              <a:tailEnd type="triangle"/>
            </a:ln>
          </p:spPr>
          <p:style>
            <a:lnRef idx="1">
              <a:srgbClr val="0048BF"/>
            </a:lnRef>
            <a:fillRef idx="0">
              <a:srgbClr val="0048BF"/>
            </a:fillRef>
            <a:effectRef idx="0">
              <a:srgbClr val="0048BF"/>
            </a:effectRef>
            <a:fontRef idx="minor">
              <a:sysClr val="windowText" lastClr="000000"/>
            </a:fontRef>
          </p:style>
        </p:cxnSp>
        <p:cxnSp>
          <p:nvCxnSpPr>
            <p:cNvPr id="288" name="直接连接符 287"/>
            <p:cNvCxnSpPr/>
            <p:nvPr/>
          </p:nvCxnSpPr>
          <p:spPr>
            <a:xfrm>
              <a:off x="11308861" y="1927670"/>
              <a:ext cx="308460" cy="0"/>
            </a:xfrm>
            <a:prstGeom prst="line">
              <a:avLst/>
            </a:prstGeom>
            <a:ln w="12700" cmpd="sng">
              <a:solidFill>
                <a:schemeClr val="accent1">
                  <a:shade val="50000"/>
                </a:schemeClr>
              </a:solidFill>
              <a:prstDash val="sysDot"/>
            </a:ln>
          </p:spPr>
          <p:style>
            <a:lnRef idx="1">
              <a:srgbClr val="0048BF"/>
            </a:lnRef>
            <a:fillRef idx="0">
              <a:srgbClr val="0048BF"/>
            </a:fillRef>
            <a:effectRef idx="0">
              <a:srgbClr val="0048BF"/>
            </a:effectRef>
            <a:fontRef idx="minor">
              <a:sysClr val="windowText" lastClr="000000"/>
            </a:fontRef>
          </p:style>
        </p:cxnSp>
      </p:grpSp>
      <p:sp>
        <p:nvSpPr>
          <p:cNvPr id="54" name="圆角矩形 8"/>
          <p:cNvSpPr/>
          <p:nvPr/>
        </p:nvSpPr>
        <p:spPr>
          <a:xfrm>
            <a:off x="981710" y="5194935"/>
            <a:ext cx="1717675" cy="509905"/>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232" name="圆角矩形 8"/>
          <p:cNvSpPr/>
          <p:nvPr/>
        </p:nvSpPr>
        <p:spPr>
          <a:xfrm>
            <a:off x="3367405" y="5194935"/>
            <a:ext cx="1717675" cy="511175"/>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55" name="圆角矩形 8"/>
          <p:cNvSpPr/>
          <p:nvPr/>
        </p:nvSpPr>
        <p:spPr>
          <a:xfrm>
            <a:off x="5885180" y="5194935"/>
            <a:ext cx="1717675" cy="511175"/>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56" name="圆角矩形 8"/>
          <p:cNvSpPr/>
          <p:nvPr/>
        </p:nvSpPr>
        <p:spPr>
          <a:xfrm>
            <a:off x="2506980" y="3150235"/>
            <a:ext cx="1678940" cy="822960"/>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57" name="圆角矩形 8"/>
          <p:cNvSpPr/>
          <p:nvPr/>
        </p:nvSpPr>
        <p:spPr>
          <a:xfrm>
            <a:off x="2506980" y="4167505"/>
            <a:ext cx="1678940" cy="822960"/>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223" name="圆角矩形 8"/>
          <p:cNvSpPr/>
          <p:nvPr/>
        </p:nvSpPr>
        <p:spPr>
          <a:xfrm>
            <a:off x="6134100" y="3150235"/>
            <a:ext cx="1678940" cy="822960"/>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58" name="圆角矩形 8"/>
          <p:cNvSpPr/>
          <p:nvPr/>
        </p:nvSpPr>
        <p:spPr>
          <a:xfrm>
            <a:off x="6134100" y="4167505"/>
            <a:ext cx="1678940" cy="822960"/>
          </a:xfrm>
          <a:prstGeom prst="roundRect">
            <a:avLst>
              <a:gd name="adj" fmla="val 2689"/>
            </a:avLst>
          </a:prstGeom>
          <a:solidFill>
            <a:sysClr val="window" lastClr="FFFFFF"/>
          </a:solidFill>
          <a:ln>
            <a:noFill/>
          </a:ln>
          <a:effectLst>
            <a:outerShdw blurRad="520700" dist="254000" dir="5400000" algn="ctr" rotWithShape="0">
              <a:srgbClr val="0048BF">
                <a:alpha val="10000"/>
              </a:srgbClr>
            </a:outerShdw>
          </a:effectLst>
        </p:spPr>
        <p:style>
          <a:lnRef idx="2">
            <a:srgbClr val="0048BF">
              <a:shade val="15000"/>
            </a:srgbClr>
          </a:lnRef>
          <a:fillRef idx="1">
            <a:srgbClr val="0048BF"/>
          </a:fillRef>
          <a:effectRef idx="0">
            <a:srgbClr val="0048BF"/>
          </a:effectRef>
          <a:fontRef idx="minor">
            <a:sysClr val="window" lastClr="FFFFFF"/>
          </a:fontRef>
        </p:style>
        <p:txBody>
          <a:bodyPr rtlCol="0" anchor="ctr"/>
          <a:lstStyle/>
          <a:p>
            <a:pPr algn="ctr"/>
            <a:endParaRPr kumimoji="1" lang="zh-CN" altLang="en-US" sz="1400">
              <a:solidFill>
                <a:sysClr val="window" lastClr="FFFFFF"/>
              </a:solidFill>
              <a:latin typeface="Arial" panose="020B0604020202020204" pitchFamily="34" charset="0"/>
              <a:ea typeface="OPPOSans R" charset="0"/>
            </a:endParaRPr>
          </a:p>
        </p:txBody>
      </p:sp>
      <p:sp>
        <p:nvSpPr>
          <p:cNvPr id="59" name="圆角矩形 59"/>
          <p:cNvSpPr/>
          <p:nvPr>
            <p:custDataLst>
              <p:tags r:id="rId1"/>
            </p:custDataLst>
          </p:nvPr>
        </p:nvSpPr>
        <p:spPr>
          <a:xfrm>
            <a:off x="4404360" y="3136265"/>
            <a:ext cx="1607820" cy="1852930"/>
          </a:xfrm>
          <a:prstGeom prst="roundRect">
            <a:avLst>
              <a:gd name="adj" fmla="val 2928"/>
            </a:avLst>
          </a:prstGeom>
          <a:solidFill>
            <a:sysClr val="window" lastClr="FFFFFF"/>
          </a:solidFill>
          <a:ln w="8318">
            <a:solidFill>
              <a:srgbClr val="171616">
                <a:lumMod val="75000"/>
                <a:alpha val="30000"/>
              </a:srgbClr>
            </a:solidFill>
            <a:prstDash val="dash"/>
          </a:ln>
          <a:effectLst>
            <a:outerShdw blurRad="499110" dist="249555" dir="5400000" sx="90000" sy="90000" algn="ctr" rotWithShape="0">
              <a:srgbClr val="171616">
                <a:lumMod val="75000"/>
                <a:alpha val="9735"/>
              </a:srgbClr>
            </a:outerShdw>
          </a:effectLst>
        </p:spPr>
        <p:style>
          <a:lnRef idx="2">
            <a:srgbClr val="0048BF">
              <a:shade val="15000"/>
            </a:srgbClr>
          </a:lnRef>
          <a:fillRef idx="1">
            <a:srgbClr val="0048BF"/>
          </a:fillRef>
          <a:effectRef idx="0">
            <a:srgbClr val="0048BF"/>
          </a:effectRef>
          <a:fontRef idx="minor">
            <a:sysClr val="window" lastClr="FFFFFF"/>
          </a:fontRef>
        </p:style>
        <p:txBody>
          <a:bodyPr lIns="119786" tIns="59893" rIns="119786" bIns="59893" rtlCol="0" anchor="ctr"/>
          <a:lstStyle/>
          <a:p>
            <a:pPr algn="ctr"/>
            <a:endParaRPr kumimoji="1" lang="zh-CN" altLang="en-US">
              <a:solidFill>
                <a:sysClr val="window" lastClr="FFFFFF"/>
              </a:solidFill>
              <a:latin typeface="Arial" panose="020B0604020202020204" pitchFamily="34" charset="0"/>
              <a:ea typeface="OPPOSans R" charset="0"/>
            </a:endParaRPr>
          </a:p>
        </p:txBody>
      </p:sp>
      <p:sp>
        <p:nvSpPr>
          <p:cNvPr id="218" name="圆角矩形 59"/>
          <p:cNvSpPr/>
          <p:nvPr>
            <p:custDataLst>
              <p:tags r:id="rId2"/>
            </p:custDataLst>
          </p:nvPr>
        </p:nvSpPr>
        <p:spPr>
          <a:xfrm>
            <a:off x="738505" y="3136265"/>
            <a:ext cx="1607820" cy="1852930"/>
          </a:xfrm>
          <a:prstGeom prst="roundRect">
            <a:avLst>
              <a:gd name="adj" fmla="val 2928"/>
            </a:avLst>
          </a:prstGeom>
          <a:solidFill>
            <a:sysClr val="window" lastClr="FFFFFF"/>
          </a:solidFill>
          <a:ln w="8318">
            <a:solidFill>
              <a:srgbClr val="171616">
                <a:lumMod val="75000"/>
                <a:alpha val="30000"/>
              </a:srgbClr>
            </a:solidFill>
            <a:prstDash val="dash"/>
          </a:ln>
          <a:effectLst>
            <a:outerShdw blurRad="499110" dist="249555" dir="5400000" sx="90000" sy="90000" algn="ctr" rotWithShape="0">
              <a:srgbClr val="171616">
                <a:lumMod val="75000"/>
                <a:alpha val="9735"/>
              </a:srgbClr>
            </a:outerShdw>
          </a:effectLst>
        </p:spPr>
        <p:style>
          <a:lnRef idx="2">
            <a:srgbClr val="0048BF">
              <a:shade val="15000"/>
            </a:srgbClr>
          </a:lnRef>
          <a:fillRef idx="1">
            <a:srgbClr val="0048BF"/>
          </a:fillRef>
          <a:effectRef idx="0">
            <a:srgbClr val="0048BF"/>
          </a:effectRef>
          <a:fontRef idx="minor">
            <a:sysClr val="window" lastClr="FFFFFF"/>
          </a:fontRef>
        </p:style>
        <p:txBody>
          <a:bodyPr lIns="119786" tIns="59893" rIns="119786" bIns="59893" rtlCol="0" anchor="ctr"/>
          <a:lstStyle/>
          <a:p>
            <a:pPr algn="ctr"/>
            <a:endParaRPr kumimoji="1" lang="zh-CN" altLang="en-US">
              <a:solidFill>
                <a:sysClr val="window" lastClr="FFFFFF"/>
              </a:solidFill>
              <a:latin typeface="Arial" panose="020B0604020202020204" pitchFamily="34" charset="0"/>
              <a:ea typeface="OPPOSans R" charset="0"/>
            </a:endParaRPr>
          </a:p>
        </p:txBody>
      </p:sp>
      <p:sp>
        <p:nvSpPr>
          <p:cNvPr id="63" name="Freeform 2389"/>
          <p:cNvSpPr/>
          <p:nvPr/>
        </p:nvSpPr>
        <p:spPr>
          <a:xfrm>
            <a:off x="837565" y="2343785"/>
            <a:ext cx="1402715" cy="432435"/>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solidFill>
              <a:srgbClr val="C2E0FD"/>
            </a:solidFill>
            <a:miter lim="101600"/>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64" name="Freeform 2390"/>
          <p:cNvSpPr/>
          <p:nvPr/>
        </p:nvSpPr>
        <p:spPr>
          <a:xfrm>
            <a:off x="834390" y="2431415"/>
            <a:ext cx="1314450" cy="349250"/>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rgbClr val="0B85CF"/>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77" name="Freeform 2409"/>
          <p:cNvSpPr/>
          <p:nvPr/>
        </p:nvSpPr>
        <p:spPr>
          <a:xfrm>
            <a:off x="922020" y="5873750"/>
            <a:ext cx="5800090" cy="432435"/>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solidFill>
              <a:srgbClr val="C8DAF5"/>
            </a:solidFill>
            <a:miter lim="101600"/>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78" name="Freeform 2410"/>
          <p:cNvSpPr/>
          <p:nvPr/>
        </p:nvSpPr>
        <p:spPr>
          <a:xfrm>
            <a:off x="920115" y="5960110"/>
            <a:ext cx="5721985" cy="349250"/>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rgbClr val="0B85CF"/>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79" name="Freeform 2447"/>
          <p:cNvSpPr/>
          <p:nvPr/>
        </p:nvSpPr>
        <p:spPr>
          <a:xfrm>
            <a:off x="6272530" y="2336800"/>
            <a:ext cx="1402715" cy="432435"/>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solidFill>
              <a:srgbClr val="C2E0FD"/>
            </a:solidFill>
            <a:miter lim="101600"/>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sz="1400">
              <a:latin typeface="Arial" panose="020B0604020202020204" pitchFamily="34" charset="0"/>
              <a:ea typeface="OPPOSans R" charset="0"/>
              <a:sym typeface="+mn-ea"/>
            </a:endParaRPr>
          </a:p>
        </p:txBody>
      </p:sp>
      <p:sp>
        <p:nvSpPr>
          <p:cNvPr id="80" name="Freeform 2448"/>
          <p:cNvSpPr/>
          <p:nvPr/>
        </p:nvSpPr>
        <p:spPr>
          <a:xfrm>
            <a:off x="6269355" y="2424430"/>
            <a:ext cx="1314450" cy="349250"/>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rgbClr val="0B85CF"/>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sz="1400">
              <a:latin typeface="Arial" panose="020B0604020202020204" pitchFamily="34" charset="0"/>
              <a:ea typeface="OPPOSans R" charset="0"/>
              <a:sym typeface="+mn-ea"/>
            </a:endParaRPr>
          </a:p>
        </p:txBody>
      </p:sp>
      <p:sp>
        <p:nvSpPr>
          <p:cNvPr id="81" name="Freeform 2453"/>
          <p:cNvSpPr/>
          <p:nvPr/>
        </p:nvSpPr>
        <p:spPr>
          <a:xfrm>
            <a:off x="6134100" y="4026535"/>
            <a:ext cx="1678305" cy="925830"/>
          </a:xfrm>
          <a:custGeom>
            <a:avLst/>
            <a:gdLst/>
            <a:ahLst/>
            <a:cxnLst/>
            <a:rect l="0" t="0" r="0" b="0"/>
            <a:pathLst>
              <a:path w="1973580" h="1127760">
                <a:moveTo>
                  <a:pt x="0" y="1127760"/>
                </a:moveTo>
                <a:lnTo>
                  <a:pt x="1973580" y="1127760"/>
                </a:lnTo>
                <a:lnTo>
                  <a:pt x="1973580" y="0"/>
                </a:lnTo>
                <a:lnTo>
                  <a:pt x="0" y="0"/>
                </a:lnTo>
                <a:lnTo>
                  <a:pt x="0" y="1127760"/>
                </a:lnTo>
                <a:close/>
              </a:path>
            </a:pathLst>
          </a:custGeom>
          <a:solidFill>
            <a:srgbClr val="FFFFFF">
              <a:alpha val="100000"/>
            </a:srgbClr>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82" name="Freeform 2455"/>
          <p:cNvSpPr/>
          <p:nvPr/>
        </p:nvSpPr>
        <p:spPr>
          <a:xfrm>
            <a:off x="6130925" y="3045460"/>
            <a:ext cx="1681480" cy="232410"/>
          </a:xfrm>
          <a:custGeom>
            <a:avLst/>
            <a:gdLst/>
            <a:ahLst/>
            <a:cxnLst/>
            <a:rect l="0" t="0" r="0" b="0"/>
            <a:pathLst>
              <a:path w="1976627" h="283464">
                <a:moveTo>
                  <a:pt x="1929384" y="283464"/>
                </a:moveTo>
                <a:lnTo>
                  <a:pt x="47243" y="283464"/>
                </a:lnTo>
                <a:cubicBezTo>
                  <a:pt x="21209" y="283464"/>
                  <a:pt x="0" y="262256"/>
                  <a:pt x="0" y="236220"/>
                </a:cubicBezTo>
                <a:lnTo>
                  <a:pt x="0" y="0"/>
                </a:lnTo>
                <a:lnTo>
                  <a:pt x="1976627" y="0"/>
                </a:lnTo>
                <a:lnTo>
                  <a:pt x="1976627" y="236220"/>
                </a:lnTo>
                <a:cubicBezTo>
                  <a:pt x="1976627" y="262256"/>
                  <a:pt x="1955418" y="283464"/>
                  <a:pt x="1929384" y="283464"/>
                </a:cubicBezTo>
                <a:close/>
              </a:path>
            </a:pathLst>
          </a:custGeom>
          <a:solidFill>
            <a:srgbClr val="0563C1"/>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83" name="Freeform 2456"/>
          <p:cNvSpPr/>
          <p:nvPr/>
        </p:nvSpPr>
        <p:spPr>
          <a:xfrm>
            <a:off x="6219190" y="3351530"/>
            <a:ext cx="734695" cy="252730"/>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563C1">
              <a:lumMod val="20000"/>
              <a:lumOff val="80000"/>
              <a:alpha val="50195"/>
            </a:srgbClr>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86" name="Freeform 2457"/>
          <p:cNvSpPr/>
          <p:nvPr/>
        </p:nvSpPr>
        <p:spPr>
          <a:xfrm>
            <a:off x="6991350" y="3351530"/>
            <a:ext cx="734695" cy="252730"/>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563C1">
              <a:lumMod val="20000"/>
              <a:lumOff val="80000"/>
              <a:alpha val="50195"/>
            </a:srgbClr>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89" name="Freeform 2458"/>
          <p:cNvSpPr/>
          <p:nvPr/>
        </p:nvSpPr>
        <p:spPr>
          <a:xfrm>
            <a:off x="6219190" y="3636645"/>
            <a:ext cx="734695" cy="252730"/>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563C1">
              <a:lumMod val="20000"/>
              <a:lumOff val="80000"/>
              <a:alpha val="50195"/>
            </a:srgbClr>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90" name="Freeform 2459"/>
          <p:cNvSpPr/>
          <p:nvPr/>
        </p:nvSpPr>
        <p:spPr>
          <a:xfrm>
            <a:off x="6130925" y="4029075"/>
            <a:ext cx="1681480" cy="232410"/>
          </a:xfrm>
          <a:custGeom>
            <a:avLst/>
            <a:gdLst/>
            <a:ahLst/>
            <a:cxnLst/>
            <a:rect l="0" t="0" r="0" b="0"/>
            <a:pathLst>
              <a:path w="1976627" h="283465">
                <a:moveTo>
                  <a:pt x="1929384" y="283465"/>
                </a:moveTo>
                <a:lnTo>
                  <a:pt x="47243" y="283465"/>
                </a:lnTo>
                <a:cubicBezTo>
                  <a:pt x="21209" y="283465"/>
                  <a:pt x="0" y="262256"/>
                  <a:pt x="0" y="236220"/>
                </a:cubicBezTo>
                <a:lnTo>
                  <a:pt x="0" y="0"/>
                </a:lnTo>
                <a:lnTo>
                  <a:pt x="1976627" y="0"/>
                </a:lnTo>
                <a:lnTo>
                  <a:pt x="1976627" y="236220"/>
                </a:lnTo>
                <a:cubicBezTo>
                  <a:pt x="1976627" y="262256"/>
                  <a:pt x="1955418" y="283465"/>
                  <a:pt x="1929384" y="283465"/>
                </a:cubicBezTo>
                <a:close/>
              </a:path>
            </a:pathLst>
          </a:custGeom>
          <a:solidFill>
            <a:srgbClr val="0563C1"/>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114" name="Freeform 2465"/>
          <p:cNvSpPr/>
          <p:nvPr/>
        </p:nvSpPr>
        <p:spPr>
          <a:xfrm>
            <a:off x="6981825" y="3633470"/>
            <a:ext cx="734695" cy="252730"/>
          </a:xfrm>
          <a:custGeom>
            <a:avLst/>
            <a:gdLst/>
            <a:ahLst/>
            <a:cxnLst/>
            <a:rect l="0" t="0" r="0" b="0"/>
            <a:pathLst>
              <a:path w="864108" h="307848">
                <a:moveTo>
                  <a:pt x="0" y="307848"/>
                </a:moveTo>
                <a:lnTo>
                  <a:pt x="864108" y="307848"/>
                </a:lnTo>
                <a:lnTo>
                  <a:pt x="864108" y="0"/>
                </a:lnTo>
                <a:lnTo>
                  <a:pt x="0" y="0"/>
                </a:lnTo>
                <a:lnTo>
                  <a:pt x="0" y="307848"/>
                </a:lnTo>
                <a:close/>
              </a:path>
            </a:pathLst>
          </a:custGeom>
          <a:solidFill>
            <a:srgbClr val="0563C1">
              <a:lumMod val="20000"/>
              <a:lumOff val="80000"/>
              <a:alpha val="50195"/>
            </a:srgbClr>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116" name="Freeform 2470"/>
          <p:cNvSpPr/>
          <p:nvPr/>
        </p:nvSpPr>
        <p:spPr>
          <a:xfrm>
            <a:off x="2700020" y="2336800"/>
            <a:ext cx="1402715" cy="432435"/>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solidFill>
              <a:srgbClr val="C2E0FD"/>
            </a:solidFill>
            <a:miter lim="101600"/>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sz="1400">
              <a:latin typeface="Arial" panose="020B0604020202020204" pitchFamily="34" charset="0"/>
              <a:ea typeface="OPPOSans R" charset="0"/>
              <a:sym typeface="+mn-ea"/>
            </a:endParaRPr>
          </a:p>
        </p:txBody>
      </p:sp>
      <p:sp>
        <p:nvSpPr>
          <p:cNvPr id="117" name="Freeform 2471"/>
          <p:cNvSpPr/>
          <p:nvPr/>
        </p:nvSpPr>
        <p:spPr>
          <a:xfrm>
            <a:off x="2697480" y="2424430"/>
            <a:ext cx="1314450" cy="349250"/>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rgbClr val="0B85CF"/>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sz="1400">
              <a:latin typeface="Arial" panose="020B0604020202020204" pitchFamily="34" charset="0"/>
              <a:ea typeface="OPPOSans R" charset="0"/>
              <a:sym typeface="+mn-ea"/>
            </a:endParaRPr>
          </a:p>
        </p:txBody>
      </p:sp>
      <p:sp>
        <p:nvSpPr>
          <p:cNvPr id="118" name="Freeform 2472"/>
          <p:cNvSpPr/>
          <p:nvPr/>
        </p:nvSpPr>
        <p:spPr>
          <a:xfrm>
            <a:off x="2515870" y="3059430"/>
            <a:ext cx="1681480" cy="232410"/>
          </a:xfrm>
          <a:custGeom>
            <a:avLst/>
            <a:gdLst/>
            <a:ahLst/>
            <a:cxnLst/>
            <a:rect l="0" t="0" r="0" b="0"/>
            <a:pathLst>
              <a:path w="1976629" h="283465">
                <a:moveTo>
                  <a:pt x="1929385" y="283465"/>
                </a:moveTo>
                <a:lnTo>
                  <a:pt x="47244" y="283465"/>
                </a:lnTo>
                <a:cubicBezTo>
                  <a:pt x="21209" y="283465"/>
                  <a:pt x="0" y="262255"/>
                  <a:pt x="0" y="236220"/>
                </a:cubicBezTo>
                <a:lnTo>
                  <a:pt x="0" y="0"/>
                </a:lnTo>
                <a:lnTo>
                  <a:pt x="1976629" y="0"/>
                </a:lnTo>
                <a:lnTo>
                  <a:pt x="1976629" y="236220"/>
                </a:lnTo>
                <a:cubicBezTo>
                  <a:pt x="1976629" y="262255"/>
                  <a:pt x="1955419" y="283465"/>
                  <a:pt x="1929385" y="283465"/>
                </a:cubicBezTo>
                <a:close/>
              </a:path>
            </a:pathLst>
          </a:custGeom>
          <a:solidFill>
            <a:srgbClr val="0563C1"/>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123" name="Freeform 2480"/>
          <p:cNvSpPr/>
          <p:nvPr/>
        </p:nvSpPr>
        <p:spPr>
          <a:xfrm>
            <a:off x="2507615" y="4036060"/>
            <a:ext cx="1681480" cy="232410"/>
          </a:xfrm>
          <a:custGeom>
            <a:avLst/>
            <a:gdLst/>
            <a:ahLst/>
            <a:cxnLst/>
            <a:rect l="0" t="0" r="0" b="0"/>
            <a:pathLst>
              <a:path w="1976629" h="283465">
                <a:moveTo>
                  <a:pt x="1929385" y="283465"/>
                </a:moveTo>
                <a:lnTo>
                  <a:pt x="47244" y="283465"/>
                </a:lnTo>
                <a:cubicBezTo>
                  <a:pt x="21209" y="283465"/>
                  <a:pt x="0" y="262256"/>
                  <a:pt x="0" y="236221"/>
                </a:cubicBezTo>
                <a:lnTo>
                  <a:pt x="0" y="0"/>
                </a:lnTo>
                <a:lnTo>
                  <a:pt x="1976629" y="0"/>
                </a:lnTo>
                <a:lnTo>
                  <a:pt x="1976629" y="236221"/>
                </a:lnTo>
                <a:cubicBezTo>
                  <a:pt x="1976629" y="262256"/>
                  <a:pt x="1955419" y="283465"/>
                  <a:pt x="1929385" y="283465"/>
                </a:cubicBezTo>
                <a:close/>
              </a:path>
            </a:pathLst>
          </a:custGeom>
          <a:solidFill>
            <a:schemeClr val="bg1">
              <a:lumMod val="75000"/>
            </a:schemeClr>
          </a:solid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125" name="Freeform 2482"/>
          <p:cNvSpPr/>
          <p:nvPr/>
        </p:nvSpPr>
        <p:spPr>
          <a:xfrm>
            <a:off x="4527550" y="2336800"/>
            <a:ext cx="1402715" cy="432435"/>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solidFill>
              <a:srgbClr val="C2E0FD"/>
            </a:solidFill>
            <a:miter lim="101600"/>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sz="1400">
              <a:latin typeface="Arial" panose="020B0604020202020204" pitchFamily="34" charset="0"/>
              <a:ea typeface="OPPOSans R" charset="0"/>
              <a:sym typeface="+mn-ea"/>
            </a:endParaRPr>
          </a:p>
        </p:txBody>
      </p:sp>
      <p:sp>
        <p:nvSpPr>
          <p:cNvPr id="126" name="Freeform 2483"/>
          <p:cNvSpPr/>
          <p:nvPr/>
        </p:nvSpPr>
        <p:spPr>
          <a:xfrm>
            <a:off x="4525645" y="2424430"/>
            <a:ext cx="1314450" cy="349250"/>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rgbClr val="0B85CF"/>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sz="1400">
              <a:latin typeface="Arial" panose="020B0604020202020204" pitchFamily="34" charset="0"/>
              <a:ea typeface="OPPOSans R" charset="0"/>
              <a:sym typeface="+mn-ea"/>
            </a:endParaRPr>
          </a:p>
        </p:txBody>
      </p:sp>
      <p:sp>
        <p:nvSpPr>
          <p:cNvPr id="130" name="Freeform 2490"/>
          <p:cNvSpPr/>
          <p:nvPr/>
        </p:nvSpPr>
        <p:spPr>
          <a:xfrm>
            <a:off x="4467860" y="4076700"/>
            <a:ext cx="1478280" cy="252730"/>
          </a:xfrm>
          <a:custGeom>
            <a:avLst/>
            <a:gdLst/>
            <a:ahLst/>
            <a:cxnLst/>
            <a:rect l="0" t="0" r="0" b="0"/>
            <a:pathLst>
              <a:path w="1738884" h="307848">
                <a:moveTo>
                  <a:pt x="0" y="307848"/>
                </a:moveTo>
                <a:lnTo>
                  <a:pt x="1738884" y="307848"/>
                </a:lnTo>
                <a:lnTo>
                  <a:pt x="1738884" y="0"/>
                </a:lnTo>
                <a:lnTo>
                  <a:pt x="0" y="0"/>
                </a:lnTo>
                <a:lnTo>
                  <a:pt x="0" y="307848"/>
                </a:lnTo>
                <a:close/>
              </a:path>
            </a:pathLst>
          </a:custGeom>
          <a:no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131" name="Freeform 2491"/>
          <p:cNvSpPr/>
          <p:nvPr/>
        </p:nvSpPr>
        <p:spPr>
          <a:xfrm>
            <a:off x="4454525" y="3467100"/>
            <a:ext cx="1478280" cy="252730"/>
          </a:xfrm>
          <a:custGeom>
            <a:avLst/>
            <a:gdLst/>
            <a:ahLst/>
            <a:cxnLst/>
            <a:rect l="0" t="0" r="0" b="0"/>
            <a:pathLst>
              <a:path w="1738884" h="307848">
                <a:moveTo>
                  <a:pt x="0" y="307848"/>
                </a:moveTo>
                <a:lnTo>
                  <a:pt x="1738884" y="307848"/>
                </a:lnTo>
                <a:lnTo>
                  <a:pt x="1738884" y="0"/>
                </a:lnTo>
                <a:lnTo>
                  <a:pt x="0" y="0"/>
                </a:lnTo>
                <a:lnTo>
                  <a:pt x="0" y="307848"/>
                </a:lnTo>
                <a:close/>
              </a:path>
            </a:pathLst>
          </a:custGeom>
          <a:noFill/>
          <a:ln w="3047">
            <a:noFill/>
          </a:ln>
        </p:spPr>
        <p:style>
          <a:lnRef idx="2">
            <a:srgbClr val="0048BF">
              <a:shade val="50000"/>
            </a:srgbClr>
          </a:lnRef>
          <a:fillRef idx="1">
            <a:srgbClr val="0048BF"/>
          </a:fillRef>
          <a:effectRef idx="0">
            <a:srgbClr val="0048BF"/>
          </a:effectRef>
          <a:fontRef idx="minor">
            <a:sysClr val="window" lastClr="FFFFFF"/>
          </a:fontRef>
        </p:style>
        <p:txBody>
          <a:bodyPr/>
          <a:lstStyle/>
          <a:p>
            <a:endParaRPr lang="zh-CN" altLang="en-US" sz="1400">
              <a:solidFill>
                <a:sysClr val="window" lastClr="FFFFFF"/>
              </a:solidFill>
              <a:latin typeface="Arial" panose="020B0604020202020204" pitchFamily="34" charset="0"/>
              <a:ea typeface="OPPOSans R" charset="0"/>
            </a:endParaRPr>
          </a:p>
        </p:txBody>
      </p:sp>
      <p:sp>
        <p:nvSpPr>
          <p:cNvPr id="134" name="Rectangle 2497"/>
          <p:cNvSpPr/>
          <p:nvPr/>
        </p:nvSpPr>
        <p:spPr>
          <a:xfrm>
            <a:off x="922020" y="2457450"/>
            <a:ext cx="1170940" cy="287655"/>
          </a:xfrm>
          <a:prstGeom prst="rect">
            <a:avLst/>
          </a:prstGeom>
        </p:spPr>
        <p:txBody>
          <a:bodyPr wrap="square" lIns="0" tIns="0" rIns="0" bIns="0" anchor="ctr" anchorCtr="0">
            <a:noAutofit/>
          </a:bodyPr>
          <a:lstStyle/>
          <a:p>
            <a:pPr marL="0" algn="ctr"/>
            <a:r>
              <a:rPr lang="zh-CN" altLang="en-US" sz="1200" b="1" i="0" spc="0" baseline="0" dirty="0">
                <a:solidFill>
                  <a:srgbClr val="FFFFFF"/>
                </a:solidFill>
                <a:latin typeface="OPPOSans H" panose="00020600040101010101" pitchFamily="18" charset="-122"/>
              </a:rPr>
              <a:t>任务创建</a:t>
            </a:r>
            <a:endParaRPr lang="zh-CN" altLang="en-US" sz="1200" b="1" i="0" spc="0" baseline="0" dirty="0">
              <a:solidFill>
                <a:srgbClr val="FFFFFF"/>
              </a:solidFill>
              <a:latin typeface="OPPOSans H" panose="00020600040101010101" pitchFamily="18" charset="-122"/>
            </a:endParaRPr>
          </a:p>
        </p:txBody>
      </p:sp>
      <p:sp>
        <p:nvSpPr>
          <p:cNvPr id="141" name="Rectangle 2504"/>
          <p:cNvSpPr/>
          <p:nvPr/>
        </p:nvSpPr>
        <p:spPr>
          <a:xfrm>
            <a:off x="982980" y="5306060"/>
            <a:ext cx="1472565" cy="359410"/>
          </a:xfrm>
          <a:prstGeom prst="rect">
            <a:avLst/>
          </a:prstGeom>
        </p:spPr>
        <p:txBody>
          <a:bodyPr wrap="square" lIns="0" tIns="0" rIns="0" bIns="0">
            <a:spAutoFit/>
          </a:bodyPr>
          <a:lstStyle/>
          <a:p>
            <a:pPr marL="228600"/>
            <a:r>
              <a:rPr lang="en-US" sz="900" b="0" i="0" spc="0" baseline="0" dirty="0">
                <a:latin typeface="OPPOSans H" panose="00020600040101010101" pitchFamily="18" charset="-122"/>
              </a:rPr>
              <a:t>全链路</a:t>
            </a:r>
            <a:r>
              <a:rPr lang="zh-CN" altLang="en-US" sz="900" b="0" i="0" spc="0" baseline="0" dirty="0">
                <a:latin typeface="OPPOSans H" panose="00020600040101010101" pitchFamily="18" charset="-122"/>
              </a:rPr>
              <a:t>调度</a:t>
            </a:r>
            <a:r>
              <a:rPr lang="en-US" sz="900" b="0" i="0" spc="0" baseline="0" dirty="0">
                <a:latin typeface="OPPOSans H" panose="00020600040101010101" pitchFamily="18" charset="-122"/>
              </a:rPr>
              <a:t>打通</a:t>
            </a:r>
            <a:endParaRPr lang="en-US" sz="900" b="0" i="0" spc="0" baseline="0" dirty="0">
              <a:latin typeface="OPPOSans H" panose="00020600040101010101" pitchFamily="18" charset="-122"/>
            </a:endParaRPr>
          </a:p>
          <a:p>
            <a:pPr marL="0">
              <a:lnSpc>
                <a:spcPts val="1725"/>
              </a:lnSpc>
            </a:pPr>
            <a:r>
              <a:rPr lang="en-US" sz="900" b="0" i="0" spc="0" baseline="0" dirty="0">
                <a:latin typeface="OPPOSans H" panose="00020600040101010101" pitchFamily="18" charset="-122"/>
              </a:rPr>
              <a:t>驱动</a:t>
            </a:r>
            <a:r>
              <a:rPr lang="zh-CN" altLang="en-US" sz="900" b="0" i="0" spc="0" baseline="0" dirty="0">
                <a:latin typeface="OPPOSans H" panose="00020600040101010101" pitchFamily="18" charset="-122"/>
              </a:rPr>
              <a:t>运营成效</a:t>
            </a:r>
            <a:r>
              <a:rPr lang="en-US" sz="900" b="0" i="0" spc="0" baseline="0" dirty="0">
                <a:latin typeface="OPPOSans H" panose="00020600040101010101" pitchFamily="18" charset="-122"/>
              </a:rPr>
              <a:t>持续优化</a:t>
            </a:r>
            <a:endParaRPr lang="en-US" sz="900" b="0" i="0" spc="0" baseline="0" dirty="0">
              <a:latin typeface="OPPOSans H" panose="00020600040101010101" pitchFamily="18" charset="-122"/>
            </a:endParaRPr>
          </a:p>
        </p:txBody>
      </p:sp>
      <p:sp>
        <p:nvSpPr>
          <p:cNvPr id="142" name="Rectangle 2505"/>
          <p:cNvSpPr/>
          <p:nvPr/>
        </p:nvSpPr>
        <p:spPr>
          <a:xfrm>
            <a:off x="3509645" y="5316855"/>
            <a:ext cx="1476375" cy="359410"/>
          </a:xfrm>
          <a:prstGeom prst="rect">
            <a:avLst/>
          </a:prstGeom>
        </p:spPr>
        <p:txBody>
          <a:bodyPr wrap="square" lIns="0" tIns="0" rIns="0" bIns="0">
            <a:spAutoFit/>
          </a:bodyPr>
          <a:lstStyle/>
          <a:p>
            <a:pPr marL="0" algn="ctr"/>
            <a:r>
              <a:rPr lang="en-US" sz="900" b="0" i="0" spc="0" baseline="0" dirty="0">
                <a:latin typeface="OPPOSans H" panose="00020600040101010101" pitchFamily="18" charset="-122"/>
              </a:rPr>
              <a:t>全方位智能引擎</a:t>
            </a:r>
            <a:endParaRPr lang="en-US" sz="900" b="0" i="0" spc="0" baseline="0" dirty="0">
              <a:latin typeface="OPPOSans H" panose="00020600040101010101" pitchFamily="18" charset="-122"/>
            </a:endParaRPr>
          </a:p>
          <a:p>
            <a:pPr marL="76200" algn="ctr">
              <a:lnSpc>
                <a:spcPts val="1725"/>
              </a:lnSpc>
            </a:pPr>
            <a:r>
              <a:rPr lang="en-US" sz="900" b="0" i="0" spc="0" baseline="0" dirty="0">
                <a:latin typeface="OPPOSans H" panose="00020600040101010101" pitchFamily="18" charset="-122"/>
              </a:rPr>
              <a:t>触达海量用户</a:t>
            </a:r>
            <a:endParaRPr lang="en-US" sz="900" b="0" i="0" spc="0" baseline="0" dirty="0">
              <a:latin typeface="OPPOSans H" panose="00020600040101010101" pitchFamily="18" charset="-122"/>
            </a:endParaRPr>
          </a:p>
        </p:txBody>
      </p:sp>
      <p:sp>
        <p:nvSpPr>
          <p:cNvPr id="143" name="Rectangle 2506"/>
          <p:cNvSpPr/>
          <p:nvPr/>
        </p:nvSpPr>
        <p:spPr>
          <a:xfrm>
            <a:off x="5840730" y="5316855"/>
            <a:ext cx="1685925" cy="359410"/>
          </a:xfrm>
          <a:prstGeom prst="rect">
            <a:avLst/>
          </a:prstGeom>
        </p:spPr>
        <p:txBody>
          <a:bodyPr wrap="square" lIns="0" tIns="0" rIns="0" bIns="0">
            <a:spAutoFit/>
          </a:bodyPr>
          <a:lstStyle/>
          <a:p>
            <a:pPr marL="228600" algn="l"/>
            <a:r>
              <a:rPr lang="en-US" sz="900" b="0" i="0" spc="0" baseline="0" dirty="0">
                <a:latin typeface="OPPOSans H" panose="00020600040101010101" pitchFamily="18" charset="-122"/>
              </a:rPr>
              <a:t>全环节优化赋能</a:t>
            </a:r>
            <a:endParaRPr lang="en-US" sz="900" b="0" i="0" spc="0" baseline="0" dirty="0">
              <a:latin typeface="OPPOSans H" panose="00020600040101010101" pitchFamily="18" charset="-122"/>
            </a:endParaRPr>
          </a:p>
          <a:p>
            <a:pPr marL="0" algn="ctr">
              <a:lnSpc>
                <a:spcPts val="1725"/>
              </a:lnSpc>
            </a:pPr>
            <a:r>
              <a:rPr lang="en-US" sz="900" b="0" i="0" spc="0" baseline="0" dirty="0">
                <a:latin typeface="OPPOSans H" panose="00020600040101010101" pitchFamily="18" charset="-122"/>
              </a:rPr>
              <a:t>提高诊断优化决策效率</a:t>
            </a:r>
            <a:endParaRPr lang="en-US" sz="900" b="0" i="0" spc="0" baseline="0" dirty="0">
              <a:latin typeface="OPPOSans H" panose="00020600040101010101" pitchFamily="18" charset="-122"/>
            </a:endParaRPr>
          </a:p>
        </p:txBody>
      </p:sp>
      <p:sp>
        <p:nvSpPr>
          <p:cNvPr id="144" name="Rectangle 2507"/>
          <p:cNvSpPr/>
          <p:nvPr/>
        </p:nvSpPr>
        <p:spPr>
          <a:xfrm>
            <a:off x="1529080" y="6020435"/>
            <a:ext cx="4457065" cy="184150"/>
          </a:xfrm>
          <a:prstGeom prst="rect">
            <a:avLst/>
          </a:prstGeom>
        </p:spPr>
        <p:txBody>
          <a:bodyPr wrap="square" lIns="0" tIns="0" rIns="0" bIns="0">
            <a:spAutoFit/>
          </a:bodyPr>
          <a:lstStyle/>
          <a:p>
            <a:pPr marL="0" algn="ctr"/>
            <a:r>
              <a:rPr lang="en-US" sz="1200" b="1" i="0" spc="0" baseline="0" dirty="0">
                <a:solidFill>
                  <a:srgbClr val="FFFFFF"/>
                </a:solidFill>
                <a:latin typeface="微软雅黑" panose="020B0503020204020204" charset="-122"/>
                <a:ea typeface="微软雅黑" panose="020B0503020204020204" charset="-122"/>
                <a:cs typeface="微软雅黑" panose="020B0503020204020204" charset="-122"/>
              </a:rPr>
              <a:t>一站式</a:t>
            </a:r>
            <a:r>
              <a:rPr lang="zh-CN" altLang="en-US" sz="1200" b="1" i="0" spc="0" baseline="0" dirty="0">
                <a:solidFill>
                  <a:srgbClr val="FFFFFF"/>
                </a:solidFill>
                <a:latin typeface="微软雅黑" panose="020B0503020204020204" charset="-122"/>
                <a:ea typeface="微软雅黑" panose="020B0503020204020204" charset="-122"/>
                <a:cs typeface="微软雅黑" panose="020B0503020204020204" charset="-122"/>
              </a:rPr>
              <a:t>指挥调度</a:t>
            </a:r>
            <a:r>
              <a:rPr lang="en-US" sz="1200" b="1" i="0" spc="0" baseline="0" dirty="0">
                <a:solidFill>
                  <a:srgbClr val="FFFFFF"/>
                </a:solidFill>
                <a:latin typeface="微软雅黑" panose="020B0503020204020204" charset="-122"/>
                <a:ea typeface="微软雅黑" panose="020B0503020204020204" charset="-122"/>
                <a:cs typeface="微软雅黑" panose="020B0503020204020204" charset="-122"/>
              </a:rPr>
              <a:t>（</a:t>
            </a:r>
            <a:r>
              <a:rPr lang="zh-CN" altLang="en-US" sz="1200" b="1" i="0" spc="0" baseline="0" dirty="0">
                <a:solidFill>
                  <a:srgbClr val="FFFFFF"/>
                </a:solidFill>
                <a:latin typeface="微软雅黑" panose="020B0503020204020204" charset="-122"/>
                <a:ea typeface="微软雅黑" panose="020B0503020204020204" charset="-122"/>
                <a:cs typeface="微软雅黑" panose="020B0503020204020204" charset="-122"/>
              </a:rPr>
              <a:t>管理调度、生产调度</a:t>
            </a:r>
            <a:r>
              <a:rPr lang="en-US" sz="1200" b="1" i="0" spc="0" baseline="0"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200" b="1" i="0" spc="0" baseline="0" dirty="0">
                <a:solidFill>
                  <a:srgbClr val="FFFFFF"/>
                </a:solidFill>
                <a:latin typeface="微软雅黑" panose="020B0503020204020204" charset="-122"/>
                <a:ea typeface="微软雅黑" panose="020B0503020204020204" charset="-122"/>
                <a:cs typeface="微软雅黑" panose="020B0503020204020204" charset="-122"/>
              </a:rPr>
              <a:t>执行反馈</a:t>
            </a:r>
            <a:endParaRPr lang="zh-CN" altLang="en-US" sz="1200" b="1" i="0"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5" name="Rectangle 2508"/>
          <p:cNvSpPr/>
          <p:nvPr/>
        </p:nvSpPr>
        <p:spPr>
          <a:xfrm>
            <a:off x="6355715" y="2457450"/>
            <a:ext cx="1170940" cy="287655"/>
          </a:xfrm>
          <a:prstGeom prst="rect">
            <a:avLst/>
          </a:prstGeom>
        </p:spPr>
        <p:txBody>
          <a:bodyPr wrap="square" lIns="0" tIns="0" rIns="0" bIns="0" anchor="ctr" anchorCtr="0">
            <a:noAutofit/>
          </a:bodyPr>
          <a:lstStyle/>
          <a:p>
            <a:pPr marL="0" algn="ctr"/>
            <a:r>
              <a:rPr lang="zh-CN" altLang="en-US" sz="1200" b="1" i="0" spc="0" baseline="0" dirty="0">
                <a:solidFill>
                  <a:srgbClr val="FFFFFF"/>
                </a:solidFill>
                <a:latin typeface="OPPOSans H" panose="00020600040101010101" pitchFamily="18" charset="-122"/>
              </a:rPr>
              <a:t>执行反馈</a:t>
            </a:r>
            <a:endParaRPr lang="zh-CN" altLang="en-US" sz="1200" b="1" i="0" spc="0" baseline="0" dirty="0">
              <a:solidFill>
                <a:srgbClr val="FFFFFF"/>
              </a:solidFill>
              <a:latin typeface="OPPOSans H" panose="00020600040101010101" pitchFamily="18" charset="-122"/>
            </a:endParaRPr>
          </a:p>
        </p:txBody>
      </p:sp>
      <p:sp>
        <p:nvSpPr>
          <p:cNvPr id="146" name="Rectangle 2509"/>
          <p:cNvSpPr/>
          <p:nvPr/>
        </p:nvSpPr>
        <p:spPr>
          <a:xfrm>
            <a:off x="6328410" y="3070860"/>
            <a:ext cx="1396365" cy="221615"/>
          </a:xfrm>
          <a:prstGeom prst="rect">
            <a:avLst/>
          </a:prstGeom>
        </p:spPr>
        <p:txBody>
          <a:bodyPr wrap="none" lIns="0" tIns="0" rIns="0" bIns="0">
            <a:noAutofit/>
          </a:bodyPr>
          <a:lstStyle/>
          <a:p>
            <a:pPr marL="0" algn="ctr"/>
            <a:r>
              <a:rPr lang="zh-CN" altLang="en-US" sz="1000" b="0" i="0" spc="0" baseline="0" dirty="0">
                <a:solidFill>
                  <a:srgbClr val="FFFFFF"/>
                </a:solidFill>
                <a:latin typeface="OPPOSans H" panose="00020600040101010101" pitchFamily="18" charset="-122"/>
              </a:rPr>
              <a:t>执行结果反馈</a:t>
            </a:r>
            <a:endParaRPr lang="zh-CN" altLang="en-US" sz="1000" b="0" i="0" spc="0" baseline="0" dirty="0">
              <a:solidFill>
                <a:srgbClr val="FFFFFF"/>
              </a:solidFill>
              <a:latin typeface="OPPOSans H" panose="00020600040101010101" pitchFamily="18" charset="-122"/>
            </a:endParaRPr>
          </a:p>
        </p:txBody>
      </p:sp>
      <p:sp>
        <p:nvSpPr>
          <p:cNvPr id="248" name="Rectangle 2516"/>
          <p:cNvSpPr/>
          <p:nvPr/>
        </p:nvSpPr>
        <p:spPr>
          <a:xfrm>
            <a:off x="2772410" y="2457450"/>
            <a:ext cx="1170940" cy="287655"/>
          </a:xfrm>
          <a:prstGeom prst="rect">
            <a:avLst/>
          </a:prstGeom>
          <a:solidFill>
            <a:srgbClr val="0B85CF"/>
          </a:solidFill>
          <a:ln w="6095">
            <a:noFill/>
          </a:ln>
        </p:spPr>
        <p:style>
          <a:lnRef idx="2">
            <a:srgbClr val="0048BF">
              <a:shade val="50000"/>
            </a:srgbClr>
          </a:lnRef>
          <a:fillRef idx="1">
            <a:srgbClr val="0048BF"/>
          </a:fillRef>
          <a:effectRef idx="0">
            <a:srgbClr val="0048BF"/>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r>
              <a:rPr lang="zh-CN" altLang="en-US" sz="1200" b="1">
                <a:latin typeface="微软雅黑" panose="020B0503020204020204" charset="-122"/>
                <a:ea typeface="微软雅黑" panose="020B0503020204020204" charset="-122"/>
                <a:sym typeface="+mn-ea"/>
              </a:rPr>
              <a:t>任务派发</a:t>
            </a:r>
            <a:endParaRPr lang="zh-CN" altLang="en-US" sz="1200" b="1">
              <a:latin typeface="微软雅黑" panose="020B0503020204020204" charset="-122"/>
              <a:ea typeface="微软雅黑" panose="020B0503020204020204" charset="-122"/>
              <a:sym typeface="+mn-ea"/>
            </a:endParaRPr>
          </a:p>
        </p:txBody>
      </p:sp>
      <p:sp>
        <p:nvSpPr>
          <p:cNvPr id="251" name="Rectangle 2517"/>
          <p:cNvSpPr/>
          <p:nvPr/>
        </p:nvSpPr>
        <p:spPr>
          <a:xfrm>
            <a:off x="2606675" y="3084195"/>
            <a:ext cx="1478280" cy="267335"/>
          </a:xfrm>
          <a:prstGeom prst="rect">
            <a:avLst/>
          </a:prstGeom>
        </p:spPr>
        <p:txBody>
          <a:bodyPr wrap="none" lIns="0" tIns="0" rIns="0" bIns="0">
            <a:noAutofit/>
          </a:bodyPr>
          <a:lstStyle/>
          <a:p>
            <a:pPr marL="0" algn="ctr"/>
            <a:r>
              <a:rPr lang="zh-CN" altLang="en-US" sz="1000" b="0" i="0" spc="0" baseline="0" dirty="0">
                <a:solidFill>
                  <a:srgbClr val="FFFFFF"/>
                </a:solidFill>
                <a:latin typeface="OPPOSans H" panose="00020600040101010101" pitchFamily="18" charset="-122"/>
              </a:rPr>
              <a:t>管理任务派发</a:t>
            </a:r>
            <a:endParaRPr lang="zh-CN" altLang="en-US" sz="1000" b="0" i="0" spc="0" baseline="0" dirty="0">
              <a:solidFill>
                <a:srgbClr val="FFFFFF"/>
              </a:solidFill>
              <a:latin typeface="OPPOSans H" panose="00020600040101010101" pitchFamily="18" charset="-122"/>
            </a:endParaRPr>
          </a:p>
        </p:txBody>
      </p:sp>
      <p:sp>
        <p:nvSpPr>
          <p:cNvPr id="254" name="Rectangle 2520"/>
          <p:cNvSpPr/>
          <p:nvPr/>
        </p:nvSpPr>
        <p:spPr>
          <a:xfrm>
            <a:off x="2698115" y="4062095"/>
            <a:ext cx="1374775" cy="207010"/>
          </a:xfrm>
          <a:prstGeom prst="rect">
            <a:avLst/>
          </a:prstGeom>
        </p:spPr>
        <p:txBody>
          <a:bodyPr wrap="none" lIns="0" tIns="0" rIns="0" bIns="0">
            <a:noAutofit/>
          </a:bodyPr>
          <a:lstStyle/>
          <a:p>
            <a:pPr marL="0" algn="ctr"/>
            <a:r>
              <a:rPr lang="zh-CN" altLang="en-US" sz="1000" b="0" i="0" spc="0" baseline="0" dirty="0">
                <a:solidFill>
                  <a:srgbClr val="FFFFFF"/>
                </a:solidFill>
                <a:latin typeface="OPPOSans H" panose="00020600040101010101" pitchFamily="18" charset="-122"/>
              </a:rPr>
              <a:t>生产任务派发</a:t>
            </a:r>
            <a:endParaRPr lang="zh-CN" altLang="en-US" sz="1000" b="0" i="0" spc="0" baseline="0" dirty="0">
              <a:solidFill>
                <a:srgbClr val="FFFFFF"/>
              </a:solidFill>
              <a:latin typeface="OPPOSans H" panose="00020600040101010101" pitchFamily="18" charset="-122"/>
            </a:endParaRPr>
          </a:p>
        </p:txBody>
      </p:sp>
      <p:sp>
        <p:nvSpPr>
          <p:cNvPr id="256" name="Rectangle 2522"/>
          <p:cNvSpPr/>
          <p:nvPr/>
        </p:nvSpPr>
        <p:spPr>
          <a:xfrm>
            <a:off x="4641215" y="2457450"/>
            <a:ext cx="1170940" cy="287655"/>
          </a:xfrm>
          <a:prstGeom prst="rect">
            <a:avLst/>
          </a:prstGeom>
        </p:spPr>
        <p:txBody>
          <a:bodyPr wrap="square" lIns="0" tIns="0" rIns="0" bIns="0" anchor="ctr" anchorCtr="0">
            <a:noAutofit/>
          </a:bodyPr>
          <a:lstStyle/>
          <a:p>
            <a:pPr marL="0" algn="ctr"/>
            <a:r>
              <a:rPr lang="zh-CN" altLang="en-US" sz="1200" b="1" i="0" spc="0" baseline="0" dirty="0">
                <a:solidFill>
                  <a:srgbClr val="FFFFFF"/>
                </a:solidFill>
                <a:latin typeface="OPPOSans H" panose="00020600040101010101" pitchFamily="18" charset="-122"/>
              </a:rPr>
              <a:t>执行跟踪</a:t>
            </a:r>
            <a:endParaRPr lang="zh-CN" altLang="en-US" sz="1200" b="1" i="0" spc="0" baseline="0" dirty="0">
              <a:solidFill>
                <a:srgbClr val="FFFFFF"/>
              </a:solidFill>
              <a:latin typeface="OPPOSans H" panose="00020600040101010101" pitchFamily="18" charset="-122"/>
            </a:endParaRPr>
          </a:p>
        </p:txBody>
      </p:sp>
      <p:sp>
        <p:nvSpPr>
          <p:cNvPr id="268" name="Rectangle 2527"/>
          <p:cNvSpPr/>
          <p:nvPr/>
        </p:nvSpPr>
        <p:spPr>
          <a:xfrm>
            <a:off x="4549140" y="3511550"/>
            <a:ext cx="1253490" cy="212090"/>
          </a:xfrm>
          <a:prstGeom prst="rect">
            <a:avLst/>
          </a:prstGeom>
        </p:spPr>
        <p:txBody>
          <a:bodyPr wrap="none" lIns="0" tIns="0" rIns="0" bIns="0">
            <a:noAutofit/>
          </a:bodyPr>
          <a:lstStyle/>
          <a:p>
            <a:pPr marL="0" algn="ctr"/>
            <a:r>
              <a:rPr lang="zh-CN" altLang="en-US" sz="900" b="0" i="0" spc="0" baseline="0" dirty="0">
                <a:solidFill>
                  <a:srgbClr val="404040"/>
                </a:solidFill>
                <a:latin typeface="OPPOSans H" panose="00020600040101010101" pitchFamily="18" charset="-122"/>
              </a:rPr>
              <a:t>统一管理、统一调度</a:t>
            </a:r>
            <a:endParaRPr lang="zh-CN" altLang="en-US" sz="900" b="0" i="0" spc="0" baseline="0" dirty="0">
              <a:solidFill>
                <a:srgbClr val="404040"/>
              </a:solidFill>
              <a:latin typeface="OPPOSans H" panose="00020600040101010101" pitchFamily="18" charset="-122"/>
            </a:endParaRPr>
          </a:p>
        </p:txBody>
      </p:sp>
      <p:grpSp>
        <p:nvGrpSpPr>
          <p:cNvPr id="273" name="组合 272"/>
          <p:cNvGrpSpPr/>
          <p:nvPr/>
        </p:nvGrpSpPr>
        <p:grpSpPr>
          <a:xfrm rot="5400000" flipV="1">
            <a:off x="2176780" y="2339340"/>
            <a:ext cx="393700" cy="466090"/>
            <a:chOff x="9151401" y="4183641"/>
            <a:chExt cx="1392925" cy="787821"/>
          </a:xfrm>
        </p:grpSpPr>
        <p:sp>
          <p:nvSpPr>
            <p:cNvPr id="274" name="菱形 273"/>
            <p:cNvSpPr/>
            <p:nvPr/>
          </p:nvSpPr>
          <p:spPr>
            <a:xfrm rot="5400000" flipH="1">
              <a:off x="9523257" y="3811785"/>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a:solidFill>
                  <a:srgbClr val="FFFFFF"/>
                </a:solidFill>
                <a:latin typeface="OPPOSans R"/>
                <a:ea typeface="OPPOSans R"/>
              </a:endParaRPr>
            </a:p>
          </p:txBody>
        </p:sp>
        <p:sp>
          <p:nvSpPr>
            <p:cNvPr id="275" name="菱形 274"/>
            <p:cNvSpPr/>
            <p:nvPr/>
          </p:nvSpPr>
          <p:spPr>
            <a:xfrm rot="5400000" flipH="1">
              <a:off x="9523257" y="3950393"/>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grpSp>
      <p:grpSp>
        <p:nvGrpSpPr>
          <p:cNvPr id="276" name="组合 275"/>
          <p:cNvGrpSpPr/>
          <p:nvPr/>
        </p:nvGrpSpPr>
        <p:grpSpPr>
          <a:xfrm rot="5400000" flipV="1">
            <a:off x="4027170" y="2339340"/>
            <a:ext cx="393700" cy="466090"/>
            <a:chOff x="9151401" y="4183641"/>
            <a:chExt cx="1392925" cy="787821"/>
          </a:xfrm>
        </p:grpSpPr>
        <p:sp>
          <p:nvSpPr>
            <p:cNvPr id="277" name="菱形 276"/>
            <p:cNvSpPr/>
            <p:nvPr/>
          </p:nvSpPr>
          <p:spPr>
            <a:xfrm rot="5400000" flipH="1">
              <a:off x="9523257" y="3811785"/>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a:solidFill>
                  <a:srgbClr val="FFFFFF"/>
                </a:solidFill>
                <a:latin typeface="OPPOSans R"/>
                <a:ea typeface="OPPOSans R"/>
              </a:endParaRPr>
            </a:p>
          </p:txBody>
        </p:sp>
        <p:sp>
          <p:nvSpPr>
            <p:cNvPr id="278" name="菱形 277"/>
            <p:cNvSpPr/>
            <p:nvPr/>
          </p:nvSpPr>
          <p:spPr>
            <a:xfrm rot="5400000" flipH="1">
              <a:off x="9523257" y="3950393"/>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grpSp>
      <p:grpSp>
        <p:nvGrpSpPr>
          <p:cNvPr id="279" name="组合 278"/>
          <p:cNvGrpSpPr/>
          <p:nvPr/>
        </p:nvGrpSpPr>
        <p:grpSpPr>
          <a:xfrm rot="5400000" flipV="1">
            <a:off x="5839460" y="2339340"/>
            <a:ext cx="393700" cy="466090"/>
            <a:chOff x="9151401" y="4183641"/>
            <a:chExt cx="1392925" cy="787821"/>
          </a:xfrm>
        </p:grpSpPr>
        <p:sp>
          <p:nvSpPr>
            <p:cNvPr id="280" name="菱形 279"/>
            <p:cNvSpPr/>
            <p:nvPr/>
          </p:nvSpPr>
          <p:spPr>
            <a:xfrm rot="5400000" flipH="1">
              <a:off x="9523257" y="3811785"/>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a:solidFill>
                  <a:srgbClr val="FFFFFF"/>
                </a:solidFill>
                <a:latin typeface="OPPOSans R"/>
                <a:ea typeface="OPPOSans R"/>
              </a:endParaRPr>
            </a:p>
          </p:txBody>
        </p:sp>
        <p:sp>
          <p:nvSpPr>
            <p:cNvPr id="281" name="菱形 280"/>
            <p:cNvSpPr/>
            <p:nvPr/>
          </p:nvSpPr>
          <p:spPr>
            <a:xfrm rot="5400000" flipH="1">
              <a:off x="9523257" y="3950393"/>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grpSp>
      <p:grpSp>
        <p:nvGrpSpPr>
          <p:cNvPr id="289" name="组合 288"/>
          <p:cNvGrpSpPr/>
          <p:nvPr/>
        </p:nvGrpSpPr>
        <p:grpSpPr>
          <a:xfrm rot="10800000">
            <a:off x="355600" y="2552700"/>
            <a:ext cx="516255" cy="3583940"/>
            <a:chOff x="11308861" y="1925354"/>
            <a:chExt cx="308460" cy="4133342"/>
          </a:xfrm>
        </p:grpSpPr>
        <p:cxnSp>
          <p:nvCxnSpPr>
            <p:cNvPr id="290" name="连接符: 肘形 194"/>
            <p:cNvCxnSpPr/>
            <p:nvPr/>
          </p:nvCxnSpPr>
          <p:spPr>
            <a:xfrm rot="5400000">
              <a:off x="9404356" y="3851500"/>
              <a:ext cx="4133342" cy="281050"/>
            </a:xfrm>
            <a:prstGeom prst="bentConnector3">
              <a:avLst>
                <a:gd name="adj1" fmla="val 99846"/>
              </a:avLst>
            </a:prstGeom>
            <a:ln w="12700" cmpd="sng">
              <a:solidFill>
                <a:schemeClr val="accent1">
                  <a:shade val="50000"/>
                </a:schemeClr>
              </a:solidFill>
              <a:prstDash val="sysDot"/>
              <a:tailEnd type="triangle"/>
            </a:ln>
          </p:spPr>
          <p:style>
            <a:lnRef idx="1">
              <a:srgbClr val="0048BF"/>
            </a:lnRef>
            <a:fillRef idx="0">
              <a:srgbClr val="0048BF"/>
            </a:fillRef>
            <a:effectRef idx="0">
              <a:srgbClr val="0048BF"/>
            </a:effectRef>
            <a:fontRef idx="minor">
              <a:sysClr val="windowText" lastClr="000000"/>
            </a:fontRef>
          </p:style>
        </p:cxnSp>
        <p:cxnSp>
          <p:nvCxnSpPr>
            <p:cNvPr id="291" name="直接连接符 290"/>
            <p:cNvCxnSpPr/>
            <p:nvPr/>
          </p:nvCxnSpPr>
          <p:spPr>
            <a:xfrm>
              <a:off x="11308861" y="1927670"/>
              <a:ext cx="308460" cy="0"/>
            </a:xfrm>
            <a:prstGeom prst="line">
              <a:avLst/>
            </a:prstGeom>
            <a:ln w="12700" cmpd="sng">
              <a:solidFill>
                <a:schemeClr val="accent1">
                  <a:shade val="50000"/>
                </a:schemeClr>
              </a:solidFill>
              <a:prstDash val="sysDot"/>
            </a:ln>
          </p:spPr>
          <p:style>
            <a:lnRef idx="1">
              <a:srgbClr val="0048BF"/>
            </a:lnRef>
            <a:fillRef idx="0">
              <a:srgbClr val="0048BF"/>
            </a:fillRef>
            <a:effectRef idx="0">
              <a:srgbClr val="0048BF"/>
            </a:effectRef>
            <a:fontRef idx="minor">
              <a:sysClr val="windowText" lastClr="000000"/>
            </a:fontRef>
          </p:style>
        </p:cxnSp>
      </p:grpSp>
      <p:grpSp>
        <p:nvGrpSpPr>
          <p:cNvPr id="292" name="组合 291"/>
          <p:cNvGrpSpPr/>
          <p:nvPr/>
        </p:nvGrpSpPr>
        <p:grpSpPr>
          <a:xfrm rot="16200000" flipV="1">
            <a:off x="2952750" y="5170170"/>
            <a:ext cx="278130" cy="551180"/>
            <a:chOff x="9151401" y="4040126"/>
            <a:chExt cx="1392925" cy="931336"/>
          </a:xfrm>
        </p:grpSpPr>
        <p:sp>
          <p:nvSpPr>
            <p:cNvPr id="293" name="菱形 292"/>
            <p:cNvSpPr/>
            <p:nvPr/>
          </p:nvSpPr>
          <p:spPr>
            <a:xfrm rot="5400000" flipH="1">
              <a:off x="9523257" y="3811785"/>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a:solidFill>
                  <a:srgbClr val="FFFFFF"/>
                </a:solidFill>
                <a:latin typeface="OPPOSans R"/>
                <a:ea typeface="OPPOSans R"/>
              </a:endParaRPr>
            </a:p>
          </p:txBody>
        </p:sp>
        <p:sp>
          <p:nvSpPr>
            <p:cNvPr id="294" name="菱形 293"/>
            <p:cNvSpPr/>
            <p:nvPr/>
          </p:nvSpPr>
          <p:spPr>
            <a:xfrm rot="5400000" flipH="1">
              <a:off x="9523257" y="3950393"/>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sp>
          <p:nvSpPr>
            <p:cNvPr id="295" name="菱形 294"/>
            <p:cNvSpPr/>
            <p:nvPr/>
          </p:nvSpPr>
          <p:spPr>
            <a:xfrm rot="5400000" flipH="1">
              <a:off x="9523257" y="3668270"/>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grpSp>
      <p:grpSp>
        <p:nvGrpSpPr>
          <p:cNvPr id="296" name="组合 295"/>
          <p:cNvGrpSpPr/>
          <p:nvPr/>
        </p:nvGrpSpPr>
        <p:grpSpPr>
          <a:xfrm rot="16200000" flipV="1">
            <a:off x="5367655" y="5225415"/>
            <a:ext cx="278130" cy="551180"/>
            <a:chOff x="9151401" y="4040126"/>
            <a:chExt cx="1392925" cy="931336"/>
          </a:xfrm>
        </p:grpSpPr>
        <p:sp>
          <p:nvSpPr>
            <p:cNvPr id="297" name="菱形 296"/>
            <p:cNvSpPr/>
            <p:nvPr/>
          </p:nvSpPr>
          <p:spPr>
            <a:xfrm rot="5400000" flipH="1">
              <a:off x="9523257" y="3811785"/>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a:solidFill>
                  <a:srgbClr val="FFFFFF"/>
                </a:solidFill>
                <a:latin typeface="OPPOSans R"/>
                <a:ea typeface="OPPOSans R"/>
              </a:endParaRPr>
            </a:p>
          </p:txBody>
        </p:sp>
        <p:sp>
          <p:nvSpPr>
            <p:cNvPr id="298" name="菱形 297"/>
            <p:cNvSpPr/>
            <p:nvPr/>
          </p:nvSpPr>
          <p:spPr>
            <a:xfrm rot="5400000" flipH="1">
              <a:off x="9523257" y="3950393"/>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sp>
          <p:nvSpPr>
            <p:cNvPr id="325" name="菱形 324"/>
            <p:cNvSpPr/>
            <p:nvPr/>
          </p:nvSpPr>
          <p:spPr>
            <a:xfrm rot="5400000" flipH="1">
              <a:off x="9523257" y="3668270"/>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grpSp>
      <p:grpSp>
        <p:nvGrpSpPr>
          <p:cNvPr id="328" name="组合 327"/>
          <p:cNvGrpSpPr/>
          <p:nvPr/>
        </p:nvGrpSpPr>
        <p:grpSpPr>
          <a:xfrm rot="16200000" flipV="1">
            <a:off x="624205" y="5170170"/>
            <a:ext cx="278130" cy="551180"/>
            <a:chOff x="9151401" y="4040126"/>
            <a:chExt cx="1392925" cy="931336"/>
          </a:xfrm>
        </p:grpSpPr>
        <p:sp>
          <p:nvSpPr>
            <p:cNvPr id="329" name="菱形 328"/>
            <p:cNvSpPr/>
            <p:nvPr/>
          </p:nvSpPr>
          <p:spPr>
            <a:xfrm rot="5400000" flipH="1">
              <a:off x="9523257" y="3811785"/>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a:solidFill>
                  <a:srgbClr val="FFFFFF"/>
                </a:solidFill>
                <a:latin typeface="OPPOSans R"/>
                <a:ea typeface="OPPOSans R"/>
              </a:endParaRPr>
            </a:p>
          </p:txBody>
        </p:sp>
        <p:sp>
          <p:nvSpPr>
            <p:cNvPr id="332" name="菱形 331"/>
            <p:cNvSpPr/>
            <p:nvPr/>
          </p:nvSpPr>
          <p:spPr>
            <a:xfrm rot="5400000" flipH="1">
              <a:off x="9523257" y="3950393"/>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sp>
          <p:nvSpPr>
            <p:cNvPr id="333" name="菱形 332"/>
            <p:cNvSpPr/>
            <p:nvPr/>
          </p:nvSpPr>
          <p:spPr>
            <a:xfrm rot="5400000" flipH="1">
              <a:off x="9523257" y="3668270"/>
              <a:ext cx="649213" cy="1392925"/>
            </a:xfrm>
            <a:prstGeom prst="diamond">
              <a:avLst/>
            </a:prstGeom>
            <a:gradFill flip="none" rotWithShape="1">
              <a:gsLst>
                <a:gs pos="0">
                  <a:srgbClr val="0048BF">
                    <a:alpha val="70000"/>
                  </a:srgbClr>
                </a:gs>
                <a:gs pos="50000">
                  <a:srgbClr val="0048BF">
                    <a:alpha val="0"/>
                  </a:srgbClr>
                </a:gs>
              </a:gsLst>
              <a:lin ang="0" scaled="0"/>
              <a:tileRect/>
            </a:gradFill>
            <a:ln w="12700" cap="flat" cmpd="sng" algn="ctr">
              <a:noFill/>
              <a:prstDash val="solid"/>
              <a:miter lim="800000"/>
            </a:ln>
            <a:effectLst/>
          </p:spPr>
          <p:txBody>
            <a:bodyPr rtlCol="0" anchor="ctr"/>
            <a:lstStyle/>
            <a:p>
              <a:pPr algn="ctr" defTabSz="914400">
                <a:defRPr/>
              </a:pPr>
              <a:endParaRPr lang="zh-CN" altLang="en-US" sz="1400" kern="0" dirty="0">
                <a:solidFill>
                  <a:srgbClr val="FFFFFF"/>
                </a:solidFill>
                <a:latin typeface="OPPOSans R"/>
                <a:ea typeface="OPPOSans R"/>
              </a:endParaRPr>
            </a:p>
          </p:txBody>
        </p:sp>
      </p:grpSp>
      <p:sp>
        <p:nvSpPr>
          <p:cNvPr id="338" name="Rectangle 2515"/>
          <p:cNvSpPr/>
          <p:nvPr/>
        </p:nvSpPr>
        <p:spPr>
          <a:xfrm>
            <a:off x="7085330" y="3696970"/>
            <a:ext cx="564515" cy="138430"/>
          </a:xfrm>
          <a:prstGeom prst="rect">
            <a:avLst/>
          </a:prstGeom>
        </p:spPr>
        <p:txBody>
          <a:bodyPr wrap="square" lIns="0" tIns="0" rIns="0" bIns="0">
            <a:spAutoFit/>
          </a:bodyPr>
          <a:lstStyle/>
          <a:p>
            <a:pPr marL="0" algn="ctr">
              <a:tabLst>
                <a:tab pos="1581150" algn="l"/>
              </a:tabLst>
            </a:pPr>
            <a:r>
              <a:rPr lang="en-US" sz="900" b="0" i="0" spc="0" baseline="0" dirty="0">
                <a:solidFill>
                  <a:srgbClr val="404040"/>
                </a:solidFill>
                <a:latin typeface="OPPOSans H" panose="00020600040101010101" pitchFamily="18" charset="-122"/>
              </a:rPr>
              <a:t>咨询</a:t>
            </a:r>
            <a:r>
              <a:rPr lang="zh-CN" altLang="en-US" sz="900" b="0" i="0" spc="0" baseline="0" dirty="0">
                <a:solidFill>
                  <a:srgbClr val="404040"/>
                </a:solidFill>
                <a:latin typeface="OPPOSans H" panose="00020600040101010101" pitchFamily="18" charset="-122"/>
              </a:rPr>
              <a:t>等</a:t>
            </a:r>
            <a:endParaRPr lang="zh-CN" altLang="en-US" sz="900" b="0" i="0" spc="0" baseline="0" dirty="0">
              <a:solidFill>
                <a:srgbClr val="404040"/>
              </a:solidFill>
              <a:latin typeface="OPPOSans H" panose="00020600040101010101" pitchFamily="18" charset="-122"/>
            </a:endParaRPr>
          </a:p>
        </p:txBody>
      </p:sp>
      <p:sp>
        <p:nvSpPr>
          <p:cNvPr id="341" name="Rectangle 2515"/>
          <p:cNvSpPr/>
          <p:nvPr/>
        </p:nvSpPr>
        <p:spPr>
          <a:xfrm>
            <a:off x="6289675" y="3696970"/>
            <a:ext cx="595630" cy="138430"/>
          </a:xfrm>
          <a:prstGeom prst="rect">
            <a:avLst/>
          </a:prstGeom>
        </p:spPr>
        <p:txBody>
          <a:bodyPr wrap="square" lIns="0" tIns="0" rIns="0" bIns="0">
            <a:spAutoFit/>
          </a:bodyPr>
          <a:lstStyle/>
          <a:p>
            <a:pPr marL="0" algn="ctr">
              <a:tabLst>
                <a:tab pos="1581150" algn="l"/>
              </a:tabLst>
            </a:pPr>
            <a:r>
              <a:rPr lang="zh-CN" sz="900" b="0" i="0" spc="0" baseline="0" dirty="0">
                <a:solidFill>
                  <a:srgbClr val="404040"/>
                </a:solidFill>
                <a:latin typeface="OPPOSans H" panose="00020600040101010101" pitchFamily="18" charset="-122"/>
              </a:rPr>
              <a:t>暂停</a:t>
            </a:r>
            <a:endParaRPr lang="zh-CN" sz="900" b="0" i="0" spc="0" baseline="0" dirty="0">
              <a:solidFill>
                <a:srgbClr val="404040"/>
              </a:solidFill>
              <a:latin typeface="OPPOSans H" panose="00020600040101010101" pitchFamily="18" charset="-122"/>
            </a:endParaRPr>
          </a:p>
        </p:txBody>
      </p:sp>
      <p:sp>
        <p:nvSpPr>
          <p:cNvPr id="346" name="Rectangle 2515"/>
          <p:cNvSpPr/>
          <p:nvPr/>
        </p:nvSpPr>
        <p:spPr>
          <a:xfrm>
            <a:off x="6250940" y="3402330"/>
            <a:ext cx="671830" cy="138430"/>
          </a:xfrm>
          <a:prstGeom prst="rect">
            <a:avLst/>
          </a:prstGeom>
        </p:spPr>
        <p:txBody>
          <a:bodyPr wrap="square" lIns="0" tIns="0" rIns="0" bIns="0">
            <a:spAutoFit/>
          </a:bodyPr>
          <a:lstStyle/>
          <a:p>
            <a:pPr marL="0" algn="ctr">
              <a:tabLst>
                <a:tab pos="1581150" algn="l"/>
              </a:tabLst>
            </a:pPr>
            <a:r>
              <a:rPr lang="zh-CN" sz="900" b="0" i="0" spc="0" baseline="0" dirty="0">
                <a:solidFill>
                  <a:srgbClr val="404040"/>
                </a:solidFill>
                <a:latin typeface="OPPOSans H" panose="00020600040101010101" pitchFamily="18" charset="-122"/>
              </a:rPr>
              <a:t>办结</a:t>
            </a:r>
            <a:endParaRPr lang="zh-CN" sz="900" b="0" i="0" spc="0" baseline="0" dirty="0">
              <a:solidFill>
                <a:srgbClr val="404040"/>
              </a:solidFill>
              <a:latin typeface="OPPOSans H" panose="00020600040101010101" pitchFamily="18" charset="-122"/>
            </a:endParaRPr>
          </a:p>
        </p:txBody>
      </p:sp>
      <p:pic>
        <p:nvPicPr>
          <p:cNvPr id="351" name="image 20010"/>
          <p:cNvPicPr>
            <a:picLocks noChangeAspect="1"/>
          </p:cNvPicPr>
          <p:nvPr/>
        </p:nvPicPr>
        <p:blipFill>
          <a:blip r:embed="rId3"/>
          <a:srcRect r="2395"/>
          <a:stretch>
            <a:fillRect/>
          </a:stretch>
        </p:blipFill>
        <p:spPr>
          <a:xfrm>
            <a:off x="4438650" y="3971290"/>
            <a:ext cx="710565" cy="702945"/>
          </a:xfrm>
          <a:prstGeom prst="rect">
            <a:avLst/>
          </a:prstGeom>
        </p:spPr>
      </p:pic>
      <p:sp>
        <p:nvSpPr>
          <p:cNvPr id="354" name="文本框 353"/>
          <p:cNvSpPr txBox="1"/>
          <p:nvPr/>
        </p:nvSpPr>
        <p:spPr>
          <a:xfrm>
            <a:off x="738505" y="3599180"/>
            <a:ext cx="1715770" cy="423545"/>
          </a:xfrm>
          <a:prstGeom prst="rect">
            <a:avLst/>
          </a:prstGeom>
          <a:noFill/>
        </p:spPr>
        <p:txBody>
          <a:bodyPr wrap="square" rtlCol="0">
            <a:spAutoFit/>
          </a:bodyPr>
          <a:lstStyle/>
          <a:p>
            <a:pPr marL="171450" indent="-171450" fontAlgn="auto">
              <a:lnSpc>
                <a:spcPct val="120000"/>
              </a:lnSpc>
              <a:buFont typeface="Arial" panose="020B0604020202020204" pitchFamily="34" charset="0"/>
              <a:buChar char="•"/>
            </a:pPr>
            <a:r>
              <a:rPr lang="zh-CN" altLang="en-US" sz="900"/>
              <a:t>预警分级、完成时限、任务分类</a:t>
            </a:r>
            <a:endParaRPr lang="zh-CN" altLang="en-US" sz="900"/>
          </a:p>
        </p:txBody>
      </p:sp>
      <p:sp>
        <p:nvSpPr>
          <p:cNvPr id="355" name="矩形 354"/>
          <p:cNvSpPr/>
          <p:nvPr/>
        </p:nvSpPr>
        <p:spPr>
          <a:xfrm>
            <a:off x="807085" y="4072255"/>
            <a:ext cx="1478280" cy="254635"/>
          </a:xfrm>
          <a:prstGeom prst="rect">
            <a:avLst/>
          </a:prstGeom>
          <a:solidFill>
            <a:srgbClr val="DFEBFF"/>
          </a:solidFill>
        </p:spPr>
        <p:txBody>
          <a:bodyPr wrap="square" lIns="0" tIns="0" rIns="0" bIns="0" rtlCol="0" anchor="ctr" anchorCtr="0"/>
          <a:lstStyle/>
          <a:p>
            <a:pPr algn="ctr"/>
            <a:r>
              <a:rPr lang="zh-CN" altLang="en-US" sz="1000" dirty="0">
                <a:solidFill>
                  <a:srgbClr val="404040"/>
                </a:solidFill>
                <a:latin typeface="OPPOSans H" panose="00020600040101010101" pitchFamily="18" charset="-122"/>
                <a:sym typeface="+mn-ea"/>
              </a:rPr>
              <a:t>任务工作流管理</a:t>
            </a:r>
            <a:endParaRPr lang="zh-CN" altLang="en-US" sz="1000" dirty="0">
              <a:solidFill>
                <a:srgbClr val="404040"/>
              </a:solidFill>
              <a:latin typeface="OPPOSans H" panose="00020600040101010101" pitchFamily="18" charset="-122"/>
              <a:sym typeface="+mn-ea"/>
            </a:endParaRPr>
          </a:p>
        </p:txBody>
      </p:sp>
      <p:sp>
        <p:nvSpPr>
          <p:cNvPr id="356" name="矩形 355"/>
          <p:cNvSpPr/>
          <p:nvPr/>
        </p:nvSpPr>
        <p:spPr>
          <a:xfrm>
            <a:off x="807085" y="3292475"/>
            <a:ext cx="1478280" cy="254635"/>
          </a:xfrm>
          <a:prstGeom prst="rect">
            <a:avLst/>
          </a:prstGeom>
          <a:solidFill>
            <a:srgbClr val="DFEBFF"/>
          </a:solidFill>
        </p:spPr>
        <p:txBody>
          <a:bodyPr wrap="square" lIns="0" tIns="0" rIns="0" bIns="0" rtlCol="0" anchor="ctr" anchorCtr="0"/>
          <a:lstStyle/>
          <a:p>
            <a:pPr algn="ctr"/>
            <a:r>
              <a:rPr lang="zh-CN" altLang="en-US" sz="1000" dirty="0">
                <a:solidFill>
                  <a:srgbClr val="404040"/>
                </a:solidFill>
                <a:latin typeface="OPPOSans H" panose="00020600040101010101" pitchFamily="18" charset="-122"/>
                <a:sym typeface="+mn-ea"/>
              </a:rPr>
              <a:t>调度任务管理</a:t>
            </a:r>
            <a:endParaRPr lang="zh-CN" altLang="en-US" sz="1000" dirty="0">
              <a:solidFill>
                <a:srgbClr val="404040"/>
              </a:solidFill>
              <a:latin typeface="OPPOSans H" panose="00020600040101010101" pitchFamily="18" charset="-122"/>
              <a:sym typeface="+mn-ea"/>
            </a:endParaRPr>
          </a:p>
        </p:txBody>
      </p:sp>
      <p:sp>
        <p:nvSpPr>
          <p:cNvPr id="357" name="文本框 356"/>
          <p:cNvSpPr txBox="1"/>
          <p:nvPr/>
        </p:nvSpPr>
        <p:spPr>
          <a:xfrm>
            <a:off x="806450" y="4328160"/>
            <a:ext cx="1540510" cy="589280"/>
          </a:xfrm>
          <a:prstGeom prst="rect">
            <a:avLst/>
          </a:prstGeom>
          <a:noFill/>
        </p:spPr>
        <p:txBody>
          <a:bodyPr wrap="square" rtlCol="0">
            <a:spAutoFit/>
          </a:bodyPr>
          <a:lstStyle/>
          <a:p>
            <a:pPr marL="171450" indent="-171450" fontAlgn="auto">
              <a:lnSpc>
                <a:spcPct val="120000"/>
              </a:lnSpc>
              <a:buFont typeface="Arial" panose="020B0604020202020204" pitchFamily="34" charset="0"/>
              <a:buChar char="•"/>
            </a:pPr>
            <a:r>
              <a:rPr lang="zh-CN" altLang="en-US" sz="900"/>
              <a:t>优先级管理、调度审批配置、工作流配置等</a:t>
            </a:r>
            <a:endParaRPr lang="zh-CN" altLang="en-US" sz="900"/>
          </a:p>
        </p:txBody>
      </p:sp>
      <p:sp>
        <p:nvSpPr>
          <p:cNvPr id="359" name="矩形 358"/>
          <p:cNvSpPr/>
          <p:nvPr/>
        </p:nvSpPr>
        <p:spPr>
          <a:xfrm>
            <a:off x="2604770" y="3345180"/>
            <a:ext cx="734695" cy="254635"/>
          </a:xfrm>
          <a:prstGeom prst="rect">
            <a:avLst/>
          </a:prstGeom>
          <a:solidFill>
            <a:srgbClr val="C2E0FD"/>
          </a:solidFill>
        </p:spPr>
        <p:txBody>
          <a:bodyPr wrap="square" lIns="0" tIns="0" rIns="0" bIns="0" rtlCol="0" anchor="ctr" anchorCtr="0"/>
          <a:lstStyle/>
          <a:p>
            <a:pPr algn="ctr"/>
            <a:r>
              <a:rPr lang="zh-CN" altLang="en-US" sz="900"/>
              <a:t>指标监控</a:t>
            </a:r>
            <a:endParaRPr lang="zh-CN" altLang="en-US" sz="900"/>
          </a:p>
        </p:txBody>
      </p:sp>
      <p:sp>
        <p:nvSpPr>
          <p:cNvPr id="360" name="矩形 359"/>
          <p:cNvSpPr/>
          <p:nvPr/>
        </p:nvSpPr>
        <p:spPr>
          <a:xfrm>
            <a:off x="3367405" y="3345180"/>
            <a:ext cx="734695" cy="254635"/>
          </a:xfrm>
          <a:prstGeom prst="rect">
            <a:avLst/>
          </a:prstGeom>
          <a:solidFill>
            <a:srgbClr val="C2E0FD"/>
          </a:solidFill>
        </p:spPr>
        <p:txBody>
          <a:bodyPr wrap="square" lIns="0" tIns="0" rIns="0" bIns="0" rtlCol="0" anchor="ctr" anchorCtr="0"/>
          <a:lstStyle/>
          <a:p>
            <a:pPr algn="ctr"/>
            <a:r>
              <a:rPr lang="zh-CN" altLang="en-US" sz="900"/>
              <a:t>服务监控</a:t>
            </a:r>
            <a:endParaRPr lang="zh-CN" altLang="en-US" sz="900"/>
          </a:p>
        </p:txBody>
      </p:sp>
      <p:sp>
        <p:nvSpPr>
          <p:cNvPr id="361" name="矩形 360"/>
          <p:cNvSpPr/>
          <p:nvPr/>
        </p:nvSpPr>
        <p:spPr>
          <a:xfrm>
            <a:off x="2604770" y="3644265"/>
            <a:ext cx="734695" cy="254635"/>
          </a:xfrm>
          <a:prstGeom prst="rect">
            <a:avLst/>
          </a:prstGeom>
          <a:solidFill>
            <a:srgbClr val="C2E0FD"/>
          </a:solidFill>
        </p:spPr>
        <p:txBody>
          <a:bodyPr wrap="square" lIns="0" tIns="0" rIns="0" bIns="0" rtlCol="0" anchor="ctr" anchorCtr="0"/>
          <a:lstStyle/>
          <a:p>
            <a:pPr algn="ctr"/>
            <a:r>
              <a:rPr lang="zh-CN" altLang="en-US" sz="900"/>
              <a:t>组织协同</a:t>
            </a:r>
            <a:endParaRPr lang="zh-CN" altLang="en-US" sz="900"/>
          </a:p>
        </p:txBody>
      </p:sp>
      <p:sp>
        <p:nvSpPr>
          <p:cNvPr id="362" name="矩形 361"/>
          <p:cNvSpPr/>
          <p:nvPr/>
        </p:nvSpPr>
        <p:spPr>
          <a:xfrm>
            <a:off x="3367405" y="3644265"/>
            <a:ext cx="734695" cy="254635"/>
          </a:xfrm>
          <a:prstGeom prst="rect">
            <a:avLst/>
          </a:prstGeom>
          <a:solidFill>
            <a:srgbClr val="C2E0FD"/>
          </a:solidFill>
        </p:spPr>
        <p:txBody>
          <a:bodyPr wrap="square" lIns="0" tIns="0" rIns="0" bIns="0" rtlCol="0" anchor="ctr" anchorCtr="0"/>
          <a:lstStyle/>
          <a:p>
            <a:pPr algn="ctr"/>
            <a:r>
              <a:rPr lang="en-US" altLang="zh-CN" sz="900"/>
              <a:t>……</a:t>
            </a:r>
            <a:endParaRPr lang="en-US" altLang="zh-CN" sz="900"/>
          </a:p>
        </p:txBody>
      </p:sp>
      <p:sp>
        <p:nvSpPr>
          <p:cNvPr id="364" name="矩形 363"/>
          <p:cNvSpPr/>
          <p:nvPr/>
        </p:nvSpPr>
        <p:spPr>
          <a:xfrm>
            <a:off x="2604770" y="4321175"/>
            <a:ext cx="734695" cy="254635"/>
          </a:xfrm>
          <a:prstGeom prst="rect">
            <a:avLst/>
          </a:prstGeom>
          <a:solidFill>
            <a:schemeClr val="bg1">
              <a:lumMod val="85000"/>
            </a:schemeClr>
          </a:solidFill>
        </p:spPr>
        <p:txBody>
          <a:bodyPr wrap="square" lIns="0" tIns="0" rIns="0" bIns="0" rtlCol="0" anchor="ctr" anchorCtr="0"/>
          <a:lstStyle/>
          <a:p>
            <a:pPr algn="ctr"/>
            <a:r>
              <a:rPr lang="zh-CN" altLang="en-US" sz="900"/>
              <a:t>看管任务</a:t>
            </a:r>
            <a:endParaRPr lang="zh-CN" altLang="en-US" sz="900"/>
          </a:p>
        </p:txBody>
      </p:sp>
      <p:sp>
        <p:nvSpPr>
          <p:cNvPr id="365" name="矩形 364"/>
          <p:cNvSpPr/>
          <p:nvPr/>
        </p:nvSpPr>
        <p:spPr>
          <a:xfrm>
            <a:off x="3367405" y="4321175"/>
            <a:ext cx="734695" cy="254635"/>
          </a:xfrm>
          <a:prstGeom prst="rect">
            <a:avLst/>
          </a:prstGeom>
          <a:solidFill>
            <a:schemeClr val="bg1">
              <a:lumMod val="85000"/>
            </a:schemeClr>
          </a:solidFill>
        </p:spPr>
        <p:txBody>
          <a:bodyPr wrap="square" lIns="0" tIns="0" rIns="0" bIns="0" rtlCol="0" anchor="ctr" anchorCtr="0"/>
          <a:lstStyle/>
          <a:p>
            <a:pPr algn="ctr"/>
            <a:r>
              <a:rPr lang="zh-CN" altLang="en-US" sz="900"/>
              <a:t>营销任务</a:t>
            </a:r>
            <a:endParaRPr lang="zh-CN" altLang="en-US" sz="900"/>
          </a:p>
        </p:txBody>
      </p:sp>
      <p:sp>
        <p:nvSpPr>
          <p:cNvPr id="366" name="矩形 365"/>
          <p:cNvSpPr/>
          <p:nvPr/>
        </p:nvSpPr>
        <p:spPr>
          <a:xfrm>
            <a:off x="2604770" y="4620895"/>
            <a:ext cx="734695" cy="254635"/>
          </a:xfrm>
          <a:prstGeom prst="rect">
            <a:avLst/>
          </a:prstGeom>
          <a:solidFill>
            <a:schemeClr val="bg1">
              <a:lumMod val="85000"/>
            </a:schemeClr>
          </a:solidFill>
        </p:spPr>
        <p:txBody>
          <a:bodyPr wrap="square" lIns="0" tIns="0" rIns="0" bIns="0" rtlCol="0" anchor="ctr" anchorCtr="0"/>
          <a:lstStyle/>
          <a:p>
            <a:pPr algn="ctr"/>
            <a:r>
              <a:rPr lang="zh-CN" altLang="en-US" sz="900"/>
              <a:t>工单任务</a:t>
            </a:r>
            <a:endParaRPr lang="zh-CN" altLang="en-US" sz="900"/>
          </a:p>
        </p:txBody>
      </p:sp>
      <p:sp>
        <p:nvSpPr>
          <p:cNvPr id="367" name="矩形 366"/>
          <p:cNvSpPr/>
          <p:nvPr/>
        </p:nvSpPr>
        <p:spPr>
          <a:xfrm>
            <a:off x="3367405" y="4620895"/>
            <a:ext cx="734695" cy="254635"/>
          </a:xfrm>
          <a:prstGeom prst="rect">
            <a:avLst/>
          </a:prstGeom>
          <a:solidFill>
            <a:schemeClr val="bg1">
              <a:lumMod val="85000"/>
            </a:schemeClr>
          </a:solidFill>
        </p:spPr>
        <p:txBody>
          <a:bodyPr wrap="square" lIns="0" tIns="0" rIns="0" bIns="0" rtlCol="0" anchor="ctr" anchorCtr="0"/>
          <a:lstStyle/>
          <a:p>
            <a:pPr algn="ctr"/>
            <a:r>
              <a:rPr lang="en-US" altLang="zh-CN" sz="900"/>
              <a:t>……</a:t>
            </a:r>
            <a:endParaRPr lang="en-US" altLang="zh-CN" sz="900"/>
          </a:p>
        </p:txBody>
      </p:sp>
      <p:sp>
        <p:nvSpPr>
          <p:cNvPr id="5" name="矩形 4"/>
          <p:cNvSpPr/>
          <p:nvPr/>
        </p:nvSpPr>
        <p:spPr>
          <a:xfrm>
            <a:off x="4454525" y="3171825"/>
            <a:ext cx="1478280" cy="254635"/>
          </a:xfrm>
          <a:prstGeom prst="rect">
            <a:avLst/>
          </a:prstGeom>
          <a:solidFill>
            <a:srgbClr val="E0EFFE"/>
          </a:solidFill>
        </p:spPr>
        <p:txBody>
          <a:bodyPr wrap="square" lIns="0" tIns="0" rIns="0" bIns="0" rtlCol="0" anchor="ctr" anchorCtr="0"/>
          <a:lstStyle/>
          <a:p>
            <a:pPr algn="ctr"/>
            <a:r>
              <a:rPr lang="zh-CN" altLang="en-US" sz="1000" dirty="0">
                <a:solidFill>
                  <a:srgbClr val="404040"/>
                </a:solidFill>
                <a:latin typeface="OPPOSans H" panose="00020600040101010101" pitchFamily="18" charset="-122"/>
                <a:sym typeface="+mn-ea"/>
              </a:rPr>
              <a:t>属地执行流程可视</a:t>
            </a:r>
            <a:endParaRPr lang="zh-CN" altLang="en-US" sz="1000" dirty="0">
              <a:solidFill>
                <a:srgbClr val="404040"/>
              </a:solidFill>
              <a:latin typeface="OPPOSans H" panose="00020600040101010101" pitchFamily="18" charset="-122"/>
              <a:sym typeface="+mn-ea"/>
            </a:endParaRPr>
          </a:p>
        </p:txBody>
      </p:sp>
      <p:sp>
        <p:nvSpPr>
          <p:cNvPr id="370" name="矩形 369"/>
          <p:cNvSpPr/>
          <p:nvPr/>
        </p:nvSpPr>
        <p:spPr>
          <a:xfrm>
            <a:off x="4450715" y="3782060"/>
            <a:ext cx="1478280" cy="254635"/>
          </a:xfrm>
          <a:prstGeom prst="rect">
            <a:avLst/>
          </a:prstGeom>
          <a:solidFill>
            <a:srgbClr val="E0EFFE"/>
          </a:solidFill>
        </p:spPr>
        <p:txBody>
          <a:bodyPr wrap="square" lIns="0" tIns="0" rIns="0" bIns="0" rtlCol="0" anchor="ctr" anchorCtr="0"/>
          <a:lstStyle/>
          <a:p>
            <a:pPr algn="ctr"/>
            <a:r>
              <a:rPr lang="zh-CN" altLang="en-US" sz="900" dirty="0">
                <a:solidFill>
                  <a:srgbClr val="404040"/>
                </a:solidFill>
                <a:latin typeface="OPPOSans H" panose="00020600040101010101" pitchFamily="18" charset="-122"/>
                <a:sym typeface="+mn-ea"/>
              </a:rPr>
              <a:t>集成全网指挥调度平台</a:t>
            </a:r>
            <a:endParaRPr lang="zh-CN" altLang="en-US" sz="900" dirty="0">
              <a:solidFill>
                <a:srgbClr val="404040"/>
              </a:solidFill>
              <a:latin typeface="OPPOSans H" panose="00020600040101010101" pitchFamily="18" charset="-122"/>
              <a:sym typeface="+mn-ea"/>
            </a:endParaRPr>
          </a:p>
        </p:txBody>
      </p:sp>
      <p:sp>
        <p:nvSpPr>
          <p:cNvPr id="371" name="矩形 370"/>
          <p:cNvSpPr/>
          <p:nvPr/>
        </p:nvSpPr>
        <p:spPr>
          <a:xfrm>
            <a:off x="4450715" y="4681220"/>
            <a:ext cx="1478280" cy="254635"/>
          </a:xfrm>
          <a:prstGeom prst="rect">
            <a:avLst/>
          </a:prstGeom>
          <a:solidFill>
            <a:srgbClr val="E0EFFE"/>
          </a:solidFill>
        </p:spPr>
        <p:txBody>
          <a:bodyPr wrap="square" lIns="0" tIns="0" rIns="0" bIns="0" rtlCol="0" anchor="ctr" anchorCtr="0"/>
          <a:lstStyle/>
          <a:p>
            <a:pPr algn="ctr"/>
            <a:r>
              <a:rPr lang="zh-CN" altLang="en-US" sz="1000" dirty="0">
                <a:solidFill>
                  <a:srgbClr val="404040"/>
                </a:solidFill>
                <a:latin typeface="OPPOSans H" panose="00020600040101010101" pitchFamily="18" charset="-122"/>
                <a:sym typeface="+mn-ea"/>
              </a:rPr>
              <a:t>集成一级</a:t>
            </a:r>
            <a:r>
              <a:rPr lang="en-US" altLang="zh-CN" sz="1000" dirty="0">
                <a:solidFill>
                  <a:srgbClr val="404040"/>
                </a:solidFill>
                <a:latin typeface="OPPOSans H" panose="00020600040101010101" pitchFamily="18" charset="-122"/>
                <a:sym typeface="+mn-ea"/>
              </a:rPr>
              <a:t>IOP</a:t>
            </a:r>
            <a:endParaRPr lang="en-US" altLang="zh-CN" sz="1000" dirty="0">
              <a:solidFill>
                <a:srgbClr val="404040"/>
              </a:solidFill>
              <a:latin typeface="OPPOSans H" panose="00020600040101010101" pitchFamily="18" charset="-122"/>
              <a:sym typeface="+mn-ea"/>
            </a:endParaRPr>
          </a:p>
        </p:txBody>
      </p:sp>
      <p:sp>
        <p:nvSpPr>
          <p:cNvPr id="375" name="文本框 374"/>
          <p:cNvSpPr txBox="1"/>
          <p:nvPr/>
        </p:nvSpPr>
        <p:spPr>
          <a:xfrm>
            <a:off x="5149850" y="4082415"/>
            <a:ext cx="880745" cy="681355"/>
          </a:xfrm>
          <a:prstGeom prst="rect">
            <a:avLst/>
          </a:prstGeom>
          <a:noFill/>
        </p:spPr>
        <p:txBody>
          <a:bodyPr wrap="square" rtlCol="0">
            <a:spAutoFit/>
          </a:bodyPr>
          <a:lstStyle/>
          <a:p>
            <a:pPr indent="0" fontAlgn="auto">
              <a:lnSpc>
                <a:spcPct val="120000"/>
              </a:lnSpc>
            </a:pPr>
            <a:r>
              <a:rPr lang="zh-CN" altLang="en-US" sz="800"/>
              <a:t>指挥调度执行过程，全流程可视</a:t>
            </a:r>
            <a:endParaRPr lang="zh-CN" altLang="en-US" sz="800"/>
          </a:p>
        </p:txBody>
      </p:sp>
      <p:sp>
        <p:nvSpPr>
          <p:cNvPr id="382" name="文本框 381"/>
          <p:cNvSpPr txBox="1"/>
          <p:nvPr/>
        </p:nvSpPr>
        <p:spPr>
          <a:xfrm>
            <a:off x="6329045" y="4029075"/>
            <a:ext cx="1321435" cy="245110"/>
          </a:xfrm>
          <a:prstGeom prst="rect">
            <a:avLst/>
          </a:prstGeom>
          <a:noFill/>
        </p:spPr>
        <p:txBody>
          <a:bodyPr wrap="square" rtlCol="0">
            <a:spAutoFit/>
          </a:bodyPr>
          <a:lstStyle/>
          <a:p>
            <a:pPr algn="ctr"/>
            <a:r>
              <a:rPr lang="zh-CN" altLang="en-US" sz="1000">
                <a:solidFill>
                  <a:schemeClr val="bg1"/>
                </a:solidFill>
              </a:rPr>
              <a:t>转化效果反馈</a:t>
            </a:r>
            <a:endParaRPr lang="zh-CN" altLang="en-US" sz="1000">
              <a:solidFill>
                <a:schemeClr val="bg1"/>
              </a:solidFill>
            </a:endParaRPr>
          </a:p>
        </p:txBody>
      </p:sp>
      <p:sp>
        <p:nvSpPr>
          <p:cNvPr id="6" name="Rectangle 2515"/>
          <p:cNvSpPr/>
          <p:nvPr/>
        </p:nvSpPr>
        <p:spPr>
          <a:xfrm>
            <a:off x="6975475" y="3410585"/>
            <a:ext cx="671830" cy="138430"/>
          </a:xfrm>
          <a:prstGeom prst="rect">
            <a:avLst/>
          </a:prstGeom>
        </p:spPr>
        <p:txBody>
          <a:bodyPr wrap="square" lIns="0" tIns="0" rIns="0" bIns="0">
            <a:spAutoFit/>
          </a:bodyPr>
          <a:lstStyle/>
          <a:p>
            <a:pPr marL="0" algn="ctr">
              <a:tabLst>
                <a:tab pos="1581150" algn="l"/>
              </a:tabLst>
            </a:pPr>
            <a:r>
              <a:rPr lang="zh-CN" altLang="en-US" sz="900" b="0" i="0" spc="0" baseline="0" dirty="0">
                <a:solidFill>
                  <a:srgbClr val="404040"/>
                </a:solidFill>
                <a:latin typeface="OPPOSans H" panose="00020600040101010101" pitchFamily="18" charset="-122"/>
              </a:rPr>
              <a:t>分解下派</a:t>
            </a:r>
            <a:endParaRPr lang="zh-CN" altLang="en-US" sz="900" b="0" i="0" spc="0" baseline="0" dirty="0">
              <a:solidFill>
                <a:srgbClr val="404040"/>
              </a:solidFill>
              <a:latin typeface="OPPOSans H" panose="00020600040101010101" pitchFamily="18" charset="-122"/>
            </a:endParaRPr>
          </a:p>
        </p:txBody>
      </p:sp>
      <p:sp>
        <p:nvSpPr>
          <p:cNvPr id="7" name="矩形 6"/>
          <p:cNvSpPr/>
          <p:nvPr/>
        </p:nvSpPr>
        <p:spPr>
          <a:xfrm>
            <a:off x="6218555" y="4321175"/>
            <a:ext cx="485140" cy="252095"/>
          </a:xfrm>
          <a:prstGeom prst="rect">
            <a:avLst/>
          </a:prstGeom>
          <a:solidFill>
            <a:srgbClr val="E0EFFE"/>
          </a:solidFill>
        </p:spPr>
        <p:txBody>
          <a:bodyPr wrap="square" lIns="0" tIns="0" rIns="0" bIns="0" rtlCol="0" anchor="ctr" anchorCtr="0"/>
          <a:lstStyle/>
          <a:p>
            <a:pPr algn="ctr"/>
            <a:r>
              <a:rPr lang="zh-CN" altLang="en-US" sz="900"/>
              <a:t>留存</a:t>
            </a:r>
            <a:endParaRPr lang="zh-CN" altLang="en-US" sz="900"/>
          </a:p>
        </p:txBody>
      </p:sp>
      <p:sp>
        <p:nvSpPr>
          <p:cNvPr id="8" name="矩形 7"/>
          <p:cNvSpPr/>
          <p:nvPr/>
        </p:nvSpPr>
        <p:spPr>
          <a:xfrm>
            <a:off x="6730365" y="4321175"/>
            <a:ext cx="484505" cy="252095"/>
          </a:xfrm>
          <a:prstGeom prst="rect">
            <a:avLst/>
          </a:prstGeom>
          <a:solidFill>
            <a:srgbClr val="E0EFFE"/>
          </a:solidFill>
        </p:spPr>
        <p:txBody>
          <a:bodyPr wrap="square" lIns="0" tIns="0" rIns="0" bIns="0" rtlCol="0" anchor="ctr" anchorCtr="0"/>
          <a:lstStyle/>
          <a:p>
            <a:pPr algn="ctr"/>
            <a:r>
              <a:rPr lang="zh-CN" altLang="en-US" sz="900"/>
              <a:t>升档</a:t>
            </a:r>
            <a:endParaRPr lang="zh-CN" altLang="en-US" sz="900"/>
          </a:p>
        </p:txBody>
      </p:sp>
      <p:sp>
        <p:nvSpPr>
          <p:cNvPr id="9" name="矩形 8"/>
          <p:cNvSpPr/>
          <p:nvPr/>
        </p:nvSpPr>
        <p:spPr>
          <a:xfrm>
            <a:off x="7242175" y="4321175"/>
            <a:ext cx="484505" cy="252095"/>
          </a:xfrm>
          <a:prstGeom prst="rect">
            <a:avLst/>
          </a:prstGeom>
          <a:solidFill>
            <a:srgbClr val="E0EFFE"/>
          </a:solidFill>
        </p:spPr>
        <p:txBody>
          <a:bodyPr wrap="square" lIns="0" tIns="0" rIns="0" bIns="0" rtlCol="0" anchor="ctr" anchorCtr="0"/>
          <a:lstStyle/>
          <a:p>
            <a:pPr algn="ctr"/>
            <a:r>
              <a:rPr lang="zh-CN" altLang="en-US" sz="900"/>
              <a:t>开通</a:t>
            </a:r>
            <a:endParaRPr lang="zh-CN" altLang="en-US" sz="900"/>
          </a:p>
        </p:txBody>
      </p:sp>
      <p:sp>
        <p:nvSpPr>
          <p:cNvPr id="10" name="矩形 9"/>
          <p:cNvSpPr/>
          <p:nvPr/>
        </p:nvSpPr>
        <p:spPr>
          <a:xfrm>
            <a:off x="6975475" y="4615815"/>
            <a:ext cx="736600" cy="252095"/>
          </a:xfrm>
          <a:prstGeom prst="rect">
            <a:avLst/>
          </a:prstGeom>
          <a:solidFill>
            <a:srgbClr val="E0EFFE"/>
          </a:solidFill>
        </p:spPr>
        <p:txBody>
          <a:bodyPr wrap="square" lIns="0" tIns="0" rIns="0" bIns="0" rtlCol="0" anchor="ctr" anchorCtr="0"/>
          <a:lstStyle/>
          <a:p>
            <a:pPr algn="ctr"/>
            <a:r>
              <a:rPr lang="en-US" altLang="zh-CN" sz="1000">
                <a:latin typeface="微软雅黑" panose="020B0503020204020204" charset="-122"/>
                <a:ea typeface="微软雅黑" panose="020B0503020204020204" charset="-122"/>
              </a:rPr>
              <a:t>……</a:t>
            </a:r>
            <a:endParaRPr lang="en-US" altLang="zh-CN" sz="1000">
              <a:latin typeface="微软雅黑" panose="020B0503020204020204" charset="-122"/>
              <a:ea typeface="微软雅黑" panose="020B0503020204020204" charset="-122"/>
            </a:endParaRPr>
          </a:p>
        </p:txBody>
      </p:sp>
      <p:sp>
        <p:nvSpPr>
          <p:cNvPr id="11" name="矩形 10"/>
          <p:cNvSpPr/>
          <p:nvPr/>
        </p:nvSpPr>
        <p:spPr>
          <a:xfrm>
            <a:off x="6217920" y="4615815"/>
            <a:ext cx="736600" cy="252095"/>
          </a:xfrm>
          <a:prstGeom prst="rect">
            <a:avLst/>
          </a:prstGeom>
          <a:solidFill>
            <a:srgbClr val="E0EFFE"/>
          </a:solidFill>
        </p:spPr>
        <p:txBody>
          <a:bodyPr wrap="square" lIns="0" tIns="0" rIns="0" bIns="0" rtlCol="0" anchor="ctr" anchorCtr="0"/>
          <a:lstStyle/>
          <a:p>
            <a:pPr algn="ctr"/>
            <a:r>
              <a:rPr lang="zh-CN" altLang="en-US" sz="900">
                <a:latin typeface="微软雅黑" panose="020B0503020204020204" charset="-122"/>
                <a:ea typeface="微软雅黑" panose="020B0503020204020204" charset="-122"/>
              </a:rPr>
              <a:t>融合捆绑</a:t>
            </a:r>
            <a:endParaRPr lang="zh-CN" altLang="en-US" sz="900">
              <a:latin typeface="微软雅黑" panose="020B0503020204020204" charset="-122"/>
              <a:ea typeface="微软雅黑" panose="020B0503020204020204" charset="-122"/>
            </a:endParaRPr>
          </a:p>
        </p:txBody>
      </p:sp>
      <p:sp>
        <p:nvSpPr>
          <p:cNvPr id="105" name="矩形 104"/>
          <p:cNvSpPr/>
          <p:nvPr/>
        </p:nvSpPr>
        <p:spPr>
          <a:xfrm>
            <a:off x="187960" y="1505585"/>
            <a:ext cx="8154035" cy="4896485"/>
          </a:xfrm>
          <a:prstGeom prst="rect">
            <a:avLst/>
          </a:prstGeom>
          <a:noFill/>
          <a:ln w="3175">
            <a:solidFill>
              <a:srgbClr val="E7E6E6">
                <a:lumMod val="90000"/>
              </a:srgbClr>
            </a:solidFill>
          </a:ln>
        </p:spPr>
        <p:style>
          <a:lnRef idx="2">
            <a:srgbClr val="0070BF">
              <a:shade val="15000"/>
            </a:srgbClr>
          </a:lnRef>
          <a:fillRef idx="1">
            <a:srgbClr val="0070BF"/>
          </a:fillRef>
          <a:effectRef idx="0">
            <a:srgbClr val="0070BF"/>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106" name="矩形 105"/>
          <p:cNvSpPr/>
          <p:nvPr/>
        </p:nvSpPr>
        <p:spPr>
          <a:xfrm>
            <a:off x="2525395" y="1379855"/>
            <a:ext cx="335851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任务调度</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全流程</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17" name="文本框 16"/>
          <p:cNvSpPr txBox="1"/>
          <p:nvPr/>
        </p:nvSpPr>
        <p:spPr>
          <a:xfrm>
            <a:off x="487680" y="1681480"/>
            <a:ext cx="7716520" cy="533400"/>
          </a:xfrm>
          <a:prstGeom prst="rect">
            <a:avLst/>
          </a:prstGeom>
          <a:noFill/>
        </p:spPr>
        <p:txBody>
          <a:bodyPr wrap="square" rtlCol="0">
            <a:spAutoFit/>
          </a:bodyPr>
          <a:lstStyle/>
          <a:p>
            <a:pPr indent="0" fontAlgn="auto">
              <a:lnSpc>
                <a:spcPct val="120000"/>
              </a:lnSpc>
            </a:pPr>
            <a:r>
              <a:rPr lang="zh-CN" altLang="zh-HK" sz="1200">
                <a:latin typeface="微软雅黑" panose="020B0503020204020204" charset="-122"/>
                <a:ea typeface="微软雅黑" panose="020B0503020204020204" charset="-122"/>
                <a:cs typeface="微软雅黑" panose="020B0503020204020204" charset="-122"/>
              </a:rPr>
              <a:t>构建</a:t>
            </a:r>
            <a:r>
              <a:rPr lang="zh-HK" altLang="en-US" sz="1200">
                <a:latin typeface="微软雅黑" panose="020B0503020204020204" charset="-122"/>
                <a:ea typeface="微软雅黑" panose="020B0503020204020204" charset="-122"/>
                <a:cs typeface="微软雅黑" panose="020B0503020204020204" charset="-122"/>
              </a:rPr>
              <a:t>调度中心作为一级运营</a:t>
            </a:r>
            <a:r>
              <a:rPr lang="zh-CN" altLang="zh-HK" sz="1200">
                <a:latin typeface="微软雅黑" panose="020B0503020204020204" charset="-122"/>
                <a:ea typeface="微软雅黑" panose="020B0503020204020204" charset="-122"/>
                <a:cs typeface="微软雅黑" panose="020B0503020204020204" charset="-122"/>
              </a:rPr>
              <a:t>平台</a:t>
            </a:r>
            <a:r>
              <a:rPr lang="zh-HK" altLang="en-US" sz="1200">
                <a:latin typeface="微软雅黑" panose="020B0503020204020204" charset="-122"/>
                <a:ea typeface="微软雅黑" panose="020B0503020204020204" charset="-122"/>
                <a:cs typeface="微软雅黑" panose="020B0503020204020204" charset="-122"/>
              </a:rPr>
              <a:t>的统一任务调度入口，</a:t>
            </a:r>
            <a:r>
              <a:rPr lang="zh-CN" altLang="zh-HK" sz="1200">
                <a:latin typeface="微软雅黑" panose="020B0503020204020204" charset="-122"/>
                <a:ea typeface="微软雅黑" panose="020B0503020204020204" charset="-122"/>
                <a:cs typeface="微软雅黑" panose="020B0503020204020204" charset="-122"/>
              </a:rPr>
              <a:t>覆盖平台全</a:t>
            </a:r>
            <a:r>
              <a:rPr lang="zh-HK" altLang="en-US" sz="1200">
                <a:latin typeface="微软雅黑" panose="020B0503020204020204" charset="-122"/>
                <a:ea typeface="微软雅黑" panose="020B0503020204020204" charset="-122"/>
                <a:cs typeface="微软雅黑" panose="020B0503020204020204" charset="-122"/>
              </a:rPr>
              <a:t>场景（如存量运营大屏、家庭运营专区等），均通</a:t>
            </a:r>
            <a:r>
              <a:rPr lang="zh-CN" altLang="zh-HK" sz="1200">
                <a:latin typeface="微软雅黑" panose="020B0503020204020204" charset="-122"/>
                <a:ea typeface="微软雅黑" panose="020B0503020204020204" charset="-122"/>
                <a:cs typeface="微软雅黑" panose="020B0503020204020204" charset="-122"/>
              </a:rPr>
              <a:t>可调用</a:t>
            </a:r>
            <a:r>
              <a:rPr lang="zh-HK" altLang="en-US" sz="1200">
                <a:latin typeface="微软雅黑" panose="020B0503020204020204" charset="-122"/>
                <a:ea typeface="微软雅黑" panose="020B0503020204020204" charset="-122"/>
                <a:cs typeface="微软雅黑" panose="020B0503020204020204" charset="-122"/>
              </a:rPr>
              <a:t>统一调度能力进行</a:t>
            </a:r>
            <a:r>
              <a:rPr lang="zh-CN" altLang="zh-HK" sz="1200">
                <a:latin typeface="微软雅黑" panose="020B0503020204020204" charset="-122"/>
                <a:ea typeface="微软雅黑" panose="020B0503020204020204" charset="-122"/>
                <a:cs typeface="微软雅黑" panose="020B0503020204020204" charset="-122"/>
              </a:rPr>
              <a:t>任务</a:t>
            </a:r>
            <a:r>
              <a:rPr lang="zh-HK" altLang="en-US" sz="1200">
                <a:latin typeface="微软雅黑" panose="020B0503020204020204" charset="-122"/>
                <a:ea typeface="微软雅黑" panose="020B0503020204020204" charset="-122"/>
                <a:cs typeface="微软雅黑" panose="020B0503020204020204" charset="-122"/>
              </a:rPr>
              <a:t>派发</a:t>
            </a:r>
            <a:r>
              <a:rPr lang="zh-CN" altLang="zh-HK" sz="1200">
                <a:latin typeface="微软雅黑" panose="020B0503020204020204" charset="-122"/>
                <a:ea typeface="微软雅黑" panose="020B0503020204020204" charset="-122"/>
                <a:cs typeface="微软雅黑" panose="020B0503020204020204" charset="-122"/>
              </a:rPr>
              <a:t>，或自行派发的任务均需统一归集至调度中心实施跟踪管理。</a:t>
            </a:r>
            <a:endParaRPr lang="en-US" altLang="zh-HK" sz="1200">
              <a:latin typeface="微软雅黑" panose="020B0503020204020204" charset="-122"/>
              <a:ea typeface="微软雅黑" panose="020B0503020204020204" charset="-122"/>
              <a:cs typeface="微软雅黑" panose="020B0503020204020204" charset="-122"/>
            </a:endParaRPr>
          </a:p>
        </p:txBody>
      </p:sp>
      <p:sp>
        <p:nvSpPr>
          <p:cNvPr id="19" name="矩形 18"/>
          <p:cNvSpPr/>
          <p:nvPr/>
        </p:nvSpPr>
        <p:spPr>
          <a:xfrm>
            <a:off x="8503920" y="1505585"/>
            <a:ext cx="3357880" cy="4895850"/>
          </a:xfrm>
          <a:prstGeom prst="rect">
            <a:avLst/>
          </a:prstGeom>
          <a:noFill/>
          <a:ln w="3175">
            <a:solidFill>
              <a:srgbClr val="E7E6E6">
                <a:lumMod val="90000"/>
              </a:srgbClr>
            </a:solidFill>
          </a:ln>
        </p:spPr>
        <p:style>
          <a:lnRef idx="2">
            <a:srgbClr val="0070BF">
              <a:shade val="15000"/>
            </a:srgbClr>
          </a:lnRef>
          <a:fillRef idx="1">
            <a:srgbClr val="0070BF"/>
          </a:fillRef>
          <a:effectRef idx="0">
            <a:srgbClr val="0070BF"/>
          </a:effectRef>
          <a:fontRef idx="minor">
            <a:srgbClr val="FFFFFF"/>
          </a:fontRef>
        </p:style>
        <p:txBody>
          <a:bodyPr rtlCol="0" anchor="ctr"/>
          <a:lstStyle/>
          <a:p>
            <a:pPr indent="0">
              <a:lnSpc>
                <a:spcPct val="150000"/>
              </a:lnSpc>
              <a:buFont typeface="Wingdings" panose="05000000000000000000" pitchFamily="2" charset="2"/>
              <a:buNone/>
            </a:pPr>
            <a:endParaRPr kumimoji="1" lang="en-US" altLang="zh-CN" sz="1050" dirty="0">
              <a:solidFill>
                <a:srgbClr val="000000"/>
              </a:solidFill>
              <a:latin typeface="微软雅黑" panose="020B0503020204020204" charset="-122"/>
              <a:ea typeface="微软雅黑" panose="020B0503020204020204" charset="-122"/>
            </a:endParaRPr>
          </a:p>
        </p:txBody>
      </p:sp>
      <p:sp>
        <p:nvSpPr>
          <p:cNvPr id="20" name="矩形 19"/>
          <p:cNvSpPr/>
          <p:nvPr/>
        </p:nvSpPr>
        <p:spPr>
          <a:xfrm>
            <a:off x="9324340" y="1384300"/>
            <a:ext cx="171767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调度中心</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21" name="文字框 20"/>
          <p:cNvSpPr txBox="1"/>
          <p:nvPr/>
        </p:nvSpPr>
        <p:spPr>
          <a:xfrm>
            <a:off x="8580120" y="1691640"/>
            <a:ext cx="3205480" cy="460375"/>
          </a:xfrm>
          <a:prstGeom prst="rect">
            <a:avLst/>
          </a:prstGeom>
        </p:spPr>
        <p:txBody>
          <a:bodyPr wrap="square">
            <a:spAutoFit/>
          </a:bodyPr>
          <a:p>
            <a:pPr marL="0" indent="0" algn="just" defTabSz="266700">
              <a:spcBef>
                <a:spcPct val="0"/>
              </a:spcBef>
              <a:spcAft>
                <a:spcPct val="0"/>
              </a:spcAft>
            </a:pPr>
            <a:r>
              <a:rPr lang="zh-CN" altLang="en-US" sz="1200">
                <a:latin typeface="微软雅黑" panose="020B0503020204020204" charset="-122"/>
                <a:ea typeface="微软雅黑" panose="020B0503020204020204" charset="-122"/>
              </a:rPr>
              <a:t>提供任务调度、任务跟踪与资源协调能力，确保端到端业务流程高效协同</a:t>
            </a:r>
            <a:r>
              <a:rPr lang="en-US" altLang="zh-CN" sz="1200">
                <a:latin typeface="微软雅黑" panose="020B0503020204020204" charset="-122"/>
                <a:ea typeface="微软雅黑" panose="020B0503020204020204" charset="-122"/>
              </a:rPr>
              <a:t>。</a:t>
            </a:r>
            <a:endParaRPr lang="en-US" altLang="zh-CN" sz="1200">
              <a:latin typeface="微软雅黑" panose="020B0503020204020204" charset="-122"/>
              <a:ea typeface="微软雅黑" panose="020B0503020204020204" charset="-122"/>
            </a:endParaRPr>
          </a:p>
        </p:txBody>
      </p:sp>
      <p:sp>
        <p:nvSpPr>
          <p:cNvPr id="29" name="下箭頭 28"/>
          <p:cNvSpPr/>
          <p:nvPr/>
        </p:nvSpPr>
        <p:spPr>
          <a:xfrm>
            <a:off x="9032875" y="2654300"/>
            <a:ext cx="527685" cy="3195955"/>
          </a:xfrm>
          <a:prstGeom prst="downArrow">
            <a:avLst/>
          </a:prstGeom>
          <a:solidFill>
            <a:schemeClr val="bg1">
              <a:lumMod val="85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HK" altLang="en-US"/>
          </a:p>
        </p:txBody>
      </p:sp>
      <p:sp>
        <p:nvSpPr>
          <p:cNvPr id="22" name="矩形 21"/>
          <p:cNvSpPr/>
          <p:nvPr/>
        </p:nvSpPr>
        <p:spPr>
          <a:xfrm>
            <a:off x="8655050" y="2343785"/>
            <a:ext cx="1282700" cy="313055"/>
          </a:xfrm>
          <a:prstGeom prst="rect">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a:solidFill>
                  <a:schemeClr val="tx1"/>
                </a:solidFill>
              </a:rPr>
              <a:t>任务流程配置</a:t>
            </a:r>
            <a:endParaRPr lang="zh-CN" altLang="zh-HK" sz="1200">
              <a:solidFill>
                <a:schemeClr val="tx1"/>
              </a:solidFill>
            </a:endParaRPr>
          </a:p>
        </p:txBody>
      </p:sp>
      <p:sp>
        <p:nvSpPr>
          <p:cNvPr id="23" name="矩形 22"/>
          <p:cNvSpPr/>
          <p:nvPr/>
        </p:nvSpPr>
        <p:spPr>
          <a:xfrm>
            <a:off x="8655050" y="3062605"/>
            <a:ext cx="1282700" cy="313055"/>
          </a:xfrm>
          <a:prstGeom prst="rect">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a:solidFill>
                  <a:schemeClr val="tx1"/>
                </a:solidFill>
              </a:rPr>
              <a:t>任务调度</a:t>
            </a:r>
            <a:endParaRPr lang="zh-CN" altLang="zh-HK" sz="1200">
              <a:solidFill>
                <a:schemeClr val="tx1"/>
              </a:solidFill>
            </a:endParaRPr>
          </a:p>
        </p:txBody>
      </p:sp>
      <p:sp>
        <p:nvSpPr>
          <p:cNvPr id="24" name="矩形 23"/>
          <p:cNvSpPr/>
          <p:nvPr/>
        </p:nvSpPr>
        <p:spPr>
          <a:xfrm>
            <a:off x="8655050" y="3757930"/>
            <a:ext cx="1282700" cy="313055"/>
          </a:xfrm>
          <a:prstGeom prst="rect">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a:solidFill>
                  <a:schemeClr val="tx1"/>
                </a:solidFill>
              </a:rPr>
              <a:t>任务执行</a:t>
            </a:r>
            <a:endParaRPr lang="zh-CN" altLang="zh-HK" sz="1200">
              <a:solidFill>
                <a:schemeClr val="tx1"/>
              </a:solidFill>
            </a:endParaRPr>
          </a:p>
        </p:txBody>
      </p:sp>
      <p:sp>
        <p:nvSpPr>
          <p:cNvPr id="25" name="矩形 24"/>
          <p:cNvSpPr/>
          <p:nvPr/>
        </p:nvSpPr>
        <p:spPr>
          <a:xfrm>
            <a:off x="8655050" y="4490720"/>
            <a:ext cx="1282700" cy="313055"/>
          </a:xfrm>
          <a:prstGeom prst="rect">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a:solidFill>
                  <a:schemeClr val="tx1"/>
                </a:solidFill>
              </a:rPr>
              <a:t>任务跟踪</a:t>
            </a:r>
            <a:endParaRPr lang="zh-CN" altLang="zh-HK" sz="1200">
              <a:solidFill>
                <a:schemeClr val="tx1"/>
              </a:solidFill>
            </a:endParaRPr>
          </a:p>
        </p:txBody>
      </p:sp>
      <p:sp>
        <p:nvSpPr>
          <p:cNvPr id="26" name="矩形 25"/>
          <p:cNvSpPr/>
          <p:nvPr/>
        </p:nvSpPr>
        <p:spPr>
          <a:xfrm>
            <a:off x="8655050" y="5191125"/>
            <a:ext cx="1282700" cy="313055"/>
          </a:xfrm>
          <a:prstGeom prst="rect">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a:solidFill>
                  <a:schemeClr val="tx1"/>
                </a:solidFill>
              </a:rPr>
              <a:t>统一调度服务</a:t>
            </a:r>
            <a:endParaRPr lang="zh-CN" altLang="zh-HK" sz="1200">
              <a:solidFill>
                <a:schemeClr val="tx1"/>
              </a:solidFill>
            </a:endParaRPr>
          </a:p>
        </p:txBody>
      </p:sp>
      <p:sp>
        <p:nvSpPr>
          <p:cNvPr id="28" name="矩形 27"/>
          <p:cNvSpPr/>
          <p:nvPr/>
        </p:nvSpPr>
        <p:spPr>
          <a:xfrm>
            <a:off x="8655050" y="5850890"/>
            <a:ext cx="1282700" cy="313055"/>
          </a:xfrm>
          <a:prstGeom prst="rect">
            <a:avLst/>
          </a:prstGeom>
          <a:solidFill>
            <a:srgbClr val="DEEBFE"/>
          </a:solidFill>
          <a:ln>
            <a:solidFill>
              <a:srgbClr val="DEEBFE"/>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200">
                <a:solidFill>
                  <a:schemeClr val="tx1"/>
                </a:solidFill>
              </a:rPr>
              <a:t>统一调度组件</a:t>
            </a:r>
            <a:endParaRPr lang="zh-CN" altLang="zh-HK" sz="1200">
              <a:solidFill>
                <a:schemeClr val="tx1"/>
              </a:solidFill>
            </a:endParaRPr>
          </a:p>
        </p:txBody>
      </p:sp>
      <p:sp>
        <p:nvSpPr>
          <p:cNvPr id="30" name="文字框 29"/>
          <p:cNvSpPr txBox="1"/>
          <p:nvPr/>
        </p:nvSpPr>
        <p:spPr>
          <a:xfrm>
            <a:off x="9937750" y="2343785"/>
            <a:ext cx="1685290" cy="245110"/>
          </a:xfrm>
          <a:prstGeom prst="rect">
            <a:avLst/>
          </a:prstGeom>
        </p:spPr>
        <p:txBody>
          <a:bodyPr wrap="square">
            <a:spAutoFit/>
          </a:bodyPr>
          <a:p>
            <a:pPr marL="0" indent="0" algn="just" defTabSz="266700">
              <a:spcBef>
                <a:spcPct val="0"/>
              </a:spcBef>
              <a:spcAft>
                <a:spcPct val="0"/>
              </a:spcAft>
            </a:pPr>
            <a:r>
              <a:rPr lang="zh-CN" altLang="en-US" sz="1000">
                <a:latin typeface="微软雅黑" panose="020B0503020204020204" charset="-122"/>
                <a:ea typeface="微软雅黑" panose="020B0503020204020204" charset="-122"/>
              </a:rPr>
              <a:t>运维人员按需配置</a:t>
            </a:r>
            <a:endParaRPr lang="zh-CN" altLang="en-US" sz="1000">
              <a:latin typeface="微软雅黑" panose="020B0503020204020204" charset="-122"/>
              <a:ea typeface="微软雅黑" panose="020B0503020204020204" charset="-122"/>
            </a:endParaRPr>
          </a:p>
        </p:txBody>
      </p:sp>
      <p:sp>
        <p:nvSpPr>
          <p:cNvPr id="31" name="文字框 30"/>
          <p:cNvSpPr txBox="1"/>
          <p:nvPr/>
        </p:nvSpPr>
        <p:spPr>
          <a:xfrm>
            <a:off x="9937750" y="2894965"/>
            <a:ext cx="1847850" cy="553085"/>
          </a:xfrm>
          <a:prstGeom prst="rect">
            <a:avLst/>
          </a:prstGeom>
        </p:spPr>
        <p:txBody>
          <a:bodyPr wrap="square">
            <a:spAutoFit/>
          </a:bodyPr>
          <a:p>
            <a:pPr marL="0" indent="0" algn="just" defTabSz="266700">
              <a:spcBef>
                <a:spcPct val="0"/>
              </a:spcBef>
              <a:spcAft>
                <a:spcPct val="0"/>
              </a:spcAft>
            </a:pPr>
            <a:r>
              <a:rPr lang="zh-HK" altLang="en-US" sz="1000">
                <a:latin typeface="微软雅黑" panose="020B0503020204020204" charset="-122"/>
                <a:ea typeface="微软雅黑" panose="020B0503020204020204" charset="-122"/>
              </a:rPr>
              <a:t>通过预警、指标、新增三种方式主动发起，统一派发至指挥调度、一级</a:t>
            </a:r>
            <a:r>
              <a:rPr lang="en-US" altLang="zh-HK" sz="1000">
                <a:latin typeface="微软雅黑" panose="020B0503020204020204" charset="-122"/>
                <a:ea typeface="微软雅黑" panose="020B0503020204020204" charset="-122"/>
              </a:rPr>
              <a:t>IOP</a:t>
            </a:r>
            <a:r>
              <a:rPr lang="zh-HK" altLang="en-US" sz="1000">
                <a:latin typeface="微软雅黑" panose="020B0503020204020204" charset="-122"/>
                <a:ea typeface="微软雅黑" panose="020B0503020204020204" charset="-122"/>
              </a:rPr>
              <a:t>平台</a:t>
            </a:r>
            <a:endParaRPr lang="zh-HK" altLang="en-US" sz="1000">
              <a:latin typeface="微软雅黑" panose="020B0503020204020204" charset="-122"/>
              <a:ea typeface="微软雅黑" panose="020B0503020204020204" charset="-122"/>
            </a:endParaRPr>
          </a:p>
        </p:txBody>
      </p:sp>
      <p:sp>
        <p:nvSpPr>
          <p:cNvPr id="32" name="文字框 31"/>
          <p:cNvSpPr txBox="1"/>
          <p:nvPr/>
        </p:nvSpPr>
        <p:spPr>
          <a:xfrm>
            <a:off x="9937750" y="3614420"/>
            <a:ext cx="1847850" cy="553085"/>
          </a:xfrm>
          <a:prstGeom prst="rect">
            <a:avLst/>
          </a:prstGeom>
        </p:spPr>
        <p:txBody>
          <a:bodyPr wrap="square">
            <a:spAutoFit/>
          </a:bodyPr>
          <a:p>
            <a:pPr marL="0" indent="0" algn="just" defTabSz="266700">
              <a:spcBef>
                <a:spcPct val="0"/>
              </a:spcBef>
              <a:spcAft>
                <a:spcPct val="0"/>
              </a:spcAft>
            </a:pPr>
            <a:r>
              <a:rPr lang="zh-CN" altLang="en-US" sz="1000">
                <a:latin typeface="微软雅黑" panose="020B0503020204020204" charset="-122"/>
                <a:ea typeface="微软雅黑" panose="020B0503020204020204" charset="-122"/>
                <a:cs typeface="微软雅黑" panose="020B0503020204020204" charset="-122"/>
              </a:rPr>
              <a:t>省端运营</a:t>
            </a:r>
            <a:r>
              <a:rPr lang="en-US" altLang="zh-CN" sz="1000">
                <a:latin typeface="微软雅黑" panose="020B0503020204020204" charset="-122"/>
                <a:ea typeface="微软雅黑" panose="020B0503020204020204" charset="-122"/>
                <a:cs typeface="微软雅黑" panose="020B0503020204020204" charset="-122"/>
              </a:rPr>
              <a:t>、IOP、OA</a:t>
            </a:r>
            <a:r>
              <a:rPr lang="zh-CN" altLang="en-US" sz="1000">
                <a:latin typeface="微软雅黑" panose="020B0503020204020204" charset="-122"/>
                <a:ea typeface="微软雅黑" panose="020B0503020204020204" charset="-122"/>
                <a:cs typeface="微软雅黑" panose="020B0503020204020204" charset="-122"/>
              </a:rPr>
              <a:t>平台处理和回单，一级运营平台回收处理进展和处理结果</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3" name="文字框 32"/>
          <p:cNvSpPr txBox="1"/>
          <p:nvPr/>
        </p:nvSpPr>
        <p:spPr>
          <a:xfrm>
            <a:off x="9937750" y="4453890"/>
            <a:ext cx="1847850" cy="398780"/>
          </a:xfrm>
          <a:prstGeom prst="rect">
            <a:avLst/>
          </a:prstGeom>
        </p:spPr>
        <p:txBody>
          <a:bodyPr wrap="square">
            <a:spAutoFit/>
          </a:bodyPr>
          <a:p>
            <a:pPr marL="0" indent="0" algn="just" defTabSz="266700">
              <a:lnSpc>
                <a:spcPct val="100000"/>
              </a:lnSpc>
              <a:spcBef>
                <a:spcPct val="0"/>
              </a:spcBef>
              <a:spcAft>
                <a:spcPct val="0"/>
              </a:spcAft>
              <a:buFont typeface="Times New Roman" panose="02020603050405020304"/>
              <a:buNone/>
            </a:pPr>
            <a:r>
              <a:rPr lang="zh-CN" altLang="en-US" sz="1000">
                <a:latin typeface="微软雅黑" panose="020B0503020204020204" charset="-122"/>
                <a:ea typeface="微软雅黑" panose="020B0503020204020204" charset="-122"/>
              </a:rPr>
              <a:t>各级</a:t>
            </a:r>
            <a:r>
              <a:rPr lang="zh-CN" altLang="en-US" sz="1000">
                <a:latin typeface="微软雅黑" panose="020B0503020204020204" charset="-122"/>
                <a:ea typeface="微软雅黑" panose="020B0503020204020204" charset="-122"/>
              </a:rPr>
              <a:t>人员跟踪任务，支持添加中途意见，督办和催办任务</a:t>
            </a:r>
            <a:endParaRPr lang="zh-CN" altLang="en-US" sz="1000">
              <a:latin typeface="微软雅黑" panose="020B0503020204020204" charset="-122"/>
              <a:ea typeface="微软雅黑" panose="020B0503020204020204" charset="-122"/>
            </a:endParaRPr>
          </a:p>
        </p:txBody>
      </p:sp>
      <p:sp>
        <p:nvSpPr>
          <p:cNvPr id="34" name="文字框 33"/>
          <p:cNvSpPr txBox="1"/>
          <p:nvPr/>
        </p:nvSpPr>
        <p:spPr>
          <a:xfrm>
            <a:off x="9937750" y="5116195"/>
            <a:ext cx="1848485" cy="398780"/>
          </a:xfrm>
          <a:prstGeom prst="rect">
            <a:avLst/>
          </a:prstGeom>
        </p:spPr>
        <p:txBody>
          <a:bodyPr wrap="square">
            <a:spAutoFit/>
          </a:bodyPr>
          <a:p>
            <a:pPr marL="0" indent="0" algn="just" defTabSz="266700">
              <a:spcBef>
                <a:spcPct val="0"/>
              </a:spcBef>
              <a:spcAft>
                <a:spcPct val="0"/>
              </a:spcAft>
            </a:pPr>
            <a:r>
              <a:rPr lang="zh-CN" altLang="en-US" sz="1000">
                <a:latin typeface="微软雅黑" panose="020B0503020204020204" charset="-122"/>
                <a:ea typeface="微软雅黑" panose="020B0503020204020204" charset="-122"/>
                <a:cs typeface="微软雅黑" panose="020B0503020204020204" charset="-122"/>
              </a:rPr>
              <a:t>提供标准</a:t>
            </a:r>
            <a:r>
              <a:rPr lang="en-US" altLang="zh-CN" sz="1000">
                <a:latin typeface="微软雅黑" panose="020B0503020204020204" charset="-122"/>
                <a:ea typeface="微软雅黑" panose="020B0503020204020204" charset="-122"/>
                <a:cs typeface="微软雅黑" panose="020B0503020204020204" charset="-122"/>
              </a:rPr>
              <a:t>API</a:t>
            </a:r>
            <a:r>
              <a:rPr lang="zh-CN" altLang="en-US" sz="1000">
                <a:latin typeface="微软雅黑" panose="020B0503020204020204" charset="-122"/>
                <a:ea typeface="微软雅黑" panose="020B0503020204020204" charset="-122"/>
                <a:cs typeface="微软雅黑" panose="020B0503020204020204" charset="-122"/>
              </a:rPr>
              <a:t>接口，接收各个运营场景发起的调度任务信息</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5" name="文字框 34"/>
          <p:cNvSpPr txBox="1"/>
          <p:nvPr/>
        </p:nvSpPr>
        <p:spPr>
          <a:xfrm>
            <a:off x="9937750" y="5770880"/>
            <a:ext cx="1847850" cy="433705"/>
          </a:xfrm>
          <a:prstGeom prst="rect">
            <a:avLst/>
          </a:prstGeom>
        </p:spPr>
        <p:txBody>
          <a:bodyPr>
            <a:noAutofit/>
          </a:bodyPr>
          <a:p>
            <a:pPr marL="0" indent="0" algn="just" defTabSz="266700">
              <a:spcBef>
                <a:spcPct val="0"/>
              </a:spcBef>
              <a:spcAft>
                <a:spcPct val="0"/>
              </a:spcAft>
            </a:pPr>
            <a:r>
              <a:rPr lang="zh-CN" altLang="en-US" sz="1000">
                <a:latin typeface="微软雅黑" panose="020B0503020204020204" charset="-122"/>
                <a:ea typeface="微软雅黑" panose="020B0503020204020204" charset="-122"/>
              </a:rPr>
              <a:t>平台封装前端统一调度组件提供给各个运营场景调用</a:t>
            </a:r>
            <a:endParaRPr lang="zh-CN" altLang="en-US" sz="100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70BF"/>
                </a:solidFill>
                <a:latin typeface="微软雅黑" panose="020B0503020204020204" charset="-122"/>
                <a:ea typeface="微软雅黑" panose="020B0503020204020204" charset="-122"/>
                <a:cs typeface="微软雅黑" panose="020B0503020204020204" charset="-122"/>
                <a:sym typeface="+mn-ea"/>
              </a:rPr>
              <a:t>核心能力</a:t>
            </a:r>
            <a:r>
              <a:rPr>
                <a:solidFill>
                  <a:srgbClr val="0070BF"/>
                </a:solidFill>
                <a:latin typeface="微软雅黑" panose="020B0503020204020204" charset="-122"/>
                <a:ea typeface="微软雅黑" panose="020B0503020204020204" charset="-122"/>
                <a:cs typeface="微软雅黑" panose="020B0503020204020204" charset="-122"/>
                <a:sym typeface="+mn-ea"/>
              </a:rPr>
              <a:t>4</a:t>
            </a:r>
            <a:r>
              <a:rPr lang="zh-CN" altLang="en-US">
                <a:solidFill>
                  <a:srgbClr val="0070BF"/>
                </a:solidFill>
                <a:latin typeface="微软雅黑" panose="020B0503020204020204" charset="-122"/>
                <a:ea typeface="微软雅黑" panose="020B0503020204020204" charset="-122"/>
                <a:cs typeface="微软雅黑" panose="020B0503020204020204" charset="-122"/>
                <a:sym typeface="+mn-ea"/>
              </a:rPr>
              <a:t>：</a:t>
            </a:r>
            <a:r>
              <a:rPr lang="zh-CN" altLang="en-US">
                <a:solidFill>
                  <a:srgbClr val="C00000"/>
                </a:solidFill>
                <a:sym typeface="+mn-ea"/>
              </a:rPr>
              <a:t>评</a:t>
            </a:r>
            <a:r>
              <a:rPr>
                <a:solidFill>
                  <a:srgbClr val="0070BF"/>
                </a:solidFill>
                <a:sym typeface="+mn-ea"/>
              </a:rPr>
              <a:t>-</a:t>
            </a:r>
            <a:r>
              <a:rPr lang="zh-CN" altLang="en-US">
                <a:solidFill>
                  <a:srgbClr val="0070BF"/>
                </a:solidFill>
                <a:sym typeface="+mn-ea"/>
              </a:rPr>
              <a:t>多维度评估，持续调优运营效果评估闭环</a:t>
            </a:r>
            <a:endParaRPr lang="zh-CN" altLang="en-US"/>
          </a:p>
        </p:txBody>
      </p:sp>
      <p:sp>
        <p:nvSpPr>
          <p:cNvPr id="3" name="文本占位符 2"/>
          <p:cNvSpPr txBox="1">
            <a:spLocks noGrp="1"/>
          </p:cNvSpPr>
          <p:nvPr>
            <p:ph type="body" sz="quarter" idx="10"/>
          </p:nvPr>
        </p:nvSpPr>
        <p:spPr>
          <a:noFill/>
        </p:spPr>
        <p:txBody>
          <a:bodyPr vert="horz" wrap="square" lIns="91440" tIns="45720" rIns="91440" bIns="45720" numCol="1" spcCol="0" rtlCol="0" fromWordArt="0" anchor="t" anchorCtr="0" compatLnSpc="0">
            <a:noAutofit/>
          </a:bodyPr>
          <a:p>
            <a:pPr marL="306070" lvl="0" indent="-306070" algn="l" defTabSz="914400" eaLnBrk="0">
              <a:lnSpc>
                <a:spcPct val="109000"/>
              </a:lnSpc>
              <a:spcBef>
                <a:spcPts val="0"/>
              </a:spcBef>
              <a:spcAft>
                <a:spcPts val="0"/>
              </a:spcAft>
              <a:buSzTx/>
              <a:buFont typeface="Wingdings" panose="05000000000000000000" charset="0"/>
              <a:tabLst>
                <a:tab pos="356870" algn="l"/>
              </a:tabLst>
              <a:defRPr/>
            </a:pPr>
            <a:r>
              <a:rPr kumimoji="1" altLang="zh-HK" kern="1200" noProof="0">
                <a:latin typeface="+mn-lt"/>
                <a:ea typeface="+mn-lt"/>
                <a:cs typeface="+mn-lt"/>
                <a:sym typeface="+mn-ea"/>
              </a:rPr>
              <a:t>依托</a:t>
            </a:r>
            <a:r>
              <a:rPr kumimoji="1" altLang="zh-HK" kern="1200" noProof="0">
                <a:latin typeface="+mn-lt"/>
                <a:ea typeface="+mn-lt"/>
                <a:cs typeface="+mn-lt"/>
                <a:sym typeface="+mn-ea"/>
              </a:rPr>
              <a:t> AI </a:t>
            </a:r>
            <a:r>
              <a:rPr kumimoji="1" altLang="zh-HK" kern="1200" noProof="0">
                <a:latin typeface="+mn-lt"/>
                <a:ea typeface="+mn-lt"/>
                <a:cs typeface="+mn-lt"/>
                <a:sym typeface="+mn-ea"/>
              </a:rPr>
              <a:t>大模型能力构建多维度调度执行评估分析</a:t>
            </a:r>
            <a:r>
              <a:rPr kumimoji="1" altLang="zh-HK" kern="1200" noProof="0">
                <a:latin typeface="+mn-lt"/>
                <a:ea typeface="+mn-lt"/>
                <a:cs typeface="+mn-lt"/>
                <a:sym typeface="+mn-ea"/>
              </a:rPr>
              <a:t>能力</a:t>
            </a:r>
            <a:r>
              <a:rPr kumimoji="1" altLang="zh-HK" kern="1200" noProof="0">
                <a:latin typeface="+mn-lt"/>
                <a:ea typeface="+mn-lt"/>
                <a:cs typeface="+mn-lt"/>
                <a:sym typeface="+mn-ea"/>
              </a:rPr>
              <a:t>。</a:t>
            </a:r>
            <a:r>
              <a:rPr kumimoji="1" altLang="zh-HK" kern="1200" noProof="0">
                <a:latin typeface="+mn-lt"/>
                <a:ea typeface="+mn-lt"/>
                <a:cs typeface="+mn-lt"/>
                <a:sym typeface="+mn-ea"/>
              </a:rPr>
              <a:t>整合调度任务</a:t>
            </a:r>
            <a:r>
              <a:rPr kumimoji="1" altLang="zh-HK" kern="1200" noProof="0">
                <a:latin typeface="+mn-lt"/>
                <a:ea typeface="+mn-lt"/>
                <a:cs typeface="+mn-lt"/>
                <a:sym typeface="+mn-ea"/>
              </a:rPr>
              <a:t>回传</a:t>
            </a:r>
            <a:r>
              <a:rPr kumimoji="1" altLang="zh-HK" kern="1200" noProof="0">
                <a:latin typeface="+mn-lt"/>
                <a:ea typeface="+mn-lt"/>
                <a:cs typeface="+mn-lt"/>
                <a:sym typeface="+mn-ea"/>
              </a:rPr>
              <a:t>信息，</a:t>
            </a:r>
            <a:r>
              <a:rPr kumimoji="1" altLang="zh-HK" kern="1200" noProof="0">
                <a:latin typeface="+mn-lt"/>
                <a:ea typeface="+mn-lt"/>
                <a:cs typeface="+mn-lt"/>
                <a:sym typeface="+mn-ea"/>
              </a:rPr>
              <a:t>实现策略持续调优，兼顾质效，形成运营效果评估闭环</a:t>
            </a:r>
            <a:endParaRPr kumimoji="1" altLang="zh-HK" kern="1200" noProof="0">
              <a:latin typeface="+mn-lt"/>
              <a:ea typeface="+mn-lt"/>
              <a:cs typeface="+mn-lt"/>
              <a:sym typeface="+mn-ea"/>
            </a:endParaRPr>
          </a:p>
        </p:txBody>
      </p:sp>
      <p:sp>
        <p:nvSpPr>
          <p:cNvPr id="217" name="矩形 216"/>
          <p:cNvSpPr/>
          <p:nvPr/>
        </p:nvSpPr>
        <p:spPr>
          <a:xfrm>
            <a:off x="7549515" y="1622425"/>
            <a:ext cx="4407535" cy="4884420"/>
          </a:xfrm>
          <a:prstGeom prst="rect">
            <a:avLst/>
          </a:prstGeom>
          <a:noFill/>
          <a:ln w="9525" cap="flat" cmpd="sng" algn="ctr">
            <a:solidFill>
              <a:schemeClr val="tx1"/>
            </a:solidFill>
            <a:prstDash val="sysDot"/>
          </a:ln>
          <a:effectLst/>
        </p:spPr>
        <p:txBody>
          <a:bodyPr wrap="square" anchor="t" anchorCtr="0">
            <a:noAutofit/>
          </a:bodyPr>
          <a:lstStyle/>
          <a:p>
            <a:pPr marL="128905" indent="-128905">
              <a:lnSpc>
                <a:spcPct val="150000"/>
              </a:lnSpc>
              <a:buFont typeface="Wingdings" panose="05000000000000000000" pitchFamily="2" charset="2"/>
              <a:buChar char="l"/>
            </a:pPr>
            <a:endParaRPr kumimoji="1" lang="zh-CN" altLang="en-US" sz="1100" dirty="0">
              <a:sym typeface="+mn-ea"/>
            </a:endParaRPr>
          </a:p>
        </p:txBody>
      </p:sp>
      <p:sp>
        <p:nvSpPr>
          <p:cNvPr id="80" name="梯形 79"/>
          <p:cNvSpPr/>
          <p:nvPr/>
        </p:nvSpPr>
        <p:spPr>
          <a:xfrm>
            <a:off x="803910" y="5456555"/>
            <a:ext cx="6511290" cy="441960"/>
          </a:xfrm>
          <a:prstGeom prst="trapezoid">
            <a:avLst>
              <a:gd name="adj" fmla="val 390114"/>
            </a:avLst>
          </a:prstGeom>
          <a:gradFill>
            <a:gsLst>
              <a:gs pos="0">
                <a:srgbClr val="BCE0FE">
                  <a:lumMod val="5000"/>
                  <a:lumOff val="95000"/>
                </a:srgbClr>
              </a:gs>
              <a:gs pos="74000">
                <a:srgbClr val="BCE0FE">
                  <a:lumMod val="45000"/>
                  <a:lumOff val="55000"/>
                </a:srgbClr>
              </a:gs>
              <a:gs pos="83000">
                <a:srgbClr val="BCE0FE">
                  <a:lumMod val="45000"/>
                  <a:lumOff val="55000"/>
                </a:srgbClr>
              </a:gs>
              <a:gs pos="100000">
                <a:srgbClr val="BCE0FE">
                  <a:lumMod val="30000"/>
                  <a:lumOff val="70000"/>
                </a:srgbClr>
              </a:gs>
            </a:gsLst>
            <a:lin ang="5400000" scaled="1"/>
          </a:gradFill>
          <a:ln w="12700" cap="flat" cmpd="sng" algn="ctr">
            <a:noFill/>
            <a:prstDash val="solid"/>
            <a:miter lim="800000"/>
          </a:ln>
          <a:effectLst/>
        </p:spPr>
        <p:txBody>
          <a:bodyPr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5"/>
              </a:spcBef>
            </a:pPr>
            <a:endParaRPr lang="zh-CN" altLang="en-US" sz="900" b="1" kern="0" dirty="0">
              <a:solidFill>
                <a:srgbClr val="C00000"/>
              </a:solidFill>
              <a:latin typeface="微软雅黑" panose="020B0503020204020204" charset="-122"/>
              <a:ea typeface="微软雅黑" panose="020B0503020204020204" charset="-122"/>
              <a:cs typeface="Times New Roman" panose="02020603050405020304"/>
            </a:endParaRPr>
          </a:p>
        </p:txBody>
      </p:sp>
      <p:sp>
        <p:nvSpPr>
          <p:cNvPr id="81" name="矩形 80"/>
          <p:cNvSpPr/>
          <p:nvPr/>
        </p:nvSpPr>
        <p:spPr>
          <a:xfrm>
            <a:off x="750570" y="5918835"/>
            <a:ext cx="6564630" cy="365125"/>
          </a:xfrm>
          <a:prstGeom prst="rect">
            <a:avLst/>
          </a:prstGeom>
        </p:spPr>
        <p:style>
          <a:lnRef idx="0">
            <a:srgbClr val="FFFFFF"/>
          </a:lnRef>
          <a:fillRef idx="1">
            <a:schemeClr val="accent1"/>
          </a:fillRef>
          <a:effectRef idx="0">
            <a:srgbClr val="FFFFFF"/>
          </a:effectRef>
          <a:fontRef idx="minor">
            <a:schemeClr val="lt1"/>
          </a:fontRef>
        </p:style>
        <p:txBody>
          <a:bodyPr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5"/>
              </a:spcBef>
              <a:spcAft>
                <a:spcPts val="0"/>
              </a:spcAft>
              <a:buClrTx/>
              <a:buSzTx/>
              <a:buFontTx/>
              <a:buNone/>
              <a:defRPr/>
            </a:pPr>
            <a:endParaRPr kumimoji="0" lang="zh-CN" altLang="en-US" sz="9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Times New Roman" panose="02020603050405020304"/>
              <a:sym typeface="+mn-ea"/>
            </a:endParaRPr>
          </a:p>
        </p:txBody>
      </p:sp>
      <p:sp>
        <p:nvSpPr>
          <p:cNvPr id="116" name="梯形 115"/>
          <p:cNvSpPr/>
          <p:nvPr/>
        </p:nvSpPr>
        <p:spPr>
          <a:xfrm>
            <a:off x="848995" y="2732405"/>
            <a:ext cx="6331585" cy="464820"/>
          </a:xfrm>
          <a:prstGeom prst="trapezoid">
            <a:avLst>
              <a:gd name="adj" fmla="val 229555"/>
            </a:avLst>
          </a:prstGeom>
          <a:gradFill>
            <a:gsLst>
              <a:gs pos="0">
                <a:srgbClr val="BCE0FE">
                  <a:lumMod val="5000"/>
                  <a:lumOff val="95000"/>
                </a:srgbClr>
              </a:gs>
              <a:gs pos="74000">
                <a:srgbClr val="BCE0FE">
                  <a:lumMod val="45000"/>
                  <a:lumOff val="55000"/>
                </a:srgbClr>
              </a:gs>
              <a:gs pos="83000">
                <a:srgbClr val="BCE0FE">
                  <a:lumMod val="45000"/>
                  <a:lumOff val="55000"/>
                </a:srgbClr>
              </a:gs>
              <a:gs pos="100000">
                <a:srgbClr val="BCE0FE">
                  <a:lumMod val="30000"/>
                  <a:lumOff val="70000"/>
                </a:srgbClr>
              </a:gs>
            </a:gsLst>
            <a:lin ang="5400000" scaled="1"/>
          </a:gradFill>
          <a:ln w="12700" cap="flat" cmpd="sng" algn="ctr">
            <a:noFill/>
            <a:prstDash val="solid"/>
            <a:miter lim="800000"/>
          </a:ln>
          <a:effectLst/>
        </p:spPr>
        <p:txBody>
          <a:bodyPr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None/>
            </a:pPr>
            <a:endParaRPr lang="zh-CN" altLang="en-US" sz="1100" b="1" kern="0" dirty="0">
              <a:solidFill>
                <a:schemeClr val="accent1"/>
              </a:solidFill>
              <a:latin typeface="微软雅黑" panose="020B0503020204020204" charset="-122"/>
              <a:ea typeface="微软雅黑" panose="020B0503020204020204" charset="-122"/>
              <a:cs typeface="Times New Roman" panose="02020603050405020304"/>
            </a:endParaRPr>
          </a:p>
        </p:txBody>
      </p:sp>
      <p:sp>
        <p:nvSpPr>
          <p:cNvPr id="18" name="矩形: 圆角 17"/>
          <p:cNvSpPr/>
          <p:nvPr>
            <p:custDataLst>
              <p:tags r:id="rId1"/>
            </p:custDataLst>
          </p:nvPr>
        </p:nvSpPr>
        <p:spPr>
          <a:xfrm>
            <a:off x="803910" y="3264535"/>
            <a:ext cx="1562735" cy="2223135"/>
          </a:xfrm>
          <a:prstGeom prst="roundRect">
            <a:avLst>
              <a:gd name="adj" fmla="val 5247"/>
            </a:avLst>
          </a:prstGeom>
          <a:solidFill>
            <a:srgbClr val="E1F3FF">
              <a:alpha val="30196"/>
            </a:srgbClr>
          </a:solidFill>
          <a:ln>
            <a:solidFill>
              <a:srgbClr val="BFE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矩形: 圆角 17"/>
          <p:cNvSpPr/>
          <p:nvPr>
            <p:custDataLst>
              <p:tags r:id="rId2"/>
            </p:custDataLst>
          </p:nvPr>
        </p:nvSpPr>
        <p:spPr>
          <a:xfrm>
            <a:off x="2460625" y="3264535"/>
            <a:ext cx="1562735" cy="2223135"/>
          </a:xfrm>
          <a:prstGeom prst="roundRect">
            <a:avLst>
              <a:gd name="adj" fmla="val 5247"/>
            </a:avLst>
          </a:prstGeom>
          <a:solidFill>
            <a:srgbClr val="E1F3FF">
              <a:alpha val="30196"/>
            </a:srgbClr>
          </a:solidFill>
          <a:ln>
            <a:solidFill>
              <a:srgbClr val="BFE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矩形: 圆角 17"/>
          <p:cNvSpPr/>
          <p:nvPr>
            <p:custDataLst>
              <p:tags r:id="rId3"/>
            </p:custDataLst>
          </p:nvPr>
        </p:nvSpPr>
        <p:spPr>
          <a:xfrm>
            <a:off x="4117975" y="3264535"/>
            <a:ext cx="1562735" cy="2223135"/>
          </a:xfrm>
          <a:prstGeom prst="roundRect">
            <a:avLst>
              <a:gd name="adj" fmla="val 5247"/>
            </a:avLst>
          </a:prstGeom>
          <a:solidFill>
            <a:srgbClr val="E1F3FF">
              <a:alpha val="30196"/>
            </a:srgbClr>
          </a:solidFill>
          <a:ln>
            <a:solidFill>
              <a:srgbClr val="BFE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本框 7"/>
          <p:cNvSpPr txBox="1"/>
          <p:nvPr>
            <p:custDataLst>
              <p:tags r:id="rId4"/>
            </p:custDataLst>
          </p:nvPr>
        </p:nvSpPr>
        <p:spPr>
          <a:xfrm>
            <a:off x="1114425" y="3344545"/>
            <a:ext cx="1017905" cy="306705"/>
          </a:xfrm>
          <a:prstGeom prst="rect">
            <a:avLst/>
          </a:prstGeom>
          <a:noFill/>
        </p:spPr>
        <p:txBody>
          <a:bodyPr wrap="square" rtlCol="0">
            <a:spAutoFit/>
          </a:bodyPr>
          <a:lstStyle/>
          <a:p>
            <a:pPr algn="ctr"/>
            <a:r>
              <a:rPr kumimoji="1" lang="zh-CN" altLang="en-US" sz="1400" dirty="0">
                <a:latin typeface="微软雅黑" panose="020B0503020204020204" charset="-122"/>
                <a:ea typeface="微软雅黑" panose="020B0503020204020204" charset="-122"/>
              </a:rPr>
              <a:t>客户洞察</a:t>
            </a:r>
            <a:endParaRPr kumimoji="1" lang="zh-CN" altLang="en-US" sz="1400" dirty="0">
              <a:latin typeface="微软雅黑" panose="020B0503020204020204" charset="-122"/>
              <a:ea typeface="微软雅黑" panose="020B0503020204020204" charset="-122"/>
            </a:endParaRPr>
          </a:p>
        </p:txBody>
      </p:sp>
      <p:sp>
        <p:nvSpPr>
          <p:cNvPr id="11" name="文本框 9"/>
          <p:cNvSpPr txBox="1"/>
          <p:nvPr>
            <p:custDataLst>
              <p:tags r:id="rId5"/>
            </p:custDataLst>
          </p:nvPr>
        </p:nvSpPr>
        <p:spPr>
          <a:xfrm>
            <a:off x="2912110" y="3328670"/>
            <a:ext cx="916305" cy="306705"/>
          </a:xfrm>
          <a:prstGeom prst="rect">
            <a:avLst/>
          </a:prstGeom>
          <a:noFill/>
        </p:spPr>
        <p:txBody>
          <a:bodyPr wrap="square" rtlCol="0">
            <a:spAutoFit/>
          </a:bodyPr>
          <a:lstStyle/>
          <a:p>
            <a:pPr algn="l"/>
            <a:r>
              <a:rPr kumimoji="1" lang="zh-CN" altLang="en-US" sz="1400" dirty="0">
                <a:latin typeface="微软雅黑" panose="020B0503020204020204" charset="-122"/>
                <a:ea typeface="微软雅黑" panose="020B0503020204020204" charset="-122"/>
              </a:rPr>
              <a:t>策略建议</a:t>
            </a:r>
            <a:endParaRPr kumimoji="1" lang="zh-CN" altLang="en-US" sz="1400" dirty="0">
              <a:latin typeface="微软雅黑" panose="020B0503020204020204" charset="-122"/>
              <a:ea typeface="微软雅黑" panose="020B0503020204020204" charset="-122"/>
            </a:endParaRPr>
          </a:p>
        </p:txBody>
      </p:sp>
      <p:sp>
        <p:nvSpPr>
          <p:cNvPr id="12" name="文本框 11"/>
          <p:cNvSpPr txBox="1"/>
          <p:nvPr>
            <p:custDataLst>
              <p:tags r:id="rId6"/>
            </p:custDataLst>
          </p:nvPr>
        </p:nvSpPr>
        <p:spPr>
          <a:xfrm>
            <a:off x="4518025" y="3328670"/>
            <a:ext cx="916305" cy="306705"/>
          </a:xfrm>
          <a:prstGeom prst="rect">
            <a:avLst/>
          </a:prstGeom>
          <a:noFill/>
        </p:spPr>
        <p:txBody>
          <a:bodyPr wrap="square" rtlCol="0">
            <a:spAutoFit/>
          </a:bodyPr>
          <a:lstStyle/>
          <a:p>
            <a:pPr algn="l"/>
            <a:r>
              <a:rPr kumimoji="1" lang="zh-CN" altLang="en-US" sz="1400" dirty="0">
                <a:latin typeface="微软雅黑" panose="020B0503020204020204" charset="-122"/>
                <a:ea typeface="微软雅黑" panose="020B0503020204020204" charset="-122"/>
              </a:rPr>
              <a:t>执行监控</a:t>
            </a:r>
            <a:endParaRPr kumimoji="1" lang="zh-CN" altLang="en-US" sz="1400" dirty="0">
              <a:latin typeface="微软雅黑" panose="020B0503020204020204" charset="-122"/>
              <a:ea typeface="微软雅黑" panose="020B0503020204020204" charset="-122"/>
            </a:endParaRPr>
          </a:p>
        </p:txBody>
      </p:sp>
      <p:sp>
        <p:nvSpPr>
          <p:cNvPr id="13" name="矩形: 圆角 17"/>
          <p:cNvSpPr/>
          <p:nvPr>
            <p:custDataLst>
              <p:tags r:id="rId7"/>
            </p:custDataLst>
          </p:nvPr>
        </p:nvSpPr>
        <p:spPr>
          <a:xfrm>
            <a:off x="5752465" y="3266440"/>
            <a:ext cx="1562735" cy="2223135"/>
          </a:xfrm>
          <a:prstGeom prst="roundRect">
            <a:avLst>
              <a:gd name="adj" fmla="val 5247"/>
            </a:avLst>
          </a:prstGeom>
          <a:solidFill>
            <a:srgbClr val="E1F3FF">
              <a:alpha val="30196"/>
            </a:srgbClr>
          </a:solidFill>
          <a:ln>
            <a:solidFill>
              <a:srgbClr val="BFE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文本框 13"/>
          <p:cNvSpPr txBox="1"/>
          <p:nvPr>
            <p:custDataLst>
              <p:tags r:id="rId8"/>
            </p:custDataLst>
          </p:nvPr>
        </p:nvSpPr>
        <p:spPr>
          <a:xfrm>
            <a:off x="6122035" y="3328670"/>
            <a:ext cx="935990" cy="306705"/>
          </a:xfrm>
          <a:prstGeom prst="rect">
            <a:avLst/>
          </a:prstGeom>
          <a:noFill/>
        </p:spPr>
        <p:txBody>
          <a:bodyPr wrap="square" rtlCol="0">
            <a:spAutoFit/>
          </a:bodyPr>
          <a:lstStyle/>
          <a:p>
            <a:pPr algn="l"/>
            <a:r>
              <a:rPr kumimoji="1" lang="zh-CN" altLang="en-US" sz="1400" dirty="0">
                <a:latin typeface="微软雅黑" panose="020B0503020204020204" charset="-122"/>
                <a:ea typeface="微软雅黑" panose="020B0503020204020204" charset="-122"/>
              </a:rPr>
              <a:t>效果评估</a:t>
            </a:r>
            <a:endParaRPr kumimoji="1" lang="zh-CN" altLang="en-US" sz="1400" dirty="0">
              <a:latin typeface="微软雅黑" panose="020B0503020204020204" charset="-122"/>
              <a:ea typeface="微软雅黑" panose="020B0503020204020204" charset="-122"/>
            </a:endParaRPr>
          </a:p>
        </p:txBody>
      </p:sp>
      <p:sp>
        <p:nvSpPr>
          <p:cNvPr id="15" name="文本框 14"/>
          <p:cNvSpPr txBox="1"/>
          <p:nvPr/>
        </p:nvSpPr>
        <p:spPr>
          <a:xfrm>
            <a:off x="803275" y="5977255"/>
            <a:ext cx="1575435" cy="275590"/>
          </a:xfrm>
          <a:prstGeom prst="rect">
            <a:avLst/>
          </a:prstGeom>
          <a:noFill/>
        </p:spPr>
        <p:txBody>
          <a:bodyPr wrap="square" rtlCol="0">
            <a:spAutoFit/>
          </a:bodyPr>
          <a:lstStyle/>
          <a:p>
            <a:pPr algn="l"/>
            <a:r>
              <a:rPr kumimoji="1" lang="zh-CN" altLang="en-US" sz="1200" dirty="0">
                <a:solidFill>
                  <a:schemeClr val="bg1"/>
                </a:solidFill>
                <a:latin typeface="微软雅黑" panose="020B0503020204020204" charset="-122"/>
                <a:ea typeface="微软雅黑" panose="020B0503020204020204" charset="-122"/>
              </a:rPr>
              <a:t>省级运营</a:t>
            </a:r>
            <a:r>
              <a:rPr kumimoji="1" lang="zh-CN" altLang="en-US" sz="1200" dirty="0">
                <a:solidFill>
                  <a:schemeClr val="bg1"/>
                </a:solidFill>
                <a:latin typeface="微软雅黑" panose="020B0503020204020204" charset="-122"/>
                <a:ea typeface="微软雅黑" panose="020B0503020204020204" charset="-122"/>
              </a:rPr>
              <a:t>节点</a:t>
            </a:r>
            <a:endParaRPr kumimoji="1" lang="zh-CN" altLang="en-US" sz="1200" dirty="0">
              <a:solidFill>
                <a:schemeClr val="bg1"/>
              </a:solidFill>
              <a:latin typeface="微软雅黑" panose="020B0503020204020204" charset="-122"/>
              <a:ea typeface="微软雅黑" panose="020B0503020204020204" charset="-122"/>
            </a:endParaRPr>
          </a:p>
        </p:txBody>
      </p:sp>
      <p:sp>
        <p:nvSpPr>
          <p:cNvPr id="16" name="矩形 15"/>
          <p:cNvSpPr/>
          <p:nvPr/>
        </p:nvSpPr>
        <p:spPr>
          <a:xfrm>
            <a:off x="944880" y="3834765"/>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预警及时性</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17" name="矩形 16"/>
          <p:cNvSpPr/>
          <p:nvPr/>
        </p:nvSpPr>
        <p:spPr>
          <a:xfrm>
            <a:off x="944880" y="4161790"/>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预警准确性</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0" name="矩形 19"/>
          <p:cNvSpPr/>
          <p:nvPr/>
        </p:nvSpPr>
        <p:spPr>
          <a:xfrm>
            <a:off x="4276090" y="3850640"/>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响应及时性</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1" name="矩形 20"/>
          <p:cNvSpPr/>
          <p:nvPr/>
        </p:nvSpPr>
        <p:spPr>
          <a:xfrm>
            <a:off x="4276090" y="4144010"/>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处理及时性</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2" name="矩形 21"/>
          <p:cNvSpPr/>
          <p:nvPr/>
        </p:nvSpPr>
        <p:spPr>
          <a:xfrm>
            <a:off x="944880" y="4475480"/>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倒三角评价</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3" name="矩形 22"/>
          <p:cNvSpPr/>
          <p:nvPr/>
        </p:nvSpPr>
        <p:spPr>
          <a:xfrm>
            <a:off x="944880" y="4775835"/>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协同满意度</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4" name="矩形 23"/>
          <p:cNvSpPr/>
          <p:nvPr/>
        </p:nvSpPr>
        <p:spPr>
          <a:xfrm>
            <a:off x="2667000" y="3850640"/>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策略有效性</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5" name="矩形 24"/>
          <p:cNvSpPr/>
          <p:nvPr/>
        </p:nvSpPr>
        <p:spPr>
          <a:xfrm>
            <a:off x="2667000" y="4161790"/>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策略偏差率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6" name="矩形 25"/>
          <p:cNvSpPr/>
          <p:nvPr/>
        </p:nvSpPr>
        <p:spPr>
          <a:xfrm>
            <a:off x="2667000" y="4475480"/>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策略复用率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7" name="矩形 26"/>
          <p:cNvSpPr/>
          <p:nvPr/>
        </p:nvSpPr>
        <p:spPr>
          <a:xfrm>
            <a:off x="2667000" y="4775835"/>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策略采纳率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8" name="矩形 27"/>
          <p:cNvSpPr/>
          <p:nvPr/>
        </p:nvSpPr>
        <p:spPr>
          <a:xfrm>
            <a:off x="4276090" y="4475480"/>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平均工单完成时间</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29" name="矩形 28"/>
          <p:cNvSpPr/>
          <p:nvPr/>
        </p:nvSpPr>
        <p:spPr>
          <a:xfrm>
            <a:off x="4276090" y="4775835"/>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工单按时完成率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30" name="文本框 29"/>
          <p:cNvSpPr txBox="1"/>
          <p:nvPr/>
        </p:nvSpPr>
        <p:spPr>
          <a:xfrm>
            <a:off x="751205" y="5546090"/>
            <a:ext cx="6563995" cy="275590"/>
          </a:xfrm>
          <a:prstGeom prst="rect">
            <a:avLst/>
          </a:prstGeom>
          <a:noFill/>
        </p:spPr>
        <p:txBody>
          <a:bodyPr wrap="square" rtlCol="0">
            <a:spAutoFit/>
          </a:bodyPr>
          <a:lstStyle/>
          <a:p>
            <a:pPr algn="l"/>
            <a:r>
              <a:rPr kumimoji="1" lang="zh-CN" altLang="en-US" sz="1200" dirty="0">
                <a:latin typeface="微软雅黑" panose="020B0503020204020204" charset="-122"/>
                <a:ea typeface="微软雅黑" panose="020B0503020204020204" charset="-122"/>
              </a:rPr>
              <a:t>执行反馈</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去重</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缺失值处理</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异常值处理</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数据标准化</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基础指标</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衍生指标</a:t>
            </a:r>
            <a:r>
              <a:rPr kumimoji="1" lang="en-US" altLang="zh-CN" sz="1200" dirty="0">
                <a:latin typeface="微软雅黑" panose="020B0503020204020204" charset="-122"/>
                <a:ea typeface="微软雅黑" panose="020B0503020204020204" charset="-122"/>
              </a:rPr>
              <a:t>-&gt;</a:t>
            </a:r>
            <a:r>
              <a:rPr kumimoji="1" lang="zh-CN" altLang="en-US" sz="1200" dirty="0">
                <a:latin typeface="微软雅黑" panose="020B0503020204020204" charset="-122"/>
                <a:ea typeface="微软雅黑" panose="020B0503020204020204" charset="-122"/>
              </a:rPr>
              <a:t>指标上架</a:t>
            </a:r>
            <a:endParaRPr kumimoji="1" lang="zh-CN" altLang="en-US" sz="1200" dirty="0">
              <a:latin typeface="微软雅黑" panose="020B0503020204020204" charset="-122"/>
              <a:ea typeface="微软雅黑" panose="020B0503020204020204" charset="-122"/>
            </a:endParaRPr>
          </a:p>
        </p:txBody>
      </p:sp>
      <p:sp>
        <p:nvSpPr>
          <p:cNvPr id="31" name="文本框 30"/>
          <p:cNvSpPr txBox="1"/>
          <p:nvPr/>
        </p:nvSpPr>
        <p:spPr>
          <a:xfrm>
            <a:off x="2557145" y="5973445"/>
            <a:ext cx="1373505" cy="275590"/>
          </a:xfrm>
          <a:prstGeom prst="rect">
            <a:avLst/>
          </a:prstGeom>
          <a:noFill/>
        </p:spPr>
        <p:txBody>
          <a:bodyPr wrap="square" rtlCol="0">
            <a:spAutoFit/>
          </a:bodyPr>
          <a:lstStyle/>
          <a:p>
            <a:pPr algn="ctr"/>
            <a:r>
              <a:rPr kumimoji="1" lang="zh-CN" altLang="en-US" sz="1200" dirty="0">
                <a:solidFill>
                  <a:schemeClr val="bg1"/>
                </a:solidFill>
                <a:latin typeface="微软雅黑" panose="020B0503020204020204" charset="-122"/>
                <a:ea typeface="微软雅黑" panose="020B0503020204020204" charset="-122"/>
              </a:rPr>
              <a:t>一级经分系统</a:t>
            </a:r>
            <a:endParaRPr kumimoji="1" lang="zh-CN" altLang="en-US" sz="1200" dirty="0">
              <a:solidFill>
                <a:schemeClr val="bg1"/>
              </a:solidFill>
              <a:latin typeface="微软雅黑" panose="020B0503020204020204" charset="-122"/>
              <a:ea typeface="微软雅黑" panose="020B0503020204020204" charset="-122"/>
            </a:endParaRPr>
          </a:p>
        </p:txBody>
      </p:sp>
      <p:sp>
        <p:nvSpPr>
          <p:cNvPr id="32" name="文本框 31"/>
          <p:cNvSpPr txBox="1"/>
          <p:nvPr/>
        </p:nvSpPr>
        <p:spPr>
          <a:xfrm>
            <a:off x="4190365" y="5968365"/>
            <a:ext cx="1427480" cy="275590"/>
          </a:xfrm>
          <a:prstGeom prst="rect">
            <a:avLst/>
          </a:prstGeom>
          <a:noFill/>
        </p:spPr>
        <p:txBody>
          <a:bodyPr wrap="square" rtlCol="0">
            <a:spAutoFit/>
          </a:bodyPr>
          <a:lstStyle/>
          <a:p>
            <a:pPr algn="ctr"/>
            <a:r>
              <a:rPr kumimoji="1" lang="zh-CN" altLang="en-US" sz="1200" dirty="0">
                <a:solidFill>
                  <a:schemeClr val="bg1"/>
                </a:solidFill>
                <a:latin typeface="微软雅黑" panose="020B0503020204020204" charset="-122"/>
                <a:ea typeface="微软雅黑" panose="020B0503020204020204" charset="-122"/>
              </a:rPr>
              <a:t>专业公司系统</a:t>
            </a:r>
            <a:endParaRPr kumimoji="1" lang="zh-CN" altLang="en-US" sz="1200" dirty="0">
              <a:solidFill>
                <a:schemeClr val="bg1"/>
              </a:solidFill>
              <a:latin typeface="微软雅黑" panose="020B0503020204020204" charset="-122"/>
              <a:ea typeface="微软雅黑" panose="020B0503020204020204" charset="-122"/>
            </a:endParaRPr>
          </a:p>
        </p:txBody>
      </p:sp>
      <p:sp>
        <p:nvSpPr>
          <p:cNvPr id="33" name="文本框 32"/>
          <p:cNvSpPr txBox="1"/>
          <p:nvPr/>
        </p:nvSpPr>
        <p:spPr>
          <a:xfrm>
            <a:off x="5916295" y="5986145"/>
            <a:ext cx="1264285" cy="275590"/>
          </a:xfrm>
          <a:prstGeom prst="rect">
            <a:avLst/>
          </a:prstGeom>
          <a:noFill/>
        </p:spPr>
        <p:txBody>
          <a:bodyPr wrap="square" rtlCol="0">
            <a:spAutoFit/>
          </a:bodyPr>
          <a:lstStyle/>
          <a:p>
            <a:pPr algn="ctr"/>
            <a:r>
              <a:rPr kumimoji="1" lang="zh-CN" altLang="en-US" sz="1200" dirty="0">
                <a:solidFill>
                  <a:schemeClr val="bg1"/>
                </a:solidFill>
                <a:latin typeface="微软雅黑" panose="020B0503020204020204" charset="-122"/>
                <a:ea typeface="微软雅黑" panose="020B0503020204020204" charset="-122"/>
              </a:rPr>
              <a:t>一级其他平台</a:t>
            </a:r>
            <a:endParaRPr kumimoji="1" lang="zh-CN" altLang="en-US" sz="1200" dirty="0">
              <a:solidFill>
                <a:schemeClr val="bg1"/>
              </a:solidFill>
              <a:latin typeface="微软雅黑" panose="020B0503020204020204" charset="-122"/>
              <a:ea typeface="微软雅黑" panose="020B0503020204020204" charset="-122"/>
            </a:endParaRPr>
          </a:p>
        </p:txBody>
      </p:sp>
      <p:sp>
        <p:nvSpPr>
          <p:cNvPr id="34" name="矩形 33"/>
          <p:cNvSpPr/>
          <p:nvPr/>
        </p:nvSpPr>
        <p:spPr>
          <a:xfrm>
            <a:off x="5885180" y="3834765"/>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客户触达成功率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35" name="矩形 34"/>
          <p:cNvSpPr/>
          <p:nvPr/>
        </p:nvSpPr>
        <p:spPr>
          <a:xfrm>
            <a:off x="5885180" y="4161790"/>
            <a:ext cx="1263015" cy="244475"/>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运营执行成功率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36" name="矩形 35"/>
          <p:cNvSpPr/>
          <p:nvPr/>
        </p:nvSpPr>
        <p:spPr>
          <a:xfrm>
            <a:off x="5885180" y="4475480"/>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资源有效利用率</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37" name="矩形 36"/>
          <p:cNvSpPr/>
          <p:nvPr/>
        </p:nvSpPr>
        <p:spPr>
          <a:xfrm>
            <a:off x="5885180" y="4775835"/>
            <a:ext cx="1263015" cy="244475"/>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客户满意度测评</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39" name="文本框 38"/>
          <p:cNvSpPr txBox="1"/>
          <p:nvPr/>
        </p:nvSpPr>
        <p:spPr>
          <a:xfrm flipH="1">
            <a:off x="4495800" y="5116195"/>
            <a:ext cx="843915" cy="245110"/>
          </a:xfrm>
          <a:prstGeom prst="rect">
            <a:avLst/>
          </a:prstGeom>
          <a:noFill/>
        </p:spPr>
        <p:txBody>
          <a:bodyPr wrap="square" rtlCol="0">
            <a:spAutoFit/>
          </a:bodyPr>
          <a:lstStyle/>
          <a:p>
            <a:pPr algn="ctr"/>
            <a:r>
              <a:rPr kumimoji="1" lang="zh-CN" altLang="en-US" sz="1000" b="1" dirty="0">
                <a:latin typeface="微软雅黑" panose="020B0503020204020204" charset="-122"/>
                <a:ea typeface="微软雅黑" panose="020B0503020204020204" charset="-122"/>
              </a:rPr>
              <a:t>系统统计</a:t>
            </a:r>
            <a:endParaRPr kumimoji="1" lang="zh-CN" altLang="en-US" sz="1000" b="1" dirty="0">
              <a:latin typeface="微软雅黑" panose="020B0503020204020204" charset="-122"/>
              <a:ea typeface="微软雅黑" panose="020B0503020204020204" charset="-122"/>
            </a:endParaRPr>
          </a:p>
        </p:txBody>
      </p:sp>
      <p:sp>
        <p:nvSpPr>
          <p:cNvPr id="40" name="文本框 39"/>
          <p:cNvSpPr txBox="1"/>
          <p:nvPr/>
        </p:nvSpPr>
        <p:spPr>
          <a:xfrm flipH="1">
            <a:off x="1038860" y="5116195"/>
            <a:ext cx="1094105" cy="245110"/>
          </a:xfrm>
          <a:prstGeom prst="rect">
            <a:avLst/>
          </a:prstGeom>
          <a:noFill/>
        </p:spPr>
        <p:txBody>
          <a:bodyPr wrap="square" rtlCol="0">
            <a:spAutoFit/>
          </a:bodyPr>
          <a:lstStyle/>
          <a:p>
            <a:pPr algn="ctr"/>
            <a:r>
              <a:rPr kumimoji="1" lang="zh-CN" altLang="en-US" sz="1000" b="1" dirty="0">
                <a:latin typeface="微软雅黑" panose="020B0503020204020204" charset="-122"/>
                <a:ea typeface="微软雅黑" panose="020B0503020204020204" charset="-122"/>
              </a:rPr>
              <a:t>系统统计</a:t>
            </a:r>
            <a:r>
              <a:rPr kumimoji="1" lang="en-US" altLang="zh-CN" sz="1000" b="1" dirty="0">
                <a:latin typeface="微软雅黑" panose="020B0503020204020204" charset="-122"/>
                <a:ea typeface="微软雅黑" panose="020B0503020204020204" charset="-122"/>
              </a:rPr>
              <a:t>+</a:t>
            </a:r>
            <a:r>
              <a:rPr kumimoji="1" lang="zh-CN" altLang="en-US" sz="1000" b="1" dirty="0">
                <a:latin typeface="微软雅黑" panose="020B0503020204020204" charset="-122"/>
                <a:ea typeface="微软雅黑" panose="020B0503020204020204" charset="-122"/>
              </a:rPr>
              <a:t>人工测评</a:t>
            </a:r>
            <a:endParaRPr kumimoji="1" lang="zh-CN" altLang="en-US" sz="1000" b="1" dirty="0">
              <a:latin typeface="微软雅黑" panose="020B0503020204020204" charset="-122"/>
              <a:ea typeface="微软雅黑" panose="020B0503020204020204" charset="-122"/>
            </a:endParaRPr>
          </a:p>
        </p:txBody>
      </p:sp>
      <p:sp>
        <p:nvSpPr>
          <p:cNvPr id="42" name="文本框 41"/>
          <p:cNvSpPr txBox="1"/>
          <p:nvPr/>
        </p:nvSpPr>
        <p:spPr>
          <a:xfrm flipH="1">
            <a:off x="6054725" y="5116195"/>
            <a:ext cx="1094105" cy="245110"/>
          </a:xfrm>
          <a:prstGeom prst="rect">
            <a:avLst/>
          </a:prstGeom>
          <a:noFill/>
        </p:spPr>
        <p:txBody>
          <a:bodyPr wrap="square" rtlCol="0">
            <a:spAutoFit/>
          </a:bodyPr>
          <a:lstStyle/>
          <a:p>
            <a:pPr algn="ctr"/>
            <a:r>
              <a:rPr kumimoji="1" lang="zh-CN" altLang="en-US" sz="1000" b="1" dirty="0">
                <a:latin typeface="微软雅黑" panose="020B0503020204020204" charset="-122"/>
                <a:ea typeface="微软雅黑" panose="020B0503020204020204" charset="-122"/>
              </a:rPr>
              <a:t>系统统计</a:t>
            </a:r>
            <a:endParaRPr kumimoji="1" lang="zh-CN" altLang="en-US" sz="1000" b="1" dirty="0">
              <a:latin typeface="微软雅黑" panose="020B0503020204020204" charset="-122"/>
              <a:ea typeface="微软雅黑" panose="020B0503020204020204" charset="-122"/>
            </a:endParaRPr>
          </a:p>
        </p:txBody>
      </p:sp>
      <p:sp>
        <p:nvSpPr>
          <p:cNvPr id="43" name="文本框 42"/>
          <p:cNvSpPr txBox="1"/>
          <p:nvPr/>
        </p:nvSpPr>
        <p:spPr>
          <a:xfrm flipH="1">
            <a:off x="2734310" y="5116195"/>
            <a:ext cx="1094105" cy="245110"/>
          </a:xfrm>
          <a:prstGeom prst="rect">
            <a:avLst/>
          </a:prstGeom>
          <a:noFill/>
        </p:spPr>
        <p:txBody>
          <a:bodyPr wrap="square" rtlCol="0">
            <a:spAutoFit/>
          </a:bodyPr>
          <a:lstStyle/>
          <a:p>
            <a:pPr algn="ctr"/>
            <a:r>
              <a:rPr kumimoji="1" lang="zh-CN" altLang="en-US" sz="1000" b="1" dirty="0">
                <a:latin typeface="微软雅黑" panose="020B0503020204020204" charset="-122"/>
                <a:ea typeface="微软雅黑" panose="020B0503020204020204" charset="-122"/>
              </a:rPr>
              <a:t>系统统计</a:t>
            </a:r>
            <a:r>
              <a:rPr kumimoji="1" lang="en-US" altLang="zh-CN" sz="1000" b="1" dirty="0">
                <a:latin typeface="微软雅黑" panose="020B0503020204020204" charset="-122"/>
                <a:ea typeface="微软雅黑" panose="020B0503020204020204" charset="-122"/>
              </a:rPr>
              <a:t>+</a:t>
            </a:r>
            <a:r>
              <a:rPr kumimoji="1" lang="zh-CN" altLang="en-US" sz="1000" b="1" dirty="0">
                <a:latin typeface="微软雅黑" panose="020B0503020204020204" charset="-122"/>
                <a:ea typeface="微软雅黑" panose="020B0503020204020204" charset="-122"/>
              </a:rPr>
              <a:t>人工测评</a:t>
            </a:r>
            <a:endParaRPr kumimoji="1" lang="zh-CN" altLang="en-US" sz="1000" b="1" dirty="0">
              <a:latin typeface="微软雅黑" panose="020B0503020204020204" charset="-122"/>
              <a:ea typeface="微软雅黑" panose="020B0503020204020204" charset="-122"/>
            </a:endParaRPr>
          </a:p>
        </p:txBody>
      </p:sp>
      <p:sp>
        <p:nvSpPr>
          <p:cNvPr id="46" name="文本框 45"/>
          <p:cNvSpPr txBox="1"/>
          <p:nvPr/>
        </p:nvSpPr>
        <p:spPr>
          <a:xfrm>
            <a:off x="1506220" y="2827020"/>
            <a:ext cx="4986655" cy="275590"/>
          </a:xfrm>
          <a:prstGeom prst="rect">
            <a:avLst/>
          </a:prstGeom>
          <a:noFill/>
        </p:spPr>
        <p:txBody>
          <a:bodyPr wrap="square" rtlCol="0">
            <a:spAutoFit/>
          </a:bodyPr>
          <a:lstStyle/>
          <a:p>
            <a:pPr algn="ctr"/>
            <a:r>
              <a:rPr kumimoji="1" lang="zh-CN" altLang="en-US" sz="1200" dirty="0">
                <a:latin typeface="微软雅黑" panose="020B0503020204020204" charset="-122"/>
                <a:ea typeface="微软雅黑" panose="020B0503020204020204" charset="-122"/>
              </a:rPr>
              <a:t>基于全面性、客观性、时效性、可量化性原则，通过配置化实现分类量化闭环评估</a:t>
            </a:r>
            <a:endParaRPr kumimoji="1" lang="zh-CN" altLang="en-US" sz="1200" dirty="0">
              <a:latin typeface="微软雅黑" panose="020B0503020204020204" charset="-122"/>
              <a:ea typeface="微软雅黑" panose="020B0503020204020204" charset="-122"/>
            </a:endParaRPr>
          </a:p>
        </p:txBody>
      </p:sp>
      <p:sp>
        <p:nvSpPr>
          <p:cNvPr id="55" name="文本框 54"/>
          <p:cNvSpPr txBox="1"/>
          <p:nvPr/>
        </p:nvSpPr>
        <p:spPr>
          <a:xfrm>
            <a:off x="186055" y="5878830"/>
            <a:ext cx="523240" cy="460375"/>
          </a:xfrm>
          <a:prstGeom prst="rect">
            <a:avLst/>
          </a:prstGeom>
          <a:noFill/>
        </p:spPr>
        <p:txBody>
          <a:bodyPr wrap="square" rtlCol="0">
            <a:spAutoFit/>
          </a:bodyPr>
          <a:lstStyle/>
          <a:p>
            <a:pPr algn="l"/>
            <a:r>
              <a:rPr kumimoji="1" lang="zh-CN" altLang="en-US" sz="1200" b="1" dirty="0">
                <a:solidFill>
                  <a:srgbClr val="0070C0"/>
                </a:solidFill>
                <a:latin typeface="微软雅黑" panose="020B0503020204020204" charset="-122"/>
                <a:ea typeface="微软雅黑" panose="020B0503020204020204" charset="-122"/>
              </a:rPr>
              <a:t>统一汇聚</a:t>
            </a:r>
            <a:endParaRPr kumimoji="1" lang="zh-CN" altLang="en-US" sz="1200" b="1" dirty="0">
              <a:solidFill>
                <a:srgbClr val="0070C0"/>
              </a:solidFill>
              <a:latin typeface="微软雅黑" panose="020B0503020204020204" charset="-122"/>
              <a:ea typeface="微软雅黑" panose="020B0503020204020204" charset="-122"/>
            </a:endParaRPr>
          </a:p>
        </p:txBody>
      </p:sp>
      <p:sp>
        <p:nvSpPr>
          <p:cNvPr id="57" name="文本框 56"/>
          <p:cNvSpPr txBox="1"/>
          <p:nvPr/>
        </p:nvSpPr>
        <p:spPr>
          <a:xfrm>
            <a:off x="265430" y="4095115"/>
            <a:ext cx="485140" cy="460375"/>
          </a:xfrm>
          <a:prstGeom prst="rect">
            <a:avLst/>
          </a:prstGeom>
          <a:noFill/>
        </p:spPr>
        <p:txBody>
          <a:bodyPr wrap="square" rtlCol="0">
            <a:spAutoFit/>
          </a:bodyPr>
          <a:lstStyle/>
          <a:p>
            <a:pPr algn="l"/>
            <a:r>
              <a:rPr kumimoji="1" lang="zh-CN" altLang="en-US" sz="1200" b="1" dirty="0">
                <a:solidFill>
                  <a:srgbClr val="0070C0"/>
                </a:solidFill>
                <a:latin typeface="微软雅黑" panose="020B0503020204020204" charset="-122"/>
                <a:ea typeface="微软雅黑" panose="020B0503020204020204" charset="-122"/>
              </a:rPr>
              <a:t>量化处理</a:t>
            </a:r>
            <a:endParaRPr kumimoji="1" lang="zh-CN" altLang="en-US" sz="1200" b="1" dirty="0">
              <a:solidFill>
                <a:srgbClr val="0070C0"/>
              </a:solidFill>
              <a:latin typeface="微软雅黑" panose="020B0503020204020204" charset="-122"/>
              <a:ea typeface="微软雅黑" panose="020B0503020204020204" charset="-122"/>
            </a:endParaRPr>
          </a:p>
        </p:txBody>
      </p:sp>
      <p:sp>
        <p:nvSpPr>
          <p:cNvPr id="58" name="文本框 57"/>
          <p:cNvSpPr txBox="1"/>
          <p:nvPr/>
        </p:nvSpPr>
        <p:spPr>
          <a:xfrm>
            <a:off x="265430" y="2827020"/>
            <a:ext cx="485140" cy="460375"/>
          </a:xfrm>
          <a:prstGeom prst="rect">
            <a:avLst/>
          </a:prstGeom>
          <a:noFill/>
        </p:spPr>
        <p:txBody>
          <a:bodyPr wrap="square" rtlCol="0">
            <a:spAutoFit/>
          </a:bodyPr>
          <a:lstStyle/>
          <a:p>
            <a:pPr algn="l"/>
            <a:r>
              <a:rPr kumimoji="1" lang="zh-CN" altLang="en-US" sz="1200" b="1" dirty="0">
                <a:solidFill>
                  <a:srgbClr val="0070C0"/>
                </a:solidFill>
                <a:latin typeface="微软雅黑" panose="020B0503020204020204" charset="-122"/>
                <a:ea typeface="微软雅黑" panose="020B0503020204020204" charset="-122"/>
              </a:rPr>
              <a:t>灵活配置</a:t>
            </a:r>
            <a:endParaRPr kumimoji="1" lang="zh-CN" altLang="en-US" sz="1200" b="1" dirty="0">
              <a:solidFill>
                <a:srgbClr val="0070C0"/>
              </a:solidFill>
              <a:latin typeface="微软雅黑" panose="020B0503020204020204" charset="-122"/>
              <a:ea typeface="微软雅黑" panose="020B0503020204020204" charset="-122"/>
            </a:endParaRPr>
          </a:p>
        </p:txBody>
      </p:sp>
      <p:sp>
        <p:nvSpPr>
          <p:cNvPr id="282" name="椭圆 281"/>
          <p:cNvSpPr/>
          <p:nvPr/>
        </p:nvSpPr>
        <p:spPr>
          <a:xfrm>
            <a:off x="1780540" y="2072640"/>
            <a:ext cx="4689475" cy="675005"/>
          </a:xfrm>
          <a:prstGeom prst="ellipse">
            <a:avLst/>
          </a:prstGeom>
          <a:noFill/>
          <a:ln w="12700">
            <a:solidFill>
              <a:srgbClr val="0070BF"/>
            </a:solidFill>
            <a:prstDash val="solid"/>
          </a:ln>
          <a:effectLst>
            <a:glow rad="38100">
              <a:srgbClr val="FFD5D5">
                <a:alpha val="35686"/>
              </a:srgbClr>
            </a:glow>
            <a:outerShdw blurRad="152400" dir="5400000" sx="90000" sy="-19000" rotWithShape="0">
              <a:schemeClr val="accent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defRPr/>
            </a:pPr>
            <a:endParaRPr kumimoji="0" lang="en-US" altLang="zh-CN" sz="1000" b="1" i="0" u="none" strike="noStrike" kern="1200" cap="none" spc="0" normalizeH="0" baseline="0" noProof="0" dirty="0">
              <a:ln>
                <a:noFill/>
              </a:ln>
              <a:solidFill>
                <a:srgbClr val="E7E6E6">
                  <a:lumMod val="25000"/>
                </a:srgbClr>
              </a:solidFill>
              <a:effectLst/>
              <a:uLnTx/>
              <a:uFillTx/>
              <a:latin typeface="微软雅黑" panose="020B0503020204020204" charset="-122"/>
              <a:ea typeface="微软雅黑" panose="020B0503020204020204" charset="-122"/>
              <a:cs typeface="+mn-ea"/>
              <a:sym typeface="+mn-lt"/>
            </a:endParaRPr>
          </a:p>
        </p:txBody>
      </p:sp>
      <p:sp>
        <p:nvSpPr>
          <p:cNvPr id="286" name="Rectangle 12"/>
          <p:cNvSpPr>
            <a:spLocks noChangeArrowheads="1"/>
          </p:cNvSpPr>
          <p:nvPr/>
        </p:nvSpPr>
        <p:spPr bwMode="auto">
          <a:xfrm>
            <a:off x="2438400" y="1969135"/>
            <a:ext cx="895350" cy="234315"/>
          </a:xfrm>
          <a:prstGeom prst="roundRect">
            <a:avLst/>
          </a:prstGeom>
        </p:spPr>
        <p:style>
          <a:lnRef idx="0">
            <a:srgbClr val="FFFFFF"/>
          </a:lnRef>
          <a:fillRef idx="1">
            <a:schemeClr val="accent1"/>
          </a:fillRef>
          <a:effectRef idx="0">
            <a:srgbClr val="FFFFFF"/>
          </a:effectRef>
          <a:fontRef idx="minor">
            <a:schemeClr val="lt1"/>
          </a:fontRef>
        </p:style>
        <p:txBody>
          <a:bodyPr vert="horz" wrap="square" lIns="0" tIns="0" rIns="0" bIns="0" numCol="1" anchor="ctr" anchorCtr="0" compatLnSpc="1">
            <a:noAutofit/>
          </a:bodyPr>
          <a:lstStyle/>
          <a:p>
            <a:pPr lvl="0" algn="ctr">
              <a:spcBef>
                <a:spcPts val="0"/>
              </a:spcBef>
              <a:spcAft>
                <a:spcPts val="0"/>
              </a:spcAft>
              <a:buClrTx/>
              <a:buSzTx/>
              <a:buFontTx/>
              <a:defRPr/>
            </a:pPr>
            <a:r>
              <a:rPr lang="zh-CN" altLang="en-US" sz="1000" b="1" noProof="0" dirty="0">
                <a:ln>
                  <a:noFill/>
                </a:ln>
                <a:effectLst/>
                <a:uLnTx/>
                <a:uFillTx/>
                <a:latin typeface="微软雅黑" panose="020B0503020204020204" charset="-122"/>
                <a:ea typeface="微软雅黑" panose="020B0503020204020204" charset="-122"/>
                <a:sym typeface="思源黑体" panose="020B0500000000000000" pitchFamily="34" charset="-122"/>
              </a:rPr>
              <a:t>管理工单</a:t>
            </a:r>
            <a:endParaRPr lang="zh-CN" altLang="en-US" sz="800" b="1" noProof="0" dirty="0">
              <a:ln>
                <a:noFill/>
              </a:ln>
              <a:solidFill>
                <a:srgbClr val="0070BF"/>
              </a:solidFill>
              <a:effectLst/>
              <a:uLnTx/>
              <a:uFillTx/>
              <a:latin typeface="微软雅黑" panose="020B0503020204020204" charset="-122"/>
              <a:ea typeface="微软雅黑" panose="020B0503020204020204" charset="-122"/>
              <a:sym typeface="思源黑体" panose="020B0500000000000000" pitchFamily="34" charset="-122"/>
            </a:endParaRPr>
          </a:p>
        </p:txBody>
      </p:sp>
      <p:sp>
        <p:nvSpPr>
          <p:cNvPr id="285" name="椭圆 284"/>
          <p:cNvSpPr/>
          <p:nvPr/>
        </p:nvSpPr>
        <p:spPr>
          <a:xfrm>
            <a:off x="3078480" y="2513330"/>
            <a:ext cx="1974850" cy="180340"/>
          </a:xfrm>
          <a:prstGeom prst="ellipse">
            <a:avLst/>
          </a:prstGeom>
          <a:noFill/>
          <a:ln>
            <a:noFill/>
          </a:ln>
          <a:extLst>
            <a:ext uri="{909E8E84-426E-40DD-AFC4-6F175D3DCCD1}">
              <a14:hiddenFill xmlns:a14="http://schemas.microsoft.com/office/drawing/2010/main">
                <a:solidFill>
                  <a:srgbClr val="D4EE9E"/>
                </a:solidFill>
              </a14:hiddenFill>
            </a:ext>
          </a:extLst>
        </p:spPr>
        <p:txBody>
          <a:bodyPr wrap="none" lIns="162592" tIns="0" rIns="162592" bIns="0" rtlCol="0" anchor="ctr">
            <a:noAutofit/>
          </a:bodyPr>
          <a:lstStyle/>
          <a:p>
            <a:pPr algn="ctr"/>
            <a:r>
              <a:rPr lang="en-US" altLang="zh-CN" sz="1400" b="1" dirty="0">
                <a:solidFill>
                  <a:schemeClr val="accent1"/>
                </a:solidFill>
                <a:sym typeface="+mn-ea"/>
              </a:rPr>
              <a:t>AI+</a:t>
            </a:r>
            <a:r>
              <a:rPr lang="zh-CN" altLang="en-US" sz="1400" b="1" dirty="0">
                <a:solidFill>
                  <a:schemeClr val="accent1"/>
                </a:solidFill>
                <a:sym typeface="+mn-ea"/>
              </a:rPr>
              <a:t>辅助评价</a:t>
            </a:r>
            <a:endParaRPr lang="zh-CN" altLang="en-US" sz="1400" b="1" dirty="0">
              <a:solidFill>
                <a:schemeClr val="accent1"/>
              </a:solidFill>
              <a:sym typeface="+mn-ea"/>
            </a:endParaRPr>
          </a:p>
        </p:txBody>
      </p:sp>
      <p:sp>
        <p:nvSpPr>
          <p:cNvPr id="49" name="Rectangle 12"/>
          <p:cNvSpPr>
            <a:spLocks noChangeArrowheads="1"/>
          </p:cNvSpPr>
          <p:nvPr/>
        </p:nvSpPr>
        <p:spPr bwMode="auto">
          <a:xfrm>
            <a:off x="3650615" y="1921510"/>
            <a:ext cx="895350" cy="234315"/>
          </a:xfrm>
          <a:prstGeom prst="roundRect">
            <a:avLst/>
          </a:prstGeom>
        </p:spPr>
        <p:style>
          <a:lnRef idx="0">
            <a:srgbClr val="FFFFFF"/>
          </a:lnRef>
          <a:fillRef idx="1">
            <a:schemeClr val="accent1"/>
          </a:fillRef>
          <a:effectRef idx="0">
            <a:srgbClr val="FFFFFF"/>
          </a:effectRef>
          <a:fontRef idx="minor">
            <a:schemeClr val="lt1"/>
          </a:fontRef>
        </p:style>
        <p:txBody>
          <a:bodyPr vert="horz" wrap="square" lIns="0" tIns="0" rIns="0" bIns="0" numCol="1" anchor="ctr" anchorCtr="0" compatLnSpc="1">
            <a:noAutofit/>
          </a:bodyPr>
          <a:lstStyle/>
          <a:p>
            <a:pPr lvl="0" algn="ctr">
              <a:spcBef>
                <a:spcPts val="0"/>
              </a:spcBef>
              <a:spcAft>
                <a:spcPts val="0"/>
              </a:spcAft>
              <a:buClrTx/>
              <a:buSzTx/>
              <a:buFontTx/>
              <a:defRPr/>
            </a:pPr>
            <a:r>
              <a:rPr lang="zh-CN" altLang="en-US" sz="1000" b="1" noProof="0" dirty="0">
                <a:ln>
                  <a:noFill/>
                </a:ln>
                <a:effectLst/>
                <a:uLnTx/>
                <a:uFillTx/>
                <a:latin typeface="微软雅黑" panose="020B0503020204020204" charset="-122"/>
                <a:ea typeface="微软雅黑" panose="020B0503020204020204" charset="-122"/>
                <a:sym typeface="思源黑体" panose="020B0500000000000000" pitchFamily="34" charset="-122"/>
              </a:rPr>
              <a:t>调度工单</a:t>
            </a:r>
            <a:endParaRPr lang="zh-CN" altLang="en-US" sz="800" b="1" noProof="0" dirty="0">
              <a:ln>
                <a:noFill/>
              </a:ln>
              <a:solidFill>
                <a:srgbClr val="0070BF"/>
              </a:solidFill>
              <a:effectLst/>
              <a:uLnTx/>
              <a:uFillTx/>
              <a:latin typeface="微软雅黑" panose="020B0503020204020204" charset="-122"/>
              <a:ea typeface="微软雅黑" panose="020B0503020204020204" charset="-122"/>
              <a:sym typeface="思源黑体" panose="020B0500000000000000" pitchFamily="34" charset="-122"/>
            </a:endParaRPr>
          </a:p>
        </p:txBody>
      </p:sp>
      <p:sp>
        <p:nvSpPr>
          <p:cNvPr id="50" name="Rectangle 12"/>
          <p:cNvSpPr>
            <a:spLocks noChangeArrowheads="1"/>
          </p:cNvSpPr>
          <p:nvPr/>
        </p:nvSpPr>
        <p:spPr bwMode="auto">
          <a:xfrm>
            <a:off x="4975225" y="1976755"/>
            <a:ext cx="895350" cy="234315"/>
          </a:xfrm>
          <a:prstGeom prst="roundRect">
            <a:avLst/>
          </a:prstGeom>
        </p:spPr>
        <p:style>
          <a:lnRef idx="0">
            <a:srgbClr val="FFFFFF"/>
          </a:lnRef>
          <a:fillRef idx="1">
            <a:schemeClr val="accent1"/>
          </a:fillRef>
          <a:effectRef idx="0">
            <a:srgbClr val="FFFFFF"/>
          </a:effectRef>
          <a:fontRef idx="minor">
            <a:schemeClr val="lt1"/>
          </a:fontRef>
        </p:style>
        <p:txBody>
          <a:bodyPr vert="horz" wrap="square" lIns="0" tIns="0" rIns="0" bIns="0" numCol="1" anchor="ctr" anchorCtr="0" compatLnSpc="1">
            <a:noAutofit/>
          </a:bodyPr>
          <a:lstStyle/>
          <a:p>
            <a:pPr lvl="0" algn="ctr">
              <a:spcBef>
                <a:spcPts val="0"/>
              </a:spcBef>
              <a:spcAft>
                <a:spcPts val="0"/>
              </a:spcAft>
              <a:buClrTx/>
              <a:buSzTx/>
              <a:buFontTx/>
              <a:defRPr/>
            </a:pPr>
            <a:r>
              <a:rPr lang="zh-CN" altLang="en-US" sz="1000" b="1" noProof="0" dirty="0">
                <a:ln>
                  <a:noFill/>
                </a:ln>
                <a:effectLst/>
                <a:uLnTx/>
                <a:uFillTx/>
                <a:latin typeface="微软雅黑" panose="020B0503020204020204" charset="-122"/>
                <a:ea typeface="微软雅黑" panose="020B0503020204020204" charset="-122"/>
                <a:sym typeface="思源黑体" panose="020B0500000000000000" pitchFamily="34" charset="-122"/>
              </a:rPr>
              <a:t>看管工单</a:t>
            </a:r>
            <a:endParaRPr lang="zh-CN" altLang="en-US" sz="800" b="1" noProof="0" dirty="0">
              <a:ln>
                <a:noFill/>
              </a:ln>
              <a:solidFill>
                <a:srgbClr val="0070BF"/>
              </a:solidFill>
              <a:effectLst/>
              <a:uLnTx/>
              <a:uFillTx/>
              <a:latin typeface="微软雅黑" panose="020B0503020204020204" charset="-122"/>
              <a:ea typeface="微软雅黑" panose="020B0503020204020204" charset="-122"/>
              <a:sym typeface="思源黑体" panose="020B0500000000000000" pitchFamily="34" charset="-122"/>
            </a:endParaRPr>
          </a:p>
        </p:txBody>
      </p:sp>
      <p:sp>
        <p:nvSpPr>
          <p:cNvPr id="51" name="Rectangle 12"/>
          <p:cNvSpPr>
            <a:spLocks noChangeArrowheads="1"/>
          </p:cNvSpPr>
          <p:nvPr/>
        </p:nvSpPr>
        <p:spPr bwMode="auto">
          <a:xfrm>
            <a:off x="1483360" y="2279650"/>
            <a:ext cx="895350" cy="234315"/>
          </a:xfrm>
          <a:prstGeom prst="roundRect">
            <a:avLst/>
          </a:prstGeom>
        </p:spPr>
        <p:style>
          <a:lnRef idx="0">
            <a:srgbClr val="FFFFFF"/>
          </a:lnRef>
          <a:fillRef idx="1">
            <a:schemeClr val="accent1"/>
          </a:fillRef>
          <a:effectRef idx="0">
            <a:srgbClr val="FFFFFF"/>
          </a:effectRef>
          <a:fontRef idx="minor">
            <a:schemeClr val="lt1"/>
          </a:fontRef>
        </p:style>
        <p:txBody>
          <a:bodyPr vert="horz" wrap="square" lIns="0" tIns="0" rIns="0" bIns="0" numCol="1" anchor="ctr" anchorCtr="0" compatLnSpc="1">
            <a:noAutofit/>
          </a:bodyPr>
          <a:lstStyle/>
          <a:p>
            <a:pPr lvl="0" algn="ctr">
              <a:spcBef>
                <a:spcPts val="0"/>
              </a:spcBef>
              <a:spcAft>
                <a:spcPts val="0"/>
              </a:spcAft>
              <a:buClrTx/>
              <a:buSzTx/>
              <a:buFontTx/>
              <a:defRPr/>
            </a:pPr>
            <a:r>
              <a:rPr lang="zh-CN" altLang="en-US" sz="1000" b="1" noProof="0" dirty="0">
                <a:ln>
                  <a:noFill/>
                </a:ln>
                <a:effectLst/>
                <a:uLnTx/>
                <a:uFillTx/>
                <a:latin typeface="微软雅黑" panose="020B0503020204020204" charset="-122"/>
                <a:ea typeface="微软雅黑" panose="020B0503020204020204" charset="-122"/>
                <a:sym typeface="思源黑体" panose="020B0500000000000000" pitchFamily="34" charset="-122"/>
              </a:rPr>
              <a:t>营销工单</a:t>
            </a:r>
            <a:endParaRPr lang="zh-CN" altLang="en-US" sz="800" b="1" noProof="0" dirty="0">
              <a:ln>
                <a:noFill/>
              </a:ln>
              <a:solidFill>
                <a:srgbClr val="0070BF"/>
              </a:solidFill>
              <a:effectLst/>
              <a:uLnTx/>
              <a:uFillTx/>
              <a:latin typeface="微软雅黑" panose="020B0503020204020204" charset="-122"/>
              <a:ea typeface="微软雅黑" panose="020B0503020204020204" charset="-122"/>
              <a:sym typeface="思源黑体" panose="020B0500000000000000" pitchFamily="34" charset="-122"/>
            </a:endParaRPr>
          </a:p>
        </p:txBody>
      </p:sp>
      <p:sp>
        <p:nvSpPr>
          <p:cNvPr id="52" name="Rectangle 12"/>
          <p:cNvSpPr>
            <a:spLocks noChangeArrowheads="1"/>
          </p:cNvSpPr>
          <p:nvPr/>
        </p:nvSpPr>
        <p:spPr bwMode="auto">
          <a:xfrm>
            <a:off x="5935980" y="2279650"/>
            <a:ext cx="895350" cy="234315"/>
          </a:xfrm>
          <a:prstGeom prst="roundRect">
            <a:avLst/>
          </a:prstGeom>
        </p:spPr>
        <p:style>
          <a:lnRef idx="0">
            <a:srgbClr val="FFFFFF"/>
          </a:lnRef>
          <a:fillRef idx="1">
            <a:schemeClr val="accent1"/>
          </a:fillRef>
          <a:effectRef idx="0">
            <a:srgbClr val="FFFFFF"/>
          </a:effectRef>
          <a:fontRef idx="minor">
            <a:schemeClr val="lt1"/>
          </a:fontRef>
        </p:style>
        <p:txBody>
          <a:bodyPr vert="horz" wrap="square" lIns="0" tIns="0" rIns="0" bIns="0" numCol="1" anchor="ctr" anchorCtr="0" compatLnSpc="1">
            <a:noAutofit/>
          </a:bodyPr>
          <a:lstStyle/>
          <a:p>
            <a:pPr lvl="0" algn="ctr">
              <a:spcBef>
                <a:spcPts val="0"/>
              </a:spcBef>
              <a:spcAft>
                <a:spcPts val="0"/>
              </a:spcAft>
              <a:buClrTx/>
              <a:buSzTx/>
              <a:buFontTx/>
              <a:defRPr/>
            </a:pPr>
            <a:r>
              <a:rPr lang="zh-CN" altLang="en-US" sz="1000" b="1" noProof="0" dirty="0">
                <a:ln>
                  <a:noFill/>
                </a:ln>
                <a:effectLst/>
                <a:uLnTx/>
                <a:uFillTx/>
                <a:latin typeface="微软雅黑" panose="020B0503020204020204" charset="-122"/>
                <a:ea typeface="微软雅黑" panose="020B0503020204020204" charset="-122"/>
                <a:sym typeface="思源黑体" panose="020B0500000000000000" pitchFamily="34" charset="-122"/>
              </a:rPr>
              <a:t>其他工单</a:t>
            </a:r>
            <a:endParaRPr lang="zh-CN" altLang="en-US" sz="800" b="1" noProof="0" dirty="0">
              <a:ln>
                <a:noFill/>
              </a:ln>
              <a:solidFill>
                <a:srgbClr val="0070BF"/>
              </a:solidFill>
              <a:effectLst/>
              <a:uLnTx/>
              <a:uFillTx/>
              <a:latin typeface="微软雅黑" panose="020B0503020204020204" charset="-122"/>
              <a:ea typeface="微软雅黑" panose="020B0503020204020204" charset="-122"/>
              <a:sym typeface="思源黑体" panose="020B0500000000000000" pitchFamily="34" charset="-122"/>
            </a:endParaRPr>
          </a:p>
        </p:txBody>
      </p:sp>
      <p:sp>
        <p:nvSpPr>
          <p:cNvPr id="53" name="文本框 52"/>
          <p:cNvSpPr txBox="1"/>
          <p:nvPr/>
        </p:nvSpPr>
        <p:spPr>
          <a:xfrm>
            <a:off x="2557780" y="2265045"/>
            <a:ext cx="3194685" cy="460375"/>
          </a:xfrm>
          <a:prstGeom prst="rect">
            <a:avLst/>
          </a:prstGeom>
          <a:noFill/>
        </p:spPr>
        <p:txBody>
          <a:bodyPr wrap="square" rtlCol="0">
            <a:spAutoFit/>
          </a:bodyPr>
          <a:lstStyle/>
          <a:p>
            <a:pPr algn="l"/>
            <a:r>
              <a:rPr kumimoji="1" lang="zh-CN" altLang="en-US" sz="1200" b="1" dirty="0">
                <a:solidFill>
                  <a:schemeClr val="bg1">
                    <a:lumMod val="65000"/>
                  </a:schemeClr>
                </a:solidFill>
                <a:latin typeface="微软雅黑" panose="020B0503020204020204" charset="-122"/>
                <a:ea typeface="微软雅黑" panose="020B0503020204020204" charset="-122"/>
              </a:rPr>
              <a:t>效能健康度、策略健康度、转化健康度、客户满意度</a:t>
            </a:r>
            <a:endParaRPr kumimoji="1" lang="zh-CN" altLang="en-US" sz="1200" b="1" dirty="0">
              <a:solidFill>
                <a:schemeClr val="bg1">
                  <a:lumMod val="65000"/>
                </a:schemeClr>
              </a:solidFill>
              <a:latin typeface="微软雅黑" panose="020B0503020204020204" charset="-122"/>
              <a:ea typeface="微软雅黑" panose="020B0503020204020204" charset="-122"/>
            </a:endParaRPr>
          </a:p>
        </p:txBody>
      </p:sp>
      <p:sp>
        <p:nvSpPr>
          <p:cNvPr id="59" name="文本框 58"/>
          <p:cNvSpPr txBox="1"/>
          <p:nvPr/>
        </p:nvSpPr>
        <p:spPr>
          <a:xfrm>
            <a:off x="265430" y="1863725"/>
            <a:ext cx="485140" cy="829945"/>
          </a:xfrm>
          <a:prstGeom prst="rect">
            <a:avLst/>
          </a:prstGeom>
          <a:noFill/>
        </p:spPr>
        <p:txBody>
          <a:bodyPr wrap="square" rtlCol="0">
            <a:spAutoFit/>
          </a:bodyPr>
          <a:lstStyle/>
          <a:p>
            <a:pPr algn="l"/>
            <a:r>
              <a:rPr kumimoji="1" lang="zh-CN" altLang="en-US" sz="1200" b="1" dirty="0">
                <a:solidFill>
                  <a:srgbClr val="0070C0"/>
                </a:solidFill>
                <a:latin typeface="微软雅黑" panose="020B0503020204020204" charset="-122"/>
                <a:ea typeface="微软雅黑" panose="020B0503020204020204" charset="-122"/>
              </a:rPr>
              <a:t>辅助评价</a:t>
            </a:r>
            <a:endParaRPr kumimoji="1" lang="zh-CN" altLang="en-US" sz="1200" b="1" dirty="0">
              <a:solidFill>
                <a:srgbClr val="0070C0"/>
              </a:solidFill>
              <a:latin typeface="微软雅黑" panose="020B0503020204020204" charset="-122"/>
              <a:ea typeface="微软雅黑" panose="020B0503020204020204" charset="-122"/>
            </a:endParaRPr>
          </a:p>
        </p:txBody>
      </p:sp>
      <p:sp>
        <p:nvSpPr>
          <p:cNvPr id="7" name="矩形 6"/>
          <p:cNvSpPr/>
          <p:nvPr/>
        </p:nvSpPr>
        <p:spPr>
          <a:xfrm>
            <a:off x="8796557" y="1516145"/>
            <a:ext cx="221424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评价</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中心</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47" name="矩形 46"/>
          <p:cNvSpPr/>
          <p:nvPr/>
        </p:nvSpPr>
        <p:spPr>
          <a:xfrm>
            <a:off x="6393180" y="6325870"/>
            <a:ext cx="922020" cy="142240"/>
          </a:xfrm>
          <a:prstGeom prst="rect">
            <a:avLst/>
          </a:prstGeom>
          <a:solidFill>
            <a:srgbClr val="91ACE0"/>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fontScale="90000" lnSpcReduction="20000"/>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二阶段</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48" name="矩形 47"/>
          <p:cNvSpPr/>
          <p:nvPr/>
        </p:nvSpPr>
        <p:spPr>
          <a:xfrm>
            <a:off x="5339080" y="6325870"/>
            <a:ext cx="922020" cy="142240"/>
          </a:xfrm>
          <a:prstGeom prst="rect">
            <a:avLst/>
          </a:prstGeom>
          <a:solidFill>
            <a:srgbClr val="DAE3F5"/>
          </a:solidFill>
          <a:ln w="25400" cap="sq" cmpd="sng" algn="ctr">
            <a:noFill/>
            <a:prstDash val="solid"/>
          </a:ln>
          <a:effectLst/>
        </p:spPr>
        <p:txBody>
          <a:bodyPr rot="0" spcFirstLastPara="0" vertOverflow="overflow" horzOverflow="overflow" vert="horz" wrap="square" lIns="72000" tIns="0" rIns="0" bIns="0" numCol="1" spcCol="0" rtlCol="0" fromWordArt="0" anchor="ctr" anchorCtr="0" forceAA="0" compatLnSpc="1">
            <a:normAutofit fontScale="90000" lnSpcReduction="20000"/>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rPr>
              <a:t>一阶段</a:t>
            </a:r>
            <a:endParaRPr kumimoji="0" lang="zh-CN" altLang="en-US" sz="1050" b="1" i="0" u="none" strike="noStrike" kern="0" cap="none" spc="0" normalizeH="0" baseline="0" noProof="0" dirty="0">
              <a:ln>
                <a:noFill/>
              </a:ln>
              <a:solidFill>
                <a:schemeClr val="bg1"/>
              </a:solidFill>
              <a:effectLst/>
              <a:uLnTx/>
              <a:uFillTx/>
              <a:latin typeface="Arial" panose="020B0604020202020204" pitchFamily="34" charset="0"/>
            </a:endParaRPr>
          </a:p>
        </p:txBody>
      </p:sp>
      <p:sp>
        <p:nvSpPr>
          <p:cNvPr id="4" name="文字框 2"/>
          <p:cNvSpPr txBox="1"/>
          <p:nvPr/>
        </p:nvSpPr>
        <p:spPr>
          <a:xfrm>
            <a:off x="7549515" y="1921510"/>
            <a:ext cx="4333240" cy="645160"/>
          </a:xfrm>
          <a:prstGeom prst="rect">
            <a:avLst/>
          </a:prstGeom>
        </p:spPr>
        <p:txBody>
          <a:bodyPr wrap="square">
            <a:spAutoFit/>
          </a:bodyPr>
          <a:p>
            <a:pPr marL="0" indent="0" algn="just" defTabSz="266700">
              <a:spcBef>
                <a:spcPct val="0"/>
              </a:spcBef>
              <a:spcAft>
                <a:spcPct val="0"/>
              </a:spcAft>
            </a:pPr>
            <a:r>
              <a:rPr lang="zh-CN" altLang="en-US" sz="1200">
                <a:solidFill>
                  <a:srgbClr val="000000"/>
                </a:solidFill>
                <a:latin typeface="微软雅黑" panose="020B0503020204020204" charset="-122"/>
                <a:ea typeface="微软雅黑" panose="020B0503020204020204" charset="-122"/>
              </a:rPr>
              <a:t>提供运营评估视图，</a:t>
            </a:r>
            <a:r>
              <a:rPr lang="zh-CN" altLang="en-US" sz="1200">
                <a:solidFill>
                  <a:srgbClr val="000000"/>
                </a:solidFill>
                <a:latin typeface="微软雅黑" panose="020B0503020204020204" charset="-122"/>
                <a:ea typeface="微软雅黑" panose="020B0503020204020204" charset="-122"/>
              </a:rPr>
              <a:t>查询运营任务和策略执行的情况及效果，后台构建评估模型，</a:t>
            </a:r>
            <a:r>
              <a:rPr lang="zh-CN" altLang="en-US" sz="1200" i="0">
                <a:solidFill>
                  <a:srgbClr val="0F1115"/>
                </a:solidFill>
                <a:latin typeface="微软雅黑" panose="020B0503020204020204" charset="-122"/>
                <a:ea typeface="微软雅黑" panose="020B0503020204020204" charset="-122"/>
              </a:rPr>
              <a:t>通过量化的评估体系衡量运营效果，</a:t>
            </a:r>
            <a:r>
              <a:rPr lang="zh-CN" altLang="en-US" sz="1200">
                <a:solidFill>
                  <a:srgbClr val="000000"/>
                </a:solidFill>
                <a:latin typeface="微软雅黑" panose="020B0503020204020204" charset="-122"/>
                <a:ea typeface="微软雅黑" panose="020B0503020204020204" charset="-122"/>
              </a:rPr>
              <a:t>提供针对于运营任务和策略建议的评估管理能力</a:t>
            </a:r>
            <a:r>
              <a:rPr lang="en-US" altLang="zh-CN" sz="1200">
                <a:solidFill>
                  <a:srgbClr val="000000"/>
                </a:solidFill>
                <a:latin typeface="微软雅黑" panose="020B0503020204020204" charset="-122"/>
                <a:ea typeface="微软雅黑" panose="020B0503020204020204" charset="-122"/>
              </a:rPr>
              <a:t>。</a:t>
            </a:r>
            <a:endParaRPr lang="en-US" altLang="zh-CN" sz="1200">
              <a:solidFill>
                <a:srgbClr val="000000"/>
              </a:solidFill>
              <a:latin typeface="微软雅黑" panose="020B0503020204020204" charset="-122"/>
              <a:ea typeface="微软雅黑" panose="020B0503020204020204" charset="-122"/>
            </a:endParaRPr>
          </a:p>
        </p:txBody>
      </p:sp>
      <p:sp>
        <p:nvSpPr>
          <p:cNvPr id="44" name="文字框 43"/>
          <p:cNvSpPr txBox="1"/>
          <p:nvPr/>
        </p:nvSpPr>
        <p:spPr>
          <a:xfrm>
            <a:off x="7708900" y="2566670"/>
            <a:ext cx="3194050" cy="275590"/>
          </a:xfrm>
          <a:prstGeom prst="rect">
            <a:avLst/>
          </a:prstGeom>
        </p:spPr>
        <p:txBody>
          <a:bodyPr wrap="square">
            <a:spAutoFit/>
          </a:bodyPr>
          <a:p>
            <a:pPr marL="171450" indent="-171450" algn="just" defTabSz="266700">
              <a:spcBef>
                <a:spcPct val="0"/>
              </a:spcBef>
              <a:spcAft>
                <a:spcPct val="0"/>
              </a:spcAft>
              <a:buFont typeface="Wingdings" panose="05000000000000000000" charset="0"/>
              <a:buChar char=""/>
            </a:pPr>
            <a:r>
              <a:rPr lang="zh-CN" altLang="en-US" sz="1200" b="1">
                <a:solidFill>
                  <a:srgbClr val="0070BF"/>
                </a:solidFill>
                <a:latin typeface="微软雅黑" panose="020B0503020204020204" charset="-122"/>
                <a:ea typeface="微软雅黑" panose="020B0503020204020204" charset="-122"/>
              </a:rPr>
              <a:t>工单统计分析</a:t>
            </a:r>
            <a:endParaRPr lang="zh-CN" altLang="en-US" sz="1200" b="1">
              <a:solidFill>
                <a:srgbClr val="0070BF"/>
              </a:solidFill>
              <a:latin typeface="微软雅黑" panose="020B0503020204020204" charset="-122"/>
              <a:ea typeface="微软雅黑" panose="020B0503020204020204" charset="-122"/>
            </a:endParaRPr>
          </a:p>
        </p:txBody>
      </p:sp>
      <p:sp>
        <p:nvSpPr>
          <p:cNvPr id="45" name="文字框 44"/>
          <p:cNvSpPr txBox="1"/>
          <p:nvPr/>
        </p:nvSpPr>
        <p:spPr>
          <a:xfrm>
            <a:off x="7708900" y="2842260"/>
            <a:ext cx="4102735" cy="645160"/>
          </a:xfrm>
          <a:prstGeom prst="rect">
            <a:avLst/>
          </a:prstGeom>
        </p:spPr>
        <p:txBody>
          <a:bodyPr wrap="square">
            <a:spAutoFit/>
          </a:bodyPr>
          <a:p>
            <a:pPr marL="0" indent="0" algn="just" defTabSz="266700">
              <a:spcBef>
                <a:spcPct val="0"/>
              </a:spcBef>
              <a:spcAft>
                <a:spcPct val="0"/>
              </a:spcAft>
            </a:pPr>
            <a:r>
              <a:rPr lang="zh-CN" altLang="en-US" sz="1200" b="0">
                <a:latin typeface="微软雅黑" panose="020B0503020204020204" charset="-122"/>
                <a:ea typeface="微软雅黑" panose="020B0503020204020204" charset="-122"/>
              </a:rPr>
              <a:t>按月统计生产类、管理类的工单处理情况、客户触达情况、营销及业务办理情况，支持查看趋势和区域对比数据，提供分析报表和明细查询功能</a:t>
            </a:r>
            <a:r>
              <a:rPr lang="en-US" altLang="zh-CN" sz="1200" b="0">
                <a:latin typeface="微软雅黑" panose="020B0503020204020204" charset="-122"/>
                <a:ea typeface="微软雅黑" panose="020B0503020204020204" charset="-122"/>
              </a:rPr>
              <a:t>。</a:t>
            </a:r>
            <a:endParaRPr lang="en-US" altLang="zh-CN" sz="1200" b="0">
              <a:latin typeface="微软雅黑" panose="020B0503020204020204" charset="-122"/>
              <a:ea typeface="微软雅黑" panose="020B0503020204020204" charset="-122"/>
            </a:endParaRPr>
          </a:p>
        </p:txBody>
      </p:sp>
      <p:sp>
        <p:nvSpPr>
          <p:cNvPr id="56" name="文字框 55"/>
          <p:cNvSpPr txBox="1"/>
          <p:nvPr/>
        </p:nvSpPr>
        <p:spPr>
          <a:xfrm>
            <a:off x="7708900" y="4606925"/>
            <a:ext cx="3194050" cy="275590"/>
          </a:xfrm>
          <a:prstGeom prst="rect">
            <a:avLst/>
          </a:prstGeom>
        </p:spPr>
        <p:txBody>
          <a:bodyPr wrap="square">
            <a:spAutoFit/>
          </a:bodyPr>
          <a:p>
            <a:pPr marL="171450" indent="-171450" algn="just" defTabSz="266700">
              <a:spcBef>
                <a:spcPct val="0"/>
              </a:spcBef>
              <a:spcAft>
                <a:spcPct val="0"/>
              </a:spcAft>
              <a:buFont typeface="Wingdings" panose="05000000000000000000" charset="0"/>
              <a:buChar char=""/>
            </a:pPr>
            <a:r>
              <a:rPr lang="zh-CN" altLang="en-US" sz="1200" b="1">
                <a:solidFill>
                  <a:srgbClr val="0070BF"/>
                </a:solidFill>
                <a:latin typeface="微软雅黑" panose="020B0503020204020204" charset="-122"/>
                <a:ea typeface="微软雅黑" panose="020B0503020204020204" charset="-122"/>
              </a:rPr>
              <a:t>策略统计分析</a:t>
            </a:r>
            <a:endParaRPr lang="zh-CN" altLang="en-US" sz="1200" b="1">
              <a:solidFill>
                <a:srgbClr val="0070BF"/>
              </a:solidFill>
              <a:latin typeface="微软雅黑" panose="020B0503020204020204" charset="-122"/>
              <a:ea typeface="微软雅黑" panose="020B0503020204020204" charset="-122"/>
            </a:endParaRPr>
          </a:p>
        </p:txBody>
      </p:sp>
      <p:sp>
        <p:nvSpPr>
          <p:cNvPr id="60" name="文字框 59"/>
          <p:cNvSpPr txBox="1"/>
          <p:nvPr/>
        </p:nvSpPr>
        <p:spPr>
          <a:xfrm>
            <a:off x="7708900" y="4882515"/>
            <a:ext cx="4102735" cy="460375"/>
          </a:xfrm>
          <a:prstGeom prst="rect">
            <a:avLst/>
          </a:prstGeom>
        </p:spPr>
        <p:txBody>
          <a:bodyPr wrap="square">
            <a:spAutoFit/>
          </a:bodyPr>
          <a:p>
            <a:pPr marL="0" indent="0" algn="just" defTabSz="266700">
              <a:spcBef>
                <a:spcPct val="0"/>
              </a:spcBef>
              <a:spcAft>
                <a:spcPct val="0"/>
              </a:spcAft>
            </a:pPr>
            <a:r>
              <a:rPr lang="zh-HK" altLang="en-US" sz="1200" b="0">
                <a:latin typeface="微软雅黑" panose="020B0503020204020204" charset="-122"/>
                <a:ea typeface="微软雅黑" panose="020B0503020204020204" charset="-122"/>
              </a:rPr>
              <a:t>基于策略维度统计策略执行情况、目标客户及触达情况、营销转化情况，提供多维度报表和明细查询功能。</a:t>
            </a:r>
            <a:endParaRPr lang="zh-HK" altLang="en-US" sz="1200" b="0">
              <a:latin typeface="微软雅黑" panose="020B0503020204020204" charset="-122"/>
              <a:ea typeface="微软雅黑" panose="020B0503020204020204" charset="-122"/>
            </a:endParaRPr>
          </a:p>
        </p:txBody>
      </p:sp>
      <p:pic>
        <p:nvPicPr>
          <p:cNvPr id="61" name="圖片 60"/>
          <p:cNvPicPr>
            <a:picLocks noChangeAspect="1"/>
          </p:cNvPicPr>
          <p:nvPr/>
        </p:nvPicPr>
        <p:blipFill>
          <a:blip r:embed="rId9"/>
          <a:stretch>
            <a:fillRect/>
          </a:stretch>
        </p:blipFill>
        <p:spPr>
          <a:xfrm>
            <a:off x="7780655" y="3487420"/>
            <a:ext cx="4102100" cy="969010"/>
          </a:xfrm>
          <a:prstGeom prst="rect">
            <a:avLst/>
          </a:prstGeom>
        </p:spPr>
      </p:pic>
      <p:pic>
        <p:nvPicPr>
          <p:cNvPr id="62" name="圖片 61"/>
          <p:cNvPicPr>
            <a:picLocks noChangeAspect="1"/>
          </p:cNvPicPr>
          <p:nvPr/>
        </p:nvPicPr>
        <p:blipFill>
          <a:blip r:embed="rId10"/>
          <a:stretch>
            <a:fillRect/>
          </a:stretch>
        </p:blipFill>
        <p:spPr>
          <a:xfrm>
            <a:off x="7702550" y="5424170"/>
            <a:ext cx="4018915" cy="939800"/>
          </a:xfrm>
          <a:prstGeom prst="rect">
            <a:avLst/>
          </a:prstGeom>
        </p:spPr>
      </p:pic>
      <p:sp>
        <p:nvSpPr>
          <p:cNvPr id="63" name="矩形 62"/>
          <p:cNvSpPr/>
          <p:nvPr/>
        </p:nvSpPr>
        <p:spPr>
          <a:xfrm>
            <a:off x="186055" y="1622425"/>
            <a:ext cx="7226935" cy="4884420"/>
          </a:xfrm>
          <a:prstGeom prst="rect">
            <a:avLst/>
          </a:prstGeom>
          <a:noFill/>
          <a:ln w="9525" cap="flat" cmpd="sng" algn="ctr">
            <a:solidFill>
              <a:schemeClr val="tx1"/>
            </a:solidFill>
            <a:prstDash val="sysDot"/>
          </a:ln>
          <a:effectLst/>
        </p:spPr>
        <p:txBody>
          <a:bodyPr wrap="square" anchor="t" anchorCtr="0">
            <a:noAutofit/>
          </a:bodyPr>
          <a:p>
            <a:pPr marL="128905" indent="-128905">
              <a:lnSpc>
                <a:spcPct val="150000"/>
              </a:lnSpc>
              <a:buFont typeface="Wingdings" panose="05000000000000000000" pitchFamily="2" charset="2"/>
              <a:buChar char="l"/>
            </a:pPr>
            <a:endParaRPr kumimoji="1" lang="zh-CN" altLang="en-US" sz="1100" dirty="0">
              <a:sym typeface="+mn-ea"/>
            </a:endParaRPr>
          </a:p>
        </p:txBody>
      </p:sp>
      <p:sp>
        <p:nvSpPr>
          <p:cNvPr id="65" name="矩形 64"/>
          <p:cNvSpPr/>
          <p:nvPr/>
        </p:nvSpPr>
        <p:spPr>
          <a:xfrm>
            <a:off x="2912012" y="1516145"/>
            <a:ext cx="221424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多维度评估</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体系</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5</a:t>
            </a:r>
            <a:r>
              <a:rPr lang="zh-CN" altLang="en-US">
                <a:sym typeface="+mn-ea"/>
              </a:rPr>
              <a:t>：智慧</a:t>
            </a:r>
            <a:r>
              <a:rPr lang="zh-CN" altLang="en-US">
                <a:sym typeface="+mn-ea"/>
              </a:rPr>
              <a:t>驾驶舱</a:t>
            </a:r>
            <a:endParaRPr lang="zh-CN" altLang="en-US">
              <a:sym typeface="+mn-ea"/>
            </a:endParaRPr>
          </a:p>
        </p:txBody>
      </p:sp>
      <p:sp>
        <p:nvSpPr>
          <p:cNvPr id="19" name="文字框 18"/>
          <p:cNvSpPr txBox="1"/>
          <p:nvPr/>
        </p:nvSpPr>
        <p:spPr>
          <a:xfrm>
            <a:off x="0" y="865505"/>
            <a:ext cx="12192000" cy="77406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通过统一技术框架</a:t>
            </a:r>
            <a:r>
              <a:rPr lang="zh-CN" altLang="zh-HK" kern="1200" noProof="0" smtClean="0">
                <a:solidFill>
                  <a:srgbClr val="000000">
                    <a:alpha val="100000"/>
                  </a:srgbClr>
                </a:solidFill>
                <a:latin typeface="+mn-lt"/>
                <a:ea typeface="+mn-lt"/>
                <a:cs typeface="+mn-lt"/>
                <a:sym typeface="+mn-ea"/>
              </a:rPr>
              <a:t>，主要采用页面集成的方式，</a:t>
            </a:r>
            <a:r>
              <a:rPr lang="zh-CN" altLang="zh-HK" kern="1200" noProof="0" smtClean="0">
                <a:solidFill>
                  <a:srgbClr val="000000">
                    <a:alpha val="100000"/>
                  </a:srgbClr>
                </a:solidFill>
                <a:latin typeface="+mn-lt"/>
                <a:ea typeface="+mn-lt"/>
                <a:cs typeface="+mn-lt"/>
                <a:sym typeface="+mn-ea"/>
              </a:rPr>
              <a:t>整合</a:t>
            </a:r>
            <a:r>
              <a:rPr lang="zh-CN" altLang="zh-HK" kern="1200" noProof="0" smtClean="0">
                <a:solidFill>
                  <a:srgbClr val="000000">
                    <a:alpha val="100000"/>
                  </a:srgbClr>
                </a:solidFill>
                <a:latin typeface="+mn-lt"/>
                <a:ea typeface="+mn-lt"/>
                <a:cs typeface="+mn-lt"/>
                <a:sym typeface="+mn-ea"/>
              </a:rPr>
              <a:t>多套一级</a:t>
            </a:r>
            <a:r>
              <a:rPr lang="zh-CN" altLang="zh-HK" kern="1200" noProof="0" smtClean="0">
                <a:solidFill>
                  <a:srgbClr val="000000">
                    <a:alpha val="100000"/>
                  </a:srgbClr>
                </a:solidFill>
                <a:latin typeface="+mn-lt"/>
                <a:ea typeface="+mn-lt"/>
                <a:cs typeface="+mn-lt"/>
                <a:sym typeface="+mn-ea"/>
              </a:rPr>
              <a:t>运营大屏，</a:t>
            </a:r>
            <a:r>
              <a:rPr lang="zh-CN" altLang="zh-HK" kern="1200" noProof="0" smtClean="0">
                <a:solidFill>
                  <a:srgbClr val="000000">
                    <a:alpha val="100000"/>
                  </a:srgbClr>
                </a:solidFill>
                <a:latin typeface="+mn-lt"/>
                <a:ea typeface="+mn-lt"/>
                <a:cs typeface="+mn-lt"/>
                <a:sym typeface="+mn-ea"/>
              </a:rPr>
              <a:t>支撑</a:t>
            </a:r>
            <a:r>
              <a:rPr lang="zh-CN" altLang="zh-HK" kern="1200" noProof="0" smtClean="0">
                <a:solidFill>
                  <a:srgbClr val="000000">
                    <a:alpha val="100000"/>
                  </a:srgbClr>
                </a:solidFill>
                <a:latin typeface="+mn-lt"/>
                <a:ea typeface="+mn-lt"/>
                <a:cs typeface="+mn-lt"/>
                <a:sym typeface="+mn-ea"/>
              </a:rPr>
              <a:t>多系统数据集中可视化与业务高效协同。</a:t>
            </a:r>
            <a:r>
              <a:rPr lang="zh-CN" altLang="zh-HK" kern="1200" noProof="0" smtClean="0">
                <a:solidFill>
                  <a:srgbClr val="000000">
                    <a:alpha val="100000"/>
                  </a:srgbClr>
                </a:solidFill>
                <a:latin typeface="+mn-lt"/>
                <a:ea typeface="+mn-lt"/>
                <a:cs typeface="+mn-lt"/>
                <a:sym typeface="+mn-ea"/>
              </a:rPr>
              <a:t>并且支持调度任务拉起，中屏策略分析及匹配</a:t>
            </a:r>
            <a:r>
              <a:rPr lang="zh-CN" altLang="zh-HK" kern="1200" noProof="0" smtClean="0">
                <a:solidFill>
                  <a:srgbClr val="000000">
                    <a:alpha val="100000"/>
                  </a:srgbClr>
                </a:solidFill>
                <a:latin typeface="+mn-lt"/>
                <a:ea typeface="+mn-lt"/>
                <a:cs typeface="+mn-lt"/>
                <a:sym typeface="+mn-ea"/>
              </a:rPr>
              <a:t>等，实现大、中屏的</a:t>
            </a:r>
            <a:r>
              <a:rPr lang="zh-CN" altLang="zh-HK" kern="1200" noProof="0" smtClean="0">
                <a:solidFill>
                  <a:srgbClr val="000000">
                    <a:alpha val="100000"/>
                  </a:srgbClr>
                </a:solidFill>
                <a:latin typeface="+mn-lt"/>
                <a:ea typeface="+mn-lt"/>
                <a:cs typeface="+mn-lt"/>
                <a:sym typeface="+mn-ea"/>
              </a:rPr>
              <a:t>联动。</a:t>
            </a:r>
            <a:endParaRPr lang="zh-CN" altLang="zh-HK" kern="1200" noProof="0" smtClean="0">
              <a:solidFill>
                <a:srgbClr val="000000">
                  <a:alpha val="100000"/>
                </a:srgbClr>
              </a:solidFill>
              <a:latin typeface="+mn-lt"/>
              <a:ea typeface="+mn-lt"/>
              <a:cs typeface="+mn-lt"/>
              <a:sym typeface="+mn-ea"/>
            </a:endParaRPr>
          </a:p>
        </p:txBody>
      </p:sp>
      <p:sp>
        <p:nvSpPr>
          <p:cNvPr id="4" name="平行四邊形 3"/>
          <p:cNvSpPr/>
          <p:nvPr/>
        </p:nvSpPr>
        <p:spPr>
          <a:xfrm>
            <a:off x="343535" y="2613660"/>
            <a:ext cx="1718310" cy="311150"/>
          </a:xfrm>
          <a:prstGeom prst="parallelogram">
            <a:avLst/>
          </a:prstGeom>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运营总览</a:t>
            </a:r>
            <a:endParaRPr lang="zh-CN" altLang="zh-HK" sz="1400"/>
          </a:p>
        </p:txBody>
      </p:sp>
      <p:sp>
        <p:nvSpPr>
          <p:cNvPr id="5" name="平行四邊形 4"/>
          <p:cNvSpPr/>
          <p:nvPr/>
        </p:nvSpPr>
        <p:spPr>
          <a:xfrm>
            <a:off x="340360" y="3588385"/>
            <a:ext cx="1718310" cy="311150"/>
          </a:xfrm>
          <a:prstGeom prst="parallelogram">
            <a:avLst/>
          </a:prstGeom>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集成分系统</a:t>
            </a:r>
            <a:r>
              <a:rPr lang="zh-CN" altLang="zh-HK" sz="1400"/>
              <a:t>大屏</a:t>
            </a:r>
            <a:endParaRPr lang="zh-CN" altLang="zh-HK" sz="1400"/>
          </a:p>
        </p:txBody>
      </p:sp>
      <p:sp>
        <p:nvSpPr>
          <p:cNvPr id="6" name="平行四邊形 5"/>
          <p:cNvSpPr/>
          <p:nvPr/>
        </p:nvSpPr>
        <p:spPr>
          <a:xfrm>
            <a:off x="343535" y="4618355"/>
            <a:ext cx="1718310" cy="311150"/>
          </a:xfrm>
          <a:prstGeom prst="parallelogram">
            <a:avLst/>
          </a:prstGeom>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集成一级元</a:t>
            </a:r>
            <a:r>
              <a:rPr lang="zh-CN" altLang="zh-HK" sz="1400"/>
              <a:t>宇宙</a:t>
            </a:r>
            <a:endParaRPr lang="zh-CN" altLang="zh-HK" sz="1400"/>
          </a:p>
        </p:txBody>
      </p:sp>
      <p:sp>
        <p:nvSpPr>
          <p:cNvPr id="7" name="平行四邊形 6"/>
          <p:cNvSpPr/>
          <p:nvPr/>
        </p:nvSpPr>
        <p:spPr>
          <a:xfrm>
            <a:off x="328295" y="5601970"/>
            <a:ext cx="1718310" cy="311150"/>
          </a:xfrm>
          <a:prstGeom prst="parallelogram">
            <a:avLst/>
          </a:prstGeom>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子系统</a:t>
            </a:r>
            <a:r>
              <a:rPr lang="zh-CN" altLang="zh-HK" sz="1400"/>
              <a:t>统一调度</a:t>
            </a:r>
            <a:endParaRPr lang="zh-CN" altLang="zh-HK" sz="1400"/>
          </a:p>
        </p:txBody>
      </p:sp>
      <p:sp>
        <p:nvSpPr>
          <p:cNvPr id="8" name="平行四邊形 7"/>
          <p:cNvSpPr/>
          <p:nvPr/>
        </p:nvSpPr>
        <p:spPr>
          <a:xfrm>
            <a:off x="2250440" y="2613660"/>
            <a:ext cx="1646555" cy="311150"/>
          </a:xfrm>
          <a:prstGeom prst="parallelogram">
            <a:avLst/>
          </a:prstGeom>
          <a:solidFill>
            <a:srgbClr val="B6C7EA"/>
          </a:solidFill>
          <a:ln>
            <a:solidFill>
              <a:srgbClr val="B6C7EA"/>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整体</a:t>
            </a:r>
            <a:endParaRPr lang="zh-CN" altLang="zh-HK" sz="1400"/>
          </a:p>
        </p:txBody>
      </p:sp>
      <p:sp>
        <p:nvSpPr>
          <p:cNvPr id="9" name="平行四邊形 8"/>
          <p:cNvSpPr/>
          <p:nvPr/>
        </p:nvSpPr>
        <p:spPr>
          <a:xfrm>
            <a:off x="4176395" y="2613660"/>
            <a:ext cx="1646555" cy="311150"/>
          </a:xfrm>
          <a:prstGeom prst="parallelogram">
            <a:avLst/>
          </a:prstGeom>
          <a:solidFill>
            <a:srgbClr val="B6C7EA"/>
          </a:solidFill>
          <a:ln>
            <a:solidFill>
              <a:srgbClr val="B6C7EA"/>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市场</a:t>
            </a:r>
            <a:endParaRPr lang="zh-CN" altLang="zh-HK" sz="1400"/>
          </a:p>
        </p:txBody>
      </p:sp>
      <p:sp>
        <p:nvSpPr>
          <p:cNvPr id="10" name="平行四邊形 9"/>
          <p:cNvSpPr/>
          <p:nvPr/>
        </p:nvSpPr>
        <p:spPr>
          <a:xfrm>
            <a:off x="6101715" y="2613660"/>
            <a:ext cx="1646555" cy="311150"/>
          </a:xfrm>
          <a:prstGeom prst="parallelogram">
            <a:avLst/>
          </a:prstGeom>
          <a:solidFill>
            <a:srgbClr val="B6C7EA"/>
          </a:solidFill>
          <a:ln>
            <a:solidFill>
              <a:srgbClr val="B6C7EA"/>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客户</a:t>
            </a:r>
            <a:endParaRPr lang="zh-CN" altLang="zh-HK" sz="1400"/>
          </a:p>
        </p:txBody>
      </p:sp>
      <p:sp>
        <p:nvSpPr>
          <p:cNvPr id="11" name="平行四邊形 10"/>
          <p:cNvSpPr/>
          <p:nvPr/>
        </p:nvSpPr>
        <p:spPr>
          <a:xfrm>
            <a:off x="8027670" y="2613660"/>
            <a:ext cx="1646555" cy="311150"/>
          </a:xfrm>
          <a:prstGeom prst="parallelogram">
            <a:avLst/>
          </a:prstGeom>
          <a:solidFill>
            <a:srgbClr val="B6C7EA"/>
          </a:solidFill>
          <a:ln>
            <a:solidFill>
              <a:srgbClr val="B6C7EA"/>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收入</a:t>
            </a:r>
            <a:endParaRPr lang="zh-CN" altLang="zh-HK" sz="1400"/>
          </a:p>
        </p:txBody>
      </p:sp>
      <p:sp>
        <p:nvSpPr>
          <p:cNvPr id="12" name="平行四邊形 11"/>
          <p:cNvSpPr/>
          <p:nvPr/>
        </p:nvSpPr>
        <p:spPr>
          <a:xfrm>
            <a:off x="9952990" y="2613660"/>
            <a:ext cx="1646555" cy="311150"/>
          </a:xfrm>
          <a:prstGeom prst="parallelogram">
            <a:avLst/>
          </a:prstGeom>
          <a:solidFill>
            <a:srgbClr val="B6C7EA"/>
          </a:solidFill>
          <a:ln>
            <a:solidFill>
              <a:srgbClr val="B6C7EA"/>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渠道</a:t>
            </a:r>
            <a:r>
              <a:rPr lang="zh-CN" altLang="zh-HK" sz="1400"/>
              <a:t>指标</a:t>
            </a:r>
            <a:endParaRPr lang="zh-CN" altLang="zh-HK" sz="1400"/>
          </a:p>
        </p:txBody>
      </p:sp>
      <p:sp>
        <p:nvSpPr>
          <p:cNvPr id="13" name="平行四邊形 12"/>
          <p:cNvSpPr/>
          <p:nvPr/>
        </p:nvSpPr>
        <p:spPr>
          <a:xfrm>
            <a:off x="2250440" y="311975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HK" altLang="en-US" sz="1400">
                <a:latin typeface="微软雅黑" panose="020B0503020204020204" charset="-122"/>
                <a:ea typeface="微软雅黑" panose="020B0503020204020204" charset="-122"/>
              </a:rPr>
              <a:t>产品运营大屏</a:t>
            </a:r>
            <a:endParaRPr lang="zh-HK" altLang="en-US" sz="1400">
              <a:latin typeface="微软雅黑" panose="020B0503020204020204" charset="-122"/>
              <a:ea typeface="微软雅黑" panose="020B0503020204020204" charset="-122"/>
            </a:endParaRPr>
          </a:p>
        </p:txBody>
      </p:sp>
      <p:sp>
        <p:nvSpPr>
          <p:cNvPr id="14" name="平行四邊形 13"/>
          <p:cNvSpPr/>
          <p:nvPr/>
        </p:nvSpPr>
        <p:spPr>
          <a:xfrm>
            <a:off x="4157345" y="3111500"/>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HK" altLang="en-US" sz="1400">
                <a:latin typeface="微软雅黑" panose="020B0503020204020204" charset="-122"/>
                <a:ea typeface="微软雅黑" panose="020B0503020204020204" charset="-122"/>
              </a:rPr>
              <a:t>权益运营大屏</a:t>
            </a:r>
            <a:endParaRPr lang="zh-HK" altLang="en-US" sz="1400">
              <a:latin typeface="微软雅黑" panose="020B0503020204020204" charset="-122"/>
              <a:ea typeface="微软雅黑" panose="020B0503020204020204" charset="-122"/>
            </a:endParaRPr>
          </a:p>
        </p:txBody>
      </p:sp>
      <p:sp>
        <p:nvSpPr>
          <p:cNvPr id="15" name="平行四邊形 14"/>
          <p:cNvSpPr/>
          <p:nvPr/>
        </p:nvSpPr>
        <p:spPr>
          <a:xfrm>
            <a:off x="6064250" y="311467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mn-ea"/>
              </a:rPr>
              <a:t>APP</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mn-ea"/>
              </a:rPr>
              <a:t>运营大屏</a:t>
            </a:r>
            <a:endParaRPr lang="zh-HK" altLang="en-US" sz="1400">
              <a:latin typeface="微软雅黑" panose="020B0503020204020204" charset="-122"/>
              <a:ea typeface="微软雅黑" panose="020B0503020204020204" charset="-122"/>
              <a:cs typeface="微软雅黑" panose="020B0503020204020204" charset="-122"/>
            </a:endParaRPr>
          </a:p>
        </p:txBody>
      </p:sp>
      <p:sp>
        <p:nvSpPr>
          <p:cNvPr id="16" name="平行四邊形 15"/>
          <p:cNvSpPr/>
          <p:nvPr/>
        </p:nvSpPr>
        <p:spPr>
          <a:xfrm>
            <a:off x="7971155" y="310324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企微运营大屏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17" name="平行四邊形 16"/>
          <p:cNvSpPr/>
          <p:nvPr/>
        </p:nvSpPr>
        <p:spPr>
          <a:xfrm>
            <a:off x="2249805" y="358838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泛全运营大屏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18" name="平行四邊形 17"/>
          <p:cNvSpPr/>
          <p:nvPr/>
        </p:nvSpPr>
        <p:spPr>
          <a:xfrm>
            <a:off x="4157345" y="358838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300">
                <a:solidFill>
                  <a:srgbClr val="000000"/>
                </a:solidFill>
                <a:latin typeface="微软雅黑" panose="020B0503020204020204" charset="-122"/>
                <a:ea typeface="微软雅黑" panose="020B0503020204020204" charset="-122"/>
                <a:sym typeface="+mn-ea"/>
              </a:rPr>
              <a:t>渠道充值监控大屏</a:t>
            </a:r>
            <a:endParaRPr lang="zh-CN" altLang="en-US" sz="1300">
              <a:solidFill>
                <a:srgbClr val="000000"/>
              </a:solidFill>
              <a:latin typeface="微软雅黑" panose="020B0503020204020204" charset="-122"/>
              <a:ea typeface="微软雅黑" panose="020B0503020204020204" charset="-122"/>
              <a:sym typeface="+mn-ea"/>
            </a:endParaRPr>
          </a:p>
        </p:txBody>
      </p:sp>
      <p:sp>
        <p:nvSpPr>
          <p:cNvPr id="20" name="平行四邊形 19"/>
          <p:cNvSpPr/>
          <p:nvPr/>
        </p:nvSpPr>
        <p:spPr>
          <a:xfrm>
            <a:off x="6057900" y="358838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流程治理大屏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21" name="平行四邊形 20"/>
          <p:cNvSpPr/>
          <p:nvPr/>
        </p:nvSpPr>
        <p:spPr>
          <a:xfrm>
            <a:off x="7974330" y="358838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业务稽核大屏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22" name="平行四邊形 21"/>
          <p:cNvSpPr/>
          <p:nvPr/>
        </p:nvSpPr>
        <p:spPr>
          <a:xfrm>
            <a:off x="2249805" y="405701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服务反馈大屏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23" name="平行四邊形 22"/>
          <p:cNvSpPr/>
          <p:nvPr/>
        </p:nvSpPr>
        <p:spPr>
          <a:xfrm>
            <a:off x="4157345" y="4060190"/>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网格通大屏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24" name="平行四邊形 23"/>
          <p:cNvSpPr/>
          <p:nvPr/>
        </p:nvSpPr>
        <p:spPr>
          <a:xfrm>
            <a:off x="6064885" y="4037330"/>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存量运营大屏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25" name="平行四邊形 24"/>
          <p:cNvSpPr/>
          <p:nvPr/>
        </p:nvSpPr>
        <p:spPr>
          <a:xfrm>
            <a:off x="7964805" y="4037330"/>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触客大屏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29" name="平行四邊形 28"/>
          <p:cNvSpPr/>
          <p:nvPr/>
        </p:nvSpPr>
        <p:spPr>
          <a:xfrm>
            <a:off x="9878060" y="310324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实时订购大屏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30" name="平行四邊形 29"/>
          <p:cNvSpPr/>
          <p:nvPr/>
        </p:nvSpPr>
        <p:spPr>
          <a:xfrm>
            <a:off x="9881235" y="3588385"/>
            <a:ext cx="1718310"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400">
                <a:solidFill>
                  <a:srgbClr val="000000"/>
                </a:solidFill>
                <a:latin typeface="微软雅黑" panose="020B0503020204020204" charset="-122"/>
                <a:ea typeface="微软雅黑" panose="020B0503020204020204" charset="-122"/>
                <a:sym typeface="+mn-ea"/>
              </a:rPr>
              <a:t>竞争份额大屏</a:t>
            </a:r>
            <a:endParaRPr lang="zh-CN" altLang="en-US" sz="1400">
              <a:solidFill>
                <a:srgbClr val="000000"/>
              </a:solidFill>
              <a:latin typeface="微软雅黑" panose="020B0503020204020204" charset="-122"/>
              <a:ea typeface="微软雅黑" panose="020B0503020204020204" charset="-122"/>
              <a:sym typeface="+mn-ea"/>
            </a:endParaRPr>
          </a:p>
        </p:txBody>
      </p:sp>
      <p:sp>
        <p:nvSpPr>
          <p:cNvPr id="31" name="平行四邊形 30"/>
          <p:cNvSpPr/>
          <p:nvPr/>
        </p:nvSpPr>
        <p:spPr>
          <a:xfrm>
            <a:off x="2249805" y="4538345"/>
            <a:ext cx="9345930" cy="471805"/>
          </a:xfrm>
          <a:prstGeom prst="parallelogram">
            <a:avLst/>
          </a:prstGeom>
          <a:solidFill>
            <a:schemeClr val="accent1">
              <a:lumMod val="20000"/>
              <a:lumOff val="80000"/>
            </a:schemeClr>
          </a:solidFill>
          <a:ln>
            <a:solidFill>
              <a:schemeClr val="accent1">
                <a:lumMod val="20000"/>
                <a:lumOff val="80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HK" altLang="en-US" sz="1400">
                <a:solidFill>
                  <a:srgbClr val="000000"/>
                </a:solidFill>
                <a:latin typeface="微软雅黑" panose="020B0503020204020204" charset="-122"/>
                <a:ea typeface="微软雅黑" panose="020B0503020204020204" charset="-122"/>
                <a:sym typeface="+mn-ea"/>
              </a:rPr>
              <a:t>运营平台提供元宇宙系统的快捷访问入口，操作员可一键访问，跳转至元宇宙，在元宇宙中访问省端业务大屏。</a:t>
            </a:r>
            <a:endParaRPr lang="zh-HK" altLang="en-US" sz="1400">
              <a:solidFill>
                <a:srgbClr val="000000"/>
              </a:solidFill>
              <a:latin typeface="微软雅黑" panose="020B0503020204020204" charset="-122"/>
              <a:ea typeface="微软雅黑" panose="020B0503020204020204" charset="-122"/>
              <a:sym typeface="+mn-ea"/>
            </a:endParaRPr>
          </a:p>
        </p:txBody>
      </p:sp>
      <p:grpSp>
        <p:nvGrpSpPr>
          <p:cNvPr id="38" name="組合 37"/>
          <p:cNvGrpSpPr/>
          <p:nvPr/>
        </p:nvGrpSpPr>
        <p:grpSpPr>
          <a:xfrm rot="0">
            <a:off x="2245995" y="5661025"/>
            <a:ext cx="9344660" cy="252095"/>
            <a:chOff x="4067" y="7970"/>
            <a:chExt cx="13688" cy="526"/>
          </a:xfrm>
        </p:grpSpPr>
        <p:sp>
          <p:nvSpPr>
            <p:cNvPr id="33" name="平行四邊形 32"/>
            <p:cNvSpPr/>
            <p:nvPr/>
          </p:nvSpPr>
          <p:spPr>
            <a:xfrm>
              <a:off x="4067" y="7970"/>
              <a:ext cx="6685" cy="526"/>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调度前端</a:t>
              </a:r>
              <a:r>
                <a:rPr lang="zh-CN" altLang="zh-HK" sz="1400"/>
                <a:t>组件</a:t>
              </a:r>
              <a:endParaRPr lang="zh-CN" altLang="zh-HK" sz="1400"/>
            </a:p>
          </p:txBody>
        </p:sp>
        <p:sp>
          <p:nvSpPr>
            <p:cNvPr id="34" name="平行四邊形 33"/>
            <p:cNvSpPr/>
            <p:nvPr/>
          </p:nvSpPr>
          <p:spPr>
            <a:xfrm>
              <a:off x="11071" y="7970"/>
              <a:ext cx="6685" cy="526"/>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调度</a:t>
              </a:r>
              <a:r>
                <a:rPr lang="en-US" altLang="zh-CN" sz="1400"/>
                <a:t>API</a:t>
              </a:r>
              <a:endParaRPr lang="en-US" altLang="zh-CN" sz="1400"/>
            </a:p>
          </p:txBody>
        </p:sp>
      </p:grpSp>
      <p:sp>
        <p:nvSpPr>
          <p:cNvPr id="36" name="平行四邊形 35"/>
          <p:cNvSpPr/>
          <p:nvPr/>
        </p:nvSpPr>
        <p:spPr>
          <a:xfrm>
            <a:off x="2245995" y="6048375"/>
            <a:ext cx="9349740" cy="252095"/>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标准接口接入调度单</a:t>
            </a:r>
            <a:r>
              <a:rPr lang="zh-CN" altLang="zh-HK" sz="1400"/>
              <a:t>数据</a:t>
            </a:r>
            <a:endParaRPr lang="zh-CN" altLang="zh-HK" sz="1400"/>
          </a:p>
        </p:txBody>
      </p:sp>
      <p:sp>
        <p:nvSpPr>
          <p:cNvPr id="39" name="平行四邊形 38"/>
          <p:cNvSpPr/>
          <p:nvPr/>
        </p:nvSpPr>
        <p:spPr>
          <a:xfrm>
            <a:off x="2250440" y="5201920"/>
            <a:ext cx="3935095" cy="311150"/>
          </a:xfrm>
          <a:prstGeom prst="parallelogram">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工作台</a:t>
            </a:r>
            <a:endParaRPr lang="zh-CN" altLang="zh-HK" sz="1400"/>
          </a:p>
        </p:txBody>
      </p:sp>
      <p:sp>
        <p:nvSpPr>
          <p:cNvPr id="40" name="平行四邊形 39"/>
          <p:cNvSpPr/>
          <p:nvPr/>
        </p:nvSpPr>
        <p:spPr>
          <a:xfrm>
            <a:off x="7672705" y="5201920"/>
            <a:ext cx="3935095" cy="311150"/>
          </a:xfrm>
          <a:prstGeom prst="parallelogram">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工单</a:t>
            </a:r>
            <a:r>
              <a:rPr lang="zh-CN" altLang="zh-HK" sz="1400"/>
              <a:t>管理</a:t>
            </a:r>
            <a:endParaRPr lang="zh-CN" altLang="zh-HK" sz="1400"/>
          </a:p>
        </p:txBody>
      </p:sp>
      <p:sp>
        <p:nvSpPr>
          <p:cNvPr id="41" name="文字框 40"/>
          <p:cNvSpPr txBox="1"/>
          <p:nvPr/>
        </p:nvSpPr>
        <p:spPr>
          <a:xfrm>
            <a:off x="6480810" y="5204460"/>
            <a:ext cx="896620" cy="306705"/>
          </a:xfrm>
          <a:prstGeom prst="rect">
            <a:avLst/>
          </a:prstGeom>
          <a:noFill/>
        </p:spPr>
        <p:txBody>
          <a:bodyPr wrap="square" rtlCol="0">
            <a:spAutoFit/>
          </a:bodyPr>
          <a:p>
            <a:pPr algn="l"/>
            <a:r>
              <a:rPr kumimoji="1" lang="zh-CN" altLang="zh-HK" sz="1400" b="1" dirty="0" smtClean="0">
                <a:solidFill>
                  <a:srgbClr val="C00000"/>
                </a:solidFill>
                <a:latin typeface="微软雅黑" panose="020B0503020204020204" charset="-122"/>
                <a:ea typeface="微软雅黑" panose="020B0503020204020204" charset="-122"/>
              </a:rPr>
              <a:t>统一跟踪</a:t>
            </a:r>
            <a:endParaRPr kumimoji="1" lang="zh-CN" altLang="zh-HK" sz="1400" b="1" dirty="0" smtClean="0">
              <a:solidFill>
                <a:srgbClr val="C00000"/>
              </a:solidFill>
              <a:latin typeface="微软雅黑" panose="020B0503020204020204" charset="-122"/>
              <a:ea typeface="微软雅黑" panose="020B0503020204020204" charset="-122"/>
            </a:endParaRPr>
          </a:p>
        </p:txBody>
      </p:sp>
      <p:sp>
        <p:nvSpPr>
          <p:cNvPr id="43" name="平行四邊形 42"/>
          <p:cNvSpPr/>
          <p:nvPr/>
        </p:nvSpPr>
        <p:spPr>
          <a:xfrm>
            <a:off x="470535" y="1902460"/>
            <a:ext cx="1718310" cy="311150"/>
          </a:xfrm>
          <a:prstGeom prst="parallelogram">
            <a:avLst/>
          </a:prstGeom>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统一</a:t>
            </a:r>
            <a:r>
              <a:rPr lang="zh-CN" altLang="zh-HK" sz="1400"/>
              <a:t>框架</a:t>
            </a:r>
            <a:endParaRPr lang="zh-CN" altLang="zh-HK" sz="1400"/>
          </a:p>
        </p:txBody>
      </p:sp>
      <p:sp>
        <p:nvSpPr>
          <p:cNvPr id="44" name="平行四邊形 43"/>
          <p:cNvSpPr/>
          <p:nvPr/>
        </p:nvSpPr>
        <p:spPr>
          <a:xfrm>
            <a:off x="2377440" y="1654175"/>
            <a:ext cx="4653915"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主应用技术框架</a:t>
            </a:r>
            <a:r>
              <a:rPr lang="en-US" altLang="zh-CN" sz="1400"/>
              <a:t>：</a:t>
            </a:r>
            <a:r>
              <a:rPr lang="en-US" altLang="zh-HK" sz="1400"/>
              <a:t>Vue</a:t>
            </a:r>
            <a:r>
              <a:rPr lang="en-US" altLang="en-US" sz="1400"/>
              <a:t> </a:t>
            </a:r>
            <a:r>
              <a:rPr lang="en-US" altLang="zh-HK" sz="1400"/>
              <a:t>3 + Vite + Element</a:t>
            </a:r>
            <a:r>
              <a:rPr lang="en-US" altLang="en-US" sz="1400"/>
              <a:t> </a:t>
            </a:r>
            <a:r>
              <a:rPr lang="en-US" altLang="zh-HK" sz="1400"/>
              <a:t>Plus</a:t>
            </a:r>
            <a:endParaRPr lang="en-US" altLang="zh-HK" sz="1400"/>
          </a:p>
        </p:txBody>
      </p:sp>
      <p:sp>
        <p:nvSpPr>
          <p:cNvPr id="45" name="平行四邊形 44"/>
          <p:cNvSpPr/>
          <p:nvPr/>
        </p:nvSpPr>
        <p:spPr>
          <a:xfrm>
            <a:off x="7219315" y="1653540"/>
            <a:ext cx="4380865" cy="311150"/>
          </a:xfrm>
          <a:prstGeom prst="parallelogram">
            <a:avLst/>
          </a:prstGeom>
          <a:solidFill>
            <a:schemeClr val="bg1">
              <a:lumMod val="95000"/>
            </a:schemeClr>
          </a:solidFill>
          <a:ln>
            <a:solidFill>
              <a:schemeClr val="bg1">
                <a:lumMod val="95000"/>
              </a:schemeClr>
            </a:solidFill>
          </a:ln>
        </p:spPr>
        <p:style>
          <a:lnRef idx="3">
            <a:schemeClr val="accent1"/>
          </a:lnRef>
          <a:fillRef idx="0">
            <a:srgbClr val="FFFFFF"/>
          </a:fillRef>
          <a:effectRef idx="0">
            <a:srgbClr val="FFFFFF"/>
          </a:effectRef>
          <a:fontRef idx="minor">
            <a:schemeClr val="tx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HK" altLang="en-US" sz="1400"/>
              <a:t>前端集成框架：</a:t>
            </a:r>
            <a:r>
              <a:rPr lang="en-US" altLang="zh-HK" sz="1400"/>
              <a:t>qiankun</a:t>
            </a:r>
            <a:r>
              <a:rPr lang="zh-HK" altLang="en-US" sz="1400"/>
              <a:t>微前端框架</a:t>
            </a:r>
            <a:endParaRPr lang="zh-HK" altLang="en-US" sz="1400"/>
          </a:p>
        </p:txBody>
      </p:sp>
      <p:sp>
        <p:nvSpPr>
          <p:cNvPr id="46" name="平行四邊形 45"/>
          <p:cNvSpPr/>
          <p:nvPr/>
        </p:nvSpPr>
        <p:spPr>
          <a:xfrm>
            <a:off x="2377440" y="2091690"/>
            <a:ext cx="2219325" cy="311150"/>
          </a:xfrm>
          <a:prstGeom prst="parallelogram">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统一技术</a:t>
            </a:r>
            <a:r>
              <a:rPr lang="zh-CN" altLang="zh-HK" sz="1400"/>
              <a:t>规范</a:t>
            </a:r>
            <a:endParaRPr lang="zh-CN" altLang="zh-HK" sz="1400"/>
          </a:p>
        </p:txBody>
      </p:sp>
      <p:sp>
        <p:nvSpPr>
          <p:cNvPr id="47" name="平行四邊形 46"/>
          <p:cNvSpPr/>
          <p:nvPr/>
        </p:nvSpPr>
        <p:spPr>
          <a:xfrm>
            <a:off x="4710430" y="2094865"/>
            <a:ext cx="2219325" cy="311150"/>
          </a:xfrm>
          <a:prstGeom prst="parallelogram">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统一</a:t>
            </a:r>
            <a:r>
              <a:rPr lang="zh-CN" altLang="en-US" sz="1400"/>
              <a:t>页面设计</a:t>
            </a:r>
            <a:endParaRPr lang="zh-CN" altLang="en-US" sz="1400"/>
          </a:p>
        </p:txBody>
      </p:sp>
      <p:sp>
        <p:nvSpPr>
          <p:cNvPr id="48" name="平行四邊形 47"/>
          <p:cNvSpPr/>
          <p:nvPr/>
        </p:nvSpPr>
        <p:spPr>
          <a:xfrm>
            <a:off x="7043420" y="2098040"/>
            <a:ext cx="2219325" cy="311150"/>
          </a:xfrm>
          <a:prstGeom prst="parallelogram">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统一数据</a:t>
            </a:r>
            <a:r>
              <a:rPr lang="zh-CN" altLang="en-US" sz="1400"/>
              <a:t>规范</a:t>
            </a:r>
            <a:endParaRPr lang="zh-CN" altLang="en-US" sz="1400"/>
          </a:p>
        </p:txBody>
      </p:sp>
      <p:sp>
        <p:nvSpPr>
          <p:cNvPr id="49" name="平行四邊形 48"/>
          <p:cNvSpPr/>
          <p:nvPr/>
        </p:nvSpPr>
        <p:spPr>
          <a:xfrm>
            <a:off x="9376410" y="2089150"/>
            <a:ext cx="2219325" cy="311150"/>
          </a:xfrm>
          <a:prstGeom prst="parallelogram">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统一</a:t>
            </a:r>
            <a:r>
              <a:rPr lang="zh-CN" altLang="en-US" sz="1400"/>
              <a:t>运营</a:t>
            </a:r>
            <a:r>
              <a:rPr lang="zh-CN" altLang="en-US" sz="1400"/>
              <a:t>框架</a:t>
            </a:r>
            <a:endParaRPr lang="zh-CN" altLang="en-US" sz="1400"/>
          </a:p>
        </p:txBody>
      </p:sp>
      <p:cxnSp>
        <p:nvCxnSpPr>
          <p:cNvPr id="53" name="直線連接符 52"/>
          <p:cNvCxnSpPr/>
          <p:nvPr/>
        </p:nvCxnSpPr>
        <p:spPr>
          <a:xfrm>
            <a:off x="624205" y="2507615"/>
            <a:ext cx="11238230" cy="0"/>
          </a:xfrm>
          <a:prstGeom prst="line">
            <a:avLst/>
          </a:prstGeom>
          <a:ln w="6350" cap="flat" cmpd="sng" algn="ctr">
            <a:solidFill>
              <a:schemeClr val="bg1">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54" name="直線連接符 53"/>
          <p:cNvCxnSpPr/>
          <p:nvPr/>
        </p:nvCxnSpPr>
        <p:spPr>
          <a:xfrm>
            <a:off x="624205" y="3017520"/>
            <a:ext cx="11238230" cy="0"/>
          </a:xfrm>
          <a:prstGeom prst="line">
            <a:avLst/>
          </a:prstGeom>
          <a:ln w="6350" cap="flat" cmpd="sng" algn="ctr">
            <a:solidFill>
              <a:schemeClr val="bg1">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55" name="直線連接符 54"/>
          <p:cNvCxnSpPr/>
          <p:nvPr/>
        </p:nvCxnSpPr>
        <p:spPr>
          <a:xfrm>
            <a:off x="624205" y="4455795"/>
            <a:ext cx="11238230" cy="0"/>
          </a:xfrm>
          <a:prstGeom prst="line">
            <a:avLst/>
          </a:prstGeom>
          <a:ln w="6350" cap="flat" cmpd="sng" algn="ctr">
            <a:solidFill>
              <a:schemeClr val="bg1">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56" name="直線連接符 55"/>
          <p:cNvCxnSpPr/>
          <p:nvPr/>
        </p:nvCxnSpPr>
        <p:spPr>
          <a:xfrm>
            <a:off x="624205" y="5105400"/>
            <a:ext cx="11238230" cy="0"/>
          </a:xfrm>
          <a:prstGeom prst="line">
            <a:avLst/>
          </a:prstGeom>
          <a:ln w="6350" cap="flat" cmpd="sng" algn="ctr">
            <a:solidFill>
              <a:schemeClr val="bg1">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6</a:t>
            </a:r>
            <a:r>
              <a:rPr lang="zh-CN" altLang="en-US">
                <a:sym typeface="+mn-ea"/>
              </a:rPr>
              <a:t>：数智运营</a:t>
            </a:r>
            <a:r>
              <a:rPr>
                <a:sym typeface="+mn-ea"/>
              </a:rPr>
              <a:t>-</a:t>
            </a:r>
            <a:r>
              <a:rPr lang="zh-CN" altLang="en-US">
                <a:sym typeface="+mn-ea"/>
              </a:rPr>
              <a:t>整体</a:t>
            </a:r>
            <a:r>
              <a:rPr lang="zh-CN" altLang="en-US">
                <a:sym typeface="+mn-ea"/>
              </a:rPr>
              <a:t>思路（</a:t>
            </a:r>
            <a:r>
              <a:rPr>
                <a:sym typeface="+mn-ea"/>
              </a:rPr>
              <a:t>1/6</a:t>
            </a:r>
            <a:r>
              <a:rPr lang="zh-CN" altLang="en-US">
                <a:sym typeface="+mn-ea"/>
              </a:rPr>
              <a:t>）</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依托营服运营平台</a:t>
            </a:r>
            <a:r>
              <a:rPr lang="zh-CN" altLang="zh-HK" kern="1200" noProof="0" smtClean="0">
                <a:solidFill>
                  <a:srgbClr val="000000">
                    <a:alpha val="100000"/>
                  </a:srgbClr>
                </a:solidFill>
                <a:latin typeface="+mn-lt"/>
                <a:ea typeface="+mn-lt"/>
                <a:cs typeface="+mn-lt"/>
                <a:sym typeface="+mn-ea"/>
              </a:rPr>
              <a:t>“</a:t>
            </a:r>
            <a:r>
              <a:rPr lang="zh-CN" altLang="zh-HK" kern="1200" noProof="0" smtClean="0">
                <a:solidFill>
                  <a:srgbClr val="000000">
                    <a:alpha val="100000"/>
                  </a:srgbClr>
                </a:solidFill>
                <a:latin typeface="+mn-lt"/>
                <a:ea typeface="+mn-lt"/>
                <a:cs typeface="+mn-lt"/>
                <a:sym typeface="+mn-ea"/>
              </a:rPr>
              <a:t>察、策、打、评</a:t>
            </a:r>
            <a:r>
              <a:rPr lang="zh-CN" altLang="zh-HK" kern="1200" noProof="0" smtClean="0">
                <a:solidFill>
                  <a:srgbClr val="000000">
                    <a:alpha val="100000"/>
                  </a:srgbClr>
                </a:solidFill>
                <a:latin typeface="+mn-lt"/>
                <a:ea typeface="+mn-lt"/>
                <a:cs typeface="+mn-lt"/>
                <a:sym typeface="+mn-ea"/>
              </a:rPr>
              <a:t>”</a:t>
            </a:r>
            <a:r>
              <a:rPr lang="zh-CN" altLang="zh-HK" kern="1200" noProof="0" smtClean="0">
                <a:solidFill>
                  <a:srgbClr val="000000">
                    <a:alpha val="100000"/>
                  </a:srgbClr>
                </a:solidFill>
                <a:latin typeface="+mn-lt"/>
                <a:ea typeface="+mn-lt"/>
                <a:cs typeface="+mn-lt"/>
                <a:sym typeface="+mn-ea"/>
              </a:rPr>
              <a:t>核心能力</a:t>
            </a:r>
            <a:r>
              <a:rPr lang="zh-CN" altLang="zh-HK" kern="1200" noProof="0" smtClean="0">
                <a:solidFill>
                  <a:srgbClr val="000000">
                    <a:alpha val="100000"/>
                  </a:srgbClr>
                </a:solidFill>
                <a:latin typeface="+mn-lt"/>
                <a:ea typeface="+mn-lt"/>
                <a:cs typeface="+mn-lt"/>
                <a:sym typeface="+mn-ea"/>
              </a:rPr>
              <a:t>，</a:t>
            </a:r>
            <a:r>
              <a:rPr lang="zh-CN" altLang="zh-HK" kern="1200" noProof="0" smtClean="0">
                <a:solidFill>
                  <a:srgbClr val="000000">
                    <a:alpha val="100000"/>
                  </a:srgbClr>
                </a:solidFill>
                <a:latin typeface="+mn-lt"/>
                <a:ea typeface="+mn-lt"/>
                <a:cs typeface="+mn-lt"/>
                <a:sym typeface="+mn-ea"/>
              </a:rPr>
              <a:t>采用</a:t>
            </a:r>
            <a:r>
              <a:rPr lang="zh-CN" altLang="zh-HK" kern="1200" noProof="0" smtClean="0">
                <a:solidFill>
                  <a:srgbClr val="000000">
                    <a:alpha val="100000"/>
                  </a:srgbClr>
                </a:solidFill>
                <a:latin typeface="+mn-lt"/>
                <a:ea typeface="+mn-lt"/>
                <a:cs typeface="+mn-lt"/>
                <a:sym typeface="+mn-ea"/>
              </a:rPr>
              <a:t>“1+N”</a:t>
            </a:r>
            <a:r>
              <a:rPr lang="zh-CN" altLang="zh-HK" kern="1200" noProof="0" smtClean="0">
                <a:solidFill>
                  <a:srgbClr val="000000">
                    <a:alpha val="100000"/>
                  </a:srgbClr>
                </a:solidFill>
                <a:latin typeface="+mn-lt"/>
                <a:ea typeface="+mn-lt"/>
                <a:cs typeface="+mn-lt"/>
                <a:sym typeface="+mn-ea"/>
              </a:rPr>
              <a:t>能力架构构建数智运营智能化支撑能力。一个运营情况总览页和</a:t>
            </a:r>
            <a:r>
              <a:rPr lang="zh-CN" altLang="zh-HK" kern="1200" noProof="0" smtClean="0">
                <a:solidFill>
                  <a:srgbClr val="000000">
                    <a:alpha val="100000"/>
                  </a:srgbClr>
                </a:solidFill>
                <a:latin typeface="+mn-lt"/>
                <a:ea typeface="+mn-lt"/>
                <a:cs typeface="+mn-lt"/>
                <a:sym typeface="+mn-ea"/>
              </a:rPr>
              <a:t>N</a:t>
            </a:r>
            <a:r>
              <a:rPr lang="zh-CN" altLang="zh-HK" kern="1200" noProof="0" smtClean="0">
                <a:solidFill>
                  <a:srgbClr val="000000">
                    <a:alpha val="100000"/>
                  </a:srgbClr>
                </a:solidFill>
                <a:latin typeface="+mn-lt"/>
                <a:ea typeface="+mn-lt"/>
                <a:cs typeface="+mn-lt"/>
                <a:sym typeface="+mn-ea"/>
              </a:rPr>
              <a:t>个</a:t>
            </a:r>
            <a:r>
              <a:rPr lang="zh-CN" altLang="zh-HK" kern="1200" noProof="0" smtClean="0">
                <a:solidFill>
                  <a:srgbClr val="000000">
                    <a:alpha val="100000"/>
                  </a:srgbClr>
                </a:solidFill>
                <a:latin typeface="+mn-lt"/>
                <a:ea typeface="+mn-lt"/>
                <a:cs typeface="+mn-lt"/>
                <a:sym typeface="+mn-ea"/>
              </a:rPr>
              <a:t>重点</a:t>
            </a:r>
            <a:r>
              <a:rPr lang="zh-CN" altLang="zh-HK" kern="1200" noProof="0" smtClean="0">
                <a:solidFill>
                  <a:srgbClr val="000000">
                    <a:alpha val="100000"/>
                  </a:srgbClr>
                </a:solidFill>
                <a:latin typeface="+mn-lt"/>
                <a:ea typeface="+mn-lt"/>
                <a:cs typeface="+mn-lt"/>
                <a:sym typeface="+mn-ea"/>
              </a:rPr>
              <a:t>业务</a:t>
            </a:r>
            <a:r>
              <a:rPr lang="zh-CN" altLang="zh-HK" kern="1200" noProof="0" smtClean="0">
                <a:solidFill>
                  <a:srgbClr val="000000">
                    <a:alpha val="100000"/>
                  </a:srgbClr>
                </a:solidFill>
                <a:latin typeface="+mn-lt"/>
                <a:ea typeface="+mn-lt"/>
                <a:cs typeface="+mn-lt"/>
                <a:sym typeface="+mn-ea"/>
              </a:rPr>
              <a:t>运营专区。其中，专区建设支持第三方</a:t>
            </a:r>
            <a:r>
              <a:rPr lang="zh-CN" altLang="zh-HK" kern="1200" noProof="0" smtClean="0">
                <a:solidFill>
                  <a:srgbClr val="000000">
                    <a:alpha val="100000"/>
                  </a:srgbClr>
                </a:solidFill>
                <a:latin typeface="+mn-lt"/>
                <a:ea typeface="+mn-lt"/>
                <a:cs typeface="+mn-lt"/>
                <a:sym typeface="+mn-ea"/>
              </a:rPr>
              <a:t>遵循平台统一框架要求</a:t>
            </a:r>
            <a:r>
              <a:rPr lang="zh-CN" altLang="zh-HK" kern="1200" noProof="0" smtClean="0">
                <a:solidFill>
                  <a:srgbClr val="000000">
                    <a:alpha val="100000"/>
                  </a:srgbClr>
                </a:solidFill>
                <a:latin typeface="+mn-lt"/>
                <a:ea typeface="+mn-lt"/>
                <a:cs typeface="+mn-lt"/>
                <a:sym typeface="+mn-ea"/>
              </a:rPr>
              <a:t>开发完成，按照页面集成统一规范纳入数智运营</a:t>
            </a:r>
            <a:r>
              <a:rPr lang="zh-CN" altLang="zh-HK" kern="1200" noProof="0" smtClean="0">
                <a:solidFill>
                  <a:srgbClr val="000000">
                    <a:alpha val="100000"/>
                  </a:srgbClr>
                </a:solidFill>
                <a:latin typeface="+mn-lt"/>
                <a:ea typeface="+mn-lt"/>
                <a:cs typeface="+mn-lt"/>
                <a:sym typeface="+mn-ea"/>
              </a:rPr>
              <a:t>模块。</a:t>
            </a:r>
            <a:endParaRPr lang="zh-CN" altLang="zh-HK" kern="1200" noProof="0" smtClean="0">
              <a:solidFill>
                <a:srgbClr val="000000">
                  <a:alpha val="100000"/>
                </a:srgbClr>
              </a:solidFill>
              <a:latin typeface="+mn-lt"/>
              <a:ea typeface="+mn-lt"/>
              <a:cs typeface="+mn-lt"/>
              <a:sym typeface="+mn-ea"/>
            </a:endParaRPr>
          </a:p>
        </p:txBody>
      </p:sp>
      <p:sp>
        <p:nvSpPr>
          <p:cNvPr id="4" name="矩形 3"/>
          <p:cNvSpPr/>
          <p:nvPr/>
        </p:nvSpPr>
        <p:spPr>
          <a:xfrm>
            <a:off x="407670" y="1621155"/>
            <a:ext cx="11504295" cy="227330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06" name="矩形 105"/>
          <p:cNvSpPr/>
          <p:nvPr/>
        </p:nvSpPr>
        <p:spPr>
          <a:xfrm>
            <a:off x="4823460" y="1449794"/>
            <a:ext cx="2613025" cy="288290"/>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平台</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能力统一汇聚</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6" name="矩形 5"/>
          <p:cNvSpPr/>
          <p:nvPr/>
        </p:nvSpPr>
        <p:spPr>
          <a:xfrm>
            <a:off x="633730" y="1910715"/>
            <a:ext cx="2100580" cy="126873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 name="文字框 4"/>
          <p:cNvSpPr txBox="1"/>
          <p:nvPr/>
        </p:nvSpPr>
        <p:spPr>
          <a:xfrm>
            <a:off x="858520" y="2015490"/>
            <a:ext cx="1650365" cy="306705"/>
          </a:xfrm>
          <a:prstGeom prst="rect">
            <a:avLst/>
          </a:prstGeom>
        </p:spPr>
        <p:txBody>
          <a:bodyPr wrap="square">
            <a:spAutoFit/>
          </a:bodyPr>
          <a:p>
            <a:pPr marL="0" indent="0" algn="ctr"/>
            <a:r>
              <a:rPr lang="zh-CN" altLang="en-US" sz="1400" b="1" i="0">
                <a:solidFill>
                  <a:srgbClr val="0070BF"/>
                </a:solidFill>
                <a:latin typeface="微软雅黑" panose="020B0503020204020204" charset="-122"/>
                <a:ea typeface="微软雅黑" panose="020B0503020204020204" charset="-122"/>
              </a:rPr>
              <a:t>全景数据监控</a:t>
            </a:r>
            <a:endParaRPr lang="zh-CN" altLang="en-US" sz="1400" b="1" i="0">
              <a:solidFill>
                <a:srgbClr val="0070BF"/>
              </a:solidFill>
              <a:latin typeface="微软雅黑" panose="020B0503020204020204" charset="-122"/>
              <a:ea typeface="微软雅黑" panose="020B0503020204020204" charset="-122"/>
            </a:endParaRPr>
          </a:p>
        </p:txBody>
      </p:sp>
      <p:cxnSp>
        <p:nvCxnSpPr>
          <p:cNvPr id="7" name="直線連接符 6"/>
          <p:cNvCxnSpPr/>
          <p:nvPr/>
        </p:nvCxnSpPr>
        <p:spPr>
          <a:xfrm>
            <a:off x="848360" y="2328545"/>
            <a:ext cx="1657985" cy="0"/>
          </a:xfrm>
          <a:prstGeom prst="line">
            <a:avLst/>
          </a:prstGeom>
        </p:spPr>
        <p:style>
          <a:lnRef idx="2">
            <a:schemeClr val="accent1"/>
          </a:lnRef>
          <a:fillRef idx="0">
            <a:srgbClr val="FFFFFF"/>
          </a:fillRef>
          <a:effectRef idx="0">
            <a:srgbClr val="FFFFFF"/>
          </a:effectRef>
          <a:fontRef idx="minor">
            <a:schemeClr val="tx1"/>
          </a:fontRef>
        </p:style>
      </p:cxnSp>
      <p:sp>
        <p:nvSpPr>
          <p:cNvPr id="8" name="文字框 7"/>
          <p:cNvSpPr txBox="1"/>
          <p:nvPr/>
        </p:nvSpPr>
        <p:spPr>
          <a:xfrm>
            <a:off x="700405" y="2467610"/>
            <a:ext cx="1967230" cy="553085"/>
          </a:xfrm>
          <a:prstGeom prst="rect">
            <a:avLst/>
          </a:prstGeom>
        </p:spPr>
        <p:txBody>
          <a:bodyPr wrap="square">
            <a:spAutoFit/>
          </a:bodyPr>
          <a:p>
            <a:pPr marL="0" indent="0">
              <a:lnSpc>
                <a:spcPct val="125000"/>
              </a:lnSpc>
              <a:spcBef>
                <a:spcPts val="0"/>
              </a:spcBef>
              <a:spcAft>
                <a:spcPts val="0"/>
              </a:spcAft>
            </a:pPr>
            <a:r>
              <a:rPr lang="zh-CN" altLang="en-US" sz="1200" b="0" i="0">
                <a:solidFill>
                  <a:srgbClr val="0F1115"/>
                </a:solidFill>
                <a:latin typeface="微软雅黑" panose="020B0503020204020204" charset="-122"/>
                <a:ea typeface="微软雅黑" panose="020B0503020204020204" charset="-122"/>
              </a:rPr>
              <a:t>统一数据看板，实现多维度、可下钻的指标监控</a:t>
            </a:r>
            <a:endParaRPr lang="zh-CN" altLang="en-US" sz="1200" b="0" i="0">
              <a:solidFill>
                <a:srgbClr val="0F1115"/>
              </a:solidFill>
              <a:latin typeface="微软雅黑" panose="020B0503020204020204" charset="-122"/>
              <a:ea typeface="微软雅黑" panose="020B0503020204020204" charset="-122"/>
            </a:endParaRPr>
          </a:p>
        </p:txBody>
      </p:sp>
      <p:sp>
        <p:nvSpPr>
          <p:cNvPr id="9" name="矩形 8"/>
          <p:cNvSpPr/>
          <p:nvPr/>
        </p:nvSpPr>
        <p:spPr>
          <a:xfrm>
            <a:off x="2861310" y="1917065"/>
            <a:ext cx="2100580" cy="126873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0" name="文字框 9"/>
          <p:cNvSpPr txBox="1"/>
          <p:nvPr/>
        </p:nvSpPr>
        <p:spPr>
          <a:xfrm>
            <a:off x="3086100" y="2021840"/>
            <a:ext cx="1650365" cy="306705"/>
          </a:xfrm>
          <a:prstGeom prst="rect">
            <a:avLst/>
          </a:prstGeom>
        </p:spPr>
        <p:txBody>
          <a:bodyPr wrap="square">
            <a:spAutoFit/>
          </a:bodyPr>
          <a:p>
            <a:pPr marL="0" indent="0" algn="ctr"/>
            <a:r>
              <a:rPr lang="zh-HK" altLang="en-US" sz="1400" b="1" i="0">
                <a:solidFill>
                  <a:srgbClr val="0070BF"/>
                </a:solidFill>
                <a:latin typeface="微软雅黑" panose="020B0503020204020204" charset="-122"/>
                <a:ea typeface="微软雅黑" panose="020B0503020204020204" charset="-122"/>
              </a:rPr>
              <a:t>智能根因洞察</a:t>
            </a:r>
            <a:endParaRPr lang="zh-HK" altLang="en-US" sz="1400" b="1" i="0">
              <a:solidFill>
                <a:srgbClr val="0070BF"/>
              </a:solidFill>
              <a:latin typeface="微软雅黑" panose="020B0503020204020204" charset="-122"/>
              <a:ea typeface="微软雅黑" panose="020B0503020204020204" charset="-122"/>
            </a:endParaRPr>
          </a:p>
        </p:txBody>
      </p:sp>
      <p:cxnSp>
        <p:nvCxnSpPr>
          <p:cNvPr id="11" name="直線連接符 10"/>
          <p:cNvCxnSpPr/>
          <p:nvPr/>
        </p:nvCxnSpPr>
        <p:spPr>
          <a:xfrm>
            <a:off x="3075940" y="2334895"/>
            <a:ext cx="1657985" cy="0"/>
          </a:xfrm>
          <a:prstGeom prst="line">
            <a:avLst/>
          </a:prstGeom>
        </p:spPr>
        <p:style>
          <a:lnRef idx="2">
            <a:schemeClr val="accent1"/>
          </a:lnRef>
          <a:fillRef idx="0">
            <a:srgbClr val="FFFFFF"/>
          </a:fillRef>
          <a:effectRef idx="0">
            <a:srgbClr val="FFFFFF"/>
          </a:effectRef>
          <a:fontRef idx="minor">
            <a:schemeClr val="tx1"/>
          </a:fontRef>
        </p:style>
      </p:cxnSp>
      <p:sp>
        <p:nvSpPr>
          <p:cNvPr id="12" name="文字框 11"/>
          <p:cNvSpPr txBox="1"/>
          <p:nvPr/>
        </p:nvSpPr>
        <p:spPr>
          <a:xfrm>
            <a:off x="2927985" y="2473960"/>
            <a:ext cx="1967230" cy="553085"/>
          </a:xfrm>
          <a:prstGeom prst="rect">
            <a:avLst/>
          </a:prstGeom>
        </p:spPr>
        <p:txBody>
          <a:bodyPr wrap="square">
            <a:spAutoFit/>
          </a:bodyPr>
          <a:p>
            <a:pPr marL="0" indent="0">
              <a:lnSpc>
                <a:spcPct val="125000"/>
              </a:lnSpc>
              <a:spcBef>
                <a:spcPts val="0"/>
              </a:spcBef>
              <a:spcAft>
                <a:spcPts val="0"/>
              </a:spcAft>
            </a:pPr>
            <a:r>
              <a:rPr lang="zh-HK" altLang="en-US" sz="1200" b="0" i="0">
                <a:solidFill>
                  <a:srgbClr val="0F1115"/>
                </a:solidFill>
                <a:latin typeface="微软雅黑" panose="020B0503020204020204" charset="-122"/>
                <a:ea typeface="微软雅黑" panose="020B0503020204020204" charset="-122"/>
              </a:rPr>
              <a:t>引入</a:t>
            </a:r>
            <a:r>
              <a:rPr lang="en-US" altLang="zh-HK" sz="1200" b="0" i="0">
                <a:solidFill>
                  <a:srgbClr val="0F1115"/>
                </a:solidFill>
                <a:latin typeface="微软雅黑" panose="020B0503020204020204" charset="-122"/>
                <a:ea typeface="微软雅黑" panose="020B0503020204020204" charset="-122"/>
              </a:rPr>
              <a:t>AI</a:t>
            </a:r>
            <a:r>
              <a:rPr lang="zh-HK" altLang="en-US" sz="1200" b="0" i="0">
                <a:solidFill>
                  <a:srgbClr val="0F1115"/>
                </a:solidFill>
                <a:latin typeface="微软雅黑" panose="020B0503020204020204" charset="-122"/>
                <a:ea typeface="微软雅黑" panose="020B0503020204020204" charset="-122"/>
              </a:rPr>
              <a:t>能力，进行业务异动根因分析、客群洞察</a:t>
            </a:r>
            <a:endParaRPr lang="zh-HK" altLang="en-US" sz="1200" b="0" i="0">
              <a:solidFill>
                <a:srgbClr val="0F1115"/>
              </a:solidFill>
              <a:latin typeface="微软雅黑" panose="020B0503020204020204" charset="-122"/>
              <a:ea typeface="微软雅黑" panose="020B0503020204020204" charset="-122"/>
            </a:endParaRPr>
          </a:p>
        </p:txBody>
      </p:sp>
      <p:sp>
        <p:nvSpPr>
          <p:cNvPr id="13" name="矩形 12"/>
          <p:cNvSpPr/>
          <p:nvPr/>
        </p:nvSpPr>
        <p:spPr>
          <a:xfrm>
            <a:off x="5155565" y="1917065"/>
            <a:ext cx="2100580" cy="126873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4" name="文字框 13"/>
          <p:cNvSpPr txBox="1"/>
          <p:nvPr/>
        </p:nvSpPr>
        <p:spPr>
          <a:xfrm>
            <a:off x="5380355" y="2021840"/>
            <a:ext cx="1650365" cy="306705"/>
          </a:xfrm>
          <a:prstGeom prst="rect">
            <a:avLst/>
          </a:prstGeom>
        </p:spPr>
        <p:txBody>
          <a:bodyPr wrap="square">
            <a:spAutoFit/>
          </a:bodyPr>
          <a:p>
            <a:pPr marL="0" indent="0" algn="ctr"/>
            <a:r>
              <a:rPr lang="zh-HK" altLang="en-US" sz="1400" b="1" i="0">
                <a:solidFill>
                  <a:srgbClr val="0070BF"/>
                </a:solidFill>
                <a:latin typeface="微软雅黑" panose="020B0503020204020204" charset="-122"/>
                <a:ea typeface="微软雅黑" panose="020B0503020204020204" charset="-122"/>
              </a:rPr>
              <a:t>策略智能匹配</a:t>
            </a:r>
            <a:endParaRPr lang="zh-HK" altLang="en-US" sz="1400" b="1" i="0">
              <a:solidFill>
                <a:srgbClr val="0070BF"/>
              </a:solidFill>
              <a:latin typeface="微软雅黑" panose="020B0503020204020204" charset="-122"/>
              <a:ea typeface="微软雅黑" panose="020B0503020204020204" charset="-122"/>
            </a:endParaRPr>
          </a:p>
        </p:txBody>
      </p:sp>
      <p:cxnSp>
        <p:nvCxnSpPr>
          <p:cNvPr id="15" name="直線連接符 14"/>
          <p:cNvCxnSpPr/>
          <p:nvPr/>
        </p:nvCxnSpPr>
        <p:spPr>
          <a:xfrm>
            <a:off x="5370195" y="2334895"/>
            <a:ext cx="1657985" cy="0"/>
          </a:xfrm>
          <a:prstGeom prst="line">
            <a:avLst/>
          </a:prstGeom>
        </p:spPr>
        <p:style>
          <a:lnRef idx="2">
            <a:schemeClr val="accent1"/>
          </a:lnRef>
          <a:fillRef idx="0">
            <a:srgbClr val="FFFFFF"/>
          </a:fillRef>
          <a:effectRef idx="0">
            <a:srgbClr val="FFFFFF"/>
          </a:effectRef>
          <a:fontRef idx="minor">
            <a:schemeClr val="tx1"/>
          </a:fontRef>
        </p:style>
      </p:cxnSp>
      <p:sp>
        <p:nvSpPr>
          <p:cNvPr id="16" name="文字框 15"/>
          <p:cNvSpPr txBox="1"/>
          <p:nvPr/>
        </p:nvSpPr>
        <p:spPr>
          <a:xfrm>
            <a:off x="5222240" y="2473960"/>
            <a:ext cx="1967230" cy="553085"/>
          </a:xfrm>
          <a:prstGeom prst="rect">
            <a:avLst/>
          </a:prstGeom>
        </p:spPr>
        <p:txBody>
          <a:bodyPr wrap="square">
            <a:spAutoFit/>
          </a:bodyPr>
          <a:p>
            <a:pPr marL="0" indent="0">
              <a:lnSpc>
                <a:spcPct val="125000"/>
              </a:lnSpc>
              <a:spcBef>
                <a:spcPts val="0"/>
              </a:spcBef>
              <a:spcAft>
                <a:spcPts val="0"/>
              </a:spcAft>
            </a:pPr>
            <a:r>
              <a:rPr lang="zh-HK" altLang="en-US" sz="1200" b="0" i="0">
                <a:solidFill>
                  <a:srgbClr val="0F1115"/>
                </a:solidFill>
                <a:latin typeface="微软雅黑" panose="020B0503020204020204" charset="-122"/>
                <a:ea typeface="微软雅黑" panose="020B0503020204020204" charset="-122"/>
              </a:rPr>
              <a:t>基于洞察发现的问题与客群，系统智能辅助推荐</a:t>
            </a:r>
            <a:endParaRPr lang="zh-HK" altLang="en-US" sz="1200" b="0" i="0">
              <a:solidFill>
                <a:srgbClr val="0F1115"/>
              </a:solidFill>
              <a:latin typeface="微软雅黑" panose="020B0503020204020204" charset="-122"/>
              <a:ea typeface="微软雅黑" panose="020B0503020204020204" charset="-122"/>
            </a:endParaRPr>
          </a:p>
        </p:txBody>
      </p:sp>
      <p:sp>
        <p:nvSpPr>
          <p:cNvPr id="17" name="矩形 16"/>
          <p:cNvSpPr/>
          <p:nvPr/>
        </p:nvSpPr>
        <p:spPr>
          <a:xfrm>
            <a:off x="7436485" y="1917065"/>
            <a:ext cx="2100580" cy="126873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8" name="文字框 17"/>
          <p:cNvSpPr txBox="1"/>
          <p:nvPr/>
        </p:nvSpPr>
        <p:spPr>
          <a:xfrm>
            <a:off x="7661275" y="2021840"/>
            <a:ext cx="1650365" cy="306705"/>
          </a:xfrm>
          <a:prstGeom prst="rect">
            <a:avLst/>
          </a:prstGeom>
        </p:spPr>
        <p:txBody>
          <a:bodyPr wrap="square">
            <a:spAutoFit/>
          </a:bodyPr>
          <a:p>
            <a:pPr marL="0" indent="0" algn="ctr"/>
            <a:r>
              <a:rPr lang="zh-HK" altLang="en-US" sz="1400" b="1" i="0">
                <a:solidFill>
                  <a:srgbClr val="0070BF"/>
                </a:solidFill>
                <a:latin typeface="微软雅黑" panose="020B0503020204020204" charset="-122"/>
                <a:ea typeface="微软雅黑" panose="020B0503020204020204" charset="-122"/>
              </a:rPr>
              <a:t>指挥调度协同</a:t>
            </a:r>
            <a:endParaRPr lang="zh-HK" altLang="en-US" sz="1400" b="1" i="0">
              <a:solidFill>
                <a:srgbClr val="0070BF"/>
              </a:solidFill>
              <a:latin typeface="微软雅黑" panose="020B0503020204020204" charset="-122"/>
              <a:ea typeface="微软雅黑" panose="020B0503020204020204" charset="-122"/>
            </a:endParaRPr>
          </a:p>
        </p:txBody>
      </p:sp>
      <p:cxnSp>
        <p:nvCxnSpPr>
          <p:cNvPr id="19" name="直線連接符 18"/>
          <p:cNvCxnSpPr/>
          <p:nvPr/>
        </p:nvCxnSpPr>
        <p:spPr>
          <a:xfrm>
            <a:off x="7651115" y="2334895"/>
            <a:ext cx="1657985" cy="0"/>
          </a:xfrm>
          <a:prstGeom prst="line">
            <a:avLst/>
          </a:prstGeom>
        </p:spPr>
        <p:style>
          <a:lnRef idx="2">
            <a:schemeClr val="accent1"/>
          </a:lnRef>
          <a:fillRef idx="0">
            <a:srgbClr val="FFFFFF"/>
          </a:fillRef>
          <a:effectRef idx="0">
            <a:srgbClr val="FFFFFF"/>
          </a:effectRef>
          <a:fontRef idx="minor">
            <a:schemeClr val="tx1"/>
          </a:fontRef>
        </p:style>
      </p:cxnSp>
      <p:sp>
        <p:nvSpPr>
          <p:cNvPr id="20" name="文字框 19"/>
          <p:cNvSpPr txBox="1"/>
          <p:nvPr/>
        </p:nvSpPr>
        <p:spPr>
          <a:xfrm>
            <a:off x="7503160" y="2473960"/>
            <a:ext cx="1967230" cy="553085"/>
          </a:xfrm>
          <a:prstGeom prst="rect">
            <a:avLst/>
          </a:prstGeom>
        </p:spPr>
        <p:txBody>
          <a:bodyPr wrap="square">
            <a:spAutoFit/>
          </a:bodyPr>
          <a:p>
            <a:pPr marL="0" indent="0">
              <a:lnSpc>
                <a:spcPct val="125000"/>
              </a:lnSpc>
              <a:spcBef>
                <a:spcPts val="0"/>
              </a:spcBef>
              <a:spcAft>
                <a:spcPts val="0"/>
              </a:spcAft>
            </a:pPr>
            <a:r>
              <a:rPr lang="zh-HK" altLang="en-US" sz="1200" b="0" i="0">
                <a:solidFill>
                  <a:srgbClr val="0F1115"/>
                </a:solidFill>
                <a:latin typeface="微软雅黑" panose="020B0503020204020204" charset="-122"/>
                <a:ea typeface="微软雅黑" panose="020B0503020204020204" charset="-122"/>
              </a:rPr>
              <a:t>对接一级调度平台，将策略任务自动化派发至省端</a:t>
            </a:r>
            <a:endParaRPr lang="zh-HK" altLang="en-US" sz="1200" b="0" i="0">
              <a:solidFill>
                <a:srgbClr val="0F1115"/>
              </a:solidFill>
              <a:latin typeface="微软雅黑" panose="020B0503020204020204" charset="-122"/>
              <a:ea typeface="微软雅黑" panose="020B0503020204020204" charset="-122"/>
            </a:endParaRPr>
          </a:p>
        </p:txBody>
      </p:sp>
      <p:sp>
        <p:nvSpPr>
          <p:cNvPr id="21" name="矩形 20"/>
          <p:cNvSpPr/>
          <p:nvPr/>
        </p:nvSpPr>
        <p:spPr>
          <a:xfrm>
            <a:off x="9664065" y="1910715"/>
            <a:ext cx="2100580" cy="126873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2" name="文字框 21"/>
          <p:cNvSpPr txBox="1"/>
          <p:nvPr/>
        </p:nvSpPr>
        <p:spPr>
          <a:xfrm>
            <a:off x="9888855" y="2015490"/>
            <a:ext cx="1650365" cy="306705"/>
          </a:xfrm>
          <a:prstGeom prst="rect">
            <a:avLst/>
          </a:prstGeom>
        </p:spPr>
        <p:txBody>
          <a:bodyPr wrap="square">
            <a:spAutoFit/>
          </a:bodyPr>
          <a:p>
            <a:pPr marL="0" indent="0" algn="ctr"/>
            <a:r>
              <a:rPr lang="zh-HK" altLang="en-US" sz="1400" b="1" i="0">
                <a:solidFill>
                  <a:srgbClr val="0070BF"/>
                </a:solidFill>
                <a:latin typeface="微软雅黑" panose="020B0503020204020204" charset="-122"/>
                <a:ea typeface="微软雅黑" panose="020B0503020204020204" charset="-122"/>
              </a:rPr>
              <a:t>闭环效果评估</a:t>
            </a:r>
            <a:endParaRPr lang="zh-HK" altLang="en-US" sz="1400" b="1" i="0">
              <a:solidFill>
                <a:srgbClr val="0070BF"/>
              </a:solidFill>
              <a:latin typeface="微软雅黑" panose="020B0503020204020204" charset="-122"/>
              <a:ea typeface="微软雅黑" panose="020B0503020204020204" charset="-122"/>
            </a:endParaRPr>
          </a:p>
        </p:txBody>
      </p:sp>
      <p:cxnSp>
        <p:nvCxnSpPr>
          <p:cNvPr id="23" name="直線連接符 22"/>
          <p:cNvCxnSpPr/>
          <p:nvPr/>
        </p:nvCxnSpPr>
        <p:spPr>
          <a:xfrm>
            <a:off x="9878695" y="2328545"/>
            <a:ext cx="1657985" cy="0"/>
          </a:xfrm>
          <a:prstGeom prst="line">
            <a:avLst/>
          </a:prstGeom>
        </p:spPr>
        <p:style>
          <a:lnRef idx="2">
            <a:schemeClr val="accent1"/>
          </a:lnRef>
          <a:fillRef idx="0">
            <a:srgbClr val="FFFFFF"/>
          </a:fillRef>
          <a:effectRef idx="0">
            <a:srgbClr val="FFFFFF"/>
          </a:effectRef>
          <a:fontRef idx="minor">
            <a:schemeClr val="tx1"/>
          </a:fontRef>
        </p:style>
      </p:cxnSp>
      <p:sp>
        <p:nvSpPr>
          <p:cNvPr id="24" name="文字框 23"/>
          <p:cNvSpPr txBox="1"/>
          <p:nvPr/>
        </p:nvSpPr>
        <p:spPr>
          <a:xfrm>
            <a:off x="9730740" y="2467610"/>
            <a:ext cx="1967230" cy="553085"/>
          </a:xfrm>
          <a:prstGeom prst="rect">
            <a:avLst/>
          </a:prstGeom>
        </p:spPr>
        <p:txBody>
          <a:bodyPr wrap="square">
            <a:spAutoFit/>
          </a:bodyPr>
          <a:p>
            <a:pPr marL="0" indent="0">
              <a:lnSpc>
                <a:spcPct val="125000"/>
              </a:lnSpc>
              <a:spcBef>
                <a:spcPts val="0"/>
              </a:spcBef>
              <a:spcAft>
                <a:spcPts val="0"/>
              </a:spcAft>
            </a:pPr>
            <a:r>
              <a:rPr lang="zh-HK" altLang="en-US" sz="1200" b="0" i="0">
                <a:solidFill>
                  <a:srgbClr val="0F1115"/>
                </a:solidFill>
                <a:latin typeface="微软雅黑" panose="020B0503020204020204" charset="-122"/>
                <a:ea typeface="微软雅黑" panose="020B0503020204020204" charset="-122"/>
              </a:rPr>
              <a:t>回收执行结果，聚合策略效果形成运营评估闭环</a:t>
            </a:r>
            <a:endParaRPr lang="zh-HK" altLang="en-US" sz="1200" b="0" i="0">
              <a:solidFill>
                <a:srgbClr val="0F1115"/>
              </a:solidFill>
              <a:latin typeface="微软雅黑" panose="020B0503020204020204" charset="-122"/>
              <a:ea typeface="微软雅黑" panose="020B0503020204020204" charset="-122"/>
            </a:endParaRPr>
          </a:p>
        </p:txBody>
      </p:sp>
      <p:sp>
        <p:nvSpPr>
          <p:cNvPr id="25" name="文字框 24"/>
          <p:cNvSpPr txBox="1"/>
          <p:nvPr/>
        </p:nvSpPr>
        <p:spPr>
          <a:xfrm>
            <a:off x="2693670" y="3381375"/>
            <a:ext cx="1253490" cy="306705"/>
          </a:xfrm>
          <a:prstGeom prst="rect">
            <a:avLst/>
          </a:prstGeom>
          <a:noFill/>
        </p:spPr>
        <p:txBody>
          <a:bodyPr wrap="none" rtlCol="0">
            <a:spAutoFit/>
          </a:bodyPr>
          <a:p>
            <a:pPr algn="l"/>
            <a:r>
              <a:rPr kumimoji="1" lang="zh-CN" altLang="zh-HK" sz="1400" b="1" dirty="0" smtClean="0">
                <a:solidFill>
                  <a:srgbClr val="C00000"/>
                </a:solidFill>
                <a:latin typeface="微软雅黑" panose="020B0503020204020204" charset="-122"/>
                <a:ea typeface="微软雅黑" panose="020B0503020204020204" charset="-122"/>
              </a:rPr>
              <a:t>统一集成框架</a:t>
            </a:r>
            <a:endParaRPr kumimoji="1" lang="zh-CN" altLang="zh-HK" sz="1400" b="1" dirty="0" smtClean="0">
              <a:solidFill>
                <a:srgbClr val="C00000"/>
              </a:solidFill>
              <a:latin typeface="微软雅黑" panose="020B0503020204020204" charset="-122"/>
              <a:ea typeface="微软雅黑" panose="020B0503020204020204" charset="-122"/>
            </a:endParaRPr>
          </a:p>
        </p:txBody>
      </p:sp>
      <p:sp>
        <p:nvSpPr>
          <p:cNvPr id="26" name="文字框 25"/>
          <p:cNvSpPr txBox="1"/>
          <p:nvPr/>
        </p:nvSpPr>
        <p:spPr>
          <a:xfrm>
            <a:off x="4895215" y="3377565"/>
            <a:ext cx="1253490" cy="306705"/>
          </a:xfrm>
          <a:prstGeom prst="rect">
            <a:avLst/>
          </a:prstGeom>
          <a:noFill/>
        </p:spPr>
        <p:txBody>
          <a:bodyPr wrap="none" rtlCol="0">
            <a:spAutoFit/>
          </a:bodyPr>
          <a:p>
            <a:pPr algn="l"/>
            <a:r>
              <a:rPr kumimoji="1" lang="zh-CN" altLang="zh-HK" sz="1400" b="1" dirty="0" smtClean="0">
                <a:solidFill>
                  <a:srgbClr val="C00000"/>
                </a:solidFill>
                <a:latin typeface="微软雅黑" panose="020B0503020204020204" charset="-122"/>
                <a:ea typeface="微软雅黑" panose="020B0503020204020204" charset="-122"/>
              </a:rPr>
              <a:t>统一任务调度</a:t>
            </a:r>
            <a:endParaRPr kumimoji="1" lang="zh-CN" altLang="zh-HK" sz="1400" b="1" dirty="0" smtClean="0">
              <a:solidFill>
                <a:srgbClr val="C00000"/>
              </a:solidFill>
              <a:latin typeface="微软雅黑" panose="020B0503020204020204" charset="-122"/>
              <a:ea typeface="微软雅黑" panose="020B0503020204020204" charset="-122"/>
            </a:endParaRPr>
          </a:p>
        </p:txBody>
      </p:sp>
      <p:sp>
        <p:nvSpPr>
          <p:cNvPr id="27" name="文字框 26"/>
          <p:cNvSpPr txBox="1"/>
          <p:nvPr/>
        </p:nvSpPr>
        <p:spPr>
          <a:xfrm>
            <a:off x="7350760" y="3373120"/>
            <a:ext cx="1253490" cy="306705"/>
          </a:xfrm>
          <a:prstGeom prst="rect">
            <a:avLst/>
          </a:prstGeom>
          <a:noFill/>
        </p:spPr>
        <p:txBody>
          <a:bodyPr wrap="none" rtlCol="0">
            <a:spAutoFit/>
          </a:bodyPr>
          <a:p>
            <a:pPr algn="l"/>
            <a:r>
              <a:rPr kumimoji="1" lang="zh-CN" altLang="zh-HK" sz="1400" b="1" dirty="0" smtClean="0">
                <a:solidFill>
                  <a:srgbClr val="C00000"/>
                </a:solidFill>
                <a:latin typeface="微软雅黑" panose="020B0503020204020204" charset="-122"/>
                <a:ea typeface="微软雅黑" panose="020B0503020204020204" charset="-122"/>
              </a:rPr>
              <a:t>统一能力汇聚</a:t>
            </a:r>
            <a:endParaRPr kumimoji="1" lang="zh-CN" altLang="zh-HK" sz="1400" b="1" dirty="0" smtClean="0">
              <a:solidFill>
                <a:srgbClr val="C00000"/>
              </a:solidFill>
              <a:latin typeface="微软雅黑" panose="020B0503020204020204" charset="-122"/>
              <a:ea typeface="微软雅黑" panose="020B0503020204020204" charset="-122"/>
            </a:endParaRPr>
          </a:p>
        </p:txBody>
      </p:sp>
      <p:sp>
        <p:nvSpPr>
          <p:cNvPr id="28" name="文字框 27"/>
          <p:cNvSpPr txBox="1"/>
          <p:nvPr/>
        </p:nvSpPr>
        <p:spPr>
          <a:xfrm>
            <a:off x="9742805" y="3380740"/>
            <a:ext cx="1253490" cy="306705"/>
          </a:xfrm>
          <a:prstGeom prst="rect">
            <a:avLst/>
          </a:prstGeom>
          <a:noFill/>
        </p:spPr>
        <p:txBody>
          <a:bodyPr wrap="none" rtlCol="0">
            <a:spAutoFit/>
          </a:bodyPr>
          <a:p>
            <a:pPr algn="l"/>
            <a:r>
              <a:rPr kumimoji="1" lang="zh-CN" altLang="zh-HK" sz="1400" b="1" dirty="0" smtClean="0">
                <a:solidFill>
                  <a:srgbClr val="C00000"/>
                </a:solidFill>
                <a:latin typeface="微软雅黑" panose="020B0503020204020204" charset="-122"/>
                <a:ea typeface="微软雅黑" panose="020B0503020204020204" charset="-122"/>
              </a:rPr>
              <a:t>统一数据整合</a:t>
            </a:r>
            <a:endParaRPr kumimoji="1" lang="zh-CN" altLang="zh-HK" sz="1400" b="1" dirty="0" smtClean="0">
              <a:solidFill>
                <a:srgbClr val="C00000"/>
              </a:solidFill>
              <a:latin typeface="微软雅黑" panose="020B0503020204020204" charset="-122"/>
              <a:ea typeface="微软雅黑" panose="020B0503020204020204" charset="-122"/>
            </a:endParaRPr>
          </a:p>
        </p:txBody>
      </p:sp>
      <p:sp>
        <p:nvSpPr>
          <p:cNvPr id="29" name="矩形 28"/>
          <p:cNvSpPr/>
          <p:nvPr/>
        </p:nvSpPr>
        <p:spPr>
          <a:xfrm>
            <a:off x="633095" y="3296285"/>
            <a:ext cx="11155045" cy="464820"/>
          </a:xfrm>
          <a:prstGeom prst="rect">
            <a:avLst/>
          </a:prstGeom>
          <a:noFill/>
          <a:ln w="12700" cap="flat" cmpd="sng" algn="ctr">
            <a:solidFill>
              <a:schemeClr val="accent1">
                <a:lumMod val="20000"/>
                <a:lumOff val="80000"/>
              </a:schemeClr>
            </a:solidFill>
            <a:prstDash val="solid"/>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0" name="文字框 29"/>
          <p:cNvSpPr txBox="1"/>
          <p:nvPr/>
        </p:nvSpPr>
        <p:spPr>
          <a:xfrm>
            <a:off x="848360" y="3373120"/>
            <a:ext cx="14274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专区建设原则</a:t>
            </a:r>
            <a:r>
              <a:rPr kumimoji="1" lang="en-US" altLang="zh-CN" sz="1400" dirty="0" smtClean="0">
                <a:latin typeface="微软雅黑" panose="020B0503020204020204" charset="-122"/>
                <a:ea typeface="微软雅黑" panose="020B0503020204020204" charset="-122"/>
              </a:rPr>
              <a:t>：</a:t>
            </a:r>
            <a:endParaRPr kumimoji="1" lang="en-US" altLang="zh-CN" sz="1400" dirty="0" smtClean="0">
              <a:latin typeface="微软雅黑" panose="020B0503020204020204" charset="-122"/>
              <a:ea typeface="微软雅黑" panose="020B0503020204020204" charset="-122"/>
            </a:endParaRPr>
          </a:p>
        </p:txBody>
      </p:sp>
      <p:grpSp>
        <p:nvGrpSpPr>
          <p:cNvPr id="65" name="组合 64"/>
          <p:cNvGrpSpPr/>
          <p:nvPr/>
        </p:nvGrpSpPr>
        <p:grpSpPr>
          <a:xfrm>
            <a:off x="407670" y="4329430"/>
            <a:ext cx="2159902" cy="2273300"/>
            <a:chOff x="642" y="6818"/>
            <a:chExt cx="4153" cy="3580"/>
          </a:xfrm>
        </p:grpSpPr>
        <p:sp>
          <p:nvSpPr>
            <p:cNvPr id="31" name="矩形 30"/>
            <p:cNvSpPr/>
            <p:nvPr/>
          </p:nvSpPr>
          <p:spPr>
            <a:xfrm>
              <a:off x="642" y="6818"/>
              <a:ext cx="4153" cy="358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6" name="矩形 35"/>
            <p:cNvSpPr/>
            <p:nvPr/>
          </p:nvSpPr>
          <p:spPr>
            <a:xfrm>
              <a:off x="1534" y="6818"/>
              <a:ext cx="2417" cy="454"/>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存量</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运营</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40" name="文字框 39"/>
            <p:cNvSpPr txBox="1"/>
            <p:nvPr/>
          </p:nvSpPr>
          <p:spPr>
            <a:xfrm>
              <a:off x="885" y="7384"/>
              <a:ext cx="3726" cy="871"/>
            </a:xfrm>
            <a:prstGeom prst="rect">
              <a:avLst/>
            </a:prstGeom>
          </p:spPr>
          <p:txBody>
            <a:bodyPr wrap="square">
              <a:spAutoFit/>
            </a:bodyPr>
            <a:p>
              <a:pPr indent="0">
                <a:lnSpc>
                  <a:spcPct val="125000"/>
                </a:lnSpc>
                <a:spcBef>
                  <a:spcPts val="0"/>
                </a:spcBef>
                <a:spcAft>
                  <a:spcPts val="0"/>
                </a:spcAft>
                <a:buNone/>
              </a:pPr>
              <a:r>
                <a:rPr lang="zh-CN" altLang="en-US" sz="1200" b="0" i="0">
                  <a:solidFill>
                    <a:srgbClr val="0F1115"/>
                  </a:solidFill>
                  <a:latin typeface="微软雅黑" panose="020B0503020204020204" charset="-122"/>
                  <a:ea typeface="微软雅黑" panose="020B0503020204020204" charset="-122"/>
                </a:rPr>
                <a:t>提升</a:t>
              </a:r>
              <a:r>
                <a:rPr lang="zh-CN" altLang="en-US" sz="1200" b="0" i="0">
                  <a:solidFill>
                    <a:srgbClr val="0F1115"/>
                  </a:solidFill>
                  <a:latin typeface="微软雅黑" panose="020B0503020204020204" charset="-122"/>
                  <a:ea typeface="微软雅黑" panose="020B0503020204020204" charset="-122"/>
                </a:rPr>
                <a:t>存量客户保有率，稳固公司核心价值</a:t>
              </a:r>
              <a:endParaRPr lang="zh-CN" altLang="en-US" sz="1200" b="0" i="0">
                <a:solidFill>
                  <a:srgbClr val="0F1115"/>
                </a:solidFill>
                <a:latin typeface="微软雅黑" panose="020B0503020204020204" charset="-122"/>
                <a:ea typeface="微软雅黑" panose="020B0503020204020204" charset="-122"/>
              </a:endParaRPr>
            </a:p>
          </p:txBody>
        </p:sp>
        <p:sp>
          <p:nvSpPr>
            <p:cNvPr id="45" name="矩形 44"/>
            <p:cNvSpPr/>
            <p:nvPr/>
          </p:nvSpPr>
          <p:spPr>
            <a:xfrm>
              <a:off x="1107" y="840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智能预警</a:t>
              </a:r>
              <a:endParaRPr lang="zh-CN" altLang="zh-HK" sz="1200"/>
            </a:p>
          </p:txBody>
        </p:sp>
        <p:sp>
          <p:nvSpPr>
            <p:cNvPr id="46" name="矩形 45"/>
            <p:cNvSpPr/>
            <p:nvPr/>
          </p:nvSpPr>
          <p:spPr>
            <a:xfrm>
              <a:off x="1107" y="9035"/>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闭环维系</a:t>
              </a:r>
              <a:endParaRPr lang="zh-CN" altLang="zh-HK" sz="1200"/>
            </a:p>
          </p:txBody>
        </p:sp>
        <p:sp>
          <p:nvSpPr>
            <p:cNvPr id="47" name="矩形 46"/>
            <p:cNvSpPr/>
            <p:nvPr/>
          </p:nvSpPr>
          <p:spPr>
            <a:xfrm>
              <a:off x="1103" y="969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en-US" altLang="zh-HK" sz="1200"/>
                <a:t>AI</a:t>
              </a:r>
              <a:r>
                <a:rPr lang="zh-CN" altLang="en-US" sz="1200"/>
                <a:t>洞察</a:t>
              </a:r>
              <a:endParaRPr lang="zh-CN" altLang="en-US" sz="1200"/>
            </a:p>
          </p:txBody>
        </p:sp>
      </p:grpSp>
      <p:grpSp>
        <p:nvGrpSpPr>
          <p:cNvPr id="66" name="组合 65"/>
          <p:cNvGrpSpPr/>
          <p:nvPr/>
        </p:nvGrpSpPr>
        <p:grpSpPr>
          <a:xfrm>
            <a:off x="2743467" y="4329430"/>
            <a:ext cx="2159635" cy="2273300"/>
            <a:chOff x="5283" y="6818"/>
            <a:chExt cx="4194" cy="3580"/>
          </a:xfrm>
        </p:grpSpPr>
        <p:sp>
          <p:nvSpPr>
            <p:cNvPr id="32" name="矩形 31"/>
            <p:cNvSpPr/>
            <p:nvPr/>
          </p:nvSpPr>
          <p:spPr>
            <a:xfrm>
              <a:off x="5283" y="6818"/>
              <a:ext cx="4195" cy="358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7" name="矩形 36"/>
            <p:cNvSpPr/>
            <p:nvPr/>
          </p:nvSpPr>
          <p:spPr>
            <a:xfrm>
              <a:off x="6216" y="6818"/>
              <a:ext cx="2417" cy="454"/>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国际</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业务</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41" name="文字框 40"/>
            <p:cNvSpPr txBox="1"/>
            <p:nvPr/>
          </p:nvSpPr>
          <p:spPr>
            <a:xfrm>
              <a:off x="5554" y="7384"/>
              <a:ext cx="3726" cy="871"/>
            </a:xfrm>
            <a:prstGeom prst="rect">
              <a:avLst/>
            </a:prstGeom>
          </p:spPr>
          <p:txBody>
            <a:bodyPr wrap="square">
              <a:spAutoFit/>
            </a:bodyPr>
            <a:p>
              <a:pPr indent="0">
                <a:lnSpc>
                  <a:spcPct val="125000"/>
                </a:lnSpc>
                <a:spcBef>
                  <a:spcPts val="0"/>
                </a:spcBef>
                <a:spcAft>
                  <a:spcPts val="0"/>
                </a:spcAft>
                <a:buNone/>
              </a:pPr>
              <a:r>
                <a:rPr lang="zh-HK" altLang="en-US" sz="1200" b="0" i="0">
                  <a:solidFill>
                    <a:srgbClr val="0F1115"/>
                  </a:solidFill>
                  <a:latin typeface="微软雅黑" panose="020B0503020204020204" charset="-122"/>
                  <a:ea typeface="微软雅黑" panose="020B0503020204020204" charset="-122"/>
                </a:rPr>
                <a:t>实现国际业务的数智化协同运营，提升运营效率</a:t>
              </a:r>
              <a:endParaRPr lang="zh-HK" altLang="en-US" sz="1200" b="0" i="0">
                <a:solidFill>
                  <a:srgbClr val="0F1115"/>
                </a:solidFill>
                <a:latin typeface="微软雅黑" panose="020B0503020204020204" charset="-122"/>
                <a:ea typeface="微软雅黑" panose="020B0503020204020204" charset="-122"/>
              </a:endParaRPr>
            </a:p>
          </p:txBody>
        </p:sp>
        <p:sp>
          <p:nvSpPr>
            <p:cNvPr id="48" name="矩形 47"/>
            <p:cNvSpPr/>
            <p:nvPr/>
          </p:nvSpPr>
          <p:spPr>
            <a:xfrm>
              <a:off x="5744" y="840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原子产品</a:t>
              </a:r>
              <a:r>
                <a:rPr lang="zh-CN" altLang="zh-HK" sz="1200"/>
                <a:t>管理</a:t>
              </a:r>
              <a:endParaRPr lang="zh-CN" altLang="zh-HK" sz="1200"/>
            </a:p>
          </p:txBody>
        </p:sp>
        <p:sp>
          <p:nvSpPr>
            <p:cNvPr id="49" name="矩形 48"/>
            <p:cNvSpPr/>
            <p:nvPr/>
          </p:nvSpPr>
          <p:spPr>
            <a:xfrm>
              <a:off x="5744" y="9035"/>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国际业务</a:t>
              </a:r>
              <a:r>
                <a:rPr lang="zh-CN" altLang="zh-HK" sz="1200"/>
                <a:t>数据报表</a:t>
              </a:r>
              <a:endParaRPr lang="zh-CN" altLang="zh-HK" sz="1200"/>
            </a:p>
          </p:txBody>
        </p:sp>
        <p:sp>
          <p:nvSpPr>
            <p:cNvPr id="50" name="矩形 49"/>
            <p:cNvSpPr/>
            <p:nvPr/>
          </p:nvSpPr>
          <p:spPr>
            <a:xfrm>
              <a:off x="5740" y="969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200"/>
                <a:t>营销</a:t>
              </a:r>
              <a:r>
                <a:rPr lang="zh-CN" altLang="en-US" sz="1200"/>
                <a:t>素材库</a:t>
              </a:r>
              <a:endParaRPr lang="zh-CN" altLang="en-US" sz="1200"/>
            </a:p>
          </p:txBody>
        </p:sp>
      </p:grpSp>
      <p:grpSp>
        <p:nvGrpSpPr>
          <p:cNvPr id="67" name="组合 66"/>
          <p:cNvGrpSpPr/>
          <p:nvPr/>
        </p:nvGrpSpPr>
        <p:grpSpPr>
          <a:xfrm>
            <a:off x="5078997" y="4329430"/>
            <a:ext cx="2160270" cy="2273300"/>
            <a:chOff x="9923" y="6818"/>
            <a:chExt cx="4195" cy="3580"/>
          </a:xfrm>
        </p:grpSpPr>
        <p:sp>
          <p:nvSpPr>
            <p:cNvPr id="33" name="矩形 32"/>
            <p:cNvSpPr/>
            <p:nvPr/>
          </p:nvSpPr>
          <p:spPr>
            <a:xfrm>
              <a:off x="9923" y="6818"/>
              <a:ext cx="4195" cy="358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8" name="矩形 37"/>
            <p:cNvSpPr/>
            <p:nvPr/>
          </p:nvSpPr>
          <p:spPr>
            <a:xfrm>
              <a:off x="10898" y="6818"/>
              <a:ext cx="2417" cy="454"/>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家庭</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业务</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42" name="文字框 41"/>
            <p:cNvSpPr txBox="1"/>
            <p:nvPr/>
          </p:nvSpPr>
          <p:spPr>
            <a:xfrm>
              <a:off x="10158" y="7384"/>
              <a:ext cx="3726" cy="871"/>
            </a:xfrm>
            <a:prstGeom prst="rect">
              <a:avLst/>
            </a:prstGeom>
          </p:spPr>
          <p:txBody>
            <a:bodyPr wrap="square">
              <a:spAutoFit/>
            </a:bodyPr>
            <a:p>
              <a:pPr indent="0">
                <a:lnSpc>
                  <a:spcPct val="125000"/>
                </a:lnSpc>
                <a:spcBef>
                  <a:spcPts val="0"/>
                </a:spcBef>
                <a:spcAft>
                  <a:spcPts val="0"/>
                </a:spcAft>
                <a:buNone/>
              </a:pPr>
              <a:r>
                <a:rPr lang="zh-CN" altLang="en-US" sz="1200" noProof="0" dirty="0">
                  <a:solidFill>
                    <a:srgbClr val="000000">
                      <a:alpha val="100000"/>
                    </a:srgbClr>
                  </a:solidFill>
                  <a:cs typeface="微软雅黑" panose="020B0503020204020204" charset="-122"/>
                  <a:sym typeface="+mn-ea"/>
                </a:rPr>
                <a:t>实现家庭市场增存一体价值提升</a:t>
              </a:r>
              <a:endParaRPr lang="zh-CN" altLang="en-US" sz="1200" b="0" i="0">
                <a:solidFill>
                  <a:srgbClr val="0F1115"/>
                </a:solidFill>
                <a:latin typeface="微软雅黑" panose="020B0503020204020204" charset="-122"/>
                <a:ea typeface="微软雅黑" panose="020B0503020204020204" charset="-122"/>
              </a:endParaRPr>
            </a:p>
          </p:txBody>
        </p:sp>
        <p:sp>
          <p:nvSpPr>
            <p:cNvPr id="51" name="矩形 50"/>
            <p:cNvSpPr/>
            <p:nvPr/>
          </p:nvSpPr>
          <p:spPr>
            <a:xfrm>
              <a:off x="10426" y="840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跨业务设备</a:t>
              </a:r>
              <a:r>
                <a:rPr lang="zh-CN" altLang="zh-HK" sz="1200"/>
                <a:t>联动</a:t>
              </a:r>
              <a:endParaRPr lang="zh-CN" altLang="zh-HK" sz="1200"/>
            </a:p>
          </p:txBody>
        </p:sp>
        <p:sp>
          <p:nvSpPr>
            <p:cNvPr id="52" name="矩形 51"/>
            <p:cNvSpPr/>
            <p:nvPr/>
          </p:nvSpPr>
          <p:spPr>
            <a:xfrm>
              <a:off x="10426" y="9035"/>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完善数据</a:t>
              </a:r>
              <a:r>
                <a:rPr lang="zh-CN" altLang="zh-HK" sz="1200"/>
                <a:t>资源库</a:t>
              </a:r>
              <a:endParaRPr lang="zh-CN" altLang="zh-HK" sz="1200"/>
            </a:p>
          </p:txBody>
        </p:sp>
        <p:sp>
          <p:nvSpPr>
            <p:cNvPr id="53" name="矩形 52"/>
            <p:cNvSpPr/>
            <p:nvPr/>
          </p:nvSpPr>
          <p:spPr>
            <a:xfrm>
              <a:off x="10422" y="969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en-US" altLang="zh-HK" sz="1200"/>
                <a:t>AI</a:t>
              </a:r>
              <a:r>
                <a:rPr lang="zh-CN" altLang="en-US" sz="1200"/>
                <a:t>赋能运营</a:t>
              </a:r>
              <a:r>
                <a:rPr lang="zh-CN" altLang="en-US" sz="1200"/>
                <a:t>管控</a:t>
              </a:r>
              <a:endParaRPr lang="zh-CN" altLang="en-US" sz="1200"/>
            </a:p>
          </p:txBody>
        </p:sp>
      </p:grpSp>
      <p:grpSp>
        <p:nvGrpSpPr>
          <p:cNvPr id="68" name="组合 67"/>
          <p:cNvGrpSpPr/>
          <p:nvPr/>
        </p:nvGrpSpPr>
        <p:grpSpPr>
          <a:xfrm>
            <a:off x="7415162" y="4329430"/>
            <a:ext cx="2159635" cy="2273300"/>
            <a:chOff x="14564" y="6818"/>
            <a:chExt cx="4194" cy="3580"/>
          </a:xfrm>
        </p:grpSpPr>
        <p:sp>
          <p:nvSpPr>
            <p:cNvPr id="34" name="矩形 33"/>
            <p:cNvSpPr/>
            <p:nvPr/>
          </p:nvSpPr>
          <p:spPr>
            <a:xfrm>
              <a:off x="14564" y="6818"/>
              <a:ext cx="4195" cy="358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9" name="矩形 38"/>
            <p:cNvSpPr/>
            <p:nvPr/>
          </p:nvSpPr>
          <p:spPr>
            <a:xfrm>
              <a:off x="15580" y="6818"/>
              <a:ext cx="2417" cy="454"/>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行业洞察</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43" name="文字框 42"/>
            <p:cNvSpPr txBox="1"/>
            <p:nvPr/>
          </p:nvSpPr>
          <p:spPr>
            <a:xfrm>
              <a:off x="14838" y="7384"/>
              <a:ext cx="3726" cy="871"/>
            </a:xfrm>
            <a:prstGeom prst="rect">
              <a:avLst/>
            </a:prstGeom>
          </p:spPr>
          <p:txBody>
            <a:bodyPr wrap="square">
              <a:spAutoFit/>
            </a:bodyPr>
            <a:p>
              <a:pPr indent="0">
                <a:lnSpc>
                  <a:spcPct val="125000"/>
                </a:lnSpc>
                <a:spcBef>
                  <a:spcPts val="0"/>
                </a:spcBef>
                <a:spcAft>
                  <a:spcPts val="0"/>
                </a:spcAft>
                <a:buFont typeface="Arial" panose="020B0604020202020204" pitchFamily="34" charset="0"/>
                <a:buNone/>
              </a:pPr>
              <a:r>
                <a:rPr lang="zh-CN" altLang="en-US" sz="1200" b="0" i="0">
                  <a:solidFill>
                    <a:srgbClr val="0F1115"/>
                  </a:solidFill>
                  <a:latin typeface="微软雅黑" panose="020B0503020204020204" charset="-122"/>
                  <a:ea typeface="微软雅黑" panose="020B0503020204020204" charset="-122"/>
                </a:rPr>
                <a:t>面向不同市场领域的战略决策与战术指挥中枢</a:t>
              </a:r>
              <a:endParaRPr lang="zh-CN" altLang="en-US" sz="1200" b="0" i="0">
                <a:solidFill>
                  <a:srgbClr val="0F1115"/>
                </a:solidFill>
                <a:latin typeface="微软雅黑" panose="020B0503020204020204" charset="-122"/>
                <a:ea typeface="微软雅黑" panose="020B0503020204020204" charset="-122"/>
              </a:endParaRPr>
            </a:p>
          </p:txBody>
        </p:sp>
        <p:sp>
          <p:nvSpPr>
            <p:cNvPr id="54" name="矩形 53"/>
            <p:cNvSpPr/>
            <p:nvPr/>
          </p:nvSpPr>
          <p:spPr>
            <a:xfrm>
              <a:off x="14914" y="840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200"/>
                <a:t>市场洞察分析</a:t>
              </a:r>
              <a:r>
                <a:rPr lang="zh-CN" altLang="en-US" sz="1200"/>
                <a:t>中心</a:t>
              </a:r>
              <a:endParaRPr lang="zh-CN" altLang="en-US" sz="1200"/>
            </a:p>
          </p:txBody>
        </p:sp>
        <p:sp>
          <p:nvSpPr>
            <p:cNvPr id="55" name="矩形 54"/>
            <p:cNvSpPr/>
            <p:nvPr/>
          </p:nvSpPr>
          <p:spPr>
            <a:xfrm>
              <a:off x="14914" y="9035"/>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200"/>
                <a:t>市政协同分析中心</a:t>
              </a:r>
              <a:endParaRPr lang="zh-CN" altLang="en-US" sz="1200"/>
            </a:p>
          </p:txBody>
        </p:sp>
        <p:sp>
          <p:nvSpPr>
            <p:cNvPr id="56" name="矩形 55"/>
            <p:cNvSpPr/>
            <p:nvPr/>
          </p:nvSpPr>
          <p:spPr>
            <a:xfrm>
              <a:off x="14910" y="969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200"/>
                <a:t>场景化地图作战室</a:t>
              </a:r>
              <a:endParaRPr lang="zh-CN" altLang="en-US" sz="1200"/>
            </a:p>
          </p:txBody>
        </p:sp>
      </p:grpSp>
      <p:sp>
        <p:nvSpPr>
          <p:cNvPr id="2" name="矩形 1"/>
          <p:cNvSpPr/>
          <p:nvPr/>
        </p:nvSpPr>
        <p:spPr>
          <a:xfrm>
            <a:off x="407670" y="3959225"/>
            <a:ext cx="11503660" cy="286385"/>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8" name="文本框 57"/>
          <p:cNvSpPr txBox="1"/>
          <p:nvPr/>
        </p:nvSpPr>
        <p:spPr>
          <a:xfrm>
            <a:off x="3644900" y="3938905"/>
            <a:ext cx="5171440" cy="306705"/>
          </a:xfrm>
          <a:prstGeom prst="rect">
            <a:avLst/>
          </a:prstGeom>
          <a:noFill/>
        </p:spPr>
        <p:txBody>
          <a:bodyPr wrap="square" rtlCol="0">
            <a:spAutoFit/>
          </a:bodyPr>
          <a:p>
            <a:pPr algn="ctr"/>
            <a:r>
              <a:rPr kumimoji="1" lang="en-US" altLang="zh-CN" sz="1400" b="1" i="1" u="sng" dirty="0" smtClean="0">
                <a:solidFill>
                  <a:schemeClr val="accent1"/>
                </a:solidFill>
                <a:latin typeface="微软雅黑" panose="020B0503020204020204" charset="-122"/>
                <a:ea typeface="微软雅黑" panose="020B0503020204020204" charset="-122"/>
              </a:rPr>
              <a:t>1+N</a:t>
            </a:r>
            <a:r>
              <a:rPr kumimoji="1" lang="zh-CN" altLang="en-US" sz="1400" b="1" i="1" u="sng" dirty="0" smtClean="0">
                <a:solidFill>
                  <a:schemeClr val="accent1"/>
                </a:solidFill>
                <a:latin typeface="微软雅黑" panose="020B0503020204020204" charset="-122"/>
                <a:ea typeface="微软雅黑" panose="020B0503020204020204" charset="-122"/>
              </a:rPr>
              <a:t>：一个运营情况总览页</a:t>
            </a:r>
            <a:r>
              <a:rPr kumimoji="1" lang="en-US" altLang="zh-CN" sz="1400" b="1" i="1" u="sng" dirty="0" smtClean="0">
                <a:solidFill>
                  <a:schemeClr val="accent1"/>
                </a:solidFill>
                <a:latin typeface="微软雅黑" panose="020B0503020204020204" charset="-122"/>
                <a:ea typeface="微软雅黑" panose="020B0503020204020204" charset="-122"/>
              </a:rPr>
              <a:t> </a:t>
            </a:r>
            <a:r>
              <a:rPr kumimoji="1" lang="zh-CN" altLang="en-US" sz="1400" b="1" i="1" u="sng" dirty="0" smtClean="0">
                <a:solidFill>
                  <a:schemeClr val="accent1"/>
                </a:solidFill>
                <a:latin typeface="微软雅黑" panose="020B0503020204020204" charset="-122"/>
                <a:ea typeface="微软雅黑" panose="020B0503020204020204" charset="-122"/>
              </a:rPr>
              <a:t>和</a:t>
            </a:r>
            <a:r>
              <a:rPr kumimoji="1" lang="en-US" altLang="zh-CN" sz="1400" b="1" i="1" u="sng" dirty="0" smtClean="0">
                <a:solidFill>
                  <a:schemeClr val="accent1"/>
                </a:solidFill>
                <a:latin typeface="微软雅黑" panose="020B0503020204020204" charset="-122"/>
                <a:ea typeface="微软雅黑" panose="020B0503020204020204" charset="-122"/>
              </a:rPr>
              <a:t> N</a:t>
            </a:r>
            <a:r>
              <a:rPr kumimoji="1" lang="zh-CN" altLang="en-US" sz="1400" b="1" i="1" u="sng" dirty="0" smtClean="0">
                <a:solidFill>
                  <a:schemeClr val="accent1"/>
                </a:solidFill>
                <a:latin typeface="微软雅黑" panose="020B0503020204020204" charset="-122"/>
                <a:ea typeface="微软雅黑" panose="020B0503020204020204" charset="-122"/>
              </a:rPr>
              <a:t>个运营</a:t>
            </a:r>
            <a:r>
              <a:rPr kumimoji="1" lang="zh-CN" altLang="en-US" sz="1400" b="1" i="1" u="sng" dirty="0" smtClean="0">
                <a:solidFill>
                  <a:schemeClr val="accent1"/>
                </a:solidFill>
                <a:latin typeface="微软雅黑" panose="020B0503020204020204" charset="-122"/>
                <a:ea typeface="微软雅黑" panose="020B0503020204020204" charset="-122"/>
              </a:rPr>
              <a:t>专区</a:t>
            </a:r>
            <a:endParaRPr kumimoji="1" lang="zh-CN" altLang="en-US" sz="1400" b="1" i="1" u="sng" dirty="0" smtClean="0">
              <a:solidFill>
                <a:schemeClr val="accent1"/>
              </a:solidFill>
              <a:latin typeface="微软雅黑" panose="020B0503020204020204" charset="-122"/>
              <a:ea typeface="微软雅黑" panose="020B0503020204020204" charset="-122"/>
            </a:endParaRPr>
          </a:p>
        </p:txBody>
      </p:sp>
      <p:grpSp>
        <p:nvGrpSpPr>
          <p:cNvPr id="63" name="组合 62"/>
          <p:cNvGrpSpPr/>
          <p:nvPr/>
        </p:nvGrpSpPr>
        <p:grpSpPr>
          <a:xfrm>
            <a:off x="6872605" y="5988050"/>
            <a:ext cx="333375" cy="714375"/>
            <a:chOff x="13538" y="9626"/>
            <a:chExt cx="525" cy="1125"/>
          </a:xfrm>
        </p:grpSpPr>
        <p:sp>
          <p:nvSpPr>
            <p:cNvPr id="59" name="矩形 58"/>
            <p:cNvSpPr/>
            <p:nvPr/>
          </p:nvSpPr>
          <p:spPr>
            <a:xfrm rot="1860000">
              <a:off x="13569" y="9629"/>
              <a:ext cx="495" cy="1123"/>
            </a:xfrm>
            <a:prstGeom prst="rect">
              <a:avLst/>
            </a:prstGeom>
            <a:solidFill>
              <a:srgbClr val="C4DDFA"/>
            </a:solidFill>
            <a:ln w="12700" cap="flat" cmpd="sng" algn="ctr">
              <a:noFill/>
              <a:prstDash val="sysDot"/>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CN" altLang="en-US"/>
            </a:p>
          </p:txBody>
        </p:sp>
        <p:sp>
          <p:nvSpPr>
            <p:cNvPr id="60" name="文本框 59"/>
            <p:cNvSpPr txBox="1"/>
            <p:nvPr/>
          </p:nvSpPr>
          <p:spPr>
            <a:xfrm rot="18240000">
              <a:off x="13224" y="9940"/>
              <a:ext cx="1111" cy="483"/>
            </a:xfrm>
            <a:prstGeom prst="rect">
              <a:avLst/>
            </a:prstGeom>
            <a:noFill/>
          </p:spPr>
          <p:txBody>
            <a:bodyPr wrap="square" rtlCol="0">
              <a:spAutoFit/>
            </a:bodyPr>
            <a:p>
              <a:pPr algn="ctr"/>
              <a:r>
                <a:rPr kumimoji="1" lang="zh-CN" altLang="en-US" sz="1400" dirty="0" smtClean="0">
                  <a:latin typeface="微软雅黑" panose="020B0503020204020204" charset="-122"/>
                  <a:ea typeface="微软雅黑" panose="020B0503020204020204" charset="-122"/>
                </a:rPr>
                <a:t>杭研</a:t>
              </a:r>
              <a:endParaRPr kumimoji="1" lang="zh-CN" altLang="en-US" sz="1400" dirty="0" smtClean="0">
                <a:latin typeface="微软雅黑" panose="020B0503020204020204" charset="-122"/>
                <a:ea typeface="微软雅黑" panose="020B0503020204020204" charset="-122"/>
              </a:endParaRPr>
            </a:p>
          </p:txBody>
        </p:sp>
      </p:grpSp>
      <p:grpSp>
        <p:nvGrpSpPr>
          <p:cNvPr id="64" name="组合 63"/>
          <p:cNvGrpSpPr/>
          <p:nvPr/>
        </p:nvGrpSpPr>
        <p:grpSpPr>
          <a:xfrm>
            <a:off x="9239250" y="5988050"/>
            <a:ext cx="313690" cy="776605"/>
            <a:chOff x="18297" y="9550"/>
            <a:chExt cx="494" cy="1223"/>
          </a:xfrm>
        </p:grpSpPr>
        <p:sp>
          <p:nvSpPr>
            <p:cNvPr id="61" name="矩形 60"/>
            <p:cNvSpPr/>
            <p:nvPr/>
          </p:nvSpPr>
          <p:spPr>
            <a:xfrm rot="1860000">
              <a:off x="18297" y="9651"/>
              <a:ext cx="495" cy="1123"/>
            </a:xfrm>
            <a:prstGeom prst="rect">
              <a:avLst/>
            </a:prstGeom>
            <a:solidFill>
              <a:srgbClr val="C4DDFA"/>
            </a:solidFill>
            <a:ln w="12700" cap="flat" cmpd="sng" algn="ctr">
              <a:noFill/>
              <a:prstDash val="sysDot"/>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CN" altLang="en-US"/>
            </a:p>
          </p:txBody>
        </p:sp>
        <p:sp>
          <p:nvSpPr>
            <p:cNvPr id="62" name="文本框 61"/>
            <p:cNvSpPr txBox="1"/>
            <p:nvPr/>
          </p:nvSpPr>
          <p:spPr>
            <a:xfrm rot="18240000">
              <a:off x="17929" y="9918"/>
              <a:ext cx="1218" cy="483"/>
            </a:xfrm>
            <a:prstGeom prst="rect">
              <a:avLst/>
            </a:prstGeom>
            <a:noFill/>
          </p:spPr>
          <p:txBody>
            <a:bodyPr wrap="square" rtlCol="0">
              <a:spAutoFit/>
            </a:bodyPr>
            <a:p>
              <a:pPr algn="ctr"/>
              <a:r>
                <a:rPr kumimoji="1" lang="zh-CN" altLang="en-US" sz="1400" dirty="0" smtClean="0">
                  <a:latin typeface="微软雅黑" panose="020B0503020204020204" charset="-122"/>
                  <a:ea typeface="微软雅黑" panose="020B0503020204020204" charset="-122"/>
                </a:rPr>
                <a:t>大数据</a:t>
              </a:r>
              <a:endParaRPr kumimoji="1" lang="zh-CN" altLang="en-US" sz="1400" dirty="0" smtClean="0">
                <a:latin typeface="微软雅黑" panose="020B0503020204020204" charset="-122"/>
                <a:ea typeface="微软雅黑" panose="020B0503020204020204" charset="-122"/>
              </a:endParaRPr>
            </a:p>
          </p:txBody>
        </p:sp>
      </p:grpSp>
      <p:grpSp>
        <p:nvGrpSpPr>
          <p:cNvPr id="71" name="组合 70"/>
          <p:cNvGrpSpPr/>
          <p:nvPr/>
        </p:nvGrpSpPr>
        <p:grpSpPr>
          <a:xfrm>
            <a:off x="9750692" y="4329430"/>
            <a:ext cx="2160150" cy="2273300"/>
            <a:chOff x="14564" y="6818"/>
            <a:chExt cx="4195" cy="3580"/>
          </a:xfrm>
        </p:grpSpPr>
        <p:sp>
          <p:nvSpPr>
            <p:cNvPr id="72" name="矩形 71"/>
            <p:cNvSpPr/>
            <p:nvPr/>
          </p:nvSpPr>
          <p:spPr>
            <a:xfrm>
              <a:off x="14564" y="6818"/>
              <a:ext cx="4195" cy="358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3" name="矩形 72"/>
            <p:cNvSpPr/>
            <p:nvPr/>
          </p:nvSpPr>
          <p:spPr>
            <a:xfrm>
              <a:off x="15580" y="6818"/>
              <a:ext cx="2417" cy="454"/>
            </a:xfrm>
            <a:prstGeom prst="rect">
              <a:avLst/>
            </a:prstGeom>
            <a:solidFill>
              <a:srgbClr val="0070C0"/>
            </a:solidFill>
            <a:ln>
              <a:noFill/>
            </a:ln>
          </p:spPr>
          <p:style>
            <a:lnRef idx="2">
              <a:srgbClr val="518CE2">
                <a:shade val="50000"/>
              </a:srgbClr>
            </a:lnRef>
            <a:fillRef idx="1">
              <a:srgbClr val="518CE2"/>
            </a:fillRef>
            <a:effectRef idx="0">
              <a:srgbClr val="518CE2"/>
            </a:effectRef>
            <a:fontRef idx="minor">
              <a:srgbClr val="FFFFFF"/>
            </a:fontRef>
          </p:style>
          <p:txBody>
            <a:bodyPr vertOverflow="overflow" horzOverflow="overflow" vert="horz" wrap="square" lIns="91439" rIns="91439" numCol="1" spcCol="0" rtlCol="0" fromWordArt="0" anchor="ctr" anchorCtr="0" forceAA="0" compatLnSpc="1">
              <a:noAutofit/>
            </a:bodyPr>
            <a:lstStyle>
              <a:defPPr>
                <a:defRPr lang="zh-CN">
                  <a:solidFill>
                    <a:srgbClr val="FFFFFF"/>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FFFFFF"/>
                  </a:solidFill>
                  <a:latin typeface="Calibri" panose="020F0502020204030204" charset="0"/>
                  <a:ea typeface="宋体" panose="02010600030101010101" pitchFamily="2" charset="-122"/>
                  <a:cs typeface="+mn-cs"/>
                </a:defRPr>
              </a:lvl9pPr>
            </a:lstStyle>
            <a:p>
              <a:pPr lvl="0" algn="ctr">
                <a:buClrTx/>
                <a:buSzTx/>
                <a:buFontTx/>
                <a:defRPr/>
              </a:pP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省</a:t>
              </a:r>
              <a:r>
                <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rPr>
                <a:t>专区</a:t>
              </a:r>
              <a:endParaRPr lang="zh-CN" altLang="en-US" sz="1400" b="1" noProof="0" dirty="0">
                <a:ln>
                  <a:noFill/>
                </a:ln>
                <a:solidFill>
                  <a:schemeClr val="bg1"/>
                </a:solidFill>
                <a:effectLst/>
                <a:uLnTx/>
                <a:uFillTx/>
                <a:latin typeface="微软雅黑" panose="020B0503020204020204" charset="-122"/>
                <a:ea typeface="微软雅黑" panose="020B0503020204020204" charset="-122"/>
                <a:cs typeface="字魂58号-创中黑" panose="00000500000000000000" charset="-122"/>
                <a:sym typeface="微软雅黑" panose="020B0503020204020204" charset="-122"/>
              </a:endParaRPr>
            </a:p>
          </p:txBody>
        </p:sp>
        <p:sp>
          <p:nvSpPr>
            <p:cNvPr id="74" name="文字框 42"/>
            <p:cNvSpPr txBox="1"/>
            <p:nvPr/>
          </p:nvSpPr>
          <p:spPr>
            <a:xfrm>
              <a:off x="14838" y="7384"/>
              <a:ext cx="3726" cy="871"/>
            </a:xfrm>
            <a:prstGeom prst="rect">
              <a:avLst/>
            </a:prstGeom>
          </p:spPr>
          <p:txBody>
            <a:bodyPr wrap="square">
              <a:spAutoFit/>
            </a:bodyPr>
            <a:p>
              <a:pPr indent="0">
                <a:lnSpc>
                  <a:spcPct val="125000"/>
                </a:lnSpc>
                <a:spcBef>
                  <a:spcPts val="0"/>
                </a:spcBef>
                <a:spcAft>
                  <a:spcPts val="0"/>
                </a:spcAft>
                <a:buFont typeface="Arial" panose="020B0604020202020204" pitchFamily="34" charset="0"/>
                <a:buNone/>
              </a:pPr>
              <a:r>
                <a:rPr lang="zh-CN" altLang="en-US" sz="1200" b="0" i="0">
                  <a:solidFill>
                    <a:srgbClr val="0F1115"/>
                  </a:solidFill>
                  <a:latin typeface="微软雅黑" panose="020B0503020204020204" charset="-122"/>
                  <a:ea typeface="微软雅黑" panose="020B0503020204020204" charset="-122"/>
                </a:rPr>
                <a:t>聚焦本省运营需求，实现本省数智运营</a:t>
              </a:r>
              <a:r>
                <a:rPr lang="zh-CN" altLang="en-US" sz="1200" b="0" i="0">
                  <a:solidFill>
                    <a:srgbClr val="0F1115"/>
                  </a:solidFill>
                  <a:latin typeface="微软雅黑" panose="020B0503020204020204" charset="-122"/>
                  <a:ea typeface="微软雅黑" panose="020B0503020204020204" charset="-122"/>
                </a:rPr>
                <a:t>支撑</a:t>
              </a:r>
              <a:endParaRPr lang="zh-CN" altLang="en-US" sz="1200" b="0" i="0">
                <a:solidFill>
                  <a:srgbClr val="0F1115"/>
                </a:solidFill>
                <a:latin typeface="微软雅黑" panose="020B0503020204020204" charset="-122"/>
                <a:ea typeface="微软雅黑" panose="020B0503020204020204" charset="-122"/>
              </a:endParaRPr>
            </a:p>
          </p:txBody>
        </p:sp>
        <p:sp>
          <p:nvSpPr>
            <p:cNvPr id="75" name="矩形 74"/>
            <p:cNvSpPr/>
            <p:nvPr/>
          </p:nvSpPr>
          <p:spPr>
            <a:xfrm>
              <a:off x="14914" y="840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200"/>
                <a:t>江苏专区</a:t>
              </a:r>
              <a:endParaRPr lang="zh-CN" altLang="en-US" sz="1200"/>
            </a:p>
          </p:txBody>
        </p:sp>
        <p:sp>
          <p:nvSpPr>
            <p:cNvPr id="76" name="矩形 75"/>
            <p:cNvSpPr/>
            <p:nvPr/>
          </p:nvSpPr>
          <p:spPr>
            <a:xfrm>
              <a:off x="14914" y="9035"/>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en-US" sz="1200"/>
                <a:t>广东专区</a:t>
              </a:r>
              <a:endParaRPr lang="zh-CN" altLang="en-US" sz="1200"/>
            </a:p>
          </p:txBody>
        </p:sp>
        <p:sp>
          <p:nvSpPr>
            <p:cNvPr id="77" name="矩形 76"/>
            <p:cNvSpPr/>
            <p:nvPr/>
          </p:nvSpPr>
          <p:spPr>
            <a:xfrm>
              <a:off x="14910" y="9693"/>
              <a:ext cx="3361" cy="432"/>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en-US" altLang="zh-CN" sz="1200"/>
                <a:t>……</a:t>
              </a:r>
              <a:endParaRPr lang="en-US" altLang="zh-CN" sz="1200"/>
            </a:p>
          </p:txBody>
        </p:sp>
      </p:grpSp>
      <p:grpSp>
        <p:nvGrpSpPr>
          <p:cNvPr id="78" name="组合 77"/>
          <p:cNvGrpSpPr/>
          <p:nvPr/>
        </p:nvGrpSpPr>
        <p:grpSpPr>
          <a:xfrm>
            <a:off x="11586210" y="5988050"/>
            <a:ext cx="314325" cy="776605"/>
            <a:chOff x="18297" y="9551"/>
            <a:chExt cx="495" cy="1223"/>
          </a:xfrm>
        </p:grpSpPr>
        <p:sp>
          <p:nvSpPr>
            <p:cNvPr id="79" name="矩形 78"/>
            <p:cNvSpPr/>
            <p:nvPr/>
          </p:nvSpPr>
          <p:spPr>
            <a:xfrm rot="1860000">
              <a:off x="18297" y="9651"/>
              <a:ext cx="495" cy="1123"/>
            </a:xfrm>
            <a:prstGeom prst="rect">
              <a:avLst/>
            </a:prstGeom>
            <a:solidFill>
              <a:srgbClr val="C4DDFA"/>
            </a:solidFill>
            <a:ln w="12700" cap="flat" cmpd="sng" algn="ctr">
              <a:noFill/>
              <a:prstDash val="sysDot"/>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CN" altLang="en-US"/>
            </a:p>
          </p:txBody>
        </p:sp>
        <p:sp>
          <p:nvSpPr>
            <p:cNvPr id="80" name="文本框 79"/>
            <p:cNvSpPr txBox="1"/>
            <p:nvPr/>
          </p:nvSpPr>
          <p:spPr>
            <a:xfrm rot="18240000">
              <a:off x="17929" y="9918"/>
              <a:ext cx="1218" cy="483"/>
            </a:xfrm>
            <a:prstGeom prst="rect">
              <a:avLst/>
            </a:prstGeom>
            <a:noFill/>
          </p:spPr>
          <p:txBody>
            <a:bodyPr wrap="square" rtlCol="0">
              <a:spAutoFit/>
            </a:bodyPr>
            <a:p>
              <a:pPr algn="ctr"/>
              <a:r>
                <a:rPr kumimoji="1" lang="zh-CN" altLang="en-US" sz="1400" dirty="0" smtClean="0">
                  <a:latin typeface="微软雅黑" panose="020B0503020204020204" charset="-122"/>
                  <a:ea typeface="微软雅黑" panose="020B0503020204020204" charset="-122"/>
                </a:rPr>
                <a:t>各省</a:t>
              </a:r>
              <a:endParaRPr kumimoji="1" lang="zh-CN" altLang="en-US" sz="1400" dirty="0" smtClean="0">
                <a:latin typeface="微软雅黑" panose="020B0503020204020204" charset="-122"/>
                <a:ea typeface="微软雅黑" panose="020B0503020204020204" charset="-122"/>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6</a:t>
            </a:r>
            <a:r>
              <a:rPr lang="zh-CN" altLang="en-US">
                <a:sym typeface="+mn-ea"/>
              </a:rPr>
              <a:t>：数智运营</a:t>
            </a:r>
            <a:r>
              <a:rPr>
                <a:sym typeface="+mn-ea"/>
              </a:rPr>
              <a:t>-</a:t>
            </a:r>
            <a:r>
              <a:rPr lang="zh-CN" altLang="en-US">
                <a:sym typeface="+mn-ea"/>
              </a:rPr>
              <a:t>运营</a:t>
            </a:r>
            <a:r>
              <a:rPr lang="zh-CN" altLang="en-US">
                <a:sym typeface="+mn-ea"/>
              </a:rPr>
              <a:t>总览（</a:t>
            </a:r>
            <a:r>
              <a:rPr>
                <a:sym typeface="+mn-ea"/>
              </a:rPr>
              <a:t>2/6</a:t>
            </a:r>
            <a:r>
              <a:rPr lang="zh-CN" altLang="en-US">
                <a:sym typeface="+mn-ea"/>
              </a:rPr>
              <a:t>）</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通过指标中心</a:t>
            </a:r>
            <a:r>
              <a:rPr lang="zh-CN" altLang="zh-HK" kern="1200" noProof="0" smtClean="0">
                <a:solidFill>
                  <a:srgbClr val="000000">
                    <a:alpha val="100000"/>
                  </a:srgbClr>
                </a:solidFill>
                <a:latin typeface="+mn-lt"/>
                <a:ea typeface="+mn-lt"/>
                <a:cs typeface="+mn-lt"/>
                <a:sym typeface="+mn-ea"/>
              </a:rPr>
              <a:t>API</a:t>
            </a:r>
            <a:r>
              <a:rPr lang="zh-CN" altLang="zh-HK" kern="1200" noProof="0" smtClean="0">
                <a:solidFill>
                  <a:srgbClr val="000000">
                    <a:alpha val="100000"/>
                  </a:srgbClr>
                </a:solidFill>
                <a:latin typeface="+mn-lt"/>
                <a:ea typeface="+mn-lt"/>
                <a:cs typeface="+mn-lt"/>
                <a:sym typeface="+mn-ea"/>
              </a:rPr>
              <a:t>与需求开发双路径获取数据，构建起覆盖市场、收入、产品、渠道等多维度的全景分析体系，并为运营人员提供监控、洞察与导航等核心能力，实现了运营决策从经验驱动到数据驱动的转变，显著提升了策略精准性与执行效率。</a:t>
            </a:r>
            <a:endParaRPr lang="zh-CN" altLang="zh-HK" kern="1200" noProof="0" smtClean="0">
              <a:solidFill>
                <a:srgbClr val="000000">
                  <a:alpha val="100000"/>
                </a:srgbClr>
              </a:solidFill>
              <a:latin typeface="+mn-lt"/>
              <a:ea typeface="+mn-lt"/>
              <a:cs typeface="+mn-lt"/>
              <a:sym typeface="+mn-ea"/>
            </a:endParaRPr>
          </a:p>
        </p:txBody>
      </p:sp>
      <p:sp>
        <p:nvSpPr>
          <p:cNvPr id="6" name="矩形 5"/>
          <p:cNvSpPr/>
          <p:nvPr/>
        </p:nvSpPr>
        <p:spPr>
          <a:xfrm>
            <a:off x="726440" y="2242820"/>
            <a:ext cx="1991360" cy="85534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 name="文字框 6"/>
          <p:cNvSpPr txBox="1"/>
          <p:nvPr/>
        </p:nvSpPr>
        <p:spPr>
          <a:xfrm>
            <a:off x="1242695" y="2268220"/>
            <a:ext cx="894080" cy="306705"/>
          </a:xfrm>
          <a:prstGeom prst="rect">
            <a:avLst/>
          </a:prstGeom>
          <a:noFill/>
        </p:spPr>
        <p:txBody>
          <a:bodyPr wrap="square" rtlCol="0">
            <a:spAutoFit/>
          </a:bodyPr>
          <a:p>
            <a:pPr algn="l"/>
            <a:r>
              <a:rPr kumimoji="1" lang="zh-CN" altLang="zh-HK" sz="1400" dirty="0" smtClean="0">
                <a:solidFill>
                  <a:srgbClr val="0070BF"/>
                </a:solidFill>
                <a:latin typeface="微软雅黑" panose="020B0503020204020204" charset="-122"/>
                <a:ea typeface="微软雅黑" panose="020B0503020204020204" charset="-122"/>
              </a:rPr>
              <a:t>指标中心</a:t>
            </a:r>
            <a:endParaRPr kumimoji="1" lang="zh-CN" altLang="zh-HK" sz="1400" dirty="0" smtClean="0">
              <a:solidFill>
                <a:srgbClr val="0070BF"/>
              </a:solidFill>
              <a:latin typeface="微软雅黑" panose="020B0503020204020204" charset="-122"/>
              <a:ea typeface="微软雅黑" panose="020B0503020204020204" charset="-122"/>
            </a:endParaRPr>
          </a:p>
        </p:txBody>
      </p:sp>
      <p:sp>
        <p:nvSpPr>
          <p:cNvPr id="8" name="矩形 7"/>
          <p:cNvSpPr/>
          <p:nvPr/>
        </p:nvSpPr>
        <p:spPr>
          <a:xfrm>
            <a:off x="988695" y="2647950"/>
            <a:ext cx="1466850" cy="282575"/>
          </a:xfrm>
          <a:prstGeom prst="rect">
            <a:avLst/>
          </a:prstGeom>
          <a:solidFill>
            <a:srgbClr val="DEEBFE"/>
          </a:solidFill>
          <a:ln w="12700" cap="flat" cmpd="sng" algn="ctr">
            <a:solidFill>
              <a:srgbClr val="DEEBFE"/>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latin typeface="微软雅黑" panose="020B0503020204020204" charset="-122"/>
                <a:ea typeface="微软雅黑" panose="020B0503020204020204" charset="-122"/>
                <a:cs typeface="微软雅黑" panose="020B0503020204020204" charset="-122"/>
              </a:rPr>
              <a:t>标准</a:t>
            </a:r>
            <a:r>
              <a:rPr lang="en-US" altLang="zh-CN" sz="1200">
                <a:solidFill>
                  <a:schemeClr val="tx1"/>
                </a:solidFill>
                <a:latin typeface="微软雅黑" panose="020B0503020204020204" charset="-122"/>
                <a:ea typeface="微软雅黑" panose="020B0503020204020204" charset="-122"/>
                <a:cs typeface="微软雅黑" panose="020B0503020204020204" charset="-122"/>
              </a:rPr>
              <a:t>API</a:t>
            </a:r>
            <a:r>
              <a:rPr lang="zh-CN" altLang="en-US" sz="1200">
                <a:solidFill>
                  <a:schemeClr val="tx1"/>
                </a:solidFill>
                <a:latin typeface="微软雅黑" panose="020B0503020204020204" charset="-122"/>
                <a:ea typeface="微软雅黑" panose="020B0503020204020204" charset="-122"/>
                <a:cs typeface="微软雅黑" panose="020B0503020204020204" charset="-122"/>
              </a:rPr>
              <a:t>接口</a:t>
            </a: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矩形 8"/>
          <p:cNvSpPr/>
          <p:nvPr/>
        </p:nvSpPr>
        <p:spPr>
          <a:xfrm>
            <a:off x="726440" y="3814445"/>
            <a:ext cx="1991360" cy="85534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0" name="文字框 9"/>
          <p:cNvSpPr txBox="1"/>
          <p:nvPr/>
        </p:nvSpPr>
        <p:spPr>
          <a:xfrm>
            <a:off x="1242695" y="3829685"/>
            <a:ext cx="894080" cy="306705"/>
          </a:xfrm>
          <a:prstGeom prst="rect">
            <a:avLst/>
          </a:prstGeom>
          <a:noFill/>
        </p:spPr>
        <p:txBody>
          <a:bodyPr wrap="square" rtlCol="0">
            <a:spAutoFit/>
          </a:bodyPr>
          <a:p>
            <a:pPr algn="l"/>
            <a:r>
              <a:rPr kumimoji="1" lang="zh-CN" altLang="zh-HK" sz="1400" dirty="0" smtClean="0">
                <a:solidFill>
                  <a:srgbClr val="0070BF"/>
                </a:solidFill>
                <a:latin typeface="微软雅黑" panose="020B0503020204020204" charset="-122"/>
                <a:ea typeface="微软雅黑" panose="020B0503020204020204" charset="-122"/>
              </a:rPr>
              <a:t>一级经分</a:t>
            </a:r>
            <a:endParaRPr kumimoji="1" lang="zh-CN" altLang="zh-HK" sz="1400" dirty="0" smtClean="0">
              <a:solidFill>
                <a:srgbClr val="0070BF"/>
              </a:solidFill>
              <a:latin typeface="微软雅黑" panose="020B0503020204020204" charset="-122"/>
              <a:ea typeface="微软雅黑" panose="020B0503020204020204" charset="-122"/>
            </a:endParaRPr>
          </a:p>
        </p:txBody>
      </p:sp>
      <p:sp>
        <p:nvSpPr>
          <p:cNvPr id="11" name="矩形 10"/>
          <p:cNvSpPr/>
          <p:nvPr/>
        </p:nvSpPr>
        <p:spPr>
          <a:xfrm>
            <a:off x="988695" y="4238625"/>
            <a:ext cx="1466850" cy="282575"/>
          </a:xfrm>
          <a:prstGeom prst="rect">
            <a:avLst/>
          </a:prstGeom>
          <a:solidFill>
            <a:srgbClr val="DEEBFE"/>
          </a:solidFill>
          <a:ln w="12700" cap="flat" cmpd="sng" algn="ctr">
            <a:solidFill>
              <a:srgbClr val="DEEBFE"/>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latin typeface="微软雅黑" panose="020B0503020204020204" charset="-122"/>
                <a:ea typeface="微软雅黑" panose="020B0503020204020204" charset="-122"/>
                <a:cs typeface="微软雅黑" panose="020B0503020204020204" charset="-122"/>
              </a:rPr>
              <a:t>根据需求开发</a:t>
            </a:r>
            <a:endParaRPr lang="zh-CN" altLang="zh-HK" sz="12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上箭頭 11"/>
          <p:cNvSpPr/>
          <p:nvPr/>
        </p:nvSpPr>
        <p:spPr>
          <a:xfrm>
            <a:off x="1501775" y="3162935"/>
            <a:ext cx="441325" cy="599440"/>
          </a:xfrm>
          <a:prstGeom prst="upArrow">
            <a:avLst/>
          </a:prstGeom>
          <a:solidFill>
            <a:schemeClr val="bg1">
              <a:lumMod val="75000"/>
            </a:schemeClr>
          </a:solidFill>
          <a:ln w="12700" cap="flat" cmpd="sng" algn="ctr">
            <a:solidFill>
              <a:schemeClr val="bg1">
                <a:lumMod val="7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3" name="矩形 12"/>
          <p:cNvSpPr/>
          <p:nvPr/>
        </p:nvSpPr>
        <p:spPr>
          <a:xfrm>
            <a:off x="1024890" y="3470275"/>
            <a:ext cx="1478280" cy="228600"/>
          </a:xfrm>
          <a:prstGeom prst="rect">
            <a:avLst/>
          </a:prstGeom>
          <a:solidFill>
            <a:schemeClr val="bg1"/>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指标上架</a:t>
            </a:r>
            <a:endParaRPr lang="zh-CN" altLang="zh-HK" sz="1000"/>
          </a:p>
        </p:txBody>
      </p:sp>
      <p:sp>
        <p:nvSpPr>
          <p:cNvPr id="14" name="矩形 13"/>
          <p:cNvSpPr/>
          <p:nvPr/>
        </p:nvSpPr>
        <p:spPr>
          <a:xfrm>
            <a:off x="726440" y="5386070"/>
            <a:ext cx="1991360" cy="85534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5" name="文字框 14"/>
          <p:cNvSpPr txBox="1"/>
          <p:nvPr/>
        </p:nvSpPr>
        <p:spPr>
          <a:xfrm>
            <a:off x="1331595" y="5414645"/>
            <a:ext cx="894080" cy="306705"/>
          </a:xfrm>
          <a:prstGeom prst="rect">
            <a:avLst/>
          </a:prstGeom>
          <a:noFill/>
        </p:spPr>
        <p:txBody>
          <a:bodyPr wrap="square" rtlCol="0">
            <a:spAutoFit/>
          </a:bodyPr>
          <a:p>
            <a:pPr algn="l"/>
            <a:r>
              <a:rPr kumimoji="1" lang="zh-CN" altLang="zh-HK" sz="1400" dirty="0" smtClean="0">
                <a:solidFill>
                  <a:srgbClr val="0070BF"/>
                </a:solidFill>
                <a:latin typeface="微软雅黑" panose="020B0503020204020204" charset="-122"/>
                <a:ea typeface="微软雅黑" panose="020B0503020204020204" charset="-122"/>
              </a:rPr>
              <a:t>业务</a:t>
            </a:r>
            <a:r>
              <a:rPr kumimoji="1" lang="zh-CN" altLang="zh-HK" sz="1400" dirty="0" smtClean="0">
                <a:solidFill>
                  <a:srgbClr val="0070BF"/>
                </a:solidFill>
                <a:latin typeface="微软雅黑" panose="020B0503020204020204" charset="-122"/>
                <a:ea typeface="微软雅黑" panose="020B0503020204020204" charset="-122"/>
              </a:rPr>
              <a:t>需求</a:t>
            </a:r>
            <a:endParaRPr kumimoji="1" lang="zh-CN" altLang="zh-HK" sz="1400" dirty="0" smtClean="0">
              <a:solidFill>
                <a:srgbClr val="0070BF"/>
              </a:solidFill>
              <a:latin typeface="微软雅黑" panose="020B0503020204020204" charset="-122"/>
              <a:ea typeface="微软雅黑" panose="020B0503020204020204" charset="-122"/>
            </a:endParaRPr>
          </a:p>
        </p:txBody>
      </p:sp>
      <p:sp>
        <p:nvSpPr>
          <p:cNvPr id="16" name="矩形 15"/>
          <p:cNvSpPr/>
          <p:nvPr/>
        </p:nvSpPr>
        <p:spPr>
          <a:xfrm>
            <a:off x="1024890" y="5829935"/>
            <a:ext cx="1466850" cy="282575"/>
          </a:xfrm>
          <a:prstGeom prst="rect">
            <a:avLst/>
          </a:prstGeom>
          <a:solidFill>
            <a:srgbClr val="DEEBFE"/>
          </a:solidFill>
          <a:ln w="12700" cap="flat" cmpd="sng" algn="ctr">
            <a:solidFill>
              <a:srgbClr val="DEEBFE"/>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latin typeface="微软雅黑" panose="020B0503020204020204" charset="-122"/>
                <a:ea typeface="微软雅黑" panose="020B0503020204020204" charset="-122"/>
                <a:cs typeface="微软雅黑" panose="020B0503020204020204" charset="-122"/>
              </a:rPr>
              <a:t>指标新增需求</a:t>
            </a:r>
            <a:endParaRPr lang="zh-CN" altLang="zh-HK" sz="12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7" name="上箭頭 16"/>
          <p:cNvSpPr/>
          <p:nvPr/>
        </p:nvSpPr>
        <p:spPr>
          <a:xfrm>
            <a:off x="1501775" y="4704080"/>
            <a:ext cx="441325" cy="599440"/>
          </a:xfrm>
          <a:prstGeom prst="upArrow">
            <a:avLst/>
          </a:prstGeom>
          <a:solidFill>
            <a:schemeClr val="bg1">
              <a:lumMod val="75000"/>
            </a:schemeClr>
          </a:solidFill>
          <a:ln w="12700" cap="flat" cmpd="sng" algn="ctr">
            <a:solidFill>
              <a:schemeClr val="bg1">
                <a:lumMod val="7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8" name="矩形 17"/>
          <p:cNvSpPr/>
          <p:nvPr/>
        </p:nvSpPr>
        <p:spPr>
          <a:xfrm>
            <a:off x="1024890" y="4992370"/>
            <a:ext cx="1478280" cy="228600"/>
          </a:xfrm>
          <a:prstGeom prst="rect">
            <a:avLst/>
          </a:prstGeom>
          <a:solidFill>
            <a:schemeClr val="bg1"/>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需求</a:t>
            </a:r>
            <a:r>
              <a:rPr lang="zh-CN" altLang="zh-HK" sz="1000"/>
              <a:t>提交</a:t>
            </a:r>
            <a:endParaRPr lang="zh-CN" altLang="zh-HK" sz="1000"/>
          </a:p>
        </p:txBody>
      </p:sp>
      <p:sp>
        <p:nvSpPr>
          <p:cNvPr id="31" name="矩形 30"/>
          <p:cNvSpPr/>
          <p:nvPr/>
        </p:nvSpPr>
        <p:spPr>
          <a:xfrm>
            <a:off x="545465" y="2090420"/>
            <a:ext cx="2289175" cy="435864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 name="矩形 4"/>
          <p:cNvSpPr/>
          <p:nvPr/>
        </p:nvSpPr>
        <p:spPr>
          <a:xfrm>
            <a:off x="545465" y="1741170"/>
            <a:ext cx="2289175" cy="36258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t>数据来源</a:t>
            </a:r>
            <a:endParaRPr lang="zh-CN" altLang="zh-HK" sz="1400" b="1"/>
          </a:p>
        </p:txBody>
      </p:sp>
      <p:sp>
        <p:nvSpPr>
          <p:cNvPr id="21" name="矩形 20"/>
          <p:cNvSpPr/>
          <p:nvPr/>
        </p:nvSpPr>
        <p:spPr>
          <a:xfrm>
            <a:off x="3331210" y="2090420"/>
            <a:ext cx="8416290" cy="4358640"/>
          </a:xfrm>
          <a:prstGeom prst="rect">
            <a:avLst/>
          </a:prstGeom>
          <a:noFill/>
          <a:ln w="12700" cap="flat" cmpd="sng" algn="ctr">
            <a:solidFill>
              <a:schemeClr val="bg1">
                <a:lumMod val="7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0" name="矩形 19"/>
          <p:cNvSpPr/>
          <p:nvPr/>
        </p:nvSpPr>
        <p:spPr>
          <a:xfrm>
            <a:off x="6395085" y="1736090"/>
            <a:ext cx="2289175" cy="36258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t>数智运营总览</a:t>
            </a:r>
            <a:r>
              <a:rPr lang="zh-CN" altLang="zh-HK" sz="1400" b="1"/>
              <a:t>能力</a:t>
            </a:r>
            <a:endParaRPr lang="zh-CN" altLang="zh-HK" sz="1400" b="1"/>
          </a:p>
        </p:txBody>
      </p:sp>
      <p:sp>
        <p:nvSpPr>
          <p:cNvPr id="22" name="矩形 21"/>
          <p:cNvSpPr/>
          <p:nvPr/>
        </p:nvSpPr>
        <p:spPr>
          <a:xfrm>
            <a:off x="3504565" y="3196590"/>
            <a:ext cx="908685" cy="22161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整体经营概览</a:t>
            </a:r>
            <a:endParaRPr lang="zh-CN" altLang="zh-HK" sz="1000"/>
          </a:p>
        </p:txBody>
      </p:sp>
      <p:sp>
        <p:nvSpPr>
          <p:cNvPr id="23" name="矩形 22"/>
          <p:cNvSpPr/>
          <p:nvPr/>
        </p:nvSpPr>
        <p:spPr>
          <a:xfrm>
            <a:off x="4413250" y="3196590"/>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市场</a:t>
            </a:r>
            <a:r>
              <a:rPr lang="zh-CN" altLang="zh-HK" sz="1000">
                <a:solidFill>
                  <a:schemeClr val="tx1"/>
                </a:solidFill>
              </a:rPr>
              <a:t>份额</a:t>
            </a:r>
            <a:endParaRPr lang="zh-CN" altLang="zh-HK" sz="1000">
              <a:solidFill>
                <a:schemeClr val="tx1"/>
              </a:solidFill>
            </a:endParaRPr>
          </a:p>
        </p:txBody>
      </p:sp>
      <p:sp>
        <p:nvSpPr>
          <p:cNvPr id="24" name="矩形 23"/>
          <p:cNvSpPr/>
          <p:nvPr/>
        </p:nvSpPr>
        <p:spPr>
          <a:xfrm>
            <a:off x="5318760" y="3196590"/>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收入</a:t>
            </a:r>
            <a:r>
              <a:rPr lang="zh-CN" altLang="zh-HK" sz="1000">
                <a:solidFill>
                  <a:schemeClr val="tx1"/>
                </a:solidFill>
              </a:rPr>
              <a:t>规模</a:t>
            </a:r>
            <a:endParaRPr lang="zh-CN" altLang="zh-HK" sz="1000">
              <a:solidFill>
                <a:schemeClr val="tx1"/>
              </a:solidFill>
            </a:endParaRPr>
          </a:p>
        </p:txBody>
      </p:sp>
      <p:sp>
        <p:nvSpPr>
          <p:cNvPr id="25" name="矩形 24"/>
          <p:cNvSpPr/>
          <p:nvPr/>
        </p:nvSpPr>
        <p:spPr>
          <a:xfrm>
            <a:off x="6224270" y="3196590"/>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客户</a:t>
            </a:r>
            <a:r>
              <a:rPr lang="zh-CN" altLang="zh-HK" sz="1000">
                <a:solidFill>
                  <a:schemeClr val="tx1"/>
                </a:solidFill>
              </a:rPr>
              <a:t>规模</a:t>
            </a:r>
            <a:endParaRPr lang="zh-CN" altLang="zh-HK" sz="1000">
              <a:solidFill>
                <a:schemeClr val="tx1"/>
              </a:solidFill>
            </a:endParaRPr>
          </a:p>
        </p:txBody>
      </p:sp>
      <p:sp>
        <p:nvSpPr>
          <p:cNvPr id="26" name="矩形 25"/>
          <p:cNvSpPr/>
          <p:nvPr/>
        </p:nvSpPr>
        <p:spPr>
          <a:xfrm>
            <a:off x="3504565" y="3477260"/>
            <a:ext cx="908685" cy="22161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市场收入</a:t>
            </a:r>
            <a:r>
              <a:rPr lang="zh-CN" altLang="zh-HK" sz="1000"/>
              <a:t>分析</a:t>
            </a:r>
            <a:endParaRPr lang="zh-CN" altLang="zh-HK" sz="1000"/>
          </a:p>
        </p:txBody>
      </p:sp>
      <p:sp>
        <p:nvSpPr>
          <p:cNvPr id="27" name="矩形 26"/>
          <p:cNvSpPr/>
          <p:nvPr/>
        </p:nvSpPr>
        <p:spPr>
          <a:xfrm>
            <a:off x="4413250" y="3477260"/>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个人市场</a:t>
            </a:r>
            <a:endParaRPr lang="zh-CN" altLang="zh-HK" sz="1000">
              <a:solidFill>
                <a:schemeClr val="tx1"/>
              </a:solidFill>
            </a:endParaRPr>
          </a:p>
        </p:txBody>
      </p:sp>
      <p:sp>
        <p:nvSpPr>
          <p:cNvPr id="28" name="矩形 27"/>
          <p:cNvSpPr/>
          <p:nvPr/>
        </p:nvSpPr>
        <p:spPr>
          <a:xfrm>
            <a:off x="5318760" y="3477260"/>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现金</a:t>
            </a:r>
            <a:r>
              <a:rPr lang="zh-CN" altLang="zh-HK" sz="1000">
                <a:solidFill>
                  <a:schemeClr val="tx1"/>
                </a:solidFill>
              </a:rPr>
              <a:t>市场</a:t>
            </a:r>
            <a:endParaRPr lang="zh-CN" altLang="zh-HK" sz="1000">
              <a:solidFill>
                <a:schemeClr val="tx1"/>
              </a:solidFill>
            </a:endParaRPr>
          </a:p>
        </p:txBody>
      </p:sp>
      <p:sp>
        <p:nvSpPr>
          <p:cNvPr id="29" name="矩形 28"/>
          <p:cNvSpPr/>
          <p:nvPr/>
        </p:nvSpPr>
        <p:spPr>
          <a:xfrm>
            <a:off x="6224270" y="3477260"/>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收入</a:t>
            </a:r>
            <a:r>
              <a:rPr lang="zh-CN" altLang="zh-HK" sz="1000">
                <a:solidFill>
                  <a:schemeClr val="tx1"/>
                </a:solidFill>
              </a:rPr>
              <a:t>趋势</a:t>
            </a:r>
            <a:endParaRPr lang="zh-CN" altLang="zh-HK" sz="1000">
              <a:solidFill>
                <a:schemeClr val="tx1"/>
              </a:solidFill>
            </a:endParaRPr>
          </a:p>
        </p:txBody>
      </p:sp>
      <p:sp>
        <p:nvSpPr>
          <p:cNvPr id="30" name="矩形 29"/>
          <p:cNvSpPr/>
          <p:nvPr/>
        </p:nvSpPr>
        <p:spPr>
          <a:xfrm>
            <a:off x="3504565" y="3758565"/>
            <a:ext cx="908685" cy="22161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产品与业务</a:t>
            </a:r>
            <a:r>
              <a:rPr lang="zh-CN" altLang="zh-HK" sz="1000"/>
              <a:t>分析</a:t>
            </a:r>
            <a:endParaRPr lang="zh-CN" altLang="zh-HK" sz="1000"/>
          </a:p>
        </p:txBody>
      </p:sp>
      <p:sp>
        <p:nvSpPr>
          <p:cNvPr id="32" name="矩形 31"/>
          <p:cNvSpPr/>
          <p:nvPr/>
        </p:nvSpPr>
        <p:spPr>
          <a:xfrm>
            <a:off x="4413250" y="3758565"/>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产品</a:t>
            </a:r>
            <a:r>
              <a:rPr lang="zh-CN" altLang="zh-HK" sz="1000">
                <a:solidFill>
                  <a:schemeClr val="tx1"/>
                </a:solidFill>
              </a:rPr>
              <a:t>概况</a:t>
            </a:r>
            <a:endParaRPr lang="zh-CN" altLang="zh-HK" sz="1000">
              <a:solidFill>
                <a:schemeClr val="tx1"/>
              </a:solidFill>
            </a:endParaRPr>
          </a:p>
        </p:txBody>
      </p:sp>
      <p:sp>
        <p:nvSpPr>
          <p:cNvPr id="33" name="矩形 32"/>
          <p:cNvSpPr/>
          <p:nvPr/>
        </p:nvSpPr>
        <p:spPr>
          <a:xfrm>
            <a:off x="5318760" y="3758565"/>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重点业务</a:t>
            </a:r>
            <a:r>
              <a:rPr lang="zh-CN" altLang="zh-HK" sz="1000">
                <a:solidFill>
                  <a:schemeClr val="tx1"/>
                </a:solidFill>
              </a:rPr>
              <a:t>收入</a:t>
            </a:r>
            <a:endParaRPr lang="zh-CN" altLang="zh-HK" sz="1000">
              <a:solidFill>
                <a:schemeClr val="tx1"/>
              </a:solidFill>
            </a:endParaRPr>
          </a:p>
        </p:txBody>
      </p:sp>
      <p:sp>
        <p:nvSpPr>
          <p:cNvPr id="34" name="矩形 33"/>
          <p:cNvSpPr/>
          <p:nvPr/>
        </p:nvSpPr>
        <p:spPr>
          <a:xfrm>
            <a:off x="6224270" y="3758565"/>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产品指标</a:t>
            </a:r>
            <a:r>
              <a:rPr lang="zh-CN" altLang="zh-HK" sz="1000">
                <a:solidFill>
                  <a:schemeClr val="tx1"/>
                </a:solidFill>
              </a:rPr>
              <a:t>排行</a:t>
            </a:r>
            <a:endParaRPr lang="zh-CN" altLang="zh-HK" sz="1000">
              <a:solidFill>
                <a:schemeClr val="tx1"/>
              </a:solidFill>
            </a:endParaRPr>
          </a:p>
        </p:txBody>
      </p:sp>
      <p:sp>
        <p:nvSpPr>
          <p:cNvPr id="35" name="矩形 34"/>
          <p:cNvSpPr/>
          <p:nvPr/>
        </p:nvSpPr>
        <p:spPr>
          <a:xfrm>
            <a:off x="3504565" y="4039235"/>
            <a:ext cx="908685" cy="221615"/>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渠道效能</a:t>
            </a:r>
            <a:r>
              <a:rPr lang="zh-CN" altLang="zh-HK" sz="1000"/>
              <a:t>分析</a:t>
            </a:r>
            <a:endParaRPr lang="zh-CN" altLang="zh-HK" sz="1000"/>
          </a:p>
        </p:txBody>
      </p:sp>
      <p:sp>
        <p:nvSpPr>
          <p:cNvPr id="36" name="矩形 35"/>
          <p:cNvSpPr/>
          <p:nvPr/>
        </p:nvSpPr>
        <p:spPr>
          <a:xfrm>
            <a:off x="4413250" y="4039235"/>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渠道</a:t>
            </a:r>
            <a:r>
              <a:rPr lang="zh-CN" altLang="zh-HK" sz="1000">
                <a:solidFill>
                  <a:schemeClr val="tx1"/>
                </a:solidFill>
              </a:rPr>
              <a:t>触达</a:t>
            </a:r>
            <a:endParaRPr lang="zh-CN" altLang="zh-HK" sz="1000">
              <a:solidFill>
                <a:schemeClr val="tx1"/>
              </a:solidFill>
            </a:endParaRPr>
          </a:p>
        </p:txBody>
      </p:sp>
      <p:sp>
        <p:nvSpPr>
          <p:cNvPr id="37" name="矩形 36"/>
          <p:cNvSpPr/>
          <p:nvPr/>
        </p:nvSpPr>
        <p:spPr>
          <a:xfrm>
            <a:off x="5318760" y="4039235"/>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渠道</a:t>
            </a:r>
            <a:r>
              <a:rPr lang="zh-CN" altLang="zh-HK" sz="1000">
                <a:solidFill>
                  <a:schemeClr val="tx1"/>
                </a:solidFill>
              </a:rPr>
              <a:t>转化</a:t>
            </a:r>
            <a:endParaRPr lang="zh-CN" altLang="zh-HK" sz="1000">
              <a:solidFill>
                <a:schemeClr val="tx1"/>
              </a:solidFill>
            </a:endParaRPr>
          </a:p>
        </p:txBody>
      </p:sp>
      <p:sp>
        <p:nvSpPr>
          <p:cNvPr id="38" name="矩形 37"/>
          <p:cNvSpPr/>
          <p:nvPr/>
        </p:nvSpPr>
        <p:spPr>
          <a:xfrm>
            <a:off x="6224270" y="4039235"/>
            <a:ext cx="908685" cy="221615"/>
          </a:xfrm>
          <a:prstGeom prst="rect">
            <a:avLst/>
          </a:prstGeom>
          <a:solidFill>
            <a:schemeClr val="bg1">
              <a:lumMod val="95000"/>
            </a:schemeClr>
          </a:solidFill>
          <a:ln>
            <a:solidFill>
              <a:schemeClr val="bg1">
                <a:lumMod val="75000"/>
              </a:schemeClr>
            </a:solidFill>
          </a:ln>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solidFill>
                  <a:schemeClr val="tx1"/>
                </a:solidFill>
              </a:rPr>
              <a:t>整体经营概览</a:t>
            </a:r>
            <a:endParaRPr lang="zh-CN" altLang="zh-HK" sz="1000">
              <a:solidFill>
                <a:schemeClr val="tx1"/>
              </a:solidFill>
            </a:endParaRPr>
          </a:p>
        </p:txBody>
      </p:sp>
      <p:pic>
        <p:nvPicPr>
          <p:cNvPr id="39" name="图片 3"/>
          <p:cNvPicPr>
            <a:picLocks noChangeAspect="1"/>
          </p:cNvPicPr>
          <p:nvPr/>
        </p:nvPicPr>
        <p:blipFill>
          <a:blip r:embed="rId1"/>
          <a:stretch>
            <a:fillRect/>
          </a:stretch>
        </p:blipFill>
        <p:spPr>
          <a:xfrm>
            <a:off x="3504565" y="4319905"/>
            <a:ext cx="3627755" cy="2025015"/>
          </a:xfrm>
          <a:prstGeom prst="rect">
            <a:avLst/>
          </a:prstGeom>
          <a:noFill/>
          <a:ln>
            <a:noFill/>
          </a:ln>
        </p:spPr>
      </p:pic>
      <p:sp>
        <p:nvSpPr>
          <p:cNvPr id="40" name="文字框 39"/>
          <p:cNvSpPr txBox="1"/>
          <p:nvPr/>
        </p:nvSpPr>
        <p:spPr>
          <a:xfrm>
            <a:off x="3422650" y="2277745"/>
            <a:ext cx="8106410" cy="460375"/>
          </a:xfrm>
          <a:prstGeom prst="rect">
            <a:avLst/>
          </a:prstGeom>
        </p:spPr>
        <p:txBody>
          <a:bodyPr wrap="square">
            <a:spAutoFit/>
          </a:bodyPr>
          <a:p>
            <a:pPr marL="0" indent="0" algn="just" defTabSz="266700">
              <a:spcBef>
                <a:spcPct val="0"/>
              </a:spcBef>
              <a:spcAft>
                <a:spcPct val="0"/>
              </a:spcAft>
            </a:pPr>
            <a:r>
              <a:rPr lang="zh-CN" altLang="en-US" sz="1200">
                <a:solidFill>
                  <a:srgbClr val="000000"/>
                </a:solidFill>
                <a:latin typeface="微软雅黑" panose="020B0503020204020204" charset="-122"/>
                <a:ea typeface="微软雅黑" panose="020B0503020204020204" charset="-122"/>
              </a:rPr>
              <a:t>提供运营专区、运营专题的集中入口，以分层级的方式面向不同运营方和不同运营领域提供运营能力，解决</a:t>
            </a:r>
            <a:r>
              <a:rPr lang="zh-CN" altLang="en-US" sz="1200" i="0">
                <a:solidFill>
                  <a:srgbClr val="0F1115"/>
                </a:solidFill>
                <a:latin typeface="微软雅黑" panose="020B0503020204020204" charset="-122"/>
                <a:ea typeface="微软雅黑" panose="020B0503020204020204" charset="-122"/>
              </a:rPr>
              <a:t>运营策略缺乏数据支撑、执行效果难以评估的问题</a:t>
            </a:r>
            <a:r>
              <a:rPr lang="en-US" altLang="zh-CN" sz="1200" i="0">
                <a:solidFill>
                  <a:srgbClr val="0F1115"/>
                </a:solidFill>
                <a:latin typeface="微软雅黑" panose="020B0503020204020204" charset="-122"/>
                <a:ea typeface="微软雅黑" panose="020B0503020204020204" charset="-122"/>
              </a:rPr>
              <a:t>。</a:t>
            </a:r>
            <a:endParaRPr lang="en-US" altLang="zh-CN" sz="1200" i="0">
              <a:solidFill>
                <a:srgbClr val="0F1115"/>
              </a:solidFill>
              <a:latin typeface="微软雅黑" panose="020B0503020204020204" charset="-122"/>
              <a:ea typeface="微软雅黑" panose="020B0503020204020204" charset="-122"/>
            </a:endParaRPr>
          </a:p>
        </p:txBody>
      </p:sp>
      <p:sp>
        <p:nvSpPr>
          <p:cNvPr id="44" name="文字框 43"/>
          <p:cNvSpPr txBox="1"/>
          <p:nvPr/>
        </p:nvSpPr>
        <p:spPr>
          <a:xfrm>
            <a:off x="3504565" y="2812415"/>
            <a:ext cx="1884680" cy="275590"/>
          </a:xfrm>
          <a:prstGeom prst="rect">
            <a:avLst/>
          </a:prstGeom>
          <a:noFill/>
        </p:spPr>
        <p:txBody>
          <a:bodyPr wrap="square" rtlCol="0">
            <a:spAutoFit/>
          </a:bodyPr>
          <a:p>
            <a:pPr marL="171450" indent="-171450" algn="l">
              <a:buFont typeface="Wingdings" panose="05000000000000000000" charset="0"/>
              <a:buChar char=""/>
            </a:pPr>
            <a:r>
              <a:rPr kumimoji="1" lang="zh-CN" altLang="zh-HK" sz="1200" b="1" dirty="0" smtClean="0">
                <a:solidFill>
                  <a:srgbClr val="0070BF"/>
                </a:solidFill>
                <a:latin typeface="微软雅黑" panose="020B0503020204020204" charset="-122"/>
                <a:ea typeface="微软雅黑" panose="020B0503020204020204" charset="-122"/>
              </a:rPr>
              <a:t>业务关键数据一眼看全</a:t>
            </a:r>
            <a:endParaRPr kumimoji="1" lang="zh-CN" altLang="zh-HK" sz="1200" b="1" dirty="0" smtClean="0">
              <a:solidFill>
                <a:srgbClr val="0070BF"/>
              </a:solidFill>
              <a:latin typeface="微软雅黑" panose="020B0503020204020204" charset="-122"/>
              <a:ea typeface="微软雅黑" panose="020B0503020204020204" charset="-122"/>
            </a:endParaRPr>
          </a:p>
        </p:txBody>
      </p:sp>
      <p:sp>
        <p:nvSpPr>
          <p:cNvPr id="47" name="文字框 46"/>
          <p:cNvSpPr txBox="1"/>
          <p:nvPr/>
        </p:nvSpPr>
        <p:spPr>
          <a:xfrm>
            <a:off x="7431405" y="2812415"/>
            <a:ext cx="1884680" cy="275590"/>
          </a:xfrm>
          <a:prstGeom prst="rect">
            <a:avLst/>
          </a:prstGeom>
          <a:noFill/>
        </p:spPr>
        <p:txBody>
          <a:bodyPr wrap="square" rtlCol="0">
            <a:spAutoFit/>
          </a:bodyPr>
          <a:p>
            <a:pPr marL="171450" indent="-171450" algn="l">
              <a:buFont typeface="Wingdings" panose="05000000000000000000" charset="0"/>
              <a:buChar char=""/>
            </a:pPr>
            <a:r>
              <a:rPr kumimoji="1" lang="zh-CN" altLang="zh-HK" sz="1200" b="1" dirty="0" smtClean="0">
                <a:solidFill>
                  <a:srgbClr val="0070BF"/>
                </a:solidFill>
                <a:latin typeface="微软雅黑" panose="020B0503020204020204" charset="-122"/>
                <a:ea typeface="微软雅黑" panose="020B0503020204020204" charset="-122"/>
              </a:rPr>
              <a:t>多维业务数据智能</a:t>
            </a:r>
            <a:r>
              <a:rPr kumimoji="1" lang="zh-CN" altLang="zh-HK" sz="1200" b="1" dirty="0" smtClean="0">
                <a:solidFill>
                  <a:srgbClr val="0070BF"/>
                </a:solidFill>
                <a:latin typeface="微软雅黑" panose="020B0503020204020204" charset="-122"/>
                <a:ea typeface="微软雅黑" panose="020B0503020204020204" charset="-122"/>
              </a:rPr>
              <a:t>分析</a:t>
            </a:r>
            <a:endParaRPr kumimoji="1" lang="zh-CN" altLang="zh-HK" sz="1200" b="1" dirty="0" smtClean="0">
              <a:solidFill>
                <a:srgbClr val="0070BF"/>
              </a:solidFill>
              <a:latin typeface="微软雅黑" panose="020B0503020204020204" charset="-122"/>
              <a:ea typeface="微软雅黑" panose="020B0503020204020204" charset="-122"/>
            </a:endParaRPr>
          </a:p>
        </p:txBody>
      </p:sp>
      <p:sp>
        <p:nvSpPr>
          <p:cNvPr id="49" name="文字框 48"/>
          <p:cNvSpPr txBox="1"/>
          <p:nvPr/>
        </p:nvSpPr>
        <p:spPr>
          <a:xfrm>
            <a:off x="7431405" y="3162935"/>
            <a:ext cx="4316095" cy="3091815"/>
          </a:xfrm>
          <a:prstGeom prst="rect">
            <a:avLst/>
          </a:prstGeom>
          <a:noFill/>
        </p:spPr>
        <p:txBody>
          <a:bodyPr wrap="square" rtlCol="0" anchor="t">
            <a:spAutoFit/>
          </a:bodyPr>
          <a:p>
            <a:pPr marL="171450" indent="-171450" algn="l">
              <a:lnSpc>
                <a:spcPct val="125000"/>
              </a:lnSpc>
              <a:spcBef>
                <a:spcPts val="0"/>
              </a:spcBef>
              <a:spcAft>
                <a:spcPts val="0"/>
              </a:spcAft>
              <a:buFont typeface="Arial" panose="020B0604020202020204" pitchFamily="34" charset="0"/>
              <a:buChar char="•"/>
            </a:pPr>
            <a:r>
              <a:rPr kumimoji="1" lang="zh-CN" altLang="zh-HK" sz="1200" b="1" dirty="0" smtClean="0">
                <a:solidFill>
                  <a:srgbClr val="0070BF"/>
                </a:solidFill>
                <a:latin typeface="微软雅黑" panose="020B0503020204020204" charset="-122"/>
                <a:ea typeface="微软雅黑" panose="020B0503020204020204" charset="-122"/>
              </a:rPr>
              <a:t>导航跳转</a:t>
            </a:r>
            <a:r>
              <a:rPr kumimoji="1" lang="en-US" altLang="zh-CN" sz="1200" b="1" dirty="0" smtClean="0">
                <a:solidFill>
                  <a:srgbClr val="0070BF"/>
                </a:solidFill>
                <a:latin typeface="微软雅黑" panose="020B0503020204020204" charset="-122"/>
                <a:ea typeface="微软雅黑" panose="020B0503020204020204" charset="-122"/>
              </a:rPr>
              <a:t>：</a:t>
            </a:r>
            <a:endParaRPr kumimoji="1" lang="zh-HK" altLang="en-US" sz="1200" b="1" dirty="0" smtClean="0">
              <a:solidFill>
                <a:srgbClr val="0070BF"/>
              </a:solidFill>
              <a:latin typeface="微软雅黑" panose="020B0503020204020204" charset="-122"/>
              <a:ea typeface="微软雅黑" panose="020B0503020204020204" charset="-122"/>
            </a:endParaRPr>
          </a:p>
          <a:p>
            <a:pPr algn="l">
              <a:lnSpc>
                <a:spcPct val="125000"/>
              </a:lnSpc>
              <a:spcBef>
                <a:spcPts val="0"/>
              </a:spcBef>
              <a:spcAft>
                <a:spcPts val="0"/>
              </a:spcAft>
            </a:pPr>
            <a:r>
              <a:rPr kumimoji="1" lang="zh-HK" altLang="en-US" sz="1200" dirty="0" smtClean="0">
                <a:latin typeface="微软雅黑" panose="020B0503020204020204" charset="-122"/>
                <a:ea typeface="微软雅黑" panose="020B0503020204020204" charset="-122"/>
              </a:rPr>
              <a:t>共享中心</a:t>
            </a:r>
            <a:r>
              <a:rPr kumimoji="1" lang="en-US" altLang="zh-HK" sz="1200" dirty="0" smtClean="0">
                <a:latin typeface="微软雅黑" panose="020B0503020204020204" charset="-122"/>
                <a:ea typeface="微软雅黑" panose="020B0503020204020204" charset="-122"/>
              </a:rPr>
              <a:t>: </a:t>
            </a:r>
            <a:r>
              <a:rPr kumimoji="1" lang="zh-CN" altLang="zh-HK" sz="1200" dirty="0" smtClean="0">
                <a:latin typeface="微软雅黑" panose="020B0503020204020204" charset="-122"/>
                <a:ea typeface="微软雅黑" panose="020B0503020204020204" charset="-122"/>
              </a:rPr>
              <a:t>跳转到素材中心</a:t>
            </a:r>
            <a:r>
              <a:rPr kumimoji="1" lang="en-US" altLang="zh-CN" sz="1200" dirty="0" smtClean="0">
                <a:latin typeface="微软雅黑" panose="020B0503020204020204" charset="-122"/>
                <a:ea typeface="微软雅黑" panose="020B0503020204020204" charset="-122"/>
              </a:rPr>
              <a:t>、</a:t>
            </a:r>
            <a:r>
              <a:rPr kumimoji="1" lang="zh-CN" altLang="en-US" sz="1200" dirty="0" smtClean="0">
                <a:latin typeface="微软雅黑" panose="020B0503020204020204" charset="-122"/>
                <a:ea typeface="微软雅黑" panose="020B0503020204020204" charset="-122"/>
              </a:rPr>
              <a:t>案例中心</a:t>
            </a:r>
            <a:endParaRPr kumimoji="1" lang="zh-HK" altLang="en-US"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en-US" altLang="zh-HK" sz="1200" dirty="0" smtClean="0">
                <a:latin typeface="微软雅黑" panose="020B0503020204020204" charset="-122"/>
                <a:ea typeface="微软雅黑" panose="020B0503020204020204" charset="-122"/>
              </a:rPr>
              <a:t>AI+</a:t>
            </a:r>
            <a:r>
              <a:rPr kumimoji="1" lang="zh-HK" altLang="en-US" sz="1200" dirty="0" smtClean="0">
                <a:latin typeface="微软雅黑" panose="020B0503020204020204" charset="-122"/>
                <a:ea typeface="微软雅黑" panose="020B0503020204020204" charset="-122"/>
              </a:rPr>
              <a:t>运营驾驶舱</a:t>
            </a:r>
            <a:r>
              <a:rPr kumimoji="1" lang="en-US" altLang="zh-HK" sz="1200" dirty="0" smtClean="0">
                <a:latin typeface="微软雅黑" panose="020B0503020204020204" charset="-122"/>
                <a:ea typeface="微软雅黑" panose="020B0503020204020204" charset="-122"/>
              </a:rPr>
              <a:t>: </a:t>
            </a:r>
            <a:r>
              <a:rPr kumimoji="1" lang="zh-CN" altLang="zh-HK" sz="1200" dirty="0" smtClean="0">
                <a:latin typeface="微软雅黑" panose="020B0503020204020204" charset="-122"/>
                <a:ea typeface="微软雅黑" panose="020B0503020204020204" charset="-122"/>
              </a:rPr>
              <a:t>跳转到市场运营平台可视化大屏</a:t>
            </a:r>
            <a:endParaRPr kumimoji="1" lang="zh-HK" altLang="en-US"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zh-CN" altLang="zh-HK" sz="1200" dirty="0" smtClean="0">
                <a:latin typeface="微软雅黑" panose="020B0503020204020204" charset="-122"/>
                <a:ea typeface="微软雅黑" panose="020B0503020204020204" charset="-122"/>
              </a:rPr>
              <a:t>我的工作台</a:t>
            </a:r>
            <a:r>
              <a:rPr kumimoji="1" lang="en-US" altLang="zh-CN" sz="1200" dirty="0" smtClean="0">
                <a:latin typeface="微软雅黑" panose="020B0503020204020204" charset="-122"/>
                <a:ea typeface="微软雅黑" panose="020B0503020204020204" charset="-122"/>
              </a:rPr>
              <a:t>：</a:t>
            </a:r>
            <a:r>
              <a:rPr kumimoji="1" lang="zh-CN" altLang="en-US" sz="1200" dirty="0" smtClean="0">
                <a:latin typeface="微软雅黑" panose="020B0503020204020204" charset="-122"/>
                <a:ea typeface="微软雅黑" panose="020B0503020204020204" charset="-122"/>
              </a:rPr>
              <a:t>跳转到我的工作台</a:t>
            </a:r>
            <a:endParaRPr kumimoji="1" lang="en-US" altLang="zh-CN"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zh-CN" altLang="en-US" sz="1200" dirty="0" smtClean="0">
                <a:latin typeface="微软雅黑" panose="020B0503020204020204" charset="-122"/>
                <a:ea typeface="微软雅黑" panose="020B0503020204020204" charset="-122"/>
              </a:rPr>
              <a:t>数智运营</a:t>
            </a:r>
            <a:r>
              <a:rPr kumimoji="1" lang="en-US" altLang="zh-CN" sz="1200" dirty="0" smtClean="0">
                <a:latin typeface="微软雅黑" panose="020B0503020204020204" charset="-122"/>
                <a:ea typeface="微软雅黑" panose="020B0503020204020204" charset="-122"/>
              </a:rPr>
              <a:t>：</a:t>
            </a:r>
            <a:r>
              <a:rPr kumimoji="1" lang="zh-CN" altLang="en-US" sz="1200" dirty="0" smtClean="0">
                <a:latin typeface="微软雅黑" panose="020B0503020204020204" charset="-122"/>
                <a:ea typeface="微软雅黑" panose="020B0503020204020204" charset="-122"/>
              </a:rPr>
              <a:t>跳转到专区运营数据概览</a:t>
            </a:r>
            <a:endParaRPr kumimoji="1" lang="zh-HK" altLang="en-US" sz="1200" dirty="0" smtClean="0">
              <a:latin typeface="微软雅黑" panose="020B0503020204020204" charset="-122"/>
              <a:ea typeface="微软雅黑" panose="020B0503020204020204" charset="-122"/>
            </a:endParaRPr>
          </a:p>
          <a:p>
            <a:pPr marL="171450" indent="-171450" algn="l">
              <a:lnSpc>
                <a:spcPct val="125000"/>
              </a:lnSpc>
              <a:spcBef>
                <a:spcPts val="0"/>
              </a:spcBef>
              <a:spcAft>
                <a:spcPts val="0"/>
              </a:spcAft>
              <a:buFont typeface="Arial" panose="020B0604020202020204" pitchFamily="34" charset="0"/>
              <a:buChar char="•"/>
            </a:pPr>
            <a:r>
              <a:rPr kumimoji="1" lang="zh-HK" altLang="en-US" sz="1200" b="1" dirty="0" smtClean="0">
                <a:solidFill>
                  <a:srgbClr val="0070BF"/>
                </a:solidFill>
                <a:latin typeface="微软雅黑" panose="020B0503020204020204" charset="-122"/>
                <a:ea typeface="微软雅黑" panose="020B0503020204020204" charset="-122"/>
              </a:rPr>
              <a:t>数据运营与监控功能</a:t>
            </a:r>
            <a:r>
              <a:rPr kumimoji="1" lang="en-US" altLang="zh-HK" sz="1200" b="1" dirty="0" smtClean="0">
                <a:solidFill>
                  <a:srgbClr val="0070BF"/>
                </a:solidFill>
                <a:latin typeface="微软雅黑" panose="020B0503020204020204" charset="-122"/>
                <a:ea typeface="微软雅黑" panose="020B0503020204020204" charset="-122"/>
              </a:rPr>
              <a:t>：</a:t>
            </a:r>
            <a:endParaRPr kumimoji="1" lang="zh-HK" altLang="en-US" sz="1200" b="1" dirty="0" smtClean="0">
              <a:solidFill>
                <a:srgbClr val="0070BF"/>
              </a:solidFill>
              <a:latin typeface="微软雅黑" panose="020B0503020204020204" charset="-122"/>
              <a:ea typeface="微软雅黑" panose="020B0503020204020204" charset="-122"/>
            </a:endParaRPr>
          </a:p>
          <a:p>
            <a:pPr algn="l">
              <a:lnSpc>
                <a:spcPct val="125000"/>
              </a:lnSpc>
              <a:spcBef>
                <a:spcPts val="0"/>
              </a:spcBef>
              <a:spcAft>
                <a:spcPts val="0"/>
              </a:spcAft>
            </a:pPr>
            <a:r>
              <a:rPr kumimoji="1" lang="en-US" altLang="zh-HK" sz="1200" dirty="0" smtClean="0">
                <a:latin typeface="微软雅黑" panose="020B0503020204020204" charset="-122"/>
                <a:ea typeface="微软雅黑" panose="020B0503020204020204" charset="-122"/>
              </a:rPr>
              <a:t>KPI</a:t>
            </a:r>
            <a:r>
              <a:rPr kumimoji="1" lang="zh-HK" altLang="en-US" sz="1200" dirty="0" smtClean="0">
                <a:latin typeface="微软雅黑" panose="020B0503020204020204" charset="-122"/>
                <a:ea typeface="微软雅黑" panose="020B0503020204020204" charset="-122"/>
              </a:rPr>
              <a:t>监控</a:t>
            </a:r>
            <a:r>
              <a:rPr kumimoji="1" lang="en-US" altLang="zh-HK" sz="1200" dirty="0" smtClean="0">
                <a:latin typeface="微软雅黑" panose="020B0503020204020204" charset="-122"/>
                <a:ea typeface="微软雅黑" panose="020B0503020204020204" charset="-122"/>
              </a:rPr>
              <a:t>: </a:t>
            </a:r>
            <a:r>
              <a:rPr kumimoji="1" lang="zh-HK" altLang="en-US" sz="1200" dirty="0" smtClean="0">
                <a:latin typeface="微软雅黑" panose="020B0503020204020204" charset="-122"/>
                <a:ea typeface="微软雅黑" panose="020B0503020204020204" charset="-122"/>
              </a:rPr>
              <a:t>展示市场份额、收入、客户规模等关键绩效指标</a:t>
            </a:r>
            <a:endParaRPr kumimoji="1" lang="zh-HK" altLang="en-US"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zh-HK" altLang="en-US" sz="1200" dirty="0" smtClean="0">
                <a:latin typeface="微软雅黑" panose="020B0503020204020204" charset="-122"/>
                <a:ea typeface="微软雅黑" panose="020B0503020204020204" charset="-122"/>
              </a:rPr>
              <a:t>市场分析</a:t>
            </a:r>
            <a:r>
              <a:rPr kumimoji="1" lang="en-US" altLang="zh-HK" sz="1200" dirty="0" smtClean="0">
                <a:latin typeface="微软雅黑" panose="020B0503020204020204" charset="-122"/>
                <a:ea typeface="微软雅黑" panose="020B0503020204020204" charset="-122"/>
              </a:rPr>
              <a:t>: </a:t>
            </a:r>
            <a:r>
              <a:rPr kumimoji="1" lang="zh-HK" altLang="en-US" sz="1200" dirty="0" smtClean="0">
                <a:latin typeface="微软雅黑" panose="020B0503020204020204" charset="-122"/>
                <a:ea typeface="微软雅黑" panose="020B0503020204020204" charset="-122"/>
              </a:rPr>
              <a:t>支持从个人市场、现金市场等维度分析收入及趋势</a:t>
            </a:r>
            <a:endParaRPr kumimoji="1" lang="zh-HK" altLang="en-US"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zh-HK" altLang="en-US" sz="1200" dirty="0" smtClean="0">
                <a:latin typeface="微软雅黑" panose="020B0503020204020204" charset="-122"/>
                <a:ea typeface="微软雅黑" panose="020B0503020204020204" charset="-122"/>
              </a:rPr>
              <a:t>产品</a:t>
            </a:r>
            <a:r>
              <a:rPr kumimoji="1" lang="zh-CN" altLang="zh-HK" sz="1200" dirty="0" smtClean="0">
                <a:latin typeface="微软雅黑" panose="020B0503020204020204" charset="-122"/>
                <a:ea typeface="微软雅黑" panose="020B0503020204020204" charset="-122"/>
              </a:rPr>
              <a:t>分析</a:t>
            </a:r>
            <a:r>
              <a:rPr kumimoji="1" lang="en-US" altLang="zh-HK" sz="1200" dirty="0" smtClean="0">
                <a:latin typeface="微软雅黑" panose="020B0503020204020204" charset="-122"/>
                <a:ea typeface="微软雅黑" panose="020B0503020204020204" charset="-122"/>
              </a:rPr>
              <a:t>: </a:t>
            </a:r>
            <a:r>
              <a:rPr kumimoji="1" lang="zh-HK" altLang="en-US" sz="1200" dirty="0" smtClean="0">
                <a:latin typeface="微软雅黑" panose="020B0503020204020204" charset="-122"/>
                <a:ea typeface="微软雅黑" panose="020B0503020204020204" charset="-122"/>
              </a:rPr>
              <a:t>对产品总收入和重点业务收入进行监控与洞察</a:t>
            </a:r>
            <a:endParaRPr kumimoji="1" lang="zh-HK" altLang="en-US"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zh-HK" altLang="en-US" sz="1200" dirty="0" smtClean="0">
                <a:latin typeface="微软雅黑" panose="020B0503020204020204" charset="-122"/>
                <a:ea typeface="微软雅黑" panose="020B0503020204020204" charset="-122"/>
              </a:rPr>
              <a:t>渠道效能评估</a:t>
            </a:r>
            <a:r>
              <a:rPr kumimoji="1" lang="en-US" altLang="zh-HK" sz="1200" dirty="0" smtClean="0">
                <a:latin typeface="微软雅黑" panose="020B0503020204020204" charset="-122"/>
                <a:ea typeface="微软雅黑" panose="020B0503020204020204" charset="-122"/>
              </a:rPr>
              <a:t>: </a:t>
            </a:r>
            <a:r>
              <a:rPr kumimoji="1" lang="zh-HK" altLang="en-US" sz="1200" dirty="0" smtClean="0">
                <a:latin typeface="微软雅黑" panose="020B0503020204020204" charset="-122"/>
                <a:ea typeface="微软雅黑" panose="020B0503020204020204" charset="-122"/>
              </a:rPr>
              <a:t>监控渠道的触客能力和订购转化效果</a:t>
            </a:r>
            <a:endParaRPr kumimoji="1" lang="zh-HK" altLang="en-US" sz="1200" dirty="0" smtClean="0">
              <a:latin typeface="微软雅黑" panose="020B0503020204020204" charset="-122"/>
              <a:ea typeface="微软雅黑" panose="020B0503020204020204" charset="-122"/>
            </a:endParaRPr>
          </a:p>
          <a:p>
            <a:pPr marL="171450" indent="-171450" algn="l">
              <a:lnSpc>
                <a:spcPct val="125000"/>
              </a:lnSpc>
              <a:spcBef>
                <a:spcPts val="0"/>
              </a:spcBef>
              <a:spcAft>
                <a:spcPts val="0"/>
              </a:spcAft>
              <a:buFont typeface="Arial" panose="020B0604020202020204" pitchFamily="34" charset="0"/>
              <a:buChar char="•"/>
            </a:pPr>
            <a:r>
              <a:rPr kumimoji="1" lang="zh-HK" altLang="en-US" sz="1200" b="1" dirty="0" smtClean="0">
                <a:solidFill>
                  <a:srgbClr val="0070BF"/>
                </a:solidFill>
                <a:latin typeface="微软雅黑" panose="020B0503020204020204" charset="-122"/>
                <a:ea typeface="微软雅黑" panose="020B0503020204020204" charset="-122"/>
              </a:rPr>
              <a:t>交互与洞察功能</a:t>
            </a:r>
            <a:endParaRPr kumimoji="1" lang="zh-HK" altLang="en-US" sz="1200" b="1" dirty="0" smtClean="0">
              <a:solidFill>
                <a:srgbClr val="0070BF"/>
              </a:solidFill>
              <a:latin typeface="微软雅黑" panose="020B0503020204020204" charset="-122"/>
              <a:ea typeface="微软雅黑" panose="020B0503020204020204" charset="-122"/>
            </a:endParaRPr>
          </a:p>
          <a:p>
            <a:pPr algn="l">
              <a:lnSpc>
                <a:spcPct val="125000"/>
              </a:lnSpc>
              <a:spcBef>
                <a:spcPts val="0"/>
              </a:spcBef>
              <a:spcAft>
                <a:spcPts val="0"/>
              </a:spcAft>
            </a:pPr>
            <a:r>
              <a:rPr kumimoji="1" lang="zh-HK" altLang="en-US" sz="1200" dirty="0" smtClean="0">
                <a:latin typeface="微软雅黑" panose="020B0503020204020204" charset="-122"/>
                <a:ea typeface="微软雅黑" panose="020B0503020204020204" charset="-122"/>
              </a:rPr>
              <a:t>趋势可视化</a:t>
            </a:r>
            <a:r>
              <a:rPr kumimoji="1" lang="en-US" altLang="zh-HK" sz="1200" dirty="0" smtClean="0">
                <a:latin typeface="微软雅黑" panose="020B0503020204020204" charset="-122"/>
                <a:ea typeface="微软雅黑" panose="020B0503020204020204" charset="-122"/>
              </a:rPr>
              <a:t>: </a:t>
            </a:r>
            <a:r>
              <a:rPr kumimoji="1" lang="zh-HK" altLang="en-US" sz="1200" dirty="0" smtClean="0">
                <a:latin typeface="微软雅黑" panose="020B0503020204020204" charset="-122"/>
                <a:ea typeface="微软雅黑" panose="020B0503020204020204" charset="-122"/>
              </a:rPr>
              <a:t>通过图表展示收入等关键指标的变动趋势</a:t>
            </a:r>
            <a:endParaRPr kumimoji="1" lang="zh-HK" altLang="en-US" sz="1200" dirty="0" smtClean="0">
              <a:latin typeface="微软雅黑" panose="020B0503020204020204" charset="-122"/>
              <a:ea typeface="微软雅黑" panose="020B0503020204020204" charset="-122"/>
            </a:endParaRPr>
          </a:p>
          <a:p>
            <a:pPr algn="l">
              <a:lnSpc>
                <a:spcPct val="125000"/>
              </a:lnSpc>
              <a:spcBef>
                <a:spcPts val="0"/>
              </a:spcBef>
              <a:spcAft>
                <a:spcPts val="0"/>
              </a:spcAft>
            </a:pPr>
            <a:r>
              <a:rPr kumimoji="1" lang="zh-HK" altLang="en-US" sz="1200" dirty="0" smtClean="0">
                <a:latin typeface="微软雅黑" panose="020B0503020204020204" charset="-122"/>
                <a:ea typeface="微软雅黑" panose="020B0503020204020204" charset="-122"/>
              </a:rPr>
              <a:t>数据下钻探索</a:t>
            </a:r>
            <a:r>
              <a:rPr kumimoji="1" lang="en-US" altLang="zh-HK" sz="1200" dirty="0" smtClean="0">
                <a:latin typeface="微软雅黑" panose="020B0503020204020204" charset="-122"/>
                <a:ea typeface="微软雅黑" panose="020B0503020204020204" charset="-122"/>
              </a:rPr>
              <a:t>: </a:t>
            </a:r>
            <a:r>
              <a:rPr kumimoji="1" lang="zh-HK" altLang="en-US" sz="1200" dirty="0" smtClean="0">
                <a:latin typeface="微软雅黑" panose="020B0503020204020204" charset="-122"/>
                <a:ea typeface="微软雅黑" panose="020B0503020204020204" charset="-122"/>
              </a:rPr>
              <a:t>支持查看更详细的数据分析</a:t>
            </a:r>
            <a:endParaRPr kumimoji="1" lang="zh-HK" altLang="en-US" sz="1200" dirty="0" smtClean="0">
              <a:latin typeface="微软雅黑" panose="020B0503020204020204" charset="-122"/>
              <a:ea typeface="微软雅黑" panose="020B0503020204020204" charset="-122"/>
            </a:endParaRPr>
          </a:p>
        </p:txBody>
      </p:sp>
      <p:sp>
        <p:nvSpPr>
          <p:cNvPr id="51" name="左箭頭 50"/>
          <p:cNvSpPr/>
          <p:nvPr/>
        </p:nvSpPr>
        <p:spPr>
          <a:xfrm>
            <a:off x="2955290" y="5403850"/>
            <a:ext cx="271780" cy="732790"/>
          </a:xfrm>
          <a:prstGeom prst="leftArrow">
            <a:avLst/>
          </a:prstGeom>
          <a:solidFill>
            <a:srgbClr val="BFBFBF"/>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2" name="左箭頭 51"/>
          <p:cNvSpPr/>
          <p:nvPr/>
        </p:nvSpPr>
        <p:spPr>
          <a:xfrm rot="10800000">
            <a:off x="2955290" y="2277745"/>
            <a:ext cx="271780" cy="732790"/>
          </a:xfrm>
          <a:prstGeom prst="leftArrow">
            <a:avLst/>
          </a:prstGeom>
          <a:solidFill>
            <a:srgbClr val="BFBFBF"/>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6</a:t>
            </a:r>
            <a:r>
              <a:rPr lang="zh-CN" altLang="en-US">
                <a:sym typeface="+mn-ea"/>
              </a:rPr>
              <a:t>：数智运营</a:t>
            </a:r>
            <a:r>
              <a:rPr>
                <a:sym typeface="+mn-ea"/>
              </a:rPr>
              <a:t>-</a:t>
            </a:r>
            <a:r>
              <a:rPr lang="zh-CN" altLang="en-US">
                <a:sym typeface="+mn-ea"/>
              </a:rPr>
              <a:t>存量运营专区（</a:t>
            </a:r>
            <a:r>
              <a:rPr>
                <a:sym typeface="+mn-ea"/>
              </a:rPr>
              <a:t>3/6</a:t>
            </a:r>
            <a:r>
              <a:rPr lang="zh-CN" altLang="en-US">
                <a:sym typeface="+mn-ea"/>
              </a:rPr>
              <a:t>）</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构建统一的智能预警体系与</a:t>
            </a:r>
            <a:r>
              <a:rPr lang="zh-CN" altLang="zh-HK" kern="1200" noProof="0" smtClean="0">
                <a:solidFill>
                  <a:srgbClr val="000000">
                    <a:alpha val="100000"/>
                  </a:srgbClr>
                </a:solidFill>
                <a:latin typeface="+mn-lt"/>
                <a:ea typeface="+mn-lt"/>
                <a:cs typeface="+mn-lt"/>
                <a:sym typeface="+mn-ea"/>
              </a:rPr>
              <a:t>AI</a:t>
            </a:r>
            <a:r>
              <a:rPr lang="zh-CN" altLang="zh-HK" kern="1200" noProof="0" smtClean="0">
                <a:solidFill>
                  <a:srgbClr val="000000">
                    <a:alpha val="100000"/>
                  </a:srgbClr>
                </a:solidFill>
                <a:latin typeface="+mn-lt"/>
                <a:ea typeface="+mn-lt"/>
                <a:cs typeface="+mn-lt"/>
                <a:sym typeface="+mn-ea"/>
              </a:rPr>
              <a:t>分析平台，对存量用户进行全流程流失风险监控与洞察，实现了从被动应对到主动精准防控的运营模式变革，有效提升客户维系效率。</a:t>
            </a:r>
            <a:endParaRPr lang="zh-CN" altLang="zh-HK" kern="1200" noProof="0" smtClean="0">
              <a:solidFill>
                <a:srgbClr val="000000">
                  <a:alpha val="100000"/>
                </a:srgbClr>
              </a:solidFill>
              <a:latin typeface="+mn-lt"/>
              <a:ea typeface="+mn-lt"/>
              <a:cs typeface="+mn-lt"/>
              <a:sym typeface="+mn-ea"/>
            </a:endParaRPr>
          </a:p>
        </p:txBody>
      </p:sp>
      <p:sp>
        <p:nvSpPr>
          <p:cNvPr id="63" name="矩形 62"/>
          <p:cNvSpPr/>
          <p:nvPr/>
        </p:nvSpPr>
        <p:spPr>
          <a:xfrm>
            <a:off x="7764780" y="2884805"/>
            <a:ext cx="3575050" cy="1252220"/>
          </a:xfrm>
          <a:prstGeom prst="rect">
            <a:avLst/>
          </a:prstGeom>
          <a:noFill/>
          <a:ln>
            <a:noFill/>
          </a:ln>
          <a:extLst>
            <a:ext uri="{909E8E84-426E-40DD-AFC4-6F175D3DCCD1}">
              <a14:hiddenFill xmlns:a14="http://schemas.microsoft.com/office/drawing/2010/main">
                <a:solidFill>
                  <a:srgbClr val="F3FAFF"/>
                </a:solidFill>
              </a14:hiddenFill>
            </a:ext>
          </a:extLst>
        </p:spPr>
        <p:style>
          <a:lnRef idx="2">
            <a:srgbClr val="0070BF">
              <a:lumMod val="75000"/>
            </a:srgbClr>
          </a:lnRef>
          <a:fillRef idx="1">
            <a:srgbClr val="0070BF"/>
          </a:fillRef>
          <a:effectRef idx="0">
            <a:srgbClr val="FFFFFF"/>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64" name="文本框 63"/>
          <p:cNvSpPr txBox="1"/>
          <p:nvPr/>
        </p:nvSpPr>
        <p:spPr>
          <a:xfrm>
            <a:off x="8340090" y="2768600"/>
            <a:ext cx="2489200" cy="306705"/>
          </a:xfrm>
          <a:prstGeom prst="rect">
            <a:avLst/>
          </a:prstGeom>
          <a:noFill/>
          <a:ln>
            <a:noFill/>
          </a:ln>
          <a:extLst>
            <a:ext uri="{909E8E84-426E-40DD-AFC4-6F175D3DCCD1}">
              <a14:hiddenFill xmlns:a14="http://schemas.microsoft.com/office/drawing/2010/main">
                <a:solidFill>
                  <a:srgbClr val="0070BF"/>
                </a:solidFill>
              </a14:hiddenFill>
            </a:ext>
          </a:extLst>
        </p:spPr>
        <p:txBody>
          <a:bodyPr wrap="square" rtlCol="0" anchor="t">
            <a:spAutoFit/>
          </a:bodyPr>
          <a:lstStyle>
            <a:defPPr>
              <a:defRPr lang="zh-CN"/>
            </a:defPPr>
            <a:lvl1pPr marR="0" lvl="0" indent="0" algn="ctr" defTabSz="457200" fontAlgn="auto">
              <a:lnSpc>
                <a:spcPct val="100000"/>
              </a:lnSpc>
              <a:spcBef>
                <a:spcPts val="0"/>
              </a:spcBef>
              <a:spcAft>
                <a:spcPts val="0"/>
              </a:spcAft>
              <a:buClrTx/>
              <a:buSzTx/>
              <a:buFontTx/>
              <a:buNone/>
              <a:defRPr kumimoji="1" sz="1200" b="1" i="0" u="none" strike="noStrike" cap="none" spc="0" normalizeH="0" baseline="0">
                <a:ln>
                  <a:noFill/>
                </a:ln>
                <a:effectLst/>
                <a:uLnTx/>
                <a:uFillTx/>
                <a:latin typeface="微软雅黑" panose="020B0503020204020204" charset="-122"/>
                <a:ea typeface="微软雅黑" panose="020B050302020402020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数据驱动运营</a:t>
            </a:r>
            <a:r>
              <a:rPr kumimoji="1" lang="zh-CN" altLang="en-US" sz="14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底座</a:t>
            </a:r>
            <a:endParaRPr kumimoji="1" lang="zh-CN" altLang="en-US" sz="14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70" name="直接箭头连接符 69"/>
          <p:cNvCxnSpPr/>
          <p:nvPr>
            <p:custDataLst>
              <p:tags r:id="rId1"/>
            </p:custDataLst>
          </p:nvPr>
        </p:nvCxnSpPr>
        <p:spPr>
          <a:xfrm flipV="1">
            <a:off x="8387715" y="3063240"/>
            <a:ext cx="2260600" cy="17145"/>
          </a:xfrm>
          <a:prstGeom prst="straightConnector1">
            <a:avLst/>
          </a:prstGeom>
          <a:ln w="25400">
            <a:gradFill>
              <a:gsLst>
                <a:gs pos="7000">
                  <a:srgbClr val="1184CF">
                    <a:alpha val="0"/>
                  </a:srgbClr>
                </a:gs>
                <a:gs pos="53000">
                  <a:srgbClr val="1184CF">
                    <a:alpha val="100000"/>
                  </a:srgbClr>
                </a:gs>
                <a:gs pos="100000">
                  <a:srgbClr val="1184CF">
                    <a:alpha val="0"/>
                  </a:srgbClr>
                </a:gs>
              </a:gsLst>
              <a:lin ang="0" scaled="1"/>
            </a:gradFill>
            <a:headEnd type="oval"/>
            <a:tailEnd type="oval"/>
          </a:ln>
          <a:effectLst>
            <a:outerShdw blurRad="50800" dist="38100" dir="2700000" algn="tl" rotWithShape="0">
              <a:prstClr val="black">
                <a:alpha val="40000"/>
              </a:prstClr>
            </a:outerShdw>
          </a:effectLst>
        </p:spPr>
        <p:style>
          <a:lnRef idx="1">
            <a:srgbClr val="0070BF"/>
          </a:lnRef>
          <a:fillRef idx="0">
            <a:srgbClr val="0070BF"/>
          </a:fillRef>
          <a:effectRef idx="0">
            <a:srgbClr val="0070BF"/>
          </a:effectRef>
          <a:fontRef idx="minor">
            <a:srgbClr val="000000"/>
          </a:fontRef>
        </p:style>
      </p:cxnSp>
      <p:sp>
        <p:nvSpPr>
          <p:cNvPr id="71" name="文本框 70"/>
          <p:cNvSpPr txBox="1"/>
          <p:nvPr/>
        </p:nvSpPr>
        <p:spPr>
          <a:xfrm>
            <a:off x="7772400" y="3155950"/>
            <a:ext cx="3977005" cy="1614805"/>
          </a:xfrm>
          <a:prstGeom prst="rect">
            <a:avLst/>
          </a:prstGeom>
          <a:noFill/>
        </p:spPr>
        <p:txBody>
          <a:bodyPr wrap="square" rtlCol="0" anchor="t">
            <a:spAutoFit/>
          </a:bodyPr>
          <a:lstStyle/>
          <a:p>
            <a:pPr marL="171450" indent="-171450">
              <a:lnSpc>
                <a:spcPct val="150000"/>
              </a:lnSpc>
              <a:buFont typeface="Arial" panose="020B0604020202020204" pitchFamily="34" charset="0"/>
              <a:buChar char="•"/>
            </a:pPr>
            <a:r>
              <a:rPr lang="zh-CN" altLang="en-US" sz="1100" b="1" dirty="0">
                <a:solidFill>
                  <a:srgbClr val="0070C0"/>
                </a:solidFill>
                <a:latin typeface="微软雅黑" panose="020B0503020204020204" charset="-122"/>
                <a:sym typeface="微软雅黑" panose="020B0503020204020204" charset="-122"/>
              </a:rPr>
              <a:t>客户维系体系：</a:t>
            </a:r>
            <a:r>
              <a:rPr lang="zh-CN" altLang="zh-HK" sz="1100" dirty="0">
                <a:solidFill>
                  <a:schemeClr val="tx1"/>
                </a:solidFill>
                <a:latin typeface="微软雅黑" panose="020B0503020204020204" charset="-122"/>
                <a:sym typeface="微软雅黑" panose="020B0503020204020204" charset="-122"/>
              </a:rPr>
              <a:t>构建</a:t>
            </a:r>
            <a:r>
              <a:rPr lang="zh-HK" altLang="en-US" sz="1100" dirty="0">
                <a:solidFill>
                  <a:schemeClr val="tx1"/>
                </a:solidFill>
                <a:latin typeface="微软雅黑" panose="020B0503020204020204" charset="-122"/>
                <a:sym typeface="微软雅黑" panose="020B0503020204020204" charset="-122"/>
              </a:rPr>
              <a:t>统一模型中心实现精准预警，借助标准化数据上报</a:t>
            </a:r>
            <a:r>
              <a:rPr lang="zh-CN" altLang="zh-HK" sz="1100" dirty="0">
                <a:solidFill>
                  <a:schemeClr val="tx1"/>
                </a:solidFill>
                <a:latin typeface="微软雅黑" panose="020B0503020204020204" charset="-122"/>
                <a:sym typeface="微软雅黑" panose="020B0503020204020204" charset="-122"/>
              </a:rPr>
              <a:t>实现</a:t>
            </a:r>
            <a:r>
              <a:rPr lang="zh-CN" altLang="en-US" sz="1100" dirty="0">
                <a:solidFill>
                  <a:schemeClr val="tx1"/>
                </a:solidFill>
                <a:latin typeface="微软雅黑" panose="020B0503020204020204" charset="-122"/>
                <a:sym typeface="微软雅黑" panose="020B0503020204020204" charset="-122"/>
              </a:rPr>
              <a:t>指标管理</a:t>
            </a:r>
            <a:r>
              <a:rPr lang="zh-HK" altLang="en-US" sz="1100" dirty="0">
                <a:solidFill>
                  <a:schemeClr val="tx1"/>
                </a:solidFill>
                <a:latin typeface="微软雅黑" panose="020B0503020204020204" charset="-122"/>
                <a:sym typeface="微软雅黑" panose="020B0503020204020204" charset="-122"/>
              </a:rPr>
              <a:t>，利用全方位监控看板达成全流程</a:t>
            </a:r>
            <a:r>
              <a:rPr lang="zh-CN" altLang="en-US" sz="1100" dirty="0">
                <a:solidFill>
                  <a:schemeClr val="tx1"/>
                </a:solidFill>
                <a:latin typeface="微软雅黑" panose="020B0503020204020204" charset="-122"/>
                <a:sym typeface="微软雅黑" panose="020B0503020204020204" charset="-122"/>
              </a:rPr>
              <a:t>可视化</a:t>
            </a:r>
            <a:r>
              <a:rPr lang="zh-HK" altLang="en-US" sz="1100" dirty="0">
                <a:solidFill>
                  <a:schemeClr val="tx1"/>
                </a:solidFill>
                <a:latin typeface="微软雅黑" panose="020B0503020204020204" charset="-122"/>
                <a:sym typeface="微软雅黑" panose="020B0503020204020204" charset="-122"/>
              </a:rPr>
              <a:t>，构建数据驱动的智能化客户维系运营体系。</a:t>
            </a:r>
            <a:endParaRPr lang="zh-HK" altLang="en-US" sz="1100" b="1" dirty="0">
              <a:solidFill>
                <a:srgbClr val="0070C0"/>
              </a:solidFill>
              <a:latin typeface="微软雅黑" panose="020B0503020204020204" charset="-122"/>
              <a:sym typeface="微软雅黑" panose="020B0503020204020204" charset="-122"/>
            </a:endParaRPr>
          </a:p>
          <a:p>
            <a:pPr marL="171450" indent="-171450">
              <a:lnSpc>
                <a:spcPct val="150000"/>
              </a:lnSpc>
              <a:buFont typeface="Arial" panose="020B0604020202020204" pitchFamily="34" charset="0"/>
              <a:buChar char="•"/>
            </a:pPr>
            <a:r>
              <a:rPr lang="en-US" altLang="zh-CN" sz="1100" b="1" dirty="0">
                <a:solidFill>
                  <a:srgbClr val="0070C0"/>
                </a:solidFill>
                <a:latin typeface="微软雅黑" panose="020B0503020204020204" charset="-122"/>
                <a:sym typeface="微软雅黑" panose="020B0503020204020204" charset="-122"/>
              </a:rPr>
              <a:t>AI</a:t>
            </a:r>
            <a:r>
              <a:rPr lang="zh-CN" altLang="en-US" sz="1100" b="1" dirty="0">
                <a:solidFill>
                  <a:srgbClr val="0070C0"/>
                </a:solidFill>
                <a:latin typeface="微软雅黑" panose="020B0503020204020204" charset="-122"/>
                <a:sym typeface="微软雅黑" panose="020B0503020204020204" charset="-122"/>
              </a:rPr>
              <a:t>洞察</a:t>
            </a:r>
            <a:r>
              <a:rPr lang="zh-CN" altLang="en-US" sz="1100" b="1" dirty="0">
                <a:solidFill>
                  <a:srgbClr val="0070C0"/>
                </a:solidFill>
                <a:latin typeface="微软雅黑" panose="020B0503020204020204" charset="-122"/>
                <a:sym typeface="微软雅黑" panose="020B0503020204020204" charset="-122"/>
              </a:rPr>
              <a:t>：</a:t>
            </a:r>
            <a:r>
              <a:rPr kumimoji="1" lang="zh-HK" altLang="en-US"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基于</a:t>
            </a:r>
            <a:r>
              <a:rPr kumimoji="1" lang="en-US" altLang="zh-HK"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AI</a:t>
            </a:r>
            <a:r>
              <a:rPr kumimoji="1" lang="zh-HK" altLang="en-US"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大模型分析工单文本与数据，识别系统性风险与根因，推动产品、网络及服务的根本性治理，实现从被动响应到主动洞察的运营模式变革。</a:t>
            </a:r>
            <a:endParaRPr kumimoji="1" lang="zh-HK" altLang="en-US"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endParaRPr>
          </a:p>
        </p:txBody>
      </p:sp>
      <p:sp>
        <p:nvSpPr>
          <p:cNvPr id="72" name="矩形 71"/>
          <p:cNvSpPr/>
          <p:nvPr/>
        </p:nvSpPr>
        <p:spPr>
          <a:xfrm>
            <a:off x="7797165" y="4743450"/>
            <a:ext cx="3585845" cy="1268730"/>
          </a:xfrm>
          <a:prstGeom prst="rect">
            <a:avLst/>
          </a:prstGeom>
          <a:noFill/>
          <a:ln>
            <a:noFill/>
          </a:ln>
          <a:extLst>
            <a:ext uri="{909E8E84-426E-40DD-AFC4-6F175D3DCCD1}">
              <a14:hiddenFill xmlns:a14="http://schemas.microsoft.com/office/drawing/2010/main">
                <a:solidFill>
                  <a:srgbClr val="F3FAFF"/>
                </a:solidFill>
              </a14:hiddenFill>
            </a:ext>
          </a:extLst>
        </p:spPr>
        <p:style>
          <a:lnRef idx="2">
            <a:srgbClr val="4472C4">
              <a:lumMod val="75000"/>
            </a:srgbClr>
          </a:lnRef>
          <a:fillRef idx="1">
            <a:srgbClr val="4472C4"/>
          </a:fillRef>
          <a:effectRef idx="0">
            <a:srgbClr val="FFFFFF"/>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ysClr val="window" lastClr="FFFFFF"/>
              </a:solidFill>
              <a:effectLst/>
              <a:uLnTx/>
              <a:uFillTx/>
              <a:latin typeface="等线" panose="02010600030101010101" charset="-122"/>
              <a:ea typeface="等线" panose="02010600030101010101" charset="-122"/>
              <a:cs typeface="+mn-ea"/>
            </a:endParaRPr>
          </a:p>
        </p:txBody>
      </p:sp>
      <p:sp>
        <p:nvSpPr>
          <p:cNvPr id="74" name="文本框 73"/>
          <p:cNvSpPr txBox="1"/>
          <p:nvPr/>
        </p:nvSpPr>
        <p:spPr>
          <a:xfrm>
            <a:off x="8372475" y="4843780"/>
            <a:ext cx="2489200" cy="306705"/>
          </a:xfrm>
          <a:prstGeom prst="rect">
            <a:avLst/>
          </a:prstGeom>
          <a:noFill/>
          <a:ln>
            <a:noFill/>
          </a:ln>
          <a:extLst>
            <a:ext uri="{909E8E84-426E-40DD-AFC4-6F175D3DCCD1}">
              <a14:hiddenFill xmlns:a14="http://schemas.microsoft.com/office/drawing/2010/main">
                <a:solidFill>
                  <a:srgbClr val="0070BF"/>
                </a:solidFill>
              </a14:hiddenFill>
            </a:ext>
          </a:extLst>
        </p:spPr>
        <p:txBody>
          <a:bodyPr wrap="square" rtlCol="0" anchor="t">
            <a:spAutoFit/>
          </a:bodyPr>
          <a:lstStyle>
            <a:defPPr>
              <a:defRPr lang="zh-CN"/>
            </a:defPPr>
            <a:lvl1pPr marR="0" lvl="0" indent="0" algn="ctr" defTabSz="457200" fontAlgn="auto">
              <a:lnSpc>
                <a:spcPct val="100000"/>
              </a:lnSpc>
              <a:spcBef>
                <a:spcPts val="0"/>
              </a:spcBef>
              <a:spcAft>
                <a:spcPts val="0"/>
              </a:spcAft>
              <a:buClrTx/>
              <a:buSzTx/>
              <a:buFontTx/>
              <a:buNone/>
              <a:defRPr kumimoji="1" sz="1200" b="1" i="0" u="none" strike="noStrike" cap="none" spc="0" normalizeH="0" baseline="0">
                <a:ln>
                  <a:noFill/>
                </a:ln>
                <a:effectLst/>
                <a:uLnTx/>
                <a:uFillTx/>
                <a:latin typeface="微软雅黑" panose="020B0503020204020204" charset="-122"/>
                <a:ea typeface="微软雅黑" panose="020B050302020402020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70B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客户流失预警</a:t>
            </a:r>
            <a:r>
              <a:rPr kumimoji="1" lang="zh-CN" altLang="en-US" sz="1400" b="1" i="0" u="none" strike="noStrike" kern="1200" cap="none" spc="0" normalizeH="0" baseline="0" noProof="0" dirty="0">
                <a:ln>
                  <a:noFill/>
                </a:ln>
                <a:solidFill>
                  <a:srgbClr val="0070B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监控</a:t>
            </a:r>
            <a:endParaRPr kumimoji="1" lang="zh-CN" altLang="en-US" sz="1400" b="1" i="0" u="none" strike="noStrike" kern="1200" cap="none" spc="0" normalizeH="0" baseline="0" noProof="0" dirty="0">
              <a:ln>
                <a:noFill/>
              </a:ln>
              <a:solidFill>
                <a:srgbClr val="0070B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5" name="文本框 74"/>
          <p:cNvSpPr txBox="1"/>
          <p:nvPr/>
        </p:nvSpPr>
        <p:spPr>
          <a:xfrm>
            <a:off x="7797165" y="5201920"/>
            <a:ext cx="3952240" cy="1047750"/>
          </a:xfrm>
          <a:prstGeom prst="rect">
            <a:avLst/>
          </a:prstGeom>
          <a:noFill/>
        </p:spPr>
        <p:txBody>
          <a:bodyPr wrap="square" rtlCol="0" anchor="t">
            <a:spAutoFit/>
          </a:bodyPr>
          <a:lstStyle/>
          <a:p>
            <a:pPr marL="171450" indent="-171450" algn="l" defTabSz="457200">
              <a:lnSpc>
                <a:spcPct val="130000"/>
              </a:lnSpc>
              <a:spcBef>
                <a:spcPts val="600"/>
              </a:spcBef>
              <a:spcAft>
                <a:spcPts val="0"/>
              </a:spcAft>
              <a:buClrTx/>
              <a:buSzTx/>
              <a:buFont typeface="Arial" panose="020B0604020202020204" pitchFamily="34" charset="0"/>
              <a:buChar char="•"/>
              <a:defRPr/>
            </a:pPr>
            <a:r>
              <a:rPr lang="zh-CN" altLang="en-US" sz="1100" b="1" dirty="0" smtClean="0">
                <a:solidFill>
                  <a:srgbClr val="0070BF"/>
                </a:solidFill>
                <a:sym typeface="微软雅黑" panose="020B0503020204020204" charset="-122"/>
              </a:rPr>
              <a:t>智能预警</a:t>
            </a:r>
            <a:r>
              <a:rPr lang="zh-CN" altLang="en-US" sz="1100" dirty="0" smtClean="0">
                <a:sym typeface="微软雅黑" panose="020B0503020204020204" charset="-122"/>
              </a:rPr>
              <a:t>：</a:t>
            </a:r>
            <a:r>
              <a:rPr lang="zh-HK" altLang="en-US" sz="1100" dirty="0" smtClean="0">
                <a:sym typeface="微软雅黑" panose="020B0503020204020204" charset="-122"/>
              </a:rPr>
              <a:t>通过统一预警模型与数据口径，实现从源头发现风险与管理标准化，为客户维系</a:t>
            </a:r>
            <a:r>
              <a:rPr lang="zh-CN" altLang="zh-HK" sz="1100" dirty="0" smtClean="0">
                <a:sym typeface="微软雅黑" panose="020B0503020204020204" charset="-122"/>
              </a:rPr>
              <a:t>策略执行赋能</a:t>
            </a:r>
            <a:r>
              <a:rPr lang="en-US" altLang="zh-CN" sz="1100" dirty="0" smtClean="0">
                <a:sym typeface="微软雅黑" panose="020B0503020204020204" charset="-122"/>
              </a:rPr>
              <a:t>。</a:t>
            </a:r>
            <a:endParaRPr lang="zh-HK" altLang="en-US" sz="1100" dirty="0" smtClean="0">
              <a:sym typeface="微软雅黑" panose="020B0503020204020204" charset="-122"/>
            </a:endParaRPr>
          </a:p>
          <a:p>
            <a:pPr marL="171450" indent="-171450" algn="l" defTabSz="457200">
              <a:lnSpc>
                <a:spcPct val="130000"/>
              </a:lnSpc>
              <a:spcBef>
                <a:spcPts val="600"/>
              </a:spcBef>
              <a:spcAft>
                <a:spcPts val="0"/>
              </a:spcAft>
              <a:buClrTx/>
              <a:buSzTx/>
              <a:buFont typeface="Arial" panose="020B0604020202020204" pitchFamily="34" charset="0"/>
              <a:buChar char="•"/>
              <a:defRPr/>
            </a:pPr>
            <a:r>
              <a:rPr lang="en-US" altLang="zh-CN" sz="1100" b="1" dirty="0">
                <a:solidFill>
                  <a:srgbClr val="0070C0"/>
                </a:solidFill>
                <a:latin typeface="微软雅黑" panose="020B0503020204020204" charset="-122"/>
                <a:sym typeface="微软雅黑" panose="020B0503020204020204" charset="-122"/>
              </a:rPr>
              <a:t>AI</a:t>
            </a:r>
            <a:r>
              <a:rPr lang="zh-CN" altLang="en-US" sz="1100" b="1" dirty="0">
                <a:solidFill>
                  <a:srgbClr val="0070C0"/>
                </a:solidFill>
                <a:latin typeface="微软雅黑" panose="020B0503020204020204" charset="-122"/>
                <a:sym typeface="微软雅黑" panose="020B0503020204020204" charset="-122"/>
              </a:rPr>
              <a:t>全景管理：</a:t>
            </a:r>
            <a:r>
              <a:rPr kumimoji="1" lang="zh-HK" altLang="en-US"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通过全景化监控与</a:t>
            </a:r>
            <a:r>
              <a:rPr kumimoji="1" lang="en-US" altLang="zh-HK"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AI</a:t>
            </a:r>
            <a:r>
              <a:rPr kumimoji="1" lang="zh-HK" altLang="en-US"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智能分析，实现运营过程全透明化与问题洞察主动化，</a:t>
            </a:r>
            <a:r>
              <a:rPr kumimoji="1" lang="zh-CN" altLang="zh-HK"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提升流失挽回效率</a:t>
            </a:r>
            <a:r>
              <a:rPr kumimoji="1" lang="en-US" altLang="zh-CN"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rPr>
              <a:t>。</a:t>
            </a:r>
            <a:endParaRPr kumimoji="1" lang="en-US" altLang="zh-CN" sz="1100" b="0" i="0" u="none" strike="noStrike" kern="1200" cap="none" spc="0" normalizeH="0" baseline="0" noProof="0" dirty="0">
              <a:ln>
                <a:noFill/>
              </a:ln>
              <a:solidFill>
                <a:srgbClr val="060607"/>
              </a:solidFill>
              <a:effectLst/>
              <a:uLnTx/>
              <a:uFillTx/>
              <a:latin typeface="-apple-system"/>
              <a:ea typeface="微软雅黑" panose="020B0503020204020204" charset="-122"/>
              <a:cs typeface="+mn-ea"/>
              <a:sym typeface="微软雅黑" panose="020B0503020204020204" charset="-122"/>
            </a:endParaRPr>
          </a:p>
        </p:txBody>
      </p:sp>
      <p:cxnSp>
        <p:nvCxnSpPr>
          <p:cNvPr id="76" name="直接箭头连接符 75"/>
          <p:cNvCxnSpPr/>
          <p:nvPr>
            <p:custDataLst>
              <p:tags r:id="rId2"/>
            </p:custDataLst>
          </p:nvPr>
        </p:nvCxnSpPr>
        <p:spPr>
          <a:xfrm flipV="1">
            <a:off x="8416290" y="5160010"/>
            <a:ext cx="2260600" cy="0"/>
          </a:xfrm>
          <a:prstGeom prst="straightConnector1">
            <a:avLst/>
          </a:prstGeom>
          <a:ln w="25400">
            <a:gradFill>
              <a:gsLst>
                <a:gs pos="7000">
                  <a:srgbClr val="1184CF">
                    <a:alpha val="0"/>
                  </a:srgbClr>
                </a:gs>
                <a:gs pos="53000">
                  <a:srgbClr val="1184CF">
                    <a:alpha val="100000"/>
                  </a:srgbClr>
                </a:gs>
                <a:gs pos="100000">
                  <a:srgbClr val="1184CF">
                    <a:alpha val="0"/>
                  </a:srgbClr>
                </a:gs>
              </a:gsLst>
              <a:lin ang="0" scaled="1"/>
            </a:gradFill>
            <a:headEnd type="oval"/>
            <a:tailEnd type="oval"/>
          </a:ln>
          <a:effectLst>
            <a:outerShdw blurRad="50800" dist="38100" dir="2700000" algn="tl" rotWithShape="0">
              <a:prstClr val="black">
                <a:alpha val="40000"/>
              </a:prstClr>
            </a:outerShdw>
          </a:effectLst>
        </p:spPr>
        <p:style>
          <a:lnRef idx="1">
            <a:srgbClr val="0070BF"/>
          </a:lnRef>
          <a:fillRef idx="0">
            <a:srgbClr val="0070BF"/>
          </a:fillRef>
          <a:effectRef idx="0">
            <a:srgbClr val="0070BF"/>
          </a:effectRef>
          <a:fontRef idx="minor">
            <a:srgbClr val="000000"/>
          </a:fontRef>
        </p:style>
      </p:cxnSp>
      <p:sp>
        <p:nvSpPr>
          <p:cNvPr id="77" name="矩形 76"/>
          <p:cNvSpPr/>
          <p:nvPr/>
        </p:nvSpPr>
        <p:spPr>
          <a:xfrm>
            <a:off x="7807960" y="1815465"/>
            <a:ext cx="3575050" cy="1252220"/>
          </a:xfrm>
          <a:prstGeom prst="rect">
            <a:avLst/>
          </a:prstGeom>
          <a:noFill/>
          <a:ln>
            <a:noFill/>
          </a:ln>
          <a:extLst>
            <a:ext uri="{909E8E84-426E-40DD-AFC4-6F175D3DCCD1}">
              <a14:hiddenFill xmlns:a14="http://schemas.microsoft.com/office/drawing/2010/main">
                <a:solidFill>
                  <a:srgbClr val="F3FAFF"/>
                </a:solidFill>
              </a14:hiddenFill>
            </a:ext>
          </a:extLst>
        </p:spPr>
        <p:style>
          <a:lnRef idx="2">
            <a:srgbClr val="0070BF">
              <a:lumMod val="75000"/>
            </a:srgbClr>
          </a:lnRef>
          <a:fillRef idx="1">
            <a:srgbClr val="0070BF"/>
          </a:fillRef>
          <a:effectRef idx="0">
            <a:srgbClr val="FFFFFF"/>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endParaRPr>
          </a:p>
        </p:txBody>
      </p:sp>
      <p:sp>
        <p:nvSpPr>
          <p:cNvPr id="78" name="文本框 77"/>
          <p:cNvSpPr txBox="1"/>
          <p:nvPr/>
        </p:nvSpPr>
        <p:spPr>
          <a:xfrm>
            <a:off x="8383270" y="1675130"/>
            <a:ext cx="2489200" cy="306705"/>
          </a:xfrm>
          <a:prstGeom prst="rect">
            <a:avLst/>
          </a:prstGeom>
          <a:noFill/>
          <a:ln>
            <a:noFill/>
          </a:ln>
          <a:extLst>
            <a:ext uri="{909E8E84-426E-40DD-AFC4-6F175D3DCCD1}">
              <a14:hiddenFill xmlns:a14="http://schemas.microsoft.com/office/drawing/2010/main">
                <a:solidFill>
                  <a:srgbClr val="0070BF"/>
                </a:solidFill>
              </a14:hiddenFill>
            </a:ext>
          </a:extLst>
        </p:spPr>
        <p:txBody>
          <a:bodyPr wrap="square" rtlCol="0" anchor="t">
            <a:spAutoFit/>
          </a:bodyPr>
          <a:lstStyle>
            <a:defPPr>
              <a:defRPr lang="zh-CN"/>
            </a:defPPr>
            <a:lvl1pPr marR="0" lvl="0" indent="0" algn="ctr" defTabSz="457200" fontAlgn="auto">
              <a:lnSpc>
                <a:spcPct val="100000"/>
              </a:lnSpc>
              <a:spcBef>
                <a:spcPts val="0"/>
              </a:spcBef>
              <a:spcAft>
                <a:spcPts val="0"/>
              </a:spcAft>
              <a:buClrTx/>
              <a:buSzTx/>
              <a:buFontTx/>
              <a:buNone/>
              <a:defRPr kumimoji="1" sz="1200" b="1" i="0" u="none" strike="noStrike" cap="none" spc="0" normalizeH="0" baseline="0">
                <a:ln>
                  <a:noFill/>
                </a:ln>
                <a:effectLst/>
                <a:uLnTx/>
                <a:uFillTx/>
                <a:latin typeface="微软雅黑" panose="020B0503020204020204" charset="-122"/>
                <a:ea typeface="微软雅黑" panose="020B0503020204020204"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入口统一</a:t>
            </a:r>
            <a:endParaRPr kumimoji="1" lang="zh-CN" altLang="en-US" sz="1400" b="1"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79" name="直接箭头连接符 78"/>
          <p:cNvCxnSpPr/>
          <p:nvPr>
            <p:custDataLst>
              <p:tags r:id="rId3"/>
            </p:custDataLst>
          </p:nvPr>
        </p:nvCxnSpPr>
        <p:spPr>
          <a:xfrm flipV="1">
            <a:off x="8430895" y="1969770"/>
            <a:ext cx="2260600" cy="17145"/>
          </a:xfrm>
          <a:prstGeom prst="straightConnector1">
            <a:avLst/>
          </a:prstGeom>
          <a:ln w="25400">
            <a:gradFill>
              <a:gsLst>
                <a:gs pos="7000">
                  <a:srgbClr val="1184CF">
                    <a:alpha val="0"/>
                  </a:srgbClr>
                </a:gs>
                <a:gs pos="53000">
                  <a:srgbClr val="1184CF">
                    <a:alpha val="100000"/>
                  </a:srgbClr>
                </a:gs>
                <a:gs pos="100000">
                  <a:srgbClr val="1184CF">
                    <a:alpha val="0"/>
                  </a:srgbClr>
                </a:gs>
              </a:gsLst>
              <a:lin ang="0" scaled="1"/>
            </a:gradFill>
            <a:headEnd type="oval"/>
            <a:tailEnd type="oval"/>
          </a:ln>
          <a:effectLst>
            <a:outerShdw blurRad="50800" dist="38100" dir="2700000" algn="tl" rotWithShape="0">
              <a:prstClr val="black">
                <a:alpha val="40000"/>
              </a:prstClr>
            </a:outerShdw>
          </a:effectLst>
        </p:spPr>
        <p:style>
          <a:lnRef idx="1">
            <a:srgbClr val="0070BF"/>
          </a:lnRef>
          <a:fillRef idx="0">
            <a:srgbClr val="0070BF"/>
          </a:fillRef>
          <a:effectRef idx="0">
            <a:srgbClr val="0070BF"/>
          </a:effectRef>
          <a:fontRef idx="minor">
            <a:srgbClr val="000000"/>
          </a:fontRef>
        </p:style>
      </p:cxnSp>
      <p:sp>
        <p:nvSpPr>
          <p:cNvPr id="80" name="文本框 79"/>
          <p:cNvSpPr txBox="1"/>
          <p:nvPr/>
        </p:nvSpPr>
        <p:spPr>
          <a:xfrm>
            <a:off x="7807960" y="1999615"/>
            <a:ext cx="3769360" cy="751205"/>
          </a:xfrm>
          <a:prstGeom prst="rect">
            <a:avLst/>
          </a:prstGeom>
          <a:noFill/>
        </p:spPr>
        <p:txBody>
          <a:bodyPr wrap="square" rtlCol="0" anchor="t">
            <a:spAutoFit/>
          </a:bodyPr>
          <a:lstStyle/>
          <a:p>
            <a:pPr marL="171450" marR="0" lvl="0" indent="-171450" algn="l" defTabSz="457200" rtl="0" eaLnBrk="1" fontAlgn="auto" latinLnBrk="0" hangingPunct="1">
              <a:lnSpc>
                <a:spcPct val="130000"/>
              </a:lnSpc>
              <a:spcBef>
                <a:spcPts val="600"/>
              </a:spcBef>
              <a:spcAft>
                <a:spcPts val="0"/>
              </a:spcAft>
              <a:buClrTx/>
              <a:buSzTx/>
              <a:buFont typeface="Arial" panose="020B0604020202020204" pitchFamily="34" charset="0"/>
              <a:buChar char="•"/>
              <a:defRPr/>
            </a:pPr>
            <a:r>
              <a:rPr lang="zh-CN" altLang="en-US" sz="1100" b="1" dirty="0">
                <a:solidFill>
                  <a:srgbClr val="0070C0"/>
                </a:solidFill>
                <a:latin typeface="微软雅黑" panose="020B0503020204020204" charset="-122"/>
                <a:sym typeface="微软雅黑" panose="020B0503020204020204" charset="-122"/>
              </a:rPr>
              <a:t>建立存量专区统一入口，</a:t>
            </a:r>
            <a:r>
              <a:rPr kumimoji="1" lang="zh-CN" altLang="en-US" sz="1100" noProof="0" dirty="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聚全网一二级</a:t>
            </a:r>
            <a:r>
              <a:rPr kumimoji="1" lang="zh-CN" altLang="en-US" sz="1100" noProof="0" dirty="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存量运营视图，实现入口统一和深度运营，</a:t>
            </a:r>
            <a:r>
              <a:rPr lang="zh-CN" altLang="en-US" sz="1100" dirty="0">
                <a:latin typeface="微软雅黑" panose="020B0503020204020204" charset="-122"/>
                <a:sym typeface="微软雅黑" panose="020B0503020204020204" charset="-122"/>
              </a:rPr>
              <a:t>基于统一用户体标准（</a:t>
            </a:r>
            <a:r>
              <a:rPr lang="en-US" altLang="zh-CN" sz="1100" dirty="0">
                <a:latin typeface="微软雅黑" panose="020B0503020204020204" charset="-122"/>
                <a:sym typeface="微软雅黑" panose="020B0503020204020204" charset="-122"/>
              </a:rPr>
              <a:t>UIUE/</a:t>
            </a:r>
            <a:r>
              <a:rPr lang="zh-CN" altLang="en-US" sz="1100" dirty="0">
                <a:latin typeface="微软雅黑" panose="020B0503020204020204" charset="-122"/>
                <a:sym typeface="微软雅黑" panose="020B0503020204020204" charset="-122"/>
              </a:rPr>
              <a:t>前端</a:t>
            </a:r>
            <a:r>
              <a:rPr lang="zh-CN" altLang="en-US" sz="1100" dirty="0">
                <a:latin typeface="微软雅黑" panose="020B0503020204020204" charset="-122"/>
                <a:sym typeface="微软雅黑" panose="020B0503020204020204" charset="-122"/>
              </a:rPr>
              <a:t>规范），实现体验统一。</a:t>
            </a:r>
            <a:r>
              <a:rPr lang="en-US" altLang="zh-CN" sz="1100" dirty="0">
                <a:latin typeface="微软雅黑" panose="020B0503020204020204" charset="-122"/>
                <a:sym typeface="微软雅黑" panose="020B0503020204020204" charset="-122"/>
              </a:rPr>
              <a:t> </a:t>
            </a:r>
            <a:endParaRPr lang="en-US" altLang="zh-CN" sz="1100" dirty="0">
              <a:latin typeface="微软雅黑" panose="020B0503020204020204" charset="-122"/>
              <a:sym typeface="微软雅黑" panose="020B0503020204020204" charset="-122"/>
            </a:endParaRPr>
          </a:p>
        </p:txBody>
      </p:sp>
      <p:sp>
        <p:nvSpPr>
          <p:cNvPr id="18" name="矩形 17"/>
          <p:cNvSpPr/>
          <p:nvPr/>
        </p:nvSpPr>
        <p:spPr>
          <a:xfrm>
            <a:off x="863600" y="1894840"/>
            <a:ext cx="6573520" cy="838200"/>
          </a:xfrm>
          <a:prstGeom prst="rect">
            <a:avLst/>
          </a:prstGeom>
          <a:solidFill>
            <a:srgbClr val="E5F0F9">
              <a:alpha val="70000"/>
            </a:srgbClr>
          </a:solidFill>
        </p:spPr>
        <p:txBody>
          <a:bodyPr wrap="square" lIns="72000" tIns="0" rIns="72000" bIns="0" rtlCol="0" anchor="ctr" anchorCtr="0">
            <a:noAutofit/>
          </a:bodyPr>
          <a:p>
            <a:pPr algn="ctr"/>
            <a:endParaRPr kumimoji="1" lang="zh-CN" altLang="en-US" sz="1400" b="1" dirty="0">
              <a:solidFill>
                <a:srgbClr val="8CC121">
                  <a:lumMod val="50000"/>
                </a:srgbClr>
              </a:solidFill>
              <a:latin typeface="微软雅黑" panose="020B0503020204020204" charset="-122"/>
              <a:ea typeface="微软雅黑" panose="020B0503020204020204" charset="-122"/>
            </a:endParaRPr>
          </a:p>
        </p:txBody>
      </p:sp>
      <p:sp>
        <p:nvSpPr>
          <p:cNvPr id="21" name="文本框 20"/>
          <p:cNvSpPr txBox="1"/>
          <p:nvPr/>
        </p:nvSpPr>
        <p:spPr>
          <a:xfrm>
            <a:off x="441960" y="1570355"/>
            <a:ext cx="6994525" cy="306705"/>
          </a:xfrm>
          <a:prstGeom prst="rect">
            <a:avLst/>
          </a:prstGeom>
          <a:noFill/>
        </p:spPr>
        <p:txBody>
          <a:bodyPr wrap="square" rtlCol="0">
            <a:spAutoFit/>
          </a:bodyPr>
          <a:p>
            <a:pPr algn="ctr"/>
            <a:r>
              <a:rPr lang="zh-CN" altLang="en-US" sz="1400" b="1">
                <a:solidFill>
                  <a:srgbClr val="0070BF"/>
                </a:solidFill>
                <a:latin typeface="微软雅黑" panose="020B0503020204020204" charset="-122"/>
                <a:ea typeface="微软雅黑" panose="020B0503020204020204" charset="-122"/>
                <a:cs typeface="微软雅黑" panose="020B0503020204020204" charset="-122"/>
                <a:sym typeface="微软雅黑" panose="020B0503020204020204" charset="-122"/>
              </a:rPr>
              <a:t>营服运营平台</a:t>
            </a:r>
            <a:r>
              <a:rPr lang="en-US" altLang="zh-CN" sz="1400" b="1">
                <a:solidFill>
                  <a:srgbClr val="0070B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b="1">
                <a:solidFill>
                  <a:srgbClr val="0070BF"/>
                </a:solidFill>
                <a:latin typeface="微软雅黑" panose="020B0503020204020204" charset="-122"/>
                <a:ea typeface="微软雅黑" panose="020B0503020204020204" charset="-122"/>
                <a:cs typeface="微软雅黑" panose="020B0503020204020204" charset="-122"/>
                <a:sym typeface="微软雅黑" panose="020B0503020204020204" charset="-122"/>
              </a:rPr>
              <a:t>存量运营专区</a:t>
            </a:r>
            <a:endParaRPr kumimoji="1" lang="zh-CN" altLang="en-US" sz="1400" b="1" i="0" u="none" strike="noStrike" kern="1200" cap="none" spc="0" normalizeH="0" baseline="0" noProof="0" dirty="0">
              <a:ln>
                <a:noFill/>
              </a:ln>
              <a:solidFill>
                <a:srgbClr val="0070BF"/>
              </a:solidFill>
              <a:effectLst/>
              <a:uLnTx/>
              <a:uFillTx/>
              <a:latin typeface="微软雅黑" panose="020B0503020204020204" charset="-122"/>
              <a:ea typeface="微软雅黑" panose="020B0503020204020204" charset="-122"/>
            </a:endParaRPr>
          </a:p>
        </p:txBody>
      </p:sp>
      <p:sp>
        <p:nvSpPr>
          <p:cNvPr id="40" name="矩形 39"/>
          <p:cNvSpPr/>
          <p:nvPr>
            <p:custDataLst>
              <p:tags r:id="rId4"/>
            </p:custDataLst>
          </p:nvPr>
        </p:nvSpPr>
        <p:spPr>
          <a:xfrm>
            <a:off x="441960" y="1894840"/>
            <a:ext cx="361950" cy="838200"/>
          </a:xfrm>
          <a:prstGeom prst="rect">
            <a:avLst/>
          </a:prstGeom>
          <a:solidFill>
            <a:srgbClr val="4F81BD"/>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rPr>
              <a:t>展示层</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2" name="矩形 41"/>
          <p:cNvSpPr/>
          <p:nvPr>
            <p:custDataLst>
              <p:tags r:id="rId5"/>
            </p:custDataLst>
          </p:nvPr>
        </p:nvSpPr>
        <p:spPr>
          <a:xfrm>
            <a:off x="441960" y="2809240"/>
            <a:ext cx="361950" cy="574675"/>
          </a:xfrm>
          <a:prstGeom prst="rect">
            <a:avLst/>
          </a:prstGeom>
          <a:solidFill>
            <a:srgbClr val="4F81BD"/>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rPr>
              <a:t>服务层</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5" name="矩形 44"/>
          <p:cNvSpPr/>
          <p:nvPr>
            <p:custDataLst>
              <p:tags r:id="rId6"/>
            </p:custDataLst>
          </p:nvPr>
        </p:nvSpPr>
        <p:spPr>
          <a:xfrm>
            <a:off x="441325" y="3486785"/>
            <a:ext cx="361950" cy="1283970"/>
          </a:xfrm>
          <a:prstGeom prst="rect">
            <a:avLst/>
          </a:prstGeom>
          <a:solidFill>
            <a:srgbClr val="4F81BD"/>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rPr>
              <a:t>能力层</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7" name="矩形 46"/>
          <p:cNvSpPr/>
          <p:nvPr/>
        </p:nvSpPr>
        <p:spPr>
          <a:xfrm>
            <a:off x="863600" y="2809240"/>
            <a:ext cx="6573520" cy="574675"/>
          </a:xfrm>
          <a:prstGeom prst="rect">
            <a:avLst/>
          </a:prstGeom>
          <a:solidFill>
            <a:srgbClr val="E5F0F9">
              <a:alpha val="70000"/>
            </a:srgbClr>
          </a:solidFill>
        </p:spPr>
        <p:txBody>
          <a:bodyPr wrap="square" lIns="72000" tIns="0" rIns="72000" bIns="0" rtlCol="0" anchor="ctr" anchorCtr="0">
            <a:noAutofit/>
          </a:bodyPr>
          <a:p>
            <a:pPr algn="ctr"/>
            <a:endParaRPr kumimoji="1" lang="zh-CN" altLang="en-US" sz="1400" b="1" dirty="0">
              <a:solidFill>
                <a:srgbClr val="8CC121">
                  <a:lumMod val="50000"/>
                </a:srgbClr>
              </a:solidFill>
              <a:latin typeface="微软雅黑" panose="020B0503020204020204" charset="-122"/>
              <a:ea typeface="微软雅黑" panose="020B0503020204020204" charset="-122"/>
            </a:endParaRPr>
          </a:p>
        </p:txBody>
      </p:sp>
      <p:sp>
        <p:nvSpPr>
          <p:cNvPr id="48" name="文本框 47"/>
          <p:cNvSpPr txBox="1"/>
          <p:nvPr/>
        </p:nvSpPr>
        <p:spPr>
          <a:xfrm>
            <a:off x="2018665" y="2962910"/>
            <a:ext cx="4347210" cy="292735"/>
          </a:xfrm>
          <a:prstGeom prst="rect">
            <a:avLst/>
          </a:prstGeom>
          <a:noFill/>
        </p:spPr>
        <p:txBody>
          <a:bodyPr wrap="square" rtlCol="0" anchor="t">
            <a:noAutofit/>
          </a:bodyPr>
          <a:p>
            <a:pPr lvl="0" algn="ctr">
              <a:buClrTx/>
              <a:buSzTx/>
              <a:buFontTx/>
            </a:pPr>
            <a:r>
              <a:rPr kumimoji="1" lang="zh-CN" altLang="en-US" sz="1200" dirty="0">
                <a:solidFill>
                  <a:schemeClr val="tx1"/>
                </a:solidFill>
                <a:latin typeface="微软雅黑" panose="020B0503020204020204" charset="-122"/>
                <a:ea typeface="微软雅黑" panose="020B0503020204020204" charset="-122"/>
                <a:sym typeface="微软雅黑" panose="020B0503020204020204" charset="-122"/>
              </a:rPr>
              <a:t>服务编排及调度</a:t>
            </a:r>
            <a:r>
              <a:rPr kumimoji="1" lang="zh-CN" altLang="en-US" sz="1200" dirty="0">
                <a:solidFill>
                  <a:srgbClr val="0070BF">
                    <a:lumMod val="50000"/>
                  </a:srgbClr>
                </a:solidFill>
                <a:latin typeface="微软雅黑" panose="020B0503020204020204" charset="-122"/>
                <a:ea typeface="微软雅黑" panose="020B0503020204020204" charset="-122"/>
                <a:sym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sym typeface="微软雅黑" panose="020B0503020204020204" charset="-122"/>
              </a:rPr>
              <a:t>页面接口、页面组件、数据接口服务）</a:t>
            </a:r>
            <a:endParaRPr kumimoji="1" lang="en-US" altLang="zh-CN" sz="12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0" name="矩形 49"/>
          <p:cNvSpPr/>
          <p:nvPr/>
        </p:nvSpPr>
        <p:spPr>
          <a:xfrm>
            <a:off x="929640" y="2041525"/>
            <a:ext cx="648970" cy="594360"/>
          </a:xfrm>
          <a:prstGeom prst="rect">
            <a:avLst/>
          </a:prstGeom>
          <a:noFill/>
          <a:extLst>
            <a:ext uri="{909E8E84-426E-40DD-AFC4-6F175D3DCCD1}">
              <a14:hiddenFill xmlns:a14="http://schemas.microsoft.com/office/drawing/2010/main">
                <a:solidFill>
                  <a:srgbClr val="0070BF">
                    <a:lumMod val="20000"/>
                    <a:lumOff val="80000"/>
                    <a:alpha val="45000"/>
                  </a:srgbClr>
                </a:solidFill>
              </a14:hiddenFill>
            </a:ext>
          </a:extLst>
        </p:spPr>
        <p:txBody>
          <a:bodyPr wrap="square" lIns="72000" tIns="0" rIns="72000" bIns="0" rtlCol="0" anchor="ctr" anchorCtr="0">
            <a:noAutofit/>
          </a:bodyPr>
          <a:p>
            <a:pPr algn="ctr"/>
            <a:r>
              <a:rPr kumimoji="1" lang="zh-CN" altLang="en-US" sz="1200" b="1" dirty="0">
                <a:solidFill>
                  <a:srgbClr val="0070BF">
                    <a:lumMod val="50000"/>
                  </a:srgbClr>
                </a:solidFill>
                <a:latin typeface="微软雅黑" panose="020B0503020204020204" charset="-122"/>
                <a:ea typeface="微软雅黑" panose="020B0503020204020204" charset="-122"/>
              </a:rPr>
              <a:t>统一运营</a:t>
            </a:r>
            <a:r>
              <a:rPr kumimoji="1" lang="zh-CN" altLang="en-US" sz="1200" b="1" dirty="0">
                <a:solidFill>
                  <a:srgbClr val="0070BF">
                    <a:lumMod val="50000"/>
                  </a:srgbClr>
                </a:solidFill>
                <a:latin typeface="微软雅黑" panose="020B0503020204020204" charset="-122"/>
                <a:ea typeface="微软雅黑" panose="020B0503020204020204" charset="-122"/>
              </a:rPr>
              <a:t>门户</a:t>
            </a:r>
            <a:endParaRPr kumimoji="1" lang="zh-CN" altLang="en-US" sz="1200" b="1" dirty="0">
              <a:solidFill>
                <a:srgbClr val="0070BF">
                  <a:lumMod val="50000"/>
                </a:srgbClr>
              </a:solidFill>
              <a:latin typeface="微软雅黑" panose="020B0503020204020204" charset="-122"/>
              <a:ea typeface="微软雅黑" panose="020B0503020204020204" charset="-122"/>
            </a:endParaRPr>
          </a:p>
        </p:txBody>
      </p:sp>
      <p:sp>
        <p:nvSpPr>
          <p:cNvPr id="51" name="矩形 50"/>
          <p:cNvSpPr/>
          <p:nvPr/>
        </p:nvSpPr>
        <p:spPr>
          <a:xfrm>
            <a:off x="864235" y="3486150"/>
            <a:ext cx="6572885" cy="1284605"/>
          </a:xfrm>
          <a:prstGeom prst="rect">
            <a:avLst/>
          </a:prstGeom>
          <a:solidFill>
            <a:srgbClr val="E5F0F9">
              <a:alpha val="70000"/>
            </a:srgbClr>
          </a:solidFill>
        </p:spPr>
        <p:txBody>
          <a:bodyPr wrap="square" lIns="72000" tIns="0" rIns="72000" bIns="0" rtlCol="0" anchor="ctr" anchorCtr="0">
            <a:noAutofit/>
          </a:bodyPr>
          <a:p>
            <a:pPr algn="ctr"/>
            <a:endParaRPr kumimoji="1" lang="zh-CN" altLang="en-US" sz="1400" b="1" dirty="0">
              <a:solidFill>
                <a:srgbClr val="8CC121">
                  <a:lumMod val="50000"/>
                </a:srgbClr>
              </a:solidFill>
              <a:latin typeface="微软雅黑" panose="020B0503020204020204" charset="-122"/>
              <a:ea typeface="微软雅黑" panose="020B0503020204020204" charset="-122"/>
            </a:endParaRPr>
          </a:p>
        </p:txBody>
      </p:sp>
      <p:sp>
        <p:nvSpPr>
          <p:cNvPr id="52" name="矩形 51"/>
          <p:cNvSpPr/>
          <p:nvPr/>
        </p:nvSpPr>
        <p:spPr>
          <a:xfrm>
            <a:off x="1959610" y="6275705"/>
            <a:ext cx="5527675" cy="222250"/>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200">
                <a:solidFill>
                  <a:srgbClr val="000000"/>
                </a:solidFill>
                <a:latin typeface="微软雅黑" panose="020B0503020204020204" charset="-122"/>
                <a:ea typeface="微软雅黑" panose="020B0503020204020204" charset="-122"/>
                <a:sym typeface="微软雅黑" panose="020B0503020204020204" charset="-122"/>
              </a:rPr>
              <a:t>跨域家庭数据拉通</a:t>
            </a:r>
            <a:endParaRPr lang="zh-CN" altLang="en-US" sz="12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3" name="矩形 52"/>
          <p:cNvSpPr/>
          <p:nvPr/>
        </p:nvSpPr>
        <p:spPr>
          <a:xfrm>
            <a:off x="5949315" y="2360930"/>
            <a:ext cx="1043940" cy="342265"/>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运营总览</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4" name="矩形 53"/>
          <p:cNvSpPr/>
          <p:nvPr/>
        </p:nvSpPr>
        <p:spPr>
          <a:xfrm>
            <a:off x="7013575" y="2360930"/>
            <a:ext cx="259715" cy="342265"/>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20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12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1" name="矩形 80"/>
          <p:cNvSpPr/>
          <p:nvPr/>
        </p:nvSpPr>
        <p:spPr>
          <a:xfrm>
            <a:off x="441325" y="6291580"/>
            <a:ext cx="6995795" cy="265430"/>
          </a:xfrm>
          <a:prstGeom prst="rect">
            <a:avLst/>
          </a:prstGeom>
          <a:solidFill>
            <a:schemeClr val="bg2"/>
          </a:solidFill>
        </p:spPr>
        <p:txBody>
          <a:bodyPr wrap="square" lIns="72000" tIns="0" rIns="72000" bIns="0" rtlCol="0" anchor="ctr" anchorCtr="0">
            <a:noAutofit/>
          </a:bodyPr>
          <a:p>
            <a:pPr algn="ctr"/>
            <a:r>
              <a:rPr kumimoji="1" lang="zh-CN" altLang="en-US" sz="1200" dirty="0">
                <a:solidFill>
                  <a:srgbClr val="000000"/>
                </a:solidFill>
                <a:latin typeface="微软雅黑" panose="020B0503020204020204" charset="-122"/>
                <a:ea typeface="微软雅黑" panose="020B0503020204020204" charset="-122"/>
              </a:rPr>
              <a:t>统一技术底座（资源池，磐基、磐舟、磐维、聚智</a:t>
            </a:r>
            <a:r>
              <a:rPr kumimoji="1" lang="en-US" altLang="zh-CN" sz="1200" dirty="0">
                <a:solidFill>
                  <a:srgbClr val="000000"/>
                </a:solidFill>
                <a:latin typeface="微软雅黑" panose="020B0503020204020204" charset="-122"/>
                <a:ea typeface="微软雅黑" panose="020B0503020204020204" charset="-122"/>
              </a:rPr>
              <a:t>...</a:t>
            </a:r>
            <a:r>
              <a:rPr kumimoji="1" lang="zh-CN" altLang="en-US" sz="1200" dirty="0">
                <a:solidFill>
                  <a:srgbClr val="000000"/>
                </a:solidFill>
                <a:latin typeface="微软雅黑" panose="020B0503020204020204" charset="-122"/>
                <a:ea typeface="微软雅黑" panose="020B0503020204020204" charset="-122"/>
              </a:rPr>
              <a:t>）</a:t>
            </a:r>
            <a:endParaRPr kumimoji="1" lang="zh-CN" altLang="en-US" sz="1200" dirty="0">
              <a:solidFill>
                <a:srgbClr val="000000"/>
              </a:solidFill>
              <a:latin typeface="微软雅黑" panose="020B0503020204020204" charset="-122"/>
              <a:ea typeface="微软雅黑" panose="020B0503020204020204" charset="-122"/>
            </a:endParaRPr>
          </a:p>
        </p:txBody>
      </p:sp>
      <p:sp>
        <p:nvSpPr>
          <p:cNvPr id="82" name="矩形 81"/>
          <p:cNvSpPr/>
          <p:nvPr>
            <p:custDataLst>
              <p:tags r:id="rId7"/>
            </p:custDataLst>
          </p:nvPr>
        </p:nvSpPr>
        <p:spPr>
          <a:xfrm>
            <a:off x="441960" y="4947920"/>
            <a:ext cx="361950" cy="1248410"/>
          </a:xfrm>
          <a:prstGeom prst="rect">
            <a:avLst/>
          </a:prstGeom>
          <a:solidFill>
            <a:srgbClr val="4F81BD"/>
          </a:solidFill>
          <a:ln>
            <a:noFill/>
          </a:ln>
        </p:spPr>
        <p:style>
          <a:lnRef idx="2">
            <a:srgbClr val="0070BF">
              <a:shade val="15000"/>
            </a:srgbClr>
          </a:lnRef>
          <a:fillRef idx="1">
            <a:srgbClr val="0070BF"/>
          </a:fillRef>
          <a:effectRef idx="0">
            <a:srgbClr val="0070BF"/>
          </a:effectRef>
          <a:fontRef idx="minor">
            <a:srgbClr val="FFFFFF"/>
          </a:fontRef>
        </p:style>
        <p:txBody>
          <a:bodyPr rtlCol="0"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rPr>
              <a:t>数据层</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83" name="矩形 82"/>
          <p:cNvSpPr/>
          <p:nvPr/>
        </p:nvSpPr>
        <p:spPr>
          <a:xfrm>
            <a:off x="880110" y="4947920"/>
            <a:ext cx="6557010" cy="1250315"/>
          </a:xfrm>
          <a:prstGeom prst="rect">
            <a:avLst/>
          </a:prstGeom>
          <a:solidFill>
            <a:srgbClr val="E5F0F9">
              <a:alpha val="70000"/>
            </a:srgbClr>
          </a:solidFill>
        </p:spPr>
        <p:txBody>
          <a:bodyPr wrap="square" lIns="72000" tIns="0" rIns="72000" bIns="0" rtlCol="0" anchor="ctr" anchorCtr="0">
            <a:noAutofit/>
          </a:bodyPr>
          <a:p>
            <a:pPr algn="ctr"/>
            <a:endParaRPr kumimoji="1" lang="zh-CN" altLang="en-US" sz="1400" b="1" dirty="0">
              <a:solidFill>
                <a:srgbClr val="8CC121">
                  <a:lumMod val="50000"/>
                </a:srgbClr>
              </a:solidFill>
              <a:latin typeface="微软雅黑" panose="020B0503020204020204" charset="-122"/>
              <a:ea typeface="微软雅黑" panose="020B0503020204020204" charset="-122"/>
            </a:endParaRPr>
          </a:p>
        </p:txBody>
      </p:sp>
      <p:sp>
        <p:nvSpPr>
          <p:cNvPr id="84" name="矩形 83"/>
          <p:cNvSpPr/>
          <p:nvPr/>
        </p:nvSpPr>
        <p:spPr>
          <a:xfrm>
            <a:off x="4311015" y="5030470"/>
            <a:ext cx="2962275" cy="332740"/>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运营全景视图/基础视图</a:t>
            </a:r>
            <a:r>
              <a:rPr lang="en-US" altLang="zh-CN"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原子指标库</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客群细分/标签库/模型库...</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5" name="矩形 84"/>
          <p:cNvSpPr/>
          <p:nvPr/>
        </p:nvSpPr>
        <p:spPr>
          <a:xfrm>
            <a:off x="1193165" y="5502910"/>
            <a:ext cx="6080125" cy="596265"/>
          </a:xfrm>
          <a:prstGeom prst="rect">
            <a:avLst/>
          </a:prstGeom>
          <a:solidFill>
            <a:schemeClr val="bg2"/>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endParaRPr lang="zh-CN" altLang="en-US" sz="1200" b="1">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endParaRPr lang="zh-CN" altLang="en-US" sz="1200" b="1">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en-US" altLang="zh-CN" sz="1000">
                <a:solidFill>
                  <a:srgbClr val="000000"/>
                </a:solidFill>
                <a:latin typeface="微软雅黑" panose="020B0503020204020204" charset="-122"/>
                <a:ea typeface="微软雅黑" panose="020B0503020204020204" charset="-122"/>
                <a:sym typeface="微软雅黑" panose="020B0503020204020204" charset="-122"/>
              </a:rPr>
              <a:t>BOMS </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跨域数据拉通（统一数据标准</a:t>
            </a:r>
            <a:r>
              <a:rPr lang="zh-CN" altLang="en-US" sz="1000" b="1">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1000" b="1">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6" name="矩形 85"/>
          <p:cNvSpPr/>
          <p:nvPr/>
        </p:nvSpPr>
        <p:spPr>
          <a:xfrm>
            <a:off x="1703070" y="1981835"/>
            <a:ext cx="5570220" cy="301625"/>
          </a:xfrm>
          <a:prstGeom prst="rect">
            <a:avLst/>
          </a:prstGeom>
          <a:solidFill>
            <a:schemeClr val="bg1"/>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b="1">
                <a:solidFill>
                  <a:schemeClr val="tx2"/>
                </a:solidFill>
                <a:latin typeface="微软雅黑" panose="020B0503020204020204" charset="-122"/>
                <a:ea typeface="微软雅黑" panose="020B0503020204020204" charset="-122"/>
                <a:sym typeface="微软雅黑" panose="020B0503020204020204" charset="-122"/>
              </a:rPr>
              <a:t>统一运营入口</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（统一页面设计）</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8" name="矩形 87"/>
          <p:cNvSpPr/>
          <p:nvPr/>
        </p:nvSpPr>
        <p:spPr>
          <a:xfrm>
            <a:off x="2756535" y="2360930"/>
            <a:ext cx="1043940" cy="342265"/>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国际业务专区</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1" name="矩形 90"/>
          <p:cNvSpPr/>
          <p:nvPr/>
        </p:nvSpPr>
        <p:spPr>
          <a:xfrm>
            <a:off x="3820795" y="2360930"/>
            <a:ext cx="1043940" cy="342265"/>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家庭运营专区</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2" name="矩形 91"/>
          <p:cNvSpPr/>
          <p:nvPr/>
        </p:nvSpPr>
        <p:spPr>
          <a:xfrm>
            <a:off x="4885055" y="2360930"/>
            <a:ext cx="1043940" cy="342265"/>
          </a:xfrm>
          <a:prstGeom prst="rect">
            <a:avLst/>
          </a:prstGeom>
          <a:solidFill>
            <a:srgbClr val="FFFFFF"/>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产品运营</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3" name="圆柱形 92"/>
          <p:cNvSpPr/>
          <p:nvPr/>
        </p:nvSpPr>
        <p:spPr>
          <a:xfrm>
            <a:off x="1589405" y="5557520"/>
            <a:ext cx="1337945" cy="328930"/>
          </a:xfrm>
          <a:prstGeom prst="can">
            <a:avLst/>
          </a:prstGeom>
          <a:solidFill>
            <a:srgbClr val="FFFFFF"/>
          </a:solidFill>
          <a:ln w="9525">
            <a:solidFill>
              <a:srgbClr val="FFFFFF">
                <a:lumMod val="75000"/>
              </a:srgbClr>
            </a:solidFill>
          </a:ln>
        </p:spPr>
        <p:style>
          <a:lnRef idx="2">
            <a:srgbClr val="0070BF">
              <a:lumMod val="75000"/>
            </a:srgbClr>
          </a:lnRef>
          <a:fillRef idx="1">
            <a:srgbClr val="0070BF"/>
          </a:fillRef>
          <a:effectRef idx="0">
            <a:srgbClr val="FFFFFF"/>
          </a:effectRef>
          <a:fontRef idx="minor">
            <a:srgbClr val="FFFFFF"/>
          </a:fontRef>
        </p:style>
        <p:txBody>
          <a:bodyPr rtlCol="0" anchor="ctr"/>
          <a:p>
            <a:pPr algn="ctr"/>
            <a:r>
              <a:rPr lang="zh-CN" altLang="en-US" sz="1000">
                <a:ln>
                  <a:noFill/>
                </a:ln>
                <a:solidFill>
                  <a:srgbClr val="000000"/>
                </a:solidFill>
                <a:latin typeface="微软雅黑" panose="020B0503020204020204" charset="-122"/>
                <a:ea typeface="微软雅黑" panose="020B0503020204020204" charset="-122"/>
              </a:rPr>
              <a:t>梧桐大数据</a:t>
            </a:r>
            <a:endParaRPr lang="zh-CN" altLang="en-US" sz="1000">
              <a:ln>
                <a:noFill/>
              </a:ln>
              <a:solidFill>
                <a:srgbClr val="000000"/>
              </a:solidFill>
              <a:latin typeface="微软雅黑" panose="020B0503020204020204" charset="-122"/>
              <a:ea typeface="微软雅黑" panose="020B0503020204020204" charset="-122"/>
            </a:endParaRPr>
          </a:p>
        </p:txBody>
      </p:sp>
      <p:sp>
        <p:nvSpPr>
          <p:cNvPr id="94" name="圆柱形 93"/>
          <p:cNvSpPr/>
          <p:nvPr/>
        </p:nvSpPr>
        <p:spPr>
          <a:xfrm>
            <a:off x="3568700" y="5557520"/>
            <a:ext cx="1337945" cy="328930"/>
          </a:xfrm>
          <a:prstGeom prst="can">
            <a:avLst/>
          </a:prstGeom>
          <a:solidFill>
            <a:srgbClr val="FFFFFF"/>
          </a:solidFill>
          <a:ln w="9525">
            <a:solidFill>
              <a:srgbClr val="FFFFFF">
                <a:lumMod val="75000"/>
              </a:srgbClr>
            </a:solidFill>
          </a:ln>
        </p:spPr>
        <p:style>
          <a:lnRef idx="2">
            <a:srgbClr val="0070BF">
              <a:lumMod val="75000"/>
            </a:srgbClr>
          </a:lnRef>
          <a:fillRef idx="1">
            <a:srgbClr val="0070BF"/>
          </a:fillRef>
          <a:effectRef idx="0">
            <a:srgbClr val="FFFFFF"/>
          </a:effectRef>
          <a:fontRef idx="minor">
            <a:srgbClr val="FFFFFF"/>
          </a:fontRef>
        </p:style>
        <p:txBody>
          <a:bodyPr rtlCol="0" anchor="ctr"/>
          <a:p>
            <a:pPr algn="ctr"/>
            <a:r>
              <a:rPr lang="zh-CN" altLang="en-US" sz="1000">
                <a:ln>
                  <a:noFill/>
                </a:ln>
                <a:solidFill>
                  <a:srgbClr val="000000"/>
                </a:solidFill>
                <a:latin typeface="微软雅黑" panose="020B0503020204020204" charset="-122"/>
                <a:ea typeface="微软雅黑" panose="020B0503020204020204" charset="-122"/>
              </a:rPr>
              <a:t>生产实时数据</a:t>
            </a:r>
            <a:endParaRPr lang="zh-CN" altLang="en-US" sz="1000">
              <a:ln>
                <a:noFill/>
              </a:ln>
              <a:solidFill>
                <a:srgbClr val="000000"/>
              </a:solidFill>
              <a:latin typeface="微软雅黑" panose="020B0503020204020204" charset="-122"/>
              <a:ea typeface="微软雅黑" panose="020B0503020204020204" charset="-122"/>
            </a:endParaRPr>
          </a:p>
        </p:txBody>
      </p:sp>
      <p:sp>
        <p:nvSpPr>
          <p:cNvPr id="95" name="圆柱形 94"/>
          <p:cNvSpPr/>
          <p:nvPr/>
        </p:nvSpPr>
        <p:spPr>
          <a:xfrm>
            <a:off x="5512435" y="5557520"/>
            <a:ext cx="1337945" cy="328930"/>
          </a:xfrm>
          <a:prstGeom prst="can">
            <a:avLst/>
          </a:prstGeom>
          <a:solidFill>
            <a:srgbClr val="FFFFFF"/>
          </a:solidFill>
          <a:ln w="9525">
            <a:solidFill>
              <a:srgbClr val="FFFFFF">
                <a:lumMod val="75000"/>
              </a:srgbClr>
            </a:solidFill>
          </a:ln>
        </p:spPr>
        <p:style>
          <a:lnRef idx="2">
            <a:srgbClr val="0070BF">
              <a:lumMod val="75000"/>
            </a:srgbClr>
          </a:lnRef>
          <a:fillRef idx="1">
            <a:srgbClr val="0070BF"/>
          </a:fillRef>
          <a:effectRef idx="0">
            <a:srgbClr val="FFFFFF"/>
          </a:effectRef>
          <a:fontRef idx="minor">
            <a:srgbClr val="FFFFFF"/>
          </a:fontRef>
        </p:style>
        <p:txBody>
          <a:bodyPr rtlCol="0" anchor="ctr"/>
          <a:p>
            <a:pPr algn="ctr"/>
            <a:r>
              <a:rPr lang="zh-CN" altLang="en-US" sz="1000">
                <a:ln>
                  <a:noFill/>
                </a:ln>
                <a:solidFill>
                  <a:srgbClr val="000000"/>
                </a:solidFill>
                <a:latin typeface="微软雅黑" panose="020B0503020204020204" charset="-122"/>
                <a:ea typeface="微软雅黑" panose="020B0503020204020204" charset="-122"/>
              </a:rPr>
              <a:t>上下数据模型贯通</a:t>
            </a:r>
            <a:endParaRPr lang="zh-CN" altLang="en-US" sz="1000">
              <a:ln>
                <a:noFill/>
              </a:ln>
              <a:solidFill>
                <a:srgbClr val="000000"/>
              </a:solidFill>
              <a:latin typeface="微软雅黑" panose="020B0503020204020204" charset="-122"/>
              <a:ea typeface="微软雅黑" panose="020B0503020204020204" charset="-122"/>
            </a:endParaRPr>
          </a:p>
        </p:txBody>
      </p:sp>
      <p:sp>
        <p:nvSpPr>
          <p:cNvPr id="96" name="矩形 95"/>
          <p:cNvSpPr/>
          <p:nvPr/>
        </p:nvSpPr>
        <p:spPr>
          <a:xfrm>
            <a:off x="929640" y="3884930"/>
            <a:ext cx="648970" cy="594360"/>
          </a:xfrm>
          <a:prstGeom prst="rect">
            <a:avLst/>
          </a:prstGeom>
          <a:noFill/>
          <a:extLst>
            <a:ext uri="{909E8E84-426E-40DD-AFC4-6F175D3DCCD1}">
              <a14:hiddenFill xmlns:a14="http://schemas.microsoft.com/office/drawing/2010/main">
                <a:solidFill>
                  <a:srgbClr val="0070BF">
                    <a:lumMod val="20000"/>
                    <a:lumOff val="80000"/>
                    <a:alpha val="45000"/>
                  </a:srgbClr>
                </a:solidFill>
              </a14:hiddenFill>
            </a:ext>
          </a:extLst>
        </p:spPr>
        <p:txBody>
          <a:bodyPr wrap="square" lIns="72000" tIns="0" rIns="72000" bIns="0" rtlCol="0" anchor="ctr" anchorCtr="0">
            <a:noAutofit/>
          </a:bodyPr>
          <a:p>
            <a:pPr algn="ctr"/>
            <a:r>
              <a:rPr kumimoji="1" lang="zh-CN" altLang="en-US" sz="1200" b="1" dirty="0">
                <a:solidFill>
                  <a:srgbClr val="0070BF">
                    <a:lumMod val="50000"/>
                  </a:srgbClr>
                </a:solidFill>
                <a:latin typeface="微软雅黑" panose="020B0503020204020204" charset="-122"/>
                <a:ea typeface="微软雅黑" panose="020B0503020204020204" charset="-122"/>
              </a:rPr>
              <a:t>端到端</a:t>
            </a:r>
            <a:r>
              <a:rPr kumimoji="1" lang="zh-CN" altLang="en-US" sz="1200" b="1" dirty="0">
                <a:solidFill>
                  <a:srgbClr val="0070BF">
                    <a:lumMod val="50000"/>
                  </a:srgbClr>
                </a:solidFill>
                <a:latin typeface="微软雅黑" panose="020B0503020204020204" charset="-122"/>
                <a:ea typeface="微软雅黑" panose="020B0503020204020204" charset="-122"/>
              </a:rPr>
              <a:t>客户运营</a:t>
            </a:r>
            <a:endParaRPr kumimoji="1" lang="zh-CN" altLang="en-US" sz="1200" b="1" dirty="0">
              <a:solidFill>
                <a:srgbClr val="0070BF">
                  <a:lumMod val="50000"/>
                </a:srgbClr>
              </a:solidFill>
              <a:latin typeface="微软雅黑" panose="020B0503020204020204" charset="-122"/>
              <a:ea typeface="微软雅黑" panose="020B0503020204020204" charset="-122"/>
            </a:endParaRPr>
          </a:p>
        </p:txBody>
      </p:sp>
      <p:sp>
        <p:nvSpPr>
          <p:cNvPr id="102" name="矩形 101"/>
          <p:cNvSpPr/>
          <p:nvPr/>
        </p:nvSpPr>
        <p:spPr>
          <a:xfrm>
            <a:off x="1748155" y="4355465"/>
            <a:ext cx="5525135" cy="300990"/>
          </a:xfrm>
          <a:prstGeom prst="rect">
            <a:avLst/>
          </a:prstGeom>
          <a:solidFill>
            <a:schemeClr val="bg1"/>
          </a:solidFill>
          <a:ln>
            <a:noFill/>
          </a:ln>
        </p:spPr>
        <p:style>
          <a:lnRef idx="2">
            <a:srgbClr val="0070BF">
              <a:shade val="50000"/>
            </a:srgbClr>
          </a:lnRef>
          <a:fillRef idx="1">
            <a:srgbClr val="0070BF"/>
          </a:fillRef>
          <a:effectRef idx="0">
            <a:srgbClr val="0070BF"/>
          </a:effectRef>
          <a:fontRef idx="minor">
            <a:srgbClr val="FFFFFF"/>
          </a:fontRef>
        </p:style>
        <p:txBody>
          <a:bodyPr vertOverflow="overflow" horzOverflow="overflow" vert="horz" wrap="none" lIns="91440" tIns="45720" rIns="91440" bIns="45720"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统一运营流程（调度、流程管理等）</a:t>
            </a:r>
            <a:r>
              <a:rPr lang="en-US" altLang="zh-CN"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统一技术规范（前</a:t>
            </a:r>
            <a:r>
              <a:rPr lang="en-US" altLang="zh-CN"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后端）</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7" name="梯形 106"/>
          <p:cNvSpPr/>
          <p:nvPr/>
        </p:nvSpPr>
        <p:spPr>
          <a:xfrm>
            <a:off x="1686560" y="4128770"/>
            <a:ext cx="5507990" cy="213360"/>
          </a:xfrm>
          <a:prstGeom prst="trapezoid">
            <a:avLst>
              <a:gd name="adj" fmla="val 166369"/>
            </a:avLst>
          </a:prstGeom>
          <a:solidFill>
            <a:srgbClr val="DFEBFF"/>
          </a:solidFill>
          <a:ln>
            <a:noFill/>
          </a:ln>
        </p:spPr>
        <p:style>
          <a:lnRef idx="2">
            <a:srgbClr val="0070BF">
              <a:lumMod val="75000"/>
            </a:srgbClr>
          </a:lnRef>
          <a:fillRef idx="1">
            <a:srgbClr val="0070BF"/>
          </a:fillRef>
          <a:effectRef idx="0">
            <a:srgbClr val="FFFFFF"/>
          </a:effectRef>
          <a:fontRef idx="minor">
            <a:srgbClr val="FFFFFF"/>
          </a:fontRef>
        </p:style>
        <p:txBody>
          <a:bodyPr rtlCol="0" anchor="ctr"/>
          <a:p>
            <a:pPr algn="ctr"/>
            <a:r>
              <a:rPr lang="zh-CN" altLang="en-US" sz="1000">
                <a:solidFill>
                  <a:schemeClr val="tx2"/>
                </a:solidFill>
                <a:latin typeface="微软雅黑" panose="020B0503020204020204" charset="-122"/>
                <a:ea typeface="微软雅黑" panose="020B0503020204020204" charset="-122"/>
              </a:rPr>
              <a:t>全生命周期智慧大脑（统一标签、触点、营销平台化能力支撑</a:t>
            </a:r>
            <a:r>
              <a:rPr lang="en-US" altLang="zh-CN" sz="1000">
                <a:solidFill>
                  <a:schemeClr val="tx2"/>
                </a:solidFill>
                <a:latin typeface="微软雅黑" panose="020B0503020204020204" charset="-122"/>
                <a:ea typeface="微软雅黑" panose="020B0503020204020204" charset="-122"/>
              </a:rPr>
              <a:t>......</a:t>
            </a:r>
            <a:r>
              <a:rPr lang="zh-CN" altLang="en-US" sz="1000">
                <a:solidFill>
                  <a:schemeClr val="tx2"/>
                </a:solidFill>
                <a:latin typeface="微软雅黑" panose="020B0503020204020204" charset="-122"/>
                <a:ea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endParaRPr>
          </a:p>
        </p:txBody>
      </p:sp>
      <p:sp>
        <p:nvSpPr>
          <p:cNvPr id="23" name="矩形 22"/>
          <p:cNvSpPr/>
          <p:nvPr/>
        </p:nvSpPr>
        <p:spPr>
          <a:xfrm>
            <a:off x="1692275" y="2360930"/>
            <a:ext cx="1043940" cy="343535"/>
          </a:xfrm>
          <a:prstGeom prst="rect">
            <a:avLst/>
          </a:prstGeom>
          <a:solidFill>
            <a:schemeClr val="accent2">
              <a:lumMod val="20000"/>
              <a:lumOff val="80000"/>
            </a:schemeClr>
          </a:solidFill>
          <a:ln w="9525">
            <a:noFill/>
          </a:ln>
        </p:spPr>
        <p:style>
          <a:lnRef idx="2">
            <a:srgbClr val="0070BF">
              <a:shade val="15000"/>
            </a:srgbClr>
          </a:lnRef>
          <a:fillRef idx="1">
            <a:srgbClr val="0070BF"/>
          </a:fillRef>
          <a:effectRef idx="0">
            <a:srgbClr val="0070BF"/>
          </a:effectRef>
          <a:fontRef idx="minor">
            <a:srgbClr val="FFFFFF"/>
          </a:fontRef>
        </p:style>
        <p:txBody>
          <a:bodyPr rtlCol="0" anchor="ctr" anchorCtr="0"/>
          <a:p>
            <a:pPr lvl="0" algn="ctr">
              <a:buClrTx/>
              <a:buSzTx/>
              <a:buFontTx/>
            </a:pPr>
            <a:r>
              <a:rPr lang="zh-CN" sz="1000">
                <a:solidFill>
                  <a:srgbClr val="000000"/>
                </a:solidFill>
                <a:latin typeface="微软雅黑" panose="020B0503020204020204" charset="-122"/>
                <a:ea typeface="微软雅黑" panose="020B0503020204020204" charset="-122"/>
                <a:sym typeface="微软雅黑" panose="020B0503020204020204" charset="-122"/>
              </a:rPr>
              <a:t>存量运营专区</a:t>
            </a:r>
            <a:endParaRPr kumimoji="1" lang="zh-CN"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7" name="矩形 26"/>
          <p:cNvSpPr/>
          <p:nvPr/>
        </p:nvSpPr>
        <p:spPr>
          <a:xfrm>
            <a:off x="1186815" y="5030470"/>
            <a:ext cx="2807970" cy="343535"/>
          </a:xfrm>
          <a:prstGeom prst="rect">
            <a:avLst/>
          </a:prstGeom>
          <a:solidFill>
            <a:srgbClr val="FFFFFF"/>
          </a:solidFill>
          <a:ln w="9525">
            <a:noFill/>
          </a:ln>
        </p:spPr>
        <p:style>
          <a:lnRef idx="2">
            <a:srgbClr val="0070BF">
              <a:shade val="15000"/>
            </a:srgbClr>
          </a:lnRef>
          <a:fillRef idx="1">
            <a:srgbClr val="0070BF"/>
          </a:fillRef>
          <a:effectRef idx="0">
            <a:srgbClr val="0070BF"/>
          </a:effectRef>
          <a:fontRef idx="minor">
            <a:srgbClr val="FFFFFF"/>
          </a:fontRef>
        </p:style>
        <p:txBody>
          <a:bodyPr rtlCol="0" anchor="ctr" anchorCtr="0"/>
          <a:p>
            <a:pPr lvl="0" algn="ctr">
              <a:buClrTx/>
              <a:buSzTx/>
              <a:buFontTx/>
            </a:pPr>
            <a:r>
              <a:rPr lang="zh-CN" sz="1000">
                <a:solidFill>
                  <a:srgbClr val="000000"/>
                </a:solidFill>
                <a:latin typeface="微软雅黑" panose="020B0503020204020204" charset="-122"/>
                <a:ea typeface="微软雅黑" panose="020B0503020204020204" charset="-122"/>
                <a:sym typeface="微软雅黑" panose="020B0503020204020204" charset="-122"/>
              </a:rPr>
              <a:t>存量运营指标主视图</a:t>
            </a:r>
            <a:endParaRPr kumimoji="1" lang="zh-CN"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4" name="文本框 13"/>
          <p:cNvSpPr txBox="1"/>
          <p:nvPr/>
        </p:nvSpPr>
        <p:spPr>
          <a:xfrm>
            <a:off x="803275" y="1969770"/>
            <a:ext cx="509905" cy="477520"/>
          </a:xfrm>
          <a:prstGeom prst="rect">
            <a:avLst/>
          </a:prstGeom>
          <a:noFill/>
        </p:spPr>
        <p:txBody>
          <a:bodyPr wrap="none" rtlCol="0" anchor="t">
            <a:noAutofit/>
          </a:bodyPr>
          <a:p>
            <a:r>
              <a:rPr lang="en-US" altLang="zh-CN" b="1" u="sng">
                <a:solidFill>
                  <a:srgbClr val="C00000"/>
                </a:solidFill>
                <a:effectLst>
                  <a:outerShdw blurRad="38100" dist="38100" dir="2700000" algn="tl">
                    <a:srgbClr val="000000">
                      <a:alpha val="43137"/>
                    </a:srgbClr>
                  </a:outerShdw>
                </a:effectLst>
                <a:latin typeface="Calibri" panose="020F0502020204030204" charset="0"/>
              </a:rPr>
              <a:t>1</a:t>
            </a:r>
            <a:endParaRPr lang="en-US" altLang="zh-CN" b="1" u="sng">
              <a:solidFill>
                <a:srgbClr val="C00000"/>
              </a:solidFill>
              <a:effectLst>
                <a:outerShdw blurRad="38100" dist="38100" dir="2700000" algn="tl">
                  <a:srgbClr val="000000">
                    <a:alpha val="43137"/>
                  </a:srgbClr>
                </a:outerShdw>
              </a:effectLst>
              <a:latin typeface="Calibri" panose="020F0502020204030204" charset="0"/>
            </a:endParaRPr>
          </a:p>
        </p:txBody>
      </p:sp>
      <p:sp>
        <p:nvSpPr>
          <p:cNvPr id="193" name="矩形 192"/>
          <p:cNvSpPr/>
          <p:nvPr/>
        </p:nvSpPr>
        <p:spPr>
          <a:xfrm>
            <a:off x="1746250" y="3580765"/>
            <a:ext cx="1003300" cy="499110"/>
          </a:xfrm>
          <a:prstGeom prst="rect">
            <a:avLst/>
          </a:prstGeom>
          <a:solidFill>
            <a:srgbClr val="FFFFFF"/>
          </a:solidFill>
          <a:ln w="9525">
            <a:noFill/>
          </a:ln>
        </p:spPr>
        <p:style>
          <a:lnRef idx="2">
            <a:srgbClr val="0070BF">
              <a:shade val="15000"/>
            </a:srgbClr>
          </a:lnRef>
          <a:fillRef idx="1">
            <a:srgbClr val="0070BF"/>
          </a:fillRef>
          <a:effectRef idx="0">
            <a:srgbClr val="0070BF"/>
          </a:effectRef>
          <a:fontRef idx="minor">
            <a:srgbClr val="FFFFFF"/>
          </a:fontRef>
        </p:style>
        <p:txBody>
          <a:bodyPr rtlCol="0" anchor="ctr" anchorCtr="0"/>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看数洞察</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【趋势</a:t>
            </a:r>
            <a:r>
              <a:rPr lang="en-US" altLang="zh-CN"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需求】</a:t>
            </a:r>
            <a:endParaRPr kumimoji="1"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矩形 7"/>
          <p:cNvSpPr/>
          <p:nvPr/>
        </p:nvSpPr>
        <p:spPr>
          <a:xfrm>
            <a:off x="2879090" y="3580765"/>
            <a:ext cx="1003935" cy="499110"/>
          </a:xfrm>
          <a:prstGeom prst="rect">
            <a:avLst/>
          </a:prstGeom>
          <a:solidFill>
            <a:srgbClr val="FFFFFF"/>
          </a:solidFill>
          <a:ln w="9525">
            <a:noFill/>
          </a:ln>
        </p:spPr>
        <p:style>
          <a:lnRef idx="2">
            <a:srgbClr val="0070BF">
              <a:shade val="15000"/>
            </a:srgbClr>
          </a:lnRef>
          <a:fillRef idx="1">
            <a:srgbClr val="0070BF"/>
          </a:fillRef>
          <a:effectRef idx="0">
            <a:srgbClr val="0070B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策略分析</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【促活</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增值】</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nvSpPr>
        <p:spPr>
          <a:xfrm>
            <a:off x="4011930" y="3580765"/>
            <a:ext cx="1003935" cy="499110"/>
          </a:xfrm>
          <a:prstGeom prst="rect">
            <a:avLst/>
          </a:prstGeom>
          <a:solidFill>
            <a:srgbClr val="FFFFFF"/>
          </a:solidFill>
          <a:ln w="9525">
            <a:noFill/>
          </a:ln>
        </p:spPr>
        <p:style>
          <a:lnRef idx="2">
            <a:srgbClr val="0070BF">
              <a:shade val="15000"/>
            </a:srgbClr>
          </a:lnRef>
          <a:fillRef idx="1">
            <a:srgbClr val="0070BF"/>
          </a:fillRef>
          <a:effectRef idx="0">
            <a:srgbClr val="0070B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执行调度</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【营销</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协同】</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矩形 18"/>
          <p:cNvSpPr/>
          <p:nvPr/>
        </p:nvSpPr>
        <p:spPr>
          <a:xfrm>
            <a:off x="5145405" y="3580765"/>
            <a:ext cx="1003935" cy="499110"/>
          </a:xfrm>
          <a:prstGeom prst="rect">
            <a:avLst/>
          </a:prstGeom>
          <a:solidFill>
            <a:srgbClr val="FFFFFF"/>
          </a:solidFill>
          <a:ln w="9525">
            <a:noFill/>
          </a:ln>
        </p:spPr>
        <p:style>
          <a:lnRef idx="2">
            <a:srgbClr val="0070BF">
              <a:shade val="15000"/>
            </a:srgbClr>
          </a:lnRef>
          <a:fillRef idx="1">
            <a:srgbClr val="0070BF"/>
          </a:fillRef>
          <a:effectRef idx="0">
            <a:srgbClr val="0070B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效果评估</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【过程</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结果】</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5" name="文本框 14"/>
          <p:cNvSpPr txBox="1"/>
          <p:nvPr/>
        </p:nvSpPr>
        <p:spPr>
          <a:xfrm>
            <a:off x="1740535" y="3486785"/>
            <a:ext cx="406400" cy="477520"/>
          </a:xfrm>
          <a:prstGeom prst="rect">
            <a:avLst/>
          </a:prstGeom>
          <a:noFill/>
        </p:spPr>
        <p:txBody>
          <a:bodyPr wrap="none" rtlCol="0" anchor="t">
            <a:noAutofit/>
          </a:bodyPr>
          <a:p>
            <a:r>
              <a:rPr lang="en-US" altLang="zh-CN" b="1" u="sng">
                <a:solidFill>
                  <a:srgbClr val="C00000"/>
                </a:solidFill>
                <a:effectLst>
                  <a:outerShdw blurRad="38100" dist="38100" dir="2700000" algn="tl">
                    <a:srgbClr val="000000">
                      <a:alpha val="43137"/>
                    </a:srgbClr>
                  </a:outerShdw>
                </a:effectLst>
                <a:latin typeface="Calibri" panose="020F0502020204030204" charset="0"/>
              </a:rPr>
              <a:t>2</a:t>
            </a:r>
            <a:endParaRPr lang="en-US" altLang="zh-CN" b="1" u="sng">
              <a:solidFill>
                <a:srgbClr val="C00000"/>
              </a:solidFill>
              <a:effectLst>
                <a:outerShdw blurRad="38100" dist="38100" dir="2700000" algn="tl">
                  <a:srgbClr val="000000">
                    <a:alpha val="43137"/>
                  </a:srgbClr>
                </a:outerShdw>
              </a:effectLst>
              <a:latin typeface="Calibri" panose="020F0502020204030204" charset="0"/>
            </a:endParaRPr>
          </a:p>
        </p:txBody>
      </p:sp>
      <p:sp>
        <p:nvSpPr>
          <p:cNvPr id="17" name="文本框 16"/>
          <p:cNvSpPr txBox="1"/>
          <p:nvPr/>
        </p:nvSpPr>
        <p:spPr>
          <a:xfrm>
            <a:off x="2820035" y="3486785"/>
            <a:ext cx="406400" cy="477520"/>
          </a:xfrm>
          <a:prstGeom prst="rect">
            <a:avLst/>
          </a:prstGeom>
          <a:noFill/>
        </p:spPr>
        <p:txBody>
          <a:bodyPr wrap="none" rtlCol="0" anchor="t">
            <a:noAutofit/>
          </a:bodyPr>
          <a:p>
            <a:r>
              <a:rPr lang="en-US" altLang="zh-CN" b="1" u="sng">
                <a:solidFill>
                  <a:srgbClr val="C00000"/>
                </a:solidFill>
                <a:effectLst>
                  <a:outerShdw blurRad="38100" dist="38100" dir="2700000" algn="tl">
                    <a:srgbClr val="000000">
                      <a:alpha val="43137"/>
                    </a:srgbClr>
                  </a:outerShdw>
                </a:effectLst>
                <a:latin typeface="Calibri" panose="020F0502020204030204" charset="0"/>
              </a:rPr>
              <a:t>3</a:t>
            </a:r>
            <a:endParaRPr lang="en-US" altLang="zh-CN" b="1" u="sng">
              <a:solidFill>
                <a:srgbClr val="C00000"/>
              </a:solidFill>
              <a:effectLst>
                <a:outerShdw blurRad="38100" dist="38100" dir="2700000" algn="tl">
                  <a:srgbClr val="000000">
                    <a:alpha val="43137"/>
                  </a:srgbClr>
                </a:outerShdw>
              </a:effectLst>
              <a:latin typeface="Calibri" panose="020F0502020204030204" charset="0"/>
            </a:endParaRPr>
          </a:p>
        </p:txBody>
      </p:sp>
      <p:sp>
        <p:nvSpPr>
          <p:cNvPr id="25" name="文本框 24"/>
          <p:cNvSpPr txBox="1"/>
          <p:nvPr/>
        </p:nvSpPr>
        <p:spPr>
          <a:xfrm>
            <a:off x="3965575" y="3486785"/>
            <a:ext cx="406400" cy="477520"/>
          </a:xfrm>
          <a:prstGeom prst="rect">
            <a:avLst/>
          </a:prstGeom>
          <a:noFill/>
        </p:spPr>
        <p:txBody>
          <a:bodyPr wrap="none" rtlCol="0" anchor="t">
            <a:noAutofit/>
          </a:bodyPr>
          <a:p>
            <a:r>
              <a:rPr lang="en-US" altLang="zh-CN" b="1" u="sng">
                <a:solidFill>
                  <a:srgbClr val="C00000"/>
                </a:solidFill>
                <a:effectLst>
                  <a:outerShdw blurRad="38100" dist="38100" dir="2700000" algn="tl">
                    <a:srgbClr val="000000">
                      <a:alpha val="43137"/>
                    </a:srgbClr>
                  </a:outerShdw>
                </a:effectLst>
                <a:latin typeface="Calibri" panose="020F0502020204030204" charset="0"/>
                <a:cs typeface="Arial" panose="020B0604020202020204" pitchFamily="34" charset="0"/>
              </a:rPr>
              <a:t>4</a:t>
            </a:r>
            <a:endParaRPr lang="en-US" altLang="zh-CN" b="1" u="sng">
              <a:solidFill>
                <a:srgbClr val="C00000"/>
              </a:solidFill>
              <a:effectLst>
                <a:outerShdw blurRad="38100" dist="38100" dir="2700000" algn="tl">
                  <a:srgbClr val="000000">
                    <a:alpha val="43137"/>
                  </a:srgbClr>
                </a:outerShdw>
              </a:effectLst>
              <a:latin typeface="Calibri" panose="020F0502020204030204" charset="0"/>
              <a:cs typeface="Arial" panose="020B0604020202020204" pitchFamily="34" charset="0"/>
            </a:endParaRPr>
          </a:p>
        </p:txBody>
      </p:sp>
      <p:sp>
        <p:nvSpPr>
          <p:cNvPr id="29" name="文本框 28"/>
          <p:cNvSpPr txBox="1"/>
          <p:nvPr/>
        </p:nvSpPr>
        <p:spPr>
          <a:xfrm>
            <a:off x="5110480" y="3486785"/>
            <a:ext cx="406400" cy="477520"/>
          </a:xfrm>
          <a:prstGeom prst="rect">
            <a:avLst/>
          </a:prstGeom>
          <a:noFill/>
        </p:spPr>
        <p:txBody>
          <a:bodyPr wrap="none" rtlCol="0" anchor="t">
            <a:noAutofit/>
          </a:bodyPr>
          <a:p>
            <a:r>
              <a:rPr lang="en-US" altLang="zh-CN" b="1" u="sng">
                <a:solidFill>
                  <a:srgbClr val="C00000"/>
                </a:solidFill>
                <a:effectLst>
                  <a:outerShdw blurRad="38100" dist="38100" dir="2700000" algn="tl">
                    <a:srgbClr val="000000">
                      <a:alpha val="43137"/>
                    </a:srgbClr>
                  </a:outerShdw>
                </a:effectLst>
                <a:latin typeface="Calibri" panose="020F0502020204030204" charset="0"/>
              </a:rPr>
              <a:t>5</a:t>
            </a:r>
            <a:endParaRPr lang="en-US" altLang="zh-CN" b="1" u="sng">
              <a:solidFill>
                <a:srgbClr val="C00000"/>
              </a:solidFill>
              <a:effectLst>
                <a:outerShdw blurRad="38100" dist="38100" dir="2700000" algn="tl">
                  <a:srgbClr val="000000">
                    <a:alpha val="43137"/>
                  </a:srgbClr>
                </a:outerShdw>
              </a:effectLst>
              <a:latin typeface="Calibri" panose="020F0502020204030204" charset="0"/>
            </a:endParaRPr>
          </a:p>
        </p:txBody>
      </p:sp>
      <p:sp>
        <p:nvSpPr>
          <p:cNvPr id="5" name="矩形 4"/>
          <p:cNvSpPr/>
          <p:nvPr/>
        </p:nvSpPr>
        <p:spPr>
          <a:xfrm>
            <a:off x="6362065" y="3580765"/>
            <a:ext cx="1003935" cy="499110"/>
          </a:xfrm>
          <a:prstGeom prst="rect">
            <a:avLst/>
          </a:prstGeom>
          <a:solidFill>
            <a:srgbClr val="FFFFFF"/>
          </a:solidFill>
          <a:ln w="9525">
            <a:noFill/>
          </a:ln>
        </p:spPr>
        <p:style>
          <a:lnRef idx="2">
            <a:srgbClr val="0070BF">
              <a:shade val="15000"/>
            </a:srgbClr>
          </a:lnRef>
          <a:fillRef idx="1">
            <a:srgbClr val="0070BF"/>
          </a:fillRef>
          <a:effectRef idx="0">
            <a:srgbClr val="0070B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流失</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预警</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a:p>
            <a:pPr lvl="0" algn="ctr">
              <a:buClrTx/>
              <a:buSzTx/>
              <a:buFontTx/>
            </a:pPr>
            <a:r>
              <a:rPr lang="zh-CN" altLang="en-US" sz="1000">
                <a:solidFill>
                  <a:srgbClr val="000000"/>
                </a:solidFill>
                <a:latin typeface="微软雅黑" panose="020B0503020204020204" charset="-122"/>
                <a:ea typeface="微软雅黑" panose="020B0503020204020204" charset="-122"/>
                <a:sym typeface="微软雅黑" panose="020B0503020204020204" charset="-122"/>
              </a:rPr>
              <a:t>【问题+</a:t>
            </a:r>
            <a:r>
              <a:rPr lang="zh-CN" altLang="en-US" sz="1000">
                <a:solidFill>
                  <a:srgbClr val="000000"/>
                </a:solidFill>
                <a:latin typeface="微软雅黑" panose="020B0503020204020204" charset="-122"/>
                <a:ea typeface="微软雅黑" panose="020B0503020204020204" charset="-122"/>
                <a:sym typeface="微软雅黑" panose="020B0503020204020204" charset="-122"/>
              </a:rPr>
              <a:t>分析】</a:t>
            </a:r>
            <a:endParaRPr lang="zh-CN" altLang="en-US" sz="10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28"/>
          <p:cNvSpPr txBox="1"/>
          <p:nvPr/>
        </p:nvSpPr>
        <p:spPr>
          <a:xfrm>
            <a:off x="6327775" y="3486785"/>
            <a:ext cx="406400" cy="477520"/>
          </a:xfrm>
          <a:prstGeom prst="rect">
            <a:avLst/>
          </a:prstGeom>
          <a:noFill/>
        </p:spPr>
        <p:txBody>
          <a:bodyPr wrap="none" rtlCol="0" anchor="t">
            <a:noAutofit/>
          </a:bodyPr>
          <a:p>
            <a:r>
              <a:rPr lang="en-US" altLang="zh-CN" b="1" u="sng">
                <a:solidFill>
                  <a:srgbClr val="C00000"/>
                </a:solidFill>
                <a:effectLst>
                  <a:outerShdw blurRad="38100" dist="38100" dir="2700000" algn="tl">
                    <a:srgbClr val="000000">
                      <a:alpha val="43137"/>
                    </a:srgbClr>
                  </a:outerShdw>
                </a:effectLst>
                <a:latin typeface="Calibri" panose="020F0502020204030204" charset="0"/>
              </a:rPr>
              <a:t>6</a:t>
            </a:r>
            <a:endParaRPr lang="en-US" altLang="zh-CN" b="1" u="sng">
              <a:solidFill>
                <a:srgbClr val="C00000"/>
              </a:solidFill>
              <a:effectLst>
                <a:outerShdw blurRad="38100" dist="38100" dir="2700000" algn="tl">
                  <a:srgbClr val="000000">
                    <a:alpha val="43137"/>
                  </a:srgbClr>
                </a:outerShdw>
              </a:effectLst>
              <a:latin typeface="Calibri" panose="020F0502020204030204" charset="0"/>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6</a:t>
            </a:r>
            <a:r>
              <a:rPr lang="zh-CN" altLang="en-US">
                <a:sym typeface="+mn-ea"/>
              </a:rPr>
              <a:t>：数智运营</a:t>
            </a:r>
            <a:r>
              <a:rPr>
                <a:sym typeface="+mn-ea"/>
              </a:rPr>
              <a:t>-</a:t>
            </a:r>
            <a:r>
              <a:rPr lang="zh-CN" altLang="en-US">
                <a:sym typeface="+mn-ea"/>
              </a:rPr>
              <a:t>国际业务运营专区</a:t>
            </a:r>
            <a:r>
              <a:rPr lang="zh-CN" altLang="en-US">
                <a:sym typeface="+mn-ea"/>
              </a:rPr>
              <a:t>（</a:t>
            </a:r>
            <a:r>
              <a:rPr>
                <a:sym typeface="+mn-ea"/>
              </a:rPr>
              <a:t>4/6</a:t>
            </a:r>
            <a:r>
              <a:rPr lang="zh-CN" altLang="en-US">
                <a:sym typeface="+mn-ea"/>
              </a:rPr>
              <a:t>）</a:t>
            </a:r>
            <a:endParaRPr lang="zh-CN" altLang="en-US">
              <a:sym typeface="+mn-ea"/>
            </a:endParaRPr>
          </a:p>
        </p:txBody>
      </p:sp>
      <p:sp>
        <p:nvSpPr>
          <p:cNvPr id="139" name="文本框 138"/>
          <p:cNvSpPr txBox="1"/>
          <p:nvPr/>
        </p:nvSpPr>
        <p:spPr>
          <a:xfrm>
            <a:off x="194945" y="899795"/>
            <a:ext cx="11433175" cy="681990"/>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依据一级运营</a:t>
            </a:r>
            <a:r>
              <a:rPr lang="zh-CN" altLang="zh-HK" kern="1200" noProof="0" smtClean="0">
                <a:solidFill>
                  <a:srgbClr val="000000">
                    <a:alpha val="100000"/>
                  </a:srgbClr>
                </a:solidFill>
                <a:latin typeface="+mn-lt"/>
                <a:ea typeface="+mn-lt"/>
                <a:cs typeface="+mn-lt"/>
                <a:sym typeface="+mn-ea"/>
              </a:rPr>
              <a:t>工作台门户及核心基础能力建设与部署，通过数据接入与集成的方式构建国际业务数智化运营能力</a:t>
            </a:r>
            <a:r>
              <a:rPr lang="zh-CN" altLang="zh-HK" kern="1200" noProof="0" smtClean="0">
                <a:solidFill>
                  <a:srgbClr val="000000">
                    <a:alpha val="100000"/>
                  </a:srgbClr>
                </a:solidFill>
                <a:latin typeface="+mn-lt"/>
                <a:ea typeface="+mn-lt"/>
                <a:cs typeface="+mn-lt"/>
                <a:sym typeface="+mn-ea"/>
              </a:rPr>
              <a:t>，</a:t>
            </a:r>
            <a:r>
              <a:rPr lang="zh-CN" altLang="zh-HK" kern="1200" noProof="0" smtClean="0">
                <a:solidFill>
                  <a:srgbClr val="000000">
                    <a:alpha val="100000"/>
                  </a:srgbClr>
                </a:solidFill>
                <a:latin typeface="+mn-lt"/>
                <a:ea typeface="+mn-lt"/>
                <a:cs typeface="+mn-lt"/>
                <a:sym typeface="+mn-ea"/>
              </a:rPr>
              <a:t>实现多系统</a:t>
            </a:r>
            <a:r>
              <a:rPr lang="zh-CN" altLang="zh-HK" kern="1200" noProof="0" smtClean="0">
                <a:solidFill>
                  <a:srgbClr val="000000">
                    <a:alpha val="100000"/>
                  </a:srgbClr>
                </a:solidFill>
                <a:latin typeface="+mn-lt"/>
                <a:ea typeface="+mn-lt"/>
                <a:cs typeface="+mn-lt"/>
                <a:sym typeface="+mn-ea"/>
              </a:rPr>
              <a:t>、</a:t>
            </a:r>
            <a:r>
              <a:rPr lang="zh-CN" altLang="zh-HK" kern="1200" noProof="0" smtClean="0">
                <a:solidFill>
                  <a:srgbClr val="000000">
                    <a:alpha val="100000"/>
                  </a:srgbClr>
                </a:solidFill>
                <a:latin typeface="+mn-lt"/>
                <a:ea typeface="+mn-lt"/>
                <a:cs typeface="+mn-lt"/>
                <a:sym typeface="+mn-ea"/>
              </a:rPr>
              <a:t>多部门协同运营</a:t>
            </a:r>
            <a:r>
              <a:rPr lang="zh-CN" altLang="zh-HK" kern="1200" noProof="0" smtClean="0">
                <a:solidFill>
                  <a:srgbClr val="000000">
                    <a:alpha val="100000"/>
                  </a:srgbClr>
                </a:solidFill>
                <a:latin typeface="+mn-lt"/>
                <a:ea typeface="+mn-lt"/>
                <a:cs typeface="+mn-lt"/>
                <a:sym typeface="+mn-ea"/>
              </a:rPr>
              <a:t>，</a:t>
            </a:r>
            <a:r>
              <a:rPr lang="zh-CN" altLang="zh-HK" kern="1200" noProof="0" smtClean="0">
                <a:solidFill>
                  <a:srgbClr val="000000">
                    <a:alpha val="100000"/>
                  </a:srgbClr>
                </a:solidFill>
                <a:latin typeface="+mn-lt"/>
                <a:ea typeface="+mn-lt"/>
                <a:cs typeface="+mn-lt"/>
                <a:sym typeface="+mn-ea"/>
              </a:rPr>
              <a:t>提升国际业务运营效率，助力业务高质量发展</a:t>
            </a:r>
            <a:r>
              <a:rPr lang="zh-CN" altLang="zh-HK" kern="1200" noProof="0" smtClean="0">
                <a:solidFill>
                  <a:srgbClr val="000000">
                    <a:alpha val="100000"/>
                  </a:srgbClr>
                </a:solidFill>
                <a:latin typeface="+mn-lt"/>
                <a:ea typeface="+mn-lt"/>
                <a:cs typeface="+mn-lt"/>
                <a:sym typeface="+mn-ea"/>
              </a:rPr>
              <a:t>。</a:t>
            </a:r>
            <a:endParaRPr lang="zh-CN" altLang="zh-HK" kern="1200" noProof="0" smtClean="0">
              <a:solidFill>
                <a:srgbClr val="000000">
                  <a:alpha val="100000"/>
                </a:srgbClr>
              </a:solidFill>
              <a:latin typeface="+mn-lt"/>
              <a:ea typeface="+mn-lt"/>
              <a:cs typeface="+mn-lt"/>
              <a:sym typeface="+mn-ea"/>
            </a:endParaRPr>
          </a:p>
        </p:txBody>
      </p:sp>
      <p:sp>
        <p:nvSpPr>
          <p:cNvPr id="42" name="矩形: 圆角 8"/>
          <p:cNvSpPr/>
          <p:nvPr>
            <p:custDataLst>
              <p:tags r:id="rId1"/>
            </p:custDataLst>
          </p:nvPr>
        </p:nvSpPr>
        <p:spPr>
          <a:xfrm>
            <a:off x="290195" y="2347595"/>
            <a:ext cx="459105" cy="887095"/>
          </a:xfrm>
          <a:prstGeom prst="roundRect">
            <a:avLst>
              <a:gd name="adj" fmla="val 5746"/>
            </a:avLst>
          </a:prstGeom>
          <a:solidFill>
            <a:schemeClr val="bg1">
              <a:lumMod val="95000"/>
            </a:schemeClr>
          </a:solidFill>
          <a:ln w="6340" cap="flat">
            <a:noFill/>
            <a:prstDash val="solid"/>
            <a:miter/>
          </a:ln>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a:ln>
                  <a:noFill/>
                </a:ln>
                <a:solidFill>
                  <a:srgbClr val="000000"/>
                </a:solidFill>
                <a:effectLst/>
                <a:uLnTx/>
                <a:uFillTx/>
                <a:latin typeface="Calibri" panose="020F0502020204030204"/>
                <a:ea typeface="微软雅黑" panose="020B0503020204020204" charset="-122"/>
                <a:cs typeface="+mn-cs"/>
              </a:rPr>
              <a:t>业务</a:t>
            </a:r>
            <a:r>
              <a:rPr kumimoji="0" lang="zh-CN" altLang="en-US" sz="1400" i="0" u="none" strike="noStrike" kern="1200" cap="none" spc="0" normalizeH="0" baseline="0" noProof="0">
                <a:ln>
                  <a:noFill/>
                </a:ln>
                <a:solidFill>
                  <a:srgbClr val="000000"/>
                </a:solidFill>
                <a:effectLst/>
                <a:uLnTx/>
                <a:uFillTx/>
                <a:latin typeface="Calibri" panose="020F0502020204030204"/>
                <a:ea typeface="微软雅黑" panose="020B0503020204020204" charset="-122"/>
                <a:cs typeface="+mn-cs"/>
              </a:rPr>
              <a:t>分类</a:t>
            </a:r>
            <a:endParaRPr kumimoji="0" lang="zh-CN" altLang="en-US" sz="1400" i="0" u="none" strike="noStrike" kern="1200" cap="none" spc="0" normalizeH="0" baseline="0" noProof="0">
              <a:ln>
                <a:noFill/>
              </a:ln>
              <a:solidFill>
                <a:srgbClr val="000000"/>
              </a:solidFill>
              <a:effectLst/>
              <a:uLnTx/>
              <a:uFillTx/>
              <a:latin typeface="Calibri" panose="020F0502020204030204"/>
              <a:ea typeface="微软雅黑" panose="020B0503020204020204" charset="-122"/>
              <a:cs typeface="+mn-cs"/>
            </a:endParaRPr>
          </a:p>
        </p:txBody>
      </p:sp>
      <p:sp>
        <p:nvSpPr>
          <p:cNvPr id="29" name="等腰三角形 28"/>
          <p:cNvSpPr/>
          <p:nvPr>
            <p:custDataLst>
              <p:tags r:id="rId2"/>
            </p:custDataLst>
          </p:nvPr>
        </p:nvSpPr>
        <p:spPr>
          <a:xfrm>
            <a:off x="798830" y="1581785"/>
            <a:ext cx="3834765" cy="720725"/>
          </a:xfrm>
          <a:prstGeom prst="triangle">
            <a:avLst>
              <a:gd name="adj" fmla="val 50490"/>
            </a:avLst>
          </a:prstGeom>
          <a:solidFill>
            <a:srgbClr val="0070BF"/>
          </a:solidFill>
          <a:ln w="12700" cap="flat" cmpd="sng" algn="ctr">
            <a:noFill/>
            <a:prstDash val="solid"/>
            <a:miter lim="800000"/>
          </a:ln>
          <a:effectLst/>
        </p:spPr>
        <p:txBody>
          <a:bodyPr rtlCol="0" anchor="ctr"/>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i="0" u="none" strike="noStrike" kern="0" cap="none" spc="0" normalizeH="0" baseline="0" noProof="0" dirty="0">
              <a:ln>
                <a:noFill/>
              </a:ln>
              <a:solidFill>
                <a:srgbClr val="FFFFFF"/>
              </a:solidFill>
              <a:effectLst/>
              <a:uLnTx/>
              <a:uFillTx/>
              <a:latin typeface="Calibri" panose="020F0502020204030204"/>
              <a:ea typeface="等线" panose="02010600030101010101" charset="-122"/>
              <a:cs typeface="+mn-cs"/>
            </a:endParaRPr>
          </a:p>
        </p:txBody>
      </p:sp>
      <p:sp>
        <p:nvSpPr>
          <p:cNvPr id="131" name="文本框 130"/>
          <p:cNvSpPr txBox="1"/>
          <p:nvPr>
            <p:custDataLst>
              <p:tags r:id="rId3"/>
            </p:custDataLst>
          </p:nvPr>
        </p:nvSpPr>
        <p:spPr>
          <a:xfrm>
            <a:off x="1094105" y="1649730"/>
            <a:ext cx="3277870" cy="584835"/>
          </a:xfrm>
          <a:prstGeom prst="rect">
            <a:avLst/>
          </a:prstGeom>
          <a:noFill/>
          <a:ln>
            <a:noFill/>
          </a:ln>
        </p:spPr>
        <p:txBody>
          <a:bodyPr wrap="square" tIns="71755">
            <a:noAutofit/>
          </a:bodyPr>
          <a:p>
            <a:pPr marL="0" marR="0" lvl="0" indent="0" algn="ctr" defTabSz="457200" rtl="0" eaLnBrk="1" fontAlgn="auto" latinLnBrk="0" hangingPunct="1">
              <a:lnSpc>
                <a:spcPct val="100000"/>
              </a:lnSpc>
              <a:spcBef>
                <a:spcPts val="0"/>
              </a:spcBef>
              <a:spcAft>
                <a:spcPts val="200"/>
              </a:spcAft>
              <a:buClrTx/>
              <a:buSzTx/>
              <a:buFontTx/>
              <a:buNone/>
              <a:defRPr/>
            </a:pPr>
            <a:endParaRPr kumimoji="1" lang="zh-CN" altLang="en-US" sz="1600" b="1" dirty="0">
              <a:solidFill>
                <a:schemeClr val="bg1"/>
              </a:solidFill>
              <a:latin typeface="微软雅黑" panose="020B0503020204020204" charset="-122"/>
              <a:ea typeface="微软雅黑" panose="020B0503020204020204" charset="-122"/>
              <a:cs typeface="+mn-ea"/>
              <a:sym typeface="+mn-lt"/>
            </a:endParaRPr>
          </a:p>
          <a:p>
            <a:pPr marL="0" marR="0" lvl="0" indent="0" algn="ctr" defTabSz="457200" rtl="0" eaLnBrk="1" fontAlgn="auto" latinLnBrk="0" hangingPunct="1">
              <a:lnSpc>
                <a:spcPct val="100000"/>
              </a:lnSpc>
              <a:spcBef>
                <a:spcPts val="0"/>
              </a:spcBef>
              <a:spcAft>
                <a:spcPts val="200"/>
              </a:spcAft>
              <a:buClrTx/>
              <a:buSzTx/>
              <a:buFontTx/>
              <a:buNone/>
              <a:defRPr/>
            </a:pPr>
            <a:r>
              <a:rPr kumimoji="1" lang="zh-CN" altLang="en-US" sz="1600" b="1" dirty="0">
                <a:solidFill>
                  <a:schemeClr val="bg1"/>
                </a:solidFill>
                <a:latin typeface="微软雅黑" panose="020B0503020204020204" charset="-122"/>
                <a:ea typeface="微软雅黑" panose="020B0503020204020204" charset="-122"/>
                <a:cs typeface="+mn-ea"/>
                <a:sym typeface="+mn-lt"/>
              </a:rPr>
              <a:t>一体化运营工作台</a:t>
            </a:r>
            <a:endParaRPr kumimoji="1" lang="zh-CN" altLang="en-US" sz="1600" b="1" dirty="0">
              <a:solidFill>
                <a:schemeClr val="bg1"/>
              </a:solidFill>
              <a:latin typeface="微软雅黑" panose="020B0503020204020204" charset="-122"/>
              <a:ea typeface="微软雅黑" panose="020B0503020204020204" charset="-122"/>
              <a:cs typeface="+mn-ea"/>
              <a:sym typeface="+mn-lt"/>
            </a:endParaRPr>
          </a:p>
        </p:txBody>
      </p:sp>
      <p:sp>
        <p:nvSpPr>
          <p:cNvPr id="159" name="圆角矩形 158"/>
          <p:cNvSpPr/>
          <p:nvPr>
            <p:custDataLst>
              <p:tags r:id="rId4"/>
            </p:custDataLst>
          </p:nvPr>
        </p:nvSpPr>
        <p:spPr>
          <a:xfrm>
            <a:off x="799465" y="2346960"/>
            <a:ext cx="3833495" cy="888365"/>
          </a:xfrm>
          <a:prstGeom prst="roundRect">
            <a:avLst>
              <a:gd name="adj" fmla="val 666"/>
            </a:avLst>
          </a:prstGeom>
          <a:solidFill>
            <a:schemeClr val="accent1">
              <a:alpha val="382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i="0" u="none" strike="noStrike" kern="120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8" name="矩形: 圆角 8"/>
          <p:cNvSpPr/>
          <p:nvPr>
            <p:custDataLst>
              <p:tags r:id="rId5"/>
            </p:custDataLst>
          </p:nvPr>
        </p:nvSpPr>
        <p:spPr>
          <a:xfrm>
            <a:off x="290195" y="3310255"/>
            <a:ext cx="459105" cy="3228975"/>
          </a:xfrm>
          <a:prstGeom prst="roundRect">
            <a:avLst>
              <a:gd name="adj" fmla="val 5746"/>
            </a:avLst>
          </a:prstGeom>
          <a:solidFill>
            <a:schemeClr val="bg1">
              <a:lumMod val="95000"/>
            </a:schemeClr>
          </a:solidFill>
          <a:ln w="6340" cap="flat">
            <a:noFill/>
            <a:prstDash val="solid"/>
            <a:miter/>
          </a:ln>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a:ln>
                  <a:noFill/>
                </a:ln>
                <a:solidFill>
                  <a:srgbClr val="000000"/>
                </a:solidFill>
                <a:effectLst/>
                <a:uLnTx/>
                <a:uFillTx/>
                <a:latin typeface="Calibri" panose="020F0502020204030204"/>
                <a:ea typeface="微软雅黑" panose="020B0503020204020204" charset="-122"/>
                <a:cs typeface="+mn-cs"/>
              </a:rPr>
              <a:t>集省专三级协同</a:t>
            </a:r>
            <a:r>
              <a:rPr kumimoji="0" lang="zh-CN" altLang="en-US" sz="1400" i="0" u="none" strike="noStrike" kern="1200" cap="none" spc="0" normalizeH="0" baseline="0" noProof="0">
                <a:ln>
                  <a:noFill/>
                </a:ln>
                <a:solidFill>
                  <a:srgbClr val="000000"/>
                </a:solidFill>
                <a:effectLst/>
                <a:uLnTx/>
                <a:uFillTx/>
                <a:latin typeface="Calibri" panose="020F0502020204030204"/>
                <a:ea typeface="微软雅黑" panose="020B0503020204020204" charset="-122"/>
                <a:cs typeface="+mn-cs"/>
              </a:rPr>
              <a:t>运营</a:t>
            </a:r>
            <a:endParaRPr kumimoji="0" lang="zh-CN" altLang="en-US" sz="1400" i="0" u="none" strike="noStrike" kern="1200" cap="none" spc="0" normalizeH="0" baseline="0" noProof="0">
              <a:ln>
                <a:noFill/>
              </a:ln>
              <a:solidFill>
                <a:srgbClr val="000000"/>
              </a:solidFill>
              <a:effectLst/>
              <a:uLnTx/>
              <a:uFillTx/>
              <a:latin typeface="Calibri" panose="020F0502020204030204"/>
              <a:ea typeface="微软雅黑" panose="020B0503020204020204" charset="-122"/>
              <a:cs typeface="+mn-cs"/>
            </a:endParaRPr>
          </a:p>
        </p:txBody>
      </p:sp>
      <p:sp>
        <p:nvSpPr>
          <p:cNvPr id="132" name="Rectangle 72"/>
          <p:cNvSpPr/>
          <p:nvPr>
            <p:custDataLst>
              <p:tags r:id="rId6"/>
            </p:custDataLst>
          </p:nvPr>
        </p:nvSpPr>
        <p:spPr>
          <a:xfrm>
            <a:off x="798830" y="3290570"/>
            <a:ext cx="3834765" cy="353695"/>
          </a:xfrm>
          <a:prstGeom prst="rect">
            <a:avLst/>
          </a:prstGeom>
          <a:solidFill>
            <a:srgbClr val="0070BF"/>
          </a:solidFill>
          <a:ln w="12700" cap="flat" cmpd="sng" algn="ctr">
            <a:noFill/>
            <a:prstDash val="solid"/>
            <a:miter lim="800000"/>
          </a:ln>
          <a:effectLst/>
        </p:spPr>
        <p:txBody>
          <a:bodyPr rtlCol="0" anchor="ctr"/>
          <a:lstStyle/>
          <a:p>
            <a:pPr algn="ctr">
              <a:buClrTx/>
              <a:buSzTx/>
              <a:buFontTx/>
            </a:pPr>
            <a:r>
              <a:rPr lang="zh-CN" altLang="en-US" sz="1200" b="1" dirty="0">
                <a:solidFill>
                  <a:schemeClr val="bg1"/>
                </a:solidFill>
                <a:latin typeface="微软雅黑" panose="020B0503020204020204" charset="-122"/>
                <a:ea typeface="微软雅黑" panose="020B0503020204020204" charset="-122"/>
                <a:sym typeface="+mn-ea"/>
              </a:rPr>
              <a:t>实现</a:t>
            </a:r>
            <a:r>
              <a:rPr lang="en-US" altLang="zh-CN" sz="1200" b="1" dirty="0">
                <a:solidFill>
                  <a:schemeClr val="bg1"/>
                </a:solidFill>
                <a:latin typeface="微软雅黑" panose="020B0503020204020204" charset="-122"/>
                <a:ea typeface="微软雅黑" panose="020B0503020204020204" charset="-122"/>
                <a:sym typeface="+mn-ea"/>
              </a:rPr>
              <a:t>“</a:t>
            </a:r>
            <a:r>
              <a:rPr lang="zh-CN" altLang="en-US" sz="1200" b="1">
                <a:solidFill>
                  <a:schemeClr val="bg1"/>
                </a:solidFill>
                <a:sym typeface="+mn-ea"/>
              </a:rPr>
              <a:t>看数-定策</a:t>
            </a:r>
            <a:r>
              <a:rPr sz="1200" b="1">
                <a:solidFill>
                  <a:schemeClr val="bg1"/>
                </a:solidFill>
                <a:sym typeface="+mn-ea"/>
              </a:rPr>
              <a:t>-</a:t>
            </a:r>
            <a:r>
              <a:rPr lang="zh-CN" altLang="en-US" sz="1200" b="1">
                <a:solidFill>
                  <a:schemeClr val="bg1"/>
                </a:solidFill>
                <a:sym typeface="+mn-ea"/>
              </a:rPr>
              <a:t>执行-评估</a:t>
            </a:r>
            <a:r>
              <a:rPr lang="en-US" sz="1200" b="1" dirty="0">
                <a:solidFill>
                  <a:schemeClr val="bg1">
                    <a:alpha val="100000"/>
                  </a:schemeClr>
                </a:solidFill>
                <a:sym typeface="+mn-ea"/>
              </a:rPr>
              <a:t>”</a:t>
            </a:r>
            <a:r>
              <a:rPr lang="zh-CN" altLang="en-US" sz="1200" b="1" dirty="0">
                <a:solidFill>
                  <a:schemeClr val="bg1">
                    <a:alpha val="100000"/>
                  </a:schemeClr>
                </a:solidFill>
                <a:sym typeface="+mn-ea"/>
              </a:rPr>
              <a:t>全流程贯穿</a:t>
            </a:r>
            <a:endParaRPr lang="zh-CN" altLang="en-US" sz="1200" b="1" dirty="0">
              <a:solidFill>
                <a:schemeClr val="bg1">
                  <a:alpha val="100000"/>
                </a:schemeClr>
              </a:solidFill>
              <a:sym typeface="+mn-ea"/>
            </a:endParaRPr>
          </a:p>
        </p:txBody>
      </p:sp>
      <p:sp>
        <p:nvSpPr>
          <p:cNvPr id="136" name="矩形 135"/>
          <p:cNvSpPr/>
          <p:nvPr>
            <p:custDataLst>
              <p:tags r:id="rId7"/>
            </p:custDataLst>
          </p:nvPr>
        </p:nvSpPr>
        <p:spPr>
          <a:xfrm>
            <a:off x="1271905" y="3712845"/>
            <a:ext cx="3361055" cy="2236470"/>
          </a:xfrm>
          <a:prstGeom prst="rect">
            <a:avLst/>
          </a:prstGeom>
          <a:noFill/>
          <a:ln w="12700" cap="flat" cmpd="sng" algn="ctr">
            <a:solidFill>
              <a:schemeClr val="bg1">
                <a:lumMod val="75000"/>
              </a:schemeClr>
            </a:solidFill>
            <a:prstDash val="sysDash"/>
            <a:miter lim="800000"/>
          </a:ln>
          <a:effectLst/>
        </p:spPr>
        <p:txBody>
          <a:bodyPr tIns="27000" bIns="27000" rtlCol="0" anchor="ctr"/>
          <a:lstStyle/>
          <a:p>
            <a:pPr marL="0" marR="0" lvl="0" indent="0" algn="ctr" defTabSz="457200" rtl="0" eaLnBrk="1" fontAlgn="auto" latinLnBrk="0" hangingPunct="1">
              <a:lnSpc>
                <a:spcPts val="1520"/>
              </a:lnSpc>
              <a:spcBef>
                <a:spcPts val="450"/>
              </a:spcBef>
              <a:spcAft>
                <a:spcPts val="0"/>
              </a:spcAft>
              <a:buClr>
                <a:srgbClr val="C00000"/>
              </a:buClr>
              <a:buSzTx/>
              <a:buFontTx/>
              <a:buNone/>
              <a:defRPr/>
            </a:pPr>
            <a:endParaRPr kumimoji="0" lang="en-US" altLang="zh-CN" sz="14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38" name="矩形 137"/>
          <p:cNvSpPr/>
          <p:nvPr>
            <p:custDataLst>
              <p:tags r:id="rId8"/>
            </p:custDataLst>
          </p:nvPr>
        </p:nvSpPr>
        <p:spPr>
          <a:xfrm>
            <a:off x="1271905" y="6012815"/>
            <a:ext cx="3361055" cy="525145"/>
          </a:xfrm>
          <a:prstGeom prst="rect">
            <a:avLst/>
          </a:prstGeom>
          <a:noFill/>
          <a:ln w="12700" cap="flat" cmpd="sng" algn="ctr">
            <a:solidFill>
              <a:schemeClr val="bg1">
                <a:lumMod val="75000"/>
              </a:schemeClr>
            </a:solidFill>
            <a:prstDash val="sysDash"/>
            <a:miter lim="800000"/>
          </a:ln>
          <a:effectLst/>
        </p:spPr>
        <p:txBody>
          <a:bodyPr lIns="0" tIns="0" rIns="0" bIns="0" rtlCol="0" anchor="ctr"/>
          <a:lstStyle/>
          <a:p>
            <a:pPr marL="0" marR="0" lvl="0" indent="0" algn="ctr" defTabSz="457200" rtl="0" eaLnBrk="1" fontAlgn="auto" latinLnBrk="0" hangingPunct="1">
              <a:lnSpc>
                <a:spcPct val="100000"/>
              </a:lnSpc>
              <a:spcBef>
                <a:spcPts val="450"/>
              </a:spcBef>
              <a:spcAft>
                <a:spcPts val="0"/>
              </a:spcAft>
              <a:buClr>
                <a:srgbClr val="C00000"/>
              </a:buClr>
              <a:buSzTx/>
              <a:buFontTx/>
              <a:buNone/>
              <a:defRPr/>
            </a:pPr>
            <a:endParaRPr kumimoji="0" lang="en-US" altLang="zh-CN" sz="12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40" name="Rectangle 47"/>
          <p:cNvSpPr/>
          <p:nvPr>
            <p:custDataLst>
              <p:tags r:id="rId9"/>
            </p:custDataLst>
          </p:nvPr>
        </p:nvSpPr>
        <p:spPr>
          <a:xfrm>
            <a:off x="798830" y="3712845"/>
            <a:ext cx="427355" cy="2236470"/>
          </a:xfrm>
          <a:prstGeom prst="rect">
            <a:avLst/>
          </a:pr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70BF"/>
                </a:solidFill>
                <a:effectLst/>
                <a:uLnTx/>
                <a:uFillTx/>
                <a:latin typeface="微软雅黑" panose="020B0503020204020204" charset="-122"/>
                <a:ea typeface="微软雅黑" panose="020B0503020204020204" charset="-122"/>
                <a:cs typeface="+mn-cs"/>
              </a:rPr>
              <a:t>运营能力</a:t>
            </a:r>
            <a:endParaRPr kumimoji="0" lang="zh-CN" altLang="en-US" sz="1400" b="0" i="0" u="none" strike="noStrike" kern="0" cap="none" spc="0" normalizeH="0" baseline="0" noProof="0" dirty="0">
              <a:ln>
                <a:noFill/>
              </a:ln>
              <a:solidFill>
                <a:srgbClr val="0070BF"/>
              </a:solidFill>
              <a:effectLst/>
              <a:uLnTx/>
              <a:uFillTx/>
              <a:latin typeface="微软雅黑" panose="020B0503020204020204" charset="-122"/>
              <a:ea typeface="微软雅黑" panose="020B0503020204020204" charset="-122"/>
              <a:cs typeface="+mn-cs"/>
            </a:endParaRPr>
          </a:p>
        </p:txBody>
      </p:sp>
      <p:sp>
        <p:nvSpPr>
          <p:cNvPr id="142" name="Rectangle 47"/>
          <p:cNvSpPr/>
          <p:nvPr>
            <p:custDataLst>
              <p:tags r:id="rId10"/>
            </p:custDataLst>
          </p:nvPr>
        </p:nvSpPr>
        <p:spPr>
          <a:xfrm>
            <a:off x="798830" y="6012815"/>
            <a:ext cx="427355" cy="525145"/>
          </a:xfrm>
          <a:prstGeom prst="rect">
            <a:avLst/>
          </a:pr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70BF"/>
                </a:solidFill>
                <a:effectLst/>
                <a:uLnTx/>
                <a:uFillTx/>
                <a:latin typeface="微软雅黑" panose="020B0503020204020204" charset="-122"/>
                <a:ea typeface="微软雅黑" panose="020B0503020204020204" charset="-122"/>
                <a:cs typeface="+mn-cs"/>
              </a:rPr>
              <a:t>基础能力</a:t>
            </a:r>
            <a:endParaRPr kumimoji="0" lang="zh-CN" altLang="en-US" sz="1400" b="0" i="0" u="none" strike="noStrike" kern="0" cap="none" spc="0" normalizeH="0" baseline="0" noProof="0" dirty="0">
              <a:ln>
                <a:noFill/>
              </a:ln>
              <a:solidFill>
                <a:srgbClr val="0070BF"/>
              </a:solidFill>
              <a:effectLst/>
              <a:uLnTx/>
              <a:uFillTx/>
              <a:latin typeface="微软雅黑" panose="020B0503020204020204" charset="-122"/>
              <a:ea typeface="微软雅黑" panose="020B0503020204020204" charset="-122"/>
              <a:cs typeface="+mn-cs"/>
            </a:endParaRPr>
          </a:p>
        </p:txBody>
      </p:sp>
      <p:sp>
        <p:nvSpPr>
          <p:cNvPr id="43" name="圆角矩形 42"/>
          <p:cNvSpPr/>
          <p:nvPr>
            <p:custDataLst>
              <p:tags r:id="rId11"/>
            </p:custDataLst>
          </p:nvPr>
        </p:nvSpPr>
        <p:spPr>
          <a:xfrm>
            <a:off x="1441450" y="6122035"/>
            <a:ext cx="676275" cy="306070"/>
          </a:xfrm>
          <a:prstGeom prst="roundRect">
            <a:avLst/>
          </a:prstGeom>
          <a:solidFill>
            <a:schemeClr val="tx2">
              <a:lumMod val="20000"/>
              <a:lumOff val="80000"/>
            </a:schemeClr>
          </a:solidFill>
          <a:ln w="9525" cap="flat" cmpd="sng" algn="ctr">
            <a:noFill/>
            <a:prstDash val="solid"/>
          </a:ln>
          <a:effectLst/>
        </p:spPr>
        <p:txBody>
          <a:bodyPr vert="horz" wrap="square" lIns="0" tIns="0" rIns="0" bIns="0" numCol="1" spcCol="0" rtlCol="0" fromWordArt="0" anchor="ctr" anchorCtr="0" forceAA="0" compatLnSpc="0">
            <a:noAutofit/>
          </a:bodyP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ts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全局数据融合</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4" name="圆角矩形 43"/>
          <p:cNvSpPr/>
          <p:nvPr>
            <p:custDataLst>
              <p:tags r:id="rId12"/>
            </p:custDataLst>
          </p:nvPr>
        </p:nvSpPr>
        <p:spPr>
          <a:xfrm>
            <a:off x="2940050" y="6122035"/>
            <a:ext cx="676275" cy="306070"/>
          </a:xfrm>
          <a:prstGeom prst="roundRect">
            <a:avLst/>
          </a:prstGeom>
          <a:solidFill>
            <a:schemeClr val="tx2">
              <a:lumMod val="20000"/>
              <a:lumOff val="80000"/>
            </a:schemeClr>
          </a:solidFill>
          <a:ln w="9525" cap="flat" cmpd="sng" algn="ctr">
            <a:noFill/>
            <a:prstDash val="solid"/>
          </a:ln>
          <a:effectLst/>
        </p:spPr>
        <p:txBody>
          <a:bodyPr vert="horz" wrap="square" lIns="0" tIns="0" rIns="0" bIns="0" numCol="1" spcCol="0" rtlCol="0" fromWordArt="0" anchor="ctr" anchorCtr="0" forceAA="0" compatLnSpc="0">
            <a:noAutofit/>
          </a:bodyP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ts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统一系统入口</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182" name="圆角矩形 181"/>
          <p:cNvSpPr/>
          <p:nvPr>
            <p:custDataLst>
              <p:tags r:id="rId13"/>
            </p:custDataLst>
          </p:nvPr>
        </p:nvSpPr>
        <p:spPr>
          <a:xfrm>
            <a:off x="2191385" y="6122035"/>
            <a:ext cx="676275" cy="306070"/>
          </a:xfrm>
          <a:prstGeom prst="roundRect">
            <a:avLst/>
          </a:prstGeom>
          <a:solidFill>
            <a:schemeClr val="tx2">
              <a:lumMod val="20000"/>
              <a:lumOff val="80000"/>
            </a:schemeClr>
          </a:solidFill>
          <a:ln w="9525" cap="flat" cmpd="sng" algn="ctr">
            <a:noFill/>
            <a:prstDash val="solid"/>
          </a:ln>
          <a:effectLst/>
        </p:spPr>
        <p:txBody>
          <a:bodyPr vert="horz" wrap="square" lIns="0" tIns="0" rIns="0" bIns="0" numCol="1" spcCol="0" rtlCol="0" fromWordArt="0" anchor="ctr" anchorCtr="0" forceAA="0" compatLnSpc="0">
            <a:noAutofit/>
          </a:bodyP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ts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全域流程融通</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71" name="圆角矩形 70"/>
          <p:cNvSpPr/>
          <p:nvPr>
            <p:custDataLst>
              <p:tags r:id="rId14"/>
            </p:custDataLst>
          </p:nvPr>
        </p:nvSpPr>
        <p:spPr>
          <a:xfrm>
            <a:off x="3745865" y="6122035"/>
            <a:ext cx="772795" cy="306070"/>
          </a:xfrm>
          <a:prstGeom prst="roundRect">
            <a:avLst/>
          </a:prstGeom>
          <a:solidFill>
            <a:schemeClr val="tx2">
              <a:lumMod val="20000"/>
              <a:lumOff val="80000"/>
            </a:schemeClr>
          </a:solidFill>
          <a:ln w="9525" cap="flat" cmpd="sng" algn="ctr">
            <a:noFill/>
            <a:prstDash val="solid"/>
          </a:ln>
          <a:effectLst/>
        </p:spPr>
        <p:txBody>
          <a:bodyPr vert="horz" wrap="square" lIns="0" tIns="0" rIns="0" bIns="0" numCol="1" spcCol="0" rtlCol="0" fromWordArt="0" anchor="ctr" anchorCtr="0" forceAA="0" compatLnSpc="0">
            <a:noAutofit/>
          </a:bodyPr>
          <a:lstStyle>
            <a:defPPr>
              <a:defRPr lang="zh-CN"/>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ts val="0"/>
              </a:spcBef>
              <a:spcAft>
                <a:spcPts val="0"/>
              </a:spcAft>
              <a:buClrTx/>
              <a:buSzTx/>
              <a:buFont typeface="Arial" panose="020B0604020202020204" pitchFamily="34" charset="0"/>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全过程数智赋能</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grpSp>
        <p:nvGrpSpPr>
          <p:cNvPr id="99" name="組合 98"/>
          <p:cNvGrpSpPr/>
          <p:nvPr/>
        </p:nvGrpSpPr>
        <p:grpSpPr>
          <a:xfrm rot="0">
            <a:off x="2734945" y="4639310"/>
            <a:ext cx="434975" cy="409575"/>
            <a:chOff x="9138" y="6263"/>
            <a:chExt cx="1860" cy="1845"/>
          </a:xfrm>
        </p:grpSpPr>
        <p:sp>
          <p:nvSpPr>
            <p:cNvPr id="13" name="椭圆 202"/>
            <p:cNvSpPr/>
            <p:nvPr>
              <p:custDataLst>
                <p:tags r:id="rId15"/>
              </p:custDataLst>
            </p:nvPr>
          </p:nvSpPr>
          <p:spPr>
            <a:xfrm>
              <a:off x="9593" y="6721"/>
              <a:ext cx="951" cy="938"/>
            </a:xfrm>
            <a:prstGeom prst="ellipse">
              <a:avLst/>
            </a:prstGeom>
            <a:solidFill>
              <a:schemeClr val="bg1"/>
            </a:solidFill>
            <a:ln>
              <a:noFill/>
            </a:ln>
            <a:effectLst>
              <a:outerShdw blurRad="279400" dist="50800" dir="5400000" algn="t" rotWithShape="0">
                <a:schemeClr val="bg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039" tIns="42520" rIns="85039" bIns="425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8" charset="0"/>
              </a:endParaRPr>
            </a:p>
          </p:txBody>
        </p:sp>
        <p:sp>
          <p:nvSpPr>
            <p:cNvPr id="16" name="空心弧 15"/>
            <p:cNvSpPr>
              <a:spLocks noChangeAspect="1"/>
            </p:cNvSpPr>
            <p:nvPr>
              <p:custDataLst>
                <p:tags r:id="rId16"/>
              </p:custDataLst>
            </p:nvPr>
          </p:nvSpPr>
          <p:spPr>
            <a:xfrm rot="10800000" flipV="1">
              <a:off x="9138" y="6271"/>
              <a:ext cx="1860" cy="1837"/>
            </a:xfrm>
            <a:prstGeom prst="blockArc">
              <a:avLst>
                <a:gd name="adj1" fmla="val 16184466"/>
                <a:gd name="adj2" fmla="val 0"/>
                <a:gd name="adj3" fmla="val 25000"/>
              </a:avLst>
            </a:prstGeom>
            <a:solidFill>
              <a:schemeClr val="accent1">
                <a:alpha val="15000"/>
              </a:schemeClr>
            </a:solidFill>
            <a:ln w="25400">
              <a:solidFill>
                <a:schemeClr val="bg1"/>
              </a:solid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8" charset="0"/>
              </a:endParaRPr>
            </a:p>
          </p:txBody>
        </p:sp>
        <p:sp>
          <p:nvSpPr>
            <p:cNvPr id="28" name="空心弧 27"/>
            <p:cNvSpPr>
              <a:spLocks noChangeAspect="1"/>
            </p:cNvSpPr>
            <p:nvPr>
              <p:custDataLst>
                <p:tags r:id="rId17"/>
              </p:custDataLst>
            </p:nvPr>
          </p:nvSpPr>
          <p:spPr>
            <a:xfrm rot="16200000" flipV="1">
              <a:off x="9150" y="6260"/>
              <a:ext cx="1837" cy="1860"/>
            </a:xfrm>
            <a:prstGeom prst="blockArc">
              <a:avLst>
                <a:gd name="adj1" fmla="val 16182109"/>
                <a:gd name="adj2" fmla="val 0"/>
                <a:gd name="adj3" fmla="val 25000"/>
              </a:avLst>
            </a:prstGeom>
            <a:solidFill>
              <a:schemeClr val="accent1">
                <a:alpha val="30000"/>
              </a:schemeClr>
            </a:solidFill>
            <a:ln w="25400">
              <a:solidFill>
                <a:schemeClr val="bg1"/>
              </a:solid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0070BF"/>
                </a:solidFill>
                <a:effectLst/>
                <a:uLnTx/>
                <a:uFillTx/>
                <a:latin typeface="微软雅黑" panose="020B0503020204020204" charset="-122"/>
                <a:ea typeface="微软雅黑" panose="020B0503020204020204" charset="-122"/>
                <a:cs typeface="8" charset="0"/>
              </a:endParaRPr>
            </a:p>
          </p:txBody>
        </p:sp>
        <p:sp>
          <p:nvSpPr>
            <p:cNvPr id="30" name="空心弧 29"/>
            <p:cNvSpPr>
              <a:spLocks noChangeAspect="1"/>
            </p:cNvSpPr>
            <p:nvPr>
              <p:custDataLst>
                <p:tags r:id="rId18"/>
              </p:custDataLst>
            </p:nvPr>
          </p:nvSpPr>
          <p:spPr>
            <a:xfrm rot="10800000">
              <a:off x="9138" y="6263"/>
              <a:ext cx="1860" cy="1837"/>
            </a:xfrm>
            <a:prstGeom prst="blockArc">
              <a:avLst>
                <a:gd name="adj1" fmla="val 16182109"/>
                <a:gd name="adj2" fmla="val 0"/>
                <a:gd name="adj3" fmla="val 25000"/>
              </a:avLst>
            </a:prstGeom>
            <a:solidFill>
              <a:schemeClr val="accent1">
                <a:alpha val="90000"/>
              </a:schemeClr>
            </a:solidFill>
            <a:ln w="25400">
              <a:solidFill>
                <a:schemeClr val="bg1"/>
              </a:solid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8" charset="0"/>
              </a:endParaRPr>
            </a:p>
          </p:txBody>
        </p:sp>
        <p:sp>
          <p:nvSpPr>
            <p:cNvPr id="31" name="空心弧 30"/>
            <p:cNvSpPr>
              <a:spLocks noChangeAspect="1"/>
            </p:cNvSpPr>
            <p:nvPr>
              <p:custDataLst>
                <p:tags r:id="rId19"/>
              </p:custDataLst>
            </p:nvPr>
          </p:nvSpPr>
          <p:spPr>
            <a:xfrm rot="5400000">
              <a:off x="9154" y="6256"/>
              <a:ext cx="1828" cy="1860"/>
            </a:xfrm>
            <a:prstGeom prst="blockArc">
              <a:avLst>
                <a:gd name="adj1" fmla="val 16218763"/>
                <a:gd name="adj2" fmla="val 0"/>
                <a:gd name="adj3" fmla="val 25000"/>
              </a:avLst>
            </a:prstGeom>
            <a:solidFill>
              <a:schemeClr val="accent1">
                <a:alpha val="65000"/>
              </a:schemeClr>
            </a:solidFill>
            <a:ln w="25400">
              <a:solidFill>
                <a:schemeClr val="bg1"/>
              </a:solid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8" charset="0"/>
              </a:endParaRPr>
            </a:p>
          </p:txBody>
        </p:sp>
        <p:sp>
          <p:nvSpPr>
            <p:cNvPr id="41" name="弧形 96"/>
            <p:cNvSpPr/>
            <p:nvPr>
              <p:custDataLst>
                <p:tags r:id="rId20"/>
              </p:custDataLst>
            </p:nvPr>
          </p:nvSpPr>
          <p:spPr>
            <a:xfrm rot="19020000">
              <a:off x="9815" y="6476"/>
              <a:ext cx="466" cy="456"/>
            </a:xfrm>
            <a:prstGeom prst="arc">
              <a:avLst/>
            </a:prstGeom>
            <a:ln w="3175">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5" name="弧形 96"/>
            <p:cNvSpPr/>
            <p:nvPr>
              <p:custDataLst>
                <p:tags r:id="rId21"/>
              </p:custDataLst>
            </p:nvPr>
          </p:nvSpPr>
          <p:spPr>
            <a:xfrm rot="13620000">
              <a:off x="9386" y="6940"/>
              <a:ext cx="462" cy="459"/>
            </a:xfrm>
            <a:prstGeom prst="arc">
              <a:avLst/>
            </a:prstGeom>
            <a:ln w="3175">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9" name="弧形 48"/>
            <p:cNvSpPr/>
            <p:nvPr>
              <p:custDataLst>
                <p:tags r:id="rId22"/>
              </p:custDataLst>
            </p:nvPr>
          </p:nvSpPr>
          <p:spPr>
            <a:xfrm rot="13620000" flipH="1" flipV="1">
              <a:off x="10333" y="6940"/>
              <a:ext cx="462" cy="459"/>
            </a:xfrm>
            <a:prstGeom prst="arc">
              <a:avLst/>
            </a:prstGeom>
            <a:ln w="3175">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1" name="弧形 96"/>
            <p:cNvSpPr/>
            <p:nvPr>
              <p:custDataLst>
                <p:tags r:id="rId23"/>
              </p:custDataLst>
            </p:nvPr>
          </p:nvSpPr>
          <p:spPr>
            <a:xfrm rot="19020000" flipH="1" flipV="1">
              <a:off x="9815" y="7429"/>
              <a:ext cx="466" cy="456"/>
            </a:xfrm>
            <a:prstGeom prst="arc">
              <a:avLst/>
            </a:prstGeom>
            <a:ln w="3175">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53" name="矩形 52"/>
          <p:cNvSpPr/>
          <p:nvPr/>
        </p:nvSpPr>
        <p:spPr bwMode="auto">
          <a:xfrm>
            <a:off x="846455" y="2388870"/>
            <a:ext cx="434975" cy="779780"/>
          </a:xfrm>
          <a:prstGeom prst="rect">
            <a:avLst/>
          </a:prstGeom>
          <a:solidFill>
            <a:srgbClr val="DAE3F5"/>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家庭</a:t>
            </a:r>
            <a:endParaRPr kumimoji="0" lang="en-US" altLang="zh-CN"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运营</a:t>
            </a:r>
            <a:endPar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p:txBody>
      </p:sp>
      <p:sp>
        <p:nvSpPr>
          <p:cNvPr id="61" name="矩形 60"/>
          <p:cNvSpPr/>
          <p:nvPr/>
        </p:nvSpPr>
        <p:spPr bwMode="auto">
          <a:xfrm>
            <a:off x="1375410" y="2388870"/>
            <a:ext cx="434975" cy="779780"/>
          </a:xfrm>
          <a:prstGeom prst="rect">
            <a:avLst/>
          </a:prstGeom>
          <a:solidFill>
            <a:srgbClr val="DAE3F5"/>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客户</a:t>
            </a:r>
            <a:endParaRPr kumimoji="0" lang="en-US" altLang="zh-CN"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运营</a:t>
            </a:r>
            <a:endPar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p:txBody>
      </p:sp>
      <p:sp>
        <p:nvSpPr>
          <p:cNvPr id="72" name="矩形 71"/>
          <p:cNvSpPr/>
          <p:nvPr/>
        </p:nvSpPr>
        <p:spPr bwMode="auto">
          <a:xfrm>
            <a:off x="1894840" y="2388870"/>
            <a:ext cx="434975" cy="779780"/>
          </a:xfrm>
          <a:prstGeom prst="rect">
            <a:avLst/>
          </a:prstGeom>
          <a:solidFill>
            <a:srgbClr val="DAE3F5"/>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产品</a:t>
            </a:r>
            <a:endParaRPr kumimoji="0" lang="en-US" altLang="zh-CN"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运营</a:t>
            </a:r>
            <a:endPar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p:txBody>
      </p:sp>
      <p:sp>
        <p:nvSpPr>
          <p:cNvPr id="75" name="矩形 74"/>
          <p:cNvSpPr/>
          <p:nvPr/>
        </p:nvSpPr>
        <p:spPr bwMode="auto">
          <a:xfrm>
            <a:off x="2465705" y="2388870"/>
            <a:ext cx="434975" cy="779780"/>
          </a:xfrm>
          <a:prstGeom prst="rect">
            <a:avLst/>
          </a:prstGeom>
          <a:solidFill>
            <a:srgbClr val="DAE3F5"/>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渠道运营</a:t>
            </a:r>
            <a:endPar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p:txBody>
      </p:sp>
      <p:sp>
        <p:nvSpPr>
          <p:cNvPr id="77" name="矩形 76"/>
          <p:cNvSpPr/>
          <p:nvPr/>
        </p:nvSpPr>
        <p:spPr bwMode="auto">
          <a:xfrm>
            <a:off x="3026410" y="2388870"/>
            <a:ext cx="434975" cy="779780"/>
          </a:xfrm>
          <a:prstGeom prst="rect">
            <a:avLst/>
          </a:prstGeom>
          <a:solidFill>
            <a:srgbClr val="DAE3F5"/>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中高端</a:t>
            </a:r>
            <a:r>
              <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运营</a:t>
            </a:r>
            <a:endParaRPr kumimoji="0" lang="zh-CN" altLang="en-US"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p:txBody>
      </p:sp>
      <p:sp>
        <p:nvSpPr>
          <p:cNvPr id="78" name="矩形 77"/>
          <p:cNvSpPr/>
          <p:nvPr/>
        </p:nvSpPr>
        <p:spPr bwMode="auto">
          <a:xfrm>
            <a:off x="3555365" y="2394585"/>
            <a:ext cx="434975" cy="779780"/>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zh-CN" altLang="en-US" sz="12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mn-ea"/>
              </a:rPr>
              <a:t>国际运营</a:t>
            </a:r>
            <a:endParaRPr kumimoji="0" lang="zh-CN" altLang="en-US" sz="12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mn-ea"/>
            </a:endParaRPr>
          </a:p>
        </p:txBody>
      </p:sp>
      <p:sp>
        <p:nvSpPr>
          <p:cNvPr id="79" name="矩形 78"/>
          <p:cNvSpPr/>
          <p:nvPr/>
        </p:nvSpPr>
        <p:spPr bwMode="auto">
          <a:xfrm>
            <a:off x="4078605" y="2385060"/>
            <a:ext cx="434975" cy="779780"/>
          </a:xfrm>
          <a:prstGeom prst="rect">
            <a:avLst/>
          </a:prstGeom>
          <a:solidFill>
            <a:srgbClr val="DAE3F5"/>
          </a:solidFill>
        </p:spPr>
        <p:style>
          <a:lnRef idx="3">
            <a:schemeClr val="lt1"/>
          </a:lnRef>
          <a:fillRef idx="1">
            <a:schemeClr val="accent1"/>
          </a:fillRef>
          <a:effectRef idx="1">
            <a:schemeClr val="accent1"/>
          </a:effectRef>
          <a:fontRef idx="minor">
            <a:schemeClr val="lt1"/>
          </a:fontRef>
        </p:style>
        <p:txBody>
          <a:bodyPr lIns="35997" tIns="0" rIns="35997" bIns="0" rtlCol="0" anchor="ctr" anchorCtr="0">
            <a:noAutofit/>
          </a:bodyPr>
          <a:p>
            <a:pPr marL="0" marR="0" lvl="0" indent="0" algn="ctr" defTabSz="962660" rtl="0" eaLnBrk="0" fontAlgn="auto" latinLnBrk="0" hangingPunct="0">
              <a:lnSpc>
                <a:spcPct val="120000"/>
              </a:lnSpc>
              <a:spcBef>
                <a:spcPts val="0"/>
              </a:spcBef>
              <a:spcAft>
                <a:spcPts val="0"/>
              </a:spcAft>
              <a:buClr>
                <a:srgbClr val="6699FF"/>
              </a:buClr>
              <a:buSzTx/>
              <a:buFontTx/>
              <a:buNone/>
              <a:defRPr/>
            </a:pPr>
            <a:r>
              <a:rPr kumimoji="0" lang="en-US" altLang="zh-CN"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a:t>
            </a:r>
            <a:endParaRPr kumimoji="0" lang="en-US" altLang="zh-CN" sz="12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endParaRPr>
          </a:p>
        </p:txBody>
      </p:sp>
      <p:sp>
        <p:nvSpPr>
          <p:cNvPr id="81" name="圆角矩形 65"/>
          <p:cNvSpPr/>
          <p:nvPr>
            <p:custDataLst>
              <p:tags r:id="rId24"/>
            </p:custDataLst>
          </p:nvPr>
        </p:nvSpPr>
        <p:spPr>
          <a:xfrm>
            <a:off x="1370965" y="3811270"/>
            <a:ext cx="1497965" cy="979170"/>
          </a:xfrm>
          <a:prstGeom prst="roundRect">
            <a:avLst/>
          </a:prstGeom>
          <a:solidFill>
            <a:schemeClr val="accent1">
              <a:alpha val="15000"/>
            </a:schemeClr>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8" charset="0"/>
              <a:sym typeface="+mn-ea"/>
            </a:endParaRPr>
          </a:p>
        </p:txBody>
      </p:sp>
      <p:sp>
        <p:nvSpPr>
          <p:cNvPr id="85" name="文本框 82"/>
          <p:cNvSpPr txBox="1"/>
          <p:nvPr>
            <p:custDataLst>
              <p:tags r:id="rId25"/>
            </p:custDataLst>
          </p:nvPr>
        </p:nvSpPr>
        <p:spPr>
          <a:xfrm>
            <a:off x="1748790" y="3839845"/>
            <a:ext cx="680085" cy="184150"/>
          </a:xfrm>
          <a:prstGeom prst="rect">
            <a:avLst/>
          </a:prstGeom>
          <a:noFill/>
        </p:spPr>
        <p:txBody>
          <a:bodyPr wrap="square" lIns="0" tIns="0" rIns="0" bIns="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lumMod val="75000"/>
                    <a:lumOff val="25000"/>
                  </a:srgbClr>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rPr>
              <a:t>看数</a:t>
            </a:r>
            <a:endParaRPr kumimoji="0" lang="zh-CN" altLang="en-US" sz="1200" b="1" i="0" u="none" strike="noStrike" kern="1200" cap="none" spc="0" normalizeH="0" baseline="0" noProof="0" dirty="0">
              <a:ln>
                <a:noFill/>
              </a:ln>
              <a:solidFill>
                <a:srgbClr val="000000">
                  <a:lumMod val="75000"/>
                  <a:lumOff val="25000"/>
                </a:srgbClr>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endParaRPr>
          </a:p>
        </p:txBody>
      </p:sp>
      <p:sp>
        <p:nvSpPr>
          <p:cNvPr id="86" name="圆角矩形 65"/>
          <p:cNvSpPr/>
          <p:nvPr>
            <p:custDataLst>
              <p:tags r:id="rId26"/>
            </p:custDataLst>
          </p:nvPr>
        </p:nvSpPr>
        <p:spPr>
          <a:xfrm>
            <a:off x="3021330" y="3820160"/>
            <a:ext cx="1497965" cy="979170"/>
          </a:xfrm>
          <a:prstGeom prst="roundRect">
            <a:avLst/>
          </a:prstGeom>
          <a:solidFill>
            <a:srgbClr val="C7D4ED"/>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8" charset="0"/>
              <a:sym typeface="+mn-ea"/>
            </a:endParaRPr>
          </a:p>
        </p:txBody>
      </p:sp>
      <p:sp>
        <p:nvSpPr>
          <p:cNvPr id="93" name="文本框 82"/>
          <p:cNvSpPr txBox="1"/>
          <p:nvPr>
            <p:custDataLst>
              <p:tags r:id="rId27"/>
            </p:custDataLst>
          </p:nvPr>
        </p:nvSpPr>
        <p:spPr>
          <a:xfrm>
            <a:off x="3398520" y="3848735"/>
            <a:ext cx="680085" cy="184150"/>
          </a:xfrm>
          <a:prstGeom prst="rect">
            <a:avLst/>
          </a:prstGeom>
          <a:noFill/>
        </p:spPr>
        <p:txBody>
          <a:bodyPr wrap="square" lIns="0" tIns="0" rIns="0" bIns="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lumMod val="75000"/>
                    <a:lumOff val="25000"/>
                  </a:srgbClr>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rPr>
              <a:t>定策</a:t>
            </a:r>
            <a:endParaRPr kumimoji="0" lang="zh-CN" altLang="en-US" sz="1200" b="1" i="0" u="none" strike="noStrike" kern="1200" cap="none" spc="0" normalizeH="0" baseline="0" noProof="0" dirty="0">
              <a:ln>
                <a:noFill/>
              </a:ln>
              <a:solidFill>
                <a:srgbClr val="000000">
                  <a:lumMod val="75000"/>
                  <a:lumOff val="25000"/>
                </a:srgbClr>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endParaRPr>
          </a:p>
        </p:txBody>
      </p:sp>
      <p:sp>
        <p:nvSpPr>
          <p:cNvPr id="95" name="圆角矩形 65"/>
          <p:cNvSpPr/>
          <p:nvPr>
            <p:custDataLst>
              <p:tags r:id="rId28"/>
            </p:custDataLst>
          </p:nvPr>
        </p:nvSpPr>
        <p:spPr>
          <a:xfrm>
            <a:off x="1369060" y="4863465"/>
            <a:ext cx="1497965" cy="979170"/>
          </a:xfrm>
          <a:prstGeom prst="roundRect">
            <a:avLst/>
          </a:prstGeom>
          <a:solidFill>
            <a:srgbClr val="5A80CF"/>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8" charset="0"/>
              <a:sym typeface="+mn-ea"/>
            </a:endParaRPr>
          </a:p>
        </p:txBody>
      </p:sp>
      <p:sp>
        <p:nvSpPr>
          <p:cNvPr id="96" name="文本框 82"/>
          <p:cNvSpPr txBox="1"/>
          <p:nvPr>
            <p:custDataLst>
              <p:tags r:id="rId29"/>
            </p:custDataLst>
          </p:nvPr>
        </p:nvSpPr>
        <p:spPr>
          <a:xfrm>
            <a:off x="1746885" y="4892040"/>
            <a:ext cx="680085" cy="184150"/>
          </a:xfrm>
          <a:prstGeom prst="rect">
            <a:avLst/>
          </a:prstGeom>
          <a:noFill/>
        </p:spPr>
        <p:txBody>
          <a:bodyPr wrap="square" lIns="0" tIns="0" rIns="0" bIns="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rPr>
              <a:t>评估</a:t>
            </a:r>
            <a:endParaRPr kumimoji="0" lang="zh-CN" altLang="en-US" sz="1200" b="1" i="0"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endParaRPr>
          </a:p>
        </p:txBody>
      </p:sp>
      <p:sp>
        <p:nvSpPr>
          <p:cNvPr id="97" name="圆角矩形 65"/>
          <p:cNvSpPr/>
          <p:nvPr>
            <p:custDataLst>
              <p:tags r:id="rId30"/>
            </p:custDataLst>
          </p:nvPr>
        </p:nvSpPr>
        <p:spPr>
          <a:xfrm>
            <a:off x="3001010" y="4863465"/>
            <a:ext cx="1497965" cy="979170"/>
          </a:xfrm>
          <a:prstGeom prst="roundRect">
            <a:avLst/>
          </a:prstGeom>
          <a:solidFill>
            <a:srgbClr val="87A3DB"/>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8" charset="0"/>
              <a:sym typeface="+mn-ea"/>
            </a:endParaRPr>
          </a:p>
        </p:txBody>
      </p:sp>
      <p:sp>
        <p:nvSpPr>
          <p:cNvPr id="98" name="文本框 82"/>
          <p:cNvSpPr txBox="1"/>
          <p:nvPr>
            <p:custDataLst>
              <p:tags r:id="rId31"/>
            </p:custDataLst>
          </p:nvPr>
        </p:nvSpPr>
        <p:spPr>
          <a:xfrm>
            <a:off x="3378835" y="4892040"/>
            <a:ext cx="680085" cy="184150"/>
          </a:xfrm>
          <a:prstGeom prst="rect">
            <a:avLst/>
          </a:prstGeom>
          <a:noFill/>
        </p:spPr>
        <p:txBody>
          <a:bodyPr wrap="square" lIns="0" tIns="0" rIns="0" bIns="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rPr>
              <a:t>执行</a:t>
            </a:r>
            <a:endParaRPr kumimoji="0" lang="zh-CN" altLang="en-US" sz="1200" b="1" i="0"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微软雅黑" panose="020B0503020204020204" charset="-122"/>
              <a:ea typeface="微软雅黑" panose="020B0503020204020204" charset="-122"/>
              <a:cs typeface="OPPOSans R" panose="00020600040101010101" pitchFamily="18" charset="-122"/>
            </a:endParaRPr>
          </a:p>
        </p:txBody>
      </p:sp>
      <p:sp>
        <p:nvSpPr>
          <p:cNvPr id="100" name="文字框 99"/>
          <p:cNvSpPr txBox="1"/>
          <p:nvPr/>
        </p:nvSpPr>
        <p:spPr>
          <a:xfrm>
            <a:off x="3063240" y="4034155"/>
            <a:ext cx="1435735" cy="706755"/>
          </a:xfrm>
          <a:prstGeom prst="rect">
            <a:avLst/>
          </a:prstGeom>
          <a:noFill/>
        </p:spPr>
        <p:txBody>
          <a:bodyPr wrap="square" rtlCol="0" anchor="t">
            <a:spAutoFit/>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管理任务</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客户保有</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产品短板</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渠道管理</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endPar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生产任务</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客户看管</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精准营销</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问题督办</a:t>
            </a:r>
            <a:r>
              <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rPr>
              <a:t>..</a:t>
            </a:r>
            <a:endParaRPr lang="en-US" altLang="zh-CN" sz="1000" noProof="0">
              <a:ln>
                <a:noFill/>
              </a:ln>
              <a:solidFill>
                <a:srgbClr val="000000">
                  <a:lumMod val="75000"/>
                  <a:lumOff val="25000"/>
                </a:srgbClr>
              </a:solidFill>
              <a:effectLst/>
              <a:uLnTx/>
              <a:uFillTx/>
              <a:latin typeface="微软雅黑" panose="020B0503020204020204" charset="-122"/>
              <a:ea typeface="微软雅黑" panose="020B0503020204020204" charset="-122"/>
              <a:sym typeface="+mn-ea"/>
            </a:endParaRPr>
          </a:p>
        </p:txBody>
      </p:sp>
      <p:sp>
        <p:nvSpPr>
          <p:cNvPr id="102" name="圆角矩形 232"/>
          <p:cNvSpPr/>
          <p:nvPr>
            <p:custDataLst>
              <p:tags r:id="rId32"/>
            </p:custDataLst>
          </p:nvPr>
        </p:nvSpPr>
        <p:spPr>
          <a:xfrm>
            <a:off x="1491615" y="5126355"/>
            <a:ext cx="1278890" cy="254635"/>
          </a:xfrm>
          <a:prstGeom prst="roundRect">
            <a:avLst/>
          </a:prstGeom>
          <a:solidFill>
            <a:schemeClr val="bg1"/>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A80CF"/>
                </a:solidFill>
                <a:effectLst/>
                <a:uLnTx/>
                <a:uFillTx/>
                <a:latin typeface="微软雅黑" panose="020B0503020204020204" charset="-122"/>
                <a:ea typeface="微软雅黑" panose="020B0503020204020204" charset="-122"/>
                <a:cs typeface="8" charset="0"/>
                <a:sym typeface="+mn-ea"/>
              </a:rPr>
              <a:t>动作监控</a:t>
            </a:r>
            <a:endParaRPr kumimoji="0" lang="zh-CN" altLang="en-US" sz="1000" b="0" i="0" u="none" strike="noStrike" kern="1200" cap="none" spc="0" normalizeH="0" baseline="0" noProof="0" dirty="0">
              <a:ln>
                <a:noFill/>
              </a:ln>
              <a:solidFill>
                <a:srgbClr val="5A80CF"/>
              </a:solidFill>
              <a:effectLst/>
              <a:uLnTx/>
              <a:uFillTx/>
              <a:latin typeface="微软雅黑" panose="020B0503020204020204" charset="-122"/>
              <a:ea typeface="微软雅黑" panose="020B0503020204020204" charset="-122"/>
              <a:cs typeface="8" charset="0"/>
              <a:sym typeface="+mn-ea"/>
            </a:endParaRPr>
          </a:p>
        </p:txBody>
      </p:sp>
      <p:sp>
        <p:nvSpPr>
          <p:cNvPr id="103" name="圆角矩形 232"/>
          <p:cNvSpPr/>
          <p:nvPr>
            <p:custDataLst>
              <p:tags r:id="rId33"/>
            </p:custDataLst>
          </p:nvPr>
        </p:nvSpPr>
        <p:spPr>
          <a:xfrm>
            <a:off x="1491615" y="5427980"/>
            <a:ext cx="1278890" cy="254635"/>
          </a:xfrm>
          <a:prstGeom prst="roundRect">
            <a:avLst/>
          </a:prstGeom>
          <a:solidFill>
            <a:schemeClr val="bg1"/>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A80CF"/>
                </a:solidFill>
                <a:effectLst/>
                <a:uLnTx/>
                <a:uFillTx/>
                <a:latin typeface="微软雅黑" panose="020B0503020204020204" charset="-122"/>
                <a:ea typeface="微软雅黑" panose="020B0503020204020204" charset="-122"/>
                <a:cs typeface="8" charset="0"/>
                <a:sym typeface="+mn-ea"/>
              </a:rPr>
              <a:t>效果</a:t>
            </a:r>
            <a:r>
              <a:rPr kumimoji="0" lang="zh-CN" altLang="en-US" sz="1000" b="0" i="0" u="none" strike="noStrike" kern="1200" cap="none" spc="0" normalizeH="0" baseline="0" noProof="0" dirty="0">
                <a:ln>
                  <a:noFill/>
                </a:ln>
                <a:solidFill>
                  <a:srgbClr val="5A80CF"/>
                </a:solidFill>
                <a:effectLst/>
                <a:uLnTx/>
                <a:uFillTx/>
                <a:latin typeface="微软雅黑" panose="020B0503020204020204" charset="-122"/>
                <a:ea typeface="微软雅黑" panose="020B0503020204020204" charset="-122"/>
                <a:cs typeface="8" charset="0"/>
                <a:sym typeface="+mn-ea"/>
              </a:rPr>
              <a:t>评估</a:t>
            </a:r>
            <a:endParaRPr kumimoji="0" lang="zh-CN" altLang="en-US" sz="1000" b="0" i="0" u="none" strike="noStrike" kern="1200" cap="none" spc="0" normalizeH="0" baseline="0" noProof="0" dirty="0">
              <a:ln>
                <a:noFill/>
              </a:ln>
              <a:solidFill>
                <a:srgbClr val="5A80CF"/>
              </a:solidFill>
              <a:effectLst/>
              <a:uLnTx/>
              <a:uFillTx/>
              <a:latin typeface="微软雅黑" panose="020B0503020204020204" charset="-122"/>
              <a:ea typeface="微软雅黑" panose="020B0503020204020204" charset="-122"/>
              <a:cs typeface="8" charset="0"/>
              <a:sym typeface="+mn-ea"/>
            </a:endParaRPr>
          </a:p>
        </p:txBody>
      </p:sp>
      <p:sp>
        <p:nvSpPr>
          <p:cNvPr id="104" name="圆角矩形 51"/>
          <p:cNvSpPr/>
          <p:nvPr>
            <p:custDataLst>
              <p:tags r:id="rId34"/>
            </p:custDataLst>
          </p:nvPr>
        </p:nvSpPr>
        <p:spPr>
          <a:xfrm>
            <a:off x="3062605" y="5126355"/>
            <a:ext cx="1360170" cy="254000"/>
          </a:xfrm>
          <a:prstGeom prst="roundRect">
            <a:avLst/>
          </a:prstGeom>
          <a:solidFill>
            <a:srgbClr val="7CB6DE"/>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r>
              <a:rPr lang="zh-CN" altLang="en-US" sz="1000" noProof="0">
                <a:ln>
                  <a:noFill/>
                </a:ln>
                <a:solidFill>
                  <a:srgbClr val="FFFFFF"/>
                </a:solidFill>
                <a:effectLst/>
                <a:uLnTx/>
                <a:uFillTx/>
                <a:latin typeface="微软雅黑" panose="020B0503020204020204" charset="-122"/>
                <a:ea typeface="微软雅黑" panose="020B0503020204020204" charset="-122"/>
                <a:sym typeface="+mn-ea"/>
              </a:rPr>
              <a:t>工单精准调度</a:t>
            </a:r>
            <a:endParaRPr lang="zh-CN" altLang="en-US" sz="1000" noProof="0">
              <a:ln>
                <a:noFill/>
              </a:ln>
              <a:solidFill>
                <a:srgbClr val="FFFFFF"/>
              </a:solidFill>
              <a:effectLst/>
              <a:uLnTx/>
              <a:uFillTx/>
              <a:latin typeface="微软雅黑" panose="020B0503020204020204" charset="-122"/>
              <a:ea typeface="微软雅黑" panose="020B0503020204020204" charset="-122"/>
              <a:sym typeface="+mn-ea"/>
            </a:endParaRPr>
          </a:p>
        </p:txBody>
      </p:sp>
      <p:sp>
        <p:nvSpPr>
          <p:cNvPr id="105" name="圆角矩形 51"/>
          <p:cNvSpPr/>
          <p:nvPr>
            <p:custDataLst>
              <p:tags r:id="rId35"/>
            </p:custDataLst>
          </p:nvPr>
        </p:nvSpPr>
        <p:spPr>
          <a:xfrm>
            <a:off x="3062605" y="5428615"/>
            <a:ext cx="1360170" cy="254000"/>
          </a:xfrm>
          <a:prstGeom prst="roundRect">
            <a:avLst/>
          </a:prstGeom>
          <a:solidFill>
            <a:srgbClr val="7CB6DE"/>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r>
              <a:rPr lang="zh-CN" altLang="en-US" sz="1000" noProof="0">
                <a:ln>
                  <a:noFill/>
                </a:ln>
                <a:solidFill>
                  <a:srgbClr val="FFFFFF"/>
                </a:solidFill>
                <a:effectLst/>
                <a:uLnTx/>
                <a:uFillTx/>
                <a:latin typeface="微软雅黑" panose="020B0503020204020204" charset="-122"/>
                <a:ea typeface="微软雅黑" panose="020B0503020204020204" charset="-122"/>
                <a:sym typeface="+mn-ea"/>
              </a:rPr>
              <a:t>省</a:t>
            </a:r>
            <a:r>
              <a:rPr lang="en-US" altLang="zh-CN" sz="1000" noProof="0">
                <a:ln>
                  <a:noFill/>
                </a:ln>
                <a:solidFill>
                  <a:srgbClr val="FFFFFF"/>
                </a:solidFill>
                <a:effectLst/>
                <a:uLnTx/>
                <a:uFillTx/>
                <a:latin typeface="微软雅黑" panose="020B0503020204020204" charset="-122"/>
                <a:ea typeface="微软雅黑" panose="020B0503020204020204" charset="-122"/>
                <a:sym typeface="+mn-ea"/>
              </a:rPr>
              <a:t>/</a:t>
            </a:r>
            <a:r>
              <a:rPr lang="zh-CN" altLang="en-US" sz="1000" noProof="0">
                <a:ln>
                  <a:noFill/>
                </a:ln>
                <a:solidFill>
                  <a:srgbClr val="FFFFFF"/>
                </a:solidFill>
                <a:effectLst/>
                <a:uLnTx/>
                <a:uFillTx/>
                <a:latin typeface="微软雅黑" panose="020B0503020204020204" charset="-122"/>
                <a:ea typeface="微软雅黑" panose="020B0503020204020204" charset="-122"/>
                <a:sym typeface="+mn-ea"/>
              </a:rPr>
              <a:t>地市</a:t>
            </a:r>
            <a:r>
              <a:rPr lang="zh-CN" altLang="en-US" sz="1000" noProof="0">
                <a:ln>
                  <a:noFill/>
                </a:ln>
                <a:solidFill>
                  <a:srgbClr val="FFFFFF"/>
                </a:solidFill>
                <a:effectLst/>
                <a:uLnTx/>
                <a:uFillTx/>
                <a:latin typeface="微软雅黑" panose="020B0503020204020204" charset="-122"/>
                <a:ea typeface="微软雅黑" panose="020B0503020204020204" charset="-122"/>
                <a:sym typeface="+mn-ea"/>
              </a:rPr>
              <a:t>运营</a:t>
            </a:r>
            <a:endParaRPr lang="zh-CN" altLang="en-US" sz="1000" noProof="0">
              <a:ln>
                <a:noFill/>
              </a:ln>
              <a:solidFill>
                <a:srgbClr val="FFFFFF"/>
              </a:solidFill>
              <a:effectLst/>
              <a:uLnTx/>
              <a:uFillTx/>
              <a:latin typeface="微软雅黑" panose="020B0503020204020204" charset="-122"/>
              <a:ea typeface="微软雅黑" panose="020B0503020204020204" charset="-122"/>
              <a:sym typeface="+mn-ea"/>
            </a:endParaRPr>
          </a:p>
        </p:txBody>
      </p:sp>
      <p:sp>
        <p:nvSpPr>
          <p:cNvPr id="106" name="圆角矩形 232"/>
          <p:cNvSpPr/>
          <p:nvPr>
            <p:custDataLst>
              <p:tags r:id="rId36"/>
            </p:custDataLst>
          </p:nvPr>
        </p:nvSpPr>
        <p:spPr>
          <a:xfrm>
            <a:off x="1491615" y="4062730"/>
            <a:ext cx="1278890" cy="254635"/>
          </a:xfrm>
          <a:prstGeom prst="roundRect">
            <a:avLst/>
          </a:prstGeom>
          <a:solidFill>
            <a:schemeClr val="bg1"/>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大屏</a:t>
            </a:r>
            <a:r>
              <a:rPr kumimoji="0" lang="en-US" altLang="zh-CN"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a:t>
            </a:r>
            <a:r>
              <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中屏</a:t>
            </a:r>
            <a:r>
              <a:rPr kumimoji="0" lang="en-US" altLang="zh-CN"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a:t>
            </a:r>
            <a:r>
              <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小屏</a:t>
            </a:r>
            <a:endPar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endParaRPr>
          </a:p>
        </p:txBody>
      </p:sp>
      <p:sp>
        <p:nvSpPr>
          <p:cNvPr id="107" name="圆角矩形 232"/>
          <p:cNvSpPr/>
          <p:nvPr>
            <p:custDataLst>
              <p:tags r:id="rId37"/>
            </p:custDataLst>
          </p:nvPr>
        </p:nvSpPr>
        <p:spPr>
          <a:xfrm>
            <a:off x="1491615" y="4386580"/>
            <a:ext cx="1278890" cy="254635"/>
          </a:xfrm>
          <a:prstGeom prst="roundRect">
            <a:avLst/>
          </a:prstGeom>
          <a:solidFill>
            <a:schemeClr val="bg1"/>
          </a:solidFill>
          <a:ln w="25400">
            <a:noFill/>
          </a:ln>
          <a:effectLst>
            <a:outerShdw blurRad="246850" dist="89764" dir="5400000" sx="94000" sy="94000" algn="t" rotWithShape="0">
              <a:schemeClr val="accent2">
                <a:lumMod val="20000"/>
                <a:lumOff val="80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0787" tIns="40394" rIns="80787" bIns="40394"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多业务</a:t>
            </a:r>
            <a:r>
              <a:rPr kumimoji="0" lang="en-US" altLang="zh-CN"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a:t>
            </a:r>
            <a:r>
              <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rPr>
              <a:t>多维度</a:t>
            </a:r>
            <a:endParaRPr kumimoji="0" lang="zh-CN" altLang="en-US" sz="10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8" charset="0"/>
              <a:sym typeface="+mn-ea"/>
            </a:endParaRPr>
          </a:p>
        </p:txBody>
      </p:sp>
      <p:sp>
        <p:nvSpPr>
          <p:cNvPr id="111" name="矩形 110"/>
          <p:cNvSpPr/>
          <p:nvPr/>
        </p:nvSpPr>
        <p:spPr>
          <a:xfrm>
            <a:off x="5076190" y="2803525"/>
            <a:ext cx="6896735" cy="2451100"/>
          </a:xfrm>
          <a:prstGeom prst="rect">
            <a:avLst/>
          </a:prstGeom>
          <a:noFill/>
          <a:ln>
            <a:solidFill>
              <a:schemeClr val="bg1">
                <a:lumMod val="85000"/>
              </a:schemeClr>
            </a:solidFill>
          </a:ln>
          <a:extLst>
            <a:ext uri="{909E8E84-426E-40DD-AFC4-6F175D3DCCD1}">
              <a14:hiddenFill xmlns:a14="http://schemas.microsoft.com/office/drawing/2010/main">
                <a:solidFill>
                  <a:schemeClr val="bg1">
                    <a:lumMod val="95000"/>
                  </a:schemeClr>
                </a:solidFill>
              </a14:hiddenFill>
            </a:ext>
          </a:extLst>
        </p:spPr>
        <p:txBody>
          <a:bodyPr wrap="square" lIns="0" tIns="0" rIns="0" bIns="0" rtlCol="0"/>
          <a:p>
            <a:pPr algn="ctr"/>
            <a:endParaRPr lang="zh-CN" altLang="en-US"/>
          </a:p>
        </p:txBody>
      </p:sp>
      <p:cxnSp>
        <p:nvCxnSpPr>
          <p:cNvPr id="112" name="肘形連接符 111"/>
          <p:cNvCxnSpPr>
            <a:stCxn id="78" idx="3"/>
          </p:cNvCxnSpPr>
          <p:nvPr/>
        </p:nvCxnSpPr>
        <p:spPr>
          <a:xfrm>
            <a:off x="3990340" y="2784475"/>
            <a:ext cx="1169035" cy="3175"/>
          </a:xfrm>
          <a:prstGeom prst="bentConnector3">
            <a:avLst>
              <a:gd name="adj1" fmla="val 50027"/>
            </a:avLst>
          </a:prstGeom>
          <a:ln>
            <a:tailEnd type="arrow"/>
          </a:ln>
        </p:spPr>
        <p:style>
          <a:lnRef idx="2">
            <a:schemeClr val="accent1"/>
          </a:lnRef>
          <a:fillRef idx="0">
            <a:srgbClr val="FFFFFF"/>
          </a:fillRef>
          <a:effectRef idx="0">
            <a:srgbClr val="FFFFFF"/>
          </a:effectRef>
          <a:fontRef idx="minor">
            <a:schemeClr val="tx1"/>
          </a:fontRef>
        </p:style>
      </p:cxnSp>
      <p:sp>
        <p:nvSpPr>
          <p:cNvPr id="113" name="文字框 112"/>
          <p:cNvSpPr txBox="1"/>
          <p:nvPr/>
        </p:nvSpPr>
        <p:spPr>
          <a:xfrm>
            <a:off x="7609840" y="2640330"/>
            <a:ext cx="1829435" cy="337185"/>
          </a:xfrm>
          <a:prstGeom prst="rect">
            <a:avLst/>
          </a:prstGeom>
          <a:solidFill>
            <a:schemeClr val="bg1"/>
          </a:solidFill>
        </p:spPr>
        <p:txBody>
          <a:bodyPr wrap="square" rtlCol="0">
            <a:spAutoFit/>
          </a:bodyPr>
          <a:p>
            <a:pPr algn="ctr"/>
            <a:r>
              <a:rPr lang="zh-CN" altLang="zh-HK" sz="1600" b="1">
                <a:solidFill>
                  <a:srgbClr val="0070BF"/>
                </a:solidFill>
              </a:rPr>
              <a:t>国际运营专区</a:t>
            </a:r>
            <a:endParaRPr lang="zh-CN" altLang="zh-HK" sz="1600" b="1">
              <a:solidFill>
                <a:srgbClr val="0070BF"/>
              </a:solidFill>
            </a:endParaRPr>
          </a:p>
        </p:txBody>
      </p:sp>
      <p:sp>
        <p:nvSpPr>
          <p:cNvPr id="122" name="矩形 121"/>
          <p:cNvSpPr/>
          <p:nvPr/>
        </p:nvSpPr>
        <p:spPr>
          <a:xfrm>
            <a:off x="5161280" y="3116580"/>
            <a:ext cx="2034540" cy="154622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200">
              <a:solidFill>
                <a:schemeClr val="tx1"/>
              </a:solidFill>
            </a:endParaRPr>
          </a:p>
        </p:txBody>
      </p:sp>
      <p:sp>
        <p:nvSpPr>
          <p:cNvPr id="123" name="文字框 122"/>
          <p:cNvSpPr txBox="1"/>
          <p:nvPr/>
        </p:nvSpPr>
        <p:spPr>
          <a:xfrm>
            <a:off x="5520690" y="3116580"/>
            <a:ext cx="1428750" cy="306705"/>
          </a:xfrm>
          <a:prstGeom prst="rect">
            <a:avLst/>
          </a:prstGeom>
          <a:noFill/>
        </p:spPr>
        <p:txBody>
          <a:bodyPr wrap="square" rtlCol="0">
            <a:spAutoFit/>
          </a:bodyPr>
          <a:p>
            <a:pPr algn="ctr"/>
            <a:r>
              <a:rPr lang="zh-CN" altLang="zh-HK" sz="1400" b="1"/>
              <a:t>原子产品管理</a:t>
            </a:r>
            <a:endParaRPr lang="zh-CN" altLang="zh-HK" sz="1400" b="1"/>
          </a:p>
        </p:txBody>
      </p:sp>
      <p:sp>
        <p:nvSpPr>
          <p:cNvPr id="124" name="矩形 123"/>
          <p:cNvSpPr/>
          <p:nvPr/>
        </p:nvSpPr>
        <p:spPr>
          <a:xfrm>
            <a:off x="5274310" y="3549015"/>
            <a:ext cx="1810385" cy="281940"/>
          </a:xfrm>
          <a:prstGeom prst="rect">
            <a:avLst/>
          </a:prstGeom>
          <a:solidFill>
            <a:schemeClr val="bg1"/>
          </a:solidFill>
        </p:spPr>
        <p:txBody>
          <a:bodyPr wrap="square" lIns="0" tIns="0" rIns="0" bIns="0" rtlCol="0" anchor="ctr" anchorCtr="0"/>
          <a:p>
            <a:pPr algn="ctr"/>
            <a:r>
              <a:rPr lang="zh-CN" altLang="en-US" sz="1000">
                <a:solidFill>
                  <a:schemeClr val="tx1"/>
                </a:solidFill>
              </a:rPr>
              <a:t>存量原子产品库清单展示</a:t>
            </a:r>
            <a:endParaRPr lang="zh-CN" altLang="en-US" sz="1000">
              <a:solidFill>
                <a:schemeClr val="tx1"/>
              </a:solidFill>
            </a:endParaRPr>
          </a:p>
        </p:txBody>
      </p:sp>
      <p:sp>
        <p:nvSpPr>
          <p:cNvPr id="125" name="矩形 124"/>
          <p:cNvSpPr/>
          <p:nvPr/>
        </p:nvSpPr>
        <p:spPr>
          <a:xfrm>
            <a:off x="5274310" y="4266565"/>
            <a:ext cx="1811020" cy="281940"/>
          </a:xfrm>
          <a:prstGeom prst="rect">
            <a:avLst/>
          </a:prstGeom>
          <a:solidFill>
            <a:schemeClr val="bg1"/>
          </a:solidFill>
        </p:spPr>
        <p:txBody>
          <a:bodyPr wrap="square" lIns="0" tIns="0" rIns="0" bIns="0" rtlCol="0" anchor="ctr" anchorCtr="0"/>
          <a:p>
            <a:pPr algn="ctr"/>
            <a:r>
              <a:rPr lang="zh-CN" altLang="en-US" sz="1000">
                <a:solidFill>
                  <a:schemeClr val="tx1"/>
                </a:solidFill>
              </a:rPr>
              <a:t>新增产品工单管理</a:t>
            </a:r>
            <a:endParaRPr lang="zh-CN" altLang="en-US" sz="1000">
              <a:solidFill>
                <a:schemeClr val="tx1"/>
              </a:solidFill>
            </a:endParaRPr>
          </a:p>
        </p:txBody>
      </p:sp>
      <p:sp>
        <p:nvSpPr>
          <p:cNvPr id="126" name="矩形 125"/>
          <p:cNvSpPr/>
          <p:nvPr/>
        </p:nvSpPr>
        <p:spPr>
          <a:xfrm>
            <a:off x="5274310" y="3903980"/>
            <a:ext cx="1811020" cy="281940"/>
          </a:xfrm>
          <a:prstGeom prst="rect">
            <a:avLst/>
          </a:prstGeom>
          <a:solidFill>
            <a:schemeClr val="bg1"/>
          </a:solidFill>
        </p:spPr>
        <p:txBody>
          <a:bodyPr wrap="square" lIns="0" tIns="0" rIns="0" bIns="0" rtlCol="0" anchor="ctr" anchorCtr="0"/>
          <a:p>
            <a:pPr algn="ctr"/>
            <a:r>
              <a:rPr lang="zh-CN" altLang="en-US" sz="1000">
                <a:solidFill>
                  <a:schemeClr val="tx1"/>
                </a:solidFill>
              </a:rPr>
              <a:t>工单进度查询</a:t>
            </a:r>
            <a:endParaRPr lang="zh-CN" altLang="en-US" sz="1000">
              <a:solidFill>
                <a:schemeClr val="tx1"/>
              </a:solidFill>
            </a:endParaRPr>
          </a:p>
        </p:txBody>
      </p:sp>
      <p:sp>
        <p:nvSpPr>
          <p:cNvPr id="150" name="矩形 149"/>
          <p:cNvSpPr/>
          <p:nvPr/>
        </p:nvSpPr>
        <p:spPr>
          <a:xfrm>
            <a:off x="7380605" y="3116580"/>
            <a:ext cx="2165985" cy="154622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200">
              <a:solidFill>
                <a:schemeClr val="tx1"/>
              </a:solidFill>
            </a:endParaRPr>
          </a:p>
        </p:txBody>
      </p:sp>
      <p:sp>
        <p:nvSpPr>
          <p:cNvPr id="151" name="文字框 150"/>
          <p:cNvSpPr txBox="1"/>
          <p:nvPr/>
        </p:nvSpPr>
        <p:spPr>
          <a:xfrm>
            <a:off x="7594600" y="3116580"/>
            <a:ext cx="1804035" cy="306705"/>
          </a:xfrm>
          <a:prstGeom prst="rect">
            <a:avLst/>
          </a:prstGeom>
          <a:noFill/>
        </p:spPr>
        <p:txBody>
          <a:bodyPr wrap="square" rtlCol="0">
            <a:spAutoFit/>
          </a:bodyPr>
          <a:p>
            <a:pPr algn="ctr"/>
            <a:r>
              <a:rPr lang="zh-CN" altLang="zh-HK" sz="1400" b="1"/>
              <a:t>国际业务数据</a:t>
            </a:r>
            <a:r>
              <a:rPr lang="zh-CN" altLang="zh-HK" sz="1400" b="1"/>
              <a:t>看板</a:t>
            </a:r>
            <a:endParaRPr lang="zh-CN" altLang="zh-HK" sz="1400" b="1"/>
          </a:p>
        </p:txBody>
      </p:sp>
      <p:sp>
        <p:nvSpPr>
          <p:cNvPr id="160" name="矩形 159"/>
          <p:cNvSpPr/>
          <p:nvPr/>
        </p:nvSpPr>
        <p:spPr>
          <a:xfrm>
            <a:off x="9796145" y="3117215"/>
            <a:ext cx="2096770" cy="154622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200">
              <a:solidFill>
                <a:schemeClr val="tx1"/>
              </a:solidFill>
            </a:endParaRPr>
          </a:p>
        </p:txBody>
      </p:sp>
      <p:sp>
        <p:nvSpPr>
          <p:cNvPr id="162" name="文字框 161"/>
          <p:cNvSpPr txBox="1"/>
          <p:nvPr/>
        </p:nvSpPr>
        <p:spPr>
          <a:xfrm>
            <a:off x="10081895" y="3116580"/>
            <a:ext cx="1529715" cy="306705"/>
          </a:xfrm>
          <a:prstGeom prst="rect">
            <a:avLst/>
          </a:prstGeom>
          <a:noFill/>
        </p:spPr>
        <p:txBody>
          <a:bodyPr wrap="square" rtlCol="0">
            <a:spAutoFit/>
          </a:bodyPr>
          <a:p>
            <a:pPr algn="ctr"/>
            <a:r>
              <a:rPr lang="zh-CN" altLang="en-US" sz="1400" b="1"/>
              <a:t>营销素材</a:t>
            </a:r>
            <a:r>
              <a:rPr lang="zh-CN" altLang="en-US" sz="1400" b="1"/>
              <a:t>管理</a:t>
            </a:r>
            <a:endParaRPr lang="zh-CN" altLang="en-US" sz="1400" b="1"/>
          </a:p>
        </p:txBody>
      </p:sp>
      <p:sp>
        <p:nvSpPr>
          <p:cNvPr id="152" name="矩形 151"/>
          <p:cNvSpPr/>
          <p:nvPr/>
        </p:nvSpPr>
        <p:spPr>
          <a:xfrm>
            <a:off x="7531735" y="3549015"/>
            <a:ext cx="1897380" cy="260985"/>
          </a:xfrm>
          <a:prstGeom prst="rect">
            <a:avLst/>
          </a:prstGeom>
          <a:solidFill>
            <a:schemeClr val="bg1"/>
          </a:solidFill>
        </p:spPr>
        <p:txBody>
          <a:bodyPr wrap="square" lIns="0" tIns="0" rIns="0" bIns="0" rtlCol="0" anchor="ctr" anchorCtr="0"/>
          <a:p>
            <a:pPr algn="ctr"/>
            <a:r>
              <a:rPr lang="zh-CN" altLang="en-US" sz="1000">
                <a:solidFill>
                  <a:schemeClr val="tx1"/>
                </a:solidFill>
              </a:rPr>
              <a:t>管理数据分析</a:t>
            </a:r>
            <a:endParaRPr lang="zh-CN" altLang="en-US" sz="1000">
              <a:solidFill>
                <a:schemeClr val="tx1"/>
              </a:solidFill>
            </a:endParaRPr>
          </a:p>
        </p:txBody>
      </p:sp>
      <p:sp>
        <p:nvSpPr>
          <p:cNvPr id="155" name="矩形 154"/>
          <p:cNvSpPr/>
          <p:nvPr/>
        </p:nvSpPr>
        <p:spPr>
          <a:xfrm>
            <a:off x="7531735" y="3903980"/>
            <a:ext cx="1897380" cy="281940"/>
          </a:xfrm>
          <a:prstGeom prst="rect">
            <a:avLst/>
          </a:prstGeom>
          <a:solidFill>
            <a:schemeClr val="bg1"/>
          </a:solidFill>
        </p:spPr>
        <p:txBody>
          <a:bodyPr wrap="square" lIns="0" tIns="0" rIns="0" bIns="0" rtlCol="0" anchor="ctr" anchorCtr="0"/>
          <a:p>
            <a:pPr algn="ctr"/>
            <a:r>
              <a:rPr lang="zh-CN" altLang="en-US" sz="1000">
                <a:solidFill>
                  <a:schemeClr val="tx1"/>
                </a:solidFill>
              </a:rPr>
              <a:t>运营数据</a:t>
            </a:r>
            <a:r>
              <a:rPr lang="zh-CN" altLang="en-US" sz="1000">
                <a:solidFill>
                  <a:schemeClr val="tx1"/>
                </a:solidFill>
              </a:rPr>
              <a:t>分析</a:t>
            </a:r>
            <a:endParaRPr lang="zh-CN" altLang="en-US" sz="1000">
              <a:solidFill>
                <a:schemeClr val="tx1"/>
              </a:solidFill>
            </a:endParaRPr>
          </a:p>
        </p:txBody>
      </p:sp>
      <p:sp>
        <p:nvSpPr>
          <p:cNvPr id="5" name="矩形 4"/>
          <p:cNvSpPr/>
          <p:nvPr/>
        </p:nvSpPr>
        <p:spPr>
          <a:xfrm>
            <a:off x="7531735" y="4266565"/>
            <a:ext cx="1897380" cy="281940"/>
          </a:xfrm>
          <a:prstGeom prst="rect">
            <a:avLst/>
          </a:prstGeom>
          <a:solidFill>
            <a:schemeClr val="bg1"/>
          </a:solidFill>
        </p:spPr>
        <p:txBody>
          <a:bodyPr wrap="square" lIns="0" tIns="0" rIns="0" bIns="0" rtlCol="0" anchor="ctr" anchorCtr="0"/>
          <a:p>
            <a:pPr algn="ctr"/>
            <a:r>
              <a:rPr lang="zh-CN" altLang="en-US" sz="1000">
                <a:solidFill>
                  <a:schemeClr val="tx1"/>
                </a:solidFill>
              </a:rPr>
              <a:t>结果展示大屏</a:t>
            </a:r>
            <a:endParaRPr lang="zh-CN" altLang="en-US" sz="1000">
              <a:solidFill>
                <a:schemeClr val="tx1"/>
              </a:solidFill>
            </a:endParaRPr>
          </a:p>
        </p:txBody>
      </p:sp>
      <p:sp>
        <p:nvSpPr>
          <p:cNvPr id="17" name="矩形 16"/>
          <p:cNvSpPr/>
          <p:nvPr/>
        </p:nvSpPr>
        <p:spPr>
          <a:xfrm>
            <a:off x="9897745" y="3559175"/>
            <a:ext cx="1897380" cy="271780"/>
          </a:xfrm>
          <a:prstGeom prst="rect">
            <a:avLst/>
          </a:prstGeom>
          <a:solidFill>
            <a:schemeClr val="bg1"/>
          </a:solidFill>
        </p:spPr>
        <p:txBody>
          <a:bodyPr wrap="square" lIns="0" tIns="0" rIns="0" bIns="0" rtlCol="0" anchor="ctr" anchorCtr="0"/>
          <a:p>
            <a:pPr algn="ctr"/>
            <a:r>
              <a:rPr lang="zh-CN" altLang="en-US" sz="1000">
                <a:solidFill>
                  <a:schemeClr val="tx1"/>
                </a:solidFill>
              </a:rPr>
              <a:t>素材库资源</a:t>
            </a:r>
            <a:r>
              <a:rPr lang="zh-CN" altLang="en-US" sz="1000">
                <a:solidFill>
                  <a:schemeClr val="tx1"/>
                </a:solidFill>
              </a:rPr>
              <a:t>池</a:t>
            </a:r>
            <a:endParaRPr lang="zh-CN" altLang="en-US" sz="1000">
              <a:solidFill>
                <a:schemeClr val="tx1"/>
              </a:solidFill>
            </a:endParaRPr>
          </a:p>
        </p:txBody>
      </p:sp>
      <p:sp>
        <p:nvSpPr>
          <p:cNvPr id="18" name="矩形 17"/>
          <p:cNvSpPr/>
          <p:nvPr/>
        </p:nvSpPr>
        <p:spPr>
          <a:xfrm>
            <a:off x="9897745" y="3914140"/>
            <a:ext cx="1897380" cy="271780"/>
          </a:xfrm>
          <a:prstGeom prst="rect">
            <a:avLst/>
          </a:prstGeom>
          <a:solidFill>
            <a:schemeClr val="bg1"/>
          </a:solidFill>
        </p:spPr>
        <p:txBody>
          <a:bodyPr wrap="square" lIns="0" tIns="0" rIns="0" bIns="0" rtlCol="0" anchor="ctr" anchorCtr="0"/>
          <a:p>
            <a:pPr algn="ctr"/>
            <a:r>
              <a:rPr lang="zh-CN" altLang="en-US" sz="1000">
                <a:solidFill>
                  <a:schemeClr val="tx1"/>
                </a:solidFill>
              </a:rPr>
              <a:t>角色权限</a:t>
            </a:r>
            <a:r>
              <a:rPr lang="zh-CN" altLang="en-US" sz="1000">
                <a:solidFill>
                  <a:schemeClr val="tx1"/>
                </a:solidFill>
              </a:rPr>
              <a:t>管理</a:t>
            </a:r>
            <a:endParaRPr lang="zh-CN" altLang="en-US" sz="1000">
              <a:solidFill>
                <a:schemeClr val="tx1"/>
              </a:solidFill>
            </a:endParaRPr>
          </a:p>
        </p:txBody>
      </p:sp>
      <p:sp>
        <p:nvSpPr>
          <p:cNvPr id="19" name="矩形 18"/>
          <p:cNvSpPr/>
          <p:nvPr/>
        </p:nvSpPr>
        <p:spPr>
          <a:xfrm>
            <a:off x="9897745" y="4266565"/>
            <a:ext cx="1897380" cy="271780"/>
          </a:xfrm>
          <a:prstGeom prst="rect">
            <a:avLst/>
          </a:prstGeom>
          <a:solidFill>
            <a:schemeClr val="bg1"/>
          </a:solidFill>
        </p:spPr>
        <p:txBody>
          <a:bodyPr wrap="square" lIns="0" tIns="0" rIns="0" bIns="0" rtlCol="0" anchor="ctr" anchorCtr="0"/>
          <a:p>
            <a:pPr algn="ctr"/>
            <a:r>
              <a:rPr lang="zh-CN" altLang="en-US" sz="1000">
                <a:solidFill>
                  <a:schemeClr val="tx1"/>
                </a:solidFill>
              </a:rPr>
              <a:t>资源审批</a:t>
            </a:r>
            <a:r>
              <a:rPr lang="zh-CN" altLang="en-US" sz="1000">
                <a:solidFill>
                  <a:schemeClr val="tx1"/>
                </a:solidFill>
              </a:rPr>
              <a:t>管理</a:t>
            </a:r>
            <a:endParaRPr lang="zh-CN" altLang="en-US" sz="1000">
              <a:solidFill>
                <a:schemeClr val="tx1"/>
              </a:solidFill>
            </a:endParaRPr>
          </a:p>
        </p:txBody>
      </p:sp>
      <p:grpSp>
        <p:nvGrpSpPr>
          <p:cNvPr id="11" name="组合 10"/>
          <p:cNvGrpSpPr/>
          <p:nvPr/>
        </p:nvGrpSpPr>
        <p:grpSpPr>
          <a:xfrm>
            <a:off x="5186045" y="5674995"/>
            <a:ext cx="3294380" cy="824230"/>
            <a:chOff x="8167" y="7577"/>
            <a:chExt cx="5188" cy="1298"/>
          </a:xfrm>
        </p:grpSpPr>
        <p:grpSp>
          <p:nvGrpSpPr>
            <p:cNvPr id="21" name="組合 20"/>
            <p:cNvGrpSpPr/>
            <p:nvPr/>
          </p:nvGrpSpPr>
          <p:grpSpPr>
            <a:xfrm rot="0">
              <a:off x="8167" y="7577"/>
              <a:ext cx="5189" cy="1298"/>
              <a:chOff x="8167" y="7577"/>
              <a:chExt cx="3832" cy="1298"/>
            </a:xfrm>
          </p:grpSpPr>
          <p:sp>
            <p:nvSpPr>
              <p:cNvPr id="14" name="矩形 13"/>
              <p:cNvSpPr/>
              <p:nvPr/>
            </p:nvSpPr>
            <p:spPr>
              <a:xfrm>
                <a:off x="8167" y="7577"/>
                <a:ext cx="3832" cy="1298"/>
              </a:xfrm>
              <a:prstGeom prst="rect">
                <a:avLst/>
              </a:prstGeom>
              <a:solidFill>
                <a:schemeClr val="bg1">
                  <a:lumMod val="95000"/>
                </a:schemeClr>
              </a:solidFill>
            </p:spPr>
            <p:txBody>
              <a:bodyPr wrap="square" lIns="0" tIns="0" rIns="0" bIns="0" rtlCol="0"/>
              <a:p>
                <a:pPr algn="ctr"/>
                <a:endParaRPr lang="zh-CN" altLang="en-US"/>
              </a:p>
            </p:txBody>
          </p:sp>
          <p:sp>
            <p:nvSpPr>
              <p:cNvPr id="15" name="文字框 114"/>
              <p:cNvSpPr txBox="1"/>
              <p:nvPr/>
            </p:nvSpPr>
            <p:spPr>
              <a:xfrm>
                <a:off x="8643" y="7666"/>
                <a:ext cx="2881" cy="531"/>
              </a:xfrm>
              <a:prstGeom prst="rect">
                <a:avLst/>
              </a:prstGeom>
              <a:noFill/>
            </p:spPr>
            <p:txBody>
              <a:bodyPr wrap="square" rtlCol="0">
                <a:spAutoFit/>
              </a:bodyPr>
              <a:p>
                <a:pPr algn="ctr"/>
                <a:r>
                  <a:rPr lang="zh-CN" altLang="zh-HK" sz="1600" b="1">
                    <a:solidFill>
                      <a:srgbClr val="0070BF"/>
                    </a:solidFill>
                  </a:rPr>
                  <a:t>产商品</a:t>
                </a:r>
                <a:r>
                  <a:rPr lang="zh-CN" altLang="zh-HK" sz="1600" b="1">
                    <a:solidFill>
                      <a:srgbClr val="0070BF"/>
                    </a:solidFill>
                  </a:rPr>
                  <a:t>中心</a:t>
                </a:r>
                <a:endParaRPr lang="zh-CN" altLang="zh-HK" sz="1600" b="1">
                  <a:solidFill>
                    <a:srgbClr val="0070BF"/>
                  </a:solidFill>
                </a:endParaRPr>
              </a:p>
            </p:txBody>
          </p:sp>
        </p:grpSp>
        <p:sp>
          <p:nvSpPr>
            <p:cNvPr id="121" name="矩形 120"/>
            <p:cNvSpPr/>
            <p:nvPr/>
          </p:nvSpPr>
          <p:spPr>
            <a:xfrm>
              <a:off x="8531" y="8197"/>
              <a:ext cx="2179" cy="49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原子产品库</a:t>
              </a:r>
              <a:endParaRPr lang="zh-CN" altLang="zh-HK" sz="1000">
                <a:solidFill>
                  <a:schemeClr val="tx1"/>
                </a:solidFill>
              </a:endParaRPr>
            </a:p>
          </p:txBody>
        </p:sp>
        <p:sp>
          <p:nvSpPr>
            <p:cNvPr id="135" name="矩形 134"/>
            <p:cNvSpPr/>
            <p:nvPr/>
          </p:nvSpPr>
          <p:spPr>
            <a:xfrm>
              <a:off x="10902" y="8206"/>
              <a:ext cx="2179" cy="49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新增进度同步</a:t>
              </a:r>
              <a:endParaRPr lang="zh-CN" altLang="zh-HK" sz="1000">
                <a:solidFill>
                  <a:schemeClr val="tx1"/>
                </a:solidFill>
              </a:endParaRPr>
            </a:p>
          </p:txBody>
        </p:sp>
      </p:grpSp>
      <p:sp>
        <p:nvSpPr>
          <p:cNvPr id="23" name="矩形 22"/>
          <p:cNvSpPr/>
          <p:nvPr/>
        </p:nvSpPr>
        <p:spPr>
          <a:xfrm>
            <a:off x="5029200" y="1515110"/>
            <a:ext cx="3295015" cy="615315"/>
          </a:xfrm>
          <a:prstGeom prst="rect">
            <a:avLst/>
          </a:prstGeom>
          <a:solidFill>
            <a:schemeClr val="bg1">
              <a:lumMod val="95000"/>
            </a:schemeClr>
          </a:solidFill>
        </p:spPr>
        <p:txBody>
          <a:bodyPr wrap="square" lIns="0" tIns="0" rIns="0" bIns="0" rtlCol="0"/>
          <a:p>
            <a:pPr algn="ctr"/>
            <a:endParaRPr lang="zh-CN" altLang="en-US"/>
          </a:p>
        </p:txBody>
      </p:sp>
      <p:sp>
        <p:nvSpPr>
          <p:cNvPr id="24" name="文字框 114"/>
          <p:cNvSpPr txBox="1"/>
          <p:nvPr/>
        </p:nvSpPr>
        <p:spPr>
          <a:xfrm>
            <a:off x="5424170" y="1522730"/>
            <a:ext cx="2477135" cy="337185"/>
          </a:xfrm>
          <a:prstGeom prst="rect">
            <a:avLst/>
          </a:prstGeom>
          <a:noFill/>
        </p:spPr>
        <p:txBody>
          <a:bodyPr wrap="square" rtlCol="0">
            <a:spAutoFit/>
          </a:bodyPr>
          <a:p>
            <a:pPr algn="ctr"/>
            <a:r>
              <a:rPr lang="zh-CN" altLang="zh-HK" sz="1600" b="1">
                <a:solidFill>
                  <a:srgbClr val="0070BF"/>
                </a:solidFill>
              </a:rPr>
              <a:t>省公司</a:t>
            </a:r>
            <a:endParaRPr lang="zh-CN" altLang="zh-HK" sz="1600" b="1">
              <a:solidFill>
                <a:srgbClr val="0070BF"/>
              </a:solidFill>
            </a:endParaRPr>
          </a:p>
        </p:txBody>
      </p:sp>
      <p:sp>
        <p:nvSpPr>
          <p:cNvPr id="36" name="矩形 35"/>
          <p:cNvSpPr/>
          <p:nvPr/>
        </p:nvSpPr>
        <p:spPr>
          <a:xfrm>
            <a:off x="5280025" y="1853565"/>
            <a:ext cx="1383665" cy="2349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产品新增</a:t>
            </a:r>
            <a:r>
              <a:rPr lang="zh-CN" altLang="zh-HK" sz="1000">
                <a:solidFill>
                  <a:schemeClr val="tx1"/>
                </a:solidFill>
              </a:rPr>
              <a:t>需求</a:t>
            </a:r>
            <a:endParaRPr lang="zh-CN" altLang="zh-HK" sz="1000">
              <a:solidFill>
                <a:schemeClr val="tx1"/>
              </a:solidFill>
            </a:endParaRPr>
          </a:p>
        </p:txBody>
      </p:sp>
      <p:sp>
        <p:nvSpPr>
          <p:cNvPr id="37" name="矩形 36"/>
          <p:cNvSpPr/>
          <p:nvPr/>
        </p:nvSpPr>
        <p:spPr>
          <a:xfrm>
            <a:off x="6784975" y="1858010"/>
            <a:ext cx="1383665" cy="2349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清单</a:t>
            </a:r>
            <a:r>
              <a:rPr lang="zh-CN" altLang="zh-HK" sz="1000">
                <a:solidFill>
                  <a:schemeClr val="tx1"/>
                </a:solidFill>
              </a:rPr>
              <a:t>查询</a:t>
            </a:r>
            <a:endParaRPr lang="zh-CN" altLang="zh-HK" sz="1000">
              <a:solidFill>
                <a:schemeClr val="tx1"/>
              </a:solidFill>
            </a:endParaRPr>
          </a:p>
        </p:txBody>
      </p:sp>
      <p:grpSp>
        <p:nvGrpSpPr>
          <p:cNvPr id="25" name="組合 24"/>
          <p:cNvGrpSpPr/>
          <p:nvPr/>
        </p:nvGrpSpPr>
        <p:grpSpPr>
          <a:xfrm rot="0">
            <a:off x="8692515" y="1515110"/>
            <a:ext cx="3295015" cy="659765"/>
            <a:chOff x="8167" y="7540"/>
            <a:chExt cx="3832" cy="1335"/>
          </a:xfrm>
        </p:grpSpPr>
        <p:sp>
          <p:nvSpPr>
            <p:cNvPr id="26" name="矩形 25"/>
            <p:cNvSpPr/>
            <p:nvPr/>
          </p:nvSpPr>
          <p:spPr>
            <a:xfrm>
              <a:off x="8167" y="7577"/>
              <a:ext cx="3832" cy="1298"/>
            </a:xfrm>
            <a:prstGeom prst="rect">
              <a:avLst/>
            </a:prstGeom>
            <a:solidFill>
              <a:schemeClr val="bg1">
                <a:lumMod val="95000"/>
              </a:schemeClr>
            </a:solidFill>
          </p:spPr>
          <p:txBody>
            <a:bodyPr wrap="square" lIns="0" tIns="0" rIns="0" bIns="0" rtlCol="0"/>
            <a:p>
              <a:pPr algn="ctr"/>
              <a:endParaRPr lang="zh-CN" altLang="en-US"/>
            </a:p>
          </p:txBody>
        </p:sp>
        <p:sp>
          <p:nvSpPr>
            <p:cNvPr id="27" name="文字框 114"/>
            <p:cNvSpPr txBox="1"/>
            <p:nvPr/>
          </p:nvSpPr>
          <p:spPr>
            <a:xfrm>
              <a:off x="8643" y="7540"/>
              <a:ext cx="2881" cy="682"/>
            </a:xfrm>
            <a:prstGeom prst="rect">
              <a:avLst/>
            </a:prstGeom>
            <a:noFill/>
          </p:spPr>
          <p:txBody>
            <a:bodyPr wrap="square" rtlCol="0">
              <a:spAutoFit/>
            </a:bodyPr>
            <a:p>
              <a:pPr algn="ctr"/>
              <a:r>
                <a:rPr lang="zh-CN" altLang="zh-HK" sz="1600" b="1">
                  <a:solidFill>
                    <a:srgbClr val="0070BF"/>
                  </a:solidFill>
                </a:rPr>
                <a:t>国际</a:t>
              </a:r>
              <a:r>
                <a:rPr lang="zh-CN" altLang="zh-HK" sz="1600" b="1">
                  <a:solidFill>
                    <a:srgbClr val="0070BF"/>
                  </a:solidFill>
                </a:rPr>
                <a:t>公司</a:t>
              </a:r>
              <a:endParaRPr lang="zh-CN" altLang="zh-HK" sz="1600" b="1">
                <a:solidFill>
                  <a:srgbClr val="0070BF"/>
                </a:solidFill>
              </a:endParaRPr>
            </a:p>
          </p:txBody>
        </p:sp>
      </p:grpSp>
      <p:sp>
        <p:nvSpPr>
          <p:cNvPr id="38" name="矩形 37"/>
          <p:cNvSpPr/>
          <p:nvPr/>
        </p:nvSpPr>
        <p:spPr>
          <a:xfrm>
            <a:off x="8945245" y="1835150"/>
            <a:ext cx="1383665" cy="2451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新增需求</a:t>
            </a:r>
            <a:r>
              <a:rPr lang="zh-CN" altLang="zh-HK" sz="1000">
                <a:solidFill>
                  <a:schemeClr val="tx1"/>
                </a:solidFill>
              </a:rPr>
              <a:t>接收</a:t>
            </a:r>
            <a:endParaRPr lang="zh-CN" altLang="zh-HK" sz="1000">
              <a:solidFill>
                <a:schemeClr val="tx1"/>
              </a:solidFill>
            </a:endParaRPr>
          </a:p>
        </p:txBody>
      </p:sp>
      <p:sp>
        <p:nvSpPr>
          <p:cNvPr id="39" name="矩形 38"/>
          <p:cNvSpPr/>
          <p:nvPr/>
        </p:nvSpPr>
        <p:spPr>
          <a:xfrm>
            <a:off x="10450195" y="1839595"/>
            <a:ext cx="1383665" cy="2451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原子产品</a:t>
            </a:r>
            <a:r>
              <a:rPr lang="zh-CN" altLang="zh-HK" sz="1000">
                <a:solidFill>
                  <a:schemeClr val="tx1"/>
                </a:solidFill>
              </a:rPr>
              <a:t>上架</a:t>
            </a:r>
            <a:endParaRPr lang="zh-CN" altLang="zh-HK" sz="1000">
              <a:solidFill>
                <a:schemeClr val="tx1"/>
              </a:solidFill>
            </a:endParaRPr>
          </a:p>
        </p:txBody>
      </p:sp>
      <p:grpSp>
        <p:nvGrpSpPr>
          <p:cNvPr id="10" name="组合 9"/>
          <p:cNvGrpSpPr/>
          <p:nvPr/>
        </p:nvGrpSpPr>
        <p:grpSpPr>
          <a:xfrm>
            <a:off x="8739505" y="5720080"/>
            <a:ext cx="3294380" cy="720090"/>
            <a:chOff x="13712" y="9075"/>
            <a:chExt cx="5188" cy="1134"/>
          </a:xfrm>
        </p:grpSpPr>
        <p:grpSp>
          <p:nvGrpSpPr>
            <p:cNvPr id="32" name="組合 31"/>
            <p:cNvGrpSpPr/>
            <p:nvPr/>
          </p:nvGrpSpPr>
          <p:grpSpPr>
            <a:xfrm rot="0">
              <a:off x="13712" y="9075"/>
              <a:ext cx="5189" cy="1134"/>
              <a:chOff x="8167" y="7577"/>
              <a:chExt cx="3832" cy="1298"/>
            </a:xfrm>
          </p:grpSpPr>
          <p:sp>
            <p:nvSpPr>
              <p:cNvPr id="33" name="矩形 32"/>
              <p:cNvSpPr/>
              <p:nvPr/>
            </p:nvSpPr>
            <p:spPr>
              <a:xfrm>
                <a:off x="8167" y="7577"/>
                <a:ext cx="3832" cy="1298"/>
              </a:xfrm>
              <a:prstGeom prst="rect">
                <a:avLst/>
              </a:prstGeom>
              <a:solidFill>
                <a:schemeClr val="bg1">
                  <a:lumMod val="95000"/>
                </a:schemeClr>
              </a:solidFill>
            </p:spPr>
            <p:txBody>
              <a:bodyPr wrap="square" lIns="0" tIns="0" rIns="0" bIns="0" rtlCol="0"/>
              <a:p>
                <a:pPr algn="ctr"/>
                <a:endParaRPr lang="zh-CN" altLang="en-US"/>
              </a:p>
            </p:txBody>
          </p:sp>
          <p:sp>
            <p:nvSpPr>
              <p:cNvPr id="34" name="文字框 114"/>
              <p:cNvSpPr txBox="1"/>
              <p:nvPr/>
            </p:nvSpPr>
            <p:spPr>
              <a:xfrm>
                <a:off x="8643" y="7666"/>
                <a:ext cx="2881" cy="608"/>
              </a:xfrm>
              <a:prstGeom prst="rect">
                <a:avLst/>
              </a:prstGeom>
              <a:noFill/>
            </p:spPr>
            <p:txBody>
              <a:bodyPr wrap="square" rtlCol="0">
                <a:spAutoFit/>
              </a:bodyPr>
              <a:p>
                <a:pPr algn="ctr"/>
                <a:r>
                  <a:rPr lang="zh-CN" altLang="zh-HK" sz="1600" b="1">
                    <a:solidFill>
                      <a:srgbClr val="0070BF"/>
                    </a:solidFill>
                  </a:rPr>
                  <a:t>一级</a:t>
                </a:r>
                <a:r>
                  <a:rPr lang="zh-CN" altLang="zh-HK" sz="1600" b="1">
                    <a:solidFill>
                      <a:srgbClr val="0070BF"/>
                    </a:solidFill>
                  </a:rPr>
                  <a:t>经分</a:t>
                </a:r>
                <a:endParaRPr lang="zh-CN" altLang="zh-HK" sz="1600" b="1">
                  <a:solidFill>
                    <a:srgbClr val="0070BF"/>
                  </a:solidFill>
                </a:endParaRPr>
              </a:p>
            </p:txBody>
          </p:sp>
        </p:grpSp>
        <p:sp>
          <p:nvSpPr>
            <p:cNvPr id="148" name="矩形 147"/>
            <p:cNvSpPr/>
            <p:nvPr/>
          </p:nvSpPr>
          <p:spPr>
            <a:xfrm>
              <a:off x="14130" y="9695"/>
              <a:ext cx="4550" cy="43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zh-HK" sz="1000">
                  <a:solidFill>
                    <a:schemeClr val="tx1"/>
                  </a:solidFill>
                </a:rPr>
                <a:t>国际业务专区全量指标</a:t>
              </a:r>
              <a:endParaRPr lang="en-US" altLang="zh-CN" sz="1000">
                <a:solidFill>
                  <a:schemeClr val="tx1"/>
                </a:solidFill>
              </a:endParaRPr>
            </a:p>
          </p:txBody>
        </p:sp>
      </p:grpSp>
      <p:sp>
        <p:nvSpPr>
          <p:cNvPr id="12" name="右箭頭 12"/>
          <p:cNvSpPr/>
          <p:nvPr/>
        </p:nvSpPr>
        <p:spPr>
          <a:xfrm rot="16200000">
            <a:off x="8240779" y="4883150"/>
            <a:ext cx="348138" cy="1090295"/>
          </a:xfrm>
          <a:prstGeom prst="rightArrow">
            <a:avLst/>
          </a:prstGeom>
          <a:solidFill>
            <a:schemeClr val="bg1">
              <a:lumMod val="85000"/>
            </a:schemeClr>
          </a:solidFill>
        </p:spPr>
        <p:txBody>
          <a:bodyPr wrap="square" lIns="0" tIns="0" rIns="0" bIns="0" rtlCol="0"/>
          <a:p>
            <a:pPr algn="ctr"/>
            <a:endParaRPr lang="zh-CN" altLang="en-US"/>
          </a:p>
        </p:txBody>
      </p:sp>
      <p:sp>
        <p:nvSpPr>
          <p:cNvPr id="20" name="右箭頭 12"/>
          <p:cNvSpPr/>
          <p:nvPr/>
        </p:nvSpPr>
        <p:spPr>
          <a:xfrm rot="5400000">
            <a:off x="8226174" y="1921510"/>
            <a:ext cx="348138" cy="1090295"/>
          </a:xfrm>
          <a:prstGeom prst="rightArrow">
            <a:avLst/>
          </a:prstGeom>
          <a:solidFill>
            <a:schemeClr val="bg1">
              <a:lumMod val="85000"/>
            </a:schemeClr>
          </a:solidFill>
        </p:spPr>
        <p:txBody>
          <a:bodyPr wrap="square" lIns="0" tIns="0" rIns="0" bIns="0" rtlCol="0"/>
          <a:p>
            <a:pPr algn="ctr"/>
            <a:endParaRPr lang="zh-CN" altLang="en-US"/>
          </a:p>
        </p:txBody>
      </p:sp>
      <p:sp>
        <p:nvSpPr>
          <p:cNvPr id="22" name="爆炸形 2 21"/>
          <p:cNvSpPr/>
          <p:nvPr/>
        </p:nvSpPr>
        <p:spPr>
          <a:xfrm>
            <a:off x="735330" y="3839845"/>
            <a:ext cx="640715" cy="621030"/>
          </a:xfrm>
          <a:prstGeom prst="irregularSeal2">
            <a:avLst/>
          </a:prstGeom>
          <a:solidFill>
            <a:srgbClr val="90D1F8"/>
          </a:solidFill>
        </p:spPr>
        <p:txBody>
          <a:bodyPr wrap="square" lIns="0" tIns="0" rIns="0" bIns="0" rtlCol="0"/>
          <a:p>
            <a:pPr algn="ctr"/>
            <a:r>
              <a:rPr lang="en-US" altLang="zh-CN" b="1">
                <a:solidFill>
                  <a:srgbClr val="C00000"/>
                </a:solidFill>
              </a:rPr>
              <a:t>1</a:t>
            </a:r>
            <a:endParaRPr lang="en-US" altLang="zh-CN" b="1">
              <a:solidFill>
                <a:srgbClr val="C00000"/>
              </a:solidFill>
            </a:endParaRPr>
          </a:p>
        </p:txBody>
      </p:sp>
      <p:sp>
        <p:nvSpPr>
          <p:cNvPr id="35" name="爆炸形 2 34"/>
          <p:cNvSpPr/>
          <p:nvPr/>
        </p:nvSpPr>
        <p:spPr>
          <a:xfrm>
            <a:off x="6739890" y="3007995"/>
            <a:ext cx="640715" cy="621030"/>
          </a:xfrm>
          <a:prstGeom prst="irregularSeal2">
            <a:avLst/>
          </a:prstGeom>
          <a:solidFill>
            <a:srgbClr val="90D1F8"/>
          </a:solidFill>
        </p:spPr>
        <p:txBody>
          <a:bodyPr wrap="square" lIns="0" tIns="0" rIns="0" bIns="0" rtlCol="0"/>
          <a:p>
            <a:pPr algn="ctr"/>
            <a:r>
              <a:rPr lang="en-US" altLang="zh-CN" b="1">
                <a:solidFill>
                  <a:srgbClr val="C00000"/>
                </a:solidFill>
              </a:rPr>
              <a:t>2</a:t>
            </a:r>
            <a:endParaRPr lang="en-US" altLang="zh-CN" b="1">
              <a:solidFill>
                <a:srgbClr val="C00000"/>
              </a:solidFill>
            </a:endParaRPr>
          </a:p>
        </p:txBody>
      </p:sp>
      <p:sp>
        <p:nvSpPr>
          <p:cNvPr id="46" name="爆炸形 2 45"/>
          <p:cNvSpPr/>
          <p:nvPr/>
        </p:nvSpPr>
        <p:spPr>
          <a:xfrm>
            <a:off x="9155430" y="2977515"/>
            <a:ext cx="640715" cy="621030"/>
          </a:xfrm>
          <a:prstGeom prst="irregularSeal2">
            <a:avLst/>
          </a:prstGeom>
          <a:solidFill>
            <a:srgbClr val="90D1F8"/>
          </a:solidFill>
        </p:spPr>
        <p:txBody>
          <a:bodyPr wrap="square" lIns="0" tIns="0" rIns="0" bIns="0" rtlCol="0"/>
          <a:p>
            <a:pPr algn="ctr"/>
            <a:r>
              <a:rPr lang="en-US" altLang="zh-CN" b="1">
                <a:solidFill>
                  <a:srgbClr val="C00000"/>
                </a:solidFill>
              </a:rPr>
              <a:t>3</a:t>
            </a:r>
            <a:endParaRPr lang="en-US" altLang="zh-CN" b="1">
              <a:solidFill>
                <a:srgbClr val="C00000"/>
              </a:solidFill>
            </a:endParaRPr>
          </a:p>
        </p:txBody>
      </p:sp>
      <p:sp>
        <p:nvSpPr>
          <p:cNvPr id="47" name="爆炸形 2 46"/>
          <p:cNvSpPr/>
          <p:nvPr/>
        </p:nvSpPr>
        <p:spPr>
          <a:xfrm>
            <a:off x="11346815" y="2927985"/>
            <a:ext cx="640715" cy="621030"/>
          </a:xfrm>
          <a:prstGeom prst="irregularSeal2">
            <a:avLst/>
          </a:prstGeom>
          <a:solidFill>
            <a:srgbClr val="90D1F8"/>
          </a:solidFill>
        </p:spPr>
        <p:txBody>
          <a:bodyPr wrap="square" lIns="0" tIns="0" rIns="0" bIns="0" rtlCol="0"/>
          <a:p>
            <a:pPr algn="ctr"/>
            <a:r>
              <a:rPr lang="en-US" altLang="zh-CN" b="1">
                <a:solidFill>
                  <a:srgbClr val="C00000"/>
                </a:solidFill>
              </a:rPr>
              <a:t>4</a:t>
            </a:r>
            <a:endParaRPr lang="en-US" altLang="zh-CN" b="1">
              <a:solidFill>
                <a:srgbClr val="C00000"/>
              </a:solidFill>
            </a:endParaRPr>
          </a:p>
        </p:txBody>
      </p:sp>
      <p:sp>
        <p:nvSpPr>
          <p:cNvPr id="4" name="矩形 3"/>
          <p:cNvSpPr/>
          <p:nvPr/>
        </p:nvSpPr>
        <p:spPr>
          <a:xfrm>
            <a:off x="5159375" y="4766310"/>
            <a:ext cx="6733540" cy="42418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200">
              <a:solidFill>
                <a:schemeClr val="tx1"/>
              </a:solidFill>
            </a:endParaRPr>
          </a:p>
        </p:txBody>
      </p:sp>
      <p:sp>
        <p:nvSpPr>
          <p:cNvPr id="6" name="文字框 5"/>
          <p:cNvSpPr txBox="1"/>
          <p:nvPr/>
        </p:nvSpPr>
        <p:spPr>
          <a:xfrm>
            <a:off x="5424170" y="4819650"/>
            <a:ext cx="1529715" cy="306705"/>
          </a:xfrm>
          <a:prstGeom prst="rect">
            <a:avLst/>
          </a:prstGeom>
          <a:noFill/>
        </p:spPr>
        <p:txBody>
          <a:bodyPr wrap="square" rtlCol="0">
            <a:spAutoFit/>
          </a:bodyPr>
          <a:p>
            <a:pPr algn="ctr"/>
            <a:r>
              <a:rPr lang="zh-CN" altLang="en-US" sz="1400" b="1"/>
              <a:t>运营</a:t>
            </a:r>
            <a:r>
              <a:rPr lang="zh-CN" altLang="en-US" sz="1400" b="1"/>
              <a:t>任务管理</a:t>
            </a:r>
            <a:endParaRPr lang="zh-CN" altLang="en-US" sz="1400" b="1"/>
          </a:p>
        </p:txBody>
      </p:sp>
      <p:sp>
        <p:nvSpPr>
          <p:cNvPr id="7" name="爆炸形 2 6"/>
          <p:cNvSpPr/>
          <p:nvPr/>
        </p:nvSpPr>
        <p:spPr>
          <a:xfrm>
            <a:off x="6739890" y="4538345"/>
            <a:ext cx="640715" cy="621030"/>
          </a:xfrm>
          <a:prstGeom prst="irregularSeal2">
            <a:avLst/>
          </a:prstGeom>
          <a:solidFill>
            <a:srgbClr val="90D1F8"/>
          </a:solidFill>
        </p:spPr>
        <p:txBody>
          <a:bodyPr wrap="square" lIns="0" tIns="0" rIns="0" bIns="0" rtlCol="0"/>
          <a:p>
            <a:pPr algn="ctr"/>
            <a:r>
              <a:rPr lang="en-US" altLang="zh-CN" b="1">
                <a:solidFill>
                  <a:srgbClr val="C00000"/>
                </a:solidFill>
              </a:rPr>
              <a:t>5</a:t>
            </a:r>
            <a:endParaRPr lang="en-US" altLang="zh-CN" b="1">
              <a:solidFill>
                <a:srgbClr val="C00000"/>
              </a:solidFill>
            </a:endParaRPr>
          </a:p>
        </p:txBody>
      </p:sp>
      <p:sp>
        <p:nvSpPr>
          <p:cNvPr id="9" name="矩形 8"/>
          <p:cNvSpPr/>
          <p:nvPr/>
        </p:nvSpPr>
        <p:spPr>
          <a:xfrm>
            <a:off x="7541895" y="4843145"/>
            <a:ext cx="1897380" cy="281940"/>
          </a:xfrm>
          <a:prstGeom prst="rect">
            <a:avLst/>
          </a:prstGeom>
          <a:solidFill>
            <a:schemeClr val="bg1"/>
          </a:solidFill>
        </p:spPr>
        <p:txBody>
          <a:bodyPr wrap="square" lIns="0" tIns="0" rIns="0" bIns="0" rtlCol="0" anchor="ctr" anchorCtr="0"/>
          <a:p>
            <a:pPr algn="ctr"/>
            <a:r>
              <a:rPr lang="zh-CN" altLang="en-US" sz="1000">
                <a:solidFill>
                  <a:schemeClr val="tx1"/>
                </a:solidFill>
              </a:rPr>
              <a:t>运营任务</a:t>
            </a:r>
            <a:r>
              <a:rPr lang="zh-CN" altLang="en-US" sz="1000">
                <a:solidFill>
                  <a:schemeClr val="tx1"/>
                </a:solidFill>
              </a:rPr>
              <a:t>统计</a:t>
            </a:r>
            <a:endParaRPr lang="zh-CN" altLang="en-US" sz="1000">
              <a:solidFill>
                <a:schemeClr val="tx1"/>
              </a:solidFill>
            </a:endParaRPr>
          </a:p>
        </p:txBody>
      </p:sp>
      <p:sp>
        <p:nvSpPr>
          <p:cNvPr id="40" name="矩形 39"/>
          <p:cNvSpPr/>
          <p:nvPr/>
        </p:nvSpPr>
        <p:spPr>
          <a:xfrm>
            <a:off x="9681845" y="4844415"/>
            <a:ext cx="1897380" cy="281940"/>
          </a:xfrm>
          <a:prstGeom prst="rect">
            <a:avLst/>
          </a:prstGeom>
          <a:solidFill>
            <a:schemeClr val="bg1"/>
          </a:solidFill>
        </p:spPr>
        <p:txBody>
          <a:bodyPr wrap="square" lIns="0" tIns="0" rIns="0" bIns="0" rtlCol="0" anchor="ctr" anchorCtr="0"/>
          <a:p>
            <a:pPr algn="ctr"/>
            <a:r>
              <a:rPr lang="zh-CN" altLang="en-US" sz="1000">
                <a:solidFill>
                  <a:schemeClr val="tx1"/>
                </a:solidFill>
              </a:rPr>
              <a:t>运营任务</a:t>
            </a:r>
            <a:r>
              <a:rPr lang="zh-CN" altLang="en-US" sz="1000">
                <a:solidFill>
                  <a:schemeClr val="tx1"/>
                </a:solidFill>
              </a:rPr>
              <a:t>查询</a:t>
            </a:r>
            <a:endParaRPr lang="zh-CN" altLang="en-US" sz="1000">
              <a:solidFill>
                <a:schemeClr val="tx1"/>
              </a:solidFill>
            </a:endParaRPr>
          </a:p>
        </p:txBody>
      </p:sp>
    </p:spTree>
    <p:custDataLst>
      <p:tags r:id="rId38"/>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6</a:t>
            </a:r>
            <a:r>
              <a:rPr lang="zh-CN" altLang="en-US">
                <a:sym typeface="+mn-ea"/>
              </a:rPr>
              <a:t>：数智运营</a:t>
            </a:r>
            <a:r>
              <a:rPr>
                <a:sym typeface="+mn-ea"/>
              </a:rPr>
              <a:t>-</a:t>
            </a:r>
            <a:r>
              <a:rPr lang="zh-CN" altLang="en-US">
                <a:sym typeface="+mn-ea"/>
              </a:rPr>
              <a:t>家庭运营专区</a:t>
            </a:r>
            <a:r>
              <a:rPr lang="zh-CN" altLang="en-US">
                <a:sym typeface="+mn-ea"/>
              </a:rPr>
              <a:t>（</a:t>
            </a:r>
            <a:r>
              <a:rPr>
                <a:sym typeface="+mn-ea"/>
              </a:rPr>
              <a:t>5/6</a:t>
            </a:r>
            <a:r>
              <a:rPr lang="zh-CN" altLang="en-US">
                <a:sym typeface="+mn-ea"/>
              </a:rPr>
              <a:t>）</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以移动爱家品牌为引领，通过平台化运营实现家庭市场增存一体价值提升，推动以家庭为单位的融合运营转型升级。</a:t>
            </a:r>
            <a:endParaRPr lang="zh-CN" altLang="zh-HK" kern="1200" noProof="0" smtClean="0">
              <a:solidFill>
                <a:srgbClr val="000000">
                  <a:alpha val="100000"/>
                </a:srgbClr>
              </a:solidFill>
              <a:latin typeface="+mn-lt"/>
              <a:ea typeface="+mn-lt"/>
              <a:cs typeface="+mn-lt"/>
              <a:sym typeface="+mn-ea"/>
            </a:endParaRPr>
          </a:p>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en-US" kern="1200" noProof="0" smtClean="0">
                <a:solidFill>
                  <a:srgbClr val="000000">
                    <a:alpha val="100000"/>
                  </a:srgbClr>
                </a:solidFill>
                <a:latin typeface="+mn-lt"/>
                <a:ea typeface="+mn-lt"/>
                <a:cs typeface="+mn-lt"/>
                <a:sym typeface="+mn-ea"/>
              </a:rPr>
              <a:t>家庭专区主要主要需求实现由杭研负责规划及建设，遵循运营平台标准化集成规范，采用页面集成的方式纳入运营平台数智运营模块</a:t>
            </a:r>
            <a:endParaRPr lang="en-US" altLang="zh-CN" kern="1200" noProof="0" smtClean="0">
              <a:solidFill>
                <a:srgbClr val="000000">
                  <a:alpha val="100000"/>
                </a:srgbClr>
              </a:solidFill>
              <a:latin typeface="+mn-lt"/>
              <a:ea typeface="+mn-lt"/>
              <a:cs typeface="+mn-lt"/>
              <a:sym typeface="+mn-ea"/>
            </a:endParaRPr>
          </a:p>
        </p:txBody>
      </p:sp>
      <p:sp>
        <p:nvSpPr>
          <p:cNvPr id="6" name="圆角矩形 24"/>
          <p:cNvSpPr/>
          <p:nvPr>
            <p:custDataLst>
              <p:tags r:id="rId1"/>
            </p:custDataLst>
          </p:nvPr>
        </p:nvSpPr>
        <p:spPr>
          <a:xfrm>
            <a:off x="317818" y="4598670"/>
            <a:ext cx="3780155" cy="171259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lvl="0" algn="ctr" fontAlgn="auto">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7" name="圆角矩形 26"/>
          <p:cNvSpPr/>
          <p:nvPr>
            <p:custDataLst>
              <p:tags r:id="rId2"/>
            </p:custDataLst>
          </p:nvPr>
        </p:nvSpPr>
        <p:spPr>
          <a:xfrm>
            <a:off x="4202058" y="4598670"/>
            <a:ext cx="3780155" cy="171259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lvl="0" algn="ctr" fontAlgn="auto">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 name="圆角矩形 27"/>
          <p:cNvSpPr/>
          <p:nvPr>
            <p:custDataLst>
              <p:tags r:id="rId3"/>
            </p:custDataLst>
          </p:nvPr>
        </p:nvSpPr>
        <p:spPr>
          <a:xfrm>
            <a:off x="8055648" y="4598670"/>
            <a:ext cx="3780155" cy="171259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lvl="0" algn="ctr" fontAlgn="auto">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65" name="等腰三角形 564"/>
          <p:cNvSpPr/>
          <p:nvPr/>
        </p:nvSpPr>
        <p:spPr>
          <a:xfrm rot="10800000">
            <a:off x="200660" y="3892550"/>
            <a:ext cx="11744960" cy="565785"/>
          </a:xfrm>
          <a:prstGeom prst="triangle">
            <a:avLst>
              <a:gd name="adj" fmla="val 50056"/>
            </a:avLst>
          </a:prstGeom>
          <a:gradFill>
            <a:gsLst>
              <a:gs pos="4000">
                <a:schemeClr val="bg1">
                  <a:lumMod val="75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80975" indent="-180975">
              <a:spcBef>
                <a:spcPts val="600"/>
              </a:spcBef>
              <a:buClr>
                <a:schemeClr val="bg1"/>
              </a:buClr>
              <a:buSzPct val="75000"/>
              <a:buFont typeface="Arial" panose="020B0604020202020204" pitchFamily="34" charset="0"/>
              <a:buChar char="►"/>
            </a:pPr>
            <a:endParaRPr lang="zh-CN" altLang="en-US" sz="1600" dirty="0">
              <a:latin typeface="微软雅黑" panose="020B0503020204020204" charset="-122"/>
              <a:ea typeface="微软雅黑" panose="020B0503020204020204" charset="-122"/>
            </a:endParaRPr>
          </a:p>
        </p:txBody>
      </p:sp>
      <p:sp>
        <p:nvSpPr>
          <p:cNvPr id="90" name="圆角矩形 89"/>
          <p:cNvSpPr/>
          <p:nvPr/>
        </p:nvSpPr>
        <p:spPr>
          <a:xfrm>
            <a:off x="229235" y="2887345"/>
            <a:ext cx="11741150" cy="3713480"/>
          </a:xfrm>
          <a:prstGeom prst="roundRect">
            <a:avLst>
              <a:gd name="adj" fmla="val 8875"/>
            </a:avLst>
          </a:prstGeom>
          <a:ln>
            <a:solidFill>
              <a:schemeClr val="bg1">
                <a:lumMod val="85000"/>
              </a:schemeClr>
            </a:solidFill>
          </a:ln>
        </p:spPr>
        <p:style>
          <a:lnRef idx="2">
            <a:schemeClr val="accent1"/>
          </a:lnRef>
          <a:fillRef idx="0">
            <a:srgbClr val="FFFFFF"/>
          </a:fillRef>
          <a:effectRef idx="0">
            <a:srgbClr val="FFFFFF"/>
          </a:effectRef>
          <a:fontRef idx="minor">
            <a:schemeClr val="dk1"/>
          </a:fontRef>
        </p:style>
        <p:txBody>
          <a:bodyPr rtlCol="0" anchor="ctr"/>
          <a:p>
            <a:pPr algn="ctr"/>
            <a:endParaRPr lang="zh-CN" altLang="en-US"/>
          </a:p>
        </p:txBody>
      </p:sp>
      <p:grpSp>
        <p:nvGrpSpPr>
          <p:cNvPr id="10" name="组合 3"/>
          <p:cNvGrpSpPr/>
          <p:nvPr/>
        </p:nvGrpSpPr>
        <p:grpSpPr>
          <a:xfrm>
            <a:off x="4902835" y="1634490"/>
            <a:ext cx="1546225" cy="403860"/>
            <a:chOff x="5453" y="2787"/>
            <a:chExt cx="2435" cy="636"/>
          </a:xfrm>
        </p:grpSpPr>
        <p:pic>
          <p:nvPicPr>
            <p:cNvPr id="58" name="图片 57" descr="ae53b6add594cdc20e6977e052255f2"/>
            <p:cNvPicPr>
              <a:picLocks noChangeAspect="1"/>
            </p:cNvPicPr>
            <p:nvPr>
              <p:custDataLst>
                <p:tags r:id="rId4"/>
              </p:custDataLst>
            </p:nvPr>
          </p:nvPicPr>
          <p:blipFill>
            <a:blip r:embed="rId5"/>
            <a:srcRect l="33603" t="4057"/>
            <a:stretch>
              <a:fillRect/>
            </a:stretch>
          </p:blipFill>
          <p:spPr>
            <a:xfrm>
              <a:off x="6284" y="2805"/>
              <a:ext cx="1604" cy="602"/>
            </a:xfrm>
            <a:prstGeom prst="rect">
              <a:avLst/>
            </a:prstGeom>
            <a:effectLst/>
          </p:spPr>
        </p:pic>
        <p:pic>
          <p:nvPicPr>
            <p:cNvPr id="59" name="图片 58" descr="ae53b6add594cdc20e6977e052255f2"/>
            <p:cNvPicPr>
              <a:picLocks noChangeAspect="1"/>
            </p:cNvPicPr>
            <p:nvPr>
              <p:custDataLst>
                <p:tags r:id="rId6"/>
              </p:custDataLst>
            </p:nvPr>
          </p:nvPicPr>
          <p:blipFill>
            <a:blip r:embed="rId5"/>
            <a:srcRect t="-9734" r="69017" b="-1"/>
            <a:stretch>
              <a:fillRect/>
            </a:stretch>
          </p:blipFill>
          <p:spPr>
            <a:xfrm>
              <a:off x="5453" y="2787"/>
              <a:ext cx="725" cy="637"/>
            </a:xfrm>
            <a:prstGeom prst="rect">
              <a:avLst/>
            </a:prstGeom>
            <a:effectLst/>
          </p:spPr>
        </p:pic>
      </p:grpSp>
      <p:grpSp>
        <p:nvGrpSpPr>
          <p:cNvPr id="11" name="组合 5"/>
          <p:cNvGrpSpPr/>
          <p:nvPr/>
        </p:nvGrpSpPr>
        <p:grpSpPr>
          <a:xfrm>
            <a:off x="1184275" y="2233295"/>
            <a:ext cx="335280" cy="338455"/>
            <a:chOff x="7729" y="4405"/>
            <a:chExt cx="804" cy="812"/>
          </a:xfrm>
        </p:grpSpPr>
        <p:sp>
          <p:nvSpPr>
            <p:cNvPr id="12" name="椭圆 60"/>
            <p:cNvSpPr/>
            <p:nvPr>
              <p:custDataLst>
                <p:tags r:id="rId7"/>
              </p:custDataLst>
            </p:nvPr>
          </p:nvSpPr>
          <p:spPr>
            <a:xfrm>
              <a:off x="7729" y="4405"/>
              <a:ext cx="805" cy="812"/>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pic>
          <p:nvPicPr>
            <p:cNvPr id="65" name="图片 64" descr="客户"/>
            <p:cNvPicPr>
              <a:picLocks noChangeAspect="1"/>
            </p:cNvPicPr>
            <p:nvPr>
              <p:custDataLst>
                <p:tags r:id="rId8"/>
              </p:custDataLst>
            </p:nvPr>
          </p:nvPicPr>
          <p:blipFill>
            <a:blip r:embed="rId9"/>
            <a:stretch>
              <a:fillRect/>
            </a:stretch>
          </p:blipFill>
          <p:spPr>
            <a:xfrm>
              <a:off x="7888" y="4566"/>
              <a:ext cx="486" cy="490"/>
            </a:xfrm>
            <a:prstGeom prst="rect">
              <a:avLst/>
            </a:prstGeom>
          </p:spPr>
        </p:pic>
      </p:grpSp>
      <p:grpSp>
        <p:nvGrpSpPr>
          <p:cNvPr id="20" name="组合 6"/>
          <p:cNvGrpSpPr/>
          <p:nvPr/>
        </p:nvGrpSpPr>
        <p:grpSpPr>
          <a:xfrm>
            <a:off x="6348095" y="2233295"/>
            <a:ext cx="335280" cy="338455"/>
            <a:chOff x="11244" y="4422"/>
            <a:chExt cx="804" cy="812"/>
          </a:xfrm>
        </p:grpSpPr>
        <p:sp>
          <p:nvSpPr>
            <p:cNvPr id="62" name="椭圆 61"/>
            <p:cNvSpPr/>
            <p:nvPr>
              <p:custDataLst>
                <p:tags r:id="rId10"/>
              </p:custDataLst>
            </p:nvPr>
          </p:nvSpPr>
          <p:spPr>
            <a:xfrm>
              <a:off x="11244" y="4422"/>
              <a:ext cx="805" cy="812"/>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pic>
          <p:nvPicPr>
            <p:cNvPr id="66" name="图片 65" descr="robot-3-fill"/>
            <p:cNvPicPr>
              <a:picLocks noChangeAspect="1"/>
            </p:cNvPicPr>
            <p:nvPr>
              <p:custDataLst>
                <p:tags r:id="rId11"/>
              </p:custDataLst>
            </p:nvPr>
          </p:nvPicPr>
          <p:blipFill>
            <a:blip r:embed="rId12"/>
            <a:stretch>
              <a:fillRect/>
            </a:stretch>
          </p:blipFill>
          <p:spPr>
            <a:xfrm>
              <a:off x="11419" y="4598"/>
              <a:ext cx="455" cy="459"/>
            </a:xfrm>
            <a:prstGeom prst="rect">
              <a:avLst/>
            </a:prstGeom>
          </p:spPr>
        </p:pic>
      </p:grpSp>
      <p:grpSp>
        <p:nvGrpSpPr>
          <p:cNvPr id="22" name="组合 7"/>
          <p:cNvGrpSpPr/>
          <p:nvPr/>
        </p:nvGrpSpPr>
        <p:grpSpPr>
          <a:xfrm>
            <a:off x="3778250" y="2233613"/>
            <a:ext cx="335280" cy="337820"/>
            <a:chOff x="7733" y="6227"/>
            <a:chExt cx="804" cy="810"/>
          </a:xfrm>
        </p:grpSpPr>
        <p:sp>
          <p:nvSpPr>
            <p:cNvPr id="63" name="椭圆 62"/>
            <p:cNvSpPr/>
            <p:nvPr>
              <p:custDataLst>
                <p:tags r:id="rId13"/>
              </p:custDataLst>
            </p:nvPr>
          </p:nvSpPr>
          <p:spPr>
            <a:xfrm>
              <a:off x="7733" y="6227"/>
              <a:ext cx="805" cy="81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pic>
          <p:nvPicPr>
            <p:cNvPr id="67" name="图片 66" descr="云平台"/>
            <p:cNvPicPr>
              <a:picLocks noChangeAspect="1"/>
            </p:cNvPicPr>
            <p:nvPr>
              <p:custDataLst>
                <p:tags r:id="rId14"/>
              </p:custDataLst>
            </p:nvPr>
          </p:nvPicPr>
          <p:blipFill>
            <a:blip r:embed="rId15"/>
            <a:stretch>
              <a:fillRect/>
            </a:stretch>
          </p:blipFill>
          <p:spPr>
            <a:xfrm>
              <a:off x="7868" y="6362"/>
              <a:ext cx="535" cy="539"/>
            </a:xfrm>
            <a:prstGeom prst="rect">
              <a:avLst/>
            </a:prstGeom>
          </p:spPr>
        </p:pic>
      </p:grpSp>
      <p:grpSp>
        <p:nvGrpSpPr>
          <p:cNvPr id="35" name="组合 9"/>
          <p:cNvGrpSpPr/>
          <p:nvPr/>
        </p:nvGrpSpPr>
        <p:grpSpPr>
          <a:xfrm>
            <a:off x="9082405" y="2233613"/>
            <a:ext cx="335280" cy="337820"/>
            <a:chOff x="11253" y="6243"/>
            <a:chExt cx="804" cy="810"/>
          </a:xfrm>
        </p:grpSpPr>
        <p:sp>
          <p:nvSpPr>
            <p:cNvPr id="64" name="椭圆 63"/>
            <p:cNvSpPr/>
            <p:nvPr>
              <p:custDataLst>
                <p:tags r:id="rId16"/>
              </p:custDataLst>
            </p:nvPr>
          </p:nvSpPr>
          <p:spPr>
            <a:xfrm>
              <a:off x="11253" y="6243"/>
              <a:ext cx="805" cy="81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pic>
          <p:nvPicPr>
            <p:cNvPr id="68" name="图片 67" descr="组织"/>
            <p:cNvPicPr>
              <a:picLocks noChangeAspect="1"/>
            </p:cNvPicPr>
            <p:nvPr>
              <p:custDataLst>
                <p:tags r:id="rId17"/>
              </p:custDataLst>
            </p:nvPr>
          </p:nvPicPr>
          <p:blipFill>
            <a:blip r:embed="rId18"/>
            <a:stretch>
              <a:fillRect/>
            </a:stretch>
          </p:blipFill>
          <p:spPr>
            <a:xfrm>
              <a:off x="11337" y="6326"/>
              <a:ext cx="637" cy="644"/>
            </a:xfrm>
            <a:prstGeom prst="rect">
              <a:avLst/>
            </a:prstGeom>
          </p:spPr>
        </p:pic>
      </p:grpSp>
      <p:sp>
        <p:nvSpPr>
          <p:cNvPr id="46" name="文本框 71"/>
          <p:cNvSpPr txBox="1"/>
          <p:nvPr>
            <p:custDataLst>
              <p:tags r:id="rId19"/>
            </p:custDataLst>
          </p:nvPr>
        </p:nvSpPr>
        <p:spPr>
          <a:xfrm>
            <a:off x="4128770" y="2253615"/>
            <a:ext cx="12192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rPr>
              <a:t>运营平台化</a:t>
            </a:r>
            <a:endPar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endParaRPr>
          </a:p>
        </p:txBody>
      </p:sp>
      <p:sp>
        <p:nvSpPr>
          <p:cNvPr id="47" name="文本框 78"/>
          <p:cNvSpPr txBox="1"/>
          <p:nvPr>
            <p:custDataLst>
              <p:tags r:id="rId20"/>
            </p:custDataLst>
          </p:nvPr>
        </p:nvSpPr>
        <p:spPr>
          <a:xfrm>
            <a:off x="1580515" y="2233930"/>
            <a:ext cx="1219200" cy="337185"/>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spAutoFit/>
          </a:bodyPr>
          <a:p>
            <a:pPr indent="0" algn="ctr" fontAlgn="auto">
              <a:lnSpc>
                <a:spcPct val="100000"/>
              </a:lnSpc>
              <a:spcBef>
                <a:spcPct val="0"/>
              </a:spcBef>
              <a:spcAft>
                <a:spcPct val="0"/>
              </a:spcAft>
            </a:pPr>
            <a:r>
              <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rPr>
              <a:t>客户融合化</a:t>
            </a:r>
            <a:endPar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endParaRPr>
          </a:p>
        </p:txBody>
      </p:sp>
      <p:sp>
        <p:nvSpPr>
          <p:cNvPr id="82" name="文本框 81"/>
          <p:cNvSpPr txBox="1"/>
          <p:nvPr>
            <p:custDataLst>
              <p:tags r:id="rId21"/>
            </p:custDataLst>
          </p:nvPr>
        </p:nvSpPr>
        <p:spPr>
          <a:xfrm>
            <a:off x="9265285" y="2233930"/>
            <a:ext cx="1945640" cy="337185"/>
          </a:xfrm>
          <a:prstGeom prst="rect">
            <a:avLst/>
          </a:prstGeom>
          <a:noFill/>
        </p:spPr>
        <p:txBody>
          <a:bodyPr wrap="square" rtlCol="0" anchor="t">
            <a:spAutoFit/>
          </a:bodyPr>
          <a:p>
            <a:pPr indent="0" algn="ctr" fontAlgn="auto">
              <a:lnSpc>
                <a:spcPct val="100000"/>
              </a:lnSpc>
              <a:spcBef>
                <a:spcPct val="0"/>
              </a:spcBef>
              <a:spcAft>
                <a:spcPct val="0"/>
              </a:spcAft>
            </a:pPr>
            <a:r>
              <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rPr>
              <a:t>营销组织精效化</a:t>
            </a:r>
            <a:endPar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endParaRPr>
          </a:p>
        </p:txBody>
      </p:sp>
      <p:sp>
        <p:nvSpPr>
          <p:cNvPr id="48" name="文本框 85"/>
          <p:cNvSpPr txBox="1"/>
          <p:nvPr>
            <p:custDataLst>
              <p:tags r:id="rId22"/>
            </p:custDataLst>
          </p:nvPr>
        </p:nvSpPr>
        <p:spPr>
          <a:xfrm>
            <a:off x="6699250" y="2233930"/>
            <a:ext cx="1609090" cy="337185"/>
          </a:xfrm>
          <a:prstGeom prst="rect">
            <a:avLst/>
          </a:prstGeom>
          <a:noFill/>
        </p:spPr>
        <p:txBody>
          <a:bodyPr wrap="square" rtlCol="0" anchor="t">
            <a:spAutoFit/>
          </a:bodyPr>
          <a:p>
            <a:pPr indent="0" algn="ctr" fontAlgn="auto">
              <a:lnSpc>
                <a:spcPct val="100000"/>
              </a:lnSpc>
              <a:spcBef>
                <a:spcPct val="0"/>
              </a:spcBef>
              <a:spcAft>
                <a:spcPct val="0"/>
              </a:spcAft>
            </a:pPr>
            <a:r>
              <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rPr>
              <a:t>产品服务AI化</a:t>
            </a:r>
            <a:endParaRPr lang="zh-CN" altLang="en-US" sz="1600" b="1" dirty="0">
              <a:solidFill>
                <a:srgbClr val="0070C0"/>
              </a:solidFill>
              <a:latin typeface="微软雅黑" panose="020B0503020204020204" charset="-122"/>
              <a:ea typeface="微软雅黑" panose="020B0503020204020204" charset="-122"/>
              <a:cs typeface="微软雅黑" panose="020B0503020204020204" charset="-122"/>
              <a:sym typeface="+mn-ea"/>
            </a:endParaRPr>
          </a:p>
        </p:txBody>
      </p:sp>
      <p:sp>
        <p:nvSpPr>
          <p:cNvPr id="52" name="矩形 51"/>
          <p:cNvSpPr/>
          <p:nvPr/>
        </p:nvSpPr>
        <p:spPr>
          <a:xfrm>
            <a:off x="8235725" y="5031105"/>
            <a:ext cx="3420000" cy="1080000"/>
          </a:xfrm>
          <a:prstGeom prst="rect">
            <a:avLst/>
          </a:prstGeom>
          <a:solidFill>
            <a:schemeClr val="bg1"/>
          </a:solidFill>
          <a:ln>
            <a:noFill/>
          </a:ln>
        </p:spPr>
        <p:style>
          <a:lnRef idx="2">
            <a:srgbClr val="5B9BD5">
              <a:shade val="50000"/>
            </a:srgbClr>
          </a:lnRef>
          <a:fillRef idx="1">
            <a:srgbClr val="5B9BD5"/>
          </a:fillRef>
          <a:effectRef idx="0">
            <a:srgbClr val="5B9BD5"/>
          </a:effectRef>
          <a:fontRef idx="minor">
            <a:sysClr val="window" lastClr="FFFFFF"/>
          </a:fontRef>
        </p:style>
        <p:txBody>
          <a:bodyPr vertOverflow="overflow" horzOverflow="overflow" vert="horz" wrap="square" lIns="0" rIns="0" numCol="1" spcCol="0" rtlCol="0" fromWordArt="0" anchor="ctr" anchorCtr="0" forceAA="0" compatLnSpc="1">
            <a:noAutofit/>
          </a:bodyPr>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全链路智能闭环运营：</a:t>
            </a:r>
            <a:r>
              <a:rPr lang="en-US" altLang="zh-CN"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rPr>
              <a:t>AI</a:t>
            </a:r>
            <a:r>
              <a:rPr lang="zh-CN" altLang="en-US"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rPr>
              <a:t>生成运营策略、打通</a:t>
            </a:r>
            <a:r>
              <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rPr>
              <a:t>落地</a:t>
            </a:r>
            <a:r>
              <a:rPr lang="zh-CN" altLang="en-US"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rPr>
              <a:t>渠道</a:t>
            </a:r>
            <a:endPar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mn-ea"/>
              </a:rPr>
              <a:t>全渠道智慧工具赋能：</a:t>
            </a:r>
            <a:r>
              <a:rPr lang="en-US" altLang="zh-CN" sz="1000" i="1">
                <a:solidFill>
                  <a:schemeClr val="tx1"/>
                </a:solidFill>
                <a:latin typeface="微软雅黑" panose="020B0503020204020204" charset="-122"/>
                <a:ea typeface="微软雅黑" panose="020B0503020204020204" charset="-122"/>
                <a:cs typeface="微软雅黑" panose="020B0503020204020204" charset="-122"/>
                <a:sym typeface="+mn-ea"/>
              </a:rPr>
              <a:t>AI</a:t>
            </a:r>
            <a:r>
              <a:rPr lang="zh-CN" altLang="en-US" sz="1000" i="1">
                <a:solidFill>
                  <a:schemeClr val="tx1"/>
                </a:solidFill>
                <a:latin typeface="微软雅黑" panose="020B0503020204020204" charset="-122"/>
                <a:ea typeface="微软雅黑" panose="020B0503020204020204" charset="-122"/>
                <a:cs typeface="微软雅黑" panose="020B0503020204020204" charset="-122"/>
                <a:sym typeface="+mn-ea"/>
              </a:rPr>
              <a:t>排障、</a:t>
            </a:r>
            <a:r>
              <a:rPr lang="zh-CN" sz="1000" i="1">
                <a:solidFill>
                  <a:schemeClr val="tx1"/>
                </a:solidFill>
                <a:latin typeface="微软雅黑" panose="020B0503020204020204" charset="-122"/>
                <a:ea typeface="微软雅黑" panose="020B0503020204020204" charset="-122"/>
                <a:cs typeface="微软雅黑" panose="020B0503020204020204" charset="-122"/>
                <a:sym typeface="+mn-ea"/>
              </a:rPr>
              <a:t>需求洞察</a:t>
            </a:r>
            <a:r>
              <a:rPr lang="zh-CN" sz="1000" i="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000" i="1">
                <a:solidFill>
                  <a:schemeClr val="tx1"/>
                </a:solidFill>
                <a:latin typeface="微软雅黑" panose="020B0503020204020204" charset="-122"/>
                <a:ea typeface="微软雅黑" panose="020B0503020204020204" charset="-122"/>
                <a:cs typeface="微软雅黑" panose="020B0503020204020204" charset="-122"/>
                <a:sym typeface="+mn-ea"/>
              </a:rPr>
              <a:t>话术推荐等</a:t>
            </a:r>
            <a:endParaRPr lang="en-US" altLang="zh-CN" sz="1000" i="1">
              <a:solidFill>
                <a:schemeClr val="tx1"/>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全流程业务可管可控：</a:t>
            </a:r>
            <a:r>
              <a:rPr lang="zh-CN" sz="1000" i="1" dirty="0">
                <a:solidFill>
                  <a:schemeClr val="tx1"/>
                </a:solidFill>
                <a:latin typeface="微软雅黑" panose="020B0503020204020204" charset="-122"/>
                <a:ea typeface="微软雅黑" panose="020B0503020204020204" charset="-122"/>
                <a:cs typeface="微软雅黑" panose="020B0503020204020204" charset="-122"/>
                <a:sym typeface="+mn-ea"/>
              </a:rPr>
              <a:t>业务运营全流程</a:t>
            </a:r>
            <a:r>
              <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rPr>
              <a:t>可视化跟踪分析</a:t>
            </a:r>
            <a:endParaRPr lang="zh-CN" altLang="en-US"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54" name="矩形 53"/>
          <p:cNvSpPr/>
          <p:nvPr/>
        </p:nvSpPr>
        <p:spPr>
          <a:xfrm>
            <a:off x="497895" y="5031105"/>
            <a:ext cx="3420000" cy="1080000"/>
          </a:xfrm>
          <a:prstGeom prst="rect">
            <a:avLst/>
          </a:prstGeom>
          <a:solidFill>
            <a:schemeClr val="bg1"/>
          </a:solidFill>
          <a:ln>
            <a:noFill/>
          </a:ln>
        </p:spPr>
        <p:style>
          <a:lnRef idx="2">
            <a:srgbClr val="5B9BD5">
              <a:shade val="50000"/>
            </a:srgbClr>
          </a:lnRef>
          <a:fillRef idx="1">
            <a:srgbClr val="5B9BD5"/>
          </a:fillRef>
          <a:effectRef idx="0">
            <a:srgbClr val="5B9BD5"/>
          </a:effectRef>
          <a:fontRef idx="minor">
            <a:sysClr val="window" lastClr="FFFFFF"/>
          </a:fontRef>
        </p:style>
        <p:txBody>
          <a:bodyPr vertOverflow="overflow" horzOverflow="overflow" vert="horz" wrap="square" lIns="0" rIns="0" numCol="1" spcCol="0" rtlCol="0" fromWordArt="0" anchor="ctr" anchorCtr="0" forceAA="0" compatLnSpc="1">
            <a:noAutofit/>
          </a:bodyPr>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打通产品管理平台：</a:t>
            </a:r>
            <a:r>
              <a:rPr lang="zh-CN" sz="1000" i="1" dirty="0">
                <a:solidFill>
                  <a:schemeClr val="tx1"/>
                </a:solidFill>
                <a:latin typeface="微软雅黑" panose="020B0503020204020204" charset="-122"/>
                <a:ea typeface="微软雅黑" panose="020B0503020204020204" charset="-122"/>
                <a:cs typeface="微软雅黑" panose="020B0503020204020204" charset="-122"/>
                <a:sym typeface="+mn-ea"/>
              </a:rPr>
              <a:t>跨业务设备联动、多业务协同整合</a:t>
            </a:r>
            <a:endParaRPr lang="en-US" altLang="zh-CN"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简化产品落地流程：</a:t>
            </a:r>
            <a:r>
              <a:rPr lang="zh-CN" sz="1000" i="1" dirty="0">
                <a:solidFill>
                  <a:schemeClr val="tx1"/>
                </a:solidFill>
                <a:latin typeface="微软雅黑" panose="020B0503020204020204" charset="-122"/>
                <a:ea typeface="微软雅黑" panose="020B0503020204020204" charset="-122"/>
                <a:cs typeface="微软雅黑" panose="020B0503020204020204" charset="-122"/>
                <a:sym typeface="+mn-ea"/>
              </a:rPr>
              <a:t>产品服务</a:t>
            </a:r>
            <a:r>
              <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rPr>
              <a:t>灵活封装、全渠道快速落地</a:t>
            </a:r>
            <a:endPar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mn-ea"/>
              </a:rPr>
              <a:t>升级服务管理能力：</a:t>
            </a:r>
            <a:r>
              <a:rPr lang="en-US" altLang="zh-CN" sz="1000" i="1">
                <a:solidFill>
                  <a:schemeClr val="tx1"/>
                </a:solidFill>
                <a:latin typeface="微软雅黑" panose="020B0503020204020204" charset="-122"/>
                <a:ea typeface="微软雅黑" panose="020B0503020204020204" charset="-122"/>
                <a:cs typeface="微软雅黑" panose="020B0503020204020204" charset="-122"/>
                <a:sym typeface="+mn-ea"/>
              </a:rPr>
              <a:t>AI</a:t>
            </a:r>
            <a:r>
              <a:rPr lang="zh-CN" altLang="en-US" sz="1000" i="1">
                <a:solidFill>
                  <a:schemeClr val="tx1"/>
                </a:solidFill>
                <a:latin typeface="微软雅黑" panose="020B0503020204020204" charset="-122"/>
                <a:ea typeface="微软雅黑" panose="020B0503020204020204" charset="-122"/>
                <a:cs typeface="微软雅黑" panose="020B0503020204020204" charset="-122"/>
                <a:sym typeface="+mn-ea"/>
              </a:rPr>
              <a:t>服务监测，</a:t>
            </a:r>
            <a:r>
              <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rPr>
              <a:t>先于客户发现问题</a:t>
            </a:r>
            <a:endParaRPr lang="en-US" altLang="zh-CN"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55" name="矩形 54"/>
          <p:cNvSpPr/>
          <p:nvPr/>
        </p:nvSpPr>
        <p:spPr>
          <a:xfrm>
            <a:off x="4382135" y="5031105"/>
            <a:ext cx="3420000" cy="1080000"/>
          </a:xfrm>
          <a:prstGeom prst="rect">
            <a:avLst/>
          </a:prstGeom>
          <a:solidFill>
            <a:schemeClr val="bg1"/>
          </a:solidFill>
          <a:ln>
            <a:noFill/>
          </a:ln>
        </p:spPr>
        <p:style>
          <a:lnRef idx="2">
            <a:srgbClr val="5B9BD5">
              <a:shade val="50000"/>
            </a:srgbClr>
          </a:lnRef>
          <a:fillRef idx="1">
            <a:srgbClr val="5B9BD5"/>
          </a:fillRef>
          <a:effectRef idx="0">
            <a:srgbClr val="5B9BD5"/>
          </a:effectRef>
          <a:fontRef idx="minor">
            <a:sysClr val="window" lastClr="FFFFFF"/>
          </a:fontRef>
        </p:style>
        <p:txBody>
          <a:bodyPr vertOverflow="overflow" horzOverflow="overflow" vert="horz" wrap="square" lIns="0" rIns="0" numCol="1" spcCol="0" rtlCol="0" fromWordArt="0" anchor="ctr" anchorCtr="0" forceAA="0" compatLnSpc="1">
            <a:noAutofit/>
          </a:bodyPr>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融通全网数据资源：</a:t>
            </a:r>
            <a:r>
              <a:rPr lang="zh-CN" altLang="en-US"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rPr>
              <a:t>统一平台标准，拉通全流程数据</a:t>
            </a:r>
            <a:endParaRPr lang="en-US" altLang="zh-CN"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a:lnSpc>
                <a:spcPct val="150000"/>
              </a:lnSpc>
              <a:spcBef>
                <a:spcPts val="0"/>
              </a:spcBef>
              <a:spcAft>
                <a:spcPts val="0"/>
              </a:spcAft>
              <a:buClrTx/>
              <a:buSzTx/>
              <a:buFont typeface="Arial" panose="020B0604020202020204" pitchFamily="34" charset="0"/>
              <a:buChar char="•"/>
            </a:pPr>
            <a:r>
              <a:rPr lang="zh-CN" altLang="en-US"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完善家庭运营基座：</a:t>
            </a:r>
            <a:r>
              <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rPr>
              <a:t>家庭账户、家庭识别、家庭画像</a:t>
            </a:r>
            <a:endParaRPr lang="zh-CN" altLang="en-US" sz="1000" i="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a:lnSpc>
                <a:spcPct val="150000"/>
              </a:lnSpc>
              <a:spcBef>
                <a:spcPts val="0"/>
              </a:spcBef>
              <a:spcAft>
                <a:spcPts val="0"/>
              </a:spcAft>
              <a:buClrTx/>
              <a:buSzTx/>
              <a:buFont typeface="Arial" panose="020B0604020202020204" pitchFamily="34" charset="0"/>
              <a:buChar char="•"/>
            </a:pPr>
            <a:r>
              <a:rPr lang="zh-CN" sz="1000" b="1">
                <a:solidFill>
                  <a:sysClr val="windowText" lastClr="000000"/>
                </a:solidFill>
                <a:latin typeface="微软雅黑" panose="020B0503020204020204" charset="-122"/>
                <a:ea typeface="微软雅黑" panose="020B0503020204020204" charset="-122"/>
                <a:cs typeface="微软雅黑" panose="020B0503020204020204" charset="-122"/>
                <a:sym typeface="+mn-ea"/>
              </a:rPr>
              <a:t>智能评估发展态势：</a:t>
            </a:r>
            <a:r>
              <a:rPr lang="zh-CN"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rPr>
              <a:t>业务发展情况体系化分析、动态展示</a:t>
            </a:r>
            <a:endParaRPr lang="en-US" altLang="zh-CN" sz="1000" i="1">
              <a:solidFill>
                <a:sysClr val="windowText" lastClr="000000"/>
              </a:solidFill>
              <a:latin typeface="微软雅黑" panose="020B0503020204020204" charset="-122"/>
              <a:ea typeface="微软雅黑" panose="020B0503020204020204" charset="-122"/>
              <a:cs typeface="微软雅黑" panose="020B0503020204020204" charset="-122"/>
              <a:sym typeface="+mn-ea"/>
            </a:endParaRPr>
          </a:p>
        </p:txBody>
      </p:sp>
      <p:sp>
        <p:nvSpPr>
          <p:cNvPr id="56" name="文本框 44"/>
          <p:cNvSpPr txBox="1"/>
          <p:nvPr/>
        </p:nvSpPr>
        <p:spPr>
          <a:xfrm>
            <a:off x="2747010" y="2703195"/>
            <a:ext cx="6720205" cy="360045"/>
          </a:xfrm>
          <a:prstGeom prst="rect">
            <a:avLst/>
          </a:prstGeom>
          <a:solidFill>
            <a:srgbClr val="0070C0"/>
          </a:solidFill>
        </p:spPr>
        <p:txBody>
          <a:bodyPr wrap="square" rtlCol="0" anchor="ctr" anchorCtr="0">
            <a:noAutofit/>
          </a:bodyPr>
          <a:lstStyle>
            <a:defPPr>
              <a:defRPr lang="zh-CN"/>
            </a:defPPr>
            <a:lvl1pPr algn="ctr">
              <a:defRPr sz="1400" b="1">
                <a:solidFill>
                  <a:srgbClr val="0070C0"/>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noProof="0" dirty="0">
                <a:ln>
                  <a:noFill/>
                </a:ln>
                <a:solidFill>
                  <a:schemeClr val="bg1"/>
                </a:solidFill>
                <a:effectLst/>
                <a:uLnTx/>
                <a:uFillTx/>
                <a:cs typeface="微软雅黑" panose="020B0503020204020204" charset="-122"/>
                <a:sym typeface="+mn-ea"/>
              </a:rPr>
              <a:t>构建“四化”移动爱家运营体系</a:t>
            </a:r>
            <a:r>
              <a:rPr lang="zh-CN" altLang="en-US" noProof="0" dirty="0">
                <a:ln>
                  <a:noFill/>
                </a:ln>
                <a:solidFill>
                  <a:schemeClr val="bg1"/>
                </a:solidFill>
                <a:effectLst/>
                <a:uLnTx/>
                <a:uFillTx/>
                <a:cs typeface="微软雅黑" panose="020B0503020204020204" charset="-122"/>
                <a:sym typeface="+mn-ea"/>
              </a:rPr>
              <a:t>，推动“5+3”家庭运营转型升级</a:t>
            </a:r>
            <a:endParaRPr lang="zh-CN" altLang="en-US" noProof="0" dirty="0">
              <a:ln>
                <a:noFill/>
              </a:ln>
              <a:solidFill>
                <a:schemeClr val="bg1"/>
              </a:solidFill>
              <a:effectLst/>
              <a:uLnTx/>
              <a:uFillTx/>
              <a:cs typeface="微软雅黑" panose="020B0503020204020204" charset="-122"/>
              <a:sym typeface="+mn-ea"/>
            </a:endParaRPr>
          </a:p>
        </p:txBody>
      </p:sp>
      <p:sp>
        <p:nvSpPr>
          <p:cNvPr id="57" name="文本框 56"/>
          <p:cNvSpPr txBox="1"/>
          <p:nvPr>
            <p:custDataLst>
              <p:tags r:id="rId23"/>
            </p:custDataLst>
          </p:nvPr>
        </p:nvSpPr>
        <p:spPr>
          <a:xfrm>
            <a:off x="3877310" y="4068445"/>
            <a:ext cx="439166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围绕</a:t>
            </a:r>
            <a:r>
              <a:rPr lang="zh-CN" sz="1200" b="1" dirty="0">
                <a:solidFill>
                  <a:schemeClr val="tx1"/>
                </a:solidFill>
                <a:latin typeface="微软雅黑" panose="020B0503020204020204" charset="-122"/>
                <a:ea typeface="微软雅黑" panose="020B0503020204020204" charset="-122"/>
                <a:cs typeface="微软雅黑" panose="020B0503020204020204" charset="-122"/>
                <a:sym typeface="+mn-ea"/>
              </a:rPr>
              <a:t>运营体系</a:t>
            </a:r>
            <a:r>
              <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rPr>
              <a:t>升级需求，建强全网平台能力，实现集约化运营</a:t>
            </a:r>
            <a:endParaRPr lang="zh-CN" altLang="en-US" sz="12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60" name="圆角矩形 1"/>
          <p:cNvSpPr/>
          <p:nvPr>
            <p:custDataLst>
              <p:tags r:id="rId24"/>
            </p:custDataLst>
          </p:nvPr>
        </p:nvSpPr>
        <p:spPr>
          <a:xfrm>
            <a:off x="10478135" y="3416935"/>
            <a:ext cx="1405255" cy="487045"/>
          </a:xfrm>
          <a:prstGeom prst="roundRect">
            <a:avLst/>
          </a:prstGeom>
          <a:solidFill>
            <a:schemeClr val="bg1">
              <a:lumMod val="95000"/>
            </a:schemeClr>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lvl="0" algn="ctr">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69" name="圆角矩形 10"/>
          <p:cNvSpPr/>
          <p:nvPr>
            <p:custDataLst>
              <p:tags r:id="rId25"/>
            </p:custDataLst>
          </p:nvPr>
        </p:nvSpPr>
        <p:spPr>
          <a:xfrm>
            <a:off x="9027795" y="3416935"/>
            <a:ext cx="1405255" cy="487045"/>
          </a:xfrm>
          <a:prstGeom prst="roundRect">
            <a:avLst/>
          </a:prstGeom>
          <a:solidFill>
            <a:schemeClr val="bg1">
              <a:lumMod val="95000"/>
            </a:schemeClr>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endParaRPr lang="zh-CN" sz="1600">
              <a:latin typeface="微软雅黑" panose="020B0503020204020204" charset="-122"/>
              <a:ea typeface="微软雅黑" panose="020B0503020204020204" charset="-122"/>
            </a:endParaRPr>
          </a:p>
        </p:txBody>
      </p:sp>
      <p:sp>
        <p:nvSpPr>
          <p:cNvPr id="70" name="圆角矩形 11"/>
          <p:cNvSpPr/>
          <p:nvPr>
            <p:custDataLst>
              <p:tags r:id="rId26"/>
            </p:custDataLst>
          </p:nvPr>
        </p:nvSpPr>
        <p:spPr>
          <a:xfrm>
            <a:off x="7577455" y="3416935"/>
            <a:ext cx="1405255" cy="487045"/>
          </a:xfrm>
          <a:prstGeom prst="roundRect">
            <a:avLst/>
          </a:prstGeom>
          <a:solidFill>
            <a:schemeClr val="bg1">
              <a:lumMod val="95000"/>
            </a:schemeClr>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73" name="圆角矩形 12"/>
          <p:cNvSpPr/>
          <p:nvPr>
            <p:custDataLst>
              <p:tags r:id="rId27"/>
            </p:custDataLst>
          </p:nvPr>
        </p:nvSpPr>
        <p:spPr>
          <a:xfrm>
            <a:off x="1746250" y="3416935"/>
            <a:ext cx="1405255" cy="48704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74" name="圆角矩形 50"/>
          <p:cNvSpPr/>
          <p:nvPr>
            <p:custDataLst>
              <p:tags r:id="rId28"/>
            </p:custDataLst>
          </p:nvPr>
        </p:nvSpPr>
        <p:spPr>
          <a:xfrm>
            <a:off x="6108700" y="3416935"/>
            <a:ext cx="1405255" cy="48704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endParaRPr lang="zh-CN" sz="1600">
              <a:latin typeface="微软雅黑" panose="020B0503020204020204" charset="-122"/>
              <a:ea typeface="微软雅黑" panose="020B0503020204020204" charset="-122"/>
            </a:endParaRPr>
          </a:p>
        </p:txBody>
      </p:sp>
      <p:sp>
        <p:nvSpPr>
          <p:cNvPr id="76" name="圆角矩形 13"/>
          <p:cNvSpPr/>
          <p:nvPr>
            <p:custDataLst>
              <p:tags r:id="rId29"/>
            </p:custDataLst>
          </p:nvPr>
        </p:nvSpPr>
        <p:spPr>
          <a:xfrm>
            <a:off x="4654550" y="3416935"/>
            <a:ext cx="1405255" cy="48704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80" name="圆角矩形 14"/>
          <p:cNvSpPr/>
          <p:nvPr>
            <p:custDataLst>
              <p:tags r:id="rId30"/>
            </p:custDataLst>
          </p:nvPr>
        </p:nvSpPr>
        <p:spPr>
          <a:xfrm>
            <a:off x="3200400" y="3416935"/>
            <a:ext cx="1405255" cy="48704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50000"/>
              </a:lnSpc>
              <a:buClrTx/>
              <a:buSzTx/>
              <a:buFontTx/>
            </a:pPr>
            <a:endParaRPr lang="zh-CN" altLang="en-US" sz="1600">
              <a:latin typeface="微软雅黑" panose="020B0503020204020204" charset="-122"/>
              <a:ea typeface="微软雅黑" panose="020B0503020204020204" charset="-122"/>
            </a:endParaRPr>
          </a:p>
        </p:txBody>
      </p:sp>
      <p:sp>
        <p:nvSpPr>
          <p:cNvPr id="83" name="圆角矩形 54"/>
          <p:cNvSpPr/>
          <p:nvPr>
            <p:custDataLst>
              <p:tags r:id="rId31"/>
            </p:custDataLst>
          </p:nvPr>
        </p:nvSpPr>
        <p:spPr>
          <a:xfrm>
            <a:off x="292100" y="3416935"/>
            <a:ext cx="1405255" cy="487045"/>
          </a:xfrm>
          <a:prstGeom prst="roundRect">
            <a:avLst/>
          </a:prstGeom>
          <a:solidFill>
            <a:srgbClr val="ECF3FA"/>
          </a:solidFill>
          <a:ln>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lvl="0" algn="ctr" fontAlgn="auto">
              <a:lnSpc>
                <a:spcPct val="150000"/>
              </a:lnSpc>
              <a:buClrTx/>
              <a:buSzTx/>
              <a:buFontTx/>
            </a:pPr>
            <a:endParaRPr lang="zh-CN" altLang="en-US" sz="900" i="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84" name="文本框 15"/>
          <p:cNvSpPr txBox="1"/>
          <p:nvPr>
            <p:custDataLst>
              <p:tags r:id="rId32"/>
            </p:custDataLst>
          </p:nvPr>
        </p:nvSpPr>
        <p:spPr>
          <a:xfrm>
            <a:off x="55181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①产品</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87" name="文本框 16"/>
          <p:cNvSpPr txBox="1"/>
          <p:nvPr>
            <p:custDataLst>
              <p:tags r:id="rId33"/>
            </p:custDataLst>
          </p:nvPr>
        </p:nvSpPr>
        <p:spPr>
          <a:xfrm>
            <a:off x="200215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②资费</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88" name="文本框 31"/>
          <p:cNvSpPr txBox="1"/>
          <p:nvPr>
            <p:custDataLst>
              <p:tags r:id="rId34"/>
            </p:custDataLst>
          </p:nvPr>
        </p:nvSpPr>
        <p:spPr>
          <a:xfrm>
            <a:off x="345249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③运营</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89" name="文本框 17"/>
          <p:cNvSpPr txBox="1"/>
          <p:nvPr>
            <p:custDataLst>
              <p:tags r:id="rId35"/>
            </p:custDataLst>
          </p:nvPr>
        </p:nvSpPr>
        <p:spPr>
          <a:xfrm>
            <a:off x="490283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④渠道</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91" name="文本框 36"/>
          <p:cNvSpPr txBox="1"/>
          <p:nvPr>
            <p:custDataLst>
              <p:tags r:id="rId36"/>
            </p:custDataLst>
          </p:nvPr>
        </p:nvSpPr>
        <p:spPr>
          <a:xfrm>
            <a:off x="635317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⑤传播</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92" name="文本框 19"/>
          <p:cNvSpPr txBox="1"/>
          <p:nvPr>
            <p:custDataLst>
              <p:tags r:id="rId37"/>
            </p:custDataLst>
          </p:nvPr>
        </p:nvSpPr>
        <p:spPr>
          <a:xfrm>
            <a:off x="780351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①平台</a:t>
            </a:r>
            <a:endParaRPr lang="zh-CN" altLang="en-US" sz="1200" b="1"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4" name="文本框 20"/>
          <p:cNvSpPr txBox="1"/>
          <p:nvPr>
            <p:custDataLst>
              <p:tags r:id="rId38"/>
            </p:custDataLst>
          </p:nvPr>
        </p:nvSpPr>
        <p:spPr>
          <a:xfrm>
            <a:off x="925385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②队伍</a:t>
            </a:r>
            <a:endParaRPr lang="zh-CN" altLang="en-US" sz="1200" b="1"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1" name="文本框 21"/>
          <p:cNvSpPr txBox="1"/>
          <p:nvPr>
            <p:custDataLst>
              <p:tags r:id="rId39"/>
            </p:custDataLst>
          </p:nvPr>
        </p:nvSpPr>
        <p:spPr>
          <a:xfrm>
            <a:off x="10704195" y="3511550"/>
            <a:ext cx="9525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rPr>
              <a:t>③机制</a:t>
            </a:r>
            <a:endParaRPr lang="zh-CN" altLang="en-US" sz="1200" b="1" dirty="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8" name="文本框 28"/>
          <p:cNvSpPr txBox="1"/>
          <p:nvPr>
            <p:custDataLst>
              <p:tags r:id="rId40"/>
            </p:custDataLst>
          </p:nvPr>
        </p:nvSpPr>
        <p:spPr>
          <a:xfrm>
            <a:off x="818515" y="4714240"/>
            <a:ext cx="2634615"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面向客户：升级产品服务体验</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09" name="文本框 30"/>
          <p:cNvSpPr txBox="1"/>
          <p:nvPr>
            <p:custDataLst>
              <p:tags r:id="rId41"/>
            </p:custDataLst>
          </p:nvPr>
        </p:nvSpPr>
        <p:spPr>
          <a:xfrm>
            <a:off x="4740275" y="4733290"/>
            <a:ext cx="265049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面向运营：建设</a:t>
            </a:r>
            <a:r>
              <a:rPr 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rPr>
              <a:t>家庭</a:t>
            </a: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运营能力</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10" name="文本框 33"/>
          <p:cNvSpPr txBox="1"/>
          <p:nvPr>
            <p:custDataLst>
              <p:tags r:id="rId42"/>
            </p:custDataLst>
          </p:nvPr>
        </p:nvSpPr>
        <p:spPr>
          <a:xfrm>
            <a:off x="8479155" y="4733290"/>
            <a:ext cx="2806700" cy="297815"/>
          </a:xfrm>
          <a:prstGeom prst="rect">
            <a:avLst/>
          </a:prstGeom>
          <a:noFill/>
        </p:spPr>
        <p:txBody>
          <a:bodyPr wrap="square" rtlCol="0" anchor="t">
            <a:noAutofit/>
          </a:bodyPr>
          <a:p>
            <a:pPr indent="0" algn="ctr" fontAlgn="auto">
              <a:lnSpc>
                <a:spcPct val="100000"/>
              </a:lnSpc>
              <a:spcBef>
                <a:spcPct val="0"/>
              </a:spcBef>
              <a:spcAft>
                <a:spcPct val="0"/>
              </a:spcAft>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面向一线：完善生产支撑</a:t>
            </a: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工具</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14" name="文本框 86"/>
          <p:cNvSpPr txBox="1"/>
          <p:nvPr/>
        </p:nvSpPr>
        <p:spPr>
          <a:xfrm>
            <a:off x="2799807" y="3088080"/>
            <a:ext cx="1361244" cy="276999"/>
          </a:xfrm>
          <a:prstGeom prst="rect">
            <a:avLst/>
          </a:prstGeom>
          <a:noFill/>
        </p:spPr>
        <p:txBody>
          <a:bodyPr wrap="square" rtlCol="0">
            <a:spAutoFit/>
          </a:bodyPr>
          <a:p>
            <a:pPr algn="ctr"/>
            <a:r>
              <a:rPr lang="zh-CN" altLang="en-US" sz="1200" b="1" dirty="0">
                <a:latin typeface="微软雅黑" panose="020B0503020204020204" charset="-122"/>
                <a:ea typeface="微软雅黑" panose="020B0503020204020204" charset="-122"/>
              </a:rPr>
              <a:t>前端：五要素</a:t>
            </a:r>
            <a:endParaRPr lang="zh-CN" altLang="en-US" sz="1200" b="1" dirty="0">
              <a:latin typeface="微软雅黑" panose="020B0503020204020204" charset="-122"/>
              <a:ea typeface="微软雅黑" panose="020B0503020204020204" charset="-122"/>
            </a:endParaRPr>
          </a:p>
        </p:txBody>
      </p:sp>
      <p:sp>
        <p:nvSpPr>
          <p:cNvPr id="115" name="文本框 87"/>
          <p:cNvSpPr txBox="1"/>
          <p:nvPr/>
        </p:nvSpPr>
        <p:spPr>
          <a:xfrm>
            <a:off x="9076827" y="3088080"/>
            <a:ext cx="1290955" cy="276999"/>
          </a:xfrm>
          <a:prstGeom prst="rect">
            <a:avLst/>
          </a:prstGeom>
          <a:noFill/>
        </p:spPr>
        <p:txBody>
          <a:bodyPr wrap="square" rtlCol="0">
            <a:spAutoFit/>
          </a:bodyPr>
          <a:p>
            <a:pPr algn="ctr"/>
            <a:r>
              <a:rPr lang="zh-CN" altLang="en-US" sz="1200" b="1" dirty="0">
                <a:latin typeface="微软雅黑" panose="020B0503020204020204" charset="-122"/>
                <a:ea typeface="微软雅黑" panose="020B0503020204020204" charset="-122"/>
              </a:rPr>
              <a:t>后端：三要素</a:t>
            </a:r>
            <a:endParaRPr lang="zh-CN" altLang="en-US" sz="1200" b="1" dirty="0">
              <a:latin typeface="微软雅黑" panose="020B0503020204020204" charset="-122"/>
              <a:ea typeface="微软雅黑" panose="020B0503020204020204" charset="-122"/>
            </a:endParaRPr>
          </a:p>
        </p:txBody>
      </p:sp>
    </p:spTree>
    <p:custDataLst>
      <p:tags r:id="rId43"/>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6</a:t>
            </a:r>
            <a:r>
              <a:rPr lang="zh-CN" altLang="en-US">
                <a:sym typeface="+mn-ea"/>
              </a:rPr>
              <a:t>：数智运营</a:t>
            </a:r>
            <a:r>
              <a:rPr>
                <a:sym typeface="+mn-ea"/>
              </a:rPr>
              <a:t>-</a:t>
            </a:r>
            <a:r>
              <a:rPr lang="zh-CN" altLang="en-US">
                <a:sym typeface="+mn-ea"/>
              </a:rPr>
              <a:t>行业洞察运营专区（</a:t>
            </a:r>
            <a:r>
              <a:rPr>
                <a:sym typeface="+mn-ea"/>
              </a:rPr>
              <a:t>6/6</a:t>
            </a:r>
            <a:r>
              <a:rPr lang="zh-CN" altLang="en-US">
                <a:sym typeface="+mn-ea"/>
              </a:rPr>
              <a:t>）</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lt"/>
              </a:rPr>
              <a:t>围绕</a:t>
            </a:r>
            <a:r>
              <a:rPr lang="zh-CN" altLang="zh-HK" kern="1200" noProof="0" smtClean="0">
                <a:solidFill>
                  <a:srgbClr val="000000">
                    <a:alpha val="100000"/>
                  </a:srgbClr>
                </a:solidFill>
                <a:latin typeface="+mn-lt"/>
                <a:ea typeface="+mn-lt"/>
                <a:cs typeface="+mn-lt"/>
                <a:sym typeface="+mn-lt"/>
              </a:rPr>
              <a:t>CHBN</a:t>
            </a:r>
            <a:r>
              <a:rPr lang="zh-CN" altLang="zh-HK" kern="1200" noProof="0" smtClean="0">
                <a:solidFill>
                  <a:srgbClr val="000000">
                    <a:alpha val="100000"/>
                  </a:srgbClr>
                </a:solidFill>
                <a:latin typeface="+mn-lt"/>
                <a:ea typeface="+mn-lt"/>
                <a:cs typeface="+mn-lt"/>
                <a:sym typeface="+mn-lt"/>
              </a:rPr>
              <a:t>市场赋能，基于已有中小企业沙盘、沿街商铺信息库及地图圈选工具等能力，全面升级空间场景能力，通过完善空间场景数据库，构建以地图为承载的全景洞察系统，形成三方全网人</a:t>
            </a:r>
            <a:r>
              <a:rPr lang="zh-CN" altLang="zh-HK" kern="1200" noProof="0" smtClean="0">
                <a:solidFill>
                  <a:srgbClr val="000000">
                    <a:alpha val="100000"/>
                  </a:srgbClr>
                </a:solidFill>
                <a:latin typeface="+mn-lt"/>
                <a:ea typeface="+mn-lt"/>
                <a:cs typeface="+mn-lt"/>
                <a:sym typeface="+mn-lt"/>
              </a:rPr>
              <a:t>-</a:t>
            </a:r>
            <a:r>
              <a:rPr lang="zh-CN" altLang="zh-HK" kern="1200" noProof="0" smtClean="0">
                <a:solidFill>
                  <a:srgbClr val="000000">
                    <a:alpha val="100000"/>
                  </a:srgbClr>
                </a:solidFill>
                <a:latin typeface="+mn-lt"/>
                <a:ea typeface="+mn-lt"/>
                <a:cs typeface="+mn-lt"/>
                <a:sym typeface="+mn-lt"/>
              </a:rPr>
              <a:t>企</a:t>
            </a:r>
            <a:r>
              <a:rPr lang="zh-CN" altLang="zh-HK" kern="1200" noProof="0" smtClean="0">
                <a:solidFill>
                  <a:srgbClr val="000000">
                    <a:alpha val="100000"/>
                  </a:srgbClr>
                </a:solidFill>
                <a:latin typeface="+mn-lt"/>
                <a:ea typeface="+mn-lt"/>
                <a:cs typeface="+mn-lt"/>
                <a:sym typeface="+mn-lt"/>
              </a:rPr>
              <a:t>-</a:t>
            </a:r>
            <a:r>
              <a:rPr lang="zh-CN" altLang="zh-HK" kern="1200" noProof="0" smtClean="0">
                <a:solidFill>
                  <a:srgbClr val="000000">
                    <a:alpha val="100000"/>
                  </a:srgbClr>
                </a:solidFill>
                <a:latin typeface="+mn-lt"/>
                <a:ea typeface="+mn-lt"/>
                <a:cs typeface="+mn-lt"/>
                <a:sym typeface="+mn-lt"/>
              </a:rPr>
              <a:t>场景多层次空间赋能体系</a:t>
            </a:r>
            <a:endParaRPr lang="zh-CN" altLang="zh-HK" kern="1200" noProof="0" smtClean="0">
              <a:solidFill>
                <a:srgbClr val="000000">
                  <a:alpha val="100000"/>
                </a:srgbClr>
              </a:solidFill>
              <a:latin typeface="+mn-lt"/>
              <a:ea typeface="+mn-lt"/>
              <a:cs typeface="+mn-lt"/>
              <a:sym typeface="+mn-lt"/>
            </a:endParaRPr>
          </a:p>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en-US" kern="1200" noProof="0" smtClean="0">
                <a:solidFill>
                  <a:srgbClr val="000000">
                    <a:alpha val="100000"/>
                  </a:srgbClr>
                </a:solidFill>
                <a:latin typeface="+mn-lt"/>
                <a:ea typeface="+mn-lt"/>
                <a:cs typeface="+mn-lt"/>
                <a:sym typeface="+mn-ea"/>
              </a:rPr>
              <a:t>行业洞察专区主要主要需求实现由</a:t>
            </a:r>
            <a:r>
              <a:rPr lang="zh-CN" altLang="en-US" kern="1200" noProof="0" smtClean="0">
                <a:solidFill>
                  <a:srgbClr val="000000">
                    <a:alpha val="100000"/>
                  </a:srgbClr>
                </a:solidFill>
                <a:latin typeface="+mn-lt"/>
                <a:ea typeface="+mn-lt"/>
                <a:cs typeface="+mn-lt"/>
                <a:sym typeface="+mn-ea"/>
              </a:rPr>
              <a:t>大数据负责规划及建设，遵循运营平台标准化集成规范，采用页面集成的方式纳入运营平台数智运营模块</a:t>
            </a:r>
            <a:endParaRPr lang="zh-CN" altLang="zh-HK" kern="1200" noProof="0" smtClean="0">
              <a:solidFill>
                <a:srgbClr val="000000">
                  <a:alpha val="100000"/>
                </a:srgbClr>
              </a:solidFill>
              <a:latin typeface="+mn-lt"/>
              <a:ea typeface="+mn-lt"/>
              <a:cs typeface="+mn-lt"/>
              <a:sym typeface="+mn-lt"/>
            </a:endParaRPr>
          </a:p>
        </p:txBody>
      </p:sp>
      <p:grpSp>
        <p:nvGrpSpPr>
          <p:cNvPr id="7" name="组合 6"/>
          <p:cNvGrpSpPr/>
          <p:nvPr/>
        </p:nvGrpSpPr>
        <p:grpSpPr>
          <a:xfrm>
            <a:off x="353695" y="1912620"/>
            <a:ext cx="11113135" cy="4611370"/>
            <a:chOff x="557" y="2598"/>
            <a:chExt cx="18330" cy="7676"/>
          </a:xfrm>
        </p:grpSpPr>
        <p:sp>
          <p:nvSpPr>
            <p:cNvPr id="211" name="圆角矩形 152"/>
            <p:cNvSpPr/>
            <p:nvPr/>
          </p:nvSpPr>
          <p:spPr>
            <a:xfrm>
              <a:off x="15288" y="8494"/>
              <a:ext cx="3572" cy="1768"/>
            </a:xfrm>
            <a:prstGeom prst="roundRect">
              <a:avLst>
                <a:gd name="adj" fmla="val 8372"/>
              </a:avLst>
            </a:prstGeom>
            <a:solidFill>
              <a:srgbClr val="F1FBFF"/>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1400" dirty="0">
                <a:solidFill>
                  <a:sysClr val="windowText" lastClr="000000"/>
                </a:solidFill>
                <a:latin typeface="微软雅黑" panose="020B0503020204020204" charset="-122"/>
                <a:ea typeface="微软雅黑" panose="020B0503020204020204" charset="-122"/>
              </a:endParaRPr>
            </a:p>
          </p:txBody>
        </p:sp>
        <p:sp>
          <p:nvSpPr>
            <p:cNvPr id="210" name="圆角矩形 152"/>
            <p:cNvSpPr/>
            <p:nvPr/>
          </p:nvSpPr>
          <p:spPr>
            <a:xfrm>
              <a:off x="11528" y="8494"/>
              <a:ext cx="3572" cy="1768"/>
            </a:xfrm>
            <a:prstGeom prst="roundRect">
              <a:avLst>
                <a:gd name="adj" fmla="val 8372"/>
              </a:avLst>
            </a:prstGeom>
            <a:solidFill>
              <a:srgbClr val="F1FBFF"/>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1400" dirty="0">
                <a:solidFill>
                  <a:sysClr val="windowText" lastClr="000000"/>
                </a:solidFill>
                <a:latin typeface="微软雅黑" panose="020B0503020204020204" charset="-122"/>
                <a:ea typeface="微软雅黑" panose="020B0503020204020204" charset="-122"/>
              </a:endParaRPr>
            </a:p>
          </p:txBody>
        </p:sp>
        <p:sp>
          <p:nvSpPr>
            <p:cNvPr id="4" name="圆角矩形 12"/>
            <p:cNvSpPr/>
            <p:nvPr/>
          </p:nvSpPr>
          <p:spPr>
            <a:xfrm>
              <a:off x="599" y="2651"/>
              <a:ext cx="3069" cy="1947"/>
            </a:xfrm>
            <a:prstGeom prst="roundRect">
              <a:avLst>
                <a:gd name="adj" fmla="val 5293"/>
              </a:avLst>
            </a:prstGeom>
            <a:solidFill>
              <a:srgbClr val="5B9BD5"/>
            </a:solid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dirty="0">
                <a:solidFill>
                  <a:sysClr val="window" lastClr="FFFFFF"/>
                </a:solidFill>
                <a:latin typeface="微软雅黑" panose="020B0503020204020204" charset="-122"/>
                <a:ea typeface="微软雅黑" panose="020B0503020204020204" charset="-122"/>
              </a:endParaRPr>
            </a:p>
          </p:txBody>
        </p:sp>
        <p:sp>
          <p:nvSpPr>
            <p:cNvPr id="6" name="圆角矩形 16"/>
            <p:cNvSpPr/>
            <p:nvPr/>
          </p:nvSpPr>
          <p:spPr>
            <a:xfrm>
              <a:off x="557" y="4943"/>
              <a:ext cx="3069" cy="3212"/>
            </a:xfrm>
            <a:prstGeom prst="roundRect">
              <a:avLst>
                <a:gd name="adj" fmla="val 5293"/>
              </a:avLst>
            </a:prstGeom>
            <a:solidFill>
              <a:srgbClr val="5B9BD5"/>
            </a:solid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dirty="0">
                <a:solidFill>
                  <a:sysClr val="window" lastClr="FFFFFF"/>
                </a:solidFill>
                <a:latin typeface="微软雅黑" panose="020B0503020204020204" charset="-122"/>
                <a:ea typeface="微软雅黑" panose="020B0503020204020204" charset="-122"/>
              </a:endParaRPr>
            </a:p>
          </p:txBody>
        </p:sp>
        <p:sp>
          <p:nvSpPr>
            <p:cNvPr id="32" name="圆角矩形 22"/>
            <p:cNvSpPr/>
            <p:nvPr/>
          </p:nvSpPr>
          <p:spPr>
            <a:xfrm>
              <a:off x="3955" y="2651"/>
              <a:ext cx="4876" cy="964"/>
            </a:xfrm>
            <a:prstGeom prst="roundRect">
              <a:avLst>
                <a:gd name="adj" fmla="val 15512"/>
              </a:avLst>
            </a:prstGeom>
            <a:solidFill>
              <a:srgbClr val="4472C4">
                <a:lumMod val="20000"/>
                <a:lumOff val="80000"/>
              </a:srgbClr>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 lastClr="FFFFFF"/>
                </a:solidFill>
                <a:latin typeface="微软雅黑" panose="020B0503020204020204" charset="-122"/>
                <a:ea typeface="微软雅黑" panose="020B0503020204020204" charset="-122"/>
              </a:endParaRPr>
            </a:p>
          </p:txBody>
        </p:sp>
        <p:sp>
          <p:nvSpPr>
            <p:cNvPr id="33" name="圆角矩形 24"/>
            <p:cNvSpPr/>
            <p:nvPr/>
          </p:nvSpPr>
          <p:spPr>
            <a:xfrm>
              <a:off x="8981" y="2651"/>
              <a:ext cx="4876" cy="964"/>
            </a:xfrm>
            <a:prstGeom prst="roundRect">
              <a:avLst>
                <a:gd name="adj" fmla="val 15512"/>
              </a:avLst>
            </a:prstGeom>
            <a:solidFill>
              <a:srgbClr val="4472C4">
                <a:lumMod val="20000"/>
                <a:lumOff val="80000"/>
              </a:srgbClr>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 lastClr="FFFFFF"/>
                </a:solidFill>
                <a:latin typeface="微软雅黑" panose="020B0503020204020204" charset="-122"/>
                <a:ea typeface="微软雅黑" panose="020B0503020204020204" charset="-122"/>
              </a:endParaRPr>
            </a:p>
          </p:txBody>
        </p:sp>
        <p:sp>
          <p:nvSpPr>
            <p:cNvPr id="34" name="圆角矩形 25"/>
            <p:cNvSpPr/>
            <p:nvPr/>
          </p:nvSpPr>
          <p:spPr>
            <a:xfrm>
              <a:off x="14008" y="2651"/>
              <a:ext cx="4876" cy="964"/>
            </a:xfrm>
            <a:prstGeom prst="roundRect">
              <a:avLst>
                <a:gd name="adj" fmla="val 15512"/>
              </a:avLst>
            </a:prstGeom>
            <a:solidFill>
              <a:srgbClr val="4472C4">
                <a:lumMod val="20000"/>
                <a:lumOff val="80000"/>
              </a:srgbClr>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 lastClr="FFFFFF"/>
                </a:solidFill>
                <a:latin typeface="微软雅黑" panose="020B0503020204020204" charset="-122"/>
                <a:ea typeface="微软雅黑" panose="020B0503020204020204" charset="-122"/>
              </a:endParaRPr>
            </a:p>
          </p:txBody>
        </p:sp>
        <p:sp>
          <p:nvSpPr>
            <p:cNvPr id="41" name="圆角矩形 27"/>
            <p:cNvSpPr/>
            <p:nvPr/>
          </p:nvSpPr>
          <p:spPr>
            <a:xfrm>
              <a:off x="3955" y="2598"/>
              <a:ext cx="14929" cy="2000"/>
            </a:xfrm>
            <a:prstGeom prst="roundRect">
              <a:avLst>
                <a:gd name="adj" fmla="val 15512"/>
              </a:avLst>
            </a:prstGeom>
            <a:solidFill>
              <a:srgbClr val="F2F2F2"/>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 lastClr="FFFFFF"/>
                </a:solidFill>
                <a:latin typeface="微软雅黑" panose="020B0503020204020204" charset="-122"/>
                <a:ea typeface="微软雅黑" panose="020B0503020204020204" charset="-122"/>
              </a:endParaRPr>
            </a:p>
          </p:txBody>
        </p:sp>
        <p:sp>
          <p:nvSpPr>
            <p:cNvPr id="43" name="文本框 42"/>
            <p:cNvSpPr txBox="1"/>
            <p:nvPr/>
          </p:nvSpPr>
          <p:spPr>
            <a:xfrm>
              <a:off x="4325" y="2915"/>
              <a:ext cx="4136"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营销跟踪</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grpSp>
          <p:nvGrpSpPr>
            <p:cNvPr id="44" name="组合 43"/>
            <p:cNvGrpSpPr/>
            <p:nvPr/>
          </p:nvGrpSpPr>
          <p:grpSpPr>
            <a:xfrm>
              <a:off x="4105" y="3615"/>
              <a:ext cx="14627" cy="786"/>
              <a:chOff x="2570657" y="1987838"/>
              <a:chExt cx="9287891" cy="266661"/>
            </a:xfrm>
            <a:solidFill>
              <a:srgbClr val="DAE3F3"/>
            </a:solidFill>
            <a:effectLst/>
          </p:grpSpPr>
          <p:sp>
            <p:nvSpPr>
              <p:cNvPr id="45" name="圆角矩形 33"/>
              <p:cNvSpPr/>
              <p:nvPr/>
            </p:nvSpPr>
            <p:spPr>
              <a:xfrm>
                <a:off x="4116535" y="1987838"/>
                <a:ext cx="1454906"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Text" lastClr="000000"/>
                  </a:solidFill>
                  <a:latin typeface="微软雅黑" panose="020B0503020204020204" charset="-122"/>
                  <a:ea typeface="微软雅黑" panose="020B0503020204020204" charset="-122"/>
                </a:endParaRPr>
              </a:p>
            </p:txBody>
          </p:sp>
          <p:sp>
            <p:nvSpPr>
              <p:cNvPr id="46" name="文本框 45"/>
              <p:cNvSpPr txBox="1"/>
              <p:nvPr/>
            </p:nvSpPr>
            <p:spPr>
              <a:xfrm>
                <a:off x="4415877" y="2069142"/>
                <a:ext cx="914364" cy="121622"/>
              </a:xfrm>
              <a:prstGeom prst="rect">
                <a:avLst/>
              </a:prstGeom>
              <a:grpFill/>
              <a:ln>
                <a:noFill/>
              </a:ln>
            </p:spPr>
            <p:txBody>
              <a:bodyPr wrap="square" lIns="0" tIns="0" rIns="0" bIns="0" rtlCol="0">
                <a:spAutoFit/>
              </a:bodyPr>
              <a:p>
                <a:pPr algn="ctr"/>
                <a:r>
                  <a:rPr kumimoji="1" lang="zh-CN" altLang="en-US" sz="1400" b="1" dirty="0">
                    <a:latin typeface="微软雅黑" panose="020B0503020204020204" charset="-122"/>
                    <a:ea typeface="微软雅黑" panose="020B0503020204020204" charset="-122"/>
                    <a:cs typeface="OPPOSans M" pitchFamily="18" charset="-122"/>
                  </a:rPr>
                  <a:t>企入场景</a:t>
                </a:r>
                <a:endParaRPr kumimoji="1" lang="zh-CN" altLang="en-US" sz="1400" b="1" dirty="0">
                  <a:latin typeface="微软雅黑" panose="020B0503020204020204" charset="-122"/>
                  <a:ea typeface="微软雅黑" panose="020B0503020204020204" charset="-122"/>
                  <a:cs typeface="OPPOSans M" pitchFamily="18" charset="-122"/>
                </a:endParaRPr>
              </a:p>
            </p:txBody>
          </p:sp>
          <p:sp>
            <p:nvSpPr>
              <p:cNvPr id="48" name="圆角矩形 35"/>
              <p:cNvSpPr/>
              <p:nvPr/>
            </p:nvSpPr>
            <p:spPr>
              <a:xfrm>
                <a:off x="2570657" y="1987838"/>
                <a:ext cx="1454906"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Text" lastClr="000000"/>
                  </a:solidFill>
                  <a:latin typeface="微软雅黑" panose="020B0503020204020204" charset="-122"/>
                  <a:ea typeface="微软雅黑" panose="020B0503020204020204" charset="-122"/>
                </a:endParaRPr>
              </a:p>
            </p:txBody>
          </p:sp>
          <p:sp>
            <p:nvSpPr>
              <p:cNvPr id="56" name="文本框 55"/>
              <p:cNvSpPr txBox="1"/>
              <p:nvPr/>
            </p:nvSpPr>
            <p:spPr>
              <a:xfrm>
                <a:off x="2869999" y="2069142"/>
                <a:ext cx="914364" cy="121622"/>
              </a:xfrm>
              <a:prstGeom prst="rect">
                <a:avLst/>
              </a:prstGeom>
              <a:grpFill/>
              <a:ln>
                <a:noFill/>
              </a:ln>
            </p:spPr>
            <p:txBody>
              <a:bodyPr wrap="square" lIns="0" tIns="0" rIns="0" bIns="0" rtlCol="0">
                <a:spAutoFit/>
              </a:bodyPr>
              <a:p>
                <a:pPr algn="ctr"/>
                <a:r>
                  <a:rPr kumimoji="1" lang="zh-CN" altLang="en-US" sz="1400" b="1" dirty="0">
                    <a:latin typeface="微软雅黑" panose="020B0503020204020204" charset="-122"/>
                    <a:ea typeface="微软雅黑" panose="020B0503020204020204" charset="-122"/>
                    <a:cs typeface="OPPOSans M" pitchFamily="18" charset="-122"/>
                  </a:rPr>
                  <a:t>人入场景</a:t>
                </a:r>
                <a:endParaRPr kumimoji="1" lang="zh-CN" altLang="en-US" sz="1400" b="1" dirty="0">
                  <a:latin typeface="微软雅黑" panose="020B0503020204020204" charset="-122"/>
                  <a:ea typeface="微软雅黑" panose="020B0503020204020204" charset="-122"/>
                  <a:cs typeface="OPPOSans M" pitchFamily="18" charset="-122"/>
                </a:endParaRPr>
              </a:p>
            </p:txBody>
          </p:sp>
          <p:sp>
            <p:nvSpPr>
              <p:cNvPr id="58" name="圆角矩形 37"/>
              <p:cNvSpPr/>
              <p:nvPr/>
            </p:nvSpPr>
            <p:spPr>
              <a:xfrm>
                <a:off x="7288022" y="1987838"/>
                <a:ext cx="1454906"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Text" lastClr="000000"/>
                  </a:solidFill>
                  <a:latin typeface="微软雅黑" panose="020B0503020204020204" charset="-122"/>
                  <a:ea typeface="微软雅黑" panose="020B0503020204020204" charset="-122"/>
                </a:endParaRPr>
              </a:p>
            </p:txBody>
          </p:sp>
          <p:sp>
            <p:nvSpPr>
              <p:cNvPr id="67" name="文本框 66"/>
              <p:cNvSpPr txBox="1"/>
              <p:nvPr/>
            </p:nvSpPr>
            <p:spPr>
              <a:xfrm>
                <a:off x="7372835" y="2070387"/>
                <a:ext cx="1231460" cy="121622"/>
              </a:xfrm>
              <a:prstGeom prst="rect">
                <a:avLst/>
              </a:prstGeom>
              <a:grpFill/>
              <a:ln>
                <a:noFill/>
              </a:ln>
            </p:spPr>
            <p:txBody>
              <a:bodyPr wrap="square" lIns="0" tIns="0" rIns="0" bIns="0" rtlCol="0">
                <a:spAutoFit/>
              </a:bodyPr>
              <a:p>
                <a:pPr algn="ctr"/>
                <a:r>
                  <a:rPr kumimoji="1" lang="zh-CN" altLang="en-US" sz="1400" b="1" dirty="0">
                    <a:latin typeface="微软雅黑" panose="020B0503020204020204" charset="-122"/>
                    <a:ea typeface="微软雅黑" panose="020B0503020204020204" charset="-122"/>
                    <a:cs typeface="OPPOSans M" pitchFamily="18" charset="-122"/>
                  </a:rPr>
                  <a:t>市政协同</a:t>
                </a:r>
                <a:endParaRPr kumimoji="1" lang="zh-CN" altLang="en-US" sz="1400" b="1" dirty="0">
                  <a:latin typeface="微软雅黑" panose="020B0503020204020204" charset="-122"/>
                  <a:ea typeface="微软雅黑" panose="020B0503020204020204" charset="-122"/>
                  <a:cs typeface="OPPOSans M" pitchFamily="18" charset="-122"/>
                </a:endParaRPr>
              </a:p>
            </p:txBody>
          </p:sp>
          <p:sp>
            <p:nvSpPr>
              <p:cNvPr id="68" name="圆角矩形 39"/>
              <p:cNvSpPr/>
              <p:nvPr/>
            </p:nvSpPr>
            <p:spPr>
              <a:xfrm>
                <a:off x="5742144" y="1987838"/>
                <a:ext cx="1454906"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Text" lastClr="000000"/>
                  </a:solidFill>
                  <a:latin typeface="微软雅黑" panose="020B0503020204020204" charset="-122"/>
                  <a:ea typeface="微软雅黑" panose="020B0503020204020204" charset="-122"/>
                </a:endParaRPr>
              </a:p>
            </p:txBody>
          </p:sp>
          <p:sp>
            <p:nvSpPr>
              <p:cNvPr id="69" name="文本框 68"/>
              <p:cNvSpPr txBox="1"/>
              <p:nvPr/>
            </p:nvSpPr>
            <p:spPr>
              <a:xfrm>
                <a:off x="6041486" y="2069142"/>
                <a:ext cx="914364" cy="121622"/>
              </a:xfrm>
              <a:prstGeom prst="rect">
                <a:avLst/>
              </a:prstGeom>
              <a:grpFill/>
              <a:ln>
                <a:noFill/>
              </a:ln>
            </p:spPr>
            <p:txBody>
              <a:bodyPr wrap="square" lIns="0" tIns="0" rIns="0" bIns="0" rtlCol="0">
                <a:spAutoFit/>
              </a:bodyPr>
              <a:p>
                <a:pPr algn="ctr"/>
                <a:r>
                  <a:rPr kumimoji="1" lang="zh-CN" altLang="en-US" sz="1400" b="1" dirty="0">
                    <a:latin typeface="微软雅黑" panose="020B0503020204020204" charset="-122"/>
                    <a:ea typeface="微软雅黑" panose="020B0503020204020204" charset="-122"/>
                    <a:cs typeface="OPPOSans M" pitchFamily="18" charset="-122"/>
                  </a:rPr>
                  <a:t>异网监控</a:t>
                </a:r>
                <a:endParaRPr kumimoji="1" lang="zh-CN" altLang="en-US" sz="1400" b="1" dirty="0">
                  <a:latin typeface="微软雅黑" panose="020B0503020204020204" charset="-122"/>
                  <a:ea typeface="微软雅黑" panose="020B0503020204020204" charset="-122"/>
                  <a:cs typeface="OPPOSans M" pitchFamily="18" charset="-122"/>
                </a:endParaRPr>
              </a:p>
            </p:txBody>
          </p:sp>
          <p:sp>
            <p:nvSpPr>
              <p:cNvPr id="70" name="圆角矩形 41"/>
              <p:cNvSpPr/>
              <p:nvPr/>
            </p:nvSpPr>
            <p:spPr>
              <a:xfrm>
                <a:off x="10403642" y="1987838"/>
                <a:ext cx="1454906"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Text" lastClr="000000"/>
                  </a:solidFill>
                  <a:latin typeface="微软雅黑" panose="020B0503020204020204" charset="-122"/>
                  <a:ea typeface="微软雅黑" panose="020B0503020204020204" charset="-122"/>
                </a:endParaRPr>
              </a:p>
            </p:txBody>
          </p:sp>
          <p:sp>
            <p:nvSpPr>
              <p:cNvPr id="71" name="文本框 70"/>
              <p:cNvSpPr txBox="1"/>
              <p:nvPr/>
            </p:nvSpPr>
            <p:spPr>
              <a:xfrm>
                <a:off x="10702984" y="2069142"/>
                <a:ext cx="914364" cy="121622"/>
              </a:xfrm>
              <a:prstGeom prst="rect">
                <a:avLst/>
              </a:prstGeom>
              <a:grpFill/>
              <a:ln>
                <a:noFill/>
              </a:ln>
            </p:spPr>
            <p:txBody>
              <a:bodyPr wrap="square" lIns="0" tIns="0" rIns="0" bIns="0" rtlCol="0">
                <a:spAutoFit/>
              </a:bodyPr>
              <a:p>
                <a:pPr algn="ctr"/>
                <a:r>
                  <a:rPr kumimoji="1" lang="zh-CN" altLang="en-US" sz="1400" b="1" dirty="0">
                    <a:latin typeface="微软雅黑" panose="020B0503020204020204" charset="-122"/>
                    <a:ea typeface="微软雅黑" panose="020B0503020204020204" charset="-122"/>
                    <a:cs typeface="OPPOSans M" pitchFamily="18" charset="-122"/>
                  </a:rPr>
                  <a:t>漫入商机</a:t>
                </a:r>
                <a:endParaRPr kumimoji="1" lang="zh-CN" altLang="en-US" sz="1400" b="1" dirty="0">
                  <a:latin typeface="微软雅黑" panose="020B0503020204020204" charset="-122"/>
                  <a:ea typeface="微软雅黑" panose="020B0503020204020204" charset="-122"/>
                  <a:cs typeface="OPPOSans M" pitchFamily="18" charset="-122"/>
                </a:endParaRPr>
              </a:p>
            </p:txBody>
          </p:sp>
          <p:sp>
            <p:nvSpPr>
              <p:cNvPr id="72" name="圆角矩形 43"/>
              <p:cNvSpPr/>
              <p:nvPr/>
            </p:nvSpPr>
            <p:spPr>
              <a:xfrm>
                <a:off x="8857764" y="1987838"/>
                <a:ext cx="1454906"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b="1" dirty="0">
                  <a:solidFill>
                    <a:sysClr val="windowText" lastClr="000000"/>
                  </a:solidFill>
                  <a:latin typeface="微软雅黑" panose="020B0503020204020204" charset="-122"/>
                  <a:ea typeface="微软雅黑" panose="020B0503020204020204" charset="-122"/>
                </a:endParaRPr>
              </a:p>
            </p:txBody>
          </p:sp>
          <p:sp>
            <p:nvSpPr>
              <p:cNvPr id="73" name="文本框 72"/>
              <p:cNvSpPr txBox="1"/>
              <p:nvPr/>
            </p:nvSpPr>
            <p:spPr>
              <a:xfrm>
                <a:off x="9157106" y="2069142"/>
                <a:ext cx="914364" cy="121622"/>
              </a:xfrm>
              <a:prstGeom prst="rect">
                <a:avLst/>
              </a:prstGeom>
              <a:grpFill/>
              <a:ln>
                <a:noFill/>
              </a:ln>
            </p:spPr>
            <p:txBody>
              <a:bodyPr wrap="square" lIns="0" tIns="0" rIns="0" bIns="0" rtlCol="0">
                <a:spAutoFit/>
              </a:bodyPr>
              <a:p>
                <a:pPr algn="ctr"/>
                <a:r>
                  <a:rPr kumimoji="1" lang="zh-CN" altLang="en-US" sz="1400" b="1" dirty="0">
                    <a:latin typeface="微软雅黑" panose="020B0503020204020204" charset="-122"/>
                    <a:ea typeface="微软雅黑" panose="020B0503020204020204" charset="-122"/>
                    <a:cs typeface="OPPOSans M" pitchFamily="18" charset="-122"/>
                  </a:rPr>
                  <a:t>份额监测</a:t>
                </a:r>
                <a:endParaRPr kumimoji="1" lang="zh-CN" altLang="en-US" sz="1400" b="1" dirty="0">
                  <a:latin typeface="微软雅黑" panose="020B0503020204020204" charset="-122"/>
                  <a:ea typeface="微软雅黑" panose="020B0503020204020204" charset="-122"/>
                  <a:cs typeface="OPPOSans M" pitchFamily="18" charset="-122"/>
                </a:endParaRPr>
              </a:p>
            </p:txBody>
          </p:sp>
        </p:grpSp>
        <p:sp>
          <p:nvSpPr>
            <p:cNvPr id="74" name="圆角矩形 45"/>
            <p:cNvSpPr/>
            <p:nvPr/>
          </p:nvSpPr>
          <p:spPr>
            <a:xfrm>
              <a:off x="3922" y="7343"/>
              <a:ext cx="14929" cy="888"/>
            </a:xfrm>
            <a:prstGeom prst="roundRect">
              <a:avLst>
                <a:gd name="adj" fmla="val 15512"/>
              </a:avLst>
            </a:prstGeom>
            <a:solidFill>
              <a:srgbClr val="F2F2F2"/>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dirty="0">
                <a:solidFill>
                  <a:sysClr val="window" lastClr="FFFFFF"/>
                </a:solidFill>
                <a:latin typeface="微软雅黑" panose="020B0503020204020204" charset="-122"/>
                <a:ea typeface="微软雅黑" panose="020B0503020204020204" charset="-122"/>
              </a:endParaRPr>
            </a:p>
          </p:txBody>
        </p:sp>
        <p:sp>
          <p:nvSpPr>
            <p:cNvPr id="83" name="圆角矩形 57"/>
            <p:cNvSpPr/>
            <p:nvPr/>
          </p:nvSpPr>
          <p:spPr>
            <a:xfrm>
              <a:off x="3916" y="4943"/>
              <a:ext cx="14929" cy="2177"/>
            </a:xfrm>
            <a:prstGeom prst="roundRect">
              <a:avLst>
                <a:gd name="adj" fmla="val 12399"/>
              </a:avLst>
            </a:prstGeom>
            <a:solidFill>
              <a:srgbClr val="F2F2F2"/>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dirty="0">
                <a:solidFill>
                  <a:sysClr val="window" lastClr="FFFFFF"/>
                </a:solidFill>
                <a:latin typeface="微软雅黑" panose="020B0503020204020204" charset="-122"/>
                <a:ea typeface="微软雅黑" panose="020B0503020204020204" charset="-122"/>
              </a:endParaRPr>
            </a:p>
          </p:txBody>
        </p:sp>
        <p:grpSp>
          <p:nvGrpSpPr>
            <p:cNvPr id="204" name="组合 203"/>
            <p:cNvGrpSpPr/>
            <p:nvPr/>
          </p:nvGrpSpPr>
          <p:grpSpPr>
            <a:xfrm>
              <a:off x="4092" y="5838"/>
              <a:ext cx="14576" cy="1058"/>
              <a:chOff x="2611576" y="3903780"/>
              <a:chExt cx="9256026" cy="643003"/>
            </a:xfrm>
            <a:solidFill>
              <a:srgbClr val="7F7F7F"/>
            </a:solidFill>
          </p:grpSpPr>
          <p:sp>
            <p:nvSpPr>
              <p:cNvPr id="93" name="圆角矩形 60"/>
              <p:cNvSpPr/>
              <p:nvPr/>
            </p:nvSpPr>
            <p:spPr>
              <a:xfrm>
                <a:off x="2611576" y="3909752"/>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94" name="文本框 93"/>
              <p:cNvSpPr txBox="1"/>
              <p:nvPr/>
            </p:nvSpPr>
            <p:spPr>
              <a:xfrm>
                <a:off x="2638494" y="3973833"/>
                <a:ext cx="810164"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小区</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95" name="圆角矩形 69"/>
              <p:cNvSpPr/>
              <p:nvPr/>
            </p:nvSpPr>
            <p:spPr>
              <a:xfrm>
                <a:off x="3538584" y="3909752"/>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96" name="圆角矩形 70"/>
              <p:cNvSpPr/>
              <p:nvPr/>
            </p:nvSpPr>
            <p:spPr>
              <a:xfrm>
                <a:off x="4465592" y="3909752"/>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97" name="圆角矩形 71"/>
              <p:cNvSpPr/>
              <p:nvPr/>
            </p:nvSpPr>
            <p:spPr>
              <a:xfrm>
                <a:off x="5392600" y="3909752"/>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98" name="圆角矩形 72"/>
              <p:cNvSpPr/>
              <p:nvPr/>
            </p:nvSpPr>
            <p:spPr>
              <a:xfrm>
                <a:off x="6319609" y="3909752"/>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99" name="文本框 98"/>
              <p:cNvSpPr txBox="1"/>
              <p:nvPr/>
            </p:nvSpPr>
            <p:spPr>
              <a:xfrm>
                <a:off x="3579028" y="3973832"/>
                <a:ext cx="783112" cy="163228"/>
              </a:xfrm>
              <a:prstGeom prst="rect">
                <a:avLst/>
              </a:prstGeom>
              <a:grpFill/>
              <a:ln>
                <a:noFill/>
              </a:ln>
              <a:effectLst/>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园区</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00" name="文本框 99"/>
              <p:cNvSpPr txBox="1"/>
              <p:nvPr/>
            </p:nvSpPr>
            <p:spPr>
              <a:xfrm>
                <a:off x="4569044" y="3973831"/>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乡村</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01" name="文本框 100"/>
              <p:cNvSpPr txBox="1"/>
              <p:nvPr/>
            </p:nvSpPr>
            <p:spPr>
              <a:xfrm>
                <a:off x="5496052" y="3973829"/>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高校</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02" name="文本框 101"/>
              <p:cNvSpPr txBox="1"/>
              <p:nvPr/>
            </p:nvSpPr>
            <p:spPr>
              <a:xfrm>
                <a:off x="6423061" y="3973833"/>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景区</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03" name="圆角矩形 97"/>
              <p:cNvSpPr/>
              <p:nvPr/>
            </p:nvSpPr>
            <p:spPr>
              <a:xfrm>
                <a:off x="2611576" y="4273568"/>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04" name="文本框 103"/>
              <p:cNvSpPr txBox="1"/>
              <p:nvPr/>
            </p:nvSpPr>
            <p:spPr>
              <a:xfrm>
                <a:off x="2715028" y="4337650"/>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楼宇</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05" name="圆角矩形 129"/>
              <p:cNvSpPr/>
              <p:nvPr/>
            </p:nvSpPr>
            <p:spPr>
              <a:xfrm>
                <a:off x="3538584" y="4273568"/>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06" name="圆角矩形 130"/>
              <p:cNvSpPr/>
              <p:nvPr/>
            </p:nvSpPr>
            <p:spPr>
              <a:xfrm>
                <a:off x="4465592" y="4273568"/>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07" name="圆角矩形 131"/>
              <p:cNvSpPr/>
              <p:nvPr/>
            </p:nvSpPr>
            <p:spPr>
              <a:xfrm>
                <a:off x="5392600" y="4273568"/>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16" name="圆角矩形 132"/>
              <p:cNvSpPr/>
              <p:nvPr/>
            </p:nvSpPr>
            <p:spPr>
              <a:xfrm>
                <a:off x="6319609" y="4273568"/>
                <a:ext cx="864000"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17" name="文本框 116"/>
              <p:cNvSpPr txBox="1"/>
              <p:nvPr/>
            </p:nvSpPr>
            <p:spPr>
              <a:xfrm>
                <a:off x="3642036" y="4337648"/>
                <a:ext cx="657096" cy="163228"/>
              </a:xfrm>
              <a:prstGeom prst="rect">
                <a:avLst/>
              </a:prstGeom>
              <a:grpFill/>
              <a:ln>
                <a:noFill/>
              </a:ln>
              <a:effectLst/>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商圈</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18" name="文本框 117"/>
              <p:cNvSpPr txBox="1"/>
              <p:nvPr/>
            </p:nvSpPr>
            <p:spPr>
              <a:xfrm>
                <a:off x="4569044" y="4337647"/>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医院</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21" name="文本框 120"/>
              <p:cNvSpPr txBox="1"/>
              <p:nvPr/>
            </p:nvSpPr>
            <p:spPr>
              <a:xfrm>
                <a:off x="5496052" y="4337646"/>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公园</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23" name="文本框 122"/>
              <p:cNvSpPr txBox="1"/>
              <p:nvPr/>
            </p:nvSpPr>
            <p:spPr>
              <a:xfrm>
                <a:off x="6423061" y="4337650"/>
                <a:ext cx="657096" cy="163228"/>
              </a:xfrm>
              <a:prstGeom prst="rect">
                <a:avLst/>
              </a:prstGeom>
              <a:grpFill/>
              <a:ln>
                <a:noFill/>
              </a:ln>
            </p:spPr>
            <p:txBody>
              <a:bodyPr wrap="square" lIns="0" tIns="0" rIns="0" bIns="0" rtlCol="0">
                <a:spAutoFit/>
              </a:bodyPr>
              <a:p>
                <a:pPr algn="ctr"/>
                <a:r>
                  <a:rPr kumimoji="1" lang="en-US" altLang="zh-CN" sz="1050" b="1" dirty="0">
                    <a:solidFill>
                      <a:sysClr val="window" lastClr="FFFFFF"/>
                    </a:solidFill>
                    <a:latin typeface="微软雅黑" panose="020B0503020204020204" charset="-122"/>
                    <a:ea typeface="微软雅黑" panose="020B0503020204020204" charset="-122"/>
                    <a:cs typeface="OPPOSans M" pitchFamily="18" charset="-122"/>
                  </a:rPr>
                  <a:t>…….</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24" name="圆角矩形 137"/>
              <p:cNvSpPr/>
              <p:nvPr/>
            </p:nvSpPr>
            <p:spPr>
              <a:xfrm>
                <a:off x="7263981" y="3903780"/>
                <a:ext cx="1508408"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25" name="文本框 124"/>
              <p:cNvSpPr txBox="1"/>
              <p:nvPr/>
            </p:nvSpPr>
            <p:spPr>
              <a:xfrm>
                <a:off x="7498925" y="3967861"/>
                <a:ext cx="1038520"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沿街商铺</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26" name="圆角矩形 139"/>
              <p:cNvSpPr/>
              <p:nvPr/>
            </p:nvSpPr>
            <p:spPr>
              <a:xfrm>
                <a:off x="8862315" y="3907057"/>
                <a:ext cx="1508408"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27" name="文本框 126"/>
              <p:cNvSpPr txBox="1"/>
              <p:nvPr/>
            </p:nvSpPr>
            <p:spPr>
              <a:xfrm>
                <a:off x="9287971" y="3971137"/>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有宠家庭</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28" name="圆角矩形 141"/>
              <p:cNvSpPr/>
              <p:nvPr/>
            </p:nvSpPr>
            <p:spPr>
              <a:xfrm>
                <a:off x="10460649" y="3910334"/>
                <a:ext cx="1406953"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29" name="文本框 128"/>
              <p:cNvSpPr txBox="1"/>
              <p:nvPr/>
            </p:nvSpPr>
            <p:spPr>
              <a:xfrm>
                <a:off x="10694923" y="3974415"/>
                <a:ext cx="938404"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有车家庭</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30" name="圆角矩形 143"/>
              <p:cNvSpPr/>
              <p:nvPr/>
            </p:nvSpPr>
            <p:spPr>
              <a:xfrm>
                <a:off x="7261097" y="4273568"/>
                <a:ext cx="1508408"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31" name="文本框 130"/>
              <p:cNvSpPr txBox="1"/>
              <p:nvPr/>
            </p:nvSpPr>
            <p:spPr>
              <a:xfrm>
                <a:off x="7546100" y="4337650"/>
                <a:ext cx="938402"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专业市场</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32" name="圆角矩形 145"/>
              <p:cNvSpPr/>
              <p:nvPr/>
            </p:nvSpPr>
            <p:spPr>
              <a:xfrm>
                <a:off x="8859431" y="4276845"/>
                <a:ext cx="1508408"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33" name="文本框 132"/>
              <p:cNvSpPr txBox="1"/>
              <p:nvPr/>
            </p:nvSpPr>
            <p:spPr>
              <a:xfrm>
                <a:off x="9285087" y="4340926"/>
                <a:ext cx="657096" cy="163228"/>
              </a:xfrm>
              <a:prstGeom prst="rect">
                <a:avLst/>
              </a:prstGeom>
              <a:grpFill/>
              <a:ln>
                <a:noFill/>
              </a:ln>
            </p:spPr>
            <p:txBody>
              <a:bodyPr wrap="square" lIns="0" tIns="0" rIns="0" bIns="0" rtlCol="0">
                <a:spAutoFit/>
              </a:bodyPr>
              <a:p>
                <a:pPr algn="ctr"/>
                <a:r>
                  <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rPr>
                  <a:t>高端消费</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34" name="圆角矩形 147"/>
              <p:cNvSpPr/>
              <p:nvPr/>
            </p:nvSpPr>
            <p:spPr>
              <a:xfrm>
                <a:off x="10457765" y="4280122"/>
                <a:ext cx="1406953" cy="266661"/>
              </a:xfrm>
              <a:prstGeom prst="roundRect">
                <a:avLst>
                  <a:gd name="adj" fmla="val 50000"/>
                </a:avLst>
              </a:prstGeom>
              <a:grp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400" b="1" dirty="0">
                  <a:solidFill>
                    <a:sysClr val="window" lastClr="FFFFFF"/>
                  </a:solidFill>
                  <a:latin typeface="微软雅黑" panose="020B0503020204020204" charset="-122"/>
                  <a:ea typeface="微软雅黑" panose="020B0503020204020204" charset="-122"/>
                </a:endParaRPr>
              </a:p>
            </p:txBody>
          </p:sp>
          <p:sp>
            <p:nvSpPr>
              <p:cNvPr id="135" name="文本框 134"/>
              <p:cNvSpPr txBox="1"/>
              <p:nvPr/>
            </p:nvSpPr>
            <p:spPr>
              <a:xfrm>
                <a:off x="10832693" y="4344203"/>
                <a:ext cx="657096" cy="163228"/>
              </a:xfrm>
              <a:prstGeom prst="rect">
                <a:avLst/>
              </a:prstGeom>
              <a:grpFill/>
              <a:ln>
                <a:noFill/>
              </a:ln>
            </p:spPr>
            <p:txBody>
              <a:bodyPr wrap="square" lIns="0" tIns="0" rIns="0" bIns="0" rtlCol="0">
                <a:spAutoFit/>
              </a:bodyPr>
              <a:p>
                <a:pPr algn="ctr"/>
                <a:r>
                  <a:rPr kumimoji="1" lang="en-US" altLang="zh-CN" sz="1050" b="1" dirty="0">
                    <a:solidFill>
                      <a:sysClr val="window" lastClr="FFFFFF"/>
                    </a:solidFill>
                    <a:latin typeface="微软雅黑" panose="020B0503020204020204" charset="-122"/>
                    <a:ea typeface="微软雅黑" panose="020B0503020204020204" charset="-122"/>
                    <a:cs typeface="OPPOSans M" pitchFamily="18" charset="-122"/>
                  </a:rPr>
                  <a:t>……….</a:t>
                </a:r>
                <a:endParaRPr kumimoji="1" lang="zh-CN" altLang="en-US" sz="1050" b="1" dirty="0">
                  <a:solidFill>
                    <a:sysClr val="window" lastClr="FFFFFF"/>
                  </a:solidFill>
                  <a:latin typeface="微软雅黑" panose="020B0503020204020204" charset="-122"/>
                  <a:ea typeface="微软雅黑" panose="020B0503020204020204" charset="-122"/>
                  <a:cs typeface="OPPOSans M" pitchFamily="18" charset="-122"/>
                </a:endParaRPr>
              </a:p>
            </p:txBody>
          </p:sp>
        </p:grpSp>
        <p:cxnSp>
          <p:nvCxnSpPr>
            <p:cNvPr id="140" name="直线连接符 163"/>
            <p:cNvCxnSpPr/>
            <p:nvPr/>
          </p:nvCxnSpPr>
          <p:spPr>
            <a:xfrm flipV="1">
              <a:off x="2092" y="4420"/>
              <a:ext cx="0" cy="364"/>
            </a:xfrm>
            <a:prstGeom prst="line">
              <a:avLst/>
            </a:prstGeom>
            <a:solidFill>
              <a:sysClr val="window" lastClr="FFFFFF"/>
            </a:solidFill>
            <a:ln w="12700">
              <a:noFill/>
              <a:prstDash val="dash"/>
              <a:tailEnd type="triangle"/>
            </a:ln>
            <a:effectLst/>
          </p:spPr>
          <p:style>
            <a:lnRef idx="2">
              <a:srgbClr val="4472C4">
                <a:shade val="15000"/>
              </a:srgbClr>
            </a:lnRef>
            <a:fillRef idx="1">
              <a:srgbClr val="4472C4"/>
            </a:fillRef>
            <a:effectRef idx="0">
              <a:srgbClr val="4472C4"/>
            </a:effectRef>
            <a:fontRef idx="minor">
              <a:sysClr val="window" lastClr="FFFFFF"/>
            </a:fontRef>
          </p:style>
        </p:cxnSp>
        <p:sp>
          <p:nvSpPr>
            <p:cNvPr id="142" name="文本框 141"/>
            <p:cNvSpPr txBox="1"/>
            <p:nvPr/>
          </p:nvSpPr>
          <p:spPr>
            <a:xfrm>
              <a:off x="9393" y="2915"/>
              <a:ext cx="4136"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全场景运营</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43" name="文本框 142"/>
            <p:cNvSpPr txBox="1"/>
            <p:nvPr/>
          </p:nvSpPr>
          <p:spPr>
            <a:xfrm>
              <a:off x="14320" y="2915"/>
              <a:ext cx="4136"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营销策划</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44" name="文本框 143"/>
            <p:cNvSpPr txBox="1"/>
            <p:nvPr/>
          </p:nvSpPr>
          <p:spPr>
            <a:xfrm>
              <a:off x="1082" y="3183"/>
              <a:ext cx="2104" cy="512"/>
            </a:xfrm>
            <a:prstGeom prst="rect">
              <a:avLst/>
            </a:prstGeom>
            <a:solidFill>
              <a:srgbClr val="5B9BD5"/>
            </a:solidFill>
            <a:ln>
              <a:noFill/>
            </a:ln>
            <a:effectLst/>
          </p:spPr>
          <p:txBody>
            <a:bodyPr wrap="square" lIns="0" tIns="0" rIns="0" bIns="0" rtlCol="0">
              <a:spAutoFit/>
            </a:bodyPr>
            <a:p>
              <a:pPr algn="ctr"/>
              <a:r>
                <a:rPr kumimoji="1" lang="zh-CN" altLang="en-US" sz="2000" b="1" dirty="0">
                  <a:solidFill>
                    <a:sysClr val="window" lastClr="FFFFFF"/>
                  </a:solidFill>
                  <a:latin typeface="微软雅黑" panose="020B0503020204020204" charset="-122"/>
                  <a:ea typeface="微软雅黑" panose="020B0503020204020204" charset="-122"/>
                  <a:cs typeface="OPPOSans M" pitchFamily="18" charset="-122"/>
                </a:rPr>
                <a:t>对内赋能</a:t>
              </a:r>
              <a:endParaRPr kumimoji="1" lang="zh-CN" altLang="en-US" sz="200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45" name="文本框 144"/>
            <p:cNvSpPr txBox="1"/>
            <p:nvPr/>
          </p:nvSpPr>
          <p:spPr>
            <a:xfrm>
              <a:off x="732" y="3754"/>
              <a:ext cx="2730" cy="537"/>
            </a:xfrm>
            <a:prstGeom prst="rect">
              <a:avLst/>
            </a:prstGeom>
            <a:solidFill>
              <a:srgbClr val="5B9BD5"/>
            </a:solidFill>
            <a:ln>
              <a:noFill/>
            </a:ln>
            <a:effectLst/>
          </p:spPr>
          <p:txBody>
            <a:bodyPr wrap="square" lIns="0" tIns="0" rIns="0" bIns="0" rtlCol="0">
              <a:spAutoFit/>
            </a:bodyPr>
            <a:p>
              <a:pPr algn="ctr"/>
              <a:r>
                <a:rPr lang="zh-CN" altLang="en-US" sz="1050" dirty="0">
                  <a:solidFill>
                    <a:sysClr val="window" lastClr="FFFFFF"/>
                  </a:solidFill>
                  <a:latin typeface="微软雅黑" panose="020B0503020204020204" charset="-122"/>
                  <a:ea typeface="微软雅黑" panose="020B0503020204020204" charset="-122"/>
                  <a:cs typeface="微软雅黑" panose="020B0503020204020204" charset="-122"/>
                </a:rPr>
                <a:t>商客拓展、</a:t>
              </a:r>
              <a:r>
                <a:rPr lang="zh-CN" altLang="en-US" sz="1050" dirty="0">
                  <a:solidFill>
                    <a:sysClr val="window" lastClr="FFFFFF"/>
                  </a:solidFill>
                  <a:latin typeface="微软雅黑" panose="020B0503020204020204" charset="-122"/>
                  <a:ea typeface="微软雅黑" panose="020B0503020204020204" charset="-122"/>
                  <a:cs typeface="微软雅黑" panose="020B0503020204020204" charset="-122"/>
                  <a:sym typeface="等线" panose="02010600030101010101" charset="-122"/>
                </a:rPr>
                <a:t>高价值小区攻坚、网格作战、精准规划建设</a:t>
              </a:r>
              <a:r>
                <a:rPr lang="en-US" altLang="zh-CN" sz="1050" dirty="0">
                  <a:solidFill>
                    <a:sysClr val="window" lastClr="FFFFFF"/>
                  </a:solidFill>
                  <a:latin typeface="微软雅黑" panose="020B0503020204020204" charset="-122"/>
                  <a:ea typeface="微软雅黑" panose="020B0503020204020204" charset="-122"/>
                  <a:cs typeface="微软雅黑" panose="020B0503020204020204" charset="-122"/>
                  <a:sym typeface="+mn-ea"/>
                </a:rPr>
                <a:t>...</a:t>
              </a:r>
              <a:endParaRPr kumimoji="1" lang="zh-CN" altLang="en-US" sz="1050" dirty="0">
                <a:solidFill>
                  <a:sysClr val="window" lastClr="FFFFFF"/>
                </a:solidFill>
                <a:latin typeface="微软雅黑" panose="020B0503020204020204" charset="-122"/>
                <a:ea typeface="微软雅黑" panose="020B0503020204020204" charset="-122"/>
                <a:cs typeface="OPPOSans R" panose="00020600040101010101" pitchFamily="18" charset="-122"/>
              </a:endParaRPr>
            </a:p>
          </p:txBody>
        </p:sp>
        <p:sp>
          <p:nvSpPr>
            <p:cNvPr id="146" name="文本框 145"/>
            <p:cNvSpPr txBox="1"/>
            <p:nvPr/>
          </p:nvSpPr>
          <p:spPr>
            <a:xfrm>
              <a:off x="1040" y="6085"/>
              <a:ext cx="2104" cy="512"/>
            </a:xfrm>
            <a:prstGeom prst="rect">
              <a:avLst/>
            </a:prstGeom>
            <a:solidFill>
              <a:srgbClr val="5B9BD5"/>
            </a:solidFill>
            <a:ln>
              <a:noFill/>
            </a:ln>
            <a:effectLst/>
          </p:spPr>
          <p:txBody>
            <a:bodyPr wrap="square" lIns="0" tIns="0" rIns="0" bIns="0" rtlCol="0">
              <a:spAutoFit/>
            </a:bodyPr>
            <a:p>
              <a:pPr algn="ctr"/>
              <a:r>
                <a:rPr kumimoji="1" lang="zh-CN" altLang="en-US" sz="2000" b="1" dirty="0">
                  <a:solidFill>
                    <a:sysClr val="window" lastClr="FFFFFF"/>
                  </a:solidFill>
                  <a:latin typeface="微软雅黑" panose="020B0503020204020204" charset="-122"/>
                  <a:ea typeface="微软雅黑" panose="020B0503020204020204" charset="-122"/>
                  <a:cs typeface="OPPOSans M" pitchFamily="18" charset="-122"/>
                </a:rPr>
                <a:t>场景应用</a:t>
              </a:r>
              <a:endParaRPr kumimoji="1" lang="zh-CN" altLang="en-US" sz="200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47" name="文本框 146"/>
            <p:cNvSpPr txBox="1"/>
            <p:nvPr/>
          </p:nvSpPr>
          <p:spPr>
            <a:xfrm>
              <a:off x="727" y="6658"/>
              <a:ext cx="2730" cy="1210"/>
            </a:xfrm>
            <a:prstGeom prst="rect">
              <a:avLst/>
            </a:prstGeom>
            <a:solidFill>
              <a:srgbClr val="5B9BD5"/>
            </a:solidFill>
            <a:ln>
              <a:noFill/>
            </a:ln>
            <a:effectLst/>
          </p:spPr>
          <p:txBody>
            <a:bodyPr wrap="square" lIns="0" tIns="0" rIns="0" bIns="0" rtlCol="0">
              <a:spAutoFit/>
            </a:bodyPr>
            <a:p>
              <a:pPr marL="0" lvl="1" defTabSz="457200">
                <a:lnSpc>
                  <a:spcPct val="150000"/>
                </a:lnSpc>
                <a:defRPr/>
              </a:pPr>
              <a:r>
                <a:rPr kumimoji="1" lang="zh-CN" altLang="en-US" sz="1050" dirty="0">
                  <a:solidFill>
                    <a:sysClr val="window" lastClr="FFFFFF"/>
                  </a:solidFill>
                  <a:latin typeface="微软雅黑" panose="020B0503020204020204" charset="-122"/>
                  <a:ea typeface="微软雅黑" panose="020B0503020204020204" charset="-122"/>
                </a:rPr>
                <a:t>客户空间信息融合，界面交互方式变革，视觉表达效果提升</a:t>
              </a:r>
              <a:endParaRPr kumimoji="1" lang="zh-CN" altLang="en-US" sz="1050" dirty="0">
                <a:solidFill>
                  <a:sysClr val="window" lastClr="FFFFFF"/>
                </a:solidFill>
                <a:latin typeface="微软雅黑" panose="020B0503020204020204" charset="-122"/>
                <a:ea typeface="微软雅黑" panose="020B0503020204020204" charset="-122"/>
                <a:cs typeface="OPPOSans R" panose="00020600040101010101" pitchFamily="18" charset="-122"/>
              </a:endParaRPr>
            </a:p>
          </p:txBody>
        </p:sp>
        <p:sp>
          <p:nvSpPr>
            <p:cNvPr id="150" name="文本框 149"/>
            <p:cNvSpPr txBox="1"/>
            <p:nvPr/>
          </p:nvSpPr>
          <p:spPr>
            <a:xfrm>
              <a:off x="6271" y="7623"/>
              <a:ext cx="10027" cy="461"/>
            </a:xfrm>
            <a:prstGeom prst="rect">
              <a:avLst/>
            </a:prstGeom>
            <a:noFill/>
            <a:ln>
              <a:noFill/>
            </a:ln>
            <a:effectLst/>
          </p:spPr>
          <p:txBody>
            <a:bodyPr wrap="square" lIns="0" tIns="0" rIns="0" bIns="0" rtlCol="0">
              <a:spAutoFit/>
            </a:bodyPr>
            <a:p>
              <a:pPr algn="ctr"/>
              <a:r>
                <a:rPr lang="zh-CN" altLang="en-US" dirty="0">
                  <a:latin typeface="微软雅黑" panose="020B0503020204020204" charset="-122"/>
                  <a:ea typeface="微软雅黑" panose="020B0503020204020204" charset="-122"/>
                </a:rPr>
                <a:t>电子地图</a:t>
              </a:r>
              <a:r>
                <a:rPr lang="en-US" altLang="zh-CN" dirty="0">
                  <a:latin typeface="微软雅黑" panose="020B0503020204020204" charset="-122"/>
                  <a:ea typeface="微软雅黑" panose="020B0503020204020204" charset="-122"/>
                </a:rPr>
                <a:t>GIS</a:t>
              </a:r>
              <a:r>
                <a:rPr lang="zh-CN" altLang="en-US" dirty="0">
                  <a:latin typeface="微软雅黑" panose="020B0503020204020204" charset="-122"/>
                  <a:ea typeface="微软雅黑" panose="020B0503020204020204" charset="-122"/>
                </a:rPr>
                <a:t>（数据、场景入地图）</a:t>
              </a:r>
              <a:r>
                <a:rPr lang="en-US" altLang="zh-CN" dirty="0">
                  <a:latin typeface="微软雅黑" panose="020B0503020204020204" charset="-122"/>
                  <a:ea typeface="微软雅黑" panose="020B0503020204020204" charset="-122"/>
                </a:rPr>
                <a:t>= </a:t>
              </a:r>
              <a:r>
                <a:rPr lang="en-US" altLang="zh-CN" dirty="0">
                  <a:solidFill>
                    <a:srgbClr val="C00000"/>
                  </a:solidFill>
                  <a:latin typeface="微软雅黑" panose="020B0503020204020204" charset="-122"/>
                  <a:ea typeface="微软雅黑" panose="020B0503020204020204" charset="-122"/>
                </a:rPr>
                <a:t>Data on Space</a:t>
              </a:r>
              <a:endParaRPr lang="zh-CN" altLang="en-US" dirty="0">
                <a:solidFill>
                  <a:srgbClr val="C00000"/>
                </a:solidFill>
                <a:latin typeface="微软雅黑" panose="020B0503020204020204" charset="-122"/>
                <a:ea typeface="微软雅黑" panose="020B0503020204020204" charset="-122"/>
              </a:endParaRPr>
            </a:p>
          </p:txBody>
        </p:sp>
        <p:sp>
          <p:nvSpPr>
            <p:cNvPr id="151" name="文本框 150"/>
            <p:cNvSpPr txBox="1"/>
            <p:nvPr/>
          </p:nvSpPr>
          <p:spPr>
            <a:xfrm>
              <a:off x="4776" y="5179"/>
              <a:ext cx="882"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摸排</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2" name="文本框 151"/>
            <p:cNvSpPr txBox="1"/>
            <p:nvPr/>
          </p:nvSpPr>
          <p:spPr>
            <a:xfrm>
              <a:off x="7285" y="5179"/>
              <a:ext cx="882"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商机</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3" name="文本框 152"/>
            <p:cNvSpPr txBox="1"/>
            <p:nvPr/>
          </p:nvSpPr>
          <p:spPr>
            <a:xfrm>
              <a:off x="9795" y="5179"/>
              <a:ext cx="882"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营销</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4" name="文本框 153"/>
            <p:cNvSpPr txBox="1"/>
            <p:nvPr/>
          </p:nvSpPr>
          <p:spPr>
            <a:xfrm>
              <a:off x="12304" y="5179"/>
              <a:ext cx="882"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办理</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5" name="文本框 154"/>
            <p:cNvSpPr txBox="1"/>
            <p:nvPr/>
          </p:nvSpPr>
          <p:spPr>
            <a:xfrm>
              <a:off x="14814" y="5179"/>
              <a:ext cx="882"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跟踪</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6" name="文本框 155"/>
            <p:cNvSpPr txBox="1"/>
            <p:nvPr/>
          </p:nvSpPr>
          <p:spPr>
            <a:xfrm>
              <a:off x="17323" y="5179"/>
              <a:ext cx="882" cy="461"/>
            </a:xfrm>
            <a:prstGeom prst="rect">
              <a:avLst/>
            </a:prstGeom>
            <a:no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评估</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29" name="圆角矩形 17"/>
            <p:cNvSpPr/>
            <p:nvPr/>
          </p:nvSpPr>
          <p:spPr>
            <a:xfrm>
              <a:off x="599" y="8507"/>
              <a:ext cx="3069" cy="1768"/>
            </a:xfrm>
            <a:prstGeom prst="roundRect">
              <a:avLst>
                <a:gd name="adj" fmla="val 5293"/>
              </a:avLst>
            </a:prstGeom>
            <a:solidFill>
              <a:srgbClr val="5B9BD5"/>
            </a:solidFill>
            <a:ln>
              <a:noFill/>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dirty="0">
                <a:solidFill>
                  <a:sysClr val="window" lastClr="FFFFFF"/>
                </a:solidFill>
                <a:latin typeface="微软雅黑" panose="020B0503020204020204" charset="-122"/>
                <a:ea typeface="微软雅黑" panose="020B0503020204020204" charset="-122"/>
              </a:endParaRPr>
            </a:p>
          </p:txBody>
        </p:sp>
        <p:sp>
          <p:nvSpPr>
            <p:cNvPr id="136" name="圆角矩形 150"/>
            <p:cNvSpPr/>
            <p:nvPr/>
          </p:nvSpPr>
          <p:spPr>
            <a:xfrm>
              <a:off x="3912" y="8507"/>
              <a:ext cx="3572" cy="1768"/>
            </a:xfrm>
            <a:prstGeom prst="roundRect">
              <a:avLst>
                <a:gd name="adj" fmla="val 8372"/>
              </a:avLst>
            </a:prstGeom>
            <a:solidFill>
              <a:srgbClr val="F1FBFF"/>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2800" dirty="0">
                <a:solidFill>
                  <a:sysClr val="windowText" lastClr="000000"/>
                </a:solidFill>
                <a:latin typeface="微软雅黑" panose="020B0503020204020204" charset="-122"/>
                <a:ea typeface="微软雅黑" panose="020B0503020204020204" charset="-122"/>
              </a:endParaRPr>
            </a:p>
          </p:txBody>
        </p:sp>
        <p:sp>
          <p:nvSpPr>
            <p:cNvPr id="137" name="圆角矩形 152"/>
            <p:cNvSpPr/>
            <p:nvPr/>
          </p:nvSpPr>
          <p:spPr>
            <a:xfrm>
              <a:off x="7713" y="8507"/>
              <a:ext cx="3572" cy="1768"/>
            </a:xfrm>
            <a:prstGeom prst="roundRect">
              <a:avLst>
                <a:gd name="adj" fmla="val 8372"/>
              </a:avLst>
            </a:prstGeom>
            <a:solidFill>
              <a:srgbClr val="F1FBFF"/>
            </a:solid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1400" dirty="0">
                <a:solidFill>
                  <a:sysClr val="windowText" lastClr="000000"/>
                </a:solidFill>
                <a:latin typeface="微软雅黑" panose="020B0503020204020204" charset="-122"/>
                <a:ea typeface="微软雅黑" panose="020B0503020204020204" charset="-122"/>
              </a:endParaRPr>
            </a:p>
          </p:txBody>
        </p:sp>
        <p:cxnSp>
          <p:nvCxnSpPr>
            <p:cNvPr id="141" name="直线连接符 164"/>
            <p:cNvCxnSpPr/>
            <p:nvPr/>
          </p:nvCxnSpPr>
          <p:spPr>
            <a:xfrm flipV="1">
              <a:off x="2134" y="8460"/>
              <a:ext cx="0" cy="364"/>
            </a:xfrm>
            <a:prstGeom prst="line">
              <a:avLst/>
            </a:prstGeom>
            <a:solidFill>
              <a:sysClr val="window" lastClr="FFFFFF"/>
            </a:solidFill>
            <a:ln w="12700">
              <a:noFill/>
              <a:prstDash val="dash"/>
              <a:tailEnd type="triangle"/>
            </a:ln>
            <a:effectLst/>
          </p:spPr>
          <p:style>
            <a:lnRef idx="2">
              <a:srgbClr val="4472C4">
                <a:shade val="15000"/>
              </a:srgbClr>
            </a:lnRef>
            <a:fillRef idx="1">
              <a:srgbClr val="4472C4"/>
            </a:fillRef>
            <a:effectRef idx="0">
              <a:srgbClr val="4472C4"/>
            </a:effectRef>
            <a:fontRef idx="minor">
              <a:sysClr val="window" lastClr="FFFFFF"/>
            </a:fontRef>
          </p:style>
        </p:cxnSp>
        <p:sp>
          <p:nvSpPr>
            <p:cNvPr id="148" name="文本框 147"/>
            <p:cNvSpPr txBox="1"/>
            <p:nvPr/>
          </p:nvSpPr>
          <p:spPr>
            <a:xfrm>
              <a:off x="1082" y="8916"/>
              <a:ext cx="2104" cy="512"/>
            </a:xfrm>
            <a:prstGeom prst="rect">
              <a:avLst/>
            </a:prstGeom>
            <a:solidFill>
              <a:srgbClr val="5B9BD5"/>
            </a:solidFill>
            <a:ln>
              <a:noFill/>
            </a:ln>
            <a:effectLst/>
          </p:spPr>
          <p:txBody>
            <a:bodyPr wrap="square" lIns="0" tIns="0" rIns="0" bIns="0" rtlCol="0">
              <a:spAutoFit/>
            </a:bodyPr>
            <a:p>
              <a:pPr algn="ctr"/>
              <a:r>
                <a:rPr kumimoji="1" lang="zh-CN" altLang="en-US" sz="2000" b="1" dirty="0">
                  <a:solidFill>
                    <a:sysClr val="window" lastClr="FFFFFF"/>
                  </a:solidFill>
                  <a:latin typeface="微软雅黑" panose="020B0503020204020204" charset="-122"/>
                  <a:ea typeface="微软雅黑" panose="020B0503020204020204" charset="-122"/>
                  <a:cs typeface="OPPOSans M" pitchFamily="18" charset="-122"/>
                </a:rPr>
                <a:t>数据支撑</a:t>
              </a:r>
              <a:endParaRPr kumimoji="1" lang="zh-CN" altLang="en-US" sz="2000" b="1" dirty="0">
                <a:solidFill>
                  <a:sysClr val="window" lastClr="FFFFFF"/>
                </a:solidFill>
                <a:latin typeface="微软雅黑" panose="020B0503020204020204" charset="-122"/>
                <a:ea typeface="微软雅黑" panose="020B0503020204020204" charset="-122"/>
                <a:cs typeface="OPPOSans M" pitchFamily="18" charset="-122"/>
              </a:endParaRPr>
            </a:p>
          </p:txBody>
        </p:sp>
        <p:sp>
          <p:nvSpPr>
            <p:cNvPr id="149" name="文本框 148"/>
            <p:cNvSpPr txBox="1"/>
            <p:nvPr/>
          </p:nvSpPr>
          <p:spPr>
            <a:xfrm>
              <a:off x="1082" y="9579"/>
              <a:ext cx="2104" cy="268"/>
            </a:xfrm>
            <a:prstGeom prst="rect">
              <a:avLst/>
            </a:prstGeom>
            <a:solidFill>
              <a:srgbClr val="5B9BD5"/>
            </a:solidFill>
            <a:ln>
              <a:noFill/>
            </a:ln>
            <a:effectLst/>
          </p:spPr>
          <p:txBody>
            <a:bodyPr wrap="square" lIns="0" tIns="0" rIns="0" bIns="0" rtlCol="0">
              <a:spAutoFit/>
            </a:bodyPr>
            <a:p>
              <a:pPr algn="ctr"/>
              <a:r>
                <a:rPr kumimoji="1" lang="zh-CN" altLang="en-US" sz="1050" dirty="0">
                  <a:solidFill>
                    <a:sysClr val="window" lastClr="FFFFFF"/>
                  </a:solidFill>
                  <a:latin typeface="微软雅黑" panose="020B0503020204020204" charset="-122"/>
                  <a:ea typeface="微软雅黑" panose="020B0503020204020204" charset="-122"/>
                  <a:cs typeface="OPPOSans R" panose="00020600040101010101" pitchFamily="18" charset="-122"/>
                </a:rPr>
                <a:t>融合内外高价值数据</a:t>
              </a:r>
              <a:endParaRPr kumimoji="1" lang="zh-CN" altLang="en-US" sz="1050" dirty="0">
                <a:solidFill>
                  <a:sysClr val="window" lastClr="FFFFFF"/>
                </a:solidFill>
                <a:latin typeface="微软雅黑" panose="020B0503020204020204" charset="-122"/>
                <a:ea typeface="微软雅黑" panose="020B0503020204020204" charset="-122"/>
                <a:cs typeface="OPPOSans R" panose="00020600040101010101" pitchFamily="18" charset="-122"/>
              </a:endParaRPr>
            </a:p>
          </p:txBody>
        </p:sp>
        <p:sp>
          <p:nvSpPr>
            <p:cNvPr id="157" name="文本框 156"/>
            <p:cNvSpPr txBox="1"/>
            <p:nvPr/>
          </p:nvSpPr>
          <p:spPr>
            <a:xfrm>
              <a:off x="4788" y="8507"/>
              <a:ext cx="1874" cy="461"/>
            </a:xfrm>
            <a:prstGeom prst="rect">
              <a:avLst/>
            </a:prstGeom>
            <a:solidFill>
              <a:srgbClr val="F1FBFF"/>
            </a:solid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外部数据</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8" name="文本框 157"/>
            <p:cNvSpPr txBox="1"/>
            <p:nvPr/>
          </p:nvSpPr>
          <p:spPr>
            <a:xfrm>
              <a:off x="8562" y="8507"/>
              <a:ext cx="1874" cy="461"/>
            </a:xfrm>
            <a:prstGeom prst="rect">
              <a:avLst/>
            </a:prstGeom>
            <a:solidFill>
              <a:srgbClr val="F1FBFF"/>
            </a:solid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外部数据</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59" name="文本框 158"/>
            <p:cNvSpPr txBox="1"/>
            <p:nvPr/>
          </p:nvSpPr>
          <p:spPr>
            <a:xfrm>
              <a:off x="12335" y="8494"/>
              <a:ext cx="2098" cy="922"/>
            </a:xfrm>
            <a:prstGeom prst="rect">
              <a:avLst/>
            </a:prstGeom>
            <a:solidFill>
              <a:srgbClr val="F1FBFF"/>
            </a:solidFill>
            <a:ln>
              <a:noFill/>
            </a:ln>
            <a:effectLst/>
          </p:spPr>
          <p:txBody>
            <a:bodyPr wrap="square" lIns="0" tIns="0" rIns="0" bIns="0" rtlCol="0">
              <a:spAutoFit/>
            </a:bodyPr>
            <a:p>
              <a:pPr algn="ctr"/>
              <a:r>
                <a:rPr kumimoji="1" lang="en-US" altLang="zh-CN" b="1" dirty="0">
                  <a:solidFill>
                    <a:srgbClr val="4472C4"/>
                  </a:solidFill>
                  <a:latin typeface="微软雅黑" panose="020B0503020204020204" charset="-122"/>
                  <a:ea typeface="微软雅黑" panose="020B0503020204020204" charset="-122"/>
                  <a:cs typeface="OPPOSans M" pitchFamily="18" charset="-122"/>
                </a:rPr>
                <a:t>CRM/BOSS</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60" name="文本框 159"/>
            <p:cNvSpPr txBox="1"/>
            <p:nvPr/>
          </p:nvSpPr>
          <p:spPr>
            <a:xfrm>
              <a:off x="15907" y="8494"/>
              <a:ext cx="2522" cy="461"/>
            </a:xfrm>
            <a:prstGeom prst="rect">
              <a:avLst/>
            </a:prstGeom>
            <a:solidFill>
              <a:srgbClr val="F1FBFF"/>
            </a:solidFill>
            <a:ln>
              <a:noFill/>
            </a:ln>
            <a:effectLst/>
          </p:spPr>
          <p:txBody>
            <a:bodyPr wrap="square" lIns="0" tIns="0" rIns="0" bIns="0" rtlCol="0">
              <a:spAutoFit/>
            </a:bodyPr>
            <a:p>
              <a:pPr algn="ctr"/>
              <a:r>
                <a:rPr kumimoji="1" lang="zh-CN" altLang="en-US" b="1" dirty="0">
                  <a:solidFill>
                    <a:srgbClr val="4472C4"/>
                  </a:solidFill>
                  <a:latin typeface="微软雅黑" panose="020B0503020204020204" charset="-122"/>
                  <a:ea typeface="微软雅黑" panose="020B0503020204020204" charset="-122"/>
                  <a:cs typeface="OPPOSans M" pitchFamily="18" charset="-122"/>
                </a:rPr>
                <a:t>内部数据</a:t>
              </a:r>
              <a:endParaRPr kumimoji="1" lang="zh-CN" altLang="en-US" b="1" dirty="0">
                <a:solidFill>
                  <a:srgbClr val="4472C4"/>
                </a:solidFill>
                <a:latin typeface="微软雅黑" panose="020B0503020204020204" charset="-122"/>
                <a:ea typeface="微软雅黑" panose="020B0503020204020204" charset="-122"/>
                <a:cs typeface="OPPOSans M" pitchFamily="18" charset="-122"/>
              </a:endParaRPr>
            </a:p>
          </p:txBody>
        </p:sp>
        <p:sp>
          <p:nvSpPr>
            <p:cNvPr id="188" name="object 16"/>
            <p:cNvSpPr txBox="1"/>
            <p:nvPr/>
          </p:nvSpPr>
          <p:spPr>
            <a:xfrm>
              <a:off x="7809" y="9271"/>
              <a:ext cx="1807" cy="816"/>
            </a:xfrm>
            <a:prstGeom prst="rect">
              <a:avLst/>
            </a:prstGeom>
            <a:solidFill>
              <a:srgbClr val="F1FBFF"/>
            </a:solid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企业注册信息</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89" name="object 16"/>
            <p:cNvSpPr txBox="1"/>
            <p:nvPr/>
          </p:nvSpPr>
          <p:spPr>
            <a:xfrm>
              <a:off x="7798" y="9810"/>
              <a:ext cx="1807" cy="372"/>
            </a:xfrm>
            <a:prstGeom prst="rect">
              <a:avLst/>
            </a:prstGeom>
            <a:solidFill>
              <a:srgbClr val="F1FBFF"/>
            </a:solid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楼宇企业归属信息</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90" name="object 16"/>
            <p:cNvSpPr txBox="1"/>
            <p:nvPr/>
          </p:nvSpPr>
          <p:spPr>
            <a:xfrm>
              <a:off x="9477" y="9271"/>
              <a:ext cx="1807" cy="816"/>
            </a:xfrm>
            <a:prstGeom prst="rect">
              <a:avLst/>
            </a:prstGeom>
            <a:solidFill>
              <a:srgbClr val="F1FBFF"/>
            </a:solid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统一社会代码</a:t>
              </a:r>
              <a:endParaRPr lang="zh-CN" altLang="en-US" sz="900" spc="20" dirty="0">
                <a:latin typeface="微软雅黑" panose="020B0503020204020204" charset="-122"/>
                <a:ea typeface="微软雅黑" panose="020B0503020204020204" charset="-122"/>
                <a:cs typeface="微软雅黑" panose="020B0503020204020204" charset="-122"/>
              </a:endParaRPr>
            </a:p>
          </p:txBody>
        </p:sp>
        <p:grpSp>
          <p:nvGrpSpPr>
            <p:cNvPr id="201" name="组合 200"/>
            <p:cNvGrpSpPr/>
            <p:nvPr/>
          </p:nvGrpSpPr>
          <p:grpSpPr>
            <a:xfrm>
              <a:off x="11525" y="9158"/>
              <a:ext cx="3572" cy="1089"/>
              <a:chOff x="7284803" y="5911344"/>
              <a:chExt cx="2268000" cy="691426"/>
            </a:xfrm>
            <a:solidFill>
              <a:srgbClr val="F1FBFF"/>
            </a:solidFill>
          </p:grpSpPr>
          <p:sp>
            <p:nvSpPr>
              <p:cNvPr id="138" name="圆角矩形 153"/>
              <p:cNvSpPr/>
              <p:nvPr/>
            </p:nvSpPr>
            <p:spPr>
              <a:xfrm>
                <a:off x="7284803" y="5911344"/>
                <a:ext cx="2268000" cy="691426"/>
              </a:xfrm>
              <a:prstGeom prst="roundRect">
                <a:avLst>
                  <a:gd name="adj" fmla="val 8372"/>
                </a:avLst>
              </a:prstGeom>
              <a:grp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900" dirty="0">
                  <a:solidFill>
                    <a:sysClr val="windowText" lastClr="000000"/>
                  </a:solidFill>
                  <a:latin typeface="微软雅黑" panose="020B0503020204020204" charset="-122"/>
                  <a:ea typeface="微软雅黑" panose="020B0503020204020204" charset="-122"/>
                </a:endParaRPr>
              </a:p>
            </p:txBody>
          </p:sp>
          <p:sp>
            <p:nvSpPr>
              <p:cNvPr id="192" name="object 16"/>
              <p:cNvSpPr txBox="1"/>
              <p:nvPr/>
            </p:nvSpPr>
            <p:spPr>
              <a:xfrm>
                <a:off x="7441385" y="5944591"/>
                <a:ext cx="990527" cy="518160"/>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客户信息</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93" name="object 16"/>
              <p:cNvSpPr txBox="1"/>
              <p:nvPr/>
            </p:nvSpPr>
            <p:spPr>
              <a:xfrm>
                <a:off x="8447459" y="5930621"/>
                <a:ext cx="990527" cy="518160"/>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企业建档</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95" name="object 16"/>
              <p:cNvSpPr txBox="1"/>
              <p:nvPr/>
            </p:nvSpPr>
            <p:spPr>
              <a:xfrm>
                <a:off x="8448199" y="6239866"/>
                <a:ext cx="990527" cy="276999"/>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订购信息</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97" name="object 16"/>
              <p:cNvSpPr txBox="1"/>
              <p:nvPr/>
            </p:nvSpPr>
            <p:spPr>
              <a:xfrm>
                <a:off x="7465197" y="6224818"/>
                <a:ext cx="990527" cy="276999"/>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收入信息</a:t>
                </a:r>
                <a:endParaRPr lang="zh-CN" altLang="en-US" sz="900" spc="20" dirty="0">
                  <a:latin typeface="微软雅黑" panose="020B0503020204020204" charset="-122"/>
                  <a:ea typeface="微软雅黑" panose="020B0503020204020204" charset="-122"/>
                  <a:cs typeface="微软雅黑" panose="020B0503020204020204" charset="-122"/>
                </a:endParaRPr>
              </a:p>
            </p:txBody>
          </p:sp>
        </p:grpSp>
        <p:grpSp>
          <p:nvGrpSpPr>
            <p:cNvPr id="202" name="组合 201"/>
            <p:cNvGrpSpPr/>
            <p:nvPr/>
          </p:nvGrpSpPr>
          <p:grpSpPr>
            <a:xfrm>
              <a:off x="15316" y="8989"/>
              <a:ext cx="3572" cy="1286"/>
              <a:chOff x="9698693" y="5786342"/>
              <a:chExt cx="2268000" cy="816427"/>
            </a:xfrm>
            <a:solidFill>
              <a:srgbClr val="F1FBFF"/>
            </a:solidFill>
          </p:grpSpPr>
          <p:sp>
            <p:nvSpPr>
              <p:cNvPr id="5" name="圆角矩形 154"/>
              <p:cNvSpPr/>
              <p:nvPr/>
            </p:nvSpPr>
            <p:spPr>
              <a:xfrm>
                <a:off x="9698693" y="5786342"/>
                <a:ext cx="2268000" cy="816427"/>
              </a:xfrm>
              <a:prstGeom prst="roundRect">
                <a:avLst>
                  <a:gd name="adj" fmla="val 8372"/>
                </a:avLst>
              </a:prstGeom>
              <a:grpFill/>
              <a:ln w="6350">
                <a:noFill/>
                <a:prstDash val="solid"/>
              </a:ln>
              <a:effectLst/>
            </p:spPr>
            <p:style>
              <a:lnRef idx="2">
                <a:srgbClr val="4472C4">
                  <a:shade val="15000"/>
                </a:srgbClr>
              </a:lnRef>
              <a:fillRef idx="1">
                <a:srgbClr val="4472C4"/>
              </a:fillRef>
              <a:effectRef idx="0">
                <a:srgbClr val="4472C4"/>
              </a:effectRef>
              <a:fontRef idx="minor">
                <a:sysClr val="window" lastClr="FFFFFF"/>
              </a:fontRef>
            </p:style>
            <p:txBody>
              <a:bodyPr rtlCol="0" anchor="ctr"/>
              <a:p>
                <a:pPr algn="ctr"/>
                <a:endParaRPr kumimoji="1" lang="zh-CN" altLang="en-US" sz="900" dirty="0">
                  <a:solidFill>
                    <a:sysClr val="windowText" lastClr="000000"/>
                  </a:solidFill>
                  <a:latin typeface="微软雅黑" panose="020B0503020204020204" charset="-122"/>
                  <a:ea typeface="微软雅黑" panose="020B0503020204020204" charset="-122"/>
                </a:endParaRPr>
              </a:p>
            </p:txBody>
          </p:sp>
          <p:sp>
            <p:nvSpPr>
              <p:cNvPr id="196" name="object 16"/>
              <p:cNvSpPr txBox="1"/>
              <p:nvPr/>
            </p:nvSpPr>
            <p:spPr>
              <a:xfrm>
                <a:off x="9884449" y="5902046"/>
                <a:ext cx="990527" cy="518160"/>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综资宽装地址</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98" name="object 16"/>
              <p:cNvSpPr txBox="1"/>
              <p:nvPr/>
            </p:nvSpPr>
            <p:spPr>
              <a:xfrm>
                <a:off x="9884449" y="6224818"/>
                <a:ext cx="990527" cy="276999"/>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网格边界</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199" name="object 16"/>
              <p:cNvSpPr txBox="1"/>
              <p:nvPr/>
            </p:nvSpPr>
            <p:spPr>
              <a:xfrm>
                <a:off x="10917784" y="5902046"/>
                <a:ext cx="990527" cy="518160"/>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营业厅触客</a:t>
                </a:r>
                <a:endParaRPr lang="zh-CN" altLang="en-US" sz="900" spc="20" dirty="0">
                  <a:latin typeface="微软雅黑" panose="020B0503020204020204" charset="-122"/>
                  <a:ea typeface="微软雅黑" panose="020B0503020204020204" charset="-122"/>
                  <a:cs typeface="微软雅黑" panose="020B0503020204020204" charset="-122"/>
                </a:endParaRPr>
              </a:p>
            </p:txBody>
          </p:sp>
          <p:sp>
            <p:nvSpPr>
              <p:cNvPr id="200" name="object 16"/>
              <p:cNvSpPr txBox="1"/>
              <p:nvPr/>
            </p:nvSpPr>
            <p:spPr>
              <a:xfrm>
                <a:off x="10917784" y="6224818"/>
                <a:ext cx="990527" cy="259080"/>
              </a:xfrm>
              <a:prstGeom prst="rect">
                <a:avLst/>
              </a:prstGeom>
              <a:grp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企微触客</a:t>
                </a:r>
                <a:endParaRPr lang="zh-CN" altLang="en-US" sz="900" spc="20" dirty="0">
                  <a:latin typeface="微软雅黑" panose="020B0503020204020204" charset="-122"/>
                  <a:ea typeface="微软雅黑" panose="020B0503020204020204" charset="-122"/>
                  <a:cs typeface="微软雅黑" panose="020B0503020204020204" charset="-122"/>
                </a:endParaRPr>
              </a:p>
            </p:txBody>
          </p:sp>
        </p:grpSp>
        <p:sp>
          <p:nvSpPr>
            <p:cNvPr id="203" name="object 16"/>
            <p:cNvSpPr txBox="1"/>
            <p:nvPr/>
          </p:nvSpPr>
          <p:spPr>
            <a:xfrm>
              <a:off x="9499" y="9761"/>
              <a:ext cx="1807" cy="327"/>
            </a:xfrm>
            <a:prstGeom prst="rect">
              <a:avLst/>
            </a:prstGeom>
            <a:solidFill>
              <a:srgbClr val="F1FBFF"/>
            </a:solidFill>
          </p:spPr>
          <p:txBody>
            <a:bodyPr vert="horz" wrap="square" lIns="0" tIns="12700" rIns="0" bIns="0" rtlCol="0">
              <a:noAutofit/>
            </a:bodyPr>
            <a:p>
              <a:pPr algn="ctr">
                <a:lnSpc>
                  <a:spcPct val="100000"/>
                </a:lnSpc>
                <a:spcBef>
                  <a:spcPts val="100"/>
                </a:spcBef>
              </a:pPr>
              <a:r>
                <a:rPr lang="zh-CN" altLang="en-US" sz="900" spc="20" dirty="0">
                  <a:latin typeface="微软雅黑" panose="020B0503020204020204" charset="-122"/>
                  <a:ea typeface="微软雅黑" panose="020B0503020204020204" charset="-122"/>
                  <a:cs typeface="微软雅黑" panose="020B0503020204020204" charset="-122"/>
                </a:rPr>
                <a:t>企业经营地址</a:t>
              </a:r>
              <a:endParaRPr lang="zh-CN" altLang="en-US" sz="900" spc="20" dirty="0">
                <a:latin typeface="微软雅黑" panose="020B0503020204020204" charset="-122"/>
                <a:ea typeface="微软雅黑" panose="020B0503020204020204" charset="-122"/>
                <a:cs typeface="微软雅黑" panose="020B0503020204020204" charset="-122"/>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核心能力</a:t>
            </a:r>
            <a:r>
              <a:rPr>
                <a:sym typeface="+mn-ea"/>
              </a:rPr>
              <a:t>7</a:t>
            </a:r>
            <a:r>
              <a:rPr lang="zh-CN" altLang="en-US">
                <a:sym typeface="+mn-ea"/>
              </a:rPr>
              <a:t>：</a:t>
            </a:r>
            <a:r>
              <a:rPr lang="zh-CN" altLang="en-US">
                <a:sym typeface="+mn-ea"/>
              </a:rPr>
              <a:t>个人工作台</a:t>
            </a:r>
            <a:r>
              <a:rPr>
                <a:sym typeface="+mn-ea"/>
              </a:rPr>
              <a:t>-</a:t>
            </a:r>
            <a:r>
              <a:rPr lang="zh-CN" altLang="en-US">
                <a:sym typeface="+mn-ea"/>
              </a:rPr>
              <a:t>汇聚多系统入口实现多角色</a:t>
            </a:r>
            <a:r>
              <a:rPr lang="zh-CN" altLang="en-US">
                <a:sym typeface="+mn-ea"/>
              </a:rPr>
              <a:t>统一运营</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个人</a:t>
            </a:r>
            <a:r>
              <a:rPr lang="zh-CN" altLang="zh-HK" kern="1200" noProof="0" smtClean="0">
                <a:solidFill>
                  <a:srgbClr val="000000">
                    <a:alpha val="100000"/>
                  </a:srgbClr>
                </a:solidFill>
                <a:latin typeface="+mn-lt"/>
                <a:ea typeface="+mn-lt"/>
                <a:cs typeface="+mn-lt"/>
                <a:sym typeface="+mn-ea"/>
              </a:rPr>
              <a:t>工作台通过整合一级系统入口与多角色操作间，实现了运营功能的统一接入与权限化管理，有效简化操作流程、提升跨角色协同效率并保障运营安全合规。</a:t>
            </a:r>
            <a:endParaRPr lang="zh-CN" altLang="zh-HK" kern="1200" noProof="0" smtClean="0">
              <a:solidFill>
                <a:srgbClr val="000000">
                  <a:alpha val="100000"/>
                </a:srgbClr>
              </a:solidFill>
              <a:latin typeface="+mn-lt"/>
              <a:ea typeface="+mn-lt"/>
              <a:cs typeface="+mn-lt"/>
              <a:sym typeface="+mn-ea"/>
            </a:endParaRPr>
          </a:p>
        </p:txBody>
      </p:sp>
      <p:pic>
        <p:nvPicPr>
          <p:cNvPr id="4" name="圖片 3" descr="f0357dfb0b1b51086f84745db2f423bd"/>
          <p:cNvPicPr>
            <a:picLocks noChangeAspect="1"/>
          </p:cNvPicPr>
          <p:nvPr/>
        </p:nvPicPr>
        <p:blipFill>
          <a:blip r:embed="rId1"/>
          <a:stretch>
            <a:fillRect/>
          </a:stretch>
        </p:blipFill>
        <p:spPr>
          <a:xfrm>
            <a:off x="3411220" y="2930525"/>
            <a:ext cx="4826635" cy="3023870"/>
          </a:xfrm>
          <a:prstGeom prst="rect">
            <a:avLst/>
          </a:prstGeom>
        </p:spPr>
      </p:pic>
      <p:sp>
        <p:nvSpPr>
          <p:cNvPr id="15" name="矩形 14"/>
          <p:cNvSpPr/>
          <p:nvPr/>
        </p:nvSpPr>
        <p:spPr>
          <a:xfrm>
            <a:off x="382270" y="2100580"/>
            <a:ext cx="2435225" cy="4079875"/>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 name="矩形 6"/>
          <p:cNvSpPr/>
          <p:nvPr/>
        </p:nvSpPr>
        <p:spPr>
          <a:xfrm>
            <a:off x="382270" y="1784350"/>
            <a:ext cx="2435860" cy="33401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一级系统入口</a:t>
            </a:r>
            <a:endParaRPr lang="zh-CN" altLang="zh-HK" sz="1400"/>
          </a:p>
        </p:txBody>
      </p:sp>
      <p:sp>
        <p:nvSpPr>
          <p:cNvPr id="19" name="矩形 18"/>
          <p:cNvSpPr/>
          <p:nvPr/>
        </p:nvSpPr>
        <p:spPr>
          <a:xfrm>
            <a:off x="3266440" y="2105660"/>
            <a:ext cx="5058410" cy="4079875"/>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0" name="左箭頭 19"/>
          <p:cNvSpPr/>
          <p:nvPr/>
        </p:nvSpPr>
        <p:spPr>
          <a:xfrm>
            <a:off x="2880995" y="2729230"/>
            <a:ext cx="321945" cy="2942590"/>
          </a:xfrm>
          <a:prstGeom prst="leftArrow">
            <a:avLst/>
          </a:prstGeom>
          <a:solidFill>
            <a:schemeClr val="bg1">
              <a:lumMod val="65000"/>
            </a:schemeClr>
          </a:solidFill>
          <a:ln w="12700" cap="flat" cmpd="sng" algn="ctr">
            <a:solidFill>
              <a:schemeClr val="bg1">
                <a:lumMod val="6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solidFill>
                  <a:schemeClr val="bg1"/>
                </a:solidFill>
              </a:rPr>
              <a:t>一键跳转</a:t>
            </a:r>
            <a:endParaRPr lang="zh-CN" altLang="zh-HK" sz="1400" b="1">
              <a:solidFill>
                <a:schemeClr val="bg1"/>
              </a:solidFill>
            </a:endParaRPr>
          </a:p>
        </p:txBody>
      </p:sp>
      <p:sp>
        <p:nvSpPr>
          <p:cNvPr id="18" name="矩形 17"/>
          <p:cNvSpPr/>
          <p:nvPr/>
        </p:nvSpPr>
        <p:spPr>
          <a:xfrm>
            <a:off x="3266440" y="1787525"/>
            <a:ext cx="5058410" cy="33401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工作台</a:t>
            </a:r>
            <a:r>
              <a:rPr lang="zh-CN" altLang="zh-HK" sz="1400"/>
              <a:t>主界面</a:t>
            </a:r>
            <a:endParaRPr lang="zh-CN" altLang="zh-HK" sz="1400"/>
          </a:p>
        </p:txBody>
      </p:sp>
      <p:sp>
        <p:nvSpPr>
          <p:cNvPr id="21" name="文字框 20"/>
          <p:cNvSpPr txBox="1"/>
          <p:nvPr/>
        </p:nvSpPr>
        <p:spPr>
          <a:xfrm>
            <a:off x="3293745" y="2203450"/>
            <a:ext cx="5006975" cy="645160"/>
          </a:xfrm>
          <a:prstGeom prst="rect">
            <a:avLst/>
          </a:prstGeom>
        </p:spPr>
        <p:txBody>
          <a:bodyPr wrap="square">
            <a:spAutoFit/>
          </a:bodyPr>
          <a:p>
            <a:pPr marL="0" indent="0" algn="just" defTabSz="266700">
              <a:spcBef>
                <a:spcPct val="0"/>
              </a:spcBef>
              <a:spcAft>
                <a:spcPct val="0"/>
              </a:spcAft>
            </a:pPr>
            <a:r>
              <a:rPr lang="zh-CN" altLang="en-US" sz="1200">
                <a:solidFill>
                  <a:srgbClr val="000000"/>
                </a:solidFill>
                <a:latin typeface="微软雅黑" panose="020B0503020204020204" charset="-122"/>
                <a:ea typeface="微软雅黑" panose="020B0503020204020204" charset="-122"/>
              </a:rPr>
              <a:t>实现市场运营工作集中和统一管理，根据权限控制不同角色看到不同的功能和内容</a:t>
            </a:r>
            <a:r>
              <a:rPr lang="zh-CN" altLang="en-US" sz="1200">
                <a:solidFill>
                  <a:srgbClr val="000000"/>
                </a:solidFill>
                <a:latin typeface="微软雅黑" panose="020B0503020204020204" charset="-122"/>
                <a:ea typeface="微软雅黑" panose="020B0503020204020204" charset="-122"/>
              </a:rPr>
              <a:t>，实现各类运营能力的统一登录和流程贯穿，简化运营操作流程。</a:t>
            </a:r>
            <a:endParaRPr lang="zh-CN" altLang="en-US" sz="1200">
              <a:solidFill>
                <a:srgbClr val="000000"/>
              </a:solidFill>
              <a:latin typeface="微软雅黑" panose="020B0503020204020204" charset="-122"/>
              <a:ea typeface="微软雅黑" panose="020B0503020204020204" charset="-122"/>
            </a:endParaRPr>
          </a:p>
        </p:txBody>
      </p:sp>
      <p:sp>
        <p:nvSpPr>
          <p:cNvPr id="23" name="矩形 22"/>
          <p:cNvSpPr/>
          <p:nvPr/>
        </p:nvSpPr>
        <p:spPr>
          <a:xfrm>
            <a:off x="8819515" y="2109470"/>
            <a:ext cx="3056890" cy="4079875"/>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2" name="矩形 21"/>
          <p:cNvSpPr/>
          <p:nvPr/>
        </p:nvSpPr>
        <p:spPr>
          <a:xfrm>
            <a:off x="8820150" y="1787525"/>
            <a:ext cx="3056255" cy="33401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分角色</a:t>
            </a:r>
            <a:r>
              <a:rPr lang="zh-CN" altLang="zh-HK" sz="1400"/>
              <a:t>操作间</a:t>
            </a:r>
            <a:endParaRPr lang="zh-CN" altLang="zh-HK" sz="1400"/>
          </a:p>
        </p:txBody>
      </p:sp>
      <p:sp>
        <p:nvSpPr>
          <p:cNvPr id="24" name="左箭頭 23"/>
          <p:cNvSpPr/>
          <p:nvPr/>
        </p:nvSpPr>
        <p:spPr>
          <a:xfrm flipH="1">
            <a:off x="8393430" y="2729230"/>
            <a:ext cx="374650" cy="2942590"/>
          </a:xfrm>
          <a:prstGeom prst="leftArrow">
            <a:avLst/>
          </a:prstGeom>
          <a:solidFill>
            <a:schemeClr val="bg1">
              <a:lumMod val="65000"/>
            </a:schemeClr>
          </a:solidFill>
          <a:ln w="12700" cap="flat" cmpd="sng" algn="ctr">
            <a:solidFill>
              <a:schemeClr val="bg1">
                <a:lumMod val="6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b="1">
                <a:solidFill>
                  <a:schemeClr val="bg1"/>
                </a:solidFill>
              </a:rPr>
              <a:t>运营</a:t>
            </a:r>
            <a:r>
              <a:rPr lang="zh-CN" altLang="zh-HK" sz="1400" b="1">
                <a:solidFill>
                  <a:schemeClr val="bg1"/>
                </a:solidFill>
              </a:rPr>
              <a:t>管理</a:t>
            </a:r>
            <a:endParaRPr lang="zh-CN" altLang="zh-HK" sz="1400" b="1">
              <a:solidFill>
                <a:schemeClr val="bg1"/>
              </a:solidFill>
            </a:endParaRPr>
          </a:p>
        </p:txBody>
      </p:sp>
      <p:sp>
        <p:nvSpPr>
          <p:cNvPr id="25" name="圓角矩形 24"/>
          <p:cNvSpPr/>
          <p:nvPr/>
        </p:nvSpPr>
        <p:spPr>
          <a:xfrm>
            <a:off x="8997950" y="2211070"/>
            <a:ext cx="1395730" cy="259080"/>
          </a:xfrm>
          <a:prstGeom prst="roundRect">
            <a:avLst/>
          </a:prstGeom>
          <a:solidFill>
            <a:srgbClr val="91ACE0"/>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管理员</a:t>
            </a:r>
            <a:r>
              <a:rPr lang="en-US" altLang="zh-CN" sz="1200"/>
              <a:t>/</a:t>
            </a:r>
            <a:r>
              <a:rPr lang="zh-CN" altLang="en-US" sz="1200"/>
              <a:t>部门领导</a:t>
            </a:r>
            <a:endParaRPr lang="zh-CN" altLang="en-US" sz="1200"/>
          </a:p>
        </p:txBody>
      </p:sp>
      <p:sp>
        <p:nvSpPr>
          <p:cNvPr id="26" name="文字框 25"/>
          <p:cNvSpPr txBox="1"/>
          <p:nvPr/>
        </p:nvSpPr>
        <p:spPr>
          <a:xfrm>
            <a:off x="8970010" y="2509520"/>
            <a:ext cx="2830195" cy="1476375"/>
          </a:xfrm>
          <a:prstGeom prst="rect">
            <a:avLst/>
          </a:prstGeom>
        </p:spPr>
        <p:txBody>
          <a:bodyPr wrap="square">
            <a:spAutoFit/>
          </a:bodyPr>
          <a:p>
            <a:pPr marL="171450" indent="-171450" algn="just" defTabSz="266700">
              <a:lnSpc>
                <a:spcPct val="125000"/>
              </a:lnSpc>
              <a:spcBef>
                <a:spcPts val="0"/>
              </a:spcBef>
              <a:spcAft>
                <a:spcPts val="0"/>
              </a:spcAft>
              <a:buFont typeface="Arial" panose="020B0604020202020204" pitchFamily="34" charset="0"/>
              <a:buChar char="•"/>
            </a:pPr>
            <a:r>
              <a:rPr lang="zh-CN" altLang="en-US" sz="1200" b="0">
                <a:latin typeface="微软雅黑" panose="020B0503020204020204" charset="-122"/>
                <a:ea typeface="微软雅黑" panose="020B0503020204020204" charset="-122"/>
                <a:cs typeface="微软雅黑" panose="020B0503020204020204" charset="-122"/>
              </a:rPr>
              <a:t>提供常用功能</a:t>
            </a:r>
            <a:r>
              <a:rPr lang="en-US" altLang="zh-CN" sz="1200" b="0">
                <a:latin typeface="微软雅黑" panose="020B0503020204020204" charset="-122"/>
                <a:ea typeface="微软雅黑" panose="020B0503020204020204" charset="-122"/>
                <a:cs typeface="微软雅黑" panose="020B0503020204020204" charset="-122"/>
              </a:rPr>
              <a:t>/</a:t>
            </a:r>
            <a:r>
              <a:rPr lang="zh-CN" altLang="en-US" sz="1200" b="0">
                <a:latin typeface="微软雅黑" panose="020B0503020204020204" charset="-122"/>
                <a:ea typeface="微软雅黑" panose="020B0503020204020204" charset="-122"/>
                <a:cs typeface="微软雅黑" panose="020B0503020204020204" charset="-122"/>
              </a:rPr>
              <a:t>应用、我的待办、重要指标、工单分析、策略评估功能</a:t>
            </a:r>
            <a:endParaRPr lang="zh-CN" altLang="en-US" sz="1200" b="0">
              <a:latin typeface="微软雅黑" panose="020B0503020204020204" charset="-122"/>
              <a:ea typeface="微软雅黑" panose="020B0503020204020204" charset="-122"/>
              <a:cs typeface="微软雅黑" panose="020B0503020204020204" charset="-122"/>
            </a:endParaRPr>
          </a:p>
          <a:p>
            <a:pPr marL="171450" indent="-171450" algn="just" defTabSz="266700">
              <a:lnSpc>
                <a:spcPct val="125000"/>
              </a:lnSpc>
              <a:spcBef>
                <a:spcPts val="0"/>
              </a:spcBef>
              <a:spcAft>
                <a:spcPts val="0"/>
              </a:spcAft>
              <a:buFont typeface="Arial" panose="020B0604020202020204" pitchFamily="34" charset="0"/>
              <a:buChar char="•"/>
            </a:pPr>
            <a:r>
              <a:rPr lang="zh-CN" altLang="en-US" sz="1200" b="0">
                <a:latin typeface="微软雅黑" panose="020B0503020204020204" charset="-122"/>
                <a:ea typeface="微软雅黑" panose="020B0503020204020204" charset="-122"/>
                <a:cs typeface="微软雅黑" panose="020B0503020204020204" charset="-122"/>
              </a:rPr>
              <a:t>支持根据当前登录人员角色和归属组织呈现数据</a:t>
            </a:r>
            <a:endParaRPr lang="zh-CN" altLang="en-US" sz="1200" b="0">
              <a:latin typeface="微软雅黑" panose="020B0503020204020204" charset="-122"/>
              <a:ea typeface="微软雅黑" panose="020B0503020204020204" charset="-122"/>
              <a:cs typeface="微软雅黑" panose="020B0503020204020204" charset="-122"/>
            </a:endParaRPr>
          </a:p>
          <a:p>
            <a:pPr marL="171450" indent="-171450" algn="just" defTabSz="266700">
              <a:lnSpc>
                <a:spcPct val="125000"/>
              </a:lnSpc>
              <a:spcBef>
                <a:spcPts val="0"/>
              </a:spcBef>
              <a:spcAft>
                <a:spcPts val="0"/>
              </a:spcAft>
              <a:buFont typeface="Arial" panose="020B0604020202020204" pitchFamily="34" charset="0"/>
              <a:buChar char="•"/>
            </a:pPr>
            <a:r>
              <a:rPr lang="zh-CN" altLang="en-US" sz="1200" b="0">
                <a:latin typeface="微软雅黑" panose="020B0503020204020204" charset="-122"/>
                <a:ea typeface="微软雅黑" panose="020B0503020204020204" charset="-122"/>
                <a:cs typeface="微软雅黑" panose="020B0503020204020204" charset="-122"/>
              </a:rPr>
              <a:t>全网管理员</a:t>
            </a:r>
            <a:r>
              <a:rPr lang="en-US" altLang="zh-CN" sz="1200" b="0">
                <a:latin typeface="微软雅黑" panose="020B0503020204020204" charset="-122"/>
                <a:ea typeface="微软雅黑" panose="020B0503020204020204" charset="-122"/>
                <a:cs typeface="微软雅黑" panose="020B0503020204020204" charset="-122"/>
              </a:rPr>
              <a:t>/</a:t>
            </a:r>
            <a:r>
              <a:rPr lang="zh-CN" altLang="en-US" sz="1200" b="0">
                <a:latin typeface="微软雅黑" panose="020B0503020204020204" charset="-122"/>
                <a:ea typeface="微软雅黑" panose="020B0503020204020204" charset="-122"/>
                <a:cs typeface="微软雅黑" panose="020B0503020204020204" charset="-122"/>
              </a:rPr>
              <a:t>部门领导查看全国和省份数据，省公司领导查看本省数据</a:t>
            </a:r>
            <a:endParaRPr lang="en-US" altLang="zh-CN" sz="1200" b="0">
              <a:latin typeface="微软雅黑" panose="020B0503020204020204" charset="-122"/>
              <a:ea typeface="微软雅黑" panose="020B0503020204020204" charset="-122"/>
              <a:cs typeface="微软雅黑" panose="020B0503020204020204" charset="-122"/>
            </a:endParaRPr>
          </a:p>
        </p:txBody>
      </p:sp>
      <p:sp>
        <p:nvSpPr>
          <p:cNvPr id="27" name="圓角矩形 26"/>
          <p:cNvSpPr/>
          <p:nvPr/>
        </p:nvSpPr>
        <p:spPr>
          <a:xfrm>
            <a:off x="8996045" y="4032250"/>
            <a:ext cx="1395730" cy="259080"/>
          </a:xfrm>
          <a:prstGeom prst="roundRect">
            <a:avLst/>
          </a:prstGeom>
          <a:solidFill>
            <a:srgbClr val="91ACE0"/>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审核</a:t>
            </a:r>
            <a:r>
              <a:rPr lang="zh-CN" altLang="zh-HK" sz="1200"/>
              <a:t>人员</a:t>
            </a:r>
            <a:endParaRPr lang="zh-CN" altLang="zh-HK" sz="1200"/>
          </a:p>
        </p:txBody>
      </p:sp>
      <p:sp>
        <p:nvSpPr>
          <p:cNvPr id="28" name="文字框 27"/>
          <p:cNvSpPr txBox="1"/>
          <p:nvPr/>
        </p:nvSpPr>
        <p:spPr>
          <a:xfrm>
            <a:off x="9004935" y="4327525"/>
            <a:ext cx="2795270" cy="783590"/>
          </a:xfrm>
          <a:prstGeom prst="rect">
            <a:avLst/>
          </a:prstGeom>
        </p:spPr>
        <p:txBody>
          <a:bodyPr wrap="square">
            <a:spAutoFit/>
          </a:bodyPr>
          <a:p>
            <a:pPr marL="171450" indent="-171450">
              <a:lnSpc>
                <a:spcPct val="125000"/>
              </a:lnSpc>
              <a:spcBef>
                <a:spcPts val="0"/>
              </a:spcBef>
              <a:spcAft>
                <a:spcPts val="0"/>
              </a:spcAft>
              <a:buFont typeface="Arial" panose="020B0604020202020204" pitchFamily="34" charset="0"/>
              <a:buChar char="•"/>
            </a:pPr>
            <a:r>
              <a:rPr lang="zh-CN" altLang="en-US" sz="1200" b="0" i="0">
                <a:solidFill>
                  <a:srgbClr val="0F1115"/>
                </a:solidFill>
                <a:latin typeface="微软雅黑" panose="020B0503020204020204" charset="-122"/>
                <a:ea typeface="微软雅黑" panose="020B0503020204020204" charset="-122"/>
              </a:rPr>
              <a:t>通过统一工作台集中处理待办与审批任务</a:t>
            </a:r>
            <a:endParaRPr lang="zh-CN" altLang="en-US" sz="1200" b="0" i="0">
              <a:solidFill>
                <a:srgbClr val="0F1115"/>
              </a:solidFill>
              <a:latin typeface="微软雅黑" panose="020B0503020204020204" charset="-122"/>
              <a:ea typeface="微软雅黑" panose="020B0503020204020204" charset="-122"/>
            </a:endParaRPr>
          </a:p>
          <a:p>
            <a:pPr marL="171450" indent="-171450">
              <a:lnSpc>
                <a:spcPct val="125000"/>
              </a:lnSpc>
              <a:spcBef>
                <a:spcPts val="0"/>
              </a:spcBef>
              <a:spcAft>
                <a:spcPts val="0"/>
              </a:spcAft>
              <a:buFont typeface="Arial" panose="020B0604020202020204" pitchFamily="34" charset="0"/>
              <a:buChar char="•"/>
            </a:pPr>
            <a:r>
              <a:rPr lang="zh-CN" altLang="en-US" sz="1200" b="0" i="0">
                <a:solidFill>
                  <a:srgbClr val="0F1115"/>
                </a:solidFill>
                <a:latin typeface="微软雅黑" panose="020B0503020204020204" charset="-122"/>
                <a:ea typeface="微软雅黑" panose="020B0503020204020204" charset="-122"/>
              </a:rPr>
              <a:t>依据角色权限驱动多级审核流程</a:t>
            </a:r>
            <a:endParaRPr lang="zh-CN" altLang="en-US" sz="1200" b="0" i="0">
              <a:solidFill>
                <a:srgbClr val="0F1115"/>
              </a:solidFill>
              <a:latin typeface="微软雅黑" panose="020B0503020204020204" charset="-122"/>
              <a:ea typeface="微软雅黑" panose="020B0503020204020204" charset="-122"/>
            </a:endParaRPr>
          </a:p>
        </p:txBody>
      </p:sp>
      <p:sp>
        <p:nvSpPr>
          <p:cNvPr id="29" name="圓角矩形 28"/>
          <p:cNvSpPr/>
          <p:nvPr/>
        </p:nvSpPr>
        <p:spPr>
          <a:xfrm>
            <a:off x="9006840" y="5111750"/>
            <a:ext cx="1395730" cy="259080"/>
          </a:xfrm>
          <a:prstGeom prst="roundRect">
            <a:avLst/>
          </a:prstGeom>
          <a:solidFill>
            <a:srgbClr val="91ACE0"/>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运营人员</a:t>
            </a:r>
            <a:endParaRPr lang="zh-CN" altLang="zh-HK" sz="1200"/>
          </a:p>
        </p:txBody>
      </p:sp>
      <p:sp>
        <p:nvSpPr>
          <p:cNvPr id="30" name="文字框 29"/>
          <p:cNvSpPr txBox="1"/>
          <p:nvPr/>
        </p:nvSpPr>
        <p:spPr>
          <a:xfrm>
            <a:off x="9040495" y="5395595"/>
            <a:ext cx="2772410" cy="783590"/>
          </a:xfrm>
          <a:prstGeom prst="rect">
            <a:avLst/>
          </a:prstGeom>
        </p:spPr>
        <p:txBody>
          <a:bodyPr wrap="square">
            <a:spAutoFit/>
          </a:bodyPr>
          <a:p>
            <a:pPr marL="171450" indent="-171450">
              <a:lnSpc>
                <a:spcPct val="125000"/>
              </a:lnSpc>
              <a:spcBef>
                <a:spcPts val="0"/>
              </a:spcBef>
              <a:spcAft>
                <a:spcPts val="0"/>
              </a:spcAft>
              <a:buFont typeface="Arial" panose="020B0604020202020204" pitchFamily="34" charset="0"/>
              <a:buChar char="•"/>
            </a:pPr>
            <a:r>
              <a:rPr lang="zh-CN" altLang="en-US" sz="1200" b="0" i="0">
                <a:solidFill>
                  <a:srgbClr val="0F1115"/>
                </a:solidFill>
                <a:latin typeface="微软雅黑" panose="020B0503020204020204" charset="-122"/>
                <a:ea typeface="微软雅黑" panose="020B0503020204020204" charset="-122"/>
              </a:rPr>
              <a:t>提供个性化的待办、运营数据与业务入口</a:t>
            </a:r>
            <a:endParaRPr lang="zh-CN" altLang="en-US" sz="1200" b="0" i="0">
              <a:solidFill>
                <a:srgbClr val="0F1115"/>
              </a:solidFill>
              <a:latin typeface="微软雅黑" panose="020B0503020204020204" charset="-122"/>
              <a:ea typeface="微软雅黑" panose="020B0503020204020204" charset="-122"/>
            </a:endParaRPr>
          </a:p>
          <a:p>
            <a:pPr marL="171450" indent="-171450">
              <a:lnSpc>
                <a:spcPct val="125000"/>
              </a:lnSpc>
              <a:spcBef>
                <a:spcPts val="0"/>
              </a:spcBef>
              <a:spcAft>
                <a:spcPts val="0"/>
              </a:spcAft>
              <a:buFont typeface="Arial" panose="020B0604020202020204" pitchFamily="34" charset="0"/>
              <a:buChar char="•"/>
            </a:pPr>
            <a:r>
              <a:rPr lang="zh-CN" altLang="en-US" sz="1200" b="0" i="0">
                <a:solidFill>
                  <a:srgbClr val="0F1115"/>
                </a:solidFill>
                <a:latin typeface="微软雅黑" panose="020B0503020204020204" charset="-122"/>
                <a:ea typeface="微软雅黑" panose="020B0503020204020204" charset="-122"/>
              </a:rPr>
              <a:t>支持集成第三方业务页面</a:t>
            </a:r>
            <a:endParaRPr lang="zh-CN" altLang="en-US" sz="1200" b="0" i="0">
              <a:solidFill>
                <a:srgbClr val="0F1115"/>
              </a:solidFill>
              <a:latin typeface="微软雅黑" panose="020B0503020204020204" charset="-122"/>
              <a:ea typeface="微软雅黑" panose="020B0503020204020204" charset="-122"/>
            </a:endParaRPr>
          </a:p>
        </p:txBody>
      </p:sp>
      <p:sp>
        <p:nvSpPr>
          <p:cNvPr id="8" name="矩形 7"/>
          <p:cNvSpPr/>
          <p:nvPr/>
        </p:nvSpPr>
        <p:spPr>
          <a:xfrm>
            <a:off x="666750" y="2261870"/>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t>产品枢纽平台</a:t>
            </a:r>
            <a:endParaRPr lang="zh-CN" altLang="zh-HK" sz="1200"/>
          </a:p>
        </p:txBody>
      </p:sp>
      <p:sp>
        <p:nvSpPr>
          <p:cNvPr id="9" name="矩形 8"/>
          <p:cNvSpPr/>
          <p:nvPr/>
        </p:nvSpPr>
        <p:spPr>
          <a:xfrm>
            <a:off x="666750" y="2772410"/>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泛全联盟</a:t>
            </a:r>
            <a:endParaRPr lang="zh-CN" altLang="zh-HK" sz="1200"/>
          </a:p>
        </p:txBody>
      </p:sp>
      <p:sp>
        <p:nvSpPr>
          <p:cNvPr id="10" name="矩形 9"/>
          <p:cNvSpPr/>
          <p:nvPr/>
        </p:nvSpPr>
        <p:spPr>
          <a:xfrm>
            <a:off x="666750" y="3282950"/>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渠道赋能平台</a:t>
            </a:r>
            <a:endParaRPr lang="zh-CN" altLang="zh-HK" sz="1200"/>
          </a:p>
        </p:txBody>
      </p:sp>
      <p:sp>
        <p:nvSpPr>
          <p:cNvPr id="11" name="矩形 10"/>
          <p:cNvSpPr/>
          <p:nvPr/>
        </p:nvSpPr>
        <p:spPr>
          <a:xfrm>
            <a:off x="666750" y="3792855"/>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生态权益融通中心</a:t>
            </a:r>
            <a:endParaRPr lang="zh-CN" altLang="zh-HK" sz="1200"/>
          </a:p>
        </p:txBody>
      </p:sp>
      <p:sp>
        <p:nvSpPr>
          <p:cNvPr id="12" name="矩形 11"/>
          <p:cNvSpPr/>
          <p:nvPr/>
        </p:nvSpPr>
        <p:spPr>
          <a:xfrm>
            <a:off x="666750" y="4302760"/>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一级产商品中心</a:t>
            </a:r>
            <a:endParaRPr lang="zh-CN" altLang="zh-HK" sz="1200"/>
          </a:p>
        </p:txBody>
      </p:sp>
      <p:sp>
        <p:nvSpPr>
          <p:cNvPr id="13" name="矩形 12"/>
          <p:cNvSpPr/>
          <p:nvPr/>
        </p:nvSpPr>
        <p:spPr>
          <a:xfrm>
            <a:off x="666750" y="4813300"/>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一级</a:t>
            </a:r>
            <a:r>
              <a:rPr kumimoji="1" lang="en-US" altLang="zh-HK" sz="1200" dirty="0" smtClean="0">
                <a:latin typeface="微软雅黑" panose="020B0503020204020204" charset="-122"/>
                <a:ea typeface="微软雅黑" panose="020B0503020204020204" charset="-122"/>
                <a:sym typeface="+mn-ea"/>
              </a:rPr>
              <a:t>IOP</a:t>
            </a:r>
            <a:r>
              <a:rPr kumimoji="1" lang="zh-HK" altLang="en-US" sz="1200" dirty="0" smtClean="0">
                <a:latin typeface="微软雅黑" panose="020B0503020204020204" charset="-122"/>
                <a:ea typeface="微软雅黑" panose="020B0503020204020204" charset="-122"/>
                <a:sym typeface="+mn-ea"/>
              </a:rPr>
              <a:t>平台</a:t>
            </a:r>
            <a:endParaRPr lang="zh-CN" altLang="zh-HK" sz="1200"/>
          </a:p>
        </p:txBody>
      </p:sp>
      <p:sp>
        <p:nvSpPr>
          <p:cNvPr id="14" name="矩形 13"/>
          <p:cNvSpPr/>
          <p:nvPr/>
        </p:nvSpPr>
        <p:spPr>
          <a:xfrm>
            <a:off x="666750" y="5323840"/>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一级元宇宙</a:t>
            </a:r>
            <a:endParaRPr lang="zh-CN" altLang="zh-HK" sz="1200"/>
          </a:p>
        </p:txBody>
      </p:sp>
      <p:sp>
        <p:nvSpPr>
          <p:cNvPr id="2" name="矩形 1"/>
          <p:cNvSpPr/>
          <p:nvPr/>
        </p:nvSpPr>
        <p:spPr>
          <a:xfrm>
            <a:off x="671195" y="5796915"/>
            <a:ext cx="1866900" cy="31432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200" dirty="0" smtClean="0">
                <a:latin typeface="微软雅黑" panose="020B0503020204020204" charset="-122"/>
                <a:ea typeface="微软雅黑" panose="020B0503020204020204" charset="-122"/>
                <a:sym typeface="+mn-ea"/>
              </a:rPr>
              <a:t>一级</a:t>
            </a:r>
            <a:r>
              <a:rPr kumimoji="1" lang="zh-CN" altLang="zh-HK" sz="1200" dirty="0" smtClean="0">
                <a:latin typeface="微软雅黑" panose="020B0503020204020204" charset="-122"/>
                <a:ea typeface="微软雅黑" panose="020B0503020204020204" charset="-122"/>
                <a:sym typeface="+mn-ea"/>
              </a:rPr>
              <a:t>经分</a:t>
            </a:r>
            <a:endParaRPr kumimoji="1" lang="zh-CN" altLang="zh-HK" sz="1200" dirty="0" smtClean="0">
              <a:latin typeface="微软雅黑" panose="020B0503020204020204" charset="-122"/>
              <a:ea typeface="微软雅黑" panose="020B0503020204020204" charset="-122"/>
              <a:sym typeface="+mn-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683895" y="5650230"/>
            <a:ext cx="5463540" cy="89090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标题 2"/>
          <p:cNvSpPr>
            <a:spLocks noGrp="1"/>
          </p:cNvSpPr>
          <p:nvPr>
            <p:ph type="title"/>
          </p:nvPr>
        </p:nvSpPr>
        <p:spPr>
          <a:xfrm>
            <a:off x="194945" y="187325"/>
            <a:ext cx="9519920" cy="639445"/>
          </a:xfrm>
        </p:spPr>
        <p:txBody>
          <a:bodyPr>
            <a:normAutofit/>
          </a:bodyPr>
          <a:lstStyle/>
          <a:p>
            <a:r>
              <a:rPr lang="zh-CN" altLang="en-US">
                <a:sym typeface="+mn-ea"/>
              </a:rPr>
              <a:t>基础能力</a:t>
            </a:r>
            <a:r>
              <a:rPr>
                <a:sym typeface="+mn-ea"/>
              </a:rPr>
              <a:t>1</a:t>
            </a:r>
            <a:r>
              <a:rPr lang="zh-CN" altLang="en-US">
                <a:sym typeface="+mn-ea"/>
              </a:rPr>
              <a:t>：统一数据规范</a:t>
            </a:r>
            <a:r>
              <a:rPr>
                <a:sym typeface="+mn-ea"/>
              </a:rPr>
              <a:t>，</a:t>
            </a:r>
            <a:r>
              <a:rPr lang="zh-CN" altLang="en-US">
                <a:sym typeface="+mn-ea"/>
              </a:rPr>
              <a:t>确保数据</a:t>
            </a:r>
            <a:r>
              <a:rPr lang="zh-CN" altLang="en-US">
                <a:sym typeface="+mn-ea"/>
              </a:rPr>
              <a:t>一致性</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vert="horz" wrap="square" lIns="91440" tIns="45720" rIns="91440" bIns="45720" numCol="1" spcCol="0" rtlCol="0" fromWordArt="0" anchor="t" anchorCtr="0" forceAA="0" compatLnSpc="0">
            <a:noAutofit/>
          </a:bodyPr>
          <a:lstStyle>
            <a:defPPr>
              <a:defRPr lang="en-US"/>
            </a:defPPr>
            <a:lvl1pPr marR="0" lvl="0" indent="0" defTabSz="914400" fontAlgn="auto">
              <a:lnSpc>
                <a:spcPct val="150000"/>
              </a:lnSpc>
              <a:spcBef>
                <a:spcPts val="0"/>
              </a:spcBef>
              <a:spcAft>
                <a:spcPts val="0"/>
              </a:spcAft>
              <a:buClrTx/>
              <a:buSzTx/>
              <a:buFontTx/>
              <a:buNone/>
              <a:defRPr kumimoji="1" sz="1400" b="1" kern="0">
                <a:ln>
                  <a:noFill/>
                </a:ln>
                <a:solidFill>
                  <a:srgbClr val="0070BF"/>
                </a:solidFill>
                <a:effectLst/>
                <a:uLnTx/>
                <a:uFillTx/>
                <a:latin typeface="微软雅黑" panose="020B0503020204020204" charset="-122"/>
                <a:ea typeface="微软雅黑" panose="020B050302020402020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06070" lvl="0" indent="-306070" algn="l" defTabSz="914400" eaLnBrk="0">
              <a:lnSpc>
                <a:spcPct val="120000"/>
              </a:lnSpc>
              <a:buClr>
                <a:srgbClr val="0070BF"/>
              </a:buClr>
              <a:buFont typeface="Wingdings" panose="05000000000000000000" charset="0"/>
              <a:buChar char="n"/>
              <a:tabLst>
                <a:tab pos="356870" algn="l"/>
              </a:tabLst>
              <a:defRPr/>
            </a:pPr>
            <a:r>
              <a:rPr lang="zh-CN" altLang="zh-HK" kern="1200" noProof="0" smtClean="0">
                <a:solidFill>
                  <a:srgbClr val="000000">
                    <a:alpha val="100000"/>
                  </a:srgbClr>
                </a:solidFill>
                <a:latin typeface="+mn-lt"/>
                <a:ea typeface="+mn-lt"/>
                <a:cs typeface="+mn-lt"/>
                <a:sym typeface="+mn-ea"/>
              </a:rPr>
              <a:t>基于大数据平台构建标准指标数据，结合市场运营诉求建设的运营场景补充指标数据，搭建全网统一运营指标库，面向</a:t>
            </a:r>
            <a:r>
              <a:rPr lang="zh-CN" altLang="zh-HK" kern="1200" noProof="0" smtClean="0">
                <a:solidFill>
                  <a:srgbClr val="000000">
                    <a:alpha val="100000"/>
                  </a:srgbClr>
                </a:solidFill>
                <a:latin typeface="+mn-lt"/>
                <a:ea typeface="+mn-lt"/>
                <a:cs typeface="+mn-lt"/>
                <a:sym typeface="+mn-ea"/>
              </a:rPr>
              <a:t>一级</a:t>
            </a:r>
            <a:r>
              <a:rPr lang="zh-CN" altLang="zh-HK" kern="1200" noProof="0" smtClean="0">
                <a:solidFill>
                  <a:srgbClr val="000000">
                    <a:alpha val="100000"/>
                  </a:srgbClr>
                </a:solidFill>
                <a:latin typeface="+mn-lt"/>
                <a:ea typeface="+mn-lt"/>
                <a:cs typeface="+mn-lt"/>
                <a:sym typeface="+mn-ea"/>
              </a:rPr>
              <a:t>运营工作台、省</a:t>
            </a:r>
            <a:r>
              <a:rPr lang="zh-CN" altLang="zh-HK" kern="1200" noProof="0" smtClean="0">
                <a:solidFill>
                  <a:srgbClr val="000000">
                    <a:alpha val="100000"/>
                  </a:srgbClr>
                </a:solidFill>
                <a:latin typeface="+mn-lt"/>
                <a:ea typeface="+mn-lt"/>
                <a:cs typeface="+mn-lt"/>
                <a:sym typeface="+mn-ea"/>
              </a:rPr>
              <a:t>级</a:t>
            </a:r>
            <a:r>
              <a:rPr lang="zh-CN" altLang="zh-HK" kern="1200" noProof="0" smtClean="0">
                <a:solidFill>
                  <a:srgbClr val="000000">
                    <a:alpha val="100000"/>
                  </a:srgbClr>
                </a:solidFill>
                <a:latin typeface="+mn-lt"/>
                <a:ea typeface="+mn-lt"/>
                <a:cs typeface="+mn-lt"/>
                <a:sym typeface="+mn-ea"/>
              </a:rPr>
              <a:t>运营</a:t>
            </a:r>
            <a:r>
              <a:rPr lang="zh-CN" altLang="zh-HK" kern="1200" noProof="0" smtClean="0">
                <a:solidFill>
                  <a:srgbClr val="000000">
                    <a:alpha val="100000"/>
                  </a:srgbClr>
                </a:solidFill>
                <a:latin typeface="+mn-lt"/>
                <a:ea typeface="+mn-lt"/>
                <a:cs typeface="+mn-lt"/>
                <a:sym typeface="+mn-ea"/>
              </a:rPr>
              <a:t>节点</a:t>
            </a:r>
            <a:r>
              <a:rPr lang="zh-CN" altLang="zh-HK" kern="1200" noProof="0" smtClean="0">
                <a:solidFill>
                  <a:srgbClr val="000000">
                    <a:alpha val="100000"/>
                  </a:srgbClr>
                </a:solidFill>
                <a:latin typeface="+mn-lt"/>
                <a:ea typeface="+mn-lt"/>
                <a:cs typeface="+mn-lt"/>
                <a:sym typeface="+mn-ea"/>
              </a:rPr>
              <a:t>提供统一的运营数据</a:t>
            </a:r>
            <a:r>
              <a:rPr lang="zh-CN" altLang="zh-HK" kern="1200" noProof="0" smtClean="0">
                <a:solidFill>
                  <a:srgbClr val="000000">
                    <a:alpha val="100000"/>
                  </a:srgbClr>
                </a:solidFill>
                <a:latin typeface="+mn-lt"/>
                <a:ea typeface="+mn-lt"/>
                <a:cs typeface="+mn-lt"/>
                <a:sym typeface="+mn-ea"/>
              </a:rPr>
              <a:t>&amp;</a:t>
            </a:r>
            <a:r>
              <a:rPr lang="zh-CN" altLang="zh-HK" kern="1200" noProof="0" smtClean="0">
                <a:solidFill>
                  <a:srgbClr val="000000">
                    <a:alpha val="100000"/>
                  </a:srgbClr>
                </a:solidFill>
                <a:latin typeface="+mn-lt"/>
                <a:ea typeface="+mn-lt"/>
                <a:cs typeface="+mn-lt"/>
                <a:sym typeface="+mn-ea"/>
              </a:rPr>
              <a:t>口径，确保全局数据联动、口径一致、流程贯通。</a:t>
            </a:r>
            <a:endParaRPr lang="zh-CN" altLang="zh-HK" kern="1200" noProof="0" smtClean="0">
              <a:solidFill>
                <a:srgbClr val="000000">
                  <a:alpha val="100000"/>
                </a:srgbClr>
              </a:solidFill>
              <a:latin typeface="+mn-lt"/>
              <a:ea typeface="+mn-lt"/>
              <a:cs typeface="+mn-lt"/>
              <a:sym typeface="+mn-ea"/>
            </a:endParaRPr>
          </a:p>
        </p:txBody>
      </p:sp>
      <p:sp>
        <p:nvSpPr>
          <p:cNvPr id="77" name="矩形 168"/>
          <p:cNvSpPr>
            <a:spLocks noChangeArrowheads="1"/>
          </p:cNvSpPr>
          <p:nvPr>
            <p:custDataLst>
              <p:tags r:id="rId1"/>
            </p:custDataLst>
          </p:nvPr>
        </p:nvSpPr>
        <p:spPr bwMode="auto">
          <a:xfrm>
            <a:off x="789305" y="3673475"/>
            <a:ext cx="3009900" cy="742315"/>
          </a:xfrm>
          <a:prstGeom prst="rect">
            <a:avLst/>
          </a:prstGeom>
          <a:solidFill>
            <a:schemeClr val="accent1">
              <a:lumMod val="20000"/>
              <a:lumOff val="80000"/>
              <a:alpha val="44000"/>
            </a:schemeClr>
          </a:solidFill>
          <a:ln w="12700" cap="flat" cmpd="sng" algn="ctr">
            <a:noFill/>
            <a:prstDash val="dash"/>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endParaRPr lang="zh-CN" altLang="en-US" sz="1000" kern="0" dirty="0">
              <a:latin typeface="微软雅黑" panose="020B0503020204020204" charset="-122"/>
              <a:ea typeface="微软雅黑" panose="020B0503020204020204" charset="-122"/>
              <a:sym typeface="+mn-ea"/>
            </a:endParaRPr>
          </a:p>
        </p:txBody>
      </p:sp>
      <p:sp>
        <p:nvSpPr>
          <p:cNvPr id="70" name="矩形 168"/>
          <p:cNvSpPr>
            <a:spLocks noChangeArrowheads="1"/>
          </p:cNvSpPr>
          <p:nvPr>
            <p:custDataLst>
              <p:tags r:id="rId2"/>
            </p:custDataLst>
          </p:nvPr>
        </p:nvSpPr>
        <p:spPr bwMode="auto">
          <a:xfrm>
            <a:off x="4495800" y="2007870"/>
            <a:ext cx="1651000" cy="1170305"/>
          </a:xfrm>
          <a:prstGeom prst="rect">
            <a:avLst/>
          </a:prstGeom>
          <a:noFill/>
          <a:ln w="12700" cap="flat" cmpd="sng" algn="ctr">
            <a:solidFill>
              <a:schemeClr val="bg1">
                <a:lumMod val="65000"/>
              </a:schemeClr>
            </a:solidFill>
            <a:prstDash val="dash"/>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endParaRPr lang="zh-CN" altLang="en-US" sz="1000" kern="0" dirty="0">
              <a:latin typeface="微软雅黑" panose="020B0503020204020204" charset="-122"/>
              <a:ea typeface="微软雅黑" panose="020B0503020204020204" charset="-122"/>
              <a:sym typeface="+mn-ea"/>
            </a:endParaRPr>
          </a:p>
        </p:txBody>
      </p:sp>
      <p:sp>
        <p:nvSpPr>
          <p:cNvPr id="33" name="文本框 32"/>
          <p:cNvSpPr txBox="1"/>
          <p:nvPr/>
        </p:nvSpPr>
        <p:spPr>
          <a:xfrm>
            <a:off x="1610995" y="3419475"/>
            <a:ext cx="1468120" cy="300990"/>
          </a:xfrm>
          <a:prstGeom prst="rect">
            <a:avLst/>
          </a:prstGeom>
          <a:noFill/>
        </p:spPr>
        <p:txBody>
          <a:bodyPr wrap="square" rtlCol="0" anchor="ctr" anchorCtr="0">
            <a:noAutofit/>
          </a:bodyPr>
          <a:lstStyle/>
          <a:p>
            <a:pPr algn="ctr"/>
            <a:r>
              <a:rPr lang="zh-CN" altLang="en-US" sz="1200" b="1">
                <a:solidFill>
                  <a:srgbClr val="0070BF"/>
                </a:solidFill>
                <a:latin typeface="微软雅黑" panose="020B0503020204020204" charset="-122"/>
                <a:ea typeface="微软雅黑" panose="020B0503020204020204" charset="-122"/>
              </a:rPr>
              <a:t>大数据平台</a:t>
            </a:r>
            <a:endParaRPr lang="zh-CN" altLang="en-US" sz="1200" b="1">
              <a:solidFill>
                <a:srgbClr val="0070BF"/>
              </a:solidFill>
              <a:latin typeface="微软雅黑" panose="020B0503020204020204" charset="-122"/>
              <a:ea typeface="微软雅黑" panose="020B0503020204020204" charset="-122"/>
            </a:endParaRPr>
          </a:p>
        </p:txBody>
      </p:sp>
      <p:sp>
        <p:nvSpPr>
          <p:cNvPr id="34" name="矩形 33"/>
          <p:cNvSpPr/>
          <p:nvPr/>
        </p:nvSpPr>
        <p:spPr>
          <a:xfrm>
            <a:off x="692150" y="3449955"/>
            <a:ext cx="3212465" cy="192913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38" name="直接箭头连接符 37"/>
          <p:cNvCxnSpPr>
            <a:endCxn id="48" idx="2"/>
          </p:cNvCxnSpPr>
          <p:nvPr/>
        </p:nvCxnSpPr>
        <p:spPr>
          <a:xfrm flipV="1">
            <a:off x="3250565" y="5133340"/>
            <a:ext cx="1270" cy="476885"/>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684530" y="5349240"/>
            <a:ext cx="715645" cy="300990"/>
          </a:xfrm>
          <a:prstGeom prst="rect">
            <a:avLst/>
          </a:prstGeom>
          <a:noFill/>
        </p:spPr>
        <p:txBody>
          <a:bodyPr wrap="square" rtlCol="0" anchor="ctr" anchorCtr="0">
            <a:noAutofit/>
          </a:bodyPr>
          <a:lstStyle/>
          <a:p>
            <a:pPr algn="ctr"/>
            <a:r>
              <a:rPr lang="zh-CN" altLang="en-US" sz="900">
                <a:solidFill>
                  <a:schemeClr val="tx1"/>
                </a:solidFill>
                <a:latin typeface="微软雅黑" panose="020B0503020204020204" charset="-122"/>
                <a:ea typeface="微软雅黑" panose="020B0503020204020204" charset="-122"/>
              </a:rPr>
              <a:t>数据直采</a:t>
            </a:r>
            <a:endParaRPr lang="zh-CN" altLang="en-US" sz="900">
              <a:solidFill>
                <a:schemeClr val="tx1"/>
              </a:solidFill>
              <a:latin typeface="微软雅黑" panose="020B0503020204020204" charset="-122"/>
              <a:ea typeface="微软雅黑" panose="020B0503020204020204" charset="-122"/>
            </a:endParaRPr>
          </a:p>
        </p:txBody>
      </p:sp>
      <p:sp>
        <p:nvSpPr>
          <p:cNvPr id="41" name="文本框 40"/>
          <p:cNvSpPr txBox="1"/>
          <p:nvPr/>
        </p:nvSpPr>
        <p:spPr>
          <a:xfrm>
            <a:off x="3250565" y="5326380"/>
            <a:ext cx="732790" cy="300990"/>
          </a:xfrm>
          <a:prstGeom prst="rect">
            <a:avLst/>
          </a:prstGeom>
          <a:noFill/>
        </p:spPr>
        <p:txBody>
          <a:bodyPr wrap="square" rtlCol="0" anchor="ctr" anchorCtr="0">
            <a:noAutofit/>
          </a:bodyPr>
          <a:lstStyle/>
          <a:p>
            <a:pPr algn="ctr"/>
            <a:r>
              <a:rPr lang="zh-CN" altLang="en-US" sz="900">
                <a:solidFill>
                  <a:schemeClr val="tx1"/>
                </a:solidFill>
                <a:latin typeface="微软雅黑" panose="020B0503020204020204" charset="-122"/>
                <a:ea typeface="微软雅黑" panose="020B0503020204020204" charset="-122"/>
              </a:rPr>
              <a:t>数据汇聚</a:t>
            </a:r>
            <a:endParaRPr lang="zh-CN" altLang="en-US" sz="900">
              <a:solidFill>
                <a:schemeClr val="tx1"/>
              </a:solidFill>
              <a:latin typeface="微软雅黑" panose="020B0503020204020204" charset="-122"/>
              <a:ea typeface="微软雅黑" panose="020B0503020204020204" charset="-122"/>
            </a:endParaRPr>
          </a:p>
        </p:txBody>
      </p:sp>
      <p:sp>
        <p:nvSpPr>
          <p:cNvPr id="42" name="矩形 168"/>
          <p:cNvSpPr>
            <a:spLocks noChangeArrowheads="1"/>
          </p:cNvSpPr>
          <p:nvPr>
            <p:custDataLst>
              <p:tags r:id="rId3"/>
            </p:custDataLst>
          </p:nvPr>
        </p:nvSpPr>
        <p:spPr bwMode="auto">
          <a:xfrm>
            <a:off x="2760345" y="3853180"/>
            <a:ext cx="982345" cy="47498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一经标准指标库</a:t>
            </a:r>
            <a:endParaRPr lang="zh-CN" altLang="en-US" sz="1000" kern="0" dirty="0">
              <a:latin typeface="微软雅黑" panose="020B0503020204020204" charset="-122"/>
              <a:ea typeface="微软雅黑" panose="020B0503020204020204" charset="-122"/>
              <a:sym typeface="+mn-ea"/>
            </a:endParaRPr>
          </a:p>
        </p:txBody>
      </p:sp>
      <p:sp>
        <p:nvSpPr>
          <p:cNvPr id="43" name="矩形 168"/>
          <p:cNvSpPr>
            <a:spLocks noChangeArrowheads="1"/>
          </p:cNvSpPr>
          <p:nvPr>
            <p:custDataLst>
              <p:tags r:id="rId4"/>
            </p:custDataLst>
          </p:nvPr>
        </p:nvSpPr>
        <p:spPr bwMode="auto">
          <a:xfrm>
            <a:off x="789305" y="6074410"/>
            <a:ext cx="975995" cy="32385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一级系统数据</a:t>
            </a:r>
            <a:endParaRPr lang="zh-CN" altLang="en-US" sz="1000" kern="0" dirty="0">
              <a:latin typeface="微软雅黑" panose="020B0503020204020204" charset="-122"/>
              <a:ea typeface="微软雅黑" panose="020B0503020204020204" charset="-122"/>
              <a:sym typeface="+mn-ea"/>
            </a:endParaRPr>
          </a:p>
        </p:txBody>
      </p:sp>
      <p:sp>
        <p:nvSpPr>
          <p:cNvPr id="44" name="矩形 168"/>
          <p:cNvSpPr>
            <a:spLocks noChangeArrowheads="1"/>
          </p:cNvSpPr>
          <p:nvPr>
            <p:custDataLst>
              <p:tags r:id="rId5"/>
            </p:custDataLst>
          </p:nvPr>
        </p:nvSpPr>
        <p:spPr bwMode="auto">
          <a:xfrm>
            <a:off x="2821940" y="6074410"/>
            <a:ext cx="975995" cy="32385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专业公司数据</a:t>
            </a:r>
            <a:endParaRPr lang="zh-CN" altLang="en-US" sz="1000" kern="0" dirty="0">
              <a:latin typeface="微软雅黑" panose="020B0503020204020204" charset="-122"/>
              <a:ea typeface="微软雅黑" panose="020B0503020204020204" charset="-122"/>
              <a:sym typeface="+mn-ea"/>
            </a:endParaRPr>
          </a:p>
        </p:txBody>
      </p:sp>
      <p:sp>
        <p:nvSpPr>
          <p:cNvPr id="45" name="矩形 168"/>
          <p:cNvSpPr>
            <a:spLocks noChangeArrowheads="1"/>
          </p:cNvSpPr>
          <p:nvPr>
            <p:custDataLst>
              <p:tags r:id="rId6"/>
            </p:custDataLst>
          </p:nvPr>
        </p:nvSpPr>
        <p:spPr bwMode="auto">
          <a:xfrm>
            <a:off x="4855210" y="6074410"/>
            <a:ext cx="975995" cy="32385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省公司数据</a:t>
            </a:r>
            <a:endParaRPr lang="zh-CN" altLang="en-US" sz="1000" kern="0" dirty="0">
              <a:latin typeface="微软雅黑" panose="020B0503020204020204" charset="-122"/>
              <a:ea typeface="微软雅黑" panose="020B0503020204020204" charset="-122"/>
              <a:sym typeface="+mn-ea"/>
            </a:endParaRPr>
          </a:p>
        </p:txBody>
      </p:sp>
      <p:sp>
        <p:nvSpPr>
          <p:cNvPr id="47" name="文本框 46"/>
          <p:cNvSpPr txBox="1"/>
          <p:nvPr/>
        </p:nvSpPr>
        <p:spPr>
          <a:xfrm>
            <a:off x="2854325" y="5665470"/>
            <a:ext cx="1123315" cy="300990"/>
          </a:xfrm>
          <a:prstGeom prst="rect">
            <a:avLst/>
          </a:prstGeom>
          <a:noFill/>
        </p:spPr>
        <p:txBody>
          <a:bodyPr wrap="square" rtlCol="0" anchor="ctr" anchorCtr="0">
            <a:noAutofit/>
          </a:bodyPr>
          <a:lstStyle/>
          <a:p>
            <a:pPr algn="ctr"/>
            <a:r>
              <a:rPr lang="zh-CN" altLang="en-US" sz="1200" b="1">
                <a:solidFill>
                  <a:srgbClr val="0070BF"/>
                </a:solidFill>
                <a:latin typeface="微软雅黑" panose="020B0503020204020204" charset="-122"/>
                <a:ea typeface="微软雅黑" panose="020B0503020204020204" charset="-122"/>
              </a:rPr>
              <a:t>各级生产系统</a:t>
            </a:r>
            <a:endParaRPr lang="zh-CN" altLang="en-US" sz="1200" b="1">
              <a:solidFill>
                <a:srgbClr val="0070BF"/>
              </a:solidFill>
              <a:latin typeface="微软雅黑" panose="020B0503020204020204" charset="-122"/>
              <a:ea typeface="微软雅黑" panose="020B0503020204020204" charset="-122"/>
            </a:endParaRPr>
          </a:p>
        </p:txBody>
      </p:sp>
      <p:sp>
        <p:nvSpPr>
          <p:cNvPr id="48" name="矩形 168"/>
          <p:cNvSpPr>
            <a:spLocks noChangeArrowheads="1"/>
          </p:cNvSpPr>
          <p:nvPr>
            <p:custDataLst>
              <p:tags r:id="rId7"/>
            </p:custDataLst>
          </p:nvPr>
        </p:nvSpPr>
        <p:spPr bwMode="auto">
          <a:xfrm>
            <a:off x="2760345" y="4658360"/>
            <a:ext cx="982345" cy="47498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一经标准指标</a:t>
            </a:r>
            <a:endParaRPr lang="zh-CN" altLang="en-US" sz="1000" kern="0" dirty="0">
              <a:latin typeface="微软雅黑" panose="020B0503020204020204" charset="-122"/>
              <a:ea typeface="微软雅黑" panose="020B0503020204020204" charset="-122"/>
              <a:sym typeface="+mn-ea"/>
            </a:endParaRPr>
          </a:p>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体系化处理</a:t>
            </a:r>
            <a:endParaRPr lang="zh-CN" altLang="en-US" sz="1000" kern="0" dirty="0">
              <a:latin typeface="微软雅黑" panose="020B0503020204020204" charset="-122"/>
              <a:ea typeface="微软雅黑" panose="020B0503020204020204" charset="-122"/>
              <a:sym typeface="+mn-ea"/>
            </a:endParaRPr>
          </a:p>
        </p:txBody>
      </p:sp>
      <p:cxnSp>
        <p:nvCxnSpPr>
          <p:cNvPr id="49" name="直接箭头连接符 48"/>
          <p:cNvCxnSpPr/>
          <p:nvPr/>
        </p:nvCxnSpPr>
        <p:spPr>
          <a:xfrm flipH="1" flipV="1">
            <a:off x="1481455" y="5133340"/>
            <a:ext cx="635" cy="528955"/>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sp>
        <p:nvSpPr>
          <p:cNvPr id="50" name="矩形 168"/>
          <p:cNvSpPr>
            <a:spLocks noChangeArrowheads="1"/>
          </p:cNvSpPr>
          <p:nvPr>
            <p:custDataLst>
              <p:tags r:id="rId8"/>
            </p:custDataLst>
          </p:nvPr>
        </p:nvSpPr>
        <p:spPr bwMode="auto">
          <a:xfrm>
            <a:off x="989965" y="4658360"/>
            <a:ext cx="982345" cy="47498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一级市场运营</a:t>
            </a:r>
            <a:endParaRPr lang="zh-CN" altLang="en-US" sz="1000" kern="0" dirty="0">
              <a:latin typeface="微软雅黑" panose="020B0503020204020204" charset="-122"/>
              <a:ea typeface="微软雅黑" panose="020B0503020204020204" charset="-122"/>
              <a:sym typeface="+mn-ea"/>
            </a:endParaRPr>
          </a:p>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定制处理</a:t>
            </a:r>
            <a:endParaRPr lang="zh-CN" altLang="en-US" sz="1000" kern="0" dirty="0">
              <a:latin typeface="微软雅黑" panose="020B0503020204020204" charset="-122"/>
              <a:ea typeface="微软雅黑" panose="020B0503020204020204" charset="-122"/>
              <a:sym typeface="+mn-ea"/>
            </a:endParaRPr>
          </a:p>
        </p:txBody>
      </p:sp>
      <p:cxnSp>
        <p:nvCxnSpPr>
          <p:cNvPr id="51" name="直接箭头连接符 50"/>
          <p:cNvCxnSpPr>
            <a:stCxn id="48" idx="0"/>
            <a:endCxn id="42" idx="2"/>
          </p:cNvCxnSpPr>
          <p:nvPr/>
        </p:nvCxnSpPr>
        <p:spPr>
          <a:xfrm flipV="1">
            <a:off x="3251835" y="4328160"/>
            <a:ext cx="0" cy="33020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sp>
        <p:nvSpPr>
          <p:cNvPr id="52" name="矩形 168"/>
          <p:cNvSpPr>
            <a:spLocks noChangeArrowheads="1"/>
          </p:cNvSpPr>
          <p:nvPr>
            <p:custDataLst>
              <p:tags r:id="rId9"/>
            </p:custDataLst>
          </p:nvPr>
        </p:nvSpPr>
        <p:spPr bwMode="auto">
          <a:xfrm>
            <a:off x="989965" y="3853180"/>
            <a:ext cx="982345" cy="474980"/>
          </a:xfrm>
          <a:prstGeom prst="rect">
            <a:avLst/>
          </a:prstGeom>
          <a:solidFill>
            <a:srgbClr val="DEEBFE"/>
          </a:solidFill>
          <a:ln w="3175" cap="flat" cmpd="sng" algn="ctr">
            <a:solidFill>
              <a:srgbClr val="000000">
                <a:alpha val="0"/>
              </a:srgbClr>
            </a:solidFill>
            <a:prstDash val="solid"/>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latin typeface="微软雅黑" panose="020B0503020204020204" charset="-122"/>
                <a:ea typeface="微软雅黑" panose="020B0503020204020204" charset="-122"/>
                <a:sym typeface="+mn-ea"/>
              </a:rPr>
              <a:t>市场运营补充指标库</a:t>
            </a:r>
            <a:endParaRPr lang="zh-CN" altLang="en-US" sz="1000" kern="0" dirty="0">
              <a:latin typeface="微软雅黑" panose="020B0503020204020204" charset="-122"/>
              <a:ea typeface="微软雅黑" panose="020B0503020204020204" charset="-122"/>
              <a:sym typeface="+mn-ea"/>
            </a:endParaRPr>
          </a:p>
        </p:txBody>
      </p:sp>
      <p:cxnSp>
        <p:nvCxnSpPr>
          <p:cNvPr id="53" name="直接箭头连接符 52"/>
          <p:cNvCxnSpPr>
            <a:stCxn id="50" idx="0"/>
            <a:endCxn id="52" idx="2"/>
          </p:cNvCxnSpPr>
          <p:nvPr/>
        </p:nvCxnSpPr>
        <p:spPr>
          <a:xfrm flipV="1">
            <a:off x="1481455" y="4328160"/>
            <a:ext cx="0" cy="33020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sp>
        <p:nvSpPr>
          <p:cNvPr id="57" name="矩形 56"/>
          <p:cNvSpPr/>
          <p:nvPr/>
        </p:nvSpPr>
        <p:spPr>
          <a:xfrm>
            <a:off x="692150" y="2026285"/>
            <a:ext cx="3212465" cy="115252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8" name="文本框 57"/>
          <p:cNvSpPr txBox="1"/>
          <p:nvPr/>
        </p:nvSpPr>
        <p:spPr>
          <a:xfrm>
            <a:off x="1564005" y="2023745"/>
            <a:ext cx="1583055" cy="300990"/>
          </a:xfrm>
          <a:prstGeom prst="rect">
            <a:avLst/>
          </a:prstGeom>
          <a:noFill/>
        </p:spPr>
        <p:txBody>
          <a:bodyPr wrap="square" rtlCol="0" anchor="ctr" anchorCtr="0">
            <a:noAutofit/>
          </a:bodyPr>
          <a:lstStyle/>
          <a:p>
            <a:pPr algn="ctr"/>
            <a:r>
              <a:rPr kumimoji="1" lang="zh-CN" altLang="en-US" sz="1200" b="1">
                <a:solidFill>
                  <a:srgbClr val="0070BF"/>
                </a:solidFill>
                <a:sym typeface="+mn-ea"/>
              </a:rPr>
              <a:t>一级运营工作台</a:t>
            </a:r>
            <a:endParaRPr kumimoji="1" lang="zh-CN" altLang="en-US" sz="1200" b="1">
              <a:solidFill>
                <a:srgbClr val="0070BF"/>
              </a:solidFill>
              <a:latin typeface="微软雅黑" panose="020B0503020204020204" charset="-122"/>
              <a:ea typeface="微软雅黑" panose="020B0503020204020204" charset="-122"/>
              <a:sym typeface="+mn-ea"/>
            </a:endParaRPr>
          </a:p>
        </p:txBody>
      </p:sp>
      <p:sp>
        <p:nvSpPr>
          <p:cNvPr id="59" name="矩形 168"/>
          <p:cNvSpPr>
            <a:spLocks noChangeArrowheads="1"/>
          </p:cNvSpPr>
          <p:nvPr>
            <p:custDataLst>
              <p:tags r:id="rId10"/>
            </p:custDataLst>
          </p:nvPr>
        </p:nvSpPr>
        <p:spPr bwMode="auto">
          <a:xfrm>
            <a:off x="915670" y="2426970"/>
            <a:ext cx="1269365" cy="624205"/>
          </a:xfrm>
          <a:prstGeom prst="rect">
            <a:avLst/>
          </a:prstGeom>
          <a:solidFill>
            <a:srgbClr val="DEEBFE"/>
          </a:solidFill>
          <a:ln w="3175" cap="flat" cmpd="sng" algn="ctr">
            <a:solidFill>
              <a:srgbClr val="000000">
                <a:alpha val="0"/>
              </a:srgbClr>
            </a:solidFill>
            <a:prstDash val="dash"/>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solidFill>
                  <a:prstClr val="black"/>
                </a:solidFill>
                <a:latin typeface="微软雅黑" panose="020B0503020204020204" charset="-122"/>
                <a:ea typeface="微软雅黑" panose="020B0503020204020204" charset="-122"/>
                <a:sym typeface="+mn-ea"/>
              </a:rPr>
              <a:t>全客群、全产品、全渠道重点指标数据概览</a:t>
            </a:r>
            <a:endParaRPr lang="zh-CN" altLang="en-US" sz="1000" kern="0" dirty="0">
              <a:solidFill>
                <a:prstClr val="black"/>
              </a:solidFill>
              <a:latin typeface="微软雅黑" panose="020B0503020204020204" charset="-122"/>
              <a:ea typeface="微软雅黑" panose="020B0503020204020204" charset="-122"/>
              <a:sym typeface="+mn-ea"/>
            </a:endParaRPr>
          </a:p>
        </p:txBody>
      </p:sp>
      <p:sp>
        <p:nvSpPr>
          <p:cNvPr id="60" name="矩形 59"/>
          <p:cNvSpPr/>
          <p:nvPr/>
        </p:nvSpPr>
        <p:spPr>
          <a:xfrm>
            <a:off x="4619625" y="2069465"/>
            <a:ext cx="1449705" cy="45974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ts val="0"/>
              </a:spcBef>
              <a:spcAft>
                <a:spcPts val="0"/>
              </a:spcAft>
              <a:buClrTx/>
              <a:buSzTx/>
              <a:buFontTx/>
              <a:defRPr/>
            </a:pPr>
            <a:r>
              <a:rPr lang="zh-CN" altLang="en-US" sz="1200" b="1" noProof="0">
                <a:ln>
                  <a:noFill/>
                </a:ln>
                <a:solidFill>
                  <a:srgbClr val="0070BF"/>
                </a:solidFill>
                <a:effectLst/>
                <a:uLnTx/>
                <a:uFillTx/>
                <a:latin typeface="微软雅黑" panose="020B0503020204020204" charset="-122"/>
                <a:ea typeface="微软雅黑" panose="020B0503020204020204" charset="-122"/>
                <a:sym typeface="+mn-ea"/>
              </a:rPr>
              <a:t>省级市场运营</a:t>
            </a:r>
            <a:r>
              <a:rPr lang="zh-CN" altLang="en-US" sz="1200" b="1" noProof="0">
                <a:ln>
                  <a:noFill/>
                </a:ln>
                <a:solidFill>
                  <a:srgbClr val="0070BF"/>
                </a:solidFill>
                <a:effectLst/>
                <a:uLnTx/>
                <a:uFillTx/>
                <a:latin typeface="微软雅黑" panose="020B0503020204020204" charset="-122"/>
                <a:ea typeface="微软雅黑" panose="020B0503020204020204" charset="-122"/>
                <a:sym typeface="+mn-ea"/>
              </a:rPr>
              <a:t>节点</a:t>
            </a:r>
            <a:endParaRPr lang="zh-CN" altLang="en-US" sz="1200" b="1" noProof="0">
              <a:ln>
                <a:noFill/>
              </a:ln>
              <a:solidFill>
                <a:srgbClr val="0070BF"/>
              </a:solidFill>
              <a:effectLst/>
              <a:uLnTx/>
              <a:uFillTx/>
              <a:latin typeface="微软雅黑" panose="020B0503020204020204" charset="-122"/>
              <a:ea typeface="微软雅黑" panose="020B0503020204020204" charset="-122"/>
              <a:sym typeface="+mn-ea"/>
            </a:endParaRPr>
          </a:p>
        </p:txBody>
      </p:sp>
      <p:sp>
        <p:nvSpPr>
          <p:cNvPr id="62" name="矩形 61"/>
          <p:cNvSpPr/>
          <p:nvPr/>
        </p:nvSpPr>
        <p:spPr>
          <a:xfrm>
            <a:off x="4619625" y="2668905"/>
            <a:ext cx="1449705" cy="45974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ts val="0"/>
              </a:spcBef>
              <a:spcAft>
                <a:spcPts val="0"/>
              </a:spcAft>
              <a:buClrTx/>
              <a:buSzTx/>
              <a:buFontTx/>
              <a:defRPr/>
            </a:pPr>
            <a:r>
              <a:rPr lang="zh-CN" altLang="en-US" sz="1200" b="1" noProof="0">
                <a:ln>
                  <a:noFill/>
                </a:ln>
                <a:solidFill>
                  <a:srgbClr val="0070BF"/>
                </a:solidFill>
                <a:effectLst/>
                <a:uLnTx/>
                <a:uFillTx/>
                <a:latin typeface="微软雅黑" panose="020B0503020204020204" charset="-122"/>
                <a:ea typeface="微软雅黑" panose="020B0503020204020204" charset="-122"/>
                <a:sym typeface="+mn-ea"/>
              </a:rPr>
              <a:t>专业公司运营平台</a:t>
            </a:r>
            <a:endParaRPr lang="zh-CN" altLang="en-US" sz="1200" b="1" noProof="0">
              <a:ln>
                <a:noFill/>
              </a:ln>
              <a:solidFill>
                <a:srgbClr val="0070BF"/>
              </a:solidFill>
              <a:effectLst/>
              <a:uLnTx/>
              <a:uFillTx/>
              <a:latin typeface="微软雅黑" panose="020B0503020204020204" charset="-122"/>
              <a:ea typeface="微软雅黑" panose="020B0503020204020204" charset="-122"/>
              <a:sym typeface="+mn-ea"/>
            </a:endParaRPr>
          </a:p>
        </p:txBody>
      </p:sp>
      <p:cxnSp>
        <p:nvCxnSpPr>
          <p:cNvPr id="63" name="直接箭头连接符 62"/>
          <p:cNvCxnSpPr/>
          <p:nvPr/>
        </p:nvCxnSpPr>
        <p:spPr>
          <a:xfrm>
            <a:off x="3950970" y="2829560"/>
            <a:ext cx="4546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4" name="直接箭头连接符 63"/>
          <p:cNvCxnSpPr/>
          <p:nvPr/>
        </p:nvCxnSpPr>
        <p:spPr>
          <a:xfrm>
            <a:off x="3950970" y="2324735"/>
            <a:ext cx="4546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5" name="直接箭头连接符 64"/>
          <p:cNvCxnSpPr/>
          <p:nvPr/>
        </p:nvCxnSpPr>
        <p:spPr>
          <a:xfrm flipH="1" flipV="1">
            <a:off x="5442585" y="3225800"/>
            <a:ext cx="4445" cy="2413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9" name="文本框 68"/>
          <p:cNvSpPr txBox="1"/>
          <p:nvPr/>
        </p:nvSpPr>
        <p:spPr>
          <a:xfrm>
            <a:off x="3983355" y="2426970"/>
            <a:ext cx="636270" cy="300990"/>
          </a:xfrm>
          <a:prstGeom prst="rect">
            <a:avLst/>
          </a:prstGeom>
          <a:noFill/>
        </p:spPr>
        <p:txBody>
          <a:bodyPr wrap="square" rtlCol="0" anchor="ctr" anchorCtr="0">
            <a:noAutofit/>
          </a:bodyPr>
          <a:lstStyle/>
          <a:p>
            <a:pPr algn="ctr"/>
            <a:endParaRPr lang="zh-CN" altLang="en-US" sz="900">
              <a:solidFill>
                <a:schemeClr val="tx1"/>
              </a:solidFill>
              <a:latin typeface="微软雅黑" panose="020B0503020204020204" charset="-122"/>
              <a:ea typeface="微软雅黑" panose="020B0503020204020204" charset="-122"/>
            </a:endParaRPr>
          </a:p>
        </p:txBody>
      </p:sp>
      <p:cxnSp>
        <p:nvCxnSpPr>
          <p:cNvPr id="72" name="肘形连接符 71"/>
          <p:cNvCxnSpPr>
            <a:stCxn id="34" idx="3"/>
          </p:cNvCxnSpPr>
          <p:nvPr/>
        </p:nvCxnSpPr>
        <p:spPr>
          <a:xfrm flipV="1">
            <a:off x="3904615" y="3194685"/>
            <a:ext cx="1031240" cy="121983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74" name="文本框 73"/>
          <p:cNvSpPr txBox="1"/>
          <p:nvPr/>
        </p:nvSpPr>
        <p:spPr>
          <a:xfrm>
            <a:off x="5464810" y="4574540"/>
            <a:ext cx="907415" cy="462915"/>
          </a:xfrm>
          <a:prstGeom prst="rect">
            <a:avLst/>
          </a:prstGeom>
          <a:noFill/>
        </p:spPr>
        <p:txBody>
          <a:bodyPr wrap="square" rtlCol="0" anchor="ctr" anchorCtr="0">
            <a:noAutofit/>
          </a:bodyPr>
          <a:lstStyle/>
          <a:p>
            <a:pPr algn="ctr"/>
            <a:r>
              <a:rPr lang="zh-CN" altLang="en-US" sz="900">
                <a:solidFill>
                  <a:schemeClr val="tx1"/>
                </a:solidFill>
                <a:latin typeface="微软雅黑" panose="020B0503020204020204" charset="-122"/>
                <a:ea typeface="微软雅黑" panose="020B0503020204020204" charset="-122"/>
              </a:rPr>
              <a:t>省专运营</a:t>
            </a:r>
            <a:endParaRPr lang="zh-CN" altLang="en-US" sz="900">
              <a:solidFill>
                <a:schemeClr val="tx1"/>
              </a:solidFill>
              <a:latin typeface="微软雅黑" panose="020B0503020204020204" charset="-122"/>
              <a:ea typeface="微软雅黑" panose="020B0503020204020204" charset="-122"/>
            </a:endParaRPr>
          </a:p>
          <a:p>
            <a:pPr algn="ctr"/>
            <a:r>
              <a:rPr lang="zh-CN" altLang="en-US" sz="900">
                <a:solidFill>
                  <a:schemeClr val="tx1"/>
                </a:solidFill>
                <a:latin typeface="微软雅黑" panose="020B0503020204020204" charset="-122"/>
                <a:ea typeface="微软雅黑" panose="020B0503020204020204" charset="-122"/>
              </a:rPr>
              <a:t>属地化指标</a:t>
            </a:r>
            <a:endParaRPr lang="zh-CN" altLang="en-US" sz="900">
              <a:solidFill>
                <a:schemeClr val="tx1"/>
              </a:solidFill>
              <a:latin typeface="微软雅黑" panose="020B0503020204020204" charset="-122"/>
              <a:ea typeface="微软雅黑" panose="020B0503020204020204" charset="-122"/>
            </a:endParaRPr>
          </a:p>
        </p:txBody>
      </p:sp>
      <p:sp>
        <p:nvSpPr>
          <p:cNvPr id="75" name="文本框 74"/>
          <p:cNvSpPr txBox="1"/>
          <p:nvPr/>
        </p:nvSpPr>
        <p:spPr>
          <a:xfrm>
            <a:off x="4074160" y="4469765"/>
            <a:ext cx="833755" cy="300990"/>
          </a:xfrm>
          <a:prstGeom prst="rect">
            <a:avLst/>
          </a:prstGeom>
          <a:noFill/>
        </p:spPr>
        <p:txBody>
          <a:bodyPr wrap="square" rtlCol="0" anchor="ctr" anchorCtr="0">
            <a:noAutofit/>
          </a:bodyPr>
          <a:lstStyle/>
          <a:p>
            <a:pPr algn="ctr"/>
            <a:r>
              <a:rPr lang="zh-CN" altLang="en-US" sz="900">
                <a:solidFill>
                  <a:schemeClr val="tx1"/>
                </a:solidFill>
                <a:latin typeface="微软雅黑" panose="020B0503020204020204" charset="-122"/>
                <a:ea typeface="微软雅黑" panose="020B0503020204020204" charset="-122"/>
              </a:rPr>
              <a:t>全网统一运营指标</a:t>
            </a:r>
            <a:endParaRPr lang="zh-CN" altLang="en-US" sz="900">
              <a:solidFill>
                <a:schemeClr val="tx1"/>
              </a:solidFill>
              <a:latin typeface="微软雅黑" panose="020B0503020204020204" charset="-122"/>
              <a:ea typeface="微软雅黑" panose="020B0503020204020204" charset="-122"/>
            </a:endParaRPr>
          </a:p>
        </p:txBody>
      </p:sp>
      <p:sp>
        <p:nvSpPr>
          <p:cNvPr id="78" name="文本框 77"/>
          <p:cNvSpPr txBox="1"/>
          <p:nvPr/>
        </p:nvSpPr>
        <p:spPr>
          <a:xfrm>
            <a:off x="1663700" y="3580130"/>
            <a:ext cx="1415415" cy="300990"/>
          </a:xfrm>
          <a:prstGeom prst="rect">
            <a:avLst/>
          </a:prstGeom>
          <a:noFill/>
        </p:spPr>
        <p:txBody>
          <a:bodyPr wrap="square" rtlCol="0" anchor="ctr" anchorCtr="0">
            <a:noAutofit/>
          </a:bodyPr>
          <a:lstStyle/>
          <a:p>
            <a:pPr algn="ctr"/>
            <a:r>
              <a:rPr lang="zh-CN" altLang="en-US" sz="1200" b="1" i="1">
                <a:solidFill>
                  <a:srgbClr val="FF0000"/>
                </a:solidFill>
                <a:latin typeface="微软雅黑" panose="020B0503020204020204" charset="-122"/>
                <a:ea typeface="微软雅黑" panose="020B0503020204020204" charset="-122"/>
              </a:rPr>
              <a:t>全网统一运营指标</a:t>
            </a:r>
            <a:endParaRPr lang="zh-CN" altLang="en-US" sz="1200" b="1" i="1">
              <a:solidFill>
                <a:srgbClr val="FF0000"/>
              </a:solidFill>
              <a:latin typeface="微软雅黑" panose="020B0503020204020204" charset="-122"/>
              <a:ea typeface="微软雅黑" panose="020B0503020204020204" charset="-122"/>
            </a:endParaRPr>
          </a:p>
        </p:txBody>
      </p:sp>
      <p:cxnSp>
        <p:nvCxnSpPr>
          <p:cNvPr id="79" name="直接箭头连接符 78"/>
          <p:cNvCxnSpPr/>
          <p:nvPr/>
        </p:nvCxnSpPr>
        <p:spPr>
          <a:xfrm flipH="1" flipV="1">
            <a:off x="2298065" y="3051175"/>
            <a:ext cx="635" cy="528955"/>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sp>
        <p:nvSpPr>
          <p:cNvPr id="80" name="矩形 168"/>
          <p:cNvSpPr>
            <a:spLocks noChangeArrowheads="1"/>
          </p:cNvSpPr>
          <p:nvPr>
            <p:custDataLst>
              <p:tags r:id="rId11"/>
            </p:custDataLst>
          </p:nvPr>
        </p:nvSpPr>
        <p:spPr bwMode="auto">
          <a:xfrm>
            <a:off x="2458720" y="2426970"/>
            <a:ext cx="1283335" cy="624205"/>
          </a:xfrm>
          <a:prstGeom prst="rect">
            <a:avLst/>
          </a:prstGeom>
          <a:solidFill>
            <a:srgbClr val="DEEBFE"/>
          </a:solidFill>
          <a:ln w="3175" cap="flat" cmpd="sng" algn="ctr">
            <a:solidFill>
              <a:srgbClr val="000000">
                <a:alpha val="0"/>
              </a:srgbClr>
            </a:solidFill>
            <a:prstDash val="dash"/>
          </a:ln>
          <a:effectLst/>
        </p:spPr>
        <p:txBody>
          <a:bodyPr vert="horz" wrap="square" lIns="35997" tIns="0" rIns="35997" bIns="0" numCol="1" spcCol="0" rtlCol="0" fromWordArt="0" anchor="ctr" anchorCtr="0" forceAA="0" compatLnSpc="0">
            <a:noAutofit/>
          </a:bodyPr>
          <a:lstStyle/>
          <a:p>
            <a:pPr lvl="0" algn="ctr" defTabSz="962660" eaLnBrk="0" hangingPunct="0">
              <a:lnSpc>
                <a:spcPct val="120000"/>
              </a:lnSpc>
              <a:buClr>
                <a:srgbClr val="6699FF"/>
              </a:buClr>
              <a:buSzTx/>
              <a:buFontTx/>
            </a:pPr>
            <a:r>
              <a:rPr lang="zh-CN" altLang="en-US" sz="1000" kern="0" dirty="0">
                <a:solidFill>
                  <a:prstClr val="black"/>
                </a:solidFill>
                <a:latin typeface="微软雅黑" panose="020B0503020204020204" charset="-122"/>
                <a:ea typeface="微软雅黑" panose="020B0503020204020204" charset="-122"/>
                <a:sym typeface="+mn-ea"/>
              </a:rPr>
              <a:t>客户、产品、渠道智能运营调度</a:t>
            </a:r>
            <a:endParaRPr lang="zh-CN" altLang="en-US" sz="1000" kern="0" dirty="0">
              <a:solidFill>
                <a:prstClr val="black"/>
              </a:solidFill>
              <a:latin typeface="微软雅黑" panose="020B0503020204020204" charset="-122"/>
              <a:ea typeface="微软雅黑" panose="020B0503020204020204" charset="-122"/>
              <a:sym typeface="+mn-ea"/>
            </a:endParaRPr>
          </a:p>
        </p:txBody>
      </p:sp>
      <p:sp>
        <p:nvSpPr>
          <p:cNvPr id="8" name="文本框 7"/>
          <p:cNvSpPr txBox="1"/>
          <p:nvPr/>
        </p:nvSpPr>
        <p:spPr>
          <a:xfrm>
            <a:off x="1525905" y="4416425"/>
            <a:ext cx="1727835" cy="300990"/>
          </a:xfrm>
          <a:prstGeom prst="rect">
            <a:avLst/>
          </a:prstGeom>
          <a:noFill/>
        </p:spPr>
        <p:txBody>
          <a:bodyPr wrap="square" rtlCol="0" anchor="ctr" anchorCtr="0">
            <a:noAutofit/>
          </a:bodyPr>
          <a:p>
            <a:pPr algn="ctr"/>
            <a:r>
              <a:rPr lang="zh-CN" altLang="en-US" sz="900">
                <a:solidFill>
                  <a:schemeClr val="tx1"/>
                </a:solidFill>
                <a:latin typeface="微软雅黑" panose="020B0503020204020204" charset="-122"/>
                <a:ea typeface="微软雅黑" panose="020B0503020204020204" charset="-122"/>
              </a:rPr>
              <a:t>大数据平台统一下发指标口径</a:t>
            </a:r>
            <a:endParaRPr lang="zh-CN" altLang="en-US" sz="900">
              <a:solidFill>
                <a:schemeClr val="tx1"/>
              </a:solidFill>
              <a:latin typeface="微软雅黑" panose="020B0503020204020204" charset="-122"/>
              <a:ea typeface="微软雅黑" panose="020B0503020204020204" charset="-122"/>
            </a:endParaRPr>
          </a:p>
        </p:txBody>
      </p:sp>
      <p:sp>
        <p:nvSpPr>
          <p:cNvPr id="19" name="矩形 18"/>
          <p:cNvSpPr/>
          <p:nvPr/>
        </p:nvSpPr>
        <p:spPr>
          <a:xfrm>
            <a:off x="502920" y="1798320"/>
            <a:ext cx="5869305" cy="4841240"/>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 name="矩形 6"/>
          <p:cNvSpPr/>
          <p:nvPr/>
        </p:nvSpPr>
        <p:spPr>
          <a:xfrm>
            <a:off x="2184400" y="1659255"/>
            <a:ext cx="2223770" cy="30099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数据流转</a:t>
            </a:r>
            <a:r>
              <a:rPr lang="zh-CN" altLang="zh-HK" sz="1400"/>
              <a:t>流程</a:t>
            </a:r>
            <a:endParaRPr lang="zh-CN" altLang="zh-HK" sz="1400"/>
          </a:p>
        </p:txBody>
      </p:sp>
      <p:sp>
        <p:nvSpPr>
          <p:cNvPr id="9" name="矩形 8"/>
          <p:cNvSpPr/>
          <p:nvPr/>
        </p:nvSpPr>
        <p:spPr>
          <a:xfrm>
            <a:off x="6541770" y="1798320"/>
            <a:ext cx="5086350" cy="4841240"/>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 name="矩形 4"/>
          <p:cNvSpPr/>
          <p:nvPr/>
        </p:nvSpPr>
        <p:spPr>
          <a:xfrm>
            <a:off x="7973060" y="1656080"/>
            <a:ext cx="2223770" cy="30099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数据一致性</a:t>
            </a:r>
            <a:r>
              <a:rPr lang="zh-CN" altLang="zh-HK" sz="1400"/>
              <a:t>保障</a:t>
            </a:r>
            <a:endParaRPr lang="zh-CN" altLang="zh-HK" sz="1400"/>
          </a:p>
        </p:txBody>
      </p:sp>
      <p:sp>
        <p:nvSpPr>
          <p:cNvPr id="10" name="文字框 9"/>
          <p:cNvSpPr txBox="1"/>
          <p:nvPr/>
        </p:nvSpPr>
        <p:spPr>
          <a:xfrm>
            <a:off x="6675755" y="2069465"/>
            <a:ext cx="2005330" cy="306705"/>
          </a:xfrm>
          <a:prstGeom prst="rect">
            <a:avLst/>
          </a:prstGeom>
          <a:noFill/>
        </p:spPr>
        <p:txBody>
          <a:bodyPr wrap="square" rtlCol="0" anchor="t">
            <a:spAutoFit/>
          </a:bodyPr>
          <a:p>
            <a:pPr marL="171450" indent="-171450" algn="l">
              <a:buFont typeface="Wingdings" panose="05000000000000000000" charset="0"/>
              <a:buChar char=""/>
            </a:pPr>
            <a:r>
              <a:rPr lang="zh-CN" altLang="en-US" sz="1400" b="1" dirty="0">
                <a:solidFill>
                  <a:srgbClr val="0070BF"/>
                </a:solidFill>
                <a:latin typeface="微软雅黑" panose="020B0503020204020204" charset="-122"/>
                <a:ea typeface="微软雅黑" panose="020B0503020204020204" charset="-122"/>
                <a:sym typeface="+mn-ea"/>
              </a:rPr>
              <a:t>梳理运营数据图谱</a:t>
            </a:r>
            <a:endParaRPr kumimoji="1" lang="zh-CN" altLang="en-US" sz="1400" b="1" dirty="0" smtClean="0">
              <a:solidFill>
                <a:srgbClr val="0070BF"/>
              </a:solidFill>
              <a:latin typeface="微软雅黑" panose="020B0503020204020204" charset="-122"/>
              <a:ea typeface="微软雅黑" panose="020B0503020204020204" charset="-122"/>
              <a:sym typeface="+mn-ea"/>
            </a:endParaRPr>
          </a:p>
        </p:txBody>
      </p:sp>
      <p:sp>
        <p:nvSpPr>
          <p:cNvPr id="11" name="文字框 10"/>
          <p:cNvSpPr txBox="1"/>
          <p:nvPr/>
        </p:nvSpPr>
        <p:spPr>
          <a:xfrm>
            <a:off x="6776085" y="2364105"/>
            <a:ext cx="4719320" cy="645160"/>
          </a:xfrm>
          <a:prstGeom prst="rect">
            <a:avLst/>
          </a:prstGeom>
          <a:noFill/>
        </p:spPr>
        <p:txBody>
          <a:bodyPr wrap="square" rtlCol="0" anchor="t">
            <a:spAutoFit/>
          </a:bodyPr>
          <a:p>
            <a:pPr algn="l">
              <a:lnSpc>
                <a:spcPct val="150000"/>
              </a:lnSpc>
            </a:pPr>
            <a:r>
              <a:rPr lang="zh-CN" altLang="en-US" sz="1200" dirty="0">
                <a:solidFill>
                  <a:schemeClr val="tx1"/>
                </a:solidFill>
                <a:latin typeface="微软雅黑" panose="020B0503020204020204" charset="-122"/>
                <a:ea typeface="微软雅黑" panose="020B0503020204020204" charset="-122"/>
                <a:sym typeface="+mn-ea"/>
              </a:rPr>
              <a:t>可视化展示数据源、指标口径、建模分析口径及展示结果关联关系，确保运营工作台数据可溯源、口径变动可联动同步</a:t>
            </a:r>
            <a:r>
              <a:rPr lang="en-US" altLang="zh-CN" sz="1200" dirty="0">
                <a:solidFill>
                  <a:schemeClr val="tx1"/>
                </a:solidFill>
                <a:latin typeface="微软雅黑" panose="020B0503020204020204" charset="-122"/>
                <a:ea typeface="微软雅黑" panose="020B0503020204020204" charset="-122"/>
                <a:sym typeface="+mn-ea"/>
              </a:rPr>
              <a:t>。</a:t>
            </a:r>
            <a:endParaRPr kumimoji="1" lang="en-US" altLang="zh-CN" sz="1200" dirty="0" smtClean="0">
              <a:solidFill>
                <a:schemeClr val="tx1"/>
              </a:solidFill>
              <a:latin typeface="微软雅黑" panose="020B0503020204020204" charset="-122"/>
              <a:ea typeface="微软雅黑" panose="020B0503020204020204" charset="-122"/>
              <a:sym typeface="+mn-ea"/>
            </a:endParaRPr>
          </a:p>
        </p:txBody>
      </p:sp>
      <p:sp>
        <p:nvSpPr>
          <p:cNvPr id="12" name="文字框 11"/>
          <p:cNvSpPr txBox="1"/>
          <p:nvPr/>
        </p:nvSpPr>
        <p:spPr>
          <a:xfrm>
            <a:off x="6675755" y="3005455"/>
            <a:ext cx="4718685" cy="414020"/>
          </a:xfrm>
          <a:prstGeom prst="rect">
            <a:avLst/>
          </a:prstGeom>
          <a:noFill/>
        </p:spPr>
        <p:txBody>
          <a:bodyPr wrap="square" rtlCol="0" anchor="t">
            <a:spAutoFit/>
          </a:bodyPr>
          <a:p>
            <a:pPr marL="171450" indent="-171450">
              <a:lnSpc>
                <a:spcPct val="150000"/>
              </a:lnSpc>
              <a:buFont typeface="Wingdings" panose="05000000000000000000" charset="0"/>
              <a:buChar char="Ø"/>
            </a:pPr>
            <a:r>
              <a:rPr lang="zh-CN" altLang="en-US" sz="1400" b="1" dirty="0">
                <a:solidFill>
                  <a:srgbClr val="0070BF"/>
                </a:solidFill>
                <a:latin typeface="微软雅黑" panose="020B0503020204020204" charset="-122"/>
                <a:ea typeface="微软雅黑" panose="020B0503020204020204" charset="-122"/>
                <a:sym typeface="+mn-ea"/>
              </a:rPr>
              <a:t>三维一致性保障，实现数据一致</a:t>
            </a:r>
            <a:endParaRPr kumimoji="1" lang="zh-CN" altLang="en-US" sz="1400" b="1" dirty="0" smtClean="0">
              <a:solidFill>
                <a:srgbClr val="0070BF"/>
              </a:solidFill>
              <a:latin typeface="微软雅黑" panose="020B0503020204020204" charset="-122"/>
              <a:ea typeface="微软雅黑" panose="020B0503020204020204" charset="-122"/>
              <a:sym typeface="+mn-ea"/>
            </a:endParaRPr>
          </a:p>
        </p:txBody>
      </p:sp>
      <p:sp>
        <p:nvSpPr>
          <p:cNvPr id="13" name="矩形 12"/>
          <p:cNvSpPr/>
          <p:nvPr/>
        </p:nvSpPr>
        <p:spPr>
          <a:xfrm>
            <a:off x="6775450" y="3461385"/>
            <a:ext cx="4718685" cy="938530"/>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4" name="矩形 13"/>
          <p:cNvSpPr/>
          <p:nvPr/>
        </p:nvSpPr>
        <p:spPr>
          <a:xfrm>
            <a:off x="6776720" y="4523740"/>
            <a:ext cx="4718685" cy="938530"/>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5" name="矩形 14"/>
          <p:cNvSpPr/>
          <p:nvPr/>
        </p:nvSpPr>
        <p:spPr>
          <a:xfrm>
            <a:off x="6776720" y="5603875"/>
            <a:ext cx="4718685" cy="938530"/>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7" name="文字框 16"/>
          <p:cNvSpPr txBox="1"/>
          <p:nvPr/>
        </p:nvSpPr>
        <p:spPr>
          <a:xfrm>
            <a:off x="6776720" y="3485515"/>
            <a:ext cx="4717415" cy="259080"/>
          </a:xfrm>
          <a:prstGeom prst="rect">
            <a:avLst/>
          </a:prstGeom>
          <a:noFill/>
        </p:spPr>
        <p:txBody>
          <a:bodyPr wrap="square" rtlCol="0" anchor="t">
            <a:noAutofit/>
          </a:bodyPr>
          <a:p>
            <a:pPr algn="ctr"/>
            <a:r>
              <a:rPr lang="zh-CN" altLang="en-US" sz="1200" b="1" dirty="0">
                <a:solidFill>
                  <a:schemeClr val="tx1"/>
                </a:solidFill>
                <a:latin typeface="微软雅黑" panose="020B0503020204020204" charset="-122"/>
                <a:ea typeface="微软雅黑" panose="020B0503020204020204" charset="-122"/>
                <a:sym typeface="+mn-ea"/>
              </a:rPr>
              <a:t>数据口径一致</a:t>
            </a:r>
            <a:endParaRPr kumimoji="1" lang="zh-CN" altLang="en-US" sz="1200" b="1" dirty="0" smtClean="0">
              <a:solidFill>
                <a:schemeClr val="tx1"/>
              </a:solidFill>
              <a:latin typeface="微软雅黑" panose="020B0503020204020204" charset="-122"/>
              <a:ea typeface="微软雅黑" panose="020B0503020204020204" charset="-122"/>
              <a:sym typeface="+mn-ea"/>
            </a:endParaRPr>
          </a:p>
        </p:txBody>
      </p:sp>
      <p:sp>
        <p:nvSpPr>
          <p:cNvPr id="18" name="文字框 17"/>
          <p:cNvSpPr txBox="1"/>
          <p:nvPr/>
        </p:nvSpPr>
        <p:spPr>
          <a:xfrm>
            <a:off x="6858000" y="3720465"/>
            <a:ext cx="4637405" cy="645160"/>
          </a:xfrm>
          <a:prstGeom prst="rect">
            <a:avLst/>
          </a:prstGeom>
        </p:spPr>
        <p:txBody>
          <a:bodyPr wrap="square">
            <a:spAutoFit/>
          </a:bodyPr>
          <a:p>
            <a:pPr marL="0" indent="0">
              <a:lnSpc>
                <a:spcPct val="150000"/>
              </a:lnSpc>
            </a:pPr>
            <a:r>
              <a:rPr lang="zh-CN" altLang="en-US" sz="1200" b="0" i="0">
                <a:solidFill>
                  <a:srgbClr val="0F1115"/>
                </a:solidFill>
                <a:latin typeface="微软雅黑" panose="020B0503020204020204" charset="-122"/>
                <a:ea typeface="微软雅黑" panose="020B0503020204020204" charset="-122"/>
              </a:rPr>
              <a:t>通过明确集团与省份两级工作台的数据主次来源，并遵循统一数据口径规范，构建了上下协同、标准一致的数字化运营体系。</a:t>
            </a:r>
            <a:endParaRPr lang="zh-CN" altLang="en-US" sz="1200" b="0" i="0">
              <a:solidFill>
                <a:srgbClr val="0F1115"/>
              </a:solidFill>
              <a:latin typeface="微软雅黑" panose="020B0503020204020204" charset="-122"/>
              <a:ea typeface="微软雅黑" panose="020B0503020204020204" charset="-122"/>
            </a:endParaRPr>
          </a:p>
        </p:txBody>
      </p:sp>
      <p:sp>
        <p:nvSpPr>
          <p:cNvPr id="20" name="文字框 19"/>
          <p:cNvSpPr txBox="1"/>
          <p:nvPr/>
        </p:nvSpPr>
        <p:spPr>
          <a:xfrm>
            <a:off x="6776720" y="4535805"/>
            <a:ext cx="4717415" cy="259080"/>
          </a:xfrm>
          <a:prstGeom prst="rect">
            <a:avLst/>
          </a:prstGeom>
          <a:noFill/>
        </p:spPr>
        <p:txBody>
          <a:bodyPr wrap="square" rtlCol="0" anchor="t">
            <a:noAutofit/>
          </a:bodyPr>
          <a:p>
            <a:pPr algn="ctr"/>
            <a:r>
              <a:rPr lang="zh-CN" altLang="en-US" sz="1200" b="1" dirty="0">
                <a:solidFill>
                  <a:schemeClr val="tx1"/>
                </a:solidFill>
                <a:latin typeface="微软雅黑" panose="020B0503020204020204" charset="-122"/>
                <a:ea typeface="微软雅黑" panose="020B0503020204020204" charset="-122"/>
                <a:sym typeface="+mn-ea"/>
              </a:rPr>
              <a:t>指标、建模口径一致</a:t>
            </a:r>
            <a:endParaRPr kumimoji="1" lang="zh-CN" altLang="en-US" sz="1200" b="1" dirty="0" smtClean="0">
              <a:solidFill>
                <a:schemeClr val="tx1"/>
              </a:solidFill>
              <a:latin typeface="微软雅黑" panose="020B0503020204020204" charset="-122"/>
              <a:ea typeface="微软雅黑" panose="020B0503020204020204" charset="-122"/>
              <a:sym typeface="+mn-ea"/>
            </a:endParaRPr>
          </a:p>
        </p:txBody>
      </p:sp>
      <p:sp>
        <p:nvSpPr>
          <p:cNvPr id="21" name="文字框 20"/>
          <p:cNvSpPr txBox="1"/>
          <p:nvPr/>
        </p:nvSpPr>
        <p:spPr>
          <a:xfrm>
            <a:off x="6858000" y="4770755"/>
            <a:ext cx="4636770" cy="645160"/>
          </a:xfrm>
          <a:prstGeom prst="rect">
            <a:avLst/>
          </a:prstGeom>
        </p:spPr>
        <p:txBody>
          <a:bodyPr wrap="square">
            <a:spAutoFit/>
          </a:bodyPr>
          <a:p>
            <a:pPr marL="0" indent="0">
              <a:lnSpc>
                <a:spcPct val="150000"/>
              </a:lnSpc>
            </a:pP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构建全网统一运营指标库与规范口径，保障数据标准一致性</a:t>
            </a: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省专公司</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可使用属地化指标满足个性化需求</a:t>
            </a: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a:t>
            </a:r>
            <a:endParaRPr lang="en-US" altLang="zh-CN" sz="1200" b="0"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22" name="文字框 21"/>
          <p:cNvSpPr txBox="1"/>
          <p:nvPr/>
        </p:nvSpPr>
        <p:spPr>
          <a:xfrm>
            <a:off x="6777990" y="5622290"/>
            <a:ext cx="4717415" cy="259080"/>
          </a:xfrm>
          <a:prstGeom prst="rect">
            <a:avLst/>
          </a:prstGeom>
          <a:noFill/>
        </p:spPr>
        <p:txBody>
          <a:bodyPr wrap="square" rtlCol="0" anchor="t">
            <a:noAutofit/>
          </a:bodyPr>
          <a:p>
            <a:pPr algn="ctr"/>
            <a:r>
              <a:rPr lang="zh-CN" altLang="en-US" sz="1200" b="1" dirty="0">
                <a:solidFill>
                  <a:schemeClr val="tx1"/>
                </a:solidFill>
                <a:latin typeface="微软雅黑" panose="020B0503020204020204" charset="-122"/>
                <a:ea typeface="微软雅黑" panose="020B0503020204020204" charset="-122"/>
                <a:sym typeface="+mn-ea"/>
              </a:rPr>
              <a:t>展示</a:t>
            </a:r>
            <a:r>
              <a:rPr lang="zh-CN" altLang="en-US" sz="1200" b="1" dirty="0">
                <a:solidFill>
                  <a:schemeClr val="tx1"/>
                </a:solidFill>
                <a:latin typeface="微软雅黑" panose="020B0503020204020204" charset="-122"/>
                <a:ea typeface="微软雅黑" panose="020B0503020204020204" charset="-122"/>
                <a:sym typeface="+mn-ea"/>
              </a:rPr>
              <a:t>结果一致</a:t>
            </a:r>
            <a:endParaRPr kumimoji="1" lang="zh-CN" altLang="en-US" sz="1200" b="1" dirty="0" smtClean="0">
              <a:solidFill>
                <a:schemeClr val="tx1"/>
              </a:solidFill>
              <a:latin typeface="微软雅黑" panose="020B0503020204020204" charset="-122"/>
              <a:ea typeface="微软雅黑" panose="020B0503020204020204" charset="-122"/>
              <a:sym typeface="+mn-ea"/>
            </a:endParaRPr>
          </a:p>
        </p:txBody>
      </p:sp>
      <p:sp>
        <p:nvSpPr>
          <p:cNvPr id="23" name="文字框 22"/>
          <p:cNvSpPr txBox="1"/>
          <p:nvPr/>
        </p:nvSpPr>
        <p:spPr>
          <a:xfrm>
            <a:off x="6777990" y="5897245"/>
            <a:ext cx="4716145" cy="645160"/>
          </a:xfrm>
          <a:prstGeom prst="rect">
            <a:avLst/>
          </a:prstGeom>
          <a:noFill/>
        </p:spPr>
        <p:txBody>
          <a:bodyPr wrap="square" rtlCol="0" anchor="t">
            <a:spAutoFit/>
          </a:bodyPr>
          <a:p>
            <a:pPr algn="l">
              <a:lnSpc>
                <a:spcPct val="150000"/>
              </a:lnSpc>
            </a:pPr>
            <a:r>
              <a:rPr lang="zh-CN" altLang="en-US" sz="1200" dirty="0">
                <a:latin typeface="微软雅黑" panose="020B0503020204020204" charset="-122"/>
                <a:ea typeface="微软雅黑" panose="020B0503020204020204" charset="-122"/>
                <a:sym typeface="+mn-ea"/>
              </a:rPr>
              <a:t>一级、省专运营工作台基于全网统一运营指标完成运营数据呈现及场景调度功能，确保集省专各级运营工作台结果数据一致</a:t>
            </a:r>
            <a:r>
              <a:rPr lang="en-US" altLang="zh-CN" sz="1200" dirty="0">
                <a:latin typeface="微软雅黑" panose="020B0503020204020204" charset="-122"/>
                <a:ea typeface="微软雅黑" panose="020B0503020204020204" charset="-122"/>
                <a:sym typeface="+mn-ea"/>
              </a:rPr>
              <a:t>。</a:t>
            </a:r>
            <a:endParaRPr kumimoji="1" lang="en-US" altLang="zh-CN" sz="1200" dirty="0" smtClean="0">
              <a:latin typeface="微软雅黑" panose="020B0503020204020204" charset="-122"/>
              <a:ea typeface="微软雅黑" panose="020B0503020204020204" charset="-122"/>
              <a:sym typeface="+mn-ea"/>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基础能力</a:t>
            </a:r>
            <a:r>
              <a:rPr>
                <a:sym typeface="+mn-ea"/>
              </a:rPr>
              <a:t>2</a:t>
            </a:r>
            <a:r>
              <a:rPr lang="zh-CN" altLang="en-US">
                <a:sym typeface="+mn-ea"/>
              </a:rPr>
              <a:t>：统一调度归集实现全流程</a:t>
            </a:r>
            <a:r>
              <a:rPr lang="zh-CN" altLang="en-US">
                <a:sym typeface="+mn-ea"/>
              </a:rPr>
              <a:t>管控</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wrap="square" rtlCol="0" anchor="t">
            <a:noAutofit/>
          </a:bodyPr>
          <a:lstStyle/>
          <a:p>
            <a:pPr marL="306070" marR="0" lvl="0" indent="-306070" algn="l" defTabSz="914400" rtl="0" eaLnBrk="0" fontAlgn="auto" latinLnBrk="0" hangingPunct="1">
              <a:lnSpc>
                <a:spcPct val="109000"/>
              </a:lnSpc>
              <a:spcBef>
                <a:spcPts val="0"/>
              </a:spcBef>
              <a:spcAft>
                <a:spcPts val="0"/>
              </a:spcAft>
              <a:buClr>
                <a:srgbClr val="0070BF"/>
              </a:buClr>
              <a:buSzTx/>
              <a:buFont typeface="Wingdings" panose="05000000000000000000" charset="0"/>
              <a:buChar char="n"/>
              <a:tabLst>
                <a:tab pos="356870" algn="l"/>
              </a:tabLst>
              <a:defRPr/>
            </a:pPr>
            <a:r>
              <a:rPr kumimoji="1" lang="zh-HK" altLang="en-US" sz="1400" b="1" noProof="0" dirty="0">
                <a:solidFill>
                  <a:srgbClr val="000000">
                    <a:alpha val="100000"/>
                  </a:srgbClr>
                </a:solidFill>
                <a:ea typeface="+mn-lt"/>
                <a:cs typeface="+mn-lt"/>
                <a:sym typeface="+mn-ea"/>
              </a:rPr>
              <a:t>调度中心作为统一任务入口，</a:t>
            </a:r>
            <a:r>
              <a:rPr kumimoji="1" lang="zh-CN" altLang="zh-HK" sz="1400" b="1" noProof="0" dirty="0">
                <a:solidFill>
                  <a:srgbClr val="000000">
                    <a:alpha val="100000"/>
                  </a:srgbClr>
                </a:solidFill>
                <a:ea typeface="+mn-lt"/>
                <a:cs typeface="+mn-lt"/>
                <a:sym typeface="+mn-ea"/>
              </a:rPr>
              <a:t>外部对接一级</a:t>
            </a:r>
            <a:r>
              <a:rPr kumimoji="1" lang="en-US" altLang="zh-CN" sz="1400" b="1" noProof="0" dirty="0">
                <a:solidFill>
                  <a:srgbClr val="000000">
                    <a:alpha val="100000"/>
                  </a:srgbClr>
                </a:solidFill>
                <a:ea typeface="+mn-lt"/>
                <a:cs typeface="+mn-lt"/>
                <a:sym typeface="+mn-ea"/>
              </a:rPr>
              <a:t>IOP、</a:t>
            </a:r>
            <a:r>
              <a:rPr kumimoji="1" lang="zh-CN" altLang="en-US" sz="1400" b="1" noProof="0" dirty="0">
                <a:solidFill>
                  <a:srgbClr val="000000">
                    <a:alpha val="100000"/>
                  </a:srgbClr>
                </a:solidFill>
                <a:ea typeface="+mn-lt"/>
                <a:cs typeface="+mn-lt"/>
                <a:sym typeface="+mn-ea"/>
              </a:rPr>
              <a:t>指挥调度平台实现任务调度</a:t>
            </a:r>
            <a:r>
              <a:rPr kumimoji="1" lang="en-US" altLang="zh-CN" sz="1400" b="1" noProof="0" dirty="0">
                <a:solidFill>
                  <a:srgbClr val="000000">
                    <a:alpha val="100000"/>
                  </a:srgbClr>
                </a:solidFill>
                <a:ea typeface="+mn-lt"/>
                <a:cs typeface="+mn-lt"/>
                <a:sym typeface="+mn-ea"/>
              </a:rPr>
              <a:t>；</a:t>
            </a:r>
            <a:r>
              <a:rPr kumimoji="1" lang="zh-CN" altLang="en-US" sz="1400" b="1" noProof="0" dirty="0">
                <a:solidFill>
                  <a:srgbClr val="000000">
                    <a:alpha val="100000"/>
                  </a:srgbClr>
                </a:solidFill>
                <a:ea typeface="+mn-lt"/>
                <a:cs typeface="+mn-lt"/>
                <a:sym typeface="+mn-ea"/>
              </a:rPr>
              <a:t>内部</a:t>
            </a:r>
            <a:r>
              <a:rPr kumimoji="1" lang="zh-HK" altLang="en-US" sz="1400" b="1" noProof="0" dirty="0">
                <a:solidFill>
                  <a:srgbClr val="000000">
                    <a:alpha val="100000"/>
                  </a:srgbClr>
                </a:solidFill>
                <a:ea typeface="+mn-lt"/>
                <a:cs typeface="+mn-lt"/>
                <a:sym typeface="+mn-ea"/>
              </a:rPr>
              <a:t>汇聚各运营专区场景，通过标准化接口实现全平台任务派发与流转，最终达成调度全流程的透明化与可追溯管理。</a:t>
            </a:r>
            <a:endParaRPr kumimoji="1" lang="zh-HK" altLang="en-US" sz="1400" b="1" noProof="0" dirty="0">
              <a:solidFill>
                <a:srgbClr val="000000">
                  <a:alpha val="100000"/>
                </a:srgbClr>
              </a:solidFill>
              <a:ea typeface="+mn-lt"/>
              <a:cs typeface="+mn-lt"/>
              <a:sym typeface="+mn-ea"/>
            </a:endParaRPr>
          </a:p>
        </p:txBody>
      </p:sp>
      <p:sp>
        <p:nvSpPr>
          <p:cNvPr id="6" name="矩形 5"/>
          <p:cNvSpPr/>
          <p:nvPr/>
        </p:nvSpPr>
        <p:spPr>
          <a:xfrm>
            <a:off x="607060" y="3451225"/>
            <a:ext cx="3693795" cy="85661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7" name="圓角矩形 6"/>
          <p:cNvSpPr/>
          <p:nvPr/>
        </p:nvSpPr>
        <p:spPr>
          <a:xfrm>
            <a:off x="763270" y="3648075"/>
            <a:ext cx="3415030" cy="381635"/>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a:solidFill>
                  <a:schemeClr val="tx1"/>
                </a:solidFill>
              </a:rPr>
              <a:t>运营平台</a:t>
            </a:r>
            <a:endParaRPr lang="zh-CN" altLang="zh-HK">
              <a:solidFill>
                <a:schemeClr val="tx1"/>
              </a:solidFill>
            </a:endParaRPr>
          </a:p>
        </p:txBody>
      </p:sp>
      <p:sp>
        <p:nvSpPr>
          <p:cNvPr id="8" name="矩形 7"/>
          <p:cNvSpPr/>
          <p:nvPr/>
        </p:nvSpPr>
        <p:spPr>
          <a:xfrm>
            <a:off x="607060" y="1912620"/>
            <a:ext cx="3693795" cy="113030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9" name="圓角矩形 8"/>
          <p:cNvSpPr/>
          <p:nvPr/>
        </p:nvSpPr>
        <p:spPr>
          <a:xfrm>
            <a:off x="763270" y="2095500"/>
            <a:ext cx="3415030" cy="38100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一级</a:t>
            </a:r>
            <a:r>
              <a:rPr lang="en-US" altLang="zh-CN" sz="1400">
                <a:solidFill>
                  <a:schemeClr val="tx1"/>
                </a:solidFill>
              </a:rPr>
              <a:t>IOP</a:t>
            </a:r>
            <a:r>
              <a:rPr lang="zh-CN" altLang="en-US" sz="1400">
                <a:solidFill>
                  <a:schemeClr val="tx1"/>
                </a:solidFill>
              </a:rPr>
              <a:t>平台</a:t>
            </a:r>
            <a:endParaRPr lang="zh-CN" altLang="en-US" sz="1400">
              <a:solidFill>
                <a:schemeClr val="tx1"/>
              </a:solidFill>
            </a:endParaRPr>
          </a:p>
        </p:txBody>
      </p:sp>
      <p:sp>
        <p:nvSpPr>
          <p:cNvPr id="10" name="矩形 9"/>
          <p:cNvSpPr/>
          <p:nvPr/>
        </p:nvSpPr>
        <p:spPr>
          <a:xfrm>
            <a:off x="607060" y="4695825"/>
            <a:ext cx="3693795" cy="67627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1" name="圓角矩形 10"/>
          <p:cNvSpPr/>
          <p:nvPr/>
        </p:nvSpPr>
        <p:spPr>
          <a:xfrm>
            <a:off x="763270" y="4834255"/>
            <a:ext cx="3416300" cy="38100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指挥调度平台</a:t>
            </a:r>
            <a:endParaRPr lang="zh-CN" altLang="zh-HK" sz="1400">
              <a:solidFill>
                <a:schemeClr val="tx1"/>
              </a:solidFill>
            </a:endParaRPr>
          </a:p>
        </p:txBody>
      </p:sp>
      <p:sp>
        <p:nvSpPr>
          <p:cNvPr id="13" name="矩形 12"/>
          <p:cNvSpPr/>
          <p:nvPr/>
        </p:nvSpPr>
        <p:spPr>
          <a:xfrm>
            <a:off x="607060" y="5624195"/>
            <a:ext cx="1722120" cy="79819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4" name="圓角矩形 13"/>
          <p:cNvSpPr/>
          <p:nvPr/>
        </p:nvSpPr>
        <p:spPr>
          <a:xfrm>
            <a:off x="763270" y="5762625"/>
            <a:ext cx="1443990" cy="38100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省</a:t>
            </a:r>
            <a:r>
              <a:rPr lang="en-US" altLang="zh-CN" sz="1400">
                <a:solidFill>
                  <a:schemeClr val="tx1"/>
                </a:solidFill>
              </a:rPr>
              <a:t>OA</a:t>
            </a:r>
            <a:endParaRPr lang="en-US" altLang="zh-CN" sz="1400">
              <a:solidFill>
                <a:schemeClr val="tx1"/>
              </a:solidFill>
            </a:endParaRPr>
          </a:p>
        </p:txBody>
      </p:sp>
      <p:sp>
        <p:nvSpPr>
          <p:cNvPr id="16" name="矩形 15"/>
          <p:cNvSpPr/>
          <p:nvPr/>
        </p:nvSpPr>
        <p:spPr>
          <a:xfrm>
            <a:off x="2578735" y="5633085"/>
            <a:ext cx="1722120" cy="789305"/>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17" name="圓角矩形 16"/>
          <p:cNvSpPr/>
          <p:nvPr/>
        </p:nvSpPr>
        <p:spPr>
          <a:xfrm>
            <a:off x="2734945" y="5771515"/>
            <a:ext cx="1443990" cy="38100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kumimoji="1" lang="zh-HK" altLang="en-US" sz="1400" dirty="0" smtClean="0">
                <a:solidFill>
                  <a:schemeClr val="tx1"/>
                </a:solidFill>
                <a:latin typeface="微软雅黑" panose="020B0503020204020204" charset="-122"/>
                <a:ea typeface="微软雅黑" panose="020B0503020204020204" charset="-122"/>
                <a:sym typeface="+mn-ea"/>
              </a:rPr>
              <a:t>私有化部署</a:t>
            </a:r>
            <a:endParaRPr kumimoji="1" lang="zh-HK" altLang="en-US" sz="1400" dirty="0" smtClean="0">
              <a:solidFill>
                <a:schemeClr val="tx1"/>
              </a:solidFill>
              <a:latin typeface="微软雅黑" panose="020B0503020204020204" charset="-122"/>
              <a:ea typeface="微软雅黑" panose="020B0503020204020204" charset="-122"/>
              <a:sym typeface="+mn-ea"/>
            </a:endParaRPr>
          </a:p>
        </p:txBody>
      </p:sp>
      <p:cxnSp>
        <p:nvCxnSpPr>
          <p:cNvPr id="18" name="肘形連接符 17"/>
          <p:cNvCxnSpPr>
            <a:stCxn id="7" idx="3"/>
            <a:endCxn id="17" idx="3"/>
          </p:cNvCxnSpPr>
          <p:nvPr/>
        </p:nvCxnSpPr>
        <p:spPr>
          <a:xfrm>
            <a:off x="4178300" y="3839845"/>
            <a:ext cx="635" cy="2122170"/>
          </a:xfrm>
          <a:prstGeom prst="bentConnector3">
            <a:avLst>
              <a:gd name="adj1" fmla="val 91500000"/>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sp>
        <p:nvSpPr>
          <p:cNvPr id="21" name="文字框 20"/>
          <p:cNvSpPr txBox="1"/>
          <p:nvPr/>
        </p:nvSpPr>
        <p:spPr>
          <a:xfrm>
            <a:off x="1486535" y="2597785"/>
            <a:ext cx="1934845" cy="306705"/>
          </a:xfrm>
          <a:prstGeom prst="rect">
            <a:avLst/>
          </a:prstGeom>
          <a:noFill/>
        </p:spPr>
        <p:txBody>
          <a:bodyPr wrap="square" rtlCol="0" anchor="t">
            <a:spAutoFit/>
          </a:bodyPr>
          <a:p>
            <a:pPr algn="ctr"/>
            <a:r>
              <a:rPr kumimoji="1" lang="zh-HK" altLang="en-US" sz="1400" dirty="0" smtClean="0">
                <a:latin typeface="微软雅黑" panose="020B0503020204020204" charset="-122"/>
                <a:ea typeface="微软雅黑" panose="020B0503020204020204" charset="-122"/>
                <a:sym typeface="+mn-ea"/>
              </a:rPr>
              <a:t>策略活动创建页面</a:t>
            </a:r>
            <a:endParaRPr kumimoji="1" lang="zh-HK" altLang="en-US" sz="1400" dirty="0" smtClean="0">
              <a:latin typeface="微软雅黑" panose="020B0503020204020204" charset="-122"/>
              <a:ea typeface="微软雅黑" panose="020B0503020204020204" charset="-122"/>
              <a:sym typeface="+mn-ea"/>
            </a:endParaRPr>
          </a:p>
        </p:txBody>
      </p:sp>
      <p:sp>
        <p:nvSpPr>
          <p:cNvPr id="26" name="下箭頭 25"/>
          <p:cNvSpPr/>
          <p:nvPr/>
        </p:nvSpPr>
        <p:spPr>
          <a:xfrm>
            <a:off x="1322070" y="4304030"/>
            <a:ext cx="2402840" cy="36830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latin typeface="微软雅黑" panose="020B0503020204020204" charset="-122"/>
                <a:ea typeface="微软雅黑" panose="020B0503020204020204" charset="-122"/>
              </a:rPr>
              <a:t>推送调度任务</a:t>
            </a:r>
            <a:endParaRPr lang="zh-CN" altLang="zh-HK" sz="1000">
              <a:latin typeface="微软雅黑" panose="020B0503020204020204" charset="-122"/>
              <a:ea typeface="微软雅黑" panose="020B0503020204020204" charset="-122"/>
            </a:endParaRPr>
          </a:p>
        </p:txBody>
      </p:sp>
      <p:sp>
        <p:nvSpPr>
          <p:cNvPr id="27" name="上箭頭 26"/>
          <p:cNvSpPr/>
          <p:nvPr/>
        </p:nvSpPr>
        <p:spPr>
          <a:xfrm>
            <a:off x="643255" y="3055620"/>
            <a:ext cx="1935480" cy="351155"/>
          </a:xfrm>
          <a:prstGeom prst="up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访问页面</a:t>
            </a:r>
            <a:endParaRPr lang="zh-CN" altLang="zh-HK" sz="1000"/>
          </a:p>
        </p:txBody>
      </p:sp>
      <p:sp>
        <p:nvSpPr>
          <p:cNvPr id="29" name="下箭頭 28"/>
          <p:cNvSpPr/>
          <p:nvPr/>
        </p:nvSpPr>
        <p:spPr>
          <a:xfrm>
            <a:off x="2578735" y="3086735"/>
            <a:ext cx="1774825" cy="32385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回传结果</a:t>
            </a:r>
            <a:endParaRPr lang="zh-CN" altLang="zh-HK" sz="1000"/>
          </a:p>
        </p:txBody>
      </p:sp>
      <p:sp>
        <p:nvSpPr>
          <p:cNvPr id="30" name="下箭頭 29"/>
          <p:cNvSpPr/>
          <p:nvPr/>
        </p:nvSpPr>
        <p:spPr>
          <a:xfrm>
            <a:off x="616585" y="5304790"/>
            <a:ext cx="1713230" cy="36830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latin typeface="微软雅黑" panose="020B0503020204020204" charset="-122"/>
                <a:ea typeface="微软雅黑" panose="020B0503020204020204" charset="-122"/>
              </a:rPr>
              <a:t>推送调度</a:t>
            </a:r>
            <a:r>
              <a:rPr lang="zh-CN" altLang="zh-HK" sz="1000">
                <a:latin typeface="微软雅黑" panose="020B0503020204020204" charset="-122"/>
                <a:ea typeface="微软雅黑" panose="020B0503020204020204" charset="-122"/>
              </a:rPr>
              <a:t>任务</a:t>
            </a:r>
            <a:endParaRPr lang="zh-CN" altLang="zh-HK" sz="1000">
              <a:latin typeface="微软雅黑" panose="020B0503020204020204" charset="-122"/>
              <a:ea typeface="微软雅黑" panose="020B0503020204020204" charset="-122"/>
            </a:endParaRPr>
          </a:p>
        </p:txBody>
      </p:sp>
      <p:sp>
        <p:nvSpPr>
          <p:cNvPr id="31" name="文字框 30"/>
          <p:cNvSpPr txBox="1"/>
          <p:nvPr/>
        </p:nvSpPr>
        <p:spPr>
          <a:xfrm>
            <a:off x="1009650" y="6180455"/>
            <a:ext cx="916305" cy="245110"/>
          </a:xfrm>
          <a:prstGeom prst="rect">
            <a:avLst/>
          </a:prstGeom>
          <a:noFill/>
        </p:spPr>
        <p:txBody>
          <a:bodyPr wrap="square" rtlCol="0">
            <a:spAutoFit/>
          </a:bodyPr>
          <a:p>
            <a:pPr algn="ctr"/>
            <a:r>
              <a:rPr kumimoji="1" lang="zh-CN" altLang="zh-HK" sz="1000" dirty="0" smtClean="0">
                <a:latin typeface="微软雅黑" panose="020B0503020204020204" charset="-122"/>
                <a:ea typeface="微软雅黑" panose="020B0503020204020204" charset="-122"/>
              </a:rPr>
              <a:t>登陆</a:t>
            </a:r>
            <a:r>
              <a:rPr kumimoji="1" lang="en-US" altLang="zh-CN" sz="1000" dirty="0" smtClean="0">
                <a:latin typeface="微软雅黑" panose="020B0503020204020204" charset="-122"/>
                <a:ea typeface="微软雅黑" panose="020B0503020204020204" charset="-122"/>
              </a:rPr>
              <a:t>OA</a:t>
            </a:r>
            <a:r>
              <a:rPr kumimoji="1" lang="zh-CN" altLang="en-US" sz="1000" dirty="0" smtClean="0">
                <a:latin typeface="微软雅黑" panose="020B0503020204020204" charset="-122"/>
                <a:ea typeface="微软雅黑" panose="020B0503020204020204" charset="-122"/>
              </a:rPr>
              <a:t>操作</a:t>
            </a:r>
            <a:endParaRPr kumimoji="1" lang="zh-CN" altLang="en-US" sz="1000" dirty="0" smtClean="0">
              <a:latin typeface="微软雅黑" panose="020B0503020204020204" charset="-122"/>
              <a:ea typeface="微软雅黑" panose="020B0503020204020204" charset="-122"/>
            </a:endParaRPr>
          </a:p>
        </p:txBody>
      </p:sp>
      <p:sp>
        <p:nvSpPr>
          <p:cNvPr id="32" name="文字框 31"/>
          <p:cNvSpPr txBox="1"/>
          <p:nvPr/>
        </p:nvSpPr>
        <p:spPr>
          <a:xfrm>
            <a:off x="3106420" y="6180455"/>
            <a:ext cx="720725" cy="245110"/>
          </a:xfrm>
          <a:prstGeom prst="rect">
            <a:avLst/>
          </a:prstGeom>
          <a:noFill/>
        </p:spPr>
        <p:txBody>
          <a:bodyPr wrap="square" rtlCol="0">
            <a:spAutoFit/>
          </a:bodyPr>
          <a:p>
            <a:pPr algn="ctr"/>
            <a:r>
              <a:rPr kumimoji="1" lang="zh-CN" altLang="zh-HK" sz="1000" dirty="0" smtClean="0">
                <a:latin typeface="微软雅黑" panose="020B0503020204020204" charset="-122"/>
                <a:ea typeface="微软雅黑" panose="020B0503020204020204" charset="-122"/>
              </a:rPr>
              <a:t>直接</a:t>
            </a:r>
            <a:r>
              <a:rPr kumimoji="1" lang="zh-CN" altLang="zh-HK" sz="1000" dirty="0" smtClean="0">
                <a:latin typeface="微软雅黑" panose="020B0503020204020204" charset="-122"/>
                <a:ea typeface="微软雅黑" panose="020B0503020204020204" charset="-122"/>
              </a:rPr>
              <a:t>操作</a:t>
            </a:r>
            <a:endParaRPr kumimoji="1" lang="zh-CN" altLang="zh-HK" sz="1000" dirty="0" smtClean="0">
              <a:latin typeface="微软雅黑" panose="020B0503020204020204" charset="-122"/>
              <a:ea typeface="微软雅黑" panose="020B0503020204020204" charset="-122"/>
            </a:endParaRPr>
          </a:p>
        </p:txBody>
      </p:sp>
      <p:sp>
        <p:nvSpPr>
          <p:cNvPr id="33" name="下箭頭 32"/>
          <p:cNvSpPr/>
          <p:nvPr/>
        </p:nvSpPr>
        <p:spPr>
          <a:xfrm>
            <a:off x="2640330" y="5309235"/>
            <a:ext cx="1713230" cy="36830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latin typeface="微软雅黑" panose="020B0503020204020204" charset="-122"/>
                <a:ea typeface="微软雅黑" panose="020B0503020204020204" charset="-122"/>
              </a:rPr>
              <a:t>推送调度</a:t>
            </a:r>
            <a:r>
              <a:rPr lang="zh-CN" altLang="zh-HK" sz="1000">
                <a:latin typeface="微软雅黑" panose="020B0503020204020204" charset="-122"/>
                <a:ea typeface="微软雅黑" panose="020B0503020204020204" charset="-122"/>
              </a:rPr>
              <a:t>任务</a:t>
            </a:r>
            <a:endParaRPr lang="zh-CN" altLang="zh-HK" sz="1000">
              <a:latin typeface="微软雅黑" panose="020B0503020204020204" charset="-122"/>
              <a:ea typeface="微软雅黑" panose="020B0503020204020204" charset="-122"/>
            </a:endParaRPr>
          </a:p>
        </p:txBody>
      </p:sp>
      <p:sp>
        <p:nvSpPr>
          <p:cNvPr id="34" name="矩形 33"/>
          <p:cNvSpPr/>
          <p:nvPr/>
        </p:nvSpPr>
        <p:spPr>
          <a:xfrm>
            <a:off x="4353560" y="4499610"/>
            <a:ext cx="824865" cy="624205"/>
          </a:xfrm>
          <a:prstGeom prst="rect">
            <a:avLst/>
          </a:prstGeom>
          <a:solidFill>
            <a:schemeClr val="bg1"/>
          </a:solidFill>
          <a:ln w="12700" cap="flat" cmpd="sng" algn="ctr">
            <a:solidFill>
              <a:schemeClr val="bg1"/>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t>按照规范</a:t>
            </a:r>
            <a:endParaRPr lang="zh-CN" altLang="zh-HK" sz="1000"/>
          </a:p>
          <a:p>
            <a:pPr marL="0" marR="0" lvl="0" indent="0" algn="ctr" defTabSz="914400" rtl="0" eaLnBrk="1" fontAlgn="auto" latinLnBrk="0" hangingPunct="1">
              <a:lnSpc>
                <a:spcPct val="100000"/>
              </a:lnSpc>
              <a:spcBef>
                <a:spcPts val="0"/>
              </a:spcBef>
              <a:spcAft>
                <a:spcPts val="0"/>
              </a:spcAft>
              <a:buClrTx/>
              <a:buSzTx/>
              <a:buFontTx/>
              <a:buNone/>
            </a:pPr>
            <a:r>
              <a:rPr lang="zh-CN" altLang="zh-HK" sz="1000"/>
              <a:t>搭建省平台</a:t>
            </a:r>
            <a:endParaRPr lang="zh-CN" altLang="zh-HK" sz="1000"/>
          </a:p>
        </p:txBody>
      </p:sp>
      <p:sp>
        <p:nvSpPr>
          <p:cNvPr id="41" name="矩形 40"/>
          <p:cNvSpPr/>
          <p:nvPr/>
        </p:nvSpPr>
        <p:spPr>
          <a:xfrm>
            <a:off x="328930" y="1687195"/>
            <a:ext cx="4983480" cy="4841240"/>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2" name="矩形 41"/>
          <p:cNvSpPr/>
          <p:nvPr/>
        </p:nvSpPr>
        <p:spPr>
          <a:xfrm>
            <a:off x="1708785" y="1548130"/>
            <a:ext cx="2223770" cy="30099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任务调度</a:t>
            </a:r>
            <a:r>
              <a:rPr lang="zh-CN" altLang="zh-HK" sz="1400"/>
              <a:t>流程</a:t>
            </a:r>
            <a:endParaRPr lang="zh-CN" altLang="zh-HK" sz="1400"/>
          </a:p>
        </p:txBody>
      </p:sp>
      <p:sp>
        <p:nvSpPr>
          <p:cNvPr id="44" name="矩形 43"/>
          <p:cNvSpPr/>
          <p:nvPr/>
        </p:nvSpPr>
        <p:spPr>
          <a:xfrm>
            <a:off x="5439410" y="1694815"/>
            <a:ext cx="6188710" cy="4841240"/>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3" name="矩形 42"/>
          <p:cNvSpPr/>
          <p:nvPr/>
        </p:nvSpPr>
        <p:spPr>
          <a:xfrm>
            <a:off x="7148195" y="1548130"/>
            <a:ext cx="2861945" cy="30099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全平台调度统一归集</a:t>
            </a:r>
            <a:r>
              <a:rPr lang="zh-CN" altLang="zh-HK" sz="1400"/>
              <a:t>管理</a:t>
            </a:r>
            <a:endParaRPr lang="zh-CN" altLang="zh-HK" sz="1400"/>
          </a:p>
        </p:txBody>
      </p:sp>
      <p:sp>
        <p:nvSpPr>
          <p:cNvPr id="45" name="文字框 44"/>
          <p:cNvSpPr txBox="1"/>
          <p:nvPr/>
        </p:nvSpPr>
        <p:spPr>
          <a:xfrm>
            <a:off x="5670550" y="1912620"/>
            <a:ext cx="5777230" cy="737235"/>
          </a:xfrm>
          <a:prstGeom prst="rect">
            <a:avLst/>
          </a:prstGeom>
        </p:spPr>
        <p:txBody>
          <a:bodyPr wrap="square">
            <a:spAutoFit/>
          </a:bodyPr>
          <a:p>
            <a:pPr marL="0" indent="0" algn="just" defTabSz="266700">
              <a:spcBef>
                <a:spcPct val="0"/>
              </a:spcBef>
              <a:spcAft>
                <a:spcPct val="0"/>
              </a:spcAft>
            </a:pPr>
            <a:r>
              <a:rPr lang="zh-CN" altLang="en-US" sz="1400">
                <a:latin typeface="微软雅黑" panose="020B0503020204020204" charset="-122"/>
                <a:ea typeface="微软雅黑" panose="020B0503020204020204" charset="-122"/>
              </a:rPr>
              <a:t>调度中心作为一级运营平台的统一任务调度入口，无论任务源自哪个运营场景，均通过平台调度中心提供的统一调度能力进行派发，实现调度任务全流程的透明化与可追溯管理</a:t>
            </a:r>
            <a:r>
              <a:rPr lang="en-US" altLang="zh-CN" sz="1400">
                <a:latin typeface="微软雅黑" panose="020B0503020204020204" charset="-122"/>
                <a:ea typeface="微软雅黑" panose="020B0503020204020204" charset="-122"/>
              </a:rPr>
              <a:t>。</a:t>
            </a:r>
            <a:endParaRPr lang="en-US" altLang="zh-CN" sz="1400">
              <a:latin typeface="微软雅黑" panose="020B0503020204020204" charset="-122"/>
              <a:ea typeface="微软雅黑" panose="020B0503020204020204" charset="-122"/>
            </a:endParaRPr>
          </a:p>
        </p:txBody>
      </p:sp>
      <p:sp>
        <p:nvSpPr>
          <p:cNvPr id="46" name="矩形 45"/>
          <p:cNvSpPr/>
          <p:nvPr/>
        </p:nvSpPr>
        <p:spPr>
          <a:xfrm>
            <a:off x="5746750" y="2766695"/>
            <a:ext cx="2611120" cy="1086485"/>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7" name="文字框 46"/>
          <p:cNvSpPr txBox="1"/>
          <p:nvPr/>
        </p:nvSpPr>
        <p:spPr>
          <a:xfrm>
            <a:off x="6605270" y="2790190"/>
            <a:ext cx="8940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运营</a:t>
            </a:r>
            <a:r>
              <a:rPr kumimoji="1" lang="zh-CN" altLang="zh-HK" sz="1400" dirty="0" smtClean="0">
                <a:latin typeface="微软雅黑" panose="020B0503020204020204" charset="-122"/>
                <a:ea typeface="微软雅黑" panose="020B0503020204020204" charset="-122"/>
              </a:rPr>
              <a:t>专区</a:t>
            </a:r>
            <a:endParaRPr kumimoji="1" lang="zh-CN" altLang="zh-HK" sz="1400" dirty="0" smtClean="0">
              <a:latin typeface="微软雅黑" panose="020B0503020204020204" charset="-122"/>
              <a:ea typeface="微软雅黑" panose="020B0503020204020204" charset="-122"/>
            </a:endParaRPr>
          </a:p>
        </p:txBody>
      </p:sp>
      <p:sp>
        <p:nvSpPr>
          <p:cNvPr id="48" name="圓角矩形 47"/>
          <p:cNvSpPr/>
          <p:nvPr/>
        </p:nvSpPr>
        <p:spPr>
          <a:xfrm>
            <a:off x="5852795" y="3103245"/>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存量运营</a:t>
            </a:r>
            <a:endParaRPr lang="zh-CN" altLang="zh-HK" sz="1200">
              <a:solidFill>
                <a:schemeClr val="tx1"/>
              </a:solidFill>
            </a:endParaRPr>
          </a:p>
        </p:txBody>
      </p:sp>
      <p:sp>
        <p:nvSpPr>
          <p:cNvPr id="49" name="圓角矩形 48"/>
          <p:cNvSpPr/>
          <p:nvPr/>
        </p:nvSpPr>
        <p:spPr>
          <a:xfrm>
            <a:off x="7113905" y="3099435"/>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国际业务</a:t>
            </a:r>
            <a:endParaRPr lang="zh-CN" altLang="zh-HK" sz="1200">
              <a:solidFill>
                <a:schemeClr val="tx1"/>
              </a:solidFill>
            </a:endParaRPr>
          </a:p>
        </p:txBody>
      </p:sp>
      <p:sp>
        <p:nvSpPr>
          <p:cNvPr id="50" name="圓角矩形 49"/>
          <p:cNvSpPr/>
          <p:nvPr/>
        </p:nvSpPr>
        <p:spPr>
          <a:xfrm>
            <a:off x="5852795" y="3477895"/>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家庭业务</a:t>
            </a:r>
            <a:endParaRPr lang="zh-CN" altLang="zh-HK" sz="1200">
              <a:solidFill>
                <a:schemeClr val="tx1"/>
              </a:solidFill>
            </a:endParaRPr>
          </a:p>
        </p:txBody>
      </p:sp>
      <p:sp>
        <p:nvSpPr>
          <p:cNvPr id="51" name="圓角矩形 50"/>
          <p:cNvSpPr/>
          <p:nvPr/>
        </p:nvSpPr>
        <p:spPr>
          <a:xfrm>
            <a:off x="7113905" y="3474720"/>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行业洞察</a:t>
            </a:r>
            <a:endParaRPr lang="zh-CN" altLang="zh-HK" sz="1200">
              <a:solidFill>
                <a:schemeClr val="tx1"/>
              </a:solidFill>
            </a:endParaRPr>
          </a:p>
        </p:txBody>
      </p:sp>
      <p:sp>
        <p:nvSpPr>
          <p:cNvPr id="52" name="矩形 51"/>
          <p:cNvSpPr/>
          <p:nvPr/>
        </p:nvSpPr>
        <p:spPr>
          <a:xfrm>
            <a:off x="8522335" y="2763520"/>
            <a:ext cx="2611120" cy="1086485"/>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3" name="文字框 52"/>
          <p:cNvSpPr txBox="1"/>
          <p:nvPr/>
        </p:nvSpPr>
        <p:spPr>
          <a:xfrm>
            <a:off x="9291955" y="2796540"/>
            <a:ext cx="10718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分系统</a:t>
            </a:r>
            <a:r>
              <a:rPr kumimoji="1" lang="zh-CN" altLang="zh-HK" sz="1400" dirty="0" smtClean="0">
                <a:latin typeface="微软雅黑" panose="020B0503020204020204" charset="-122"/>
                <a:ea typeface="微软雅黑" panose="020B0503020204020204" charset="-122"/>
              </a:rPr>
              <a:t>大屏</a:t>
            </a:r>
            <a:endParaRPr kumimoji="1" lang="zh-CN" altLang="zh-HK" sz="1400" dirty="0" smtClean="0">
              <a:latin typeface="微软雅黑" panose="020B0503020204020204" charset="-122"/>
              <a:ea typeface="微软雅黑" panose="020B0503020204020204" charset="-122"/>
            </a:endParaRPr>
          </a:p>
        </p:txBody>
      </p:sp>
      <p:sp>
        <p:nvSpPr>
          <p:cNvPr id="54" name="圓角矩形 53"/>
          <p:cNvSpPr/>
          <p:nvPr/>
        </p:nvSpPr>
        <p:spPr>
          <a:xfrm>
            <a:off x="8597900" y="3100070"/>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产品运营</a:t>
            </a:r>
            <a:endParaRPr lang="zh-CN" altLang="zh-HK" sz="1200">
              <a:solidFill>
                <a:schemeClr val="tx1"/>
              </a:solidFill>
            </a:endParaRPr>
          </a:p>
        </p:txBody>
      </p:sp>
      <p:sp>
        <p:nvSpPr>
          <p:cNvPr id="55" name="圓角矩形 54"/>
          <p:cNvSpPr/>
          <p:nvPr/>
        </p:nvSpPr>
        <p:spPr>
          <a:xfrm>
            <a:off x="9859010" y="3096260"/>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企微运营</a:t>
            </a:r>
            <a:endParaRPr lang="zh-CN" altLang="zh-HK" sz="1200">
              <a:solidFill>
                <a:schemeClr val="tx1"/>
              </a:solidFill>
            </a:endParaRPr>
          </a:p>
        </p:txBody>
      </p:sp>
      <p:sp>
        <p:nvSpPr>
          <p:cNvPr id="56" name="圓角矩形 55"/>
          <p:cNvSpPr/>
          <p:nvPr/>
        </p:nvSpPr>
        <p:spPr>
          <a:xfrm>
            <a:off x="8597900" y="3474720"/>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泛全运营</a:t>
            </a:r>
            <a:endParaRPr lang="zh-CN" altLang="zh-HK" sz="1200">
              <a:solidFill>
                <a:schemeClr val="tx1"/>
              </a:solidFill>
            </a:endParaRPr>
          </a:p>
        </p:txBody>
      </p:sp>
      <p:sp>
        <p:nvSpPr>
          <p:cNvPr id="57" name="圓角矩形 56"/>
          <p:cNvSpPr/>
          <p:nvPr/>
        </p:nvSpPr>
        <p:spPr>
          <a:xfrm>
            <a:off x="9859010" y="3471545"/>
            <a:ext cx="1170305"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en-US" altLang="zh-CN" sz="1200">
                <a:solidFill>
                  <a:schemeClr val="tx1"/>
                </a:solidFill>
              </a:rPr>
              <a:t>......</a:t>
            </a:r>
            <a:endParaRPr lang="en-US" altLang="zh-CN" sz="1200">
              <a:solidFill>
                <a:schemeClr val="tx1"/>
              </a:solidFill>
            </a:endParaRPr>
          </a:p>
        </p:txBody>
      </p:sp>
      <p:sp>
        <p:nvSpPr>
          <p:cNvPr id="58" name="矩形 57"/>
          <p:cNvSpPr/>
          <p:nvPr/>
        </p:nvSpPr>
        <p:spPr>
          <a:xfrm>
            <a:off x="7499350" y="4029710"/>
            <a:ext cx="1774190" cy="351155"/>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标准</a:t>
            </a:r>
            <a:r>
              <a:rPr lang="zh-CN" altLang="zh-HK" sz="1400"/>
              <a:t>接口</a:t>
            </a:r>
            <a:endParaRPr lang="zh-CN" altLang="zh-HK" sz="1400"/>
          </a:p>
        </p:txBody>
      </p:sp>
      <p:cxnSp>
        <p:nvCxnSpPr>
          <p:cNvPr id="59" name="肘形連接符 58"/>
          <p:cNvCxnSpPr>
            <a:stCxn id="46" idx="2"/>
            <a:endCxn id="58" idx="1"/>
          </p:cNvCxnSpPr>
          <p:nvPr/>
        </p:nvCxnSpPr>
        <p:spPr>
          <a:xfrm rot="5400000" flipV="1">
            <a:off x="7099618" y="3805873"/>
            <a:ext cx="352425" cy="447040"/>
          </a:xfrm>
          <a:prstGeom prst="bentConnector2">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60" name="肘形連接符 59"/>
          <p:cNvCxnSpPr>
            <a:stCxn id="52" idx="2"/>
            <a:endCxn id="58" idx="3"/>
          </p:cNvCxnSpPr>
          <p:nvPr/>
        </p:nvCxnSpPr>
        <p:spPr>
          <a:xfrm rot="5400000">
            <a:off x="9372918" y="3750628"/>
            <a:ext cx="355600" cy="554355"/>
          </a:xfrm>
          <a:prstGeom prst="bentConnector2">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sp>
        <p:nvSpPr>
          <p:cNvPr id="62" name="矩形 61"/>
          <p:cNvSpPr/>
          <p:nvPr/>
        </p:nvSpPr>
        <p:spPr>
          <a:xfrm>
            <a:off x="7499350" y="4749800"/>
            <a:ext cx="1774190" cy="351155"/>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统一调度中心</a:t>
            </a:r>
            <a:endParaRPr lang="zh-CN" altLang="zh-HK" sz="1400"/>
          </a:p>
        </p:txBody>
      </p:sp>
      <p:sp>
        <p:nvSpPr>
          <p:cNvPr id="63" name="下箭頭 62"/>
          <p:cNvSpPr/>
          <p:nvPr/>
        </p:nvSpPr>
        <p:spPr>
          <a:xfrm>
            <a:off x="7185025" y="4380865"/>
            <a:ext cx="2402840" cy="36830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000">
                <a:latin typeface="微软雅黑" panose="020B0503020204020204" charset="-122"/>
                <a:ea typeface="微软雅黑" panose="020B0503020204020204" charset="-122"/>
              </a:rPr>
              <a:t>调度单</a:t>
            </a:r>
            <a:r>
              <a:rPr lang="zh-CN" altLang="zh-HK" sz="1000">
                <a:latin typeface="微软雅黑" panose="020B0503020204020204" charset="-122"/>
                <a:ea typeface="微软雅黑" panose="020B0503020204020204" charset="-122"/>
              </a:rPr>
              <a:t>数据</a:t>
            </a:r>
            <a:endParaRPr lang="zh-CN" altLang="zh-HK" sz="1000">
              <a:latin typeface="微软雅黑" panose="020B0503020204020204" charset="-122"/>
              <a:ea typeface="微软雅黑" panose="020B0503020204020204" charset="-122"/>
            </a:endParaRPr>
          </a:p>
        </p:txBody>
      </p:sp>
      <p:sp>
        <p:nvSpPr>
          <p:cNvPr id="64" name="矩形 63"/>
          <p:cNvSpPr/>
          <p:nvPr/>
        </p:nvSpPr>
        <p:spPr>
          <a:xfrm>
            <a:off x="5746750" y="5635625"/>
            <a:ext cx="2611120" cy="755650"/>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65" name="矩形 64"/>
          <p:cNvSpPr/>
          <p:nvPr/>
        </p:nvSpPr>
        <p:spPr>
          <a:xfrm>
            <a:off x="8522335" y="5632450"/>
            <a:ext cx="2611120" cy="758825"/>
          </a:xfrm>
          <a:prstGeom prst="rect">
            <a:avLst/>
          </a:prstGeom>
          <a:solidFill>
            <a:schemeClr val="bg1">
              <a:lumMod val="95000"/>
            </a:schemeClr>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cxnSp>
        <p:nvCxnSpPr>
          <p:cNvPr id="66" name="肘形連接符 65"/>
          <p:cNvCxnSpPr>
            <a:stCxn id="62" idx="2"/>
            <a:endCxn id="64" idx="0"/>
          </p:cNvCxnSpPr>
          <p:nvPr/>
        </p:nvCxnSpPr>
        <p:spPr>
          <a:xfrm rot="5400000">
            <a:off x="7452043" y="4701223"/>
            <a:ext cx="534670" cy="1334135"/>
          </a:xfrm>
          <a:prstGeom prst="bentConnector3">
            <a:avLst>
              <a:gd name="adj1" fmla="val 49941"/>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67" name="肘形連接符 66"/>
          <p:cNvCxnSpPr>
            <a:stCxn id="62" idx="2"/>
            <a:endCxn id="65" idx="0"/>
          </p:cNvCxnSpPr>
          <p:nvPr/>
        </p:nvCxnSpPr>
        <p:spPr>
          <a:xfrm rot="5400000" flipV="1">
            <a:off x="8841740" y="4645660"/>
            <a:ext cx="531495" cy="1441450"/>
          </a:xfrm>
          <a:prstGeom prst="bentConnector3">
            <a:avLst>
              <a:gd name="adj1" fmla="val 50000"/>
            </a:avLst>
          </a:prstGeom>
          <a:ln w="31750">
            <a:gradFill>
              <a:gsLst>
                <a:gs pos="0">
                  <a:schemeClr val="accent1">
                    <a:hueOff val="-4200000"/>
                  </a:schemeClr>
                </a:gs>
                <a:gs pos="100000">
                  <a:schemeClr val="accent1"/>
                </a:gs>
              </a:gsLst>
            </a:gradFill>
            <a:tailEnd type="arrow" w="med" len="med"/>
          </a:ln>
        </p:spPr>
        <p:style>
          <a:lnRef idx="0">
            <a:srgbClr val="FFFFFF"/>
          </a:lnRef>
          <a:fillRef idx="0">
            <a:srgbClr val="FFFFFF"/>
          </a:fillRef>
          <a:effectRef idx="0">
            <a:srgbClr val="FFFFFF"/>
          </a:effectRef>
          <a:fontRef idx="minor">
            <a:schemeClr val="tx1"/>
          </a:fontRef>
        </p:style>
      </p:cxnSp>
      <p:sp>
        <p:nvSpPr>
          <p:cNvPr id="68" name="文字框 67"/>
          <p:cNvSpPr txBox="1"/>
          <p:nvPr/>
        </p:nvSpPr>
        <p:spPr>
          <a:xfrm>
            <a:off x="6516370" y="5624195"/>
            <a:ext cx="10718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统一</a:t>
            </a:r>
            <a:r>
              <a:rPr kumimoji="1" lang="zh-CN" altLang="zh-HK" sz="1400" dirty="0" smtClean="0">
                <a:latin typeface="微软雅黑" panose="020B0503020204020204" charset="-122"/>
                <a:ea typeface="微软雅黑" panose="020B0503020204020204" charset="-122"/>
              </a:rPr>
              <a:t>工作台</a:t>
            </a:r>
            <a:endParaRPr kumimoji="1" lang="zh-CN" altLang="zh-HK" sz="1400" dirty="0" smtClean="0">
              <a:latin typeface="微软雅黑" panose="020B0503020204020204" charset="-122"/>
              <a:ea typeface="微软雅黑" panose="020B0503020204020204" charset="-122"/>
            </a:endParaRPr>
          </a:p>
        </p:txBody>
      </p:sp>
      <p:sp>
        <p:nvSpPr>
          <p:cNvPr id="69" name="圓角矩形 68"/>
          <p:cNvSpPr/>
          <p:nvPr/>
        </p:nvSpPr>
        <p:spPr>
          <a:xfrm>
            <a:off x="5882005" y="5962015"/>
            <a:ext cx="1141730"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调度任务查询</a:t>
            </a:r>
            <a:endParaRPr lang="zh-CN" altLang="zh-HK" sz="1200">
              <a:solidFill>
                <a:schemeClr val="tx1"/>
              </a:solidFill>
            </a:endParaRPr>
          </a:p>
        </p:txBody>
      </p:sp>
      <p:sp>
        <p:nvSpPr>
          <p:cNvPr id="70" name="圓角矩形 69"/>
          <p:cNvSpPr/>
          <p:nvPr/>
        </p:nvSpPr>
        <p:spPr>
          <a:xfrm>
            <a:off x="7098030" y="5962015"/>
            <a:ext cx="1141730"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调度任务管理</a:t>
            </a:r>
            <a:endParaRPr lang="zh-CN" altLang="zh-HK" sz="1200">
              <a:solidFill>
                <a:schemeClr val="tx1"/>
              </a:solidFill>
            </a:endParaRPr>
          </a:p>
        </p:txBody>
      </p:sp>
      <p:sp>
        <p:nvSpPr>
          <p:cNvPr id="71" name="文字框 70"/>
          <p:cNvSpPr txBox="1"/>
          <p:nvPr/>
        </p:nvSpPr>
        <p:spPr>
          <a:xfrm>
            <a:off x="9380855" y="5632450"/>
            <a:ext cx="894080" cy="306705"/>
          </a:xfrm>
          <a:prstGeom prst="rect">
            <a:avLst/>
          </a:prstGeom>
          <a:noFill/>
        </p:spPr>
        <p:txBody>
          <a:bodyPr wrap="none" rtlCol="0">
            <a:spAutoFit/>
          </a:bodyPr>
          <a:p>
            <a:pPr algn="l"/>
            <a:r>
              <a:rPr kumimoji="1" lang="zh-CN" altLang="zh-HK" sz="1400" dirty="0" smtClean="0">
                <a:latin typeface="微软雅黑" panose="020B0503020204020204" charset="-122"/>
                <a:ea typeface="微软雅黑" panose="020B0503020204020204" charset="-122"/>
              </a:rPr>
              <a:t>工单</a:t>
            </a:r>
            <a:r>
              <a:rPr kumimoji="1" lang="zh-CN" altLang="zh-HK" sz="1400" dirty="0" smtClean="0">
                <a:latin typeface="微软雅黑" panose="020B0503020204020204" charset="-122"/>
                <a:ea typeface="微软雅黑" panose="020B0503020204020204" charset="-122"/>
              </a:rPr>
              <a:t>系统</a:t>
            </a:r>
            <a:endParaRPr kumimoji="1" lang="zh-CN" altLang="zh-HK" sz="1400" dirty="0" smtClean="0">
              <a:latin typeface="微软雅黑" panose="020B0503020204020204" charset="-122"/>
              <a:ea typeface="微软雅黑" panose="020B0503020204020204" charset="-122"/>
            </a:endParaRPr>
          </a:p>
        </p:txBody>
      </p:sp>
      <p:sp>
        <p:nvSpPr>
          <p:cNvPr id="72" name="圓角矩形 71"/>
          <p:cNvSpPr/>
          <p:nvPr/>
        </p:nvSpPr>
        <p:spPr>
          <a:xfrm>
            <a:off x="8626475" y="5962015"/>
            <a:ext cx="1141730"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工单信息查询</a:t>
            </a:r>
            <a:endParaRPr lang="zh-CN" altLang="zh-HK" sz="1200">
              <a:solidFill>
                <a:schemeClr val="tx1"/>
              </a:solidFill>
            </a:endParaRPr>
          </a:p>
        </p:txBody>
      </p:sp>
      <p:sp>
        <p:nvSpPr>
          <p:cNvPr id="73" name="圓角矩形 72"/>
          <p:cNvSpPr/>
          <p:nvPr/>
        </p:nvSpPr>
        <p:spPr>
          <a:xfrm>
            <a:off x="9887585" y="5962015"/>
            <a:ext cx="1141730" cy="307340"/>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200">
                <a:solidFill>
                  <a:schemeClr val="tx1"/>
                </a:solidFill>
              </a:rPr>
              <a:t>工单处理</a:t>
            </a:r>
            <a:endParaRPr lang="zh-CN" altLang="zh-HK" sz="1200">
              <a:solidFill>
                <a:schemeClr val="tx1"/>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省级节点：集成</a:t>
            </a:r>
            <a:r>
              <a:rPr lang="zh-CN" altLang="en-US">
                <a:sym typeface="+mn-ea"/>
              </a:rPr>
              <a:t>平台能力实现省专区规范化</a:t>
            </a:r>
            <a:r>
              <a:rPr lang="zh-CN" altLang="en-US">
                <a:sym typeface="+mn-ea"/>
              </a:rPr>
              <a:t>建设</a:t>
            </a:r>
            <a:endParaRPr lang="zh-CN" altLang="en-US">
              <a:sym typeface="+mn-ea"/>
            </a:endParaRPr>
          </a:p>
        </p:txBody>
      </p:sp>
      <p:sp>
        <p:nvSpPr>
          <p:cNvPr id="139" name="文本框 138"/>
          <p:cNvSpPr txBox="1"/>
          <p:nvPr/>
        </p:nvSpPr>
        <p:spPr>
          <a:xfrm>
            <a:off x="194945" y="899795"/>
            <a:ext cx="11433175" cy="756285"/>
          </a:xfrm>
          <a:prstGeom prst="rect">
            <a:avLst/>
          </a:prstGeom>
          <a:noFill/>
        </p:spPr>
        <p:txBody>
          <a:bodyPr wrap="square" rtlCol="0" anchor="t">
            <a:noAutofit/>
          </a:bodyPr>
          <a:lstStyle/>
          <a:p>
            <a:pPr marL="306070" marR="0" lvl="0" indent="-306070" algn="l" defTabSz="914400" rtl="0" eaLnBrk="0" fontAlgn="auto" latinLnBrk="0" hangingPunct="1">
              <a:lnSpc>
                <a:spcPct val="109000"/>
              </a:lnSpc>
              <a:spcBef>
                <a:spcPts val="0"/>
              </a:spcBef>
              <a:spcAft>
                <a:spcPts val="0"/>
              </a:spcAft>
              <a:buClr>
                <a:srgbClr val="0070BF"/>
              </a:buClr>
              <a:buSzTx/>
              <a:buFont typeface="Wingdings" panose="05000000000000000000" charset="0"/>
              <a:buChar char="n"/>
              <a:tabLst>
                <a:tab pos="356870" algn="l"/>
              </a:tabLst>
              <a:defRPr/>
            </a:pPr>
            <a:r>
              <a:rPr kumimoji="1" lang="zh-HK" altLang="en-US" sz="1400" b="1" noProof="0" dirty="0">
                <a:solidFill>
                  <a:srgbClr val="000000">
                    <a:alpha val="100000"/>
                  </a:srgbClr>
                </a:solidFill>
                <a:ea typeface="+mn-lt"/>
                <a:cs typeface="+mn-lt"/>
                <a:sym typeface="+mn-ea"/>
              </a:rPr>
              <a:t>通过统一集成各省运营专区，构建</a:t>
            </a:r>
            <a:r>
              <a:rPr kumimoji="1" lang="en-US" altLang="zh-HK" sz="1400" b="1" noProof="0" dirty="0">
                <a:solidFill>
                  <a:srgbClr val="000000">
                    <a:alpha val="100000"/>
                  </a:srgbClr>
                </a:solidFill>
                <a:ea typeface="+mn-lt"/>
                <a:cs typeface="+mn-lt"/>
                <a:sym typeface="+mn-ea"/>
              </a:rPr>
              <a:t>“</a:t>
            </a:r>
            <a:r>
              <a:rPr kumimoji="1" lang="zh-HK" altLang="en-US" sz="1400" b="1" noProof="0" dirty="0">
                <a:solidFill>
                  <a:srgbClr val="000000">
                    <a:alpha val="100000"/>
                  </a:srgbClr>
                </a:solidFill>
                <a:ea typeface="+mn-lt"/>
                <a:cs typeface="+mn-lt"/>
                <a:sym typeface="+mn-ea"/>
              </a:rPr>
              <a:t>大屏</a:t>
            </a:r>
            <a:r>
              <a:rPr kumimoji="1" lang="en-US" altLang="zh-HK" sz="1400" b="1" noProof="0" dirty="0">
                <a:solidFill>
                  <a:srgbClr val="000000">
                    <a:alpha val="100000"/>
                  </a:srgbClr>
                </a:solidFill>
                <a:ea typeface="+mn-lt"/>
                <a:cs typeface="+mn-lt"/>
                <a:sym typeface="+mn-ea"/>
              </a:rPr>
              <a:t>-</a:t>
            </a:r>
            <a:r>
              <a:rPr kumimoji="1" lang="zh-HK" altLang="en-US" sz="1400" b="1" noProof="0" dirty="0">
                <a:solidFill>
                  <a:srgbClr val="000000">
                    <a:alpha val="100000"/>
                  </a:srgbClr>
                </a:solidFill>
                <a:ea typeface="+mn-lt"/>
                <a:cs typeface="+mn-lt"/>
                <a:sym typeface="+mn-ea"/>
              </a:rPr>
              <a:t>中屏</a:t>
            </a:r>
            <a:r>
              <a:rPr kumimoji="1" lang="en-US" altLang="zh-HK" sz="1400" b="1" noProof="0" dirty="0">
                <a:solidFill>
                  <a:srgbClr val="000000">
                    <a:alpha val="100000"/>
                  </a:srgbClr>
                </a:solidFill>
                <a:ea typeface="+mn-lt"/>
                <a:cs typeface="+mn-lt"/>
                <a:sym typeface="+mn-ea"/>
              </a:rPr>
              <a:t>-</a:t>
            </a:r>
            <a:r>
              <a:rPr kumimoji="1" lang="zh-HK" altLang="en-US" sz="1400" b="1" noProof="0" dirty="0">
                <a:solidFill>
                  <a:srgbClr val="000000">
                    <a:alpha val="100000"/>
                  </a:srgbClr>
                </a:solidFill>
                <a:ea typeface="+mn-lt"/>
                <a:cs typeface="+mn-lt"/>
                <a:sym typeface="+mn-ea"/>
              </a:rPr>
              <a:t>小屏</a:t>
            </a:r>
            <a:r>
              <a:rPr kumimoji="1" lang="en-US" altLang="zh-HK" sz="1400" b="1" noProof="0" dirty="0">
                <a:solidFill>
                  <a:srgbClr val="000000">
                    <a:alpha val="100000"/>
                  </a:srgbClr>
                </a:solidFill>
                <a:ea typeface="+mn-lt"/>
                <a:cs typeface="+mn-lt"/>
                <a:sym typeface="+mn-ea"/>
              </a:rPr>
              <a:t>”</a:t>
            </a:r>
            <a:r>
              <a:rPr kumimoji="1" lang="zh-HK" altLang="en-US" sz="1400" b="1" noProof="0" dirty="0">
                <a:solidFill>
                  <a:srgbClr val="000000">
                    <a:alpha val="100000"/>
                  </a:srgbClr>
                </a:solidFill>
                <a:ea typeface="+mn-lt"/>
                <a:cs typeface="+mn-lt"/>
                <a:sym typeface="+mn-ea"/>
              </a:rPr>
              <a:t>三屏联动体系，在保障数据安全与体验统一的同时，为省端提供分层运营支撑与本地化闭环执行能力。</a:t>
            </a:r>
            <a:endParaRPr kumimoji="1" lang="zh-HK" altLang="en-US" sz="1400" b="1" noProof="0" dirty="0">
              <a:solidFill>
                <a:srgbClr val="000000">
                  <a:alpha val="100000"/>
                </a:srgbClr>
              </a:solidFill>
              <a:ea typeface="+mn-lt"/>
              <a:cs typeface="+mn-lt"/>
              <a:sym typeface="+mn-ea"/>
            </a:endParaRPr>
          </a:p>
        </p:txBody>
      </p:sp>
      <p:sp>
        <p:nvSpPr>
          <p:cNvPr id="4" name="矩形 3"/>
          <p:cNvSpPr/>
          <p:nvPr/>
        </p:nvSpPr>
        <p:spPr>
          <a:xfrm>
            <a:off x="996315" y="1666875"/>
            <a:ext cx="9885680" cy="1897380"/>
          </a:xfrm>
          <a:prstGeom prst="rect">
            <a:avLst/>
          </a:prstGeom>
          <a:solidFill>
            <a:schemeClr val="bg1">
              <a:lumMod val="95000"/>
            </a:schemeClr>
          </a:solidFill>
          <a:ln w="12700" cap="flat" cmpd="sng" algn="ctr">
            <a:solidFill>
              <a:schemeClr val="bg1">
                <a:lumMod val="95000"/>
              </a:schemeClr>
            </a:solid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5" name="文字框 4"/>
          <p:cNvSpPr txBox="1"/>
          <p:nvPr/>
        </p:nvSpPr>
        <p:spPr>
          <a:xfrm>
            <a:off x="5089525" y="1743710"/>
            <a:ext cx="1699260" cy="337185"/>
          </a:xfrm>
          <a:prstGeom prst="rect">
            <a:avLst/>
          </a:prstGeom>
          <a:noFill/>
        </p:spPr>
        <p:txBody>
          <a:bodyPr wrap="square" rtlCol="0">
            <a:spAutoFit/>
          </a:bodyPr>
          <a:p>
            <a:pPr algn="l"/>
            <a:r>
              <a:rPr kumimoji="1" lang="zh-CN" altLang="zh-HK" sz="1600" b="1" dirty="0" smtClean="0">
                <a:solidFill>
                  <a:srgbClr val="0070BF"/>
                </a:solidFill>
                <a:latin typeface="微软雅黑" panose="020B0503020204020204" charset="-122"/>
                <a:ea typeface="微软雅黑" panose="020B0503020204020204" charset="-122"/>
              </a:rPr>
              <a:t>一级运营平台</a:t>
            </a:r>
            <a:endParaRPr kumimoji="1" lang="zh-CN" altLang="zh-HK" sz="1600" b="1" dirty="0" smtClean="0">
              <a:solidFill>
                <a:srgbClr val="0070BF"/>
              </a:solidFill>
              <a:latin typeface="微软雅黑" panose="020B0503020204020204" charset="-122"/>
              <a:ea typeface="微软雅黑" panose="020B0503020204020204" charset="-122"/>
            </a:endParaRPr>
          </a:p>
        </p:txBody>
      </p:sp>
      <p:sp>
        <p:nvSpPr>
          <p:cNvPr id="7" name="文字框 6"/>
          <p:cNvSpPr txBox="1"/>
          <p:nvPr/>
        </p:nvSpPr>
        <p:spPr>
          <a:xfrm>
            <a:off x="1410335" y="2701290"/>
            <a:ext cx="1083945" cy="306705"/>
          </a:xfrm>
          <a:prstGeom prst="rect">
            <a:avLst/>
          </a:prstGeom>
          <a:noFill/>
        </p:spPr>
        <p:txBody>
          <a:bodyPr wrap="square" rtlCol="0">
            <a:spAutoFit/>
          </a:bodyPr>
          <a:p>
            <a:pPr algn="ctr"/>
            <a:r>
              <a:rPr kumimoji="1" lang="zh-CN" altLang="zh-HK" sz="1400" b="1" dirty="0" smtClean="0">
                <a:latin typeface="微软雅黑" panose="020B0503020204020204" charset="-122"/>
                <a:ea typeface="微软雅黑" panose="020B0503020204020204" charset="-122"/>
              </a:rPr>
              <a:t>能力集成</a:t>
            </a:r>
            <a:endParaRPr kumimoji="1" lang="zh-CN" altLang="zh-HK" sz="1400" b="1" dirty="0" smtClean="0">
              <a:latin typeface="微软雅黑" panose="020B0503020204020204" charset="-122"/>
              <a:ea typeface="微软雅黑" panose="020B0503020204020204" charset="-122"/>
            </a:endParaRPr>
          </a:p>
        </p:txBody>
      </p:sp>
      <p:sp>
        <p:nvSpPr>
          <p:cNvPr id="18" name="矩形 17"/>
          <p:cNvSpPr/>
          <p:nvPr/>
        </p:nvSpPr>
        <p:spPr>
          <a:xfrm>
            <a:off x="996315" y="4092575"/>
            <a:ext cx="1807210" cy="379730"/>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省公司</a:t>
            </a:r>
            <a:r>
              <a:rPr lang="en-US" altLang="zh-CN" sz="1400">
                <a:solidFill>
                  <a:schemeClr val="tx1"/>
                </a:solidFill>
              </a:rPr>
              <a:t>A</a:t>
            </a:r>
            <a:endParaRPr lang="en-US" altLang="zh-CN" sz="1400">
              <a:solidFill>
                <a:schemeClr val="tx1"/>
              </a:solidFill>
            </a:endParaRPr>
          </a:p>
        </p:txBody>
      </p:sp>
      <p:sp>
        <p:nvSpPr>
          <p:cNvPr id="19" name="矩形 18"/>
          <p:cNvSpPr/>
          <p:nvPr/>
        </p:nvSpPr>
        <p:spPr>
          <a:xfrm>
            <a:off x="3187700" y="4092575"/>
            <a:ext cx="1807210" cy="379730"/>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省公司</a:t>
            </a:r>
            <a:r>
              <a:rPr lang="en-US" altLang="zh-CN" sz="1400">
                <a:solidFill>
                  <a:schemeClr val="tx1"/>
                </a:solidFill>
              </a:rPr>
              <a:t>B</a:t>
            </a:r>
            <a:endParaRPr lang="en-US" altLang="zh-CN" sz="1400">
              <a:solidFill>
                <a:schemeClr val="tx1"/>
              </a:solidFill>
            </a:endParaRPr>
          </a:p>
        </p:txBody>
      </p:sp>
      <p:sp>
        <p:nvSpPr>
          <p:cNvPr id="20" name="矩形 19"/>
          <p:cNvSpPr/>
          <p:nvPr/>
        </p:nvSpPr>
        <p:spPr>
          <a:xfrm>
            <a:off x="5379085" y="4092575"/>
            <a:ext cx="1807210" cy="379730"/>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省公司</a:t>
            </a:r>
            <a:r>
              <a:rPr lang="en-US" altLang="zh-CN" sz="1400">
                <a:solidFill>
                  <a:schemeClr val="tx1"/>
                </a:solidFill>
              </a:rPr>
              <a:t>C</a:t>
            </a:r>
            <a:endParaRPr lang="en-US" altLang="zh-CN" sz="1400">
              <a:solidFill>
                <a:schemeClr val="tx1"/>
              </a:solidFill>
            </a:endParaRPr>
          </a:p>
        </p:txBody>
      </p:sp>
      <p:sp>
        <p:nvSpPr>
          <p:cNvPr id="21" name="矩形 20"/>
          <p:cNvSpPr/>
          <p:nvPr/>
        </p:nvSpPr>
        <p:spPr>
          <a:xfrm>
            <a:off x="7570470" y="4092575"/>
            <a:ext cx="1807210" cy="379730"/>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省公司</a:t>
            </a:r>
            <a:r>
              <a:rPr lang="en-US" altLang="zh-CN" sz="1400">
                <a:solidFill>
                  <a:schemeClr val="tx1"/>
                </a:solidFill>
              </a:rPr>
              <a:t>D</a:t>
            </a:r>
            <a:endParaRPr lang="en-US" altLang="zh-CN" sz="1400">
              <a:solidFill>
                <a:schemeClr val="tx1"/>
              </a:solidFill>
            </a:endParaRPr>
          </a:p>
        </p:txBody>
      </p:sp>
      <p:sp>
        <p:nvSpPr>
          <p:cNvPr id="22" name="矩形 21"/>
          <p:cNvSpPr/>
          <p:nvPr/>
        </p:nvSpPr>
        <p:spPr>
          <a:xfrm>
            <a:off x="9761220" y="4092575"/>
            <a:ext cx="1133475" cy="379730"/>
          </a:xfrm>
          <a:prstGeom prst="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en-US" sz="1400">
                <a:solidFill>
                  <a:schemeClr val="tx1"/>
                </a:solidFill>
              </a:rPr>
              <a:t>......</a:t>
            </a:r>
            <a:endParaRPr lang="en-US" sz="1400">
              <a:solidFill>
                <a:schemeClr val="tx1"/>
              </a:solidFill>
            </a:endParaRPr>
          </a:p>
        </p:txBody>
      </p:sp>
      <p:sp>
        <p:nvSpPr>
          <p:cNvPr id="23" name="上箭頭 22"/>
          <p:cNvSpPr/>
          <p:nvPr/>
        </p:nvSpPr>
        <p:spPr>
          <a:xfrm>
            <a:off x="1045210" y="3559175"/>
            <a:ext cx="9943465" cy="535940"/>
          </a:xfrm>
          <a:prstGeom prst="up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4" name="文字框 23"/>
          <p:cNvSpPr txBox="1"/>
          <p:nvPr/>
        </p:nvSpPr>
        <p:spPr>
          <a:xfrm>
            <a:off x="4402455" y="3757295"/>
            <a:ext cx="3229610" cy="306705"/>
          </a:xfrm>
          <a:prstGeom prst="rect">
            <a:avLst/>
          </a:prstGeom>
          <a:noFill/>
        </p:spPr>
        <p:txBody>
          <a:bodyPr wrap="square" rtlCol="0">
            <a:spAutoFit/>
          </a:bodyPr>
          <a:p>
            <a:pPr algn="ctr"/>
            <a:r>
              <a:rPr kumimoji="1" lang="zh-CN" altLang="en-US" sz="1400" dirty="0" smtClean="0">
                <a:latin typeface="微软雅黑" panose="020B0503020204020204" charset="-122"/>
                <a:ea typeface="微软雅黑" panose="020B0503020204020204" charset="-122"/>
              </a:rPr>
              <a:t>各省专区通过页面集成方式</a:t>
            </a:r>
            <a:r>
              <a:rPr kumimoji="1" lang="zh-CN" altLang="en-US" sz="1400" dirty="0" smtClean="0">
                <a:latin typeface="微软雅黑" panose="020B0503020204020204" charset="-122"/>
                <a:ea typeface="微软雅黑" panose="020B0503020204020204" charset="-122"/>
              </a:rPr>
              <a:t>开设</a:t>
            </a:r>
            <a:endParaRPr kumimoji="1" lang="zh-CN" altLang="en-US" sz="1400" dirty="0" smtClean="0">
              <a:latin typeface="微软雅黑" panose="020B0503020204020204" charset="-122"/>
              <a:ea typeface="微软雅黑" panose="020B0503020204020204" charset="-122"/>
            </a:endParaRPr>
          </a:p>
        </p:txBody>
      </p:sp>
      <p:sp>
        <p:nvSpPr>
          <p:cNvPr id="6" name="圓角矩形 5"/>
          <p:cNvSpPr/>
          <p:nvPr/>
        </p:nvSpPr>
        <p:spPr>
          <a:xfrm>
            <a:off x="2957830" y="2172335"/>
            <a:ext cx="2139950" cy="313055"/>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系统页面</a:t>
            </a:r>
            <a:endParaRPr lang="zh-CN" altLang="zh-HK" sz="1400">
              <a:solidFill>
                <a:schemeClr val="tx1"/>
              </a:solidFill>
            </a:endParaRPr>
          </a:p>
        </p:txBody>
      </p:sp>
      <p:sp>
        <p:nvSpPr>
          <p:cNvPr id="11" name="圓角矩形 10"/>
          <p:cNvSpPr/>
          <p:nvPr/>
        </p:nvSpPr>
        <p:spPr>
          <a:xfrm>
            <a:off x="5615940" y="2177415"/>
            <a:ext cx="2139950" cy="313055"/>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管理功能</a:t>
            </a:r>
            <a:endParaRPr lang="zh-CN" altLang="zh-HK" sz="1400">
              <a:solidFill>
                <a:schemeClr val="tx1"/>
              </a:solidFill>
            </a:endParaRPr>
          </a:p>
        </p:txBody>
      </p:sp>
      <p:sp>
        <p:nvSpPr>
          <p:cNvPr id="12" name="圓角矩形 11"/>
          <p:cNvSpPr/>
          <p:nvPr/>
        </p:nvSpPr>
        <p:spPr>
          <a:xfrm>
            <a:off x="8272780" y="2172335"/>
            <a:ext cx="2139950" cy="313055"/>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数据视图</a:t>
            </a:r>
            <a:endParaRPr lang="zh-CN" altLang="zh-HK" sz="1400">
              <a:solidFill>
                <a:schemeClr val="tx1"/>
              </a:solidFill>
            </a:endParaRPr>
          </a:p>
        </p:txBody>
      </p:sp>
      <p:sp>
        <p:nvSpPr>
          <p:cNvPr id="16" name="圓角矩形 15"/>
          <p:cNvSpPr/>
          <p:nvPr/>
        </p:nvSpPr>
        <p:spPr>
          <a:xfrm>
            <a:off x="2957830" y="2705100"/>
            <a:ext cx="7456170" cy="313055"/>
          </a:xfrm>
          <a:prstGeom prst="roundRect">
            <a:avLst/>
          </a:prstGeom>
          <a:solidFill>
            <a:srgbClr val="DEEBFE"/>
          </a:solidFill>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solidFill>
                  <a:schemeClr val="tx1"/>
                </a:solidFill>
              </a:rPr>
              <a:t>省公司专区</a:t>
            </a:r>
            <a:endParaRPr lang="zh-CN" altLang="zh-HK" sz="1400">
              <a:solidFill>
                <a:schemeClr val="tx1"/>
              </a:solidFill>
            </a:endParaRPr>
          </a:p>
        </p:txBody>
      </p:sp>
      <p:sp>
        <p:nvSpPr>
          <p:cNvPr id="17" name="文字框 16"/>
          <p:cNvSpPr txBox="1"/>
          <p:nvPr/>
        </p:nvSpPr>
        <p:spPr>
          <a:xfrm>
            <a:off x="3246755" y="3159125"/>
            <a:ext cx="6879590" cy="306705"/>
          </a:xfrm>
          <a:prstGeom prst="rect">
            <a:avLst/>
          </a:prstGeom>
        </p:spPr>
        <p:txBody>
          <a:bodyPr>
            <a:spAutoFit/>
          </a:bodyPr>
          <a:p>
            <a:pPr marL="0" indent="0" algn="ctr" defTabSz="266700">
              <a:spcBef>
                <a:spcPct val="0"/>
              </a:spcBef>
              <a:spcAft>
                <a:spcPct val="0"/>
              </a:spcAft>
            </a:pPr>
            <a:r>
              <a:rPr lang="zh-CN" altLang="en-US" sz="1400" b="1">
                <a:solidFill>
                  <a:srgbClr val="C00000"/>
                </a:solidFill>
                <a:latin typeface="微软雅黑" panose="020B0503020204020204" charset="-122"/>
                <a:ea typeface="微软雅黑" panose="020B0503020204020204" charset="-122"/>
              </a:rPr>
              <a:t>数据不出库、权限可控、体验统一</a:t>
            </a:r>
            <a:endParaRPr lang="zh-CN" altLang="en-US" sz="1400" b="1">
              <a:solidFill>
                <a:srgbClr val="C00000"/>
              </a:solidFill>
              <a:latin typeface="微软雅黑" panose="020B0503020204020204" charset="-122"/>
              <a:ea typeface="微软雅黑" panose="020B0503020204020204" charset="-122"/>
            </a:endParaRPr>
          </a:p>
        </p:txBody>
      </p:sp>
      <p:sp>
        <p:nvSpPr>
          <p:cNvPr id="25" name="下箭頭 24"/>
          <p:cNvSpPr/>
          <p:nvPr/>
        </p:nvSpPr>
        <p:spPr>
          <a:xfrm>
            <a:off x="3679190" y="2488565"/>
            <a:ext cx="582930" cy="23114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6" name="下箭頭 25"/>
          <p:cNvSpPr/>
          <p:nvPr/>
        </p:nvSpPr>
        <p:spPr>
          <a:xfrm>
            <a:off x="6396355" y="2480945"/>
            <a:ext cx="582930" cy="23114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27" name="下箭頭 26"/>
          <p:cNvSpPr/>
          <p:nvPr/>
        </p:nvSpPr>
        <p:spPr>
          <a:xfrm>
            <a:off x="9067165" y="2485390"/>
            <a:ext cx="582930" cy="231140"/>
          </a:xfrm>
          <a:prstGeom prst="downArrow">
            <a:avLst/>
          </a:prstGeom>
          <a:solidFill>
            <a:srgbClr val="B6C7EA"/>
          </a:solidFill>
          <a:ln w="12700" cap="flat" cmpd="sng" algn="ctr">
            <a:noFill/>
            <a:prstDash val="solid"/>
            <a:miter lim="800000"/>
          </a:ln>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1" name="文字框 30"/>
          <p:cNvSpPr txBox="1"/>
          <p:nvPr/>
        </p:nvSpPr>
        <p:spPr>
          <a:xfrm>
            <a:off x="884555" y="5507355"/>
            <a:ext cx="896620" cy="521970"/>
          </a:xfrm>
          <a:prstGeom prst="rect">
            <a:avLst/>
          </a:prstGeom>
          <a:noFill/>
        </p:spPr>
        <p:txBody>
          <a:bodyPr wrap="none" rtlCol="0">
            <a:spAutoFit/>
          </a:bodyPr>
          <a:p>
            <a:pPr algn="l"/>
            <a:r>
              <a:rPr kumimoji="1" lang="zh-CN" altLang="zh-HK" sz="1400" b="1" dirty="0" smtClean="0">
                <a:solidFill>
                  <a:srgbClr val="C00000"/>
                </a:solidFill>
                <a:latin typeface="微软雅黑" panose="020B0503020204020204" charset="-122"/>
                <a:ea typeface="微软雅黑" panose="020B0503020204020204" charset="-122"/>
              </a:rPr>
              <a:t>省级节点</a:t>
            </a:r>
            <a:endParaRPr kumimoji="1" lang="zh-CN" altLang="zh-HK" sz="1400" b="1" dirty="0" smtClean="0">
              <a:solidFill>
                <a:srgbClr val="C00000"/>
              </a:solidFill>
              <a:latin typeface="微软雅黑" panose="020B0503020204020204" charset="-122"/>
              <a:ea typeface="微软雅黑" panose="020B0503020204020204" charset="-122"/>
            </a:endParaRPr>
          </a:p>
          <a:p>
            <a:pPr algn="l"/>
            <a:r>
              <a:rPr kumimoji="1" lang="zh-CN" altLang="zh-HK" sz="1400" b="1" dirty="0" smtClean="0">
                <a:solidFill>
                  <a:srgbClr val="C00000"/>
                </a:solidFill>
                <a:latin typeface="微软雅黑" panose="020B0503020204020204" charset="-122"/>
                <a:ea typeface="微软雅黑" panose="020B0503020204020204" charset="-122"/>
              </a:rPr>
              <a:t>建设内容</a:t>
            </a:r>
            <a:endParaRPr kumimoji="1" lang="zh-CN" altLang="zh-HK" sz="1400" b="1" dirty="0" smtClean="0">
              <a:solidFill>
                <a:srgbClr val="C00000"/>
              </a:solidFill>
              <a:latin typeface="微软雅黑" panose="020B0503020204020204" charset="-122"/>
              <a:ea typeface="微软雅黑" panose="020B0503020204020204" charset="-122"/>
            </a:endParaRPr>
          </a:p>
        </p:txBody>
      </p:sp>
      <p:sp>
        <p:nvSpPr>
          <p:cNvPr id="41" name="矩形 40"/>
          <p:cNvSpPr/>
          <p:nvPr/>
        </p:nvSpPr>
        <p:spPr>
          <a:xfrm>
            <a:off x="1967865" y="5008880"/>
            <a:ext cx="2944495" cy="1519555"/>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3" name="矩形 32"/>
          <p:cNvSpPr/>
          <p:nvPr/>
        </p:nvSpPr>
        <p:spPr>
          <a:xfrm>
            <a:off x="5129530" y="5012690"/>
            <a:ext cx="2944495" cy="1519555"/>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4" name="矩形 33"/>
          <p:cNvSpPr/>
          <p:nvPr/>
        </p:nvSpPr>
        <p:spPr>
          <a:xfrm>
            <a:off x="8180070" y="5012690"/>
            <a:ext cx="2944495" cy="1519555"/>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36" name="矩形 35"/>
          <p:cNvSpPr/>
          <p:nvPr/>
        </p:nvSpPr>
        <p:spPr>
          <a:xfrm>
            <a:off x="2652395" y="4852670"/>
            <a:ext cx="1576070" cy="30607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运营</a:t>
            </a:r>
            <a:r>
              <a:rPr lang="zh-CN" altLang="zh-HK" sz="1400"/>
              <a:t>视图</a:t>
            </a:r>
            <a:endParaRPr lang="zh-CN" altLang="zh-HK" sz="1400"/>
          </a:p>
        </p:txBody>
      </p:sp>
      <p:sp>
        <p:nvSpPr>
          <p:cNvPr id="37" name="矩形 36"/>
          <p:cNvSpPr/>
          <p:nvPr/>
        </p:nvSpPr>
        <p:spPr>
          <a:xfrm>
            <a:off x="5887085" y="4856480"/>
            <a:ext cx="1576070" cy="30607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运营</a:t>
            </a:r>
            <a:r>
              <a:rPr lang="zh-CN" altLang="zh-HK" sz="1400"/>
              <a:t>专区</a:t>
            </a:r>
            <a:endParaRPr lang="zh-CN" altLang="zh-HK" sz="1400"/>
          </a:p>
        </p:txBody>
      </p:sp>
      <p:sp>
        <p:nvSpPr>
          <p:cNvPr id="38" name="矩形 37"/>
          <p:cNvSpPr/>
          <p:nvPr/>
        </p:nvSpPr>
        <p:spPr>
          <a:xfrm>
            <a:off x="8875395" y="4852670"/>
            <a:ext cx="1576070" cy="306070"/>
          </a:xfrm>
          <a:prstGeom prst="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r>
              <a:rPr lang="zh-CN" altLang="zh-HK" sz="1400"/>
              <a:t>运营</a:t>
            </a:r>
            <a:r>
              <a:rPr lang="zh-CN" altLang="zh-HK" sz="1400"/>
              <a:t>支撑</a:t>
            </a:r>
            <a:endParaRPr lang="zh-CN" altLang="zh-HK" sz="1400"/>
          </a:p>
        </p:txBody>
      </p:sp>
      <p:sp>
        <p:nvSpPr>
          <p:cNvPr id="39" name="文字框 38"/>
          <p:cNvSpPr txBox="1"/>
          <p:nvPr/>
        </p:nvSpPr>
        <p:spPr>
          <a:xfrm>
            <a:off x="2017395" y="5229860"/>
            <a:ext cx="2919095" cy="1168400"/>
          </a:xfrm>
          <a:prstGeom prst="rect">
            <a:avLst/>
          </a:prstGeom>
          <a:noFill/>
        </p:spPr>
        <p:txBody>
          <a:bodyPr wrap="square" rtlCol="0" anchor="t">
            <a:spAutoFit/>
          </a:bodyPr>
          <a:p>
            <a:pPr algn="l">
              <a:lnSpc>
                <a:spcPct val="125000"/>
              </a:lnSpc>
              <a:spcBef>
                <a:spcPts val="0"/>
              </a:spcBef>
              <a:spcAft>
                <a:spcPts val="0"/>
              </a:spcAft>
            </a:pP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构建</a:t>
            </a:r>
            <a:r>
              <a:rPr lang="zh-CN"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“大屏指挥、中屏运营、小屏生产”</a:t>
            </a: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的三屏联动体系，为省、市、县、格各级人员提供</a:t>
            </a:r>
            <a:r>
              <a:rPr lang="zh-CN"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分角色</a:t>
            </a: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CN"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分层级</a:t>
            </a:r>
            <a:r>
              <a:rPr lang="zh-CN" altLang="en-US" sz="1400">
                <a:solidFill>
                  <a:srgbClr val="0F1115"/>
                </a:solidFill>
                <a:latin typeface="微软雅黑" panose="020B0503020204020204" charset="-122"/>
                <a:ea typeface="微软雅黑" panose="020B0503020204020204" charset="-122"/>
                <a:cs typeface="微软雅黑" panose="020B0503020204020204" charset="-122"/>
                <a:sym typeface="+mn-ea"/>
              </a:rPr>
              <a:t>的数据洞察与决策支持。</a:t>
            </a:r>
            <a:endParaRPr kumimoji="1" lang="zh-CN" altLang="en-US" sz="1400" dirty="0" smtClean="0">
              <a:solidFill>
                <a:srgbClr val="0F1115"/>
              </a:solidFill>
              <a:latin typeface="微软雅黑" panose="020B0503020204020204" charset="-122"/>
              <a:ea typeface="微软雅黑" panose="020B0503020204020204" charset="-122"/>
              <a:cs typeface="微软雅黑" panose="020B0503020204020204" charset="-122"/>
              <a:sym typeface="+mn-ea"/>
            </a:endParaRPr>
          </a:p>
        </p:txBody>
      </p:sp>
      <p:sp>
        <p:nvSpPr>
          <p:cNvPr id="40" name="文字框 39"/>
          <p:cNvSpPr txBox="1"/>
          <p:nvPr/>
        </p:nvSpPr>
        <p:spPr>
          <a:xfrm>
            <a:off x="5139690" y="5233035"/>
            <a:ext cx="2919095" cy="1168400"/>
          </a:xfrm>
          <a:prstGeom prst="rect">
            <a:avLst/>
          </a:prstGeom>
          <a:noFill/>
        </p:spPr>
        <p:txBody>
          <a:bodyPr wrap="square" rtlCol="0" anchor="t">
            <a:spAutoFit/>
          </a:bodyPr>
          <a:p>
            <a:pPr defTabSz="266700">
              <a:lnSpc>
                <a:spcPct val="125000"/>
              </a:lnSpc>
              <a:spcBef>
                <a:spcPts val="0"/>
              </a:spcBef>
              <a:spcAft>
                <a:spcPts val="0"/>
              </a:spcAft>
            </a:pP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建设面向本省的</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存量运营</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细分市场</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（如银发、校园、国际等）专属运营阵地，支持</a:t>
            </a:r>
            <a:r>
              <a:rPr lang="en-US" altLang="zh-HK" sz="1400" b="1">
                <a:solidFill>
                  <a:srgbClr val="0070BF"/>
                </a:solidFill>
                <a:latin typeface="微软雅黑" panose="020B0503020204020204" charset="-122"/>
                <a:ea typeface="微软雅黑" panose="020B0503020204020204" charset="-122"/>
                <a:cs typeface="微软雅黑" panose="020B0503020204020204" charset="-122"/>
                <a:sym typeface="+mn-ea"/>
              </a:rPr>
              <a:t>“</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察策打评</a:t>
            </a:r>
            <a:r>
              <a:rPr lang="en-US" altLang="zh-HK" sz="1400" b="1">
                <a:solidFill>
                  <a:srgbClr val="0070BF"/>
                </a:solidFill>
                <a:latin typeface="微软雅黑" panose="020B0503020204020204" charset="-122"/>
                <a:ea typeface="微软雅黑" panose="020B0503020204020204" charset="-122"/>
                <a:cs typeface="微软雅黑" panose="020B0503020204020204" charset="-122"/>
                <a:sym typeface="+mn-ea"/>
              </a:rPr>
              <a:t>”</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闭环运营流程的本地化执行。</a:t>
            </a:r>
            <a:endParaRPr kumimoji="1" lang="zh-CN" altLang="en-US" sz="1400" dirty="0" smtClean="0">
              <a:solidFill>
                <a:srgbClr val="0F1115"/>
              </a:solidFill>
              <a:latin typeface="微软雅黑" panose="020B0503020204020204" charset="-122"/>
              <a:ea typeface="微软雅黑" panose="020B0503020204020204" charset="-122"/>
              <a:cs typeface="微软雅黑" panose="020B0503020204020204" charset="-122"/>
              <a:sym typeface="+mn-ea"/>
            </a:endParaRPr>
          </a:p>
        </p:txBody>
      </p:sp>
      <p:sp>
        <p:nvSpPr>
          <p:cNvPr id="43" name="矩形 42"/>
          <p:cNvSpPr/>
          <p:nvPr/>
        </p:nvSpPr>
        <p:spPr>
          <a:xfrm>
            <a:off x="884555" y="1581785"/>
            <a:ext cx="10239375" cy="3073400"/>
          </a:xfrm>
          <a:prstGeom prst="rect">
            <a:avLst/>
          </a:prstGeom>
          <a:noFill/>
          <a:ln w="12700" cap="flat" cmpd="sng" algn="ctr">
            <a:solidFill>
              <a:schemeClr val="bg1">
                <a:lumMod val="65000"/>
              </a:schemeClr>
            </a:solidFill>
            <a:prstDash val="dash"/>
            <a:miter lim="800000"/>
          </a:ln>
          <a:extLst>
            <a:ext uri="{909E8E84-426E-40DD-AFC4-6F175D3DCCD1}">
              <a14:hiddenFill xmlns:a14="http://schemas.microsoft.com/office/drawing/2010/main">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14:hiddenFill>
            </a:ext>
          </a:extLst>
        </p:spPr>
        <p:txBody>
          <a:bodyPr lIns="0" tIns="0" rIns="0" bIns="0" rtlCol="0" anchor="ctr"/>
          <a:p>
            <a:pPr marL="0" marR="0" lvl="0" indent="0" algn="ctr" defTabSz="914400" rtl="0" eaLnBrk="1" fontAlgn="auto" latinLnBrk="0" hangingPunct="1">
              <a:lnSpc>
                <a:spcPct val="100000"/>
              </a:lnSpc>
              <a:spcBef>
                <a:spcPts val="0"/>
              </a:spcBef>
              <a:spcAft>
                <a:spcPts val="0"/>
              </a:spcAft>
              <a:buClrTx/>
              <a:buSzTx/>
              <a:buFontTx/>
              <a:buNone/>
            </a:pPr>
            <a:endParaRPr lang="zh-HK" altLang="en-US"/>
          </a:p>
        </p:txBody>
      </p:sp>
      <p:sp>
        <p:nvSpPr>
          <p:cNvPr id="44" name="文字框 43"/>
          <p:cNvSpPr txBox="1"/>
          <p:nvPr/>
        </p:nvSpPr>
        <p:spPr>
          <a:xfrm>
            <a:off x="8267065" y="5238750"/>
            <a:ext cx="2722245" cy="1168400"/>
          </a:xfrm>
          <a:prstGeom prst="rect">
            <a:avLst/>
          </a:prstGeom>
          <a:noFill/>
        </p:spPr>
        <p:txBody>
          <a:bodyPr wrap="square" rtlCol="0" anchor="t">
            <a:spAutoFit/>
          </a:bodyPr>
          <a:p>
            <a:pPr defTabSz="266700">
              <a:lnSpc>
                <a:spcPct val="125000"/>
              </a:lnSpc>
              <a:spcBef>
                <a:spcPts val="0"/>
              </a:spcBef>
              <a:spcAft>
                <a:spcPts val="0"/>
              </a:spcAft>
            </a:pP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提供</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客户洞察</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营销策划</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调度管理</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HK" altLang="en-US" sz="1400" b="1">
                <a:solidFill>
                  <a:srgbClr val="0070BF"/>
                </a:solidFill>
                <a:latin typeface="微软雅黑" panose="020B0503020204020204" charset="-122"/>
                <a:ea typeface="微软雅黑" panose="020B0503020204020204" charset="-122"/>
                <a:cs typeface="微软雅黑" panose="020B0503020204020204" charset="-122"/>
                <a:sym typeface="+mn-ea"/>
              </a:rPr>
              <a:t>效果评估</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等一站式支撑能力，打通本省市场运营的</a:t>
            </a:r>
            <a:r>
              <a:rPr lang="en-US" altLang="zh-HK" sz="1400">
                <a:solidFill>
                  <a:srgbClr val="0F1115"/>
                </a:solidFill>
                <a:latin typeface="微软雅黑" panose="020B0503020204020204" charset="-122"/>
                <a:ea typeface="微软雅黑" panose="020B0503020204020204" charset="-122"/>
                <a:cs typeface="微软雅黑" panose="020B0503020204020204" charset="-122"/>
                <a:sym typeface="+mn-ea"/>
              </a:rPr>
              <a:t>“</a:t>
            </a:r>
            <a:r>
              <a:rPr lang="zh-HK" altLang="en-US" sz="1400">
                <a:solidFill>
                  <a:srgbClr val="0F1115"/>
                </a:solidFill>
                <a:latin typeface="微软雅黑" panose="020B0503020204020204" charset="-122"/>
                <a:ea typeface="微软雅黑" panose="020B0503020204020204" charset="-122"/>
                <a:cs typeface="微软雅黑" panose="020B0503020204020204" charset="-122"/>
                <a:sym typeface="+mn-ea"/>
              </a:rPr>
              <a:t>最后一公里</a:t>
            </a:r>
            <a:r>
              <a:rPr lang="en-US" altLang="zh-HK" sz="1400">
                <a:solidFill>
                  <a:srgbClr val="0F1115"/>
                </a:solidFill>
                <a:latin typeface="微软雅黑" panose="020B0503020204020204" charset="-122"/>
                <a:ea typeface="微软雅黑" panose="020B0503020204020204" charset="-122"/>
                <a:cs typeface="微软雅黑" panose="020B0503020204020204" charset="-122"/>
                <a:sym typeface="+mn-ea"/>
              </a:rPr>
              <a:t>”</a:t>
            </a:r>
            <a:endParaRPr kumimoji="1" lang="en-US" altLang="zh-HK" sz="1400" dirty="0" smtClean="0">
              <a:solidFill>
                <a:srgbClr val="0F1115"/>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rot="5400000">
            <a:off x="9845833" y="2823609"/>
            <a:ext cx="3270447" cy="83099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44546A">
                    <a:lumMod val="20000"/>
                    <a:lumOff val="80000"/>
                    <a:alpha val="25000"/>
                  </a:srgbClr>
                </a:solidFill>
                <a:effectLst/>
                <a:uLnTx/>
                <a:uFillTx/>
                <a:latin typeface="微软雅黑" panose="020B0503020204020204" charset="-122"/>
                <a:ea typeface="微软雅黑" panose="020B0503020204020204" charset="-122"/>
                <a:cs typeface="Arial Black" panose="020B0A04020102020204" charset="0"/>
              </a:rPr>
              <a:t>CONTENT</a:t>
            </a:r>
            <a:endParaRPr kumimoji="1" lang="en-US" altLang="zh-CN" sz="4800" b="1" i="0" u="none" strike="noStrike" kern="1200" cap="none" spc="0" normalizeH="0" baseline="0" noProof="0" dirty="0">
              <a:ln>
                <a:noFill/>
              </a:ln>
              <a:solidFill>
                <a:srgbClr val="44546A">
                  <a:lumMod val="20000"/>
                  <a:lumOff val="80000"/>
                  <a:alpha val="25000"/>
                </a:srgbClr>
              </a:solidFill>
              <a:effectLst/>
              <a:uLnTx/>
              <a:uFillTx/>
              <a:latin typeface="微软雅黑" panose="020B0503020204020204" charset="-122"/>
              <a:ea typeface="微软雅黑" panose="020B0503020204020204" charset="-122"/>
              <a:cs typeface="Arial Black" panose="020B0A04020102020204" charset="0"/>
            </a:endParaRPr>
          </a:p>
        </p:txBody>
      </p:sp>
      <p:sp>
        <p:nvSpPr>
          <p:cNvPr id="23" name="文本框 22"/>
          <p:cNvSpPr txBox="1"/>
          <p:nvPr/>
        </p:nvSpPr>
        <p:spPr>
          <a:xfrm>
            <a:off x="10592694" y="2454247"/>
            <a:ext cx="824743" cy="156966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zh-CN" altLang="en-US" sz="4800" b="1" i="0" u="none" strike="noStrike" kern="1200" cap="none" spc="0" normalizeH="0" baseline="0" noProof="0" dirty="0">
                <a:ln>
                  <a:noFill/>
                </a:ln>
                <a:solidFill>
                  <a:srgbClr val="0B85CF"/>
                </a:solidFill>
                <a:effectLst/>
                <a:uLnTx/>
                <a:uFillTx/>
                <a:latin typeface="微软雅黑" panose="020B0503020204020204" charset="-122"/>
                <a:ea typeface="微软雅黑" panose="020B0503020204020204" charset="-122"/>
                <a:cs typeface="+mn-cs"/>
              </a:rPr>
              <a:t>目录</a:t>
            </a:r>
            <a:endParaRPr kumimoji="1" lang="zh-CN" altLang="en-US" sz="4800" b="1" i="0" u="none" strike="noStrike" kern="1200" cap="none" spc="0" normalizeH="0" baseline="0" noProof="0" dirty="0">
              <a:ln>
                <a:noFill/>
              </a:ln>
              <a:solidFill>
                <a:srgbClr val="0B85CF"/>
              </a:solidFill>
              <a:effectLst/>
              <a:uLnTx/>
              <a:uFillTx/>
              <a:latin typeface="微软雅黑" panose="020B0503020204020204" charset="-122"/>
              <a:ea typeface="微软雅黑" panose="020B0503020204020204" charset="-122"/>
              <a:cs typeface="+mn-cs"/>
            </a:endParaRPr>
          </a:p>
        </p:txBody>
      </p:sp>
      <p:sp>
        <p:nvSpPr>
          <p:cNvPr id="37" name="文本框 36"/>
          <p:cNvSpPr txBox="1"/>
          <p:nvPr/>
        </p:nvSpPr>
        <p:spPr>
          <a:xfrm rot="5400000">
            <a:off x="-1260000" y="2577417"/>
            <a:ext cx="5325497" cy="1323439"/>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8000" b="1" i="0" u="none" strike="noStrike" kern="1200" cap="none" spc="0" normalizeH="0" baseline="0" noProof="0" dirty="0">
                <a:ln>
                  <a:noFill/>
                </a:ln>
                <a:gradFill>
                  <a:gsLst>
                    <a:gs pos="0">
                      <a:srgbClr val="44546A">
                        <a:lumMod val="60000"/>
                        <a:lumOff val="40000"/>
                        <a:alpha val="10000"/>
                      </a:srgbClr>
                    </a:gs>
                    <a:gs pos="100000">
                      <a:srgbClr val="44546A">
                        <a:lumMod val="60000"/>
                        <a:lumOff val="40000"/>
                        <a:alpha val="20000"/>
                      </a:srgbClr>
                    </a:gs>
                  </a:gsLst>
                  <a:lin ang="16200000" scaled="0"/>
                </a:gradFill>
                <a:effectLst/>
                <a:uLnTx/>
                <a:uFillTx/>
                <a:latin typeface="微软雅黑" panose="020B0503020204020204" charset="-122"/>
                <a:ea typeface="微软雅黑" panose="020B0503020204020204" charset="-122"/>
                <a:cs typeface="Arial Black" panose="020B0A04020102020204" charset="0"/>
              </a:rPr>
              <a:t>CONTENT</a:t>
            </a:r>
            <a:endParaRPr kumimoji="1" lang="en-US" altLang="zh-CN" sz="8000" b="1" i="0" u="none" strike="noStrike" kern="1200" cap="none" spc="0" normalizeH="0" baseline="0" noProof="0" dirty="0">
              <a:ln>
                <a:noFill/>
              </a:ln>
              <a:gradFill>
                <a:gsLst>
                  <a:gs pos="0">
                    <a:srgbClr val="44546A">
                      <a:lumMod val="60000"/>
                      <a:lumOff val="40000"/>
                      <a:alpha val="10000"/>
                    </a:srgbClr>
                  </a:gs>
                  <a:gs pos="100000">
                    <a:srgbClr val="44546A">
                      <a:lumMod val="60000"/>
                      <a:lumOff val="40000"/>
                      <a:alpha val="20000"/>
                    </a:srgbClr>
                  </a:gs>
                </a:gsLst>
                <a:lin ang="16200000" scaled="0"/>
              </a:gradFill>
              <a:effectLst/>
              <a:uLnTx/>
              <a:uFillTx/>
              <a:latin typeface="微软雅黑" panose="020B0503020204020204" charset="-122"/>
              <a:ea typeface="微软雅黑" panose="020B0503020204020204" charset="-122"/>
              <a:cs typeface="Arial Black" panose="020B0A04020102020204" charset="0"/>
            </a:endParaRPr>
          </a:p>
        </p:txBody>
      </p:sp>
      <p:grpSp>
        <p:nvGrpSpPr>
          <p:cNvPr id="42" name="组合 41"/>
          <p:cNvGrpSpPr/>
          <p:nvPr/>
        </p:nvGrpSpPr>
        <p:grpSpPr>
          <a:xfrm>
            <a:off x="3696019" y="753831"/>
            <a:ext cx="5685792" cy="1156971"/>
            <a:chOff x="4041" y="1285"/>
            <a:chExt cx="8954" cy="1822"/>
          </a:xfrm>
        </p:grpSpPr>
        <p:sp>
          <p:nvSpPr>
            <p:cNvPr id="43" name="文本框 42"/>
            <p:cNvSpPr txBox="1"/>
            <p:nvPr/>
          </p:nvSpPr>
          <p:spPr>
            <a:xfrm>
              <a:off x="4041" y="1285"/>
              <a:ext cx="1154" cy="169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400" b="1" i="0" u="none" strike="noStrike" kern="120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ea typeface="微软雅黑" panose="020B0503020204020204" charset="-122"/>
                  <a:cs typeface="Arial Black" panose="020B0A04020102020204" charset="0"/>
                  <a:sym typeface="+mn-ea"/>
                </a:rPr>
                <a:t>1</a:t>
              </a:r>
              <a:endParaRPr kumimoji="1" lang="en-US" altLang="zh-CN" sz="6400" b="1" i="0" u="none" strike="noStrike" kern="120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ea typeface="微软雅黑" panose="020B0503020204020204" charset="-122"/>
                <a:cs typeface="Arial Black" panose="020B0A04020102020204" charset="0"/>
                <a:sym typeface="+mn-ea"/>
              </a:endParaRPr>
            </a:p>
          </p:txBody>
        </p:sp>
        <p:sp>
          <p:nvSpPr>
            <p:cNvPr id="44" name="直角三角形 43"/>
            <p:cNvSpPr/>
            <p:nvPr/>
          </p:nvSpPr>
          <p:spPr>
            <a:xfrm flipH="1">
              <a:off x="4084" y="1462"/>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45" name="文本框 44"/>
            <p:cNvSpPr txBox="1"/>
            <p:nvPr/>
          </p:nvSpPr>
          <p:spPr>
            <a:xfrm>
              <a:off x="5507" y="1912"/>
              <a:ext cx="7488" cy="7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ea"/>
                </a:rPr>
                <a:t>破冰：为什么我们需要这个平台？</a:t>
              </a:r>
              <a:endParaRPr kumimoji="1" lang="zh-CN" altLang="en-US" sz="2400" b="0" i="0" u="none" strike="noStrike" kern="1200" cap="none" spc="0" normalizeH="0" baseline="0" noProof="0" dirty="0">
                <a:ln w="3175">
                  <a:noFill/>
                </a:ln>
                <a:solidFill>
                  <a:srgbClr val="44546A">
                    <a:alpha val="75000"/>
                  </a:srgbClr>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cs typeface="+mn-cs"/>
              </a:endParaRPr>
            </a:p>
          </p:txBody>
        </p:sp>
      </p:grpSp>
      <p:grpSp>
        <p:nvGrpSpPr>
          <p:cNvPr id="49" name="组合 48"/>
          <p:cNvGrpSpPr/>
          <p:nvPr/>
        </p:nvGrpSpPr>
        <p:grpSpPr>
          <a:xfrm>
            <a:off x="3696018" y="2119794"/>
            <a:ext cx="5380987" cy="1156971"/>
            <a:chOff x="4041" y="1285"/>
            <a:chExt cx="8474" cy="1822"/>
          </a:xfrm>
        </p:grpSpPr>
        <p:sp>
          <p:nvSpPr>
            <p:cNvPr id="50" name="文本框 49"/>
            <p:cNvSpPr txBox="1"/>
            <p:nvPr/>
          </p:nvSpPr>
          <p:spPr>
            <a:xfrm>
              <a:off x="4041" y="1285"/>
              <a:ext cx="1154" cy="169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400" b="1" i="0" u="none" strike="noStrike" kern="120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ea typeface="微软雅黑" panose="020B0503020204020204" charset="-122"/>
                  <a:cs typeface="Arial Black" panose="020B0A04020102020204" charset="0"/>
                  <a:sym typeface="+mn-ea"/>
                </a:rPr>
                <a:t>2</a:t>
              </a:r>
              <a:endParaRPr kumimoji="1" lang="en-US" altLang="zh-CN" sz="6400" b="1" i="0" u="none" strike="noStrike" kern="120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ea typeface="微软雅黑" panose="020B0503020204020204" charset="-122"/>
                <a:cs typeface="Arial Black" panose="020B0A04020102020204" charset="0"/>
                <a:sym typeface="+mn-ea"/>
              </a:endParaRPr>
            </a:p>
          </p:txBody>
        </p:sp>
        <p:sp>
          <p:nvSpPr>
            <p:cNvPr id="51" name="直角三角形 50"/>
            <p:cNvSpPr/>
            <p:nvPr/>
          </p:nvSpPr>
          <p:spPr>
            <a:xfrm flipH="1">
              <a:off x="4084" y="1462"/>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52" name="文本框 51"/>
            <p:cNvSpPr txBox="1"/>
            <p:nvPr/>
          </p:nvSpPr>
          <p:spPr>
            <a:xfrm>
              <a:off x="5507" y="1912"/>
              <a:ext cx="7008" cy="725"/>
            </a:xfrm>
            <a:prstGeom prst="rect">
              <a:avLst/>
            </a:prstGeom>
            <a:noFill/>
          </p:spPr>
          <p:txBody>
            <a:bodyPr wrap="none" rtlCol="0">
              <a:spAutoFit/>
            </a:bodyPr>
            <a:lstStyle/>
            <a:p>
              <a:pPr algn="l" defTabSz="914400">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蓝图：平台的总体构想是什么？</a:t>
              </a:r>
              <a:endParaRPr kumimoji="1" lang="zh-CN" altLang="en-US" sz="2400" b="0" i="0" u="none" strike="noStrike" kern="1200" cap="none" spc="0" normalizeH="0" baseline="0" noProof="0" dirty="0">
                <a:ln w="3175">
                  <a:noFill/>
                </a:ln>
                <a:solidFill>
                  <a:srgbClr val="44546A">
                    <a:alpha val="75000"/>
                  </a:srgbClr>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cs typeface="+mn-cs"/>
                <a:sym typeface="+mn-lt"/>
              </a:endParaRPr>
            </a:p>
          </p:txBody>
        </p:sp>
      </p:grpSp>
      <p:grpSp>
        <p:nvGrpSpPr>
          <p:cNvPr id="53" name="组合 52"/>
          <p:cNvGrpSpPr/>
          <p:nvPr/>
        </p:nvGrpSpPr>
        <p:grpSpPr>
          <a:xfrm>
            <a:off x="2490791" y="4411350"/>
            <a:ext cx="6444616" cy="1277620"/>
            <a:chOff x="1593" y="3651"/>
            <a:chExt cx="10149" cy="2012"/>
          </a:xfrm>
        </p:grpSpPr>
        <p:sp>
          <p:nvSpPr>
            <p:cNvPr id="54" name="文本框 53"/>
            <p:cNvSpPr txBox="1"/>
            <p:nvPr/>
          </p:nvSpPr>
          <p:spPr>
            <a:xfrm>
              <a:off x="1593" y="3651"/>
              <a:ext cx="1260" cy="189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7200" b="1" dirty="0">
                  <a:gradFill>
                    <a:gsLst>
                      <a:gs pos="0">
                        <a:srgbClr val="00B0F0"/>
                      </a:gs>
                      <a:gs pos="59000">
                        <a:srgbClr val="0070BF"/>
                      </a:gs>
                    </a:gsLst>
                    <a:lin ang="12300000" scaled="0"/>
                  </a:gradFill>
                  <a:latin typeface="Arial Black" panose="020B0A04020102020204" charset="0"/>
                  <a:ea typeface="微软雅黑" panose="020B0503020204020204" charset="-122"/>
                  <a:cs typeface="Arial Black" panose="020B0A04020102020204" charset="0"/>
                </a:rPr>
                <a:t>4</a:t>
              </a:r>
              <a:endParaRPr kumimoji="1" lang="en-US" altLang="zh-CN" sz="7200" b="1" i="0" u="none" strike="noStrike" kern="1200" cap="none" spc="0" normalizeH="0" baseline="0" noProof="0" dirty="0">
                <a:ln>
                  <a:noFill/>
                </a:ln>
                <a:gradFill>
                  <a:gsLst>
                    <a:gs pos="0">
                      <a:srgbClr val="00B0F0"/>
                    </a:gs>
                    <a:gs pos="59000">
                      <a:srgbClr val="0070BF"/>
                    </a:gs>
                  </a:gsLst>
                  <a:lin ang="12300000" scaled="0"/>
                </a:gradFill>
                <a:effectLst/>
                <a:uLnTx/>
                <a:uFillTx/>
                <a:latin typeface="Arial Black" panose="020B0A04020102020204" charset="0"/>
                <a:ea typeface="微软雅黑" panose="020B0503020204020204" charset="-122"/>
                <a:cs typeface="Arial Black" panose="020B0A04020102020204" charset="0"/>
              </a:endParaRPr>
            </a:p>
          </p:txBody>
        </p:sp>
        <p:sp>
          <p:nvSpPr>
            <p:cNvPr id="55" name="直角三角形 54"/>
            <p:cNvSpPr/>
            <p:nvPr/>
          </p:nvSpPr>
          <p:spPr>
            <a:xfrm flipH="1">
              <a:off x="1733" y="4001"/>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56" name="任意多边形 23"/>
            <p:cNvSpPr/>
            <p:nvPr/>
          </p:nvSpPr>
          <p:spPr>
            <a:xfrm>
              <a:off x="2388" y="4190"/>
              <a:ext cx="9354" cy="1473"/>
            </a:xfrm>
            <a:custGeom>
              <a:avLst/>
              <a:gdLst>
                <a:gd name="connsiteX0" fmla="*/ 1490 w 12083"/>
                <a:gd name="connsiteY0" fmla="*/ 0 h 1473"/>
                <a:gd name="connsiteX1" fmla="*/ 12083 w 12083"/>
                <a:gd name="connsiteY1" fmla="*/ 0 h 1473"/>
                <a:gd name="connsiteX2" fmla="*/ 12083 w 12083"/>
                <a:gd name="connsiteY2" fmla="*/ 1454 h 1473"/>
                <a:gd name="connsiteX3" fmla="*/ 0 w 12083"/>
                <a:gd name="connsiteY3" fmla="*/ 1473 h 1473"/>
                <a:gd name="connsiteX4" fmla="*/ 1490 w 12083"/>
                <a:gd name="connsiteY4" fmla="*/ 0 h 1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73">
                  <a:moveTo>
                    <a:pt x="1490" y="0"/>
                  </a:moveTo>
                  <a:lnTo>
                    <a:pt x="12083" y="0"/>
                  </a:lnTo>
                  <a:lnTo>
                    <a:pt x="12083" y="1454"/>
                  </a:lnTo>
                  <a:lnTo>
                    <a:pt x="0" y="1473"/>
                  </a:lnTo>
                  <a:lnTo>
                    <a:pt x="1490" y="0"/>
                  </a:lnTo>
                  <a:close/>
                </a:path>
              </a:pathLst>
            </a:custGeom>
            <a:solidFill>
              <a:schemeClr val="bg1"/>
            </a:solidFill>
            <a:ln>
              <a:noFill/>
            </a:ln>
            <a:effectLst>
              <a:outerShdw blurRad="368300" dist="254000" dir="5400000" sx="85000" sy="85000" algn="t" rotWithShape="0">
                <a:schemeClr val="tx2">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等线" panose="02010600030101010101" charset="-122"/>
                <a:cs typeface="+mn-cs"/>
                <a:sym typeface="+mn-ea"/>
              </a:endParaRPr>
            </a:p>
          </p:txBody>
        </p:sp>
        <p:sp>
          <p:nvSpPr>
            <p:cNvPr id="57" name="文本框 56"/>
            <p:cNvSpPr txBox="1"/>
            <p:nvPr/>
          </p:nvSpPr>
          <p:spPr>
            <a:xfrm>
              <a:off x="3378" y="4305"/>
              <a:ext cx="6448" cy="8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w="3175">
                    <a:noFill/>
                  </a:ln>
                  <a:solidFill>
                    <a:srgbClr val="000000"/>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cs typeface="+mn-cs"/>
                  <a:sym typeface="+mn-lt"/>
                </a:rPr>
                <a:t>路径：我们如何实现它？</a:t>
              </a:r>
              <a:endParaRPr kumimoji="1" lang="zh-CN" altLang="en-US" sz="2800" b="1" i="0" u="none" strike="noStrike" kern="1200" cap="none" spc="0" normalizeH="0" baseline="0" noProof="0" dirty="0">
                <a:ln w="3175">
                  <a:noFill/>
                </a:ln>
                <a:solidFill>
                  <a:srgbClr val="000000"/>
                </a:solidFill>
                <a:effectLst>
                  <a:outerShdw dist="76200" dir="5400000" algn="t" rotWithShape="0">
                    <a:srgbClr val="FFFFFF">
                      <a:alpha val="100000"/>
                    </a:srgbClr>
                  </a:outerShdw>
                </a:effectLst>
                <a:uLnTx/>
                <a:uFillTx/>
                <a:latin typeface="微软雅黑" panose="020B0503020204020204" charset="-122"/>
                <a:ea typeface="微软雅黑" panose="020B0503020204020204" charset="-122"/>
                <a:cs typeface="+mn-cs"/>
                <a:sym typeface="+mn-lt"/>
              </a:endParaRPr>
            </a:p>
          </p:txBody>
        </p:sp>
      </p:grpSp>
      <p:grpSp>
        <p:nvGrpSpPr>
          <p:cNvPr id="2" name="组合 1"/>
          <p:cNvGrpSpPr/>
          <p:nvPr/>
        </p:nvGrpSpPr>
        <p:grpSpPr>
          <a:xfrm>
            <a:off x="3694111" y="3259857"/>
            <a:ext cx="5380993" cy="1168401"/>
            <a:chOff x="3694111" y="4654554"/>
            <a:chExt cx="5380993" cy="1168401"/>
          </a:xfrm>
        </p:grpSpPr>
        <p:grpSp>
          <p:nvGrpSpPr>
            <p:cNvPr id="46" name="组合 45"/>
            <p:cNvGrpSpPr/>
            <p:nvPr/>
          </p:nvGrpSpPr>
          <p:grpSpPr>
            <a:xfrm>
              <a:off x="3694111" y="4654554"/>
              <a:ext cx="1071879" cy="1168401"/>
              <a:chOff x="4038" y="7330"/>
              <a:chExt cx="1688" cy="1840"/>
            </a:xfrm>
          </p:grpSpPr>
          <p:sp>
            <p:nvSpPr>
              <p:cNvPr id="47" name="文本框 46"/>
              <p:cNvSpPr txBox="1"/>
              <p:nvPr/>
            </p:nvSpPr>
            <p:spPr>
              <a:xfrm>
                <a:off x="4038" y="7330"/>
                <a:ext cx="1154" cy="169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6400" b="1" dirty="0">
                    <a:gradFill>
                      <a:gsLst>
                        <a:gs pos="0">
                          <a:srgbClr val="44546A">
                            <a:lumMod val="60000"/>
                            <a:lumOff val="40000"/>
                            <a:alpha val="0"/>
                          </a:srgbClr>
                        </a:gs>
                        <a:gs pos="100000">
                          <a:srgbClr val="44546A">
                            <a:lumMod val="60000"/>
                            <a:lumOff val="40000"/>
                          </a:srgbClr>
                        </a:gs>
                      </a:gsLst>
                      <a:lin ang="16200000" scaled="0"/>
                    </a:gradFill>
                    <a:latin typeface="Arial Black" panose="020B0A04020102020204" charset="0"/>
                    <a:ea typeface="微软雅黑" panose="020B0503020204020204" charset="-122"/>
                    <a:cs typeface="Arial Black" panose="020B0A04020102020204" charset="0"/>
                    <a:sym typeface="+mn-ea"/>
                  </a:rPr>
                  <a:t>3</a:t>
                </a:r>
                <a:endParaRPr kumimoji="1" lang="en-US" altLang="zh-CN" sz="6400" b="1" i="0" u="none" strike="noStrike" kern="1200" cap="none" spc="0" normalizeH="0" baseline="0" noProof="0" dirty="0">
                  <a:ln>
                    <a:noFill/>
                  </a:ln>
                  <a:gradFill>
                    <a:gsLst>
                      <a:gs pos="0">
                        <a:srgbClr val="44546A">
                          <a:lumMod val="60000"/>
                          <a:lumOff val="40000"/>
                          <a:alpha val="0"/>
                        </a:srgbClr>
                      </a:gs>
                      <a:gs pos="100000">
                        <a:srgbClr val="44546A">
                          <a:lumMod val="60000"/>
                          <a:lumOff val="40000"/>
                        </a:srgbClr>
                      </a:gs>
                    </a:gsLst>
                    <a:lin ang="16200000" scaled="0"/>
                  </a:gradFill>
                  <a:effectLst/>
                  <a:uLnTx/>
                  <a:uFillTx/>
                  <a:latin typeface="Arial Black" panose="020B0A04020102020204" charset="0"/>
                  <a:ea typeface="微软雅黑" panose="020B0503020204020204" charset="-122"/>
                  <a:cs typeface="Arial Black" panose="020B0A04020102020204" charset="0"/>
                  <a:sym typeface="+mn-ea"/>
                </a:endParaRPr>
              </a:p>
            </p:txBody>
          </p:sp>
          <p:sp>
            <p:nvSpPr>
              <p:cNvPr id="48" name="直角三角形 47"/>
              <p:cNvSpPr/>
              <p:nvPr/>
            </p:nvSpPr>
            <p:spPr>
              <a:xfrm flipH="1">
                <a:off x="4081" y="7525"/>
                <a:ext cx="1645" cy="1645"/>
              </a:xfrm>
              <a:prstGeom prst="rtTriangle">
                <a:avLst/>
              </a:prstGeom>
              <a:solidFill>
                <a:schemeClr val="bg1"/>
              </a:solidFill>
              <a:ln>
                <a:noFill/>
              </a:ln>
              <a:effectLst>
                <a:outerShdw blurRad="228600" dist="127000" dir="14760000" sx="80000" sy="80000" rotWithShape="0">
                  <a:schemeClr val="accent1">
                    <a:lumMod val="60000"/>
                    <a:lumOff val="4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grpSp>
        <p:sp>
          <p:nvSpPr>
            <p:cNvPr id="58" name="文本框 57"/>
            <p:cNvSpPr txBox="1"/>
            <p:nvPr/>
          </p:nvSpPr>
          <p:spPr>
            <a:xfrm>
              <a:off x="4625024" y="5064126"/>
              <a:ext cx="4450080" cy="460375"/>
            </a:xfrm>
            <a:prstGeom prst="rect">
              <a:avLst/>
            </a:prstGeom>
            <a:noFill/>
          </p:spPr>
          <p:txBody>
            <a:bodyPr wrap="none" rtlCol="0">
              <a:spAutoFit/>
            </a:bodyPr>
            <a:lstStyle/>
            <a:p>
              <a:pPr marL="0" marR="0" lvl="0" algn="l" defTabSz="914400" rtl="0" eaLnBrk="1" fontAlgn="auto" latinLnBrk="0" hangingPunct="1">
                <a:lnSpc>
                  <a:spcPct val="100000"/>
                </a:lnSpc>
                <a:spcBef>
                  <a:spcPts val="0"/>
                </a:spcBef>
                <a:buClrTx/>
                <a:buSzTx/>
                <a:buFontTx/>
                <a:buNone/>
                <a:defRPr/>
              </a:pPr>
              <a:r>
                <a:rPr kumimoji="1" lang="zh-CN" altLang="en-US" sz="240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sym typeface="+mn-lt"/>
                </a:rPr>
                <a:t>详解：平台具体提供哪些能力？</a:t>
              </a:r>
              <a:endParaRPr kumimoji="1" lang="zh-CN" altLang="en-US" sz="2400" b="0" i="0" u="none" strike="noStrike" kern="1200" cap="none" spc="0" normalizeH="0" baseline="0" dirty="0">
                <a:ln w="3175">
                  <a:noFill/>
                </a:ln>
                <a:solidFill>
                  <a:srgbClr val="44546A">
                    <a:alpha val="75000"/>
                  </a:srgbClr>
                </a:solidFill>
                <a:effectLst>
                  <a:outerShdw dist="76200" dir="5400000" algn="t" rotWithShape="0">
                    <a:srgbClr val="FFFFFF">
                      <a:alpha val="100000"/>
                    </a:srgbClr>
                  </a:outerShdw>
                </a:effectLst>
                <a:latin typeface="微软雅黑" panose="020B0503020204020204" charset="-122"/>
                <a:ea typeface="微软雅黑" panose="020B050302020402020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4945" y="187325"/>
            <a:ext cx="9519920" cy="639445"/>
          </a:xfrm>
        </p:spPr>
        <p:txBody>
          <a:bodyPr>
            <a:normAutofit/>
          </a:bodyPr>
          <a:lstStyle/>
          <a:p>
            <a:r>
              <a:rPr lang="zh-CN" altLang="en-US">
                <a:sym typeface="+mn-ea"/>
              </a:rPr>
              <a:t>里程碑</a:t>
            </a:r>
            <a:r>
              <a:rPr lang="zh-CN" altLang="en-US">
                <a:sym typeface="+mn-ea"/>
              </a:rPr>
              <a:t>计划</a:t>
            </a:r>
            <a:endParaRPr lang="zh-CN" altLang="en-US">
              <a:sym typeface="+mn-ea"/>
            </a:endParaRPr>
          </a:p>
        </p:txBody>
      </p:sp>
      <p:graphicFrame>
        <p:nvGraphicFramePr>
          <p:cNvPr id="4" name="表格 3"/>
          <p:cNvGraphicFramePr/>
          <p:nvPr>
            <p:custDataLst>
              <p:tags r:id="rId1"/>
            </p:custDataLst>
          </p:nvPr>
        </p:nvGraphicFramePr>
        <p:xfrm>
          <a:off x="497205" y="1318260"/>
          <a:ext cx="10688955" cy="4970780"/>
        </p:xfrm>
        <a:graphic>
          <a:graphicData uri="http://schemas.openxmlformats.org/drawingml/2006/table">
            <a:tbl>
              <a:tblPr firstRow="1" bandRow="1">
                <a:tableStyleId>{5C22544A-7EE6-4342-B048-85BDC9FD1C3A}</a:tableStyleId>
              </a:tblPr>
              <a:tblGrid>
                <a:gridCol w="1778000"/>
                <a:gridCol w="1943735"/>
                <a:gridCol w="3249295"/>
                <a:gridCol w="3717925"/>
              </a:tblGrid>
              <a:tr h="982345">
                <a:tc>
                  <a:txBody>
                    <a:bodyPr/>
                    <a:p>
                      <a:pPr algn="ctr" fontAlgn="ctr">
                        <a:lnSpc>
                          <a:spcPct val="150000"/>
                        </a:lnSpc>
                      </a:pPr>
                      <a:r>
                        <a:rPr lang="zh-CN" altLang="en-US" sz="1600" b="1" i="0">
                          <a:solidFill>
                            <a:schemeClr val="bg1"/>
                          </a:solidFill>
                          <a:latin typeface="微软雅黑" panose="020B0503020204020204" charset="-122"/>
                          <a:ea typeface="微软雅黑" panose="020B0503020204020204" charset="-122"/>
                        </a:rPr>
                        <a:t>阶段</a:t>
                      </a:r>
                      <a:endParaRPr lang="zh-CN" altLang="en-US" sz="1600" b="1" i="0">
                        <a:solidFill>
                          <a:schemeClr val="bg1"/>
                        </a:solidFill>
                        <a:latin typeface="微软雅黑" panose="020B0503020204020204" charset="-122"/>
                        <a:ea typeface="微软雅黑" panose="020B0503020204020204" charset="-122"/>
                      </a:endParaRPr>
                    </a:p>
                  </a:txBody>
                  <a:tcPr marL="13017" marR="13017" marT="13017" marB="0" anchor="ctr" anchorCtr="0"/>
                </a:tc>
                <a:tc>
                  <a:txBody>
                    <a:bodyPr/>
                    <a:p>
                      <a:pPr algn="ctr" fontAlgn="ctr">
                        <a:lnSpc>
                          <a:spcPct val="150000"/>
                        </a:lnSpc>
                      </a:pPr>
                      <a:r>
                        <a:rPr lang="zh-CN" altLang="en-US" sz="1600" b="1" i="0">
                          <a:solidFill>
                            <a:schemeClr val="bg1"/>
                          </a:solidFill>
                          <a:latin typeface="微软雅黑" panose="020B0503020204020204" charset="-122"/>
                          <a:ea typeface="微软雅黑" panose="020B0503020204020204" charset="-122"/>
                        </a:rPr>
                        <a:t>时间范围</a:t>
                      </a:r>
                      <a:endParaRPr lang="zh-CN" altLang="en-US" sz="1600" b="1" i="0">
                        <a:solidFill>
                          <a:schemeClr val="bg1"/>
                        </a:solidFill>
                        <a:latin typeface="微软雅黑" panose="020B0503020204020204" charset="-122"/>
                        <a:ea typeface="微软雅黑" panose="020B0503020204020204" charset="-122"/>
                      </a:endParaRPr>
                    </a:p>
                  </a:txBody>
                  <a:tcPr marL="13017" marR="13017" marT="13017" marB="0" anchor="ctr" anchorCtr="0"/>
                </a:tc>
                <a:tc>
                  <a:txBody>
                    <a:bodyPr/>
                    <a:p>
                      <a:pPr algn="ctr" fontAlgn="ctr">
                        <a:lnSpc>
                          <a:spcPct val="150000"/>
                        </a:lnSpc>
                      </a:pPr>
                      <a:r>
                        <a:rPr lang="zh-CN" altLang="en-US" sz="1600" b="1" i="0">
                          <a:solidFill>
                            <a:schemeClr val="bg1"/>
                          </a:solidFill>
                          <a:latin typeface="微软雅黑" panose="020B0503020204020204" charset="-122"/>
                          <a:ea typeface="微软雅黑" panose="020B0503020204020204" charset="-122"/>
                        </a:rPr>
                        <a:t>核心目标</a:t>
                      </a:r>
                      <a:endParaRPr lang="zh-CN" altLang="en-US" sz="1600" b="1" i="0">
                        <a:solidFill>
                          <a:schemeClr val="bg1"/>
                        </a:solidFill>
                        <a:latin typeface="微软雅黑" panose="020B0503020204020204" charset="-122"/>
                        <a:ea typeface="微软雅黑" panose="020B0503020204020204" charset="-122"/>
                      </a:endParaRPr>
                    </a:p>
                  </a:txBody>
                  <a:tcPr marL="13017" marR="13017" marT="13017" marB="0" anchor="ctr" anchorCtr="0"/>
                </a:tc>
                <a:tc>
                  <a:txBody>
                    <a:bodyPr/>
                    <a:p>
                      <a:pPr algn="ctr" fontAlgn="ctr">
                        <a:lnSpc>
                          <a:spcPct val="150000"/>
                        </a:lnSpc>
                      </a:pPr>
                      <a:r>
                        <a:rPr lang="zh-CN" altLang="en-US" sz="1600" b="1" i="0">
                          <a:solidFill>
                            <a:schemeClr val="bg1"/>
                          </a:solidFill>
                          <a:latin typeface="微软雅黑" panose="020B0503020204020204" charset="-122"/>
                          <a:ea typeface="微软雅黑" panose="020B0503020204020204" charset="-122"/>
                        </a:rPr>
                        <a:t>关键交付物与里程碑</a:t>
                      </a:r>
                      <a:endParaRPr lang="zh-CN" altLang="en-US" sz="1600" b="1" i="0">
                        <a:solidFill>
                          <a:schemeClr val="bg1"/>
                        </a:solidFill>
                        <a:latin typeface="微软雅黑" panose="020B0503020204020204" charset="-122"/>
                        <a:ea typeface="微软雅黑" panose="020B0503020204020204" charset="-122"/>
                      </a:endParaRPr>
                    </a:p>
                  </a:txBody>
                  <a:tcPr marL="13017" marR="13017" marT="13017" marB="0" anchor="ctr" anchorCtr="0"/>
                </a:tc>
              </a:tr>
              <a:tr h="1329690">
                <a:tc>
                  <a:txBody>
                    <a:bodyPr/>
                    <a:p>
                      <a:pPr algn="ctr" fontAlgn="ctr">
                        <a:lnSpc>
                          <a:spcPct val="150000"/>
                        </a:lnSpc>
                      </a:pP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1. </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奠基期</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ctr" fontAlgn="ctr">
                        <a:lnSpc>
                          <a:spcPct val="150000"/>
                        </a:lnSpc>
                      </a:pPr>
                      <a:r>
                        <a:rPr lang="en-US" sz="1200" b="0" i="0">
                          <a:solidFill>
                            <a:srgbClr val="0F1115"/>
                          </a:solidFill>
                          <a:latin typeface="微软雅黑" panose="020B0503020204020204" charset="-122"/>
                          <a:ea typeface="微软雅黑" panose="020B0503020204020204" charset="-122"/>
                          <a:cs typeface="微软雅黑" panose="020B0503020204020204" charset="-122"/>
                        </a:rPr>
                        <a:t>2025</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年</a:t>
                      </a: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12</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月</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l" fontAlgn="ctr">
                        <a:lnSpc>
                          <a:spcPct val="150000"/>
                        </a:lnSpc>
                      </a:pPr>
                      <a:r>
                        <a:rPr lang="zh-CN" altLang="en-US" sz="1200" b="0" i="0">
                          <a:solidFill>
                            <a:srgbClr val="0F1115"/>
                          </a:solidFill>
                          <a:latin typeface="微软雅黑" panose="020B0503020204020204" charset="-122"/>
                          <a:ea typeface="微软雅黑" panose="020B0503020204020204" charset="-122"/>
                        </a:rPr>
                        <a:t>完成平台基础框架搭建，面向总部提供核心指标监控和基础问题定位能力。</a:t>
                      </a:r>
                      <a:endParaRPr lang="zh-CN" altLang="en-US" sz="1200" b="0" i="0">
                        <a:solidFill>
                          <a:srgbClr val="0F1115"/>
                        </a:solidFill>
                        <a:latin typeface="微软雅黑" panose="020B0503020204020204" charset="-122"/>
                        <a:ea typeface="微软雅黑" panose="020B0503020204020204" charset="-122"/>
                      </a:endParaRPr>
                    </a:p>
                  </a:txBody>
                  <a:tcPr marL="13017" marR="13017" marT="13017" marB="0" anchor="ctr" anchorCtr="0"/>
                </a:tc>
                <a:tc>
                  <a:txBody>
                    <a:bodyPr/>
                    <a:p>
                      <a:pPr algn="l" fontAlgn="ctr">
                        <a:lnSpc>
                          <a:spcPct val="150000"/>
                        </a:lnSpc>
                      </a:pP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V1.0</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版本上线：建立统一工作台、指标中心、基础数据看板，实现“看得清”的初步目标。</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r>
              <a:tr h="1329055">
                <a:tc>
                  <a:txBody>
                    <a:bodyPr/>
                    <a:p>
                      <a:pPr algn="ctr" fontAlgn="ctr">
                        <a:lnSpc>
                          <a:spcPct val="150000"/>
                        </a:lnSpc>
                      </a:pP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2. </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深化期</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ctr" fontAlgn="ctr">
                        <a:lnSpc>
                          <a:spcPct val="150000"/>
                        </a:lnSpc>
                      </a:pPr>
                      <a:r>
                        <a:rPr lang="en-US" sz="1200" b="0" i="0">
                          <a:solidFill>
                            <a:srgbClr val="0F1115"/>
                          </a:solidFill>
                          <a:latin typeface="微软雅黑" panose="020B0503020204020204" charset="-122"/>
                          <a:ea typeface="微软雅黑" panose="020B0503020204020204" charset="-122"/>
                          <a:cs typeface="微软雅黑" panose="020B0503020204020204" charset="-122"/>
                        </a:rPr>
                        <a:t>2026</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年</a:t>
                      </a: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6</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月</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l" fontAlgn="ctr">
                        <a:lnSpc>
                          <a:spcPct val="150000"/>
                        </a:lnSpc>
                      </a:pP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深化根因分析和任务调度能力，引入部分自动化场景，实现“找得准、管得住”。</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l" fontAlgn="ctr">
                        <a:lnSpc>
                          <a:spcPct val="150000"/>
                        </a:lnSpc>
                      </a:pP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V2.0</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版本上线：上线洞察中心、策略中心、统一调度中心，构建“察、策、打”的运营闭环。</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r>
              <a:tr h="1329690">
                <a:tc>
                  <a:txBody>
                    <a:bodyPr/>
                    <a:p>
                      <a:pPr algn="ctr" fontAlgn="ctr">
                        <a:lnSpc>
                          <a:spcPct val="150000"/>
                        </a:lnSpc>
                      </a:pP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3. </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拓展期</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ctr" fontAlgn="ctr">
                        <a:lnSpc>
                          <a:spcPct val="150000"/>
                        </a:lnSpc>
                      </a:pPr>
                      <a:r>
                        <a:rPr lang="en-US" sz="1200" b="0" i="0">
                          <a:solidFill>
                            <a:srgbClr val="0F1115"/>
                          </a:solidFill>
                          <a:latin typeface="微软雅黑" panose="020B0503020204020204" charset="-122"/>
                          <a:ea typeface="微软雅黑" panose="020B0503020204020204" charset="-122"/>
                          <a:cs typeface="微软雅黑" panose="020B0503020204020204" charset="-122"/>
                        </a:rPr>
                        <a:t>2026</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年</a:t>
                      </a: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12</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月</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l" fontAlgn="ctr">
                        <a:lnSpc>
                          <a:spcPct val="150000"/>
                        </a:lnSpc>
                      </a:pP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完善效果评估体系，面向试点省份开放数据视图与部分功能，实现“评得明”与能力下沉。</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c>
                  <a:txBody>
                    <a:bodyPr/>
                    <a:p>
                      <a:pPr algn="l" fontAlgn="ctr">
                        <a:lnSpc>
                          <a:spcPct val="150000"/>
                        </a:lnSpc>
                      </a:pPr>
                      <a:r>
                        <a:rPr lang="en-US" altLang="zh-CN" sz="1200" b="0" i="0">
                          <a:solidFill>
                            <a:srgbClr val="0F1115"/>
                          </a:solidFill>
                          <a:latin typeface="微软雅黑" panose="020B0503020204020204" charset="-122"/>
                          <a:ea typeface="微软雅黑" panose="020B0503020204020204" charset="-122"/>
                          <a:cs typeface="微软雅黑" panose="020B0503020204020204" charset="-122"/>
                        </a:rPr>
                        <a:t>V3.0</a:t>
                      </a:r>
                      <a:r>
                        <a:rPr lang="zh-CN" altLang="en-US" sz="1200" b="0" i="0">
                          <a:solidFill>
                            <a:srgbClr val="0F1115"/>
                          </a:solidFill>
                          <a:latin typeface="微软雅黑" panose="020B0503020204020204" charset="-122"/>
                          <a:ea typeface="微软雅黑" panose="020B0503020204020204" charset="-122"/>
                          <a:cs typeface="微软雅黑" panose="020B0503020204020204" charset="-122"/>
                        </a:rPr>
                        <a:t>版本上线：完成评估中心建设，并成功在试点省份完成推广，支持省端属地化运营。</a:t>
                      </a:r>
                      <a:endParaRPr lang="zh-CN" altLang="en-US" sz="1200" b="0" i="0">
                        <a:solidFill>
                          <a:srgbClr val="0F1115"/>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nchorCtr="0"/>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989A68CE-9FA7-456D-BE34-4C018B9CB8B8}" type="slidenum">
              <a:rPr lang="zh-CN" altLang="en-US" smtClean="0"/>
            </a:fld>
            <a:endParaRPr lang="zh-CN" altLang="en-US" dirty="0"/>
          </a:p>
        </p:txBody>
      </p:sp>
      <p:sp>
        <p:nvSpPr>
          <p:cNvPr id="2" name="文字框 1"/>
          <p:cNvSpPr txBox="1"/>
          <p:nvPr/>
        </p:nvSpPr>
        <p:spPr>
          <a:xfrm>
            <a:off x="2815590" y="2164080"/>
            <a:ext cx="6084570" cy="1954530"/>
          </a:xfrm>
          <a:prstGeom prst="rect">
            <a:avLst/>
          </a:prstGeom>
          <a:noFill/>
          <a:ln>
            <a:noFill/>
          </a:ln>
          <a:extLst>
            <a:ext uri="{909E8E84-426E-40DD-AFC4-6F175D3DCCD1}">
              <a14:hiddenFill xmlns:a14="http://schemas.microsoft.com/office/drawing/2010/main">
                <a:solidFill>
                  <a:srgbClr val="F0F7FB"/>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tIns="0" rIns="360000" bIns="36000" numCol="1" spcCol="0" rtlCol="0" fromWordArt="0" anchor="ctr" anchorCtr="0" compatLnSpc="1">
            <a:noAutofit/>
          </a:bodyPr>
          <a:lstStyle/>
          <a:p>
            <a:pPr marL="0" lvl="1" indent="0" algn="ctr" defTabSz="914400">
              <a:lnSpc>
                <a:spcPct val="150000"/>
              </a:lnSpc>
              <a:spcBef>
                <a:spcPts val="0"/>
              </a:spcBef>
              <a:spcAft>
                <a:spcPts val="0"/>
              </a:spcAft>
              <a:buClrTx/>
              <a:buSzTx/>
              <a:buFont typeface="Wingdings" panose="05000000000000000000" pitchFamily="2" charset="2"/>
              <a:buNone/>
            </a:pPr>
            <a:r>
              <a:rPr kumimoji="1" lang="zh-CN" altLang="en-US" sz="4000" b="1" kern="0" dirty="0">
                <a:ln>
                  <a:noFill/>
                </a:ln>
                <a:solidFill>
                  <a:srgbClr val="0070BF"/>
                </a:solidFill>
                <a:effectLst/>
                <a:uLnTx/>
                <a:uFillTx/>
                <a:latin typeface="微软雅黑" panose="020B0503020204020204" charset="-122"/>
                <a:ea typeface="微软雅黑" panose="020B0503020204020204" charset="-122"/>
                <a:cs typeface="+mn-ea"/>
                <a:sym typeface="+mn-ea"/>
              </a:rPr>
              <a:t>请批评指正，谢谢</a:t>
            </a:r>
            <a:endParaRPr kumimoji="1" lang="zh-CN" altLang="en-US" sz="4000" b="1" kern="0" dirty="0">
              <a:ln>
                <a:noFill/>
              </a:ln>
              <a:solidFill>
                <a:srgbClr val="0070BF"/>
              </a:solidFill>
              <a:effectLst/>
              <a:uLnTx/>
              <a:uFillTx/>
              <a:latin typeface="微软雅黑" panose="020B0503020204020204" charset="-122"/>
              <a:ea typeface="微软雅黑" panose="020B0503020204020204" charset="-122"/>
              <a:cs typeface="+mn-ea"/>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xml><?xml version="1.0" encoding="utf-8"?>
<p:tagLst xmlns:p="http://schemas.openxmlformats.org/presentationml/2006/main">
  <p:tag name="KSO_WM_SLIDE_ITEM_CNT" val="4"/>
</p:tagLst>
</file>

<file path=ppt/tags/tag16.xml><?xml version="1.0" encoding="utf-8"?>
<p:tagLst xmlns:p="http://schemas.openxmlformats.org/presentationml/2006/main">
  <p:tag name="KSO_WM_DIAGRAM_VIRTUALLY_FRAME" val="{&quot;height&quot;:261.2,&quot;left&quot;:46.35,&quot;top&quot;:41.1,&quot;width&quot;:755.8}"/>
</p:tagLst>
</file>

<file path=ppt/tags/tag17.xml><?xml version="1.0" encoding="utf-8"?>
<p:tagLst xmlns:p="http://schemas.openxmlformats.org/presentationml/2006/main">
  <p:tag name="KSO_WM_DIAGRAM_VIRTUALLY_FRAME" val="{&quot;height&quot;:261.2,&quot;left&quot;:46.35,&quot;top&quot;:41.1,&quot;width&quot;:755.8}"/>
</p:tagLst>
</file>

<file path=ppt/tags/tag18.xml><?xml version="1.0" encoding="utf-8"?>
<p:tagLst xmlns:p="http://schemas.openxmlformats.org/presentationml/2006/main">
  <p:tag name="KSO_WM_DIAGRAM_VIRTUALLY_FRAME" val="{&quot;height&quot;:261.2,&quot;left&quot;:46.35,&quot;top&quot;:41.1,&quot;width&quot;:755.8}"/>
</p:tagLst>
</file>

<file path=ppt/tags/tag19.xml><?xml version="1.0" encoding="utf-8"?>
<p:tagLst xmlns:p="http://schemas.openxmlformats.org/presentationml/2006/main">
  <p:tag name="KSO_WM_DIAGRAM_VIRTUALLY_FRAME" val="{&quot;height&quot;:261.2,&quot;left&quot;:46.35,&quot;top&quot;:41.1,&quot;width&quot;:755.8}"/>
</p:tagLst>
</file>

<file path=ppt/tags/tag20.xml><?xml version="1.0" encoding="utf-8"?>
<p:tagLst xmlns:p="http://schemas.openxmlformats.org/presentationml/2006/main">
  <p:tag name="KSO_WM_DIAGRAM_VIRTUALLY_FRAME" val="{&quot;height&quot;:261.2,&quot;left&quot;:46.35,&quot;top&quot;:41.1,&quot;width&quot;:755.8}"/>
</p:tagLst>
</file>

<file path=ppt/tags/tag21.xml><?xml version="1.0" encoding="utf-8"?>
<p:tagLst xmlns:p="http://schemas.openxmlformats.org/presentationml/2006/main">
  <p:tag name="KSO_WM_DIAGRAM_VIRTUALLY_FRAME" val="{&quot;height&quot;:261.2,&quot;left&quot;:46.35,&quot;top&quot;:41.1,&quot;width&quot;:755.8}"/>
</p:tagLst>
</file>

<file path=ppt/tags/tag22.xml><?xml version="1.0" encoding="utf-8"?>
<p:tagLst xmlns:p="http://schemas.openxmlformats.org/presentationml/2006/main">
  <p:tag name="KSO_WM_DIAGRAM_VIRTUALLY_FRAME" val="{&quot;height&quot;:261.2,&quot;left&quot;:46.35,&quot;top&quot;:41.1,&quot;width&quot;:755.8}"/>
</p:tagLst>
</file>

<file path=ppt/tags/tag23.xml><?xml version="1.0" encoding="utf-8"?>
<p:tagLst xmlns:p="http://schemas.openxmlformats.org/presentationml/2006/main">
  <p:tag name="KSO_WM_DIAGRAM_VIRTUALLY_FRAME" val="{&quot;height&quot;:261.2,&quot;left&quot;:46.35,&quot;top&quot;:41.1,&quot;width&quot;:755.8}"/>
</p:tagLst>
</file>

<file path=ppt/tags/tag24.xml><?xml version="1.0" encoding="utf-8"?>
<p:tagLst xmlns:p="http://schemas.openxmlformats.org/presentationml/2006/main">
  <p:tag name="KSO_WM_DIAGRAM_VIRTUALLY_FRAME" val="{&quot;height&quot;:261.2,&quot;left&quot;:46.35,&quot;top&quot;:41.1,&quot;width&quot;:755.8}"/>
</p:tagLst>
</file>

<file path=ppt/tags/tag25.xml><?xml version="1.0" encoding="utf-8"?>
<p:tagLst xmlns:p="http://schemas.openxmlformats.org/presentationml/2006/main">
  <p:tag name="KSO_WM_DIAGRAM_VIRTUALLY_FRAME" val="{&quot;height&quot;:261.2,&quot;left&quot;:46.35,&quot;top&quot;:41.1,&quot;width&quot;:755.8}"/>
</p:tagLst>
</file>

<file path=ppt/tags/tag26.xml><?xml version="1.0" encoding="utf-8"?>
<p:tagLst xmlns:p="http://schemas.openxmlformats.org/presentationml/2006/main">
  <p:tag name="KSO_WM_DIAGRAM_VIRTUALLY_FRAME" val="{&quot;height&quot;:261.2,&quot;left&quot;:46.35,&quot;top&quot;:41.1,&quot;width&quot;:755.8}"/>
</p:tagLst>
</file>

<file path=ppt/tags/tag27.xml><?xml version="1.0" encoding="utf-8"?>
<p:tagLst xmlns:p="http://schemas.openxmlformats.org/presentationml/2006/main">
  <p:tag name="KSO_WM_DIAGRAM_VIRTUALLY_FRAME" val="{&quot;height&quot;:261.2,&quot;left&quot;:46.35,&quot;top&quot;:41.1,&quot;width&quot;:755.8}"/>
</p:tagLst>
</file>

<file path=ppt/tags/tag28.xml><?xml version="1.0" encoding="utf-8"?>
<p:tagLst xmlns:p="http://schemas.openxmlformats.org/presentationml/2006/main">
  <p:tag name="KSO_WM_DIAGRAM_VIRTUALLY_FRAME" val="{&quot;height&quot;:261.2,&quot;left&quot;:46.35,&quot;top&quot;:41.1,&quot;width&quot;:755.8}"/>
</p:tagLst>
</file>

<file path=ppt/tags/tag29.xml><?xml version="1.0" encoding="utf-8"?>
<p:tagLst xmlns:p="http://schemas.openxmlformats.org/presentationml/2006/main">
  <p:tag name="KSO_WM_DIAGRAM_VIRTUALLY_FRAME" val="{&quot;height&quot;:261.2,&quot;left&quot;:46.35,&quot;top&quot;:41.1,&quot;width&quot;:755.8}"/>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62_2*l_h_i*1_3_2"/>
  <p:tag name="KSO_WM_TEMPLATE_CATEGORY" val="diagram"/>
  <p:tag name="KSO_WM_TEMPLATE_INDEX" val="20232462"/>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62_2*l_h_f*1_1_1"/>
  <p:tag name="KSO_WM_TEMPLATE_CATEGORY" val="diagram"/>
  <p:tag name="KSO_WM_TEMPLATE_INDEX" val="20232462"/>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43.09998779296885,&quot;left&quot;:80.97796020507812,&quot;top&quot;:190.45000610351562,&quot;width&quot;:509.3161342831108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单击此处输入您的项正文"/>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 name="KSO_WM_DIAGRAM_VIRTUALLY_FRAME" val="{&quot;height&quot;:319.15,&quot;left&quot;:35.05,&quot;top&quot;:156.15,&quot;width&quot;:878.55}"/>
</p:tagLst>
</file>

<file path=ppt/tags/tag76.xml><?xml version="1.0" encoding="utf-8"?>
<p:tagLst xmlns:p="http://schemas.openxmlformats.org/presentationml/2006/main">
  <p:tag name="KSO_WM_BEAUTIFY_FLAG" val=""/>
  <p:tag name="KSO_WM_DIAGRAM_VIRTUALLY_FRAME" val="{&quot;height&quot;:319.15,&quot;left&quot;:35.05,&quot;top&quot;:156.15,&quot;width&quot;:878.55}"/>
</p:tagLst>
</file>

<file path=ppt/tags/tag77.xml><?xml version="1.0" encoding="utf-8"?>
<p:tagLst xmlns:p="http://schemas.openxmlformats.org/presentationml/2006/main">
  <p:tag name="KSO_WM_BEAUTIFY_FLAG" val=""/>
  <p:tag name="KSO_WM_DIAGRAM_VIRTUALLY_FRAME" val="{&quot;height&quot;:319.15,&quot;left&quot;:35.05,&quot;top&quot;:156.15,&quot;width&quot;:878.55}"/>
</p:tagLst>
</file>

<file path=ppt/tags/tag78.xml><?xml version="1.0" encoding="utf-8"?>
<p:tagLst xmlns:p="http://schemas.openxmlformats.org/presentationml/2006/main">
  <p:tag name="KSO_WM_DIAGRAM_VIRTUALLY_FRAME" val="{&quot;height&quot;:261.2,&quot;left&quot;:46.35,&quot;top&quot;:41.1,&quot;width&quot;:755.8}"/>
</p:tagLst>
</file>

<file path=ppt/tags/tag79.xml><?xml version="1.0" encoding="utf-8"?>
<p:tagLst xmlns:p="http://schemas.openxmlformats.org/presentationml/2006/main">
  <p:tag name="KSO_WM_DIAGRAM_VIRTUALLY_FRAME" val="{&quot;height&quot;:261.2,&quot;left&quot;:46.35,&quot;top&quot;:41.1,&quot;width&quot;:755.8}"/>
</p:tagLst>
</file>

<file path=ppt/tags/tag80.xml><?xml version="1.0" encoding="utf-8"?>
<p:tagLst xmlns:p="http://schemas.openxmlformats.org/presentationml/2006/main">
  <p:tag name="KSO_WM_DIAGRAM_VIRTUALLY_FRAME" val="{&quot;height&quot;:261.2,&quot;left&quot;:46.35,&quot;top&quot;:41.1,&quot;width&quot;:755.8}"/>
</p:tagLst>
</file>

<file path=ppt/tags/tag81.xml><?xml version="1.0" encoding="utf-8"?>
<p:tagLst xmlns:p="http://schemas.openxmlformats.org/presentationml/2006/main">
  <p:tag name="KSO_WM_DIAGRAM_VIRTUALLY_FRAME" val="{&quot;height&quot;:261.2,&quot;left&quot;:46.35,&quot;top&quot;:41.1,&quot;width&quot;:755.8}"/>
</p:tagLst>
</file>

<file path=ppt/tags/tag82.xml><?xml version="1.0" encoding="utf-8"?>
<p:tagLst xmlns:p="http://schemas.openxmlformats.org/presentationml/2006/main">
  <p:tag name="KSO_WM_DIAGRAM_VIRTUALLY_FRAME" val="{&quot;height&quot;:261.2,&quot;left&quot;:46.35,&quot;top&quot;:41.1,&quot;width&quot;:755.8}"/>
</p:tagLst>
</file>

<file path=ppt/tags/tag83.xml><?xml version="1.0" encoding="utf-8"?>
<p:tagLst xmlns:p="http://schemas.openxmlformats.org/presentationml/2006/main">
  <p:tag name="KSO_WM_DIAGRAM_VIRTUALLY_FRAME" val="{&quot;height&quot;:261.2,&quot;left&quot;:46.35,&quot;top&quot;:41.1,&quot;width&quot;:755.8}"/>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SLIDE_ITEM_CNT" val="4"/>
</p:tagLst>
</file>

<file path=ppt/tags/tag105.xml><?xml version="1.0" encoding="utf-8"?>
<p:tagLst xmlns:p="http://schemas.openxmlformats.org/presentationml/2006/main">
  <p:tag name="KSO_WM_SLIDE_ITEM_CNT" val="4"/>
</p:tagLst>
</file>

<file path=ppt/tags/tag106.xml><?xml version="1.0" encoding="utf-8"?>
<p:tagLst xmlns:p="http://schemas.openxmlformats.org/presentationml/2006/main">
  <p:tag name="KSO_WM_DIAGRAM_VIRTUALLY_FRAME" val="{&quot;height&quot;:416.85,&quot;left&quot;:11.65,&quot;top&quot;:116.35,&quot;width&quot;:1122.95}"/>
</p:tagLst>
</file>

<file path=ppt/tags/tag107.xml><?xml version="1.0" encoding="utf-8"?>
<p:tagLst xmlns:p="http://schemas.openxmlformats.org/presentationml/2006/main">
  <p:tag name="KSO_WM_DIAGRAM_VIRTUALLY_FRAME" val="{&quot;height&quot;:416.85,&quot;left&quot;:11.65,&quot;top&quot;:116.35,&quot;width&quot;:1122.95}"/>
</p:tagLst>
</file>

<file path=ppt/tags/tag108.xml><?xml version="1.0" encoding="utf-8"?>
<p:tagLst xmlns:p="http://schemas.openxmlformats.org/presentationml/2006/main">
  <p:tag name="KSO_WM_DIAGRAM_VIRTUALLY_FRAME" val="{&quot;height&quot;:416.85,&quot;left&quot;:11.65,&quot;top&quot;:116.35,&quot;width&quot;:1122.95}"/>
</p:tagLst>
</file>

<file path=ppt/tags/tag109.xml><?xml version="1.0" encoding="utf-8"?>
<p:tagLst xmlns:p="http://schemas.openxmlformats.org/presentationml/2006/main">
  <p:tag name="KSO_WM_DIAGRAM_VIRTUALLY_FRAME" val="{&quot;height&quot;:416.85,&quot;left&quot;:11.65,&quot;top&quot;:116.35,&quot;width&quot;:1122.95}"/>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SHADOWSIZE" val="90"/>
  <p:tag name="ADJUSTMENTS" val="6.765331"/>
</p:tagLst>
</file>

<file path=ppt/tags/tag130.xml><?xml version="1.0" encoding="utf-8"?>
<p:tagLst xmlns:p="http://schemas.openxmlformats.org/presentationml/2006/main">
  <p:tag name="SHADOWSIZE" val="90"/>
  <p:tag name="ADJUSTMENTS" val="6.765331"/>
</p:tagLst>
</file>

<file path=ppt/tags/tag131.xml><?xml version="1.0" encoding="utf-8"?>
<p:tagLst xmlns:p="http://schemas.openxmlformats.org/presentationml/2006/main">
  <p:tag name="KSO_WM_DIAGRAM_VIRTUALLY_FRAME" val="{&quot;height&quot;:326.25,&quot;left&quot;:46.8,&quot;top&quot;:157.9,&quot;width&quot;:664.8056692913385}"/>
</p:tagLst>
</file>

<file path=ppt/tags/tag132.xml><?xml version="1.0" encoding="utf-8"?>
<p:tagLst xmlns:p="http://schemas.openxmlformats.org/presentationml/2006/main">
  <p:tag name="KSO_WM_DIAGRAM_VIRTUALLY_FRAME" val="{&quot;height&quot;:326.25,&quot;left&quot;:46.8,&quot;top&quot;:157.9,&quot;width&quot;:664.8056692913385}"/>
</p:tagLst>
</file>

<file path=ppt/tags/tag133.xml><?xml version="1.0" encoding="utf-8"?>
<p:tagLst xmlns:p="http://schemas.openxmlformats.org/presentationml/2006/main">
  <p:tag name="KSO_WM_DIAGRAM_VIRTUALLY_FRAME" val="{&quot;height&quot;:326.25,&quot;left&quot;:46.8,&quot;top&quot;:157.9,&quot;width&quot;:664.8056692913385}"/>
</p:tagLst>
</file>

<file path=ppt/tags/tag134.xml><?xml version="1.0" encoding="utf-8"?>
<p:tagLst xmlns:p="http://schemas.openxmlformats.org/presentationml/2006/main">
  <p:tag name="KSO_WM_DIAGRAM_VIRTUALLY_FRAME" val="{&quot;height&quot;:326.25,&quot;left&quot;:46.8,&quot;top&quot;:157.9,&quot;width&quot;:664.8056692913385}"/>
</p:tagLst>
</file>

<file path=ppt/tags/tag135.xml><?xml version="1.0" encoding="utf-8"?>
<p:tagLst xmlns:p="http://schemas.openxmlformats.org/presentationml/2006/main">
  <p:tag name="KSO_WM_DIAGRAM_VIRTUALLY_FRAME" val="{&quot;height&quot;:326.25,&quot;left&quot;:46.8,&quot;top&quot;:157.9,&quot;width&quot;:664.8056692913385}"/>
</p:tagLst>
</file>

<file path=ppt/tags/tag136.xml><?xml version="1.0" encoding="utf-8"?>
<p:tagLst xmlns:p="http://schemas.openxmlformats.org/presentationml/2006/main">
  <p:tag name="KSO_WM_DIAGRAM_VIRTUALLY_FRAME" val="{&quot;height&quot;:326.25,&quot;left&quot;:46.8,&quot;top&quot;:157.9,&quot;width&quot;:664.8056692913385}"/>
</p:tagLst>
</file>

<file path=ppt/tags/tag137.xml><?xml version="1.0" encoding="utf-8"?>
<p:tagLst xmlns:p="http://schemas.openxmlformats.org/presentationml/2006/main">
  <p:tag name="KSO_WM_DIAGRAM_VIRTUALLY_FRAME" val="{&quot;height&quot;:326.25,&quot;left&quot;:46.8,&quot;top&quot;:157.9,&quot;width&quot;:664.8056692913385}"/>
</p:tagLst>
</file>

<file path=ppt/tags/tag138.xml><?xml version="1.0" encoding="utf-8"?>
<p:tagLst xmlns:p="http://schemas.openxmlformats.org/presentationml/2006/main">
  <p:tag name="KSO_WM_DIAGRAM_VIRTUALLY_FRAME" val="{&quot;height&quot;:326.25,&quot;left&quot;:46.8,&quot;top&quot;:157.9,&quot;width&quot;:664.8056692913385}"/>
</p:tagLst>
</file>

<file path=ppt/tags/tag139.xml><?xml version="1.0" encoding="utf-8"?>
<p:tagLst xmlns:p="http://schemas.openxmlformats.org/presentationml/2006/main">
  <p:tag name="KSO_WM_SLIDE_ITEM_CNT" val="4"/>
</p:tagLst>
</file>

<file path=ppt/tags/tag140.xml><?xml version="1.0" encoding="utf-8"?>
<p:tagLst xmlns:p="http://schemas.openxmlformats.org/presentationml/2006/main">
  <p:tag name="KSO_WM_SLIDE_ITEM_CNT" val="4"/>
</p:tagLst>
</file>

<file path=ppt/tags/tag141.xml><?xml version="1.0" encoding="utf-8"?>
<p:tagLst xmlns:p="http://schemas.openxmlformats.org/presentationml/2006/main">
  <p:tag name="KSO_WM_SLIDE_ITEM_CNT" val="4"/>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SLIDE_ITEM_CNT" val="4"/>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SLIDE_ITEM_CNT" val="4"/>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SLIDE_ITEM_CNT" val="4"/>
</p:tagLst>
</file>

<file path=ppt/tags/tag226.xml><?xml version="1.0" encoding="utf-8"?>
<p:tagLst xmlns:p="http://schemas.openxmlformats.org/presentationml/2006/main">
  <p:tag name="KSO_WM_SLIDE_ITEM_CNT" val="4"/>
</p:tagLst>
</file>

<file path=ppt/tags/tag227.xml><?xml version="1.0" encoding="utf-8"?>
<p:tagLst xmlns:p="http://schemas.openxmlformats.org/presentationml/2006/main">
  <p:tag name="KSO_WM_SLIDE_ITEM_CNT" val="4"/>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SLIDE_ITEM_CNT" val="4"/>
</p:tagLst>
</file>

<file path=ppt/tags/tag240.xml><?xml version="1.0" encoding="utf-8"?>
<p:tagLst xmlns:p="http://schemas.openxmlformats.org/presentationml/2006/main">
  <p:tag name="KSO_WM_SLIDE_ITEM_CNT" val="4"/>
</p:tagLst>
</file>

<file path=ppt/tags/tag241.xml><?xml version="1.0" encoding="utf-8"?>
<p:tagLst xmlns:p="http://schemas.openxmlformats.org/presentationml/2006/main">
  <p:tag name="KSO_WM_SLIDE_ITEM_CNT" val="4"/>
</p:tagLst>
</file>

<file path=ppt/tags/tag242.xml><?xml version="1.0" encoding="utf-8"?>
<p:tagLst xmlns:p="http://schemas.openxmlformats.org/presentationml/2006/main">
  <p:tag name="TABLE_ENDDRAG_ORIGIN_RECT" val="841*391"/>
  <p:tag name="TABLE_ENDDRAG_RECT" val="44*118*841*391"/>
</p:tagLst>
</file>

<file path=ppt/tags/tag243.xml><?xml version="1.0" encoding="utf-8"?>
<p:tagLst xmlns:p="http://schemas.openxmlformats.org/presentationml/2006/main">
  <p:tag name="KSO_WM_SLIDE_ITEM_CNT" val="4"/>
</p:tagLst>
</file>

<file path=ppt/tags/tag244.xml><?xml version="1.0" encoding="utf-8"?>
<p:tagLst xmlns:p="http://schemas.openxmlformats.org/presentationml/2006/main">
  <p:tag name="KSO_WPP_MARK_KEY" val="840d4ce5-2beb-440c-9ce9-5391a4cbdca1"/>
  <p:tag name="FULLTEXTBEAUTIFYED" val="1"/>
  <p:tag name="COMMONDATA" val="eyJoZGlkIjoiMGYzY2IwMjQwNDg2Nzc2NjU2MGNlMDcxZDIwMjY4ZjgifQ=="/>
</p:tagLst>
</file>

<file path=ppt/theme/theme1.xml><?xml version="1.0" encoding="utf-8"?>
<a:theme xmlns:a="http://schemas.openxmlformats.org/drawingml/2006/main" name="1_Office 主题​​">
  <a:themeElements>
    <a:clrScheme name="">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gjn13qed">
      <a:majorFont>
        <a:latin typeface=""/>
        <a:ea typeface="微软雅黑"/>
        <a:cs typeface=""/>
      </a:majorFont>
      <a:minorFont>
        <a:latin typeface=""/>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90D1F8"/>
        </a:solidFill>
      </a:spPr>
      <a:bodyPr wrap="square" lIns="0" tIns="0" rIns="0" bIns="0" rtlCol="0"/>
      <a:lstStyle>
        <a:defPPr algn="ctr">
          <a:defRPr lang="zh-CN" altLang="en-US"/>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3">
      <a:dk1>
        <a:srgbClr val="000000"/>
      </a:dk1>
      <a:lt1>
        <a:srgbClr val="FFFFFF"/>
      </a:lt1>
      <a:dk2>
        <a:srgbClr val="44546A"/>
      </a:dk2>
      <a:lt2>
        <a:srgbClr val="E7E6E6"/>
      </a:lt2>
      <a:accent1>
        <a:srgbClr val="0070BF"/>
      </a:accent1>
      <a:accent2>
        <a:srgbClr val="8CC121"/>
      </a:accent2>
      <a:accent3>
        <a:srgbClr val="C6C7C6"/>
      </a:accent3>
      <a:accent4>
        <a:srgbClr val="EEEFEE"/>
      </a:accent4>
      <a:accent5>
        <a:srgbClr val="C00000"/>
      </a:accent5>
      <a:accent6>
        <a:srgbClr val="FFFE01"/>
      </a:accent6>
      <a:hlink>
        <a:srgbClr val="0563C1"/>
      </a:hlink>
      <a:folHlink>
        <a:srgbClr val="954F72"/>
      </a:folHlink>
    </a:clrScheme>
    <a:fontScheme name="fqzmttiu">
      <a:majorFont>
        <a:latin typeface="微软雅黑"/>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100000">
              <a:srgbClr val="0463C6">
                <a:alpha val="85000"/>
              </a:srgbClr>
            </a:gs>
            <a:gs pos="0">
              <a:srgbClr val="1F497D">
                <a:lumMod val="60000"/>
                <a:lumOff val="40000"/>
                <a:alpha val="0"/>
              </a:srgbClr>
            </a:gs>
            <a:gs pos="29000">
              <a:srgbClr val="1F497D">
                <a:lumMod val="60000"/>
                <a:lumOff val="40000"/>
                <a:alpha val="10000"/>
              </a:srgbClr>
            </a:gs>
          </a:gsLst>
          <a:lin ang="0" scaled="0"/>
        </a:gradFill>
        <a:ln w="12700" cap="flat" cmpd="sng" algn="ctr">
          <a:noFill/>
          <a:prstDash val="solid"/>
          <a:miter lim="800000"/>
        </a:ln>
      </a:spPr>
      <a:bodyPr lIns="0" tIns="0" rIns="0" bIns="0" rtlCol="0" anchor="ctr"/>
      <a:lstStyle>
        <a:defPPr marL="0" marR="0" lvl="0" indent="0" algn="ctr" defTabSz="914400" rtl="0" eaLnBrk="1" fontAlgn="auto" latinLnBrk="0" hangingPunct="1">
          <a:lnSpc>
            <a:spcPct val="100000"/>
          </a:lnSpc>
          <a:spcBef>
            <a:spcPts val="0"/>
          </a:spcBef>
          <a:spcAft>
            <a:spcPts val="0"/>
          </a:spcAft>
          <a:buClrTx/>
          <a:buSzTx/>
          <a:buFontTx/>
          <a:buNone/>
          <a:defRPr/>
        </a:defPPr>
      </a:lstStyle>
    </a:spDef>
    <a:txDef>
      <a:spPr>
        <a:noFill/>
      </a:spPr>
      <a:bodyPr wrap="none" rtlCol="0">
        <a:spAutoFit/>
      </a:bodyPr>
      <a:lstStyle>
        <a:defPPr algn="l">
          <a:defRPr kumimoji="1" sz="1400" dirty="0" smtClean="0">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Custom 3">
      <a:dk1>
        <a:srgbClr val="000000"/>
      </a:dk1>
      <a:lt1>
        <a:srgbClr val="FFFFFF"/>
      </a:lt1>
      <a:dk2>
        <a:srgbClr val="44546A"/>
      </a:dk2>
      <a:lt2>
        <a:srgbClr val="E7E6E6"/>
      </a:lt2>
      <a:accent1>
        <a:srgbClr val="0070BF"/>
      </a:accent1>
      <a:accent2>
        <a:srgbClr val="8CC121"/>
      </a:accent2>
      <a:accent3>
        <a:srgbClr val="C6C7C6"/>
      </a:accent3>
      <a:accent4>
        <a:srgbClr val="EEEFEE"/>
      </a:accent4>
      <a:accent5>
        <a:srgbClr val="C00000"/>
      </a:accent5>
      <a:accent6>
        <a:srgbClr val="FFFE01"/>
      </a:accent6>
      <a:hlink>
        <a:srgbClr val="0563C1"/>
      </a:hlink>
      <a:folHlink>
        <a:srgbClr val="954F72"/>
      </a:folHlink>
    </a:clrScheme>
    <a:fontScheme name="fqzmttiu">
      <a:majorFont>
        <a:latin typeface="微软雅黑"/>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a:spPr>
      <a:bodyPr rot="0" vert="horz" wrap="square" lIns="91440" tIns="45720" rIns="91440" bIns="45720" numCol="1" spcCol="0" rtlCol="0" fromWordArt="0" anchor="ctr" anchorCtr="0" forceAA="0" compatLnSpc="1">
        <a:normAutofit fontScale="72500"/>
      </a:bodyPr>
      <a:lstStyle>
        <a:defPPr algn="ctr" defTabSz="913765">
          <a:defRPr lang="zh-CN" altLang="en-US" b="1" dirty="0">
            <a:solidFill>
              <a:srgbClr val="FFFFFF"/>
            </a:solidFill>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72000" rIns="72000" rtlCol="0" anchor="ctr">
        <a:spAutoFit/>
      </a:bodyPr>
      <a:lstStyle>
        <a:defPPr marR="0" algn="l" defTabSz="914400" rtl="0" fontAlgn="auto">
          <a:lnSpc>
            <a:spcPct val="130000"/>
          </a:lnSpc>
          <a:spcBef>
            <a:spcPts val="0"/>
          </a:spcBef>
          <a:spcAft>
            <a:spcPts val="0"/>
          </a:spcAft>
          <a:buClr>
            <a:srgbClr val="40B0FF"/>
          </a:buClr>
          <a:buSzTx/>
          <a:defRPr kumimoji="1" sz="9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11281</Words>
  <Application>WPS 演示</Application>
  <PresentationFormat>Widescreen</PresentationFormat>
  <Paragraphs>2070</Paragraphs>
  <Slides>27</Slides>
  <Notes>5</Notes>
  <HiddenSlides>0</HiddenSlides>
  <MMClips>0</MMClips>
  <ScaleCrop>false</ScaleCrop>
  <HeadingPairs>
    <vt:vector size="6" baseType="variant">
      <vt:variant>
        <vt:lpstr>已用的字体</vt:lpstr>
      </vt:variant>
      <vt:variant>
        <vt:i4>27</vt:i4>
      </vt:variant>
      <vt:variant>
        <vt:lpstr>主题</vt:lpstr>
      </vt:variant>
      <vt:variant>
        <vt:i4>3</vt:i4>
      </vt:variant>
      <vt:variant>
        <vt:lpstr>幻灯片标题</vt:lpstr>
      </vt:variant>
      <vt:variant>
        <vt:i4>27</vt:i4>
      </vt:variant>
    </vt:vector>
  </HeadingPairs>
  <TitlesOfParts>
    <vt:vector size="57" baseType="lpstr">
      <vt:lpstr>Arial</vt:lpstr>
      <vt:lpstr>宋体</vt:lpstr>
      <vt:lpstr>Wingdings</vt:lpstr>
      <vt:lpstr>方正黑体简体</vt:lpstr>
      <vt:lpstr>微软雅黑</vt:lpstr>
      <vt:lpstr>微软雅黑 Light</vt:lpstr>
      <vt:lpstr>Arial</vt:lpstr>
      <vt:lpstr>思源黑体 CN Normal</vt:lpstr>
      <vt:lpstr>黑体</vt:lpstr>
      <vt:lpstr>Arial Black</vt:lpstr>
      <vt:lpstr>Calibri</vt:lpstr>
      <vt:lpstr>等线</vt:lpstr>
      <vt:lpstr>Wingdings</vt:lpstr>
      <vt:lpstr>OPPOSans M</vt:lpstr>
      <vt:lpstr>OPPOSans R</vt:lpstr>
      <vt:lpstr>OPPOSans B</vt:lpstr>
      <vt:lpstr>Calibri</vt:lpstr>
      <vt:lpstr>字魂58号-创中黑</vt:lpstr>
      <vt:lpstr>Arial Unicode MS</vt:lpstr>
      <vt:lpstr>OPPOSans H</vt:lpstr>
      <vt:lpstr>OPPOSans R</vt:lpstr>
      <vt:lpstr>Times New Roman</vt:lpstr>
      <vt:lpstr>思源黑体</vt:lpstr>
      <vt:lpstr>-apple-system</vt:lpstr>
      <vt:lpstr>Segoe Print</vt:lpstr>
      <vt:lpstr>8</vt:lpstr>
      <vt:lpstr>OPPOSans R</vt:lpstr>
      <vt:lpstr>1_Office 主题​​</vt:lpstr>
      <vt:lpstr>1_Office Theme</vt:lpstr>
      <vt:lpstr>3_Office Theme</vt:lpstr>
      <vt:lpstr>中国移动营服运营平台规划方案 -----赋能管理，驱动运营，实现精细化决策</vt:lpstr>
      <vt:lpstr>PowerPoint 演示文稿</vt:lpstr>
      <vt:lpstr>建设背景</vt:lpstr>
      <vt:lpstr>市场领域规划：构建“2346”客户全生命周期数智运营体系</vt:lpstr>
      <vt:lpstr>PowerPoint 演示文稿</vt:lpstr>
      <vt:lpstr>平台定位与目标</vt:lpstr>
      <vt:lpstr>平台核心能力架构</vt:lpstr>
      <vt:lpstr>业务运营两级分工</vt:lpstr>
      <vt:lpstr>PowerPoint 演示文稿</vt:lpstr>
      <vt:lpstr>核心能力1：察-全局数据联动，运营数据可视、可配</vt:lpstr>
      <vt:lpstr>核心能力2：策-全智能分析，实现业务智能监测与洞察</vt:lpstr>
      <vt:lpstr>核心能力3：打-全过程管控，实现智能场景化调度执行</vt:lpstr>
      <vt:lpstr>核心能力4：评-多维度评估，持续调优运营效果评估闭环</vt:lpstr>
      <vt:lpstr>核心能力5：智慧驾驶舱</vt:lpstr>
      <vt:lpstr>核心能力6：数智运营-整体思路（1/6）</vt:lpstr>
      <vt:lpstr>核心能力6：数智运营-运营总览（2/6）</vt:lpstr>
      <vt:lpstr>核心能力6：数智运营-存量运营专区（3/6）</vt:lpstr>
      <vt:lpstr>核心能力6：数智运营-国际业务运营专区（4/6）</vt:lpstr>
      <vt:lpstr>核心能力6：数智运营-家庭运营专区（5/6）</vt:lpstr>
      <vt:lpstr>核心能力6：数智运营-行业洞察运营专区（6/6）</vt:lpstr>
      <vt:lpstr>核心能力7：个人工作台-汇聚多系统入口实现多角色统一运营</vt:lpstr>
      <vt:lpstr>基础能力1：统一数据规范，确保数据一致性</vt:lpstr>
      <vt:lpstr>基础能力2：统一调度归集实现全流程管控</vt:lpstr>
      <vt:lpstr>省级节点：集成平台能力实现省专区规范化建设</vt:lpstr>
      <vt:lpstr>PowerPoint 演示文稿</vt:lpstr>
      <vt:lpstr>里程碑计划</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xXx</dc:creator>
  <cp:lastModifiedBy>CMCC</cp:lastModifiedBy>
  <cp:revision>1127</cp:revision>
  <cp:lastPrinted>2025-10-17T10:14:00Z</cp:lastPrinted>
  <dcterms:created xsi:type="dcterms:W3CDTF">2025-10-17T10:14:00Z</dcterms:created>
  <dcterms:modified xsi:type="dcterms:W3CDTF">2025-10-20T08:06:49Z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9C57EB931E24DE0DDB83F068CE103ACD_43</vt:lpwstr>
  </property>
  <property fmtid="{D5CDD505-2E9C-101B-9397-08002B2CF9AE}" pid="3" name="KSOProductBuildVer">
    <vt:lpwstr>2052-12.8.2.21177</vt:lpwstr>
  </property>
</Properties>
</file>