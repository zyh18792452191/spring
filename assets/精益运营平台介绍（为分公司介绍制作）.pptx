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9" r:id="rId3"/>
    <p:sldId id="586" r:id="rId4"/>
    <p:sldId id="588" r:id="rId5"/>
    <p:sldId id="589" r:id="rId6"/>
    <p:sldId id="590" r:id="rId7"/>
    <p:sldId id="591" r:id="rId8"/>
    <p:sldId id="592" r:id="rId9"/>
    <p:sldId id="593" r:id="rId10"/>
    <p:sldId id="594" r:id="rId11"/>
    <p:sldId id="595" r:id="rId12"/>
    <p:sldId id="596" r:id="rId13"/>
    <p:sldId id="587" r:id="rId14"/>
    <p:sldId id="597" r:id="rId15"/>
    <p:sldId id="598" r:id="rId16"/>
    <p:sldId id="522" r:id="rId17"/>
    <p:sldId id="512" r:id="rId18"/>
    <p:sldId id="479" r:id="rId20"/>
    <p:sldId id="584" r:id="rId21"/>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马蔚然" initials="a" lastIdx="16" clrIdx="0"/>
  <p:cmAuthor id="1" name="李蓓" initials="L" lastIdx="1" clrIdx="0"/>
  <p:cmAuthor id="2" name="韩雪娟" initials="c" lastIdx="1" clrIdx="1"/>
  <p:cmAuthor id="153" name="1" initials="1" lastIdx="1" clrIdx="152"/>
  <p:cmAuthor id="3" name="Administrator" initials="A" lastIdx="1" clrIdx="2"/>
  <p:cmAuthor id="4" name="wangwei" initials="vv" lastIdx="1" clrIdx="3"/>
  <p:cmAuthor id="5" name="zhangxin" initials="z" lastIdx="3" clrIdx="4"/>
  <p:cmAuthor id="6" name="User" initials="U" lastIdx="1" clrIdx="5"/>
  <p:cmAuthor id="287643681" name="殷格非" initials="殷" lastIdx="2" clrIdx="0"/>
  <p:cmAuthor id="7" name="jiang" initials="j" lastIdx="1" clrIdx="6"/>
  <p:cmAuthor id="287643682" name="z r" initials="zr" lastIdx="5" clrIdx="12"/>
  <p:cmAuthor id="8" name="Steve Thorne" initials="S" lastIdx="2" clrIdx="4"/>
  <p:cmAuthor id="287643683" name="8310" initials="8" lastIdx="1" clrIdx="35"/>
  <p:cmAuthor id="9" name="smkhan" initials="s" lastIdx="6" clrIdx="5"/>
  <p:cmAuthor id="287643684" name="Aqf" initials="A" lastIdx="1" clrIdx="36"/>
  <p:cmAuthor id="10" name="张 少峰" initials="张" lastIdx="1" clrIdx="7"/>
  <p:cmAuthor id="287643685" name="muxiaohan" initials="m" lastIdx="1" clrIdx="37"/>
  <p:cmAuthor id="353158055" name="韩雨" initials="韩" lastIdx="0" clrIdx="0"/>
  <p:cmAuthor id="11" name="朱磊" initials="朱" lastIdx="2" clrIdx="10"/>
  <p:cmAuthor id="287643686" name="YaoChunfen" initials="Y" lastIdx="1" clrIdx="39"/>
  <p:cmAuthor id="12" name="chenlin02" initials="c" lastIdx="2" clrIdx="10"/>
  <p:cmAuthor id="287643687" name="cheng" initials="c" lastIdx="13" clrIdx="0"/>
  <p:cmAuthor id="163" name="黄宇欣" initials="黄" lastIdx="1" clrIdx="162"/>
  <p:cmAuthor id="13" name="马云飞10014438" initials="马" lastIdx="4" clrIdx="0"/>
  <p:cmAuthor id="14" name="李岩（IT）" initials="李" lastIdx="2" clrIdx="13"/>
  <p:cmAuthor id="15" name="13686" initials="1" lastIdx="1" clrIdx="14"/>
  <p:cmAuthor id="16" name="10078380" initials="1" lastIdx="1" clrIdx="15"/>
  <p:cmAuthor id="17" name="00035181" initials="0" lastIdx="1" clrIdx="16"/>
  <p:cmAuthor id="18" name="张燕" initials="MSOffice" lastIdx="1" clrIdx="17"/>
  <p:cmAuthor id="19" name="Saku Uchikawa" initials="S" lastIdx="11" clrIdx="0"/>
  <p:cmAuthor id="20" name="作者" initials="A" lastIdx="0" clrIdx="20"/>
  <p:cmAuthor id="21" name="卢静" initials="卢静" lastIdx="1" clrIdx="20"/>
  <p:cmAuthor id="22" name="liuyeqing" initials="l" lastIdx="1" clrIdx="21"/>
  <p:cmAuthor id="23" name="10009110" initials="1" lastIdx="23" clrIdx="22"/>
  <p:cmAuthor id="24" name="李蕾00009994" initials="李" lastIdx="6" clrIdx="17"/>
  <p:cmAuthor id="25" name="wyz" initials="w" lastIdx="1" clrIdx="24"/>
  <p:cmAuthor id="26" name="10270945" initials="1" lastIdx="2" clrIdx="25"/>
  <p:cmAuthor id="27" name="zrf" initials="zrf" lastIdx="3" clrIdx="26"/>
  <p:cmAuthor id="28" name="Hou Yingfeng" initials="H" lastIdx="10" clrIdx="23"/>
  <p:cmAuthor id="29" name="赵诚荣10027092" initials="赵" lastIdx="2" clrIdx="25"/>
  <p:cmAuthor id="30" name="10056791" initials="ZTE" lastIdx="1" clrIdx="29"/>
  <p:cmAuthor id="31" name="Author" initials="A" lastIdx="0" clrIdx="30"/>
  <p:cmAuthor id="32" name="李楠10047711" initials="李楠10047711" lastIdx="2" clrIdx="31"/>
  <p:cmAuthor id="33" name="10045953" initials="1" lastIdx="1" clrIdx="32"/>
  <p:cmAuthor id="34" name="A6910@365ms.vip" initials="A" lastIdx="1" clrIdx="33"/>
  <p:cmAuthor id="35" name="A6910" initials="A" lastIdx="1" clrIdx="34"/>
  <p:cmAuthor id="36" name="未知用户1" initials="未知用户1" lastIdx="7" clrIdx="36"/>
  <p:cmAuthor id="37" name="吕佩00036751" initials="吕佩00036751" lastIdx="0" clrIdx="37"/>
  <p:cmAuthor id="2000" name="shye_EbMrZnMJ" initials="authorId_858303361" lastIdx="0" clrIdx="0"/>
  <p:cmAuthor id="38" name="migu" initials="m" lastIdx="3" clrIdx="37"/>
  <p:cmAuthor id="2001" name="huang yonghong" initials="hy" lastIdx="1" clrIdx="21"/>
  <p:cmAuthor id="39" name="10206899" initials="1" lastIdx="1" clrIdx="38"/>
  <p:cmAuthor id="40" name="Ra7ER" initials="R" lastIdx="1" clrIdx="39"/>
  <p:cmAuthor id="41" name="10072453" initials="1" lastIdx="1" clrIdx="40"/>
  <p:cmAuthor id="42" name="关全全10258021" initials="关" lastIdx="11" clrIdx="36"/>
  <p:cmAuthor id="43" name="yangzhihui@tj.cmcc" initials="c" lastIdx="1" clrIdx="42"/>
  <p:cmAuthor id="44" name="赵欣" initials="赵" lastIdx="4" clrIdx="37"/>
  <p:cmAuthor id="45" name="肖星" initials="肖" lastIdx="1" clrIdx="44"/>
  <p:cmAuthor id="46" name="dell" initials="d" lastIdx="31" clrIdx="45"/>
  <p:cmAuthor id="47" name="Boom" initials="B" lastIdx="3" clrIdx="46"/>
  <p:cmAuthor id="48" name="evil" initials="e" lastIdx="0" clrIdx="0"/>
  <p:cmAuthor id="49" name="未知用户2" initials="未知用户2" lastIdx="4" clrIdx="48"/>
  <p:cmAuthor id="50" name="吕志勇" initials="吕" lastIdx="8" clrIdx="0"/>
  <p:cmAuthor id="52" name="何已龙" initials="何" lastIdx="2" clrIdx="2"/>
  <p:cmAuthor id="53" name="叶得会" initials="叶" lastIdx="8" clrIdx="0"/>
  <p:cmAuthor id="54" name="群智集" initials="群" lastIdx="0" clrIdx="0"/>
  <p:cmAuthor id="55" name="郏 鹏" initials="郏" lastIdx="1" clrIdx="16"/>
  <p:cmAuthor id="394525608" name="仇怿俊" initials="仇" lastIdx="0" clrIdx="0"/>
  <p:cmAuthor id="56" name="WX" initials="1" lastIdx="2" clrIdx="55"/>
  <p:cmAuthor id="394525609" name="LF T" initials="LT" lastIdx="1" clrIdx="24"/>
  <p:cmAuthor id="57" name="admin" initials="a" lastIdx="1" clrIdx="56"/>
  <p:cmAuthor id="394525610" name="罗 罗" initials="罗" lastIdx="1" clrIdx="37"/>
  <p:cmAuthor id="58" name="吴杰" initials="吴" lastIdx="1" clrIdx="0"/>
  <p:cmAuthor id="59" name="刘丽仙" initials="刘" lastIdx="4" clrIdx="33"/>
  <p:cmAuthor id="60" name="杨艳霞" initials="杨" lastIdx="34" clrIdx="1"/>
  <p:cmAuthor id="61" name=" " initials=" " lastIdx="2" clrIdx="60"/>
  <p:cmAuthor id="62" name="丁芙蓉" initials="丁" lastIdx="4" clrIdx="1"/>
  <p:cmAuthor id="63" name="许弘扬" initials="许" lastIdx="1" clrIdx="0"/>
  <p:cmAuthor id="64" name="陈尚文" initials="陈" lastIdx="1" clrIdx="1"/>
  <p:cmAuthor id="65" name="范作霖" initials="范" lastIdx="1" clrIdx="22"/>
  <p:cmAuthor id="66" name="包珊珊" initials="包" lastIdx="7" clrIdx="23"/>
  <p:cmAuthor id="67" name="�ǲ�����" initials="�" lastIdx="1" clrIdx="35"/>
  <p:cmAuthor id="68" name="牛宏民" initials="牛" lastIdx="2" clrIdx="0"/>
  <p:cmAuthor id="191251535" name="沈霄雷" initials="沈" lastIdx="833089" clrIdx="0"/>
  <p:cmAuthor id="69" name="毛香勤" initials="毛" lastIdx="26" clrIdx="6"/>
  <p:cmAuthor id="70" name="郑廷东" initials="郑" lastIdx="25" clrIdx="0"/>
  <p:cmAuthor id="71" name="徐光宇" initials="徐" lastIdx="1" clrIdx="0"/>
  <p:cmAuthor id="72" name="mac" initials="m" lastIdx="1" clrIdx="0"/>
  <p:cmAuthor id="73" name="孙大威" initials="孙" lastIdx="21" clrIdx="4"/>
  <p:cmAuthor id="74" name="席美娟" initials="席" lastIdx="4" clrIdx="1"/>
  <p:cmAuthor id="75" name="樊佳佳" initials="樊" lastIdx="59" clrIdx="5"/>
  <p:cmAuthor id="76" name="杨 亚媛" initials="杨" lastIdx="1" clrIdx="25"/>
  <p:cmAuthor id="77" name="欧 志芳" initials="欧" lastIdx="1" clrIdx="26"/>
  <p:cmAuthor id="78" name="邢辰凤" initials="邢" lastIdx="45" clrIdx="7"/>
  <p:cmAuthor id="79" name="高永刚" initials="高" lastIdx="2" clrIdx="36"/>
  <p:cmAuthor id="80" name="光启" initials="光" lastIdx="1" clrIdx="0"/>
  <p:cmAuthor id="81" name="侯雪飞" initials="侯" lastIdx="1" clrIdx="0"/>
  <p:cmAuthor id="82" name="太海峰" initials="太" lastIdx="1" clrIdx="34"/>
  <p:cmAuthor id="83" name="yanchenrui@hq.cmcc" initials="yanchenrui@hq.cmcc" lastIdx="1" clrIdx="148"/>
  <p:cmAuthor id="84" name="未知用户29" initials="未" lastIdx="1" clrIdx="0"/>
  <p:cmAuthor id="85" name="朱朱朱_EfIvmAF7" initials="authorId_236067973" lastIdx="0" clrIdx="0"/>
  <p:cmAuthor id="86" name="庞亦龙" initials="庞亦龙" lastIdx="1" clrIdx="16"/>
  <p:cmAuthor id="87" name="Yuan Hu" initials="Y" lastIdx="1" clrIdx="0"/>
  <p:cmAuthor id="88" name="Tianchi Yao" initials="TY" lastIdx="31" clrIdx="72"/>
  <p:cmAuthor id="89" name="Unknown User117" initials="U" lastIdx="10" clrIdx="0"/>
  <p:cmAuthor id="90" name="李威" initials="李" lastIdx="1" clrIdx="3"/>
  <p:cmAuthor id="92" name="273679546@qq.com" initials="2" lastIdx="2" clrIdx="40"/>
  <p:cmAuthor id="93" name="li yx" initials="ly" lastIdx="1" clrIdx="41"/>
  <p:cmAuthor id="94" name="杨静" initials="杨" lastIdx="1" clrIdx="22"/>
  <p:cmAuthor id="95" name="韩晓宇00207529" initials="韩晓宇00207529" lastIdx="1" clrIdx="38"/>
  <p:cmAuthor id="96" name="YuQing" initials="Y" lastIdx="9" clrIdx="0"/>
  <p:cmAuthor id="97" name="Youwen Sun" initials="Y" lastIdx="3" clrIdx="1"/>
  <p:cmAuthor id="98" name="Microsoft 帐户" initials="M" lastIdx="1" clrIdx="0"/>
  <p:cmAuthor id="103" name="dadi" initials="d" lastIdx="2" clrIdx="1"/>
  <p:cmAuthor id="105" name="张田田" initials="张" lastIdx="23" clrIdx="2"/>
  <p:cmAuthor id="106" name="杨彦伟" initials="杨" lastIdx="3" clrIdx="0"/>
  <p:cmAuthor id="109" name="刘豹" initials="刘" lastIdx="0" clrIdx="0"/>
  <p:cmAuthor id="110" name="张艳芳" initials="张" lastIdx="3" clrIdx="0"/>
  <p:cmAuthor id="111" name="王志刚" initials="王" lastIdx="1" clrIdx="0"/>
  <p:cmAuthor id="113" name="徐杰" initials="徐" lastIdx="1" clrIdx="0"/>
  <p:cmAuthor id="115" name="朱海平" initials="朱" lastIdx="1" clrIdx="16"/>
  <p:cmAuthor id="116" name="王景红" initials="王" lastIdx="6" clrIdx="3"/>
  <p:cmAuthor id="117" name="席金煜" initials="席" lastIdx="42" clrIdx="4"/>
  <p:cmAuthor id="691587970" name="小延魔法师" initials="小" lastIdx="1126286" clrIdx="0"/>
  <p:cmAuthor id="119" name="fgx" initials="f" lastIdx="6" clrIdx="6"/>
  <p:cmAuthor id="691587971" name="叶 嘉南" initials="叶" lastIdx="1" clrIdx="41"/>
  <p:cmAuthor id="120" name="郑汝鸿" initials="郑" lastIdx="2" clrIdx="0"/>
  <p:cmAuthor id="691587972" name="641" initials="6" lastIdx="1" clrIdx="42"/>
  <p:cmAuthor id="121" name="杨秀丰" initials="杨" lastIdx="62" clrIdx="2"/>
  <p:cmAuthor id="122" name="惠莲" initials="惠" lastIdx="37" clrIdx="4"/>
  <p:cmAuthor id="124" name="liang ma" initials="l" lastIdx="1" clrIdx="35"/>
  <p:cmAuthor id="126" name="未知用户46" initials="未" lastIdx="1" clrIdx="1"/>
  <p:cmAuthor id="127" name="未知用户47" initials="未" lastIdx="1" clrIdx="0"/>
  <p:cmAuthor id="128" name="未知用户42" initials="未" lastIdx="2" clrIdx="2"/>
  <p:cmAuthor id="1411827" name="黄晓平" initials="黄" lastIdx="0" clrIdx="0"/>
  <p:cmAuthor id="1411828" name="刘洋洋" initials="刘洋洋" lastIdx="9" clrIdx="14"/>
  <p:cmAuthor id="129" name="未知用户43" initials="未" lastIdx="1" clrIdx="0"/>
  <p:cmAuthor id="130" name="未知用户48" initials="未" lastIdx="34" clrIdx="0"/>
  <p:cmAuthor id="131" name="未知用户49" initials="未" lastIdx="10" clrIdx="0"/>
  <p:cmAuthor id="132" name="未知用户50" initials="未" lastIdx="4" clrIdx="0"/>
  <p:cmAuthor id="133" name="未知用户51" initials="未" lastIdx="1" clrIdx="0"/>
  <p:cmAuthor id="134" name="未知用户52" initials="未" lastIdx="10" clrIdx="0"/>
  <p:cmAuthor id="135" name="未知用户53" initials="未" lastIdx="1" clrIdx="0"/>
  <p:cmAuthor id="136" name="未知用户54" initials="未" lastIdx="8" clrIdx="0"/>
  <p:cmAuthor id="137" name="未知用户55" initials="未" lastIdx="1" clrIdx="0"/>
  <p:cmAuthor id="138" name="未知用户56" initials="未" lastIdx="1" clrIdx="0"/>
  <p:cmAuthor id="139" name="未知用户57" initials="未" lastIdx="4" clrIdx="0"/>
  <p:cmAuthor id="140" name="未知用户58" initials="未" lastIdx="4" clrIdx="33"/>
  <p:cmAuthor id="141" name="未知用户59" initials="未" lastIdx="4" clrIdx="0"/>
  <p:cmAuthor id="145" name="hk z" initials="hz" lastIdx="1" clrIdx="37"/>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319" name="未知用户27" initials="未" lastIdx="1" clrIdx="0"/>
  <p:cmAuthor id="320" name="未知用户35" initials="未" lastIdx="1" clrIdx="0"/>
  <p:cmAuthor id="321" name="未知用户111" initials="未" lastIdx="1" clrIdx="1"/>
  <p:cmAuthor id="322" name="le" initials="l" lastIdx="2" clrIdx="321"/>
  <p:cmAuthor id="323" name="renyina" initials="r" lastIdx="1" clrIdx="322"/>
  <p:cmAuthor id="327" name="刘铎" initials="刘" lastIdx="1" clrIdx="326"/>
  <p:cmAuthor id="328" name="tianyuan@cmhi.cmcc" initials="tianyuan@cmhi.cmcc" lastIdx="2" clrIdx="327"/>
  <p:cmAuthor id="329" name="梁田" initials="梁" lastIdx="1" clrIdx="328"/>
  <p:cmAuthor id="330" name="陈毅辉" initials="陈" lastIdx="1" clrIdx="329"/>
  <p:cmAuthor id="331" name="wl_cm" initials="w" lastIdx="1" clrIdx="330"/>
  <p:cmAuthor id="332" name="Lenovo" initials="L" lastIdx="1" clrIdx="331"/>
  <p:cmAuthor id="333" name="zhaoqi" initials="z" lastIdx="1" clrIdx="332"/>
  <p:cmAuthor id="335" name="朱江" initials="朱" lastIdx="1" clrIdx="334"/>
  <p:cmAuthor id="47245820" name="ding ruiwen" initials="dr" lastIdx="1" clrIdx="36"/>
  <p:cmAuthor id="47245821" name="郏鹏" initials="M" lastIdx="1" clrIdx="17"/>
  <p:cmAuthor id="99" name="Deanna Schuler (Bookey Consulting)" initials="" lastIdx="2" clrIdx="0"/>
  <p:cmAuthor id="100" name="未知的使用者57" initials="" lastIdx="1" clrIdx="0"/>
  <p:cmAuthor id="101" name="未知的使用者16" initials="" lastIdx="6" clrIdx="0"/>
  <p:cmAuthor id="102" name="未知的使用者35" initials="" lastIdx="1" clrIdx="0"/>
  <p:cmAuthor id="104" name="maxine" initials="" lastIdx="0" clrIdx="0"/>
  <p:cmAuthor id="107" name="周元元" initials="" lastIdx="5" clrIdx="0"/>
  <p:cmAuthor id="108" name="未知的使用者27" initials="" lastIdx="8" clrIdx="0"/>
  <p:cmAuthor id="114" name="liupeng" initials="" lastIdx="1" clrIdx="1"/>
  <p:cmAuthor id="118" name="未知的使用者94" initials="" lastIdx="1" clrIdx="2"/>
  <p:cmAuthor id="125" name="未知的使用者56" initials="" lastIdx="1" clrIdx="0"/>
  <p:cmAuthor id="142" name="未知的使用者9" initials="" lastIdx="1" clrIdx="0"/>
  <p:cmAuthor id="143" name="未知用户62" initials="" lastIdx="1" clrIdx="1"/>
  <p:cmAuthor id="144" name="yuanzh" initials="" lastIdx="1" clrIdx="1"/>
  <p:cmAuthor id="146" name="未知用户108" initials="" lastIdx="1" clrIdx="0"/>
  <p:cmAuthor id="147" name="未知的使用者110" initials="" lastIdx="1" clrIdx="0"/>
  <p:cmAuthor id="148" name="linyd" initials="" lastIdx="3" clrIdx="1"/>
  <p:cmAuthor id="149" name="未知用户8" initials="" lastIdx="1" clrIdx="0"/>
  <p:cmAuthor id="150" name="未知的使用者31" initials="" lastIdx="1" clrIdx="0"/>
  <p:cmAuthor id="151" name="未知用户81" initials="" lastIdx="1" clrIdx="0"/>
  <p:cmAuthor id="152" name="未知用户115" initials="" lastIdx="1" clrIdx="0"/>
  <p:cmAuthor id="154" name="未知的使用者68" initials="" lastIdx="1" clrIdx="0"/>
  <p:cmAuthor id="155" name="mm" initials="" lastIdx="1" clrIdx="0"/>
  <p:cmAuthor id="156" name="未知用户15" initials="" lastIdx="1" clrIdx="0"/>
  <p:cmAuthor id="157" name="朱晓瑜" initials="" lastIdx="54" clrIdx="0"/>
  <p:cmAuthor id="158" name="不明使用者20" initials="" lastIdx="1" clrIdx="0"/>
  <p:cmAuthor id="159" name="未知用户82" initials="" lastIdx="1" clrIdx="0"/>
  <p:cmAuthor id="160" name="未知的使用者7" initials="" lastIdx="2" clrIdx="0"/>
  <p:cmAuthor id="2002" name="15719214165@163.com" initials="1" lastIdx="1" clrIdx="39"/>
  <p:cmAuthor id="161" name="未知用户6" initials="" lastIdx="8" clrIdx="0"/>
  <p:cmAuthor id="2003" name="张 曦" initials="张" lastIdx="1" clrIdx="40"/>
  <p:cmAuthor id="162" name="未知的使用者55" initials="" lastIdx="1" clrIdx="0"/>
  <p:cmAuthor id="164" name="未知的使用者50" initials="" lastIdx="1" clrIdx="0"/>
  <p:cmAuthor id="165" name="未知的使用者11" initials="" lastIdx="1" clrIdx="0"/>
  <p:cmAuthor id="167" name="未知用户106" initials="未" lastIdx="1" clrIdx="0"/>
  <p:cmAuthor id="168" name="未知用户116" initials="" lastIdx="1" clrIdx="1"/>
  <p:cmAuthor id="169" name="未知的使用者150" initials="未" lastIdx="1" clrIdx="0"/>
  <p:cmAuthor id="691587973" name="Panda" initials="P" lastIdx="1" clrIdx="51"/>
  <p:cmAuthor id="170" name="未知的使用者69" initials="" lastIdx="1" clrIdx="1"/>
  <p:cmAuthor id="171" name="未知的使用者112" initials="" lastIdx="1" clrIdx="1"/>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2" name="Daniel Wuu" initials="" lastIdx="1" clrIdx="0"/>
  <p:cmAuthor id="214" name="未知的使用者14" initials="" lastIdx="2" clrIdx="0"/>
  <p:cmAuthor id="217" name="Ashley Eberenz" initials="" lastIdx="7" clrIdx="1"/>
  <p:cmAuthor id="394525611" name="86157" initials="8" lastIdx="1" clrIdx="39"/>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8" name="未知的使用者95" initials="" lastIdx="1" clrIdx="0"/>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242" name="未知的使用者64" initials="" lastIdx="3" clrIdx="1"/>
  <p:cmAuthor id="1411829" name="haha" initials="h" lastIdx="2" clrIdx="44"/>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9" name="MA15" initials="" lastIdx="1" clrIdx="0"/>
  <p:cmAuthor id="291" name="未知用户96" initials="" lastIdx="1" clrIdx="0"/>
  <p:cmAuthor id="293" name="未知用户97" initials="" lastIdx="2" clrIdx="0"/>
  <p:cmAuthor id="294" name="未知用户40" initials="" lastIdx="5" clrIdx="1"/>
  <p:cmAuthor id="296" name="未知用户100" initials="" lastIdx="1" clrIdx="0"/>
  <p:cmAuthor id="297" name="未知用户101" initials="" lastIdx="1" clrIdx="0"/>
  <p:cmAuthor id="298" name="未知用户26" initials="" lastIdx="1" clrIdx="0"/>
  <p:cmAuthor id="300" name="未知用户32" initials="" lastIdx="1" clrIdx="0"/>
  <p:cmAuthor id="301" name="未知用户33" initials="" lastIdx="1" clrIdx="0"/>
  <p:cmAuthor id="302" name="未知用户34" initials="" lastIdx="2" clrIdx="0"/>
  <p:cmAuthor id="304" name="未知的使用者109" initials="" lastIdx="5" clrIdx="1"/>
  <p:cmAuthor id="305" name="未知的使用者122" initials="" lastIdx="1" clrIdx="0"/>
  <p:cmAuthor id="306" name="未知的使用者123" initials="" lastIdx="8" clrIdx="0"/>
  <p:cmAuthor id="336" name="黎丹" initials="C" lastIdx="0" clrIdx="335"/>
  <p:cmAuthor id="337" name="唐建军" initials="" lastIdx="0" clrIdx="336"/>
  <p:cmAuthor id="338" name="洪文静" initials="hongwj" lastIdx="0" clrIdx="337"/>
  <p:cmAuthor id="339" name="adminJT" initials="C" lastIdx="0" clrIdx="338"/>
  <p:cmAuthor id="340" name="lenovo" initials="l" lastIdx="0" clrIdx="339"/>
  <p:cmAuthor id="341" name="Think" initials="T" lastIdx="0" clrIdx="340"/>
  <p:cmAuthor id="342" name="guoxx" initials="g" lastIdx="0" clrIdx="341"/>
  <p:cmAuthor id="343" name="PJ Landwehrle" initials="P" lastIdx="0" clrIdx="342"/>
  <p:cmAuthor id="344" name="李超（IT）" initials="L" lastIdx="0" clrIdx="343"/>
  <p:cmAuthor id="345" name="CMCC" initials="C" lastIdx="0" clrIdx="344"/>
  <p:cmAuthor id="346" name="lc xue" initials="l" lastIdx="0" clrIdx="345"/>
  <p:cmAuthor id="347" name="罗位国/应用平台研发部/软件开发中心/总行机关/ABC" initials="罗" lastIdx="0" clrIdx="346"/>
  <p:cmAuthor id="348" name="zhengmn" initials="zhengmn" lastIdx="0" clrIdx="347"/>
  <p:cmAuthor id="349" name="周辉" initials="周" lastIdx="0" clrIdx="348"/>
  <p:cmAuthor id="350" name="chensiyuan" initials="c" lastIdx="0" clrIdx="349"/>
  <p:cmAuthor id="351" name="Xinyue Li" initials="X" lastIdx="0" clrIdx="350"/>
  <p:cmAuthor id="352" name="zhanglanxin" initials="z" lastIdx="0" clrIdx="351"/>
  <p:cmAuthor id="353" name="郭雨婷" initials="郭" lastIdx="0" clrIdx="352"/>
  <p:cmAuthor id="354" name="yanhexin" initials="y" lastIdx="0" clrIdx="353"/>
  <p:cmAuthor id="355" name="sunpp" initials="s" lastIdx="0" clrIdx="354"/>
  <p:cmAuthor id="356" name="宋瑞芳" initials="KS" lastIdx="0" clrIdx="355"/>
  <p:cmAuthor id="357" name="chenpuqiang" initials="c" lastIdx="0" clrIdx="356"/>
  <p:cmAuthor id="358" name="guanxiaoyu" initials="g" lastIdx="0" clrIdx="357"/>
  <p:cmAuthor id="359" name="张 强" initials="张" lastIdx="0" clrIdx="358"/>
  <p:cmAuthor id="360" name="Lee" initials="L" lastIdx="0" clrIdx="359"/>
  <p:cmAuthor id="361" name="丁博文" initials="丁" lastIdx="0" clrIdx="360"/>
  <p:cmAuthor id="362" name="ZhangQianmei-PC" initials="Z" lastIdx="0" clrIdx="361"/>
  <p:cmAuthor id="363" name="王丽（IT）" initials="王" lastIdx="0" clrIdx="362"/>
  <p:cmAuthor id="364" name="zzy" initials="z" lastIdx="0" clrIdx="363"/>
  <p:cmAuthor id="365" name="cmcc" initials="c" lastIdx="0" clrIdx="364"/>
  <p:cmAuthor id="366" name="Q" initials="Q" lastIdx="0" clrIdx="365"/>
  <p:cmAuthor id="367" name="94070" initials="9" lastIdx="0" clrIdx="366"/>
  <p:cmAuthor id="368" name="zhang wenxuan" initials="zw" lastIdx="0" clrIdx="367"/>
  <p:cmAuthor id="369" name="Y Y" initials="YY" lastIdx="0" clrIdx="368"/>
  <p:cmAuthor id="370" name="ma yanru" initials="my" lastIdx="0" clrIdx="369"/>
  <p:cmAuthor id="371" name="HP" initials="H" lastIdx="0" clrIdx="370"/>
  <p:cmAuthor id="372" name="陈召国" initials="c" lastIdx="0" clrIdx="371"/>
  <p:cmAuthor id="373" name="王轩" initials="王" lastIdx="0" clrIdx="372"/>
  <p:cmAuthor id="374" name="未知用户5" initials="未" lastIdx="0" clrIdx="373"/>
  <p:cmAuthor id="375" name="yangkun" initials="y" lastIdx="0" clrIdx="374"/>
  <p:cmAuthor id="376" name="王明明" initials="王" lastIdx="0" clrIdx="375"/>
  <p:cmAuthor id="377" name="Lenovo User" initials="L" lastIdx="0" clrIdx="376"/>
  <p:cmAuthor id="378" name="李芳雨" initials="李" lastIdx="0" clrIdx="377"/>
  <p:cmAuthor id="379" name="赵琦" initials="赵" lastIdx="0" clrIdx="378"/>
  <p:cmAuthor id="380" name="朱绍春" initials="朱" lastIdx="0" clrIdx="379"/>
  <p:cmAuthor id="381" name="番茄花园" initials="番" lastIdx="0" clrIdx="380"/>
  <p:cmAuthor id="382" name="张前美" initials="Z" lastIdx="0" clrIdx="381"/>
  <p:cmAuthor id="383" name="SF" initials="S" lastIdx="0" clrIdx="382"/>
  <p:cmAuthor id="384" name="sammi" initials="s" lastIdx="0" clrIdx="383"/>
  <p:cmAuthor id="385" name="未知用户7" initials="未" lastIdx="0" clrIdx="384"/>
  <p:cmAuthor id="386" name="未知用户9" initials="未" lastIdx="0" clrIdx="385"/>
  <p:cmAuthor id="387" name="未知用户17" initials="未" lastIdx="0" clrIdx="386"/>
  <p:cmAuthor id="388" name="未知用户18" initials="未" lastIdx="0" clrIdx="387"/>
  <p:cmAuthor id="389" name="未知用户20" initials="未" lastIdx="0" clrIdx="388"/>
  <p:cmAuthor id="390" name="未知用户19" initials="未" lastIdx="0" clrIdx="389"/>
  <p:cmAuthor id="391" name="未知用户21" initials="未" lastIdx="0" clrIdx="390"/>
  <p:cmAuthor id="392" name="未知用户16" initials="未" lastIdx="0" clrIdx="391"/>
  <p:cmAuthor id="393" name="郝崇" initials="郝" lastIdx="0" clrIdx="392"/>
  <p:cmAuthor id="394" name="未知用户103" initials="" lastIdx="0" clrIdx="393"/>
  <p:cmAuthor id="395" name="未知的使用者42" initials="" lastIdx="0" clrIdx="394"/>
  <p:cmAuthor id="396" name="未定义" initials="未" lastIdx="0" clrIdx="395"/>
  <p:cmAuthor id="397" name="rq fan" initials="r" lastIdx="0" clrIdx="396"/>
  <p:cmAuthor id="398" name="dingbo" initials="d" lastIdx="0" clrIdx="397"/>
  <p:cmAuthor id="399" name="李永欣" initials="李" lastIdx="0" clrIdx="398"/>
  <p:cmAuthor id="400" name="未知用户24" initials="未" lastIdx="0" clrIdx="399"/>
  <p:cmAuthor id="401" name="未知用户25" initials="未" lastIdx="0" clrIdx="400"/>
  <p:cmAuthor id="402" name="张宏伟" initials="张" lastIdx="0" clrIdx="401"/>
  <p:cmAuthor id="403" name="Pei" initials="P" lastIdx="0" clrIdx="402"/>
  <p:cmAuthor id="404" name="Ying Li" initials="Y" lastIdx="0" clrIdx="403"/>
  <p:cmAuthor id="405" name="李百秋" initials="李" lastIdx="0" clrIdx="404"/>
  <p:cmAuthor id="406" name="张立鑫" initials="张" lastIdx="0" clrIdx="405"/>
  <p:cmAuthor id="407" name="Ma, Jun A." initials="M" lastIdx="0" clrIdx="406"/>
  <p:cmAuthor id="408" name="不明使用者57" initials="" lastIdx="0" clrIdx="407"/>
  <p:cmAuthor id="409" name="未知的使用者67" initials="未" lastIdx="0" clrIdx="408"/>
  <p:cmAuthor id="410" name="dingyuyuan" initials="d" lastIdx="0" clrIdx="409"/>
  <p:cmAuthor id="411" name="蓝绿方方土_B7BzjQrA" initials="authorId_1141668114" lastIdx="0" clrIdx="410"/>
  <p:cmAuthor id="412" name="未知的使用者111" initials="" lastIdx="0" clrIdx="411"/>
  <p:cmAuthor id="413" name="震" initials="震" lastIdx="0" clrIdx="412"/>
  <p:cmAuthor id="414" name="刘静雄" initials="刘静雄" lastIdx="0" clrIdx="413"/>
  <p:cmAuthor id="415" name="LENOVO" initials="L" lastIdx="0" clrIdx="414"/>
  <p:cmAuthor id="416" name="zhao chun" initials="zc" lastIdx="0" clrIdx="415"/>
  <p:cmAuthor id="417" name="maomao" initials="m" lastIdx="0" clrIdx="416"/>
  <p:cmAuthor id="418" name="a" initials="a" lastIdx="0" clrIdx="417"/>
  <p:cmAuthor id="419" name="mzj" initials="m" lastIdx="0" clrIdx="418"/>
  <p:cmAuthor id="420" name="黄薇（IT）" initials="l" lastIdx="0" clrIdx="419"/>
  <p:cmAuthor id="421" name="yangjianhe1" initials="y" lastIdx="0" clrIdx="420"/>
  <p:cmAuthor id="422" name="xiaoming chang" initials="xc" lastIdx="0" clrIdx="421"/>
  <p:cmAuthor id="423" name="晓琳 李" initials="晓琳" lastIdx="0" clrIdx="422"/>
  <p:cmAuthor id="424" name="刘海娜|liuhaina" initials="W用" lastIdx="0" clrIdx="423"/>
  <p:cmAuthor id="425" name="晓松 薛" initials="晓薛" lastIdx="0" clrIdx="424"/>
  <p:cmAuthor id="426" name="未知用户157" initials="未" lastIdx="0" clrIdx="425"/>
  <p:cmAuthor id="427" name="未知用户158" initials="未" lastIdx="0" clrIdx="426"/>
  <p:cmAuthor id="428" name="未知用户159" initials="未" lastIdx="0" clrIdx="427"/>
  <p:cmAuthor id="429" name="未知用户160" initials="未" lastIdx="0" clrIdx="428"/>
  <p:cmAuthor id="430" name="未知用户168" initials="未" lastIdx="0" clrIdx="429"/>
  <p:cmAuthor id="431" name="順天" initials="順" lastIdx="0" clrIdx="430"/>
  <p:cmAuthor id="432" name="未知用户319" initials="未" lastIdx="0" clrIdx="431"/>
  <p:cmAuthor id="433" name="未知的使用者139" initials="未" lastIdx="0" clrIdx="432"/>
  <p:cmAuthor id="434" name="未知用户87" initials="未" lastIdx="0" clrIdx="433"/>
  <p:cmAuthor id="435" name="未知用户88" initials="未" lastIdx="0" clrIdx="434"/>
  <p:cmAuthor id="436" name="未知用户89" initials="未" lastIdx="0" clrIdx="435"/>
  <p:cmAuthor id="437" name="未知用户211" initials="未" lastIdx="0" clrIdx="436"/>
  <p:cmAuthor id="438" name="未知用户110" initials="未" lastIdx="0" clrIdx="437"/>
  <p:cmAuthor id="439" name="未知用户293" initials="未" lastIdx="0" clrIdx="438"/>
  <p:cmAuthor id="440" name="未知用户201" initials="未" lastIdx="0" clrIdx="439"/>
  <p:cmAuthor id="441" name="未知用户278" initials="未" lastIdx="0" clrIdx="440"/>
  <p:cmAuthor id="442" name="未知用户279" initials="未" lastIdx="0" clrIdx="441"/>
  <p:cmAuthor id="443" name="未知用户280" initials="未" lastIdx="0" clrIdx="442"/>
  <p:cmAuthor id="444" name="未知用户281" initials="未" lastIdx="0" clrIdx="443"/>
  <p:cmAuthor id="445" name="未知用户282" initials="未" lastIdx="0" clrIdx="444"/>
  <p:cmAuthor id="446" name="未知用户283" initials="未" lastIdx="0" clrIdx="445"/>
  <p:cmAuthor id="447" name="未知用户284" initials="未" lastIdx="0" clrIdx="446"/>
  <p:cmAuthor id="448" name="guanhh" initials="g" lastIdx="0" clrIdx="447"/>
  <p:cmAuthor id="449" name="未知用户169" initials="未" lastIdx="0" clrIdx="448"/>
  <p:cmAuthor id="450" name="未知用户192" initials="未" lastIdx="0" clrIdx="449"/>
  <p:cmAuthor id="451" name="未知用户203" initials="未" lastIdx="0" clrIdx="450"/>
  <p:cmAuthor id="452" name="未知用户290" initials="未" lastIdx="0" clrIdx="451"/>
  <p:cmAuthor id="453" name="未知用户291" initials="未" lastIdx="0" clrIdx="452"/>
  <p:cmAuthor id="454" name="未知用户292" initials="未" lastIdx="0" clrIdx="453"/>
  <p:cmAuthor id="455" name="未知用户184" initials="未" lastIdx="0" clrIdx="454"/>
  <p:cmAuthor id="456" name="未知用户295" initials="未" lastIdx="0" clrIdx="455"/>
  <p:cmAuthor id="457" name="未知用户297" initials="未" lastIdx="0" clrIdx="456"/>
  <p:cmAuthor id="458" name="未知用户181" initials="未" lastIdx="0" clrIdx="457"/>
  <p:cmAuthor id="459" name="ye gusong" initials="y" lastIdx="0" clrIdx="458"/>
  <p:cmAuthor id="460" name="wei muzi" initials="w" lastIdx="0" clrIdx="459"/>
  <p:cmAuthor id="461" name="孙" initials="孙" lastIdx="0" clrIdx="460"/>
  <p:cmAuthor id="462" name="未知用户187" initials="未" lastIdx="0" clrIdx="461"/>
  <p:cmAuthor id="463" name="catherine" initials="c" lastIdx="0" clrIdx="462"/>
  <p:cmAuthor id="464" name="未知的使用者89" initials="未" lastIdx="0" clrIdx="463"/>
  <p:cmAuthor id="465" name="未知用户287" initials="未" lastIdx="0" clrIdx="464"/>
  <p:cmAuthor id="466" name="未知用户288" initials="未" lastIdx="0" clrIdx="465"/>
  <p:cmAuthor id="467" name="�Ÿ�" initials="�" lastIdx="0" clrIdx="466"/>
  <p:cmAuthor id="468" name="未知的使用者140" initials="未" lastIdx="0" clrIdx="467"/>
  <p:cmAuthor id="469" name="yudi lin" initials="y" lastIdx="0" clrIdx="468"/>
  <p:cmAuthor id="470" name="liuzga" initials="l" lastIdx="0" clrIdx="469"/>
  <p:cmAuthor id="471" name="49554261@qq.com" initials="4" lastIdx="0" clrIdx="470"/>
  <p:cmAuthor id="472" name="未知用户230" initials="未" lastIdx="0" clrIdx="471"/>
  <p:cmAuthor id="473" name="未知用户216" initials="未" lastIdx="0" clrIdx="472"/>
  <p:cmAuthor id="474" name="未知用户266" initials="未" lastIdx="0" clrIdx="473"/>
  <p:cmAuthor id="475" name="未知用户243" initials="未" lastIdx="0" clrIdx="474"/>
  <p:cmAuthor id="476" name="未知用户196" initials="未" lastIdx="0" clrIdx="475"/>
  <p:cmAuthor id="477" name="未知用户219" initials="未" lastIdx="0" clrIdx="476"/>
  <p:cmAuthor id="478" name="未知用户222" initials="未" lastIdx="0" clrIdx="477"/>
  <p:cmAuthor id="479" name="未知用户200" initials="未" lastIdx="0" clrIdx="478"/>
  <p:cmAuthor id="480" name="未知用户213" initials="未" lastIdx="0" clrIdx="479"/>
  <p:cmAuthor id="481" name="未知用户214" initials="未" lastIdx="0" clrIdx="480"/>
  <p:cmAuthor id="482" name="未知用户215" initials="未" lastIdx="0" clrIdx="481"/>
  <p:cmAuthor id="483" name="未知用户231" initials="未" lastIdx="0" clrIdx="482"/>
  <p:cmAuthor id="484" name="未知用户233" initials="未" lastIdx="0" clrIdx="483"/>
  <p:cmAuthor id="485" name="未知用户234" initials="未" lastIdx="0" clrIdx="484"/>
  <p:cmAuthor id="486" name="未知用户235" initials="未" lastIdx="0" clrIdx="485"/>
  <p:cmAuthor id="487" name="未知用户236" initials="未" lastIdx="0" clrIdx="486"/>
  <p:cmAuthor id="488" name="未知用户240" initials="未" lastIdx="0" clrIdx="487"/>
  <p:cmAuthor id="489" name="未知用户221" initials="未" lastIdx="0" clrIdx="488"/>
  <p:cmAuthor id="490" name="v15194" initials="v" lastIdx="0" clrIdx="489"/>
  <p:cmAuthor id="491" name="Carol Kelly" initials="C" lastIdx="0" clrIdx="490"/>
  <p:cmAuthor id="492" name="未知的使用者155" initials="未" lastIdx="0" clrIdx="491"/>
  <p:cmAuthor id="493" name="未知用户166" initials="未" lastIdx="0" clrIdx="492"/>
  <p:cmAuthor id="494" name="Unknown User55" initials="U" lastIdx="0" clrIdx="493"/>
  <p:cmAuthor id="495" name="未知用户343" initials="未" lastIdx="0" clrIdx="494"/>
  <p:cmAuthor id="496" name="Huipeng Cao" initials="H" lastIdx="0" clrIdx="495"/>
  <p:cmAuthor id="497" name="李 雷雨" initials="李" lastIdx="0" clrIdx="496"/>
  <p:cmAuthor id="498" name="91257" initials="9" lastIdx="0" clrIdx="497"/>
  <p:cmAuthor id="499" name="vicky" initials="v" lastIdx="0" clrIdx="498"/>
  <p:cmAuthor id="500" name="庆芳 许" initials="庆" lastIdx="0" clrIdx="499"/>
  <p:cmAuthor id="501" name="不明使用者2" initials="不" lastIdx="0" clrIdx="500"/>
  <p:cmAuthor id="502" name="不明使用者3" initials="不" lastIdx="0" clrIdx="501"/>
  <p:cmAuthor id="503" name="不明使用者4" initials="不" lastIdx="0" clrIdx="502"/>
  <p:cmAuthor id="504" name="不明使用者6" initials="不" lastIdx="0" clrIdx="503"/>
  <p:cmAuthor id="505" name="不明使用者5" initials="不" lastIdx="0" clrIdx="504"/>
  <p:cmAuthor id="506" name="不明使用者8" initials="不" lastIdx="0" clrIdx="505"/>
  <p:cmAuthor id="507" name="不明使用者9" initials="不" lastIdx="0" clrIdx="506"/>
  <p:cmAuthor id="508" name="不明使用者10" initials="不" lastIdx="0" clrIdx="507"/>
  <p:cmAuthor id="509" name="敢 王" initials="敢" lastIdx="0" clrIdx="508"/>
  <p:cmAuthor id="510" name="邓 勇" initials="邓" lastIdx="0" clrIdx="509"/>
  <p:cmAuthor id="511" name="陈城" initials="陈" lastIdx="0" clrIdx="510"/>
  <p:cmAuthor id="512" name="Sharon" initials="S" lastIdx="0" clrIdx="511"/>
  <p:cmAuthor id="513" name="yangxy" initials="y" lastIdx="0" clrIdx="512"/>
  <p:cmAuthor id="514" name="Unknown User67" initials="U" lastIdx="0" clrIdx="513"/>
  <p:cmAuthor id="515" name="lingc" initials="l" lastIdx="0" clrIdx="514"/>
  <p:cmAuthor id="516" name="zhaoqian" initials="z" lastIdx="0" clrIdx="515"/>
  <p:cmAuthor id="517" name="dalu" initials="d" lastIdx="0" clrIdx="516"/>
  <p:cmAuthor id="518" name="hwjjjjjjjj" initials="h" lastIdx="0" clrIdx="517"/>
  <p:cmAuthor id="519" name="吴梦璇" initials="吴" lastIdx="0" clrIdx="518"/>
  <p:cmAuthor id="520" name="Randolph" initials="R" lastIdx="0" clrIdx="519"/>
  <p:cmAuthor id="521" name="wangchangkun@cmhi.cmcc" initials="wangchangkun@cmhi.cmcc" lastIdx="0" clrIdx="520"/>
  <p:cmAuthor id="522" name="未知的使用者61" initials="未" lastIdx="0" clrIdx="521"/>
  <p:cmAuthor id="523" name="未知用户178" initials="未" lastIdx="0" clrIdx="522"/>
  <p:cmAuthor id="524" name="zhangxinyao" initials="z" lastIdx="0" clrIdx="523"/>
  <p:cmAuthor id="525" name="未知的使用者169" initials="未" lastIdx="0" clrIdx="524"/>
  <p:cmAuthor id="526" name="未知的使用者183" initials="未" lastIdx="0" clrIdx="525"/>
  <p:cmAuthor id="527" name="未知的使用者182" initials="未" lastIdx="0" clrIdx="526"/>
  <p:cmAuthor id="528" name="未知的使用者173" initials="未" lastIdx="0" clrIdx="527"/>
  <p:cmAuthor id="529" name="未知的使用者161" initials="未" lastIdx="0" clrIdx="528"/>
  <p:cmAuthor id="530" name="未知的使用者151" initials="未" lastIdx="0" clrIdx="529"/>
  <p:cmAuthor id="531" name="未知的使用者162" initials="未" lastIdx="0" clrIdx="530"/>
  <p:cmAuthor id="532" name="未知的使用者152" initials="未" lastIdx="0" clrIdx="531"/>
  <p:cmAuthor id="533" name="未知的使用者184" initials="未" lastIdx="0" clrIdx="532"/>
  <p:cmAuthor id="534" name="sucha" initials="s" lastIdx="0" clrIdx="533"/>
  <p:cmAuthor id="535" name="未知的使用者186" initials="未" lastIdx="0" clrIdx="534"/>
  <p:cmAuthor id="536" name="未知的使用者175" initials="未" lastIdx="0" clrIdx="535"/>
  <p:cmAuthor id="537" name="未知的使用者176" initials="未" lastIdx="0" clrIdx="536"/>
  <p:cmAuthor id="538" name="未知的使用者187" initials="未" lastIdx="0" clrIdx="537"/>
  <p:cmAuthor id="539" name="未知的使用者178" initials="未" lastIdx="0" clrIdx="538"/>
  <p:cmAuthor id="540" name="未知的使用者180" initials="未" lastIdx="0" clrIdx="539"/>
  <p:cmAuthor id="541" name="liuyanxue" initials="l" lastIdx="0" clrIdx="540"/>
  <p:cmAuthor id="542" name="未知的使用者170" initials="未" lastIdx="0" clrIdx="541"/>
  <p:cmAuthor id="543" name="59314" initials="5" lastIdx="0" clrIdx="542"/>
  <p:cmAuthor id="544" name="未知的使用者141" initials="未" lastIdx="0" clrIdx="543"/>
  <p:cmAuthor id="545" name="未知的使用者142" initials="未" lastIdx="0" clrIdx="544"/>
  <p:cmAuthor id="546" name="未知的使用者143" initials="未" lastIdx="0" clrIdx="545"/>
  <p:cmAuthor id="547" name="未知的使用者144" initials="未" lastIdx="0" clrIdx="546"/>
  <p:cmAuthor id="548" name="未知的使用者145" initials="未" lastIdx="0" clrIdx="547"/>
  <p:cmAuthor id="549" name="未知的使用者146" initials="未" lastIdx="0" clrIdx="548"/>
  <p:cmAuthor id="550" name="未知的使用者147" initials="未" lastIdx="0" clrIdx="549"/>
  <p:cmAuthor id="551" name="未知的使用者148" initials="未" lastIdx="0" clrIdx="550"/>
  <p:cmAuthor id="552" name="未知的使用者149" initials="未" lastIdx="0" clrIdx="551"/>
  <p:cmAuthor id="553" name="未知用户138" initials="未" lastIdx="0" clrIdx="552"/>
  <p:cmAuthor id="554" name="未知用户130" initials="未" lastIdx="0" clrIdx="553"/>
  <p:cmAuthor id="555" name="未知用户131" initials="未" lastIdx="0" clrIdx="554"/>
  <p:cmAuthor id="556" name="未知用户132" initials="未" lastIdx="0" clrIdx="555"/>
  <p:cmAuthor id="557" name="未知用户133" initials="未" lastIdx="0" clrIdx="556"/>
  <p:cmAuthor id="558" name="未知用户134" initials="未" lastIdx="0" clrIdx="557"/>
  <p:cmAuthor id="559" name="未知用户135" initials="未" lastIdx="0" clrIdx="558"/>
  <p:cmAuthor id="560" name="未知用户137" initials="未" lastIdx="0" clrIdx="559"/>
  <p:cmAuthor id="561" name="俊呈 賴" initials="俊呈" lastIdx="0" clrIdx="560"/>
  <p:cmAuthor id="562" name="未知的使用者204" initials="未" lastIdx="0" clrIdx="561"/>
  <p:cmAuthor id="563" name="Yoyo Wu" initials="Y" lastIdx="0" clrIdx="562"/>
  <p:cmAuthor id="564" name="zhangbin" initials="z" lastIdx="0" clrIdx="563"/>
  <p:cmAuthor id="565" name="Arno.Du(杜明星)" initials="A" lastIdx="0" clrIdx="564"/>
  <p:cmAuthor id="566" name="未知用户174" initials="未知用户174" lastIdx="0" clrIdx="565"/>
  <p:cmAuthor id="567" name="Unknown User27" initials="U" lastIdx="0" clrIdx="566"/>
  <p:cmAuthor id="568" name="未知的使用者221" initials="" lastIdx="0" clrIdx="567"/>
  <p:cmAuthor id="569" name="未知的使用者222" initials="" lastIdx="0" clrIdx="568"/>
  <p:cmAuthor id="570" name="未知的使用者223" initials="" lastIdx="0" clrIdx="569"/>
  <p:cmAuthor id="571" name="未知的使用者224" initials="" lastIdx="0" clrIdx="570"/>
  <p:cmAuthor id="572" name="未知的使用者225" initials="" lastIdx="0" clrIdx="571"/>
  <p:cmAuthor id="573" name="未知的使用者226" initials="" lastIdx="0" clrIdx="572"/>
  <p:cmAuthor id="574" name="未知的使用者227" initials="" lastIdx="0" clrIdx="573"/>
  <p:cmAuthor id="575" name="未知的使用者217" initials="" lastIdx="0" clrIdx="574"/>
  <p:cmAuthor id="576" name="未知的使用者218" initials="" lastIdx="0" clrIdx="575"/>
  <p:cmAuthor id="577" name="未知的使用者219" initials="" lastIdx="0" clrIdx="576"/>
  <p:cmAuthor id="578" name="未知的使用者220" initials="" lastIdx="0" clrIdx="577"/>
  <p:cmAuthor id="579" name="未知的使用者228" initials="" lastIdx="0" clrIdx="578"/>
  <p:cmAuthor id="580" name="未知的使用者229" initials="" lastIdx="0" clrIdx="579"/>
  <p:cmAuthor id="581" name="未知的使用者230" initials="" lastIdx="0" clrIdx="580"/>
  <p:cmAuthor id="582" name="未知的使用者231" initials="" lastIdx="0" clrIdx="581"/>
  <p:cmAuthor id="583" name="未知的使用者232" initials="" lastIdx="0" clrIdx="582"/>
  <p:cmAuthor id="584" name="未知的使用者233" initials="" lastIdx="0" clrIdx="583"/>
  <p:cmAuthor id="585" name="未知的使用者234" initials="" lastIdx="0" clrIdx="584"/>
  <p:cmAuthor id="586" name="未知的使用者130" initials="" lastIdx="0" clrIdx="585"/>
  <p:cmAuthor id="587" name="未知的使用者131" initials="" lastIdx="0" clrIdx="586"/>
  <p:cmAuthor id="588" name="未知的使用者132" initials="" lastIdx="0" clrIdx="587"/>
  <p:cmAuthor id="589" name="Evonlin" initials="E" lastIdx="0" clrIdx="588"/>
  <p:cmAuthor id="590" name="未知的使用者235" initials="" lastIdx="0" clrIdx="589"/>
  <p:cmAuthor id="591" name="未知的使用者236" initials="" lastIdx="0" clrIdx="590"/>
  <p:cmAuthor id="592" name="未知的使用者237" initials="" lastIdx="0" clrIdx="591"/>
  <p:cmAuthor id="593" name="未知的使用者238" initials="" lastIdx="0" clrIdx="592"/>
  <p:cmAuthor id="594" name="未知的使用者239" initials="" lastIdx="0" clrIdx="593"/>
  <p:cmAuthor id="595" name="未知的使用者136" initials="" lastIdx="0" clrIdx="594"/>
  <p:cmAuthor id="596" name="未知的使用者134" initials="" lastIdx="0" clrIdx="595"/>
  <p:cmAuthor id="597" name="未知的使用者206" initials="" lastIdx="0" clrIdx="596"/>
  <p:cmAuthor id="598" name="Kent" initials="K" lastIdx="0" clrIdx="597"/>
  <p:cmAuthor id="599" name="梅芬 吳" initials="梅" lastIdx="0" clrIdx="598"/>
  <p:cmAuthor id="600" name="王嘉偉" initials="王" lastIdx="0" clrIdx="599"/>
  <p:cmAuthor id="601" name="未知的使用者210" initials="" lastIdx="0" clrIdx="600"/>
  <p:cmAuthor id="602" name="未知的使用者211" initials="" lastIdx="0" clrIdx="601"/>
  <p:cmAuthor id="603" name="未知的使用者212" initials="" lastIdx="0" clrIdx="602"/>
  <p:cmAuthor id="604" name="未知的使用者213" initials="" lastIdx="0" clrIdx="603"/>
  <p:cmAuthor id="605" name="未知的使用者214" initials="" lastIdx="0" clrIdx="604"/>
  <p:cmAuthor id="606" name="未知的使用者215" initials="" lastIdx="0" clrIdx="605"/>
  <p:cmAuthor id="607" name="未知的使用者216" initials="" lastIdx="0" clrIdx="606"/>
  <p:cmAuthor id="608" name="王丽君" initials="王" lastIdx="0" clrIdx="607"/>
  <p:cmAuthor id="609" name="Xia Ting" initials="X" lastIdx="0" clrIdx="608"/>
  <p:cmAuthor id="610" name="未知用户163" initials="未" lastIdx="0" clrIdx="609"/>
  <p:cmAuthor id="611" name="未知用户164" initials="未" lastIdx="0" clrIdx="610"/>
  <p:cmAuthor id="612" name="未知用户10" initials="未" lastIdx="0" clrIdx="611"/>
  <p:cmAuthor id="613" name="未知用户191" initials="未" lastIdx="0" clrIdx="612"/>
  <p:cmAuthor id="614" name="未知用户167" initials="未" lastIdx="0" clrIdx="613"/>
  <p:cmAuthor id="615" name="未知的使用者163" initials="未" lastIdx="0" clrIdx="614"/>
  <p:cmAuthor id="616" name="未知的使用者88" initials="未" lastIdx="0" clrIdx="615"/>
  <p:cmAuthor id="617" name="未知的使用者165" initials="未" lastIdx="0" clrIdx="616"/>
  <p:cmAuthor id="618" name="未知的使用者158" initials="未" lastIdx="0" clrIdx="617"/>
  <p:cmAuthor id="619" name="jerrychou" initials="j" lastIdx="0" clrIdx="618"/>
  <p:cmAuthor id="620" name="不明使用者12" initials="不" lastIdx="0" clrIdx="619"/>
  <p:cmAuthor id="621" name="不明使用者1" initials="不" lastIdx="0" clrIdx="620"/>
  <p:cmAuthor id="622" name="未知的使用者166" initials="未" lastIdx="0" clrIdx="621"/>
  <p:cmAuthor id="623" name="未知的使用者167" initials="未" lastIdx="0" clrIdx="622"/>
  <p:cmAuthor id="624" name="未知的使用者159" initials="未" lastIdx="0" clrIdx="623"/>
  <p:cmAuthor id="625" name="未知的使用者160" initials="未" lastIdx="0" clrIdx="624"/>
  <p:cmAuthor id="626" name="未知的使用者168" initials="未" lastIdx="0" clrIdx="625"/>
  <p:cmAuthor id="627" name="不明使用者7" initials="不" lastIdx="0" clrIdx="626"/>
  <p:cmAuthor id="628" name="未知用户120" initials="未" lastIdx="0" clrIdx="627"/>
  <p:cmAuthor id="629" name="未知用户122" initials="未" lastIdx="0" clrIdx="628"/>
  <p:cmAuthor id="630" name="未知用户139" initials="未" lastIdx="0" clrIdx="629"/>
  <p:cmAuthor id="631" name="不明使用者11" initials="不" lastIdx="0" clrIdx="630"/>
  <p:cmAuthor id="632" name="Unknown User24" initials="U" lastIdx="0" clrIdx="631"/>
  <p:cmAuthor id="633" name="未知用户141" initials="未" lastIdx="0" clrIdx="632"/>
  <p:cmAuthor id="634" name="未知用户145" initials="未" lastIdx="0" clrIdx="633"/>
  <p:cmAuthor id="635" name="未知用户119" initials="未" lastIdx="0" clrIdx="634"/>
  <p:cmAuthor id="636" name="未知用户140" initials="未" lastIdx="0" clrIdx="635"/>
  <p:cmAuthor id="637" name="未知用户143" initials="未" lastIdx="0" clrIdx="636"/>
  <p:cmAuthor id="638" name="未知用户348" initials="未" lastIdx="0" clrIdx="637"/>
  <p:cmAuthor id="639" name="未知用户148" initials="未" lastIdx="0" clrIdx="638"/>
  <p:cmAuthor id="640" name="未知用户195" initials="未" lastIdx="0" clrIdx="639"/>
  <p:cmAuthor id="641" name="未知用户207" initials="未" lastIdx="0" clrIdx="640"/>
  <p:cmAuthor id="642" name="未知用户208" initials="未" lastIdx="0" clrIdx="641"/>
  <p:cmAuthor id="643" name="未知用户198" initials="未" lastIdx="0" clrIdx="642"/>
  <p:cmAuthor id="644" name="未知用户209" initials="未" lastIdx="0" clrIdx="643"/>
  <p:cmAuthor id="645" name="未知用户289" initials="未" lastIdx="0" clrIdx="644"/>
  <p:cmAuthor id="646" name="未知用户206" initials="未" lastIdx="0" clrIdx="645"/>
  <p:cmAuthor id="647" name="未知的使用者207" initials="未" lastIdx="0" clrIdx="646"/>
  <p:cmAuthor id="648" name="未知的使用者208" initials="未" lastIdx="0" clrIdx="647"/>
  <p:cmAuthor id="649" name="未知的使用者188" initials="未" lastIdx="0" clrIdx="648"/>
  <p:cmAuthor id="650" name="未知的使用者189" initials="未" lastIdx="0" clrIdx="649"/>
  <p:cmAuthor id="651" name="未知的使用者190" initials="未" lastIdx="0" clrIdx="650"/>
  <p:cmAuthor id="652" name="未知的使用者191" initials="未" lastIdx="0" clrIdx="651"/>
  <p:cmAuthor id="653" name="未知的使用者192" initials="未" lastIdx="0" clrIdx="652"/>
  <p:cmAuthor id="654" name="未知的使用者193" initials="未" lastIdx="0" clrIdx="653"/>
  <p:cmAuthor id="655" name="未知的使用者209" initials="未" lastIdx="0" clrIdx="654"/>
  <p:cmAuthor id="656" name="未知用户146" initials="未" lastIdx="0" clrIdx="655"/>
  <p:cmAuthor id="657" name="未知用户94" initials="未" lastIdx="0" clrIdx="656"/>
  <p:cmAuthor id="658" name="未知用户118" initials="未" lastIdx="0" clrIdx="657"/>
  <p:cmAuthor id="659" name="未知用户147" initials="未" lastIdx="0" clrIdx="658"/>
  <p:cmAuthor id="660" name="未知的使用者96" initials="未" lastIdx="0" clrIdx="659"/>
  <p:cmAuthor id="661" name="未知用户255" initials="未" lastIdx="0" clrIdx="660"/>
  <p:cmAuthor id="662" name="未知的使用者153" initials="未" lastIdx="0" clrIdx="661"/>
  <p:cmAuthor id="663" name="未知的使用者154" initials="未" lastIdx="0" clrIdx="662"/>
  <p:cmAuthor id="664" name="未知的使用者156" initials="未" lastIdx="0" clrIdx="663"/>
  <p:cmAuthor id="665" name="未知的使用者157" initials="未" lastIdx="0" clrIdx="664"/>
  <p:cmAuthor id="666" name="未知用户246" initials="未" lastIdx="0" clrIdx="665"/>
  <p:cmAuthor id="667" name="未知的使用者129" initials="未" lastIdx="0" clrIdx="666"/>
  <p:cmAuthor id="668" name="未知用户257" initials="未" lastIdx="0" clrIdx="667"/>
  <p:cmAuthor id="669" name="未知的使用者164" initials="未" lastIdx="0" clrIdx="668"/>
  <p:cmAuthor id="670" name="未知的使用者172" initials="未" lastIdx="0" clrIdx="669"/>
  <p:cmAuthor id="671" name="未知的使用者174" initials="未" lastIdx="0" clrIdx="670"/>
  <p:cmAuthor id="672" name="未知用户261" initials="未" lastIdx="0" clrIdx="671"/>
  <p:cmAuthor id="673" name="未知的使用者247" initials="未" lastIdx="0" clrIdx="672"/>
  <p:cmAuthor id="674" name="未知的使用者249" initials="未" lastIdx="0" clrIdx="673"/>
  <p:cmAuthor id="675" name="未知的使用者250" initials="未" lastIdx="0" clrIdx="674"/>
  <p:cmAuthor id="676" name="未知的使用者251" initials="未" lastIdx="0" clrIdx="675"/>
  <p:cmAuthor id="677" name="未知的使用者246" initials="未" lastIdx="0" clrIdx="676"/>
  <p:cmAuthor id="678" name="未知的使用者252" initials="未" lastIdx="0" clrIdx="677"/>
  <p:cmAuthor id="679" name="未知的使用者253" initials="未" lastIdx="0" clrIdx="678"/>
  <p:cmAuthor id="680" name="未知的使用者254" initials="未" lastIdx="0" clrIdx="679"/>
  <p:cmAuthor id="681" name="未知的使用者255" initials="未" lastIdx="0" clrIdx="680"/>
  <p:cmAuthor id="682" name="未知用户268" initials="未" lastIdx="0" clrIdx="681"/>
  <p:cmAuthor id="683" name="未知用户269" initials="未" lastIdx="0" clrIdx="682"/>
  <p:cmAuthor id="684" name="未知的使用者270" initials="未" lastIdx="0" clrIdx="683"/>
  <p:cmAuthor id="685" name="未知用户250" initials="未" lastIdx="0" clrIdx="684"/>
  <p:cmAuthor id="686" name="未知用户272" initials="未" lastIdx="0" clrIdx="685"/>
  <p:cmAuthor id="687" name="未知的使用者256" initials="未" lastIdx="0" clrIdx="686"/>
  <p:cmAuthor id="688" name="未知的使用者197" initials="未" lastIdx="0" clrIdx="687"/>
  <p:cmAuthor id="689" name="未知的使用者200" initials="未" lastIdx="0" clrIdx="688"/>
  <p:cmAuthor id="690" name="未知的使用者257" initials="未" lastIdx="0" clrIdx="689"/>
  <p:cmAuthor id="691" name="未知的使用者171" initials="未" lastIdx="0" clrIdx="690"/>
  <p:cmAuthor id="692" name="未知的使用者240" initials="未" lastIdx="0" clrIdx="691"/>
  <p:cmAuthor id="693" name="未知的使用者241" initials="未" lastIdx="0" clrIdx="692"/>
  <p:cmAuthor id="694" name="未知的使用者242" initials="未" lastIdx="0" clrIdx="693"/>
  <p:cmAuthor id="695" name="未知的使用者243" initials="未" lastIdx="0" clrIdx="694"/>
  <p:cmAuthor id="696" name="未知的使用者258" initials="未" lastIdx="0" clrIdx="695"/>
  <p:cmAuthor id="697" name="未知的使用者259" initials="未" lastIdx="0" clrIdx="696"/>
  <p:cmAuthor id="698" name="未知的使用者260" initials="未" lastIdx="0" clrIdx="697"/>
  <p:cmAuthor id="699" name="未知的使用者261" initials="未" lastIdx="0" clrIdx="698"/>
  <p:cmAuthor id="700" name="未知的使用者262" initials="未" lastIdx="0" clrIdx="699"/>
  <p:cmAuthor id="701" name="未知的使用者263" initials="未" lastIdx="0" clrIdx="700"/>
  <p:cmAuthor id="702" name="未知的使用者264" initials="未" lastIdx="0" clrIdx="701"/>
  <p:cmAuthor id="703" name="未知的使用者265" initials="未" lastIdx="0" clrIdx="702"/>
  <p:cmAuthor id="704" name="未知的使用者266" initials="未" lastIdx="0" clrIdx="703"/>
  <p:cmAuthor id="705" name="未知的使用者267" initials="未" lastIdx="0" clrIdx="704"/>
  <p:cmAuthor id="706" name="未知的使用者268" initials="未" lastIdx="0" clrIdx="705"/>
  <p:cmAuthor id="707" name="未知的使用者269" initials="未" lastIdx="0" clrIdx="706"/>
  <p:cmAuthor id="708" name="刘晖" initials="刘" lastIdx="0" clrIdx="707"/>
  <p:cmAuthor id="709" name="lillian" initials="l" lastIdx="0" clrIdx="708"/>
  <p:cmAuthor id="710" name="未知用户197" initials="未" lastIdx="0" clrIdx="70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874CB"/>
    <a:srgbClr val="D4DAEE"/>
    <a:srgbClr val="1E386B"/>
    <a:srgbClr val="ADB9CA"/>
    <a:srgbClr val="2C6FF2"/>
    <a:srgbClr val="376FFE"/>
    <a:srgbClr val="0970CA"/>
    <a:srgbClr val="2D57AB"/>
    <a:srgbClr val="2E55A7"/>
    <a:srgbClr val="2E55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3" autoAdjust="0"/>
    <p:restoredTop sz="94808" autoAdjust="0"/>
  </p:normalViewPr>
  <p:slideViewPr>
    <p:cSldViewPr snapToGrid="0" showGuides="1">
      <p:cViewPr varScale="1">
        <p:scale>
          <a:sx n="76" d="100"/>
          <a:sy n="76" d="100"/>
        </p:scale>
        <p:origin x="344" y="44"/>
      </p:cViewPr>
      <p:guideLst>
        <p:guide orient="horz" pos="2110"/>
        <p:guide pos="38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209.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3074" name="图片 1"/>
          <p:cNvPicPr>
            <a:picLocks noChangeAspect="1"/>
          </p:cNvPicPr>
          <p:nvPr userDrawn="1"/>
        </p:nvPicPr>
        <p:blipFill>
          <a:blip r:embed="rId2"/>
          <a:srcRect r="65463"/>
          <a:stretch>
            <a:fillRect/>
          </a:stretch>
        </p:blipFill>
        <p:spPr>
          <a:xfrm>
            <a:off x="0" y="0"/>
            <a:ext cx="3158490" cy="6858000"/>
          </a:xfrm>
          <a:prstGeom prst="rect">
            <a:avLst/>
          </a:prstGeom>
          <a:noFill/>
          <a:ln w="9525">
            <a:noFill/>
          </a:ln>
        </p:spPr>
      </p:pic>
      <p:pic>
        <p:nvPicPr>
          <p:cNvPr id="3075" name="图片 2"/>
          <p:cNvPicPr>
            <a:picLocks noChangeAspect="1"/>
          </p:cNvPicPr>
          <p:nvPr userDrawn="1"/>
        </p:nvPicPr>
        <p:blipFill>
          <a:blip r:embed="rId2"/>
          <a:srcRect l="65237"/>
          <a:stretch>
            <a:fillRect/>
          </a:stretch>
        </p:blipFill>
        <p:spPr>
          <a:xfrm>
            <a:off x="8995410" y="0"/>
            <a:ext cx="3179446" cy="6858000"/>
          </a:xfrm>
          <a:prstGeom prst="rect">
            <a:avLst/>
          </a:prstGeom>
          <a:noFill/>
          <a:ln w="9525">
            <a:noFill/>
          </a:ln>
        </p:spPr>
      </p:pic>
      <p:grpSp>
        <p:nvGrpSpPr>
          <p:cNvPr id="5" name="组合 4"/>
          <p:cNvGrpSpPr/>
          <p:nvPr userDrawn="1"/>
        </p:nvGrpSpPr>
        <p:grpSpPr>
          <a:xfrm>
            <a:off x="9296400" y="346710"/>
            <a:ext cx="2895600" cy="934974"/>
            <a:chOff x="322377" y="128913"/>
            <a:chExt cx="3227035" cy="1067978"/>
          </a:xfrm>
        </p:grpSpPr>
        <p:pic>
          <p:nvPicPr>
            <p:cNvPr id="6" name="图片 5"/>
            <p:cNvPicPr>
              <a:picLocks noChangeAspect="1"/>
            </p:cNvPicPr>
            <p:nvPr userDrawn="1"/>
          </p:nvPicPr>
          <p:blipFill rotWithShape="1">
            <a:blip r:embed="rId3"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4" name="图片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sp>
        <p:nvSpPr>
          <p:cNvPr id="2" name="标题 1"/>
          <p:cNvSpPr>
            <a:spLocks noGrp="1"/>
          </p:cNvSpPr>
          <p:nvPr>
            <p:ph type="ctrTitle"/>
            <p:custDataLst>
              <p:tags r:id="rId5"/>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6"/>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_内容">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162892" y="204441"/>
            <a:ext cx="9704710" cy="611184"/>
          </a:xfrm>
          <a:prstGeom prst="rect">
            <a:avLst/>
          </a:prstGeom>
        </p:spPr>
        <p:txBody>
          <a:bodyPr vert="horz" lIns="91440" tIns="45720" rIns="91440" bIns="45720" rtlCol="0" anchor="ctr">
            <a:normAutofit/>
          </a:bodyPr>
          <a:lstStyle>
            <a:lvl1pPr algn="l">
              <a:defRPr sz="2800" b="1">
                <a:solidFill>
                  <a:schemeClr val="accent1"/>
                </a:solidFill>
                <a:latin typeface="微软雅黑" panose="020B0503020204020204" charset="-122"/>
                <a:ea typeface="微软雅黑" panose="020B0503020204020204" charset="-122"/>
              </a:defRPr>
            </a:lvl1pPr>
          </a:lstStyle>
          <a:p>
            <a:r>
              <a:rPr lang="zh-CN" altLang="en-US" dirty="0"/>
              <a:t>单击此处编辑标题</a:t>
            </a:r>
            <a:endParaRPr lang="en-US" dirty="0"/>
          </a:p>
        </p:txBody>
      </p:sp>
      <p:sp>
        <p:nvSpPr>
          <p:cNvPr id="18" name="Text Placeholder 2"/>
          <p:cNvSpPr>
            <a:spLocks noGrp="1"/>
          </p:cNvSpPr>
          <p:nvPr>
            <p:ph type="body" idx="10" hasCustomPrompt="1"/>
          </p:nvPr>
        </p:nvSpPr>
        <p:spPr>
          <a:xfrm>
            <a:off x="914490" y="1334739"/>
            <a:ext cx="1036422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pic>
        <p:nvPicPr>
          <p:cNvPr id="2" name="图片 1"/>
          <p:cNvPicPr>
            <a:picLocks noChangeAspect="1"/>
          </p:cNvPicPr>
          <p:nvPr userDrawn="1"/>
        </p:nvPicPr>
        <p:blipFill>
          <a:blip r:embed="rId2" cstate="print"/>
          <a:stretch>
            <a:fillRect/>
          </a:stretch>
        </p:blipFill>
        <p:spPr>
          <a:xfrm>
            <a:off x="10074213" y="-79719"/>
            <a:ext cx="1852258" cy="1389056"/>
          </a:xfrm>
          <a:prstGeom prst="rect">
            <a:avLst/>
          </a:prstGeom>
        </p:spPr>
      </p:pic>
      <p:sp>
        <p:nvSpPr>
          <p:cNvPr id="4" name="TextBox 3"/>
          <p:cNvSpPr txBox="1"/>
          <p:nvPr userDrawn="1"/>
        </p:nvSpPr>
        <p:spPr>
          <a:xfrm>
            <a:off x="11229494" y="6576616"/>
            <a:ext cx="447719" cy="246221"/>
          </a:xfrm>
          <a:prstGeom prst="rect">
            <a:avLst/>
          </a:prstGeom>
          <a:noFill/>
        </p:spPr>
        <p:txBody>
          <a:bodyPr wrap="none" rtlCol="0" anchor="ctr" anchorCtr="0">
            <a:noAutofit/>
          </a:bodyPr>
          <a:lstStyle/>
          <a:p>
            <a:pPr algn="r">
              <a:lnSpc>
                <a:spcPct val="100000"/>
              </a:lnSpc>
              <a:buClrTx/>
              <a:buSzTx/>
              <a:buFontTx/>
            </a:pPr>
            <a:fld id="{FDA8CB47-5F18-3A4B-AD3A-422A03DFB5D1}" type="slidenum">
              <a:rPr kumimoji="1" lang="zh-CN" altLang="en-US" sz="1200" b="0" smtClean="0">
                <a:solidFill>
                  <a:schemeClr val="accent2"/>
                </a:solidFill>
                <a:latin typeface="微软雅黑" panose="020B0503020204020204" charset="-122"/>
                <a:ea typeface="微软雅黑" panose="020B0503020204020204" charset="-122"/>
                <a:sym typeface="+mn-ea"/>
              </a:rPr>
            </a:fld>
            <a:endParaRPr kumimoji="1" lang="zh-CN" altLang="en-US" sz="1200" b="0" dirty="0">
              <a:solidFill>
                <a:schemeClr val="accent2"/>
              </a:solidFill>
              <a:latin typeface="微软雅黑" panose="020B0503020204020204" charset="-122"/>
              <a:ea typeface="微软雅黑" panose="020B0503020204020204" charset="-122"/>
              <a:sym typeface="+mn-ea"/>
            </a:endParaRPr>
          </a:p>
        </p:txBody>
      </p:sp>
      <p:cxnSp>
        <p:nvCxnSpPr>
          <p:cNvPr id="6" name="Straight Connector 5"/>
          <p:cNvCxnSpPr/>
          <p:nvPr userDrawn="1"/>
        </p:nvCxnSpPr>
        <p:spPr>
          <a:xfrm>
            <a:off x="0" y="920401"/>
            <a:ext cx="121932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79784" y="274638"/>
            <a:ext cx="10972800" cy="627062"/>
          </a:xfrm>
          <a:prstGeom prst="rect">
            <a:avLst/>
          </a:prstGeom>
        </p:spPr>
        <p:txBody>
          <a:bodyPr anchor="ctr"/>
          <a:lstStyle>
            <a:lvl1pPr>
              <a:defRPr sz="2400">
                <a:solidFill>
                  <a:srgbClr val="0085D0"/>
                </a:solidFill>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7" name="灯片编号占位符 4"/>
          <p:cNvSpPr txBox="1"/>
          <p:nvPr userDrawn="1">
            <p:custDataLst>
              <p:tags r:id="rId2"/>
            </p:custDataLst>
          </p:nvPr>
        </p:nvSpPr>
        <p:spPr>
          <a:xfrm>
            <a:off x="11664951" y="6610350"/>
            <a:ext cx="670983" cy="249238"/>
          </a:xfrm>
          <a:prstGeom prst="rect">
            <a:avLst/>
          </a:prstGeom>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defRPr/>
            </a:pPr>
            <a:fld id="{8604DEDE-3264-4657-81BE-E8757C48C73B}" type="slidenum">
              <a:rPr lang="zh-CN" altLang="en-US" sz="1000" smtClean="0">
                <a:solidFill>
                  <a:srgbClr val="7F7F7F"/>
                </a:solidFill>
                <a:latin typeface="Arial" panose="020B0604020202020204" pitchFamily="34" charset="0"/>
                <a:ea typeface="微软雅黑" panose="020B0503020204020204" charset="-122"/>
              </a:rPr>
            </a:fld>
            <a:endParaRPr lang="zh-CN" altLang="en-US" sz="1000">
              <a:solidFill>
                <a:srgbClr val="7F7F7F"/>
              </a:solidFill>
              <a:latin typeface="Arial" panose="020B0604020202020204" pitchFamily="34" charset="0"/>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9349" y="188640"/>
            <a:ext cx="10972800" cy="658084"/>
          </a:xfrm>
        </p:spPr>
        <p:txBody>
          <a:bodyPr>
            <a:normAutofit/>
          </a:bodyPr>
          <a:lstStyle>
            <a:lvl1pPr algn="l">
              <a:defRPr sz="24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6" name="文本占位符 5"/>
          <p:cNvSpPr>
            <a:spLocks noGrp="1"/>
          </p:cNvSpPr>
          <p:nvPr>
            <p:ph type="body" sz="quarter" idx="11"/>
          </p:nvPr>
        </p:nvSpPr>
        <p:spPr>
          <a:xfrm>
            <a:off x="239186" y="981075"/>
            <a:ext cx="11521445" cy="863600"/>
          </a:xfrm>
          <a:noFill/>
          <a:ln w="9525">
            <a:noFill/>
            <a:miter lim="800000"/>
          </a:ln>
          <a:effectLst>
            <a:outerShdw blurRad="50800" dist="38100" dir="2700000" algn="tl" rotWithShape="0">
              <a:prstClr val="black">
                <a:alpha val="40000"/>
              </a:prstClr>
            </a:outerShdw>
          </a:effectLst>
        </p:spPr>
        <p:txBody>
          <a:bodyPr/>
          <a:lstStyle>
            <a:lvl1pPr>
              <a:defRPr lang="zh-CN" altLang="en-US" sz="2400" dirty="0" smtClean="0">
                <a:solidFill>
                  <a:srgbClr val="C00000"/>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pic>
        <p:nvPicPr>
          <p:cNvPr id="4" name="图片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790575"/>
            <a:ext cx="121920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500" y="152400"/>
            <a:ext cx="22193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8"/>
          <p:cNvSpPr>
            <a:spLocks noGrp="1"/>
          </p:cNvSpPr>
          <p:nvPr>
            <p:ph sz="quarter" idx="10"/>
          </p:nvPr>
        </p:nvSpPr>
        <p:spPr>
          <a:xfrm>
            <a:off x="428625" y="328612"/>
            <a:ext cx="9391650" cy="552449"/>
          </a:xfrm>
          <a:prstGeom prst="rect">
            <a:avLst/>
          </a:prstGeom>
        </p:spPr>
        <p:txBody>
          <a:bodyPr/>
          <a:lstStyle>
            <a:lvl1pPr>
              <a:defRPr sz="2800" b="1">
                <a:latin typeface="+mj-ea"/>
                <a:ea typeface="+mj-ea"/>
              </a:defRPr>
            </a:lvl1pPr>
            <a:lvl2pPr>
              <a:defRPr sz="2200" b="1">
                <a:latin typeface="+mj-ea"/>
                <a:ea typeface="+mj-ea"/>
              </a:defRPr>
            </a:lvl2pPr>
            <a:lvl3pPr>
              <a:defRPr sz="2200" b="1">
                <a:latin typeface="+mj-ea"/>
                <a:ea typeface="+mj-ea"/>
              </a:defRPr>
            </a:lvl3pPr>
            <a:lvl4pPr>
              <a:defRPr sz="2200" b="1">
                <a:latin typeface="+mj-ea"/>
                <a:ea typeface="+mj-ea"/>
              </a:defRPr>
            </a:lvl4pPr>
            <a:lvl5pPr>
              <a:defRPr sz="2200" b="1">
                <a:latin typeface="+mj-ea"/>
                <a:ea typeface="+mj-ea"/>
              </a:defRPr>
            </a:lvl5pPr>
          </a:lstStyle>
          <a:p>
            <a:pPr lvl="0"/>
            <a:r>
              <a:rPr lang="zh-CN" altLang="en-US" dirty="0"/>
              <a:t>单击此处编辑母版文本样式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tags" Target="../tags/tag63.xml"/><Relationship Id="rId20" Type="http://schemas.openxmlformats.org/officeDocument/2006/relationships/tags" Target="../tags/tag62.xml"/><Relationship Id="rId2" Type="http://schemas.openxmlformats.org/officeDocument/2006/relationships/slideLayout" Target="../slideLayouts/slideLayout2.xml"/><Relationship Id="rId19" Type="http://schemas.openxmlformats.org/officeDocument/2006/relationships/tags" Target="../tags/tag61.xml"/><Relationship Id="rId18" Type="http://schemas.openxmlformats.org/officeDocument/2006/relationships/tags" Target="../tags/tag60.xml"/><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21"/>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s>
</file>

<file path=ppt/slides/_rels/slide2.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3" Type="http://schemas.openxmlformats.org/officeDocument/2006/relationships/slideLayout" Target="../slideLayouts/slideLayout12.xml"/><Relationship Id="rId62" Type="http://schemas.openxmlformats.org/officeDocument/2006/relationships/tags" Target="../tags/tag127.xml"/><Relationship Id="rId61" Type="http://schemas.openxmlformats.org/officeDocument/2006/relationships/tags" Target="../tags/tag126.xml"/><Relationship Id="rId60" Type="http://schemas.openxmlformats.org/officeDocument/2006/relationships/tags" Target="../tags/tag125.xml"/><Relationship Id="rId6" Type="http://schemas.openxmlformats.org/officeDocument/2006/relationships/tags" Target="../tags/tag71.xml"/><Relationship Id="rId59" Type="http://schemas.openxmlformats.org/officeDocument/2006/relationships/tags" Target="../tags/tag124.xml"/><Relationship Id="rId58" Type="http://schemas.openxmlformats.org/officeDocument/2006/relationships/tags" Target="../tags/tag123.xml"/><Relationship Id="rId57" Type="http://schemas.openxmlformats.org/officeDocument/2006/relationships/tags" Target="../tags/tag122.xml"/><Relationship Id="rId56" Type="http://schemas.openxmlformats.org/officeDocument/2006/relationships/tags" Target="../tags/tag121.xml"/><Relationship Id="rId55" Type="http://schemas.openxmlformats.org/officeDocument/2006/relationships/tags" Target="../tags/tag120.xml"/><Relationship Id="rId54" Type="http://schemas.openxmlformats.org/officeDocument/2006/relationships/tags" Target="../tags/tag119.xml"/><Relationship Id="rId53" Type="http://schemas.openxmlformats.org/officeDocument/2006/relationships/tags" Target="../tags/tag118.xml"/><Relationship Id="rId52" Type="http://schemas.openxmlformats.org/officeDocument/2006/relationships/tags" Target="../tags/tag117.xml"/><Relationship Id="rId51" Type="http://schemas.openxmlformats.org/officeDocument/2006/relationships/tags" Target="../tags/tag116.xml"/><Relationship Id="rId50" Type="http://schemas.openxmlformats.org/officeDocument/2006/relationships/tags" Target="../tags/tag115.xml"/><Relationship Id="rId5" Type="http://schemas.openxmlformats.org/officeDocument/2006/relationships/tags" Target="../tags/tag70.xml"/><Relationship Id="rId49" Type="http://schemas.openxmlformats.org/officeDocument/2006/relationships/tags" Target="../tags/tag114.xml"/><Relationship Id="rId48" Type="http://schemas.openxmlformats.org/officeDocument/2006/relationships/tags" Target="../tags/tag113.xml"/><Relationship Id="rId47" Type="http://schemas.openxmlformats.org/officeDocument/2006/relationships/tags" Target="../tags/tag112.xml"/><Relationship Id="rId46" Type="http://schemas.openxmlformats.org/officeDocument/2006/relationships/tags" Target="../tags/tag111.xml"/><Relationship Id="rId45" Type="http://schemas.openxmlformats.org/officeDocument/2006/relationships/tags" Target="../tags/tag110.xml"/><Relationship Id="rId44" Type="http://schemas.openxmlformats.org/officeDocument/2006/relationships/tags" Target="../tags/tag109.xml"/><Relationship Id="rId43" Type="http://schemas.openxmlformats.org/officeDocument/2006/relationships/tags" Target="../tags/tag108.xml"/><Relationship Id="rId42" Type="http://schemas.openxmlformats.org/officeDocument/2006/relationships/tags" Target="../tags/tag107.xml"/><Relationship Id="rId41" Type="http://schemas.openxmlformats.org/officeDocument/2006/relationships/tags" Target="../tags/tag106.xml"/><Relationship Id="rId40" Type="http://schemas.openxmlformats.org/officeDocument/2006/relationships/tags" Target="../tags/tag105.xml"/><Relationship Id="rId4" Type="http://schemas.openxmlformats.org/officeDocument/2006/relationships/tags" Target="../tags/tag69.xml"/><Relationship Id="rId39" Type="http://schemas.openxmlformats.org/officeDocument/2006/relationships/tags" Target="../tags/tag104.xml"/><Relationship Id="rId38" Type="http://schemas.openxmlformats.org/officeDocument/2006/relationships/tags" Target="../tags/tag103.xml"/><Relationship Id="rId37" Type="http://schemas.openxmlformats.org/officeDocument/2006/relationships/tags" Target="../tags/tag102.xml"/><Relationship Id="rId36" Type="http://schemas.openxmlformats.org/officeDocument/2006/relationships/tags" Target="../tags/tag101.xml"/><Relationship Id="rId35" Type="http://schemas.openxmlformats.org/officeDocument/2006/relationships/tags" Target="../tags/tag100.xml"/><Relationship Id="rId34" Type="http://schemas.openxmlformats.org/officeDocument/2006/relationships/tags" Target="../tags/tag99.xml"/><Relationship Id="rId33" Type="http://schemas.openxmlformats.org/officeDocument/2006/relationships/tags" Target="../tags/tag98.xml"/><Relationship Id="rId32" Type="http://schemas.openxmlformats.org/officeDocument/2006/relationships/tags" Target="../tags/tag97.xml"/><Relationship Id="rId31" Type="http://schemas.openxmlformats.org/officeDocument/2006/relationships/tags" Target="../tags/tag96.xml"/><Relationship Id="rId30" Type="http://schemas.openxmlformats.org/officeDocument/2006/relationships/tags" Target="../tags/tag95.xml"/><Relationship Id="rId3" Type="http://schemas.openxmlformats.org/officeDocument/2006/relationships/tags" Target="../tags/tag68.xml"/><Relationship Id="rId29" Type="http://schemas.openxmlformats.org/officeDocument/2006/relationships/tags" Target="../tags/tag94.xml"/><Relationship Id="rId28" Type="http://schemas.openxmlformats.org/officeDocument/2006/relationships/tags" Target="../tags/tag93.xml"/><Relationship Id="rId27" Type="http://schemas.openxmlformats.org/officeDocument/2006/relationships/tags" Target="../tags/tag92.xml"/><Relationship Id="rId26" Type="http://schemas.openxmlformats.org/officeDocument/2006/relationships/tags" Target="../tags/tag91.xml"/><Relationship Id="rId25" Type="http://schemas.openxmlformats.org/officeDocument/2006/relationships/tags" Target="../tags/tag90.xml"/><Relationship Id="rId24" Type="http://schemas.openxmlformats.org/officeDocument/2006/relationships/tags" Target="../tags/tag89.xml"/><Relationship Id="rId23" Type="http://schemas.openxmlformats.org/officeDocument/2006/relationships/tags" Target="../tags/tag88.xml"/><Relationship Id="rId22" Type="http://schemas.openxmlformats.org/officeDocument/2006/relationships/tags" Target="../tags/tag87.xml"/><Relationship Id="rId21" Type="http://schemas.openxmlformats.org/officeDocument/2006/relationships/tags" Target="../tags/tag86.xml"/><Relationship Id="rId20" Type="http://schemas.openxmlformats.org/officeDocument/2006/relationships/tags" Target="../tags/tag85.xml"/><Relationship Id="rId2" Type="http://schemas.openxmlformats.org/officeDocument/2006/relationships/tags" Target="../tags/tag67.xml"/><Relationship Id="rId19" Type="http://schemas.openxmlformats.org/officeDocument/2006/relationships/tags" Target="../tags/tag84.xml"/><Relationship Id="rId18" Type="http://schemas.openxmlformats.org/officeDocument/2006/relationships/tags" Target="../tags/tag83.xml"/><Relationship Id="rId17" Type="http://schemas.openxmlformats.org/officeDocument/2006/relationships/tags" Target="../tags/tag82.xml"/><Relationship Id="rId16" Type="http://schemas.openxmlformats.org/officeDocument/2006/relationships/tags" Target="../tags/tag81.xml"/><Relationship Id="rId15" Type="http://schemas.openxmlformats.org/officeDocument/2006/relationships/tags" Target="../tags/tag80.xml"/><Relationship Id="rId14" Type="http://schemas.openxmlformats.org/officeDocument/2006/relationships/tags" Target="../tags/tag79.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image" Target="../media/image20.png"/><Relationship Id="rId3" Type="http://schemas.openxmlformats.org/officeDocument/2006/relationships/tags" Target="../tags/tag130.xml"/><Relationship Id="rId26" Type="http://schemas.openxmlformats.org/officeDocument/2006/relationships/slideLayout" Target="../slideLayouts/slideLayout12.xml"/><Relationship Id="rId25" Type="http://schemas.openxmlformats.org/officeDocument/2006/relationships/tags" Target="../tags/tag140.xml"/><Relationship Id="rId24" Type="http://schemas.openxmlformats.org/officeDocument/2006/relationships/image" Target="../media/image31.png"/><Relationship Id="rId23" Type="http://schemas.openxmlformats.org/officeDocument/2006/relationships/image" Target="../media/image30.png"/><Relationship Id="rId22" Type="http://schemas.openxmlformats.org/officeDocument/2006/relationships/image" Target="../media/image29.png"/><Relationship Id="rId21" Type="http://schemas.openxmlformats.org/officeDocument/2006/relationships/image" Target="../media/image28.png"/><Relationship Id="rId20" Type="http://schemas.openxmlformats.org/officeDocument/2006/relationships/image" Target="../media/image27.png"/><Relationship Id="rId2" Type="http://schemas.openxmlformats.org/officeDocument/2006/relationships/tags" Target="../tags/tag129.xml"/><Relationship Id="rId19" Type="http://schemas.openxmlformats.org/officeDocument/2006/relationships/image" Target="../media/image26.png"/><Relationship Id="rId18" Type="http://schemas.openxmlformats.org/officeDocument/2006/relationships/image" Target="../media/image25.png"/><Relationship Id="rId17" Type="http://schemas.openxmlformats.org/officeDocument/2006/relationships/image" Target="../media/image24.png"/><Relationship Id="rId16" Type="http://schemas.openxmlformats.org/officeDocument/2006/relationships/image" Target="../media/image23.png"/><Relationship Id="rId15" Type="http://schemas.openxmlformats.org/officeDocument/2006/relationships/tags" Target="../tags/tag139.xml"/><Relationship Id="rId14" Type="http://schemas.openxmlformats.org/officeDocument/2006/relationships/image" Target="../media/image22.png"/><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tags" Target="../tags/tag128.xml"/></Relationships>
</file>

<file path=ppt/slides/_rels/slide13.xml.rels><?xml version="1.0" encoding="UTF-8" standalone="yes"?>
<Relationships xmlns="http://schemas.openxmlformats.org/package/2006/relationships"><Relationship Id="rId9" Type="http://schemas.openxmlformats.org/officeDocument/2006/relationships/image" Target="../media/image40.png"/><Relationship Id="rId8" Type="http://schemas.openxmlformats.org/officeDocument/2006/relationships/image" Target="../media/image39.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2" Type="http://schemas.openxmlformats.org/officeDocument/2006/relationships/slideLayout" Target="../slideLayouts/slideLayout12.xml"/><Relationship Id="rId11" Type="http://schemas.openxmlformats.org/officeDocument/2006/relationships/image" Target="../media/image42.png"/><Relationship Id="rId10" Type="http://schemas.openxmlformats.org/officeDocument/2006/relationships/image" Target="../media/image41.png"/><Relationship Id="rId1" Type="http://schemas.openxmlformats.org/officeDocument/2006/relationships/image" Target="../media/image32.png"/></Relationships>
</file>

<file path=ppt/slides/_rels/slide14.xml.rels><?xml version="1.0" encoding="UTF-8" standalone="yes"?>
<Relationships xmlns="http://schemas.openxmlformats.org/package/2006/relationships"><Relationship Id="rId9" Type="http://schemas.openxmlformats.org/officeDocument/2006/relationships/image" Target="../media/image51.jpeg"/><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jpeg"/><Relationship Id="rId4" Type="http://schemas.openxmlformats.org/officeDocument/2006/relationships/image" Target="../media/image46.jpeg"/><Relationship Id="rId3" Type="http://schemas.openxmlformats.org/officeDocument/2006/relationships/image" Target="../media/image45.jpeg"/><Relationship Id="rId28" Type="http://schemas.openxmlformats.org/officeDocument/2006/relationships/slideLayout" Target="../slideLayouts/slideLayout12.xml"/><Relationship Id="rId27" Type="http://schemas.openxmlformats.org/officeDocument/2006/relationships/image" Target="../media/image69.jpeg"/><Relationship Id="rId26" Type="http://schemas.openxmlformats.org/officeDocument/2006/relationships/image" Target="../media/image68.png"/><Relationship Id="rId25" Type="http://schemas.openxmlformats.org/officeDocument/2006/relationships/image" Target="../media/image67.jpeg"/><Relationship Id="rId24" Type="http://schemas.openxmlformats.org/officeDocument/2006/relationships/image" Target="../media/image66.jpeg"/><Relationship Id="rId23" Type="http://schemas.openxmlformats.org/officeDocument/2006/relationships/image" Target="../media/image65.jpeg"/><Relationship Id="rId22" Type="http://schemas.openxmlformats.org/officeDocument/2006/relationships/image" Target="../media/image64.jpeg"/><Relationship Id="rId21" Type="http://schemas.openxmlformats.org/officeDocument/2006/relationships/image" Target="../media/image63.jpeg"/><Relationship Id="rId20" Type="http://schemas.openxmlformats.org/officeDocument/2006/relationships/image" Target="../media/image62.png"/><Relationship Id="rId2" Type="http://schemas.openxmlformats.org/officeDocument/2006/relationships/image" Target="../media/image44.jpeg"/><Relationship Id="rId19" Type="http://schemas.openxmlformats.org/officeDocument/2006/relationships/image" Target="../media/image61.jpeg"/><Relationship Id="rId18" Type="http://schemas.openxmlformats.org/officeDocument/2006/relationships/image" Target="../media/image60.jpeg"/><Relationship Id="rId17" Type="http://schemas.openxmlformats.org/officeDocument/2006/relationships/image" Target="../media/image59.jpeg"/><Relationship Id="rId16" Type="http://schemas.openxmlformats.org/officeDocument/2006/relationships/image" Target="../media/image58.jpeg"/><Relationship Id="rId15" Type="http://schemas.openxmlformats.org/officeDocument/2006/relationships/image" Target="../media/image57.jpeg"/><Relationship Id="rId14" Type="http://schemas.openxmlformats.org/officeDocument/2006/relationships/image" Target="../media/image56.jpeg"/><Relationship Id="rId13" Type="http://schemas.openxmlformats.org/officeDocument/2006/relationships/image" Target="../media/image55.jpeg"/><Relationship Id="rId12" Type="http://schemas.openxmlformats.org/officeDocument/2006/relationships/image" Target="../media/image54.jpeg"/><Relationship Id="rId11" Type="http://schemas.openxmlformats.org/officeDocument/2006/relationships/image" Target="../media/image53.jpeg"/><Relationship Id="rId10" Type="http://schemas.openxmlformats.org/officeDocument/2006/relationships/image" Target="../media/image52.png"/><Relationship Id="rId1" Type="http://schemas.openxmlformats.org/officeDocument/2006/relationships/image" Target="../media/image43.jpeg"/></Relationships>
</file>

<file path=ppt/slides/_rels/slide15.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image" Target="../media/image72.png"/><Relationship Id="rId2" Type="http://schemas.openxmlformats.org/officeDocument/2006/relationships/image" Target="../media/image71.png"/><Relationship Id="rId16" Type="http://schemas.openxmlformats.org/officeDocument/2006/relationships/slideLayout" Target="../slideLayouts/slideLayout12.xml"/><Relationship Id="rId15" Type="http://schemas.openxmlformats.org/officeDocument/2006/relationships/image" Target="../media/image74.png"/><Relationship Id="rId14" Type="http://schemas.openxmlformats.org/officeDocument/2006/relationships/image" Target="../media/image73.png"/><Relationship Id="rId13" Type="http://schemas.openxmlformats.org/officeDocument/2006/relationships/tags" Target="../tags/tag150.xml"/><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image" Target="../media/image70.png"/></Relationships>
</file>

<file path=ppt/slides/_rels/slide16.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image" Target="../media/image75.jpeg"/><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7" Type="http://schemas.openxmlformats.org/officeDocument/2006/relationships/notesSlide" Target="../notesSlides/notesSlide1.xml"/><Relationship Id="rId46" Type="http://schemas.openxmlformats.org/officeDocument/2006/relationships/slideLayout" Target="../slideLayouts/slideLayout12.xml"/><Relationship Id="rId45" Type="http://schemas.openxmlformats.org/officeDocument/2006/relationships/tags" Target="../tags/tag187.xml"/><Relationship Id="rId44" Type="http://schemas.openxmlformats.org/officeDocument/2006/relationships/tags" Target="../tags/tag186.xml"/><Relationship Id="rId43" Type="http://schemas.openxmlformats.org/officeDocument/2006/relationships/tags" Target="../tags/tag185.xml"/><Relationship Id="rId42" Type="http://schemas.openxmlformats.org/officeDocument/2006/relationships/tags" Target="../tags/tag184.xml"/><Relationship Id="rId41" Type="http://schemas.openxmlformats.org/officeDocument/2006/relationships/tags" Target="../tags/tag183.xml"/><Relationship Id="rId40" Type="http://schemas.openxmlformats.org/officeDocument/2006/relationships/tags" Target="../tags/tag182.xml"/><Relationship Id="rId4" Type="http://schemas.openxmlformats.org/officeDocument/2006/relationships/tags" Target="../tags/tag154.xml"/><Relationship Id="rId39" Type="http://schemas.openxmlformats.org/officeDocument/2006/relationships/tags" Target="../tags/tag181.xml"/><Relationship Id="rId38" Type="http://schemas.openxmlformats.org/officeDocument/2006/relationships/tags" Target="../tags/tag180.xml"/><Relationship Id="rId37" Type="http://schemas.openxmlformats.org/officeDocument/2006/relationships/tags" Target="../tags/tag179.xml"/><Relationship Id="rId36" Type="http://schemas.openxmlformats.org/officeDocument/2006/relationships/tags" Target="../tags/tag178.xml"/><Relationship Id="rId35" Type="http://schemas.openxmlformats.org/officeDocument/2006/relationships/tags" Target="../tags/tag177.xml"/><Relationship Id="rId34" Type="http://schemas.openxmlformats.org/officeDocument/2006/relationships/image" Target="../media/image81.jpeg"/><Relationship Id="rId33" Type="http://schemas.openxmlformats.org/officeDocument/2006/relationships/image" Target="../media/image80.jpeg"/><Relationship Id="rId32" Type="http://schemas.openxmlformats.org/officeDocument/2006/relationships/image" Target="../media/image79.jpeg"/><Relationship Id="rId31" Type="http://schemas.openxmlformats.org/officeDocument/2006/relationships/tags" Target="../tags/tag176.xml"/><Relationship Id="rId30" Type="http://schemas.openxmlformats.org/officeDocument/2006/relationships/tags" Target="../tags/tag175.xml"/><Relationship Id="rId3" Type="http://schemas.openxmlformats.org/officeDocument/2006/relationships/tags" Target="../tags/tag153.xml"/><Relationship Id="rId29" Type="http://schemas.openxmlformats.org/officeDocument/2006/relationships/tags" Target="../tags/tag174.xml"/><Relationship Id="rId28" Type="http://schemas.openxmlformats.org/officeDocument/2006/relationships/tags" Target="../tags/tag173.xml"/><Relationship Id="rId27" Type="http://schemas.openxmlformats.org/officeDocument/2006/relationships/tags" Target="../tags/tag172.xml"/><Relationship Id="rId26" Type="http://schemas.openxmlformats.org/officeDocument/2006/relationships/tags" Target="../tags/tag171.xml"/><Relationship Id="rId25" Type="http://schemas.openxmlformats.org/officeDocument/2006/relationships/tags" Target="../tags/tag170.xml"/><Relationship Id="rId24" Type="http://schemas.openxmlformats.org/officeDocument/2006/relationships/tags" Target="../tags/tag169.xml"/><Relationship Id="rId23" Type="http://schemas.openxmlformats.org/officeDocument/2006/relationships/tags" Target="../tags/tag168.xml"/><Relationship Id="rId22" Type="http://schemas.openxmlformats.org/officeDocument/2006/relationships/tags" Target="../tags/tag167.xml"/><Relationship Id="rId21" Type="http://schemas.openxmlformats.org/officeDocument/2006/relationships/tags" Target="../tags/tag166.xml"/><Relationship Id="rId20" Type="http://schemas.openxmlformats.org/officeDocument/2006/relationships/image" Target="../media/image78.jpeg"/><Relationship Id="rId2" Type="http://schemas.openxmlformats.org/officeDocument/2006/relationships/tags" Target="../tags/tag152.xml"/><Relationship Id="rId19" Type="http://schemas.openxmlformats.org/officeDocument/2006/relationships/image" Target="../media/image68.png"/><Relationship Id="rId18" Type="http://schemas.openxmlformats.org/officeDocument/2006/relationships/image" Target="../media/image77.jpeg"/><Relationship Id="rId17" Type="http://schemas.openxmlformats.org/officeDocument/2006/relationships/image" Target="../media/image76.jpeg"/><Relationship Id="rId16" Type="http://schemas.openxmlformats.org/officeDocument/2006/relationships/tags" Target="../tags/tag165.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9" Type="http://schemas.openxmlformats.org/officeDocument/2006/relationships/tags" Target="../tags/tag196.xml"/><Relationship Id="rId8" Type="http://schemas.openxmlformats.org/officeDocument/2006/relationships/tags" Target="../tags/tag195.xml"/><Relationship Id="rId7" Type="http://schemas.openxmlformats.org/officeDocument/2006/relationships/tags" Target="../tags/tag19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1" Type="http://schemas.openxmlformats.org/officeDocument/2006/relationships/slideLayout" Target="../slideLayouts/slideLayout12.xml"/><Relationship Id="rId20" Type="http://schemas.openxmlformats.org/officeDocument/2006/relationships/tags" Target="../tags/tag207.xml"/><Relationship Id="rId2" Type="http://schemas.openxmlformats.org/officeDocument/2006/relationships/tags" Target="../tags/tag189.xml"/><Relationship Id="rId19" Type="http://schemas.openxmlformats.org/officeDocument/2006/relationships/tags" Target="../tags/tag206.xml"/><Relationship Id="rId18" Type="http://schemas.openxmlformats.org/officeDocument/2006/relationships/tags" Target="../tags/tag205.xml"/><Relationship Id="rId17" Type="http://schemas.openxmlformats.org/officeDocument/2006/relationships/tags" Target="../tags/tag204.xml"/><Relationship Id="rId16" Type="http://schemas.openxmlformats.org/officeDocument/2006/relationships/tags" Target="../tags/tag203.xml"/><Relationship Id="rId15" Type="http://schemas.openxmlformats.org/officeDocument/2006/relationships/tags" Target="../tags/tag202.xml"/><Relationship Id="rId14" Type="http://schemas.openxmlformats.org/officeDocument/2006/relationships/tags" Target="../tags/tag201.xml"/><Relationship Id="rId13" Type="http://schemas.openxmlformats.org/officeDocument/2006/relationships/tags" Target="../tags/tag200.xml"/><Relationship Id="rId12" Type="http://schemas.openxmlformats.org/officeDocument/2006/relationships/tags" Target="../tags/tag199.xml"/><Relationship Id="rId11" Type="http://schemas.openxmlformats.org/officeDocument/2006/relationships/tags" Target="../tags/tag198.xml"/><Relationship Id="rId10" Type="http://schemas.openxmlformats.org/officeDocument/2006/relationships/tags" Target="../tags/tag197.xml"/><Relationship Id="rId1" Type="http://schemas.openxmlformats.org/officeDocument/2006/relationships/tags" Target="../tags/tag18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a:xfrm>
            <a:off x="2961005" y="3643630"/>
            <a:ext cx="6546850" cy="1433195"/>
          </a:xfrm>
        </p:spPr>
        <p:txBody>
          <a:bodyPr>
            <a:normAutofit/>
          </a:bodyPr>
          <a:lstStyle/>
          <a:p>
            <a:r>
              <a:rPr lang="zh-CN" altLang="en-US" b="1" dirty="0" smtClean="0">
                <a:solidFill>
                  <a:srgbClr val="0070C0"/>
                </a:solidFill>
                <a:latin typeface="微软雅黑" panose="020B0503020204020204" charset="-122"/>
                <a:ea typeface="微软雅黑" panose="020B0503020204020204" charset="-122"/>
                <a:cs typeface="微软雅黑" panose="020B0503020204020204" charset="-122"/>
              </a:rPr>
              <a:t>数智化部</a:t>
            </a:r>
            <a:endParaRPr lang="zh-CN" altLang="en-US" b="1" dirty="0" smtClean="0">
              <a:solidFill>
                <a:srgbClr val="0070C0"/>
              </a:solidFill>
              <a:latin typeface="微软雅黑" panose="020B0503020204020204" charset="-122"/>
              <a:ea typeface="微软雅黑" panose="020B0503020204020204" charset="-122"/>
              <a:cs typeface="微软雅黑" panose="020B0503020204020204" charset="-122"/>
            </a:endParaRPr>
          </a:p>
          <a:p>
            <a:r>
              <a:rPr lang="en-US" altLang="zh-CN" b="1" dirty="0" smtClean="0">
                <a:solidFill>
                  <a:srgbClr val="0070C0"/>
                </a:solidFill>
                <a:latin typeface="微软雅黑" panose="020B0503020204020204" charset="-122"/>
                <a:ea typeface="微软雅黑" panose="020B0503020204020204" charset="-122"/>
                <a:cs typeface="微软雅黑" panose="020B0503020204020204" charset="-122"/>
              </a:rPr>
              <a:t>2025</a:t>
            </a:r>
            <a:r>
              <a:rPr lang="zh-CN" altLang="en-US" b="1" dirty="0" smtClean="0">
                <a:solidFill>
                  <a:srgbClr val="0070C0"/>
                </a:solidFill>
                <a:latin typeface="微软雅黑" panose="020B0503020204020204" charset="-122"/>
                <a:ea typeface="微软雅黑" panose="020B0503020204020204" charset="-122"/>
                <a:cs typeface="微软雅黑" panose="020B0503020204020204" charset="-122"/>
              </a:rPr>
              <a:t>年</a:t>
            </a:r>
            <a:r>
              <a:rPr lang="en-US" altLang="zh-CN" b="1" dirty="0" smtClean="0">
                <a:solidFill>
                  <a:srgbClr val="0070C0"/>
                </a:solidFill>
                <a:latin typeface="微软雅黑" panose="020B0503020204020204" charset="-122"/>
                <a:ea typeface="微软雅黑" panose="020B0503020204020204" charset="-122"/>
                <a:cs typeface="微软雅黑" panose="020B0503020204020204" charset="-122"/>
              </a:rPr>
              <a:t>10</a:t>
            </a:r>
            <a:r>
              <a:rPr lang="zh-CN" altLang="en-US" b="1" dirty="0" smtClean="0">
                <a:solidFill>
                  <a:srgbClr val="0070C0"/>
                </a:solidFill>
                <a:latin typeface="微软雅黑" panose="020B0503020204020204" charset="-122"/>
                <a:ea typeface="微软雅黑" panose="020B0503020204020204" charset="-122"/>
                <a:cs typeface="微软雅黑" panose="020B0503020204020204" charset="-122"/>
              </a:rPr>
              <a:t>月</a:t>
            </a:r>
            <a:endParaRPr lang="zh-CN" altLang="en-US" b="1" dirty="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2770" name="TextBox 3"/>
          <p:cNvSpPr txBox="1"/>
          <p:nvPr>
            <p:custDataLst>
              <p:tags r:id="rId1"/>
            </p:custDataLst>
          </p:nvPr>
        </p:nvSpPr>
        <p:spPr>
          <a:xfrm>
            <a:off x="2135505" y="2138998"/>
            <a:ext cx="7921625" cy="768350"/>
          </a:xfrm>
          <a:prstGeom prst="rect">
            <a:avLst/>
          </a:prstGeom>
          <a:noFill/>
          <a:ln w="9525">
            <a:noFill/>
          </a:ln>
        </p:spPr>
        <p:txBody>
          <a:bodyPr anchor="t" anchorCtr="0">
            <a:spAutoFit/>
          </a:bodyPr>
          <a:lstStyle/>
          <a:p>
            <a:pPr algn="ctr"/>
            <a:r>
              <a:rPr lang="zh-CN" altLang="en-US" sz="4400" b="1" dirty="0">
                <a:solidFill>
                  <a:srgbClr val="0070C0"/>
                </a:solidFill>
                <a:latin typeface="微软雅黑" panose="020B0503020204020204" charset="-122"/>
                <a:ea typeface="微软雅黑" panose="020B0503020204020204" charset="-122"/>
              </a:rPr>
              <a:t>精益运营平台介绍</a:t>
            </a:r>
            <a:r>
              <a:rPr lang="zh-CN" altLang="en-US" sz="4400" b="1" dirty="0">
                <a:solidFill>
                  <a:srgbClr val="0070C0"/>
                </a:solidFill>
                <a:latin typeface="微软雅黑" panose="020B0503020204020204" charset="-122"/>
                <a:ea typeface="微软雅黑" panose="020B0503020204020204" charset="-122"/>
              </a:rPr>
              <a:t>手册</a:t>
            </a:r>
            <a:endParaRPr lang="zh-CN" altLang="en-US" sz="4400" b="1" dirty="0">
              <a:solidFill>
                <a:srgbClr val="0070C0"/>
              </a:solidFill>
              <a:latin typeface="微软雅黑" panose="020B0503020204020204" charset="-122"/>
              <a:ea typeface="微软雅黑" panose="020B0503020204020204" charset="-122"/>
            </a:endParaRPr>
          </a:p>
        </p:txBody>
      </p:sp>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Arial" panose="020B0604020202020204" pitchFamily="34" charset="0"/>
              </a:rPr>
              <a:t>精益</a:t>
            </a:r>
            <a:r>
              <a:rPr lang="zh-CN" altLang="en-US" dirty="0" smtClean="0">
                <a:sym typeface="Arial" panose="020B0604020202020204" pitchFamily="34" charset="0"/>
              </a:rPr>
              <a:t>运营平台</a:t>
            </a:r>
            <a:r>
              <a:rPr lang="zh-CN" altLang="en-US" dirty="0">
                <a:sym typeface="Arial" panose="020B0604020202020204" pitchFamily="34" charset="0"/>
              </a:rPr>
              <a:t>功能架构</a:t>
            </a:r>
            <a:endParaRPr lang="zh-CN" altLang="en-US" dirty="0"/>
          </a:p>
        </p:txBody>
      </p:sp>
      <p:sp>
        <p:nvSpPr>
          <p:cNvPr id="13" name="矩形: 圆角 18"/>
          <p:cNvSpPr/>
          <p:nvPr>
            <p:custDataLst>
              <p:tags r:id="rId1"/>
            </p:custDataLst>
          </p:nvPr>
        </p:nvSpPr>
        <p:spPr>
          <a:xfrm>
            <a:off x="1276985" y="6074410"/>
            <a:ext cx="10382885" cy="352425"/>
          </a:xfrm>
          <a:prstGeom prst="roundRect">
            <a:avLst>
              <a:gd name="adj" fmla="val 50000"/>
            </a:avLst>
          </a:prstGeom>
          <a:solidFill>
            <a:schemeClr val="accent3">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tIns="27000" bIns="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大数据平台 ：</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营销执行结果数据   模型数据  客户通信数据</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  ……  </a:t>
            </a:r>
            <a:r>
              <a:rPr lang="zh-CN" altLang="en-US" sz="1400" b="1" dirty="0">
                <a:solidFill>
                  <a:schemeClr val="tx1"/>
                </a:solidFill>
                <a:latin typeface="微软雅黑" panose="020B0503020204020204" charset="-122"/>
                <a:ea typeface="微软雅黑" panose="020B0503020204020204" charset="-122"/>
              </a:rPr>
              <a:t>产商品</a:t>
            </a:r>
            <a:r>
              <a:rPr kumimoji="0" lang="zh-CN" altLang="en-US" sz="14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平台</a:t>
            </a:r>
            <a:r>
              <a:rPr kumimoji="0"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一事一案</a:t>
            </a:r>
            <a:endParaRPr kumimoji="0"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4" name="矩形 13"/>
          <p:cNvSpPr/>
          <p:nvPr>
            <p:custDataLst>
              <p:tags r:id="rId2"/>
            </p:custDataLst>
          </p:nvPr>
        </p:nvSpPr>
        <p:spPr>
          <a:xfrm>
            <a:off x="532130" y="6074410"/>
            <a:ext cx="525145" cy="35242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anose="020B0503020204020204" charset="-122"/>
                <a:ea typeface="微软雅黑" panose="020B0503020204020204" charset="-122"/>
              </a:rPr>
              <a:t>数据层</a:t>
            </a:r>
            <a:endParaRPr lang="zh-CN" altLang="en-US" sz="1200" b="1" dirty="0">
              <a:solidFill>
                <a:schemeClr val="tx1"/>
              </a:solidFill>
              <a:latin typeface="微软雅黑" panose="020B0503020204020204" charset="-122"/>
              <a:ea typeface="微软雅黑" panose="020B0503020204020204" charset="-122"/>
            </a:endParaRPr>
          </a:p>
        </p:txBody>
      </p:sp>
      <p:sp>
        <p:nvSpPr>
          <p:cNvPr id="26" name="矩形 25"/>
          <p:cNvSpPr/>
          <p:nvPr>
            <p:custDataLst>
              <p:tags r:id="rId3"/>
            </p:custDataLst>
          </p:nvPr>
        </p:nvSpPr>
        <p:spPr>
          <a:xfrm>
            <a:off x="532130" y="2835275"/>
            <a:ext cx="525145" cy="3034665"/>
          </a:xfrm>
          <a:prstGeom prst="rect">
            <a:avLst/>
          </a:prstGeom>
          <a:solidFill>
            <a:srgbClr val="4874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sz="1200" b="1" dirty="0">
                <a:solidFill>
                  <a:schemeClr val="bg1"/>
                </a:solidFill>
                <a:latin typeface="微软雅黑" panose="020B0503020204020204" charset="-122"/>
                <a:ea typeface="微软雅黑" panose="020B0503020204020204" charset="-122"/>
              </a:rPr>
              <a:t>能力应用</a:t>
            </a:r>
            <a:endParaRPr lang="zh-CN" altLang="en-US" sz="1200" b="1" dirty="0">
              <a:solidFill>
                <a:schemeClr val="bg1"/>
              </a:solidFill>
              <a:latin typeface="微软雅黑" panose="020B0503020204020204" charset="-122"/>
              <a:ea typeface="微软雅黑" panose="020B0503020204020204" charset="-122"/>
            </a:endParaRPr>
          </a:p>
        </p:txBody>
      </p:sp>
      <p:sp>
        <p:nvSpPr>
          <p:cNvPr id="27" name="箭头: 右 20"/>
          <p:cNvSpPr/>
          <p:nvPr>
            <p:custDataLst>
              <p:tags r:id="rId4"/>
            </p:custDataLst>
          </p:nvPr>
        </p:nvSpPr>
        <p:spPr>
          <a:xfrm rot="16200000">
            <a:off x="2070100" y="5249545"/>
            <a:ext cx="171450" cy="223520"/>
          </a:xfrm>
          <a:prstGeom prst="rightArrow">
            <a:avLst/>
          </a:prstGeom>
          <a:solidFill>
            <a:srgbClr val="E9F6FD"/>
          </a:solidFill>
          <a:ln w="19050">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solidFill>
                  <a:srgbClr val="FFFFFF"/>
                </a:solidFill>
              </a:ln>
              <a:solidFill>
                <a:srgbClr val="2B98CA"/>
              </a:solidFill>
              <a:effectLst/>
              <a:uLnTx/>
              <a:uFillTx/>
              <a:latin typeface="微软雅黑" panose="020B0503020204020204" charset="-122"/>
              <a:ea typeface="微软雅黑" panose="020B0503020204020204" charset="-122"/>
              <a:cs typeface="+mn-cs"/>
            </a:endParaRPr>
          </a:p>
        </p:txBody>
      </p:sp>
      <p:sp>
        <p:nvSpPr>
          <p:cNvPr id="28" name="箭头: 右 20"/>
          <p:cNvSpPr/>
          <p:nvPr>
            <p:custDataLst>
              <p:tags r:id="rId5"/>
            </p:custDataLst>
          </p:nvPr>
        </p:nvSpPr>
        <p:spPr>
          <a:xfrm rot="16200000">
            <a:off x="4598670" y="5249545"/>
            <a:ext cx="171450" cy="223520"/>
          </a:xfrm>
          <a:prstGeom prst="rightArrow">
            <a:avLst/>
          </a:prstGeom>
          <a:solidFill>
            <a:srgbClr val="E9F6FD"/>
          </a:solidFill>
          <a:ln w="19050">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solidFill>
                  <a:srgbClr val="FFFFFF"/>
                </a:solidFill>
              </a:ln>
              <a:solidFill>
                <a:srgbClr val="2B98CA"/>
              </a:solidFill>
              <a:effectLst/>
              <a:uLnTx/>
              <a:uFillTx/>
              <a:latin typeface="微软雅黑" panose="020B0503020204020204" charset="-122"/>
              <a:ea typeface="微软雅黑" panose="020B0503020204020204" charset="-122"/>
              <a:cs typeface="+mn-cs"/>
            </a:endParaRPr>
          </a:p>
        </p:txBody>
      </p:sp>
      <p:sp>
        <p:nvSpPr>
          <p:cNvPr id="29" name="箭头: 右 20"/>
          <p:cNvSpPr/>
          <p:nvPr>
            <p:custDataLst>
              <p:tags r:id="rId6"/>
            </p:custDataLst>
          </p:nvPr>
        </p:nvSpPr>
        <p:spPr>
          <a:xfrm rot="16200000">
            <a:off x="8970010" y="5249545"/>
            <a:ext cx="171450" cy="223520"/>
          </a:xfrm>
          <a:prstGeom prst="rightArrow">
            <a:avLst/>
          </a:prstGeom>
          <a:solidFill>
            <a:srgbClr val="E9F6FD"/>
          </a:solidFill>
          <a:ln w="19050">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solidFill>
                  <a:srgbClr val="FFFFFF"/>
                </a:solidFill>
              </a:ln>
              <a:solidFill>
                <a:srgbClr val="2B98CA"/>
              </a:solidFill>
              <a:effectLst/>
              <a:uLnTx/>
              <a:uFillTx/>
              <a:latin typeface="微软雅黑" panose="020B0503020204020204" charset="-122"/>
              <a:ea typeface="微软雅黑" panose="020B0503020204020204" charset="-122"/>
              <a:cs typeface="+mn-cs"/>
            </a:endParaRPr>
          </a:p>
        </p:txBody>
      </p:sp>
      <p:grpSp>
        <p:nvGrpSpPr>
          <p:cNvPr id="30" name="组合 29"/>
          <p:cNvGrpSpPr/>
          <p:nvPr/>
        </p:nvGrpSpPr>
        <p:grpSpPr>
          <a:xfrm>
            <a:off x="1163955" y="5446395"/>
            <a:ext cx="8291195" cy="423545"/>
            <a:chOff x="1231070" y="5412850"/>
            <a:chExt cx="9739191" cy="444363"/>
          </a:xfrm>
          <a:solidFill>
            <a:srgbClr val="0070C0"/>
          </a:solidFill>
        </p:grpSpPr>
        <p:sp>
          <p:nvSpPr>
            <p:cNvPr id="140" name="矩形: 圆角 7"/>
            <p:cNvSpPr/>
            <p:nvPr>
              <p:custDataLst>
                <p:tags r:id="rId7"/>
              </p:custDataLst>
            </p:nvPr>
          </p:nvSpPr>
          <p:spPr>
            <a:xfrm>
              <a:off x="1231070" y="5412850"/>
              <a:ext cx="9739191" cy="444363"/>
            </a:xfrm>
            <a:prstGeom prst="roundRect">
              <a:avLst>
                <a:gd name="adj" fmla="val 460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41" name="文本框 140"/>
            <p:cNvSpPr txBox="1"/>
            <p:nvPr>
              <p:custDataLst>
                <p:tags r:id="rId8"/>
              </p:custDataLst>
            </p:nvPr>
          </p:nvSpPr>
          <p:spPr>
            <a:xfrm>
              <a:off x="1356930" y="5503447"/>
              <a:ext cx="940023" cy="261610"/>
            </a:xfrm>
            <a:prstGeom prst="rect">
              <a:avLst/>
            </a:prstGeom>
            <a:grp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督办管理</a:t>
              </a:r>
              <a:endParaRPr kumimoji="0" lang="zh-CN" altLang="en-US" sz="105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42" name="矩形: 圆角 9"/>
            <p:cNvSpPr/>
            <p:nvPr>
              <p:custDataLst>
                <p:tags r:id="rId9"/>
              </p:custDataLst>
            </p:nvPr>
          </p:nvSpPr>
          <p:spPr>
            <a:xfrm>
              <a:off x="2553127" y="5489616"/>
              <a:ext cx="1280493" cy="290830"/>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chemeClr val="tx1"/>
                  </a:solidFill>
                  <a:effectLst/>
                  <a:uLnTx/>
                  <a:uFillTx/>
                  <a:latin typeface="微软雅黑" panose="020B0503020204020204" charset="-122"/>
                  <a:ea typeface="微软雅黑" panose="020B0503020204020204" charset="-122"/>
                  <a:sym typeface="+mn-ea"/>
                </a:rPr>
                <a:t>督办配置</a:t>
              </a:r>
              <a:endParaRPr lang="zh-CN" altLang="en-US" sz="900" noProof="0" dirty="0">
                <a:ln>
                  <a:noFill/>
                </a:ln>
                <a:solidFill>
                  <a:schemeClr val="tx1"/>
                </a:solidFill>
                <a:effectLst/>
                <a:uLnTx/>
                <a:uFillTx/>
                <a:latin typeface="微软雅黑" panose="020B0503020204020204" charset="-122"/>
                <a:ea typeface="微软雅黑" panose="020B0503020204020204" charset="-122"/>
                <a:sym typeface="+mn-ea"/>
              </a:endParaRPr>
            </a:p>
          </p:txBody>
        </p:sp>
        <p:sp>
          <p:nvSpPr>
            <p:cNvPr id="143" name="矩形: 圆角 9"/>
            <p:cNvSpPr/>
            <p:nvPr>
              <p:custDataLst>
                <p:tags r:id="rId10"/>
              </p:custDataLst>
            </p:nvPr>
          </p:nvSpPr>
          <p:spPr>
            <a:xfrm>
              <a:off x="4301588" y="5489616"/>
              <a:ext cx="1280493" cy="290830"/>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chemeClr val="tx1"/>
                  </a:solidFill>
                  <a:effectLst/>
                  <a:uLnTx/>
                  <a:uFillTx/>
                  <a:latin typeface="微软雅黑" panose="020B0503020204020204" charset="-122"/>
                  <a:ea typeface="微软雅黑" panose="020B0503020204020204" charset="-122"/>
                  <a:sym typeface="+mn-ea"/>
                </a:rPr>
                <a:t>督办智能触发</a:t>
              </a:r>
              <a:endParaRPr lang="zh-CN" altLang="en-US" sz="900" noProof="0" dirty="0">
                <a:ln>
                  <a:noFill/>
                </a:ln>
                <a:solidFill>
                  <a:schemeClr val="tx1"/>
                </a:solidFill>
                <a:effectLst/>
                <a:uLnTx/>
                <a:uFillTx/>
                <a:latin typeface="微软雅黑" panose="020B0503020204020204" charset="-122"/>
                <a:ea typeface="微软雅黑" panose="020B0503020204020204" charset="-122"/>
                <a:sym typeface="+mn-ea"/>
              </a:endParaRPr>
            </a:p>
          </p:txBody>
        </p:sp>
        <p:sp>
          <p:nvSpPr>
            <p:cNvPr id="144" name="矩形: 圆角 9"/>
            <p:cNvSpPr/>
            <p:nvPr>
              <p:custDataLst>
                <p:tags r:id="rId11"/>
              </p:custDataLst>
            </p:nvPr>
          </p:nvSpPr>
          <p:spPr>
            <a:xfrm>
              <a:off x="6050049" y="5489616"/>
              <a:ext cx="1280493" cy="290830"/>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chemeClr val="tx1"/>
                  </a:solidFill>
                  <a:effectLst/>
                  <a:uLnTx/>
                  <a:uFillTx/>
                  <a:latin typeface="微软雅黑" panose="020B0503020204020204" charset="-122"/>
                  <a:ea typeface="微软雅黑" panose="020B0503020204020204" charset="-122"/>
                  <a:sym typeface="+mn-ea"/>
                </a:rPr>
                <a:t>督办审批</a:t>
              </a:r>
              <a:endParaRPr lang="zh-CN" altLang="en-US" sz="900" noProof="0" dirty="0">
                <a:ln>
                  <a:noFill/>
                </a:ln>
                <a:solidFill>
                  <a:schemeClr val="tx1"/>
                </a:solidFill>
                <a:effectLst/>
                <a:uLnTx/>
                <a:uFillTx/>
                <a:latin typeface="微软雅黑" panose="020B0503020204020204" charset="-122"/>
                <a:ea typeface="微软雅黑" panose="020B0503020204020204" charset="-122"/>
                <a:sym typeface="+mn-ea"/>
              </a:endParaRPr>
            </a:p>
          </p:txBody>
        </p:sp>
        <p:sp>
          <p:nvSpPr>
            <p:cNvPr id="145" name="矩形: 圆角 9"/>
            <p:cNvSpPr/>
            <p:nvPr>
              <p:custDataLst>
                <p:tags r:id="rId12"/>
              </p:custDataLst>
            </p:nvPr>
          </p:nvSpPr>
          <p:spPr>
            <a:xfrm>
              <a:off x="7798510" y="5489616"/>
              <a:ext cx="1280493" cy="290830"/>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chemeClr val="tx1"/>
                  </a:solidFill>
                  <a:effectLst/>
                  <a:uLnTx/>
                  <a:uFillTx/>
                  <a:latin typeface="微软雅黑" panose="020B0503020204020204" charset="-122"/>
                  <a:ea typeface="微软雅黑" panose="020B0503020204020204" charset="-122"/>
                  <a:sym typeface="+mn-ea"/>
                </a:rPr>
                <a:t>督办提醒</a:t>
              </a:r>
              <a:endParaRPr lang="zh-CN" altLang="en-US" sz="900" noProof="0" dirty="0">
                <a:ln>
                  <a:noFill/>
                </a:ln>
                <a:solidFill>
                  <a:schemeClr val="tx1"/>
                </a:solidFill>
                <a:effectLst/>
                <a:uLnTx/>
                <a:uFillTx/>
                <a:latin typeface="微软雅黑" panose="020B0503020204020204" charset="-122"/>
                <a:ea typeface="微软雅黑" panose="020B0503020204020204" charset="-122"/>
                <a:sym typeface="+mn-ea"/>
              </a:endParaRPr>
            </a:p>
          </p:txBody>
        </p:sp>
        <p:sp>
          <p:nvSpPr>
            <p:cNvPr id="146" name="矩形: 圆角 9"/>
            <p:cNvSpPr/>
            <p:nvPr>
              <p:custDataLst>
                <p:tags r:id="rId13"/>
              </p:custDataLst>
            </p:nvPr>
          </p:nvSpPr>
          <p:spPr>
            <a:xfrm>
              <a:off x="9546970" y="5489616"/>
              <a:ext cx="1280493" cy="290830"/>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chemeClr val="tx1"/>
                  </a:solidFill>
                  <a:effectLst/>
                  <a:uLnTx/>
                  <a:uFillTx/>
                  <a:latin typeface="微软雅黑" panose="020B0503020204020204" charset="-122"/>
                  <a:ea typeface="微软雅黑" panose="020B0503020204020204" charset="-122"/>
                  <a:sym typeface="+mn-ea"/>
                </a:rPr>
                <a:t>督办上下线</a:t>
              </a:r>
              <a:endParaRPr lang="zh-CN" altLang="en-US" sz="900" noProof="0" dirty="0">
                <a:ln>
                  <a:noFill/>
                </a:ln>
                <a:solidFill>
                  <a:schemeClr val="tx1"/>
                </a:solidFill>
                <a:effectLst/>
                <a:uLnTx/>
                <a:uFillTx/>
                <a:latin typeface="微软雅黑" panose="020B0503020204020204" charset="-122"/>
                <a:ea typeface="微软雅黑" panose="020B0503020204020204" charset="-122"/>
                <a:sym typeface="+mn-ea"/>
              </a:endParaRPr>
            </a:p>
          </p:txBody>
        </p:sp>
      </p:grpSp>
      <p:sp>
        <p:nvSpPr>
          <p:cNvPr id="31" name="箭头: 右 20"/>
          <p:cNvSpPr/>
          <p:nvPr>
            <p:custDataLst>
              <p:tags r:id="rId14"/>
            </p:custDataLst>
          </p:nvPr>
        </p:nvSpPr>
        <p:spPr>
          <a:xfrm rot="16200000">
            <a:off x="7129780" y="5249545"/>
            <a:ext cx="171450" cy="223520"/>
          </a:xfrm>
          <a:prstGeom prst="rightArrow">
            <a:avLst/>
          </a:prstGeom>
          <a:solidFill>
            <a:srgbClr val="E9F6FD"/>
          </a:solidFill>
          <a:ln w="19050">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solidFill>
                  <a:srgbClr val="FFFFFF"/>
                </a:solidFill>
              </a:ln>
              <a:solidFill>
                <a:srgbClr val="2B98CA"/>
              </a:solidFill>
              <a:effectLst/>
              <a:uLnTx/>
              <a:uFillTx/>
              <a:latin typeface="微软雅黑" panose="020B0503020204020204" charset="-122"/>
              <a:ea typeface="微软雅黑" panose="020B0503020204020204" charset="-122"/>
              <a:cs typeface="+mn-cs"/>
            </a:endParaRPr>
          </a:p>
        </p:txBody>
      </p:sp>
      <p:sp>
        <p:nvSpPr>
          <p:cNvPr id="130" name="矩形: 圆角 9"/>
          <p:cNvSpPr/>
          <p:nvPr>
            <p:custDataLst>
              <p:tags r:id="rId15"/>
            </p:custDataLst>
          </p:nvPr>
        </p:nvSpPr>
        <p:spPr>
          <a:xfrm>
            <a:off x="1174750" y="3210560"/>
            <a:ext cx="1640840" cy="206311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首页</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1" name="矩形: 圆角 9"/>
          <p:cNvSpPr/>
          <p:nvPr>
            <p:custDataLst>
              <p:tags r:id="rId16"/>
            </p:custDataLst>
          </p:nvPr>
        </p:nvSpPr>
        <p:spPr>
          <a:xfrm>
            <a:off x="1381760" y="370205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运营统筹看板</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32" name="矩形: 圆角 9"/>
          <p:cNvSpPr/>
          <p:nvPr>
            <p:custDataLst>
              <p:tags r:id="rId17"/>
            </p:custDataLst>
          </p:nvPr>
        </p:nvSpPr>
        <p:spPr>
          <a:xfrm>
            <a:off x="1376045" y="406273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个人工作看板</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33" name="矩形: 圆角 9"/>
          <p:cNvSpPr/>
          <p:nvPr>
            <p:custDataLst>
              <p:tags r:id="rId18"/>
            </p:custDataLst>
          </p:nvPr>
        </p:nvSpPr>
        <p:spPr>
          <a:xfrm>
            <a:off x="1376045" y="441452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业务统筹看板</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35" name="矩形: 圆角 9"/>
          <p:cNvSpPr/>
          <p:nvPr>
            <p:custDataLst>
              <p:tags r:id="rId19"/>
            </p:custDataLst>
          </p:nvPr>
        </p:nvSpPr>
        <p:spPr>
          <a:xfrm>
            <a:off x="9986645" y="3187700"/>
            <a:ext cx="1640840" cy="206311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系统管理</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6" name="矩形: 圆角 9"/>
          <p:cNvSpPr/>
          <p:nvPr>
            <p:custDataLst>
              <p:tags r:id="rId20"/>
            </p:custDataLst>
          </p:nvPr>
        </p:nvSpPr>
        <p:spPr>
          <a:xfrm>
            <a:off x="10172065" y="353504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账号管理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37" name="矩形: 圆角 9"/>
          <p:cNvSpPr/>
          <p:nvPr>
            <p:custDataLst>
              <p:tags r:id="rId21"/>
            </p:custDataLst>
          </p:nvPr>
        </p:nvSpPr>
        <p:spPr>
          <a:xfrm>
            <a:off x="10166350" y="388493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角色管理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38" name="矩形: 圆角 9"/>
          <p:cNvSpPr/>
          <p:nvPr>
            <p:custDataLst>
              <p:tags r:id="rId22"/>
            </p:custDataLst>
          </p:nvPr>
        </p:nvSpPr>
        <p:spPr>
          <a:xfrm>
            <a:off x="10166350" y="421386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权限管理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39" name="矩形: 圆角 9"/>
          <p:cNvSpPr/>
          <p:nvPr>
            <p:custDataLst>
              <p:tags r:id="rId23"/>
            </p:custDataLst>
          </p:nvPr>
        </p:nvSpPr>
        <p:spPr>
          <a:xfrm>
            <a:off x="1372235" y="474916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业务执行看板</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49" name="矩形 48"/>
          <p:cNvSpPr/>
          <p:nvPr>
            <p:custDataLst>
              <p:tags r:id="rId24"/>
            </p:custDataLst>
          </p:nvPr>
        </p:nvSpPr>
        <p:spPr>
          <a:xfrm>
            <a:off x="532130" y="1993265"/>
            <a:ext cx="525145" cy="5441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sz="1200" b="1" dirty="0">
                <a:solidFill>
                  <a:schemeClr val="bg1"/>
                </a:solidFill>
                <a:latin typeface="微软雅黑" panose="020B0503020204020204" charset="-122"/>
                <a:ea typeface="微软雅黑" panose="020B0503020204020204" charset="-122"/>
              </a:rPr>
              <a:t>应用层</a:t>
            </a:r>
            <a:endParaRPr lang="zh-CN" altLang="en-US" sz="1200" b="1" dirty="0">
              <a:solidFill>
                <a:schemeClr val="bg1"/>
              </a:solidFill>
              <a:latin typeface="微软雅黑" panose="020B0503020204020204" charset="-122"/>
              <a:ea typeface="微软雅黑" panose="020B0503020204020204" charset="-122"/>
            </a:endParaRPr>
          </a:p>
        </p:txBody>
      </p:sp>
      <p:sp>
        <p:nvSpPr>
          <p:cNvPr id="106" name="矩形: 圆角 9"/>
          <p:cNvSpPr/>
          <p:nvPr>
            <p:custDataLst>
              <p:tags r:id="rId25"/>
            </p:custDataLst>
          </p:nvPr>
        </p:nvSpPr>
        <p:spPr>
          <a:xfrm>
            <a:off x="1174750" y="1978660"/>
            <a:ext cx="4039235" cy="62166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预警任务执行</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07" name="矩形: 圆角 9"/>
          <p:cNvSpPr/>
          <p:nvPr>
            <p:custDataLst>
              <p:tags r:id="rId26"/>
            </p:custDataLst>
          </p:nvPr>
        </p:nvSpPr>
        <p:spPr>
          <a:xfrm>
            <a:off x="1275715" y="2229485"/>
            <a:ext cx="1166495"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rPr>
              <a:t>网格</a:t>
            </a:r>
            <a:r>
              <a:rPr lang="en-US" altLang="zh-CN" sz="1050" noProof="0" dirty="0">
                <a:ln>
                  <a:noFill/>
                </a:ln>
                <a:solidFill>
                  <a:srgbClr val="000000"/>
                </a:solidFill>
                <a:effectLst/>
                <a:uLnTx/>
                <a:uFillTx/>
                <a:latin typeface="微软雅黑" panose="020B0503020204020204" charset="-122"/>
                <a:ea typeface="微软雅黑" panose="020B0503020204020204" charset="-122"/>
                <a:sym typeface="+mn-ea"/>
              </a:rPr>
              <a:t>APP</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08" name="矩形: 圆角 9"/>
          <p:cNvSpPr/>
          <p:nvPr>
            <p:custDataLst>
              <p:tags r:id="rId27"/>
            </p:custDataLst>
          </p:nvPr>
        </p:nvSpPr>
        <p:spPr>
          <a:xfrm>
            <a:off x="2519680" y="2229485"/>
            <a:ext cx="1166495"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050" dirty="0">
                <a:solidFill>
                  <a:srgbClr val="000000"/>
                </a:solidFill>
                <a:latin typeface="微软雅黑" panose="020B0503020204020204" charset="-122"/>
                <a:ea typeface="微软雅黑" panose="020B0503020204020204" charset="-122"/>
                <a:sym typeface="+mn-ea"/>
              </a:rPr>
              <a:t>10086</a:t>
            </a:r>
            <a:r>
              <a:rPr lang="zh-CN" altLang="en-US" sz="1050" dirty="0">
                <a:solidFill>
                  <a:srgbClr val="000000"/>
                </a:solidFill>
                <a:latin typeface="微软雅黑" panose="020B0503020204020204" charset="-122"/>
                <a:ea typeface="微软雅黑" panose="020B0503020204020204" charset="-122"/>
                <a:sym typeface="+mn-ea"/>
              </a:rPr>
              <a:t>外呼</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94" name="矩形: 圆角 9"/>
          <p:cNvSpPr/>
          <p:nvPr>
            <p:custDataLst>
              <p:tags r:id="rId28"/>
            </p:custDataLst>
          </p:nvPr>
        </p:nvSpPr>
        <p:spPr>
          <a:xfrm>
            <a:off x="5333365" y="1970405"/>
            <a:ext cx="6304915" cy="62166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b="1" dirty="0">
                <a:solidFill>
                  <a:schemeClr val="bg1"/>
                </a:solidFill>
                <a:latin typeface="微软雅黑" panose="020B0503020204020204" charset="-122"/>
                <a:ea typeface="微软雅黑" panose="020B0503020204020204" charset="-122"/>
              </a:rPr>
              <a:t>营销任务执行</a:t>
            </a:r>
            <a:r>
              <a:rPr lang="en-US" altLang="zh-CN" sz="900" b="1" dirty="0">
                <a:solidFill>
                  <a:schemeClr val="bg1"/>
                </a:solidFill>
                <a:latin typeface="微软雅黑" panose="020B0503020204020204" charset="-122"/>
                <a:ea typeface="微软雅黑" panose="020B0503020204020204" charset="-122"/>
              </a:rPr>
              <a:t>-IOP</a:t>
            </a:r>
            <a:endParaRPr kumimoji="0" lang="en-US" altLang="zh-CN"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02" name="矩形: 圆角 9"/>
          <p:cNvSpPr/>
          <p:nvPr>
            <p:custDataLst>
              <p:tags r:id="rId29"/>
            </p:custDataLst>
          </p:nvPr>
        </p:nvSpPr>
        <p:spPr>
          <a:xfrm>
            <a:off x="5452745" y="2221230"/>
            <a:ext cx="1423670"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050" dirty="0">
                <a:solidFill>
                  <a:srgbClr val="000000"/>
                </a:solidFill>
                <a:latin typeface="微软雅黑" panose="020B0503020204020204" charset="-122"/>
                <a:ea typeface="微软雅黑" panose="020B0503020204020204" charset="-122"/>
                <a:sym typeface="+mn-ea"/>
              </a:rPr>
              <a:t>营销任务接收</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03" name="矩形: 圆角 9"/>
          <p:cNvSpPr/>
          <p:nvPr>
            <p:custDataLst>
              <p:tags r:id="rId30"/>
            </p:custDataLst>
          </p:nvPr>
        </p:nvSpPr>
        <p:spPr>
          <a:xfrm>
            <a:off x="6995795" y="2221230"/>
            <a:ext cx="1423670"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050" dirty="0">
                <a:solidFill>
                  <a:srgbClr val="000000"/>
                </a:solidFill>
                <a:latin typeface="微软雅黑" panose="020B0503020204020204" charset="-122"/>
                <a:ea typeface="微软雅黑" panose="020B0503020204020204" charset="-122"/>
                <a:sym typeface="+mn-ea"/>
              </a:rPr>
              <a:t>营销策划</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04" name="矩形: 圆角 9"/>
          <p:cNvSpPr/>
          <p:nvPr>
            <p:custDataLst>
              <p:tags r:id="rId31"/>
            </p:custDataLst>
          </p:nvPr>
        </p:nvSpPr>
        <p:spPr>
          <a:xfrm>
            <a:off x="8559165" y="2215515"/>
            <a:ext cx="1423670"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050" dirty="0">
                <a:solidFill>
                  <a:srgbClr val="000000"/>
                </a:solidFill>
                <a:latin typeface="微软雅黑" panose="020B0503020204020204" charset="-122"/>
                <a:ea typeface="微软雅黑" panose="020B0503020204020204" charset="-122"/>
                <a:sym typeface="+mn-ea"/>
              </a:rPr>
              <a:t>营销执行</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05" name="矩形: 圆角 9"/>
          <p:cNvSpPr/>
          <p:nvPr>
            <p:custDataLst>
              <p:tags r:id="rId32"/>
            </p:custDataLst>
          </p:nvPr>
        </p:nvSpPr>
        <p:spPr>
          <a:xfrm>
            <a:off x="10100945" y="2215515"/>
            <a:ext cx="1423670"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050" dirty="0">
                <a:solidFill>
                  <a:srgbClr val="000000"/>
                </a:solidFill>
                <a:latin typeface="微软雅黑" panose="020B0503020204020204" charset="-122"/>
                <a:ea typeface="微软雅黑" panose="020B0503020204020204" charset="-122"/>
                <a:sym typeface="+mn-ea"/>
              </a:rPr>
              <a:t>营销反馈</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55" name="矩形: 圆角 9"/>
          <p:cNvSpPr/>
          <p:nvPr>
            <p:custDataLst>
              <p:tags r:id="rId33"/>
            </p:custDataLst>
          </p:nvPr>
        </p:nvSpPr>
        <p:spPr>
          <a:xfrm>
            <a:off x="1244600" y="2835275"/>
            <a:ext cx="10382885" cy="277495"/>
          </a:xfrm>
          <a:prstGeom prst="round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b="1" dirty="0">
                <a:solidFill>
                  <a:srgbClr val="000000"/>
                </a:solidFill>
                <a:latin typeface="微软雅黑" panose="020B0503020204020204" charset="-122"/>
                <a:ea typeface="微软雅黑" panose="020B0503020204020204" charset="-122"/>
                <a:sym typeface="+mn-ea"/>
              </a:rPr>
              <a:t>能力</a:t>
            </a:r>
            <a:r>
              <a:rPr lang="en-US" altLang="zh-CN" sz="900" b="1" dirty="0">
                <a:solidFill>
                  <a:srgbClr val="000000"/>
                </a:solidFill>
                <a:latin typeface="微软雅黑" panose="020B0503020204020204" charset="-122"/>
                <a:ea typeface="微软雅黑" panose="020B0503020204020204" charset="-122"/>
                <a:sym typeface="+mn-ea"/>
              </a:rPr>
              <a:t>API</a:t>
            </a:r>
            <a:endParaRPr lang="zh-CN" altLang="en-US" sz="900" b="1" noProof="0" dirty="0">
              <a:ln>
                <a:noFill/>
              </a:ln>
              <a:solidFill>
                <a:srgbClr val="000000"/>
              </a:solidFill>
              <a:effectLst/>
              <a:uLnTx/>
              <a:uFillTx/>
              <a:latin typeface="微软雅黑" panose="020B0503020204020204" charset="-122"/>
              <a:ea typeface="微软雅黑" panose="020B0503020204020204" charset="-122"/>
              <a:sym typeface="+mn-ea"/>
            </a:endParaRPr>
          </a:p>
        </p:txBody>
      </p:sp>
      <p:cxnSp>
        <p:nvCxnSpPr>
          <p:cNvPr id="62" name="直线箭头连接符 61"/>
          <p:cNvCxnSpPr/>
          <p:nvPr/>
        </p:nvCxnSpPr>
        <p:spPr>
          <a:xfrm flipV="1">
            <a:off x="3265170" y="2609215"/>
            <a:ext cx="0" cy="452120"/>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cxnSp>
        <p:nvCxnSpPr>
          <p:cNvPr id="63" name="直线箭头连接符 62"/>
          <p:cNvCxnSpPr/>
          <p:nvPr/>
        </p:nvCxnSpPr>
        <p:spPr>
          <a:xfrm flipV="1">
            <a:off x="8559165" y="2592070"/>
            <a:ext cx="0" cy="452120"/>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cxnSp>
        <p:nvCxnSpPr>
          <p:cNvPr id="64" name="直线箭头连接符 63"/>
          <p:cNvCxnSpPr/>
          <p:nvPr/>
        </p:nvCxnSpPr>
        <p:spPr>
          <a:xfrm>
            <a:off x="8796020" y="2609215"/>
            <a:ext cx="0" cy="452755"/>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65" name="文本框 64"/>
          <p:cNvSpPr txBox="1"/>
          <p:nvPr/>
        </p:nvSpPr>
        <p:spPr>
          <a:xfrm>
            <a:off x="7868285" y="2851785"/>
            <a:ext cx="741680" cy="260350"/>
          </a:xfrm>
          <a:prstGeom prst="rect">
            <a:avLst/>
          </a:prstGeom>
          <a:noFill/>
        </p:spPr>
        <p:txBody>
          <a:bodyPr wrap="none" rtlCol="0">
            <a:spAutoFit/>
          </a:bodyPr>
          <a:lstStyle/>
          <a:p>
            <a:r>
              <a:rPr kumimoji="1" lang="zh-CN" altLang="en-US" sz="1100" b="1" dirty="0">
                <a:solidFill>
                  <a:schemeClr val="accent2">
                    <a:lumMod val="60000"/>
                    <a:lumOff val="40000"/>
                  </a:schemeClr>
                </a:solidFill>
              </a:rPr>
              <a:t>任务推送</a:t>
            </a:r>
            <a:endParaRPr kumimoji="1" lang="zh-CN" altLang="en-US" sz="1100" b="1" dirty="0">
              <a:solidFill>
                <a:schemeClr val="accent2">
                  <a:lumMod val="60000"/>
                  <a:lumOff val="40000"/>
                </a:schemeClr>
              </a:solidFill>
            </a:endParaRPr>
          </a:p>
        </p:txBody>
      </p:sp>
      <p:sp>
        <p:nvSpPr>
          <p:cNvPr id="66" name="文本框 65"/>
          <p:cNvSpPr txBox="1"/>
          <p:nvPr/>
        </p:nvSpPr>
        <p:spPr>
          <a:xfrm>
            <a:off x="8767445" y="2844800"/>
            <a:ext cx="1719580" cy="260350"/>
          </a:xfrm>
          <a:prstGeom prst="rect">
            <a:avLst/>
          </a:prstGeom>
          <a:noFill/>
        </p:spPr>
        <p:txBody>
          <a:bodyPr wrap="none" rtlCol="0">
            <a:spAutoFit/>
          </a:bodyPr>
          <a:lstStyle/>
          <a:p>
            <a:r>
              <a:rPr kumimoji="1" lang="zh-CN" altLang="en-US" sz="1100" b="1" dirty="0">
                <a:solidFill>
                  <a:schemeClr val="accent2">
                    <a:lumMod val="60000"/>
                    <a:lumOff val="40000"/>
                  </a:schemeClr>
                </a:solidFill>
              </a:rPr>
              <a:t>活动信息、执行数据反馈</a:t>
            </a:r>
            <a:endParaRPr kumimoji="1" lang="zh-CN" altLang="en-US" sz="1100" b="1" dirty="0">
              <a:solidFill>
                <a:schemeClr val="accent2">
                  <a:lumMod val="60000"/>
                  <a:lumOff val="40000"/>
                </a:schemeClr>
              </a:solidFill>
            </a:endParaRPr>
          </a:p>
        </p:txBody>
      </p:sp>
      <p:sp>
        <p:nvSpPr>
          <p:cNvPr id="67" name="文本框 66"/>
          <p:cNvSpPr txBox="1"/>
          <p:nvPr/>
        </p:nvSpPr>
        <p:spPr>
          <a:xfrm>
            <a:off x="2717165" y="2844800"/>
            <a:ext cx="185420" cy="263525"/>
          </a:xfrm>
          <a:prstGeom prst="rect">
            <a:avLst/>
          </a:prstGeom>
          <a:noFill/>
        </p:spPr>
        <p:txBody>
          <a:bodyPr wrap="none" rtlCol="0">
            <a:spAutoFit/>
          </a:bodyPr>
          <a:lstStyle/>
          <a:p>
            <a:endParaRPr kumimoji="1" lang="zh-CN" altLang="en-US" sz="1100" dirty="0">
              <a:solidFill>
                <a:schemeClr val="accent5"/>
              </a:solidFill>
            </a:endParaRPr>
          </a:p>
        </p:txBody>
      </p:sp>
      <p:cxnSp>
        <p:nvCxnSpPr>
          <p:cNvPr id="68" name="直线箭头连接符 67"/>
          <p:cNvCxnSpPr/>
          <p:nvPr/>
        </p:nvCxnSpPr>
        <p:spPr>
          <a:xfrm flipV="1">
            <a:off x="3762375" y="5891530"/>
            <a:ext cx="0" cy="368300"/>
          </a:xfrm>
          <a:prstGeom prst="straightConnector1">
            <a:avLst/>
          </a:prstGeom>
          <a:ln>
            <a:solidFill>
              <a:srgbClr val="BADEF5"/>
            </a:solidFill>
            <a:tailEnd type="triangle"/>
          </a:ln>
        </p:spPr>
        <p:style>
          <a:lnRef idx="1">
            <a:schemeClr val="accent6"/>
          </a:lnRef>
          <a:fillRef idx="0">
            <a:schemeClr val="accent6"/>
          </a:fillRef>
          <a:effectRef idx="0">
            <a:schemeClr val="accent6"/>
          </a:effectRef>
          <a:fontRef idx="minor">
            <a:schemeClr val="tx1"/>
          </a:fontRef>
        </p:style>
      </p:cxnSp>
      <p:cxnSp>
        <p:nvCxnSpPr>
          <p:cNvPr id="69" name="直线箭头连接符 68"/>
          <p:cNvCxnSpPr/>
          <p:nvPr/>
        </p:nvCxnSpPr>
        <p:spPr>
          <a:xfrm flipV="1">
            <a:off x="9107170" y="5869940"/>
            <a:ext cx="0" cy="368300"/>
          </a:xfrm>
          <a:prstGeom prst="straightConnector1">
            <a:avLst/>
          </a:prstGeom>
          <a:ln>
            <a:solidFill>
              <a:srgbClr val="BADEF5"/>
            </a:solidFill>
            <a:tailEnd type="triangle"/>
          </a:ln>
        </p:spPr>
        <p:style>
          <a:lnRef idx="1">
            <a:schemeClr val="accent6"/>
          </a:lnRef>
          <a:fillRef idx="0">
            <a:schemeClr val="accent6"/>
          </a:fillRef>
          <a:effectRef idx="0">
            <a:schemeClr val="accent6"/>
          </a:effectRef>
          <a:fontRef idx="minor">
            <a:schemeClr val="tx1"/>
          </a:fontRef>
        </p:style>
      </p:cxnSp>
      <p:sp>
        <p:nvSpPr>
          <p:cNvPr id="70" name="矩形: 圆角 7"/>
          <p:cNvSpPr/>
          <p:nvPr>
            <p:custDataLst>
              <p:tags r:id="rId34"/>
            </p:custDataLst>
          </p:nvPr>
        </p:nvSpPr>
        <p:spPr>
          <a:xfrm>
            <a:off x="9896475" y="5438775"/>
            <a:ext cx="1640840" cy="423545"/>
          </a:xfrm>
          <a:prstGeom prst="roundRect">
            <a:avLst>
              <a:gd name="adj" fmla="val 4609"/>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72" name="矩形: 圆角 9"/>
          <p:cNvSpPr/>
          <p:nvPr>
            <p:custDataLst>
              <p:tags r:id="rId35"/>
            </p:custDataLst>
          </p:nvPr>
        </p:nvSpPr>
        <p:spPr>
          <a:xfrm>
            <a:off x="10402570" y="5511800"/>
            <a:ext cx="958215" cy="277495"/>
          </a:xfrm>
          <a:prstGeom prst="roundRect">
            <a:avLst/>
          </a:prstGeom>
          <a:solidFill>
            <a:schemeClr val="bg1"/>
          </a:solidFill>
          <a:ln w="6350">
            <a:solidFill>
              <a:srgbClr val="2B98CA"/>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900" noProof="0" dirty="0">
                <a:ln>
                  <a:noFill/>
                </a:ln>
                <a:solidFill>
                  <a:srgbClr val="000000"/>
                </a:solidFill>
                <a:effectLst/>
                <a:uLnTx/>
                <a:uFillTx/>
                <a:latin typeface="微软雅黑" panose="020B0503020204020204" charset="-122"/>
                <a:ea typeface="微软雅黑" panose="020B0503020204020204" charset="-122"/>
                <a:sym typeface="+mn-ea"/>
              </a:rPr>
              <a:t>OA</a:t>
            </a:r>
            <a:r>
              <a:rPr lang="zh-CN" altLang="en-US" sz="900" dirty="0">
                <a:solidFill>
                  <a:srgbClr val="000000"/>
                </a:solidFill>
                <a:latin typeface="微软雅黑" panose="020B0503020204020204" charset="-122"/>
                <a:ea typeface="微软雅黑" panose="020B0503020204020204" charset="-122"/>
                <a:sym typeface="+mn-ea"/>
              </a:rPr>
              <a:t>待办提醒</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cxnSp>
        <p:nvCxnSpPr>
          <p:cNvPr id="76" name="直线箭头连接符 75"/>
          <p:cNvCxnSpPr/>
          <p:nvPr/>
        </p:nvCxnSpPr>
        <p:spPr>
          <a:xfrm>
            <a:off x="9422765" y="5652135"/>
            <a:ext cx="353695" cy="0"/>
          </a:xfrm>
          <a:prstGeom prst="straightConnector1">
            <a:avLst/>
          </a:prstGeom>
          <a:ln>
            <a:solidFill>
              <a:srgbClr val="BADEF5"/>
            </a:solidFill>
            <a:tailEnd type="triangle"/>
          </a:ln>
        </p:spPr>
        <p:style>
          <a:lnRef idx="1">
            <a:schemeClr val="accent6"/>
          </a:lnRef>
          <a:fillRef idx="0">
            <a:schemeClr val="accent6"/>
          </a:fillRef>
          <a:effectRef idx="0">
            <a:schemeClr val="accent6"/>
          </a:effectRef>
          <a:fontRef idx="minor">
            <a:schemeClr val="tx1"/>
          </a:fontRef>
        </p:style>
      </p:cxnSp>
      <p:sp>
        <p:nvSpPr>
          <p:cNvPr id="80" name="文本框 79"/>
          <p:cNvSpPr txBox="1"/>
          <p:nvPr/>
        </p:nvSpPr>
        <p:spPr>
          <a:xfrm>
            <a:off x="9190990" y="5339715"/>
            <a:ext cx="741680" cy="260350"/>
          </a:xfrm>
          <a:prstGeom prst="rect">
            <a:avLst/>
          </a:prstGeom>
          <a:noFill/>
        </p:spPr>
        <p:txBody>
          <a:bodyPr wrap="none" rtlCol="0">
            <a:spAutoFit/>
          </a:bodyPr>
          <a:lstStyle/>
          <a:p>
            <a:r>
              <a:rPr kumimoji="1" lang="zh-CN" altLang="en-US" sz="1100" b="1" dirty="0">
                <a:solidFill>
                  <a:srgbClr val="FF0000"/>
                </a:solidFill>
              </a:rPr>
              <a:t>待办推送</a:t>
            </a:r>
            <a:endParaRPr kumimoji="1" lang="zh-CN" altLang="en-US" sz="1100" b="1" dirty="0">
              <a:solidFill>
                <a:srgbClr val="FF0000"/>
              </a:solidFill>
            </a:endParaRPr>
          </a:p>
        </p:txBody>
      </p:sp>
      <p:sp>
        <p:nvSpPr>
          <p:cNvPr id="82" name="文本框 81"/>
          <p:cNvSpPr txBox="1"/>
          <p:nvPr/>
        </p:nvSpPr>
        <p:spPr>
          <a:xfrm>
            <a:off x="9886950" y="5481955"/>
            <a:ext cx="419735" cy="293370"/>
          </a:xfrm>
          <a:prstGeom prst="rect">
            <a:avLst/>
          </a:prstGeom>
          <a:noFill/>
        </p:spPr>
        <p:txBody>
          <a:bodyPr wrap="none" rtlCol="0">
            <a:spAutoFit/>
          </a:bodyPr>
          <a:lstStyle/>
          <a:p>
            <a:r>
              <a:rPr kumimoji="1" lang="en-US" altLang="zh-CN" sz="1400" dirty="0"/>
              <a:t>OA</a:t>
            </a:r>
            <a:endParaRPr kumimoji="1" lang="zh-CN" altLang="en-US" sz="1400" dirty="0"/>
          </a:p>
        </p:txBody>
      </p:sp>
      <p:sp>
        <p:nvSpPr>
          <p:cNvPr id="85" name="矩形: 圆角 9"/>
          <p:cNvSpPr/>
          <p:nvPr>
            <p:custDataLst>
              <p:tags r:id="rId36"/>
            </p:custDataLst>
          </p:nvPr>
        </p:nvSpPr>
        <p:spPr>
          <a:xfrm>
            <a:off x="10166350" y="452183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指标管理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93" name="矩形: 圆角 9"/>
          <p:cNvSpPr/>
          <p:nvPr>
            <p:custDataLst>
              <p:tags r:id="rId37"/>
            </p:custDataLst>
          </p:nvPr>
        </p:nvSpPr>
        <p:spPr>
          <a:xfrm>
            <a:off x="10166350" y="485076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业务场景管理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cxnSp>
        <p:nvCxnSpPr>
          <p:cNvPr id="10" name="直线箭头连接符 9"/>
          <p:cNvCxnSpPr/>
          <p:nvPr/>
        </p:nvCxnSpPr>
        <p:spPr>
          <a:xfrm>
            <a:off x="3409950" y="2599690"/>
            <a:ext cx="0" cy="505460"/>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11" name="文本框 10"/>
          <p:cNvSpPr txBox="1"/>
          <p:nvPr/>
        </p:nvSpPr>
        <p:spPr>
          <a:xfrm>
            <a:off x="2442210" y="2842260"/>
            <a:ext cx="2044700" cy="260350"/>
          </a:xfrm>
          <a:prstGeom prst="rect">
            <a:avLst/>
          </a:prstGeom>
          <a:noFill/>
        </p:spPr>
        <p:txBody>
          <a:bodyPr wrap="none" rtlCol="0">
            <a:spAutoFit/>
          </a:bodyPr>
          <a:lstStyle/>
          <a:p>
            <a:r>
              <a:rPr kumimoji="1" lang="zh-CN" altLang="en-US" sz="1100" b="1" dirty="0">
                <a:solidFill>
                  <a:schemeClr val="accent2">
                    <a:lumMod val="60000"/>
                    <a:lumOff val="40000"/>
                  </a:schemeClr>
                </a:solidFill>
              </a:rPr>
              <a:t>任务推送</a:t>
            </a:r>
            <a:r>
              <a:rPr kumimoji="1" lang="en-US" altLang="zh-CN" sz="1100" b="1" dirty="0">
                <a:solidFill>
                  <a:schemeClr val="accent2">
                    <a:lumMod val="60000"/>
                    <a:lumOff val="40000"/>
                  </a:schemeClr>
                </a:solidFill>
              </a:rPr>
              <a:t>            </a:t>
            </a:r>
            <a:r>
              <a:rPr kumimoji="1" lang="zh-CN" altLang="en-US" sz="1100" b="1" dirty="0">
                <a:solidFill>
                  <a:schemeClr val="accent2">
                    <a:lumMod val="60000"/>
                    <a:lumOff val="40000"/>
                  </a:schemeClr>
                </a:solidFill>
              </a:rPr>
              <a:t>执行数据反馈</a:t>
            </a:r>
            <a:endParaRPr kumimoji="1" lang="zh-CN" altLang="en-US" sz="1100" b="1" dirty="0">
              <a:solidFill>
                <a:schemeClr val="accent2">
                  <a:lumMod val="60000"/>
                  <a:lumOff val="40000"/>
                </a:schemeClr>
              </a:solidFill>
            </a:endParaRPr>
          </a:p>
        </p:txBody>
      </p:sp>
      <p:sp>
        <p:nvSpPr>
          <p:cNvPr id="149" name="矩形: 圆角 9"/>
          <p:cNvSpPr/>
          <p:nvPr>
            <p:custDataLst>
              <p:tags r:id="rId38"/>
            </p:custDataLst>
          </p:nvPr>
        </p:nvSpPr>
        <p:spPr>
          <a:xfrm>
            <a:off x="3816985" y="2223770"/>
            <a:ext cx="1166495" cy="259080"/>
          </a:xfrm>
          <a:prstGeom prst="roundRect">
            <a:avLst/>
          </a:prstGeom>
          <a:solidFill>
            <a:srgbClr val="E9F6F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050" dirty="0">
                <a:solidFill>
                  <a:srgbClr val="000000"/>
                </a:solidFill>
                <a:latin typeface="微软雅黑" panose="020B0503020204020204" charset="-122"/>
                <a:ea typeface="微软雅黑" panose="020B0503020204020204" charset="-122"/>
                <a:sym typeface="+mn-ea"/>
              </a:rPr>
              <a:t>10085</a:t>
            </a:r>
            <a:r>
              <a:rPr lang="zh-CN" altLang="en-US" sz="1050" dirty="0">
                <a:solidFill>
                  <a:srgbClr val="000000"/>
                </a:solidFill>
                <a:latin typeface="微软雅黑" panose="020B0503020204020204" charset="-122"/>
                <a:ea typeface="微软雅黑" panose="020B0503020204020204" charset="-122"/>
                <a:sym typeface="+mn-ea"/>
              </a:rPr>
              <a:t>平台</a:t>
            </a:r>
            <a:endParaRPr lang="zh-CN" altLang="en-US" sz="105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52" name="圆角矩形标注 138"/>
          <p:cNvSpPr/>
          <p:nvPr/>
        </p:nvSpPr>
        <p:spPr bwMode="auto">
          <a:xfrm>
            <a:off x="295412" y="1037532"/>
            <a:ext cx="11674122" cy="798030"/>
          </a:xfrm>
          <a:prstGeom prst="roundRect">
            <a:avLst>
              <a:gd name="adj" fmla="val 3285"/>
            </a:avLst>
          </a:prstGeom>
          <a:noFill/>
          <a:ln>
            <a:noFill/>
          </a:ln>
          <a:extLst>
            <a:ext uri="{909E8E84-426E-40DD-AFC4-6F175D3DCCD1}">
              <a14:hiddenFill xmlns:a14="http://schemas.microsoft.com/office/drawing/2010/main">
                <a:solidFill>
                  <a:srgbClr val="FFFFFF"/>
                </a:solidFill>
              </a14:hiddenFill>
            </a:ext>
          </a:extLst>
        </p:spPr>
        <p:txBody>
          <a:bodyPr wrap="square" rtlCol="0" anchor="t">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lvl="0" algn="l">
              <a:lnSpc>
                <a:spcPct val="150000"/>
              </a:lnSpc>
              <a:buClrTx/>
              <a:buSzTx/>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Arial" panose="020B0604020202020204" pitchFamily="34" charset="0"/>
              </a:rPr>
              <a:t>通过构建“事前预警、事中监控、事后评估”运营</a:t>
            </a:r>
            <a:r>
              <a:rPr kumimoji="1" lang="zh-CN" altLang="en-US" sz="1500" kern="100" dirty="0">
                <a:latin typeface="微软雅黑" panose="020B0503020204020204" charset="-122"/>
                <a:ea typeface="微软雅黑" panose="020B0503020204020204" charset="-122"/>
                <a:cs typeface="Times New Roman" panose="02020603050405020304" charset="0"/>
                <a:sym typeface="Arial" panose="020B0604020202020204" pitchFamily="34" charset="0"/>
              </a:rPr>
              <a:t>全流程，对接大数据平台数据流，打通</a:t>
            </a:r>
            <a:r>
              <a:rPr kumimoji="1" lang="zh-CN" altLang="en-US" sz="1500" kern="100" dirty="0">
                <a:latin typeface="微软雅黑" panose="020B0503020204020204" charset="-122"/>
                <a:ea typeface="微软雅黑" panose="020B0503020204020204" charset="-122"/>
                <a:cs typeface="Times New Roman" panose="02020603050405020304" charset="0"/>
                <a:sym typeface="Arial" panose="020B0604020202020204" pitchFamily="34" charset="0"/>
              </a:rPr>
              <a:t>IOP</a:t>
            </a:r>
            <a:r>
              <a:rPr kumimoji="1" lang="zh-CN" altLang="en-US" sz="1500" kern="100" dirty="0">
                <a:latin typeface="微软雅黑" panose="020B0503020204020204" charset="-122"/>
                <a:ea typeface="微软雅黑" panose="020B0503020204020204" charset="-122"/>
                <a:cs typeface="Times New Roman" panose="02020603050405020304" charset="0"/>
                <a:sym typeface="Arial" panose="020B0604020202020204" pitchFamily="34" charset="0"/>
              </a:rPr>
              <a:t>营销任务执行与一线任务处理流程，构建全方位数智化营销管控体系，为生产经营提供数智化支撑能力，赋能营销管理</a:t>
            </a:r>
            <a:r>
              <a:rPr kumimoji="1" lang="zh-CN" altLang="en-US" sz="1500" kern="100" dirty="0">
                <a:latin typeface="微软雅黑" panose="020B0503020204020204" charset="-122"/>
                <a:ea typeface="微软雅黑" panose="020B0503020204020204" charset="-122"/>
                <a:cs typeface="Times New Roman" panose="02020603050405020304" charset="0"/>
                <a:sym typeface="Arial" panose="020B0604020202020204" pitchFamily="34" charset="0"/>
              </a:rPr>
              <a:t>；</a:t>
            </a:r>
            <a:endParaRPr kumimoji="1" lang="zh-CN" altLang="en-US" sz="1500" kern="100" dirty="0">
              <a:latin typeface="微软雅黑" panose="020B0503020204020204" charset="-122"/>
              <a:ea typeface="微软雅黑" panose="020B0503020204020204" charset="-122"/>
              <a:cs typeface="Times New Roman" panose="02020603050405020304" charset="0"/>
              <a:sym typeface="Arial" panose="020B0604020202020204" pitchFamily="34" charset="0"/>
            </a:endParaRPr>
          </a:p>
        </p:txBody>
      </p:sp>
      <p:sp>
        <p:nvSpPr>
          <p:cNvPr id="3" name="矩形: 圆角 9"/>
          <p:cNvSpPr/>
          <p:nvPr>
            <p:custDataLst>
              <p:tags r:id="rId39"/>
            </p:custDataLst>
          </p:nvPr>
        </p:nvSpPr>
        <p:spPr>
          <a:xfrm>
            <a:off x="2891155" y="3213100"/>
            <a:ext cx="1640840" cy="203771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事前预警</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4" name="矩形: 圆角 9"/>
          <p:cNvSpPr/>
          <p:nvPr>
            <p:custDataLst>
              <p:tags r:id="rId40"/>
            </p:custDataLst>
          </p:nvPr>
        </p:nvSpPr>
        <p:spPr>
          <a:xfrm>
            <a:off x="3067050" y="357822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预警任务管理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5" name="矩形: 圆角 9"/>
          <p:cNvSpPr/>
          <p:nvPr>
            <p:custDataLst>
              <p:tags r:id="rId41"/>
            </p:custDataLst>
          </p:nvPr>
        </p:nvSpPr>
        <p:spPr>
          <a:xfrm>
            <a:off x="3061970" y="390652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预警任务审批</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6" name="矩形: 圆角 9"/>
          <p:cNvSpPr/>
          <p:nvPr>
            <p:custDataLst>
              <p:tags r:id="rId42"/>
            </p:custDataLst>
          </p:nvPr>
        </p:nvSpPr>
        <p:spPr>
          <a:xfrm>
            <a:off x="3061970" y="423545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预警工单管理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7" name="矩形: 圆角 9"/>
          <p:cNvSpPr/>
          <p:nvPr>
            <p:custDataLst>
              <p:tags r:id="rId43"/>
            </p:custDataLst>
          </p:nvPr>
        </p:nvSpPr>
        <p:spPr>
          <a:xfrm>
            <a:off x="4702810" y="3213100"/>
            <a:ext cx="1640840" cy="203771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任务工作台</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8" name="矩形: 圆角 9"/>
          <p:cNvSpPr/>
          <p:nvPr>
            <p:custDataLst>
              <p:tags r:id="rId44"/>
            </p:custDataLst>
          </p:nvPr>
        </p:nvSpPr>
        <p:spPr>
          <a:xfrm>
            <a:off x="4878705" y="355473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任务工单管理</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9" name="矩形: 圆角 9"/>
          <p:cNvSpPr/>
          <p:nvPr>
            <p:custDataLst>
              <p:tags r:id="rId45"/>
            </p:custDataLst>
          </p:nvPr>
        </p:nvSpPr>
        <p:spPr>
          <a:xfrm>
            <a:off x="4872990" y="390461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任务指派</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2" name="矩形: 圆角 9"/>
          <p:cNvSpPr/>
          <p:nvPr>
            <p:custDataLst>
              <p:tags r:id="rId46"/>
            </p:custDataLst>
          </p:nvPr>
        </p:nvSpPr>
        <p:spPr>
          <a:xfrm>
            <a:off x="4872990" y="423354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营销任务推送</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5" name="矩形: 圆角 9"/>
          <p:cNvSpPr/>
          <p:nvPr>
            <p:custDataLst>
              <p:tags r:id="rId47"/>
            </p:custDataLst>
          </p:nvPr>
        </p:nvSpPr>
        <p:spPr>
          <a:xfrm>
            <a:off x="3061970" y="492379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工单自动生成</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6" name="矩形: 圆角 9"/>
          <p:cNvSpPr/>
          <p:nvPr>
            <p:custDataLst>
              <p:tags r:id="rId48"/>
            </p:custDataLst>
          </p:nvPr>
        </p:nvSpPr>
        <p:spPr>
          <a:xfrm>
            <a:off x="6434455" y="3210560"/>
            <a:ext cx="1640840" cy="206311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事中监控</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7" name="矩形: 圆角 9"/>
          <p:cNvSpPr/>
          <p:nvPr>
            <p:custDataLst>
              <p:tags r:id="rId49"/>
            </p:custDataLst>
          </p:nvPr>
        </p:nvSpPr>
        <p:spPr>
          <a:xfrm>
            <a:off x="6610985" y="355219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合约到期监控</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8" name="矩形: 圆角 9"/>
          <p:cNvSpPr/>
          <p:nvPr>
            <p:custDataLst>
              <p:tags r:id="rId50"/>
            </p:custDataLst>
          </p:nvPr>
        </p:nvSpPr>
        <p:spPr>
          <a:xfrm>
            <a:off x="6605270" y="390207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预警任务执行监控</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19" name="矩形: 圆角 9"/>
          <p:cNvSpPr/>
          <p:nvPr>
            <p:custDataLst>
              <p:tags r:id="rId51"/>
            </p:custDataLst>
          </p:nvPr>
        </p:nvSpPr>
        <p:spPr>
          <a:xfrm>
            <a:off x="6605270" y="423100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营销任务执行监控</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20" name="矩形: 圆角 9"/>
          <p:cNvSpPr/>
          <p:nvPr>
            <p:custDataLst>
              <p:tags r:id="rId52"/>
            </p:custDataLst>
          </p:nvPr>
        </p:nvSpPr>
        <p:spPr>
          <a:xfrm>
            <a:off x="6605270" y="455993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收入预测监控</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21" name="矩形: 圆角 9"/>
          <p:cNvSpPr/>
          <p:nvPr>
            <p:custDataLst>
              <p:tags r:id="rId53"/>
            </p:custDataLst>
          </p:nvPr>
        </p:nvSpPr>
        <p:spPr>
          <a:xfrm>
            <a:off x="6605270" y="489204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用户新增占比监控</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22" name="矩形: 圆角 9"/>
          <p:cNvSpPr/>
          <p:nvPr>
            <p:custDataLst>
              <p:tags r:id="rId54"/>
            </p:custDataLst>
          </p:nvPr>
        </p:nvSpPr>
        <p:spPr>
          <a:xfrm>
            <a:off x="8246110" y="3199130"/>
            <a:ext cx="1640840" cy="2063115"/>
          </a:xfrm>
          <a:prstGeom prst="roundRect">
            <a:avLst>
              <a:gd name="adj" fmla="val 672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tIns="54000" rtlCol="0" anchor="t" anchorCtr="0"/>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营销评估</a:t>
            </a:r>
            <a:endParaRPr kumimoji="0" lang="zh-CN" altLang="en-US" sz="9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23" name="矩形: 圆角 9"/>
          <p:cNvSpPr/>
          <p:nvPr>
            <p:custDataLst>
              <p:tags r:id="rId55"/>
            </p:custDataLst>
          </p:nvPr>
        </p:nvSpPr>
        <p:spPr>
          <a:xfrm>
            <a:off x="8422005" y="354076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营销任务执行效果分析</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24" name="矩形: 圆角 9"/>
          <p:cNvSpPr/>
          <p:nvPr>
            <p:custDataLst>
              <p:tags r:id="rId56"/>
            </p:custDataLst>
          </p:nvPr>
        </p:nvSpPr>
        <p:spPr>
          <a:xfrm>
            <a:off x="8416925" y="389064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营销案效果分析</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25" name="矩形: 圆角 9"/>
          <p:cNvSpPr/>
          <p:nvPr>
            <p:custDataLst>
              <p:tags r:id="rId57"/>
            </p:custDataLst>
          </p:nvPr>
        </p:nvSpPr>
        <p:spPr>
          <a:xfrm>
            <a:off x="8416925" y="421957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dirty="0">
                <a:solidFill>
                  <a:srgbClr val="000000"/>
                </a:solidFill>
                <a:latin typeface="微软雅黑" panose="020B0503020204020204" charset="-122"/>
                <a:ea typeface="微软雅黑" panose="020B0503020204020204" charset="-122"/>
                <a:sym typeface="+mn-ea"/>
              </a:rPr>
              <a:t>存量业务专题评估报表</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32" name="矩形: 圆角 9"/>
          <p:cNvSpPr/>
          <p:nvPr>
            <p:custDataLst>
              <p:tags r:id="rId58"/>
            </p:custDataLst>
          </p:nvPr>
        </p:nvSpPr>
        <p:spPr>
          <a:xfrm>
            <a:off x="8416925" y="454850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携转业务专题效果报表</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33" name="矩形: 圆角 9"/>
          <p:cNvSpPr/>
          <p:nvPr>
            <p:custDataLst>
              <p:tags r:id="rId59"/>
            </p:custDataLst>
          </p:nvPr>
        </p:nvSpPr>
        <p:spPr>
          <a:xfrm>
            <a:off x="8416925" y="4880610"/>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营销活动评估分析报表</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34" name="矩形: 圆角 9"/>
          <p:cNvSpPr/>
          <p:nvPr>
            <p:custDataLst>
              <p:tags r:id="rId60"/>
            </p:custDataLst>
          </p:nvPr>
        </p:nvSpPr>
        <p:spPr>
          <a:xfrm>
            <a:off x="4862195" y="455993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工单处理执行</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35" name="矩形: 圆角 9"/>
          <p:cNvSpPr/>
          <p:nvPr>
            <p:custDataLst>
              <p:tags r:id="rId61"/>
            </p:custDataLst>
          </p:nvPr>
        </p:nvSpPr>
        <p:spPr>
          <a:xfrm>
            <a:off x="4855845" y="4882515"/>
            <a:ext cx="1288415" cy="27749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督办任务执行</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
        <p:nvSpPr>
          <p:cNvPr id="36" name="矩形: 圆角 9"/>
          <p:cNvSpPr/>
          <p:nvPr>
            <p:custDataLst>
              <p:tags r:id="rId62"/>
            </p:custDataLst>
          </p:nvPr>
        </p:nvSpPr>
        <p:spPr>
          <a:xfrm>
            <a:off x="3071452" y="4562370"/>
            <a:ext cx="1288380" cy="268415"/>
          </a:xfrm>
          <a:prstGeom prst="roundRect">
            <a:avLst/>
          </a:prstGeom>
          <a:solidFill>
            <a:srgbClr val="F6FAE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rPr>
              <a:t>预警规则配置</a:t>
            </a:r>
            <a:endParaRPr lang="zh-CN" altLang="en-US" sz="9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个人工作</a:t>
            </a:r>
            <a:r>
              <a:rPr lang="zh-CN" altLang="en-US"/>
              <a:t>概览</a:t>
            </a:r>
            <a:endParaRPr lang="zh-CN" altLang="en-US"/>
          </a:p>
        </p:txBody>
      </p:sp>
      <p:pic>
        <p:nvPicPr>
          <p:cNvPr id="4" name="图片 3"/>
          <p:cNvPicPr>
            <a:picLocks noChangeAspect="1"/>
          </p:cNvPicPr>
          <p:nvPr/>
        </p:nvPicPr>
        <p:blipFill>
          <a:blip r:embed="rId1"/>
          <a:stretch>
            <a:fillRect/>
          </a:stretch>
        </p:blipFill>
        <p:spPr>
          <a:xfrm>
            <a:off x="898525" y="2139950"/>
            <a:ext cx="9460865" cy="4361815"/>
          </a:xfrm>
          <a:prstGeom prst="rect">
            <a:avLst/>
          </a:prstGeom>
        </p:spPr>
      </p:pic>
      <p:sp>
        <p:nvSpPr>
          <p:cNvPr id="5"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业务人员登录精益平台，可在首页查看个人工作概览。通过点击</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我的预警</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我的审批</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我的工单</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和</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我的任务</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快速定位对应模块进行查看或操作；</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事前预警</a:t>
            </a:r>
            <a:r>
              <a:rPr lang="en-US" altLang="zh-CN"/>
              <a:t>——</a:t>
            </a:r>
            <a:r>
              <a:rPr lang="zh-CN" altLang="en-US"/>
              <a:t>预警任务</a:t>
            </a:r>
            <a:r>
              <a:rPr lang="zh-CN" altLang="en-US"/>
              <a:t>管理</a:t>
            </a:r>
            <a:endParaRPr lang="zh-CN" altLang="en-US"/>
          </a:p>
        </p:txBody>
      </p:sp>
      <p:pic>
        <p:nvPicPr>
          <p:cNvPr id="4" name="图片 3"/>
          <p:cNvPicPr>
            <a:picLocks noChangeAspect="1"/>
          </p:cNvPicPr>
          <p:nvPr/>
        </p:nvPicPr>
        <p:blipFill>
          <a:blip r:embed="rId1"/>
          <a:stretch>
            <a:fillRect/>
          </a:stretch>
        </p:blipFill>
        <p:spPr>
          <a:xfrm>
            <a:off x="429895" y="1882775"/>
            <a:ext cx="5118735" cy="2665095"/>
          </a:xfrm>
          <a:prstGeom prst="rect">
            <a:avLst/>
          </a:prstGeom>
        </p:spPr>
      </p:pic>
      <p:sp>
        <p:nvSpPr>
          <p:cNvPr id="5"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业务人员登录精益平台，通过事前预警</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预警任务管理</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新建预警路径来创建预警，或查看已创建预警（</a:t>
            </a:r>
            <a:r>
              <a:rPr kumimoji="1" lang="zh-CN" altLang="en-US" sz="1500" kern="100" dirty="0">
                <a:solidFill>
                  <a:srgbClr val="FF0000"/>
                </a:solidFill>
                <a:latin typeface="微软雅黑" panose="020B0503020204020204" charset="-122"/>
                <a:ea typeface="微软雅黑" panose="020B0503020204020204" charset="-122"/>
                <a:cs typeface="Times New Roman" panose="02020603050405020304" charset="0"/>
                <a:sym typeface="+mn-ea"/>
              </a:rPr>
              <a:t>一般任务预警由区公司业务人员配置）。</a:t>
            </a:r>
            <a:endParaRPr kumimoji="1" lang="zh-CN" altLang="en-US" sz="1500" kern="100" dirty="0">
              <a:solidFill>
                <a:srgbClr val="FF0000"/>
              </a:solidFill>
              <a:latin typeface="微软雅黑" panose="020B0503020204020204" charset="-122"/>
              <a:ea typeface="微软雅黑" panose="020B0503020204020204" charset="-122"/>
              <a:cs typeface="Times New Roman" panose="02020603050405020304" charset="0"/>
              <a:sym typeface="+mn-ea"/>
            </a:endParaRPr>
          </a:p>
        </p:txBody>
      </p:sp>
      <p:pic>
        <p:nvPicPr>
          <p:cNvPr id="6" name="图片 5"/>
          <p:cNvPicPr>
            <a:picLocks noChangeAspect="1"/>
          </p:cNvPicPr>
          <p:nvPr/>
        </p:nvPicPr>
        <p:blipFill>
          <a:blip r:embed="rId2"/>
          <a:stretch>
            <a:fillRect/>
          </a:stretch>
        </p:blipFill>
        <p:spPr>
          <a:xfrm>
            <a:off x="5922010" y="1882775"/>
            <a:ext cx="5373370" cy="2665095"/>
          </a:xfrm>
          <a:prstGeom prst="rect">
            <a:avLst/>
          </a:prstGeom>
        </p:spPr>
      </p:pic>
      <p:sp>
        <p:nvSpPr>
          <p:cNvPr id="7" name="文本框 6"/>
          <p:cNvSpPr txBox="1"/>
          <p:nvPr/>
        </p:nvSpPr>
        <p:spPr>
          <a:xfrm>
            <a:off x="1819275" y="4686300"/>
            <a:ext cx="2339975" cy="306705"/>
          </a:xfrm>
          <a:prstGeom prst="rect">
            <a:avLst/>
          </a:prstGeom>
          <a:noFill/>
        </p:spPr>
        <p:txBody>
          <a:bodyPr wrap="square" rtlCol="0">
            <a:spAutoFit/>
          </a:bodyPr>
          <a:p>
            <a:pPr algn="ctr"/>
            <a:r>
              <a:rPr lang="zh-CN" altLang="en-US" sz="1400" i="1"/>
              <a:t>预警任务列表</a:t>
            </a:r>
            <a:endParaRPr lang="zh-CN" altLang="en-US" sz="1400" i="1"/>
          </a:p>
        </p:txBody>
      </p:sp>
      <p:sp>
        <p:nvSpPr>
          <p:cNvPr id="8" name="文本框 7"/>
          <p:cNvSpPr txBox="1"/>
          <p:nvPr/>
        </p:nvSpPr>
        <p:spPr>
          <a:xfrm>
            <a:off x="6985635" y="4686300"/>
            <a:ext cx="3246120" cy="306705"/>
          </a:xfrm>
          <a:prstGeom prst="rect">
            <a:avLst/>
          </a:prstGeom>
          <a:noFill/>
        </p:spPr>
        <p:txBody>
          <a:bodyPr wrap="square" rtlCol="0">
            <a:spAutoFit/>
          </a:bodyPr>
          <a:p>
            <a:pPr algn="ctr"/>
            <a:r>
              <a:rPr lang="zh-CN" altLang="en-US" sz="1400" i="1"/>
              <a:t>创建预警</a:t>
            </a:r>
            <a:r>
              <a:rPr lang="en-US" altLang="zh-CN" sz="1400" i="1"/>
              <a:t>—</a:t>
            </a:r>
            <a:r>
              <a:rPr lang="zh-CN" altLang="en-US" sz="1400" i="1"/>
              <a:t>已全球通客户离网预警为</a:t>
            </a:r>
            <a:r>
              <a:rPr lang="zh-CN" altLang="en-US" sz="1400" i="1"/>
              <a:t>例</a:t>
            </a:r>
            <a:endParaRPr lang="zh-CN" altLang="en-US" sz="1400" i="1"/>
          </a:p>
        </p:txBody>
      </p:sp>
      <p:sp>
        <p:nvSpPr>
          <p:cNvPr id="53" name="矩形 52"/>
          <p:cNvSpPr/>
          <p:nvPr/>
        </p:nvSpPr>
        <p:spPr>
          <a:xfrm>
            <a:off x="1005840" y="2517140"/>
            <a:ext cx="4473575" cy="1749425"/>
          </a:xfrm>
          <a:prstGeom prst="rect">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r"/>
            <a:endParaRPr lang="zh-CN" altLang="en-US" sz="1200">
              <a:solidFill>
                <a:srgbClr val="FF0000"/>
              </a:solidFill>
              <a:latin typeface="微软雅黑" panose="020B0503020204020204" charset="-122"/>
              <a:ea typeface="微软雅黑" panose="020B0503020204020204" charset="-122"/>
            </a:endParaRPr>
          </a:p>
        </p:txBody>
      </p:sp>
      <p:sp>
        <p:nvSpPr>
          <p:cNvPr id="9" name="矩形 8"/>
          <p:cNvSpPr/>
          <p:nvPr/>
        </p:nvSpPr>
        <p:spPr>
          <a:xfrm>
            <a:off x="6602730" y="2340610"/>
            <a:ext cx="2552700" cy="2014855"/>
          </a:xfrm>
          <a:prstGeom prst="rect">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r"/>
            <a:endParaRPr lang="zh-CN" altLang="en-US" sz="1200">
              <a:solidFill>
                <a:srgbClr val="FF0000"/>
              </a:solidFill>
              <a:latin typeface="微软雅黑" panose="020B0503020204020204" charset="-122"/>
              <a:ea typeface="微软雅黑" panose="020B0503020204020204" charset="-122"/>
            </a:endParaRPr>
          </a:p>
        </p:txBody>
      </p:sp>
      <p:sp>
        <p:nvSpPr>
          <p:cNvPr id="10" name="文本框 9"/>
          <p:cNvSpPr txBox="1"/>
          <p:nvPr/>
        </p:nvSpPr>
        <p:spPr>
          <a:xfrm>
            <a:off x="805815" y="5615305"/>
            <a:ext cx="10596245" cy="645160"/>
          </a:xfrm>
          <a:prstGeom prst="rect">
            <a:avLst/>
          </a:prstGeom>
          <a:noFill/>
        </p:spPr>
        <p:txBody>
          <a:bodyPr wrap="square" rtlCol="0">
            <a:spAutoFit/>
          </a:bodyPr>
          <a:p>
            <a:r>
              <a:rPr lang="zh-CN" altLang="en-US" b="1">
                <a:solidFill>
                  <a:schemeClr val="tx1"/>
                </a:solidFill>
              </a:rPr>
              <a:t>目前精益平台已实现的任务类预警场景包括：</a:t>
            </a:r>
            <a:r>
              <a:rPr lang="zh-CN" altLang="en-US" b="1">
                <a:solidFill>
                  <a:srgbClr val="FF0000"/>
                </a:solidFill>
              </a:rPr>
              <a:t>携转挽留预警、宽带离网预警和全球通客户离网预警</a:t>
            </a:r>
            <a:endParaRPr lang="zh-CN" altLang="en-US" b="1">
              <a:solidFill>
                <a:srgbClr val="FF0000"/>
              </a:solidFill>
            </a:endParaRPr>
          </a:p>
          <a:p>
            <a:r>
              <a:rPr lang="zh-CN" altLang="en-US" b="1">
                <a:solidFill>
                  <a:schemeClr val="tx1"/>
                </a:solidFill>
              </a:rPr>
              <a:t>正在开发待上线的任务类预警场景有：</a:t>
            </a:r>
            <a:r>
              <a:rPr lang="zh-CN" altLang="en-US" b="1">
                <a:solidFill>
                  <a:srgbClr val="FF0000"/>
                </a:solidFill>
              </a:rPr>
              <a:t>全球通投诉问题预警</a:t>
            </a:r>
            <a:endParaRPr lang="zh-CN" altLang="en-US" b="1">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事前预警</a:t>
            </a:r>
            <a:r>
              <a:rPr lang="en-US" altLang="zh-CN"/>
              <a:t>——</a:t>
            </a:r>
            <a:r>
              <a:rPr lang="zh-CN" altLang="en-US"/>
              <a:t>手动</a:t>
            </a:r>
            <a:r>
              <a:rPr lang="zh-CN" altLang="en-US"/>
              <a:t>创建营销预警工单</a:t>
            </a:r>
            <a:endParaRPr lang="en-US" altLang="zh-CN"/>
          </a:p>
        </p:txBody>
      </p:sp>
      <p:pic>
        <p:nvPicPr>
          <p:cNvPr id="4" name="图片 3"/>
          <p:cNvPicPr>
            <a:picLocks noChangeAspect="1"/>
          </p:cNvPicPr>
          <p:nvPr/>
        </p:nvPicPr>
        <p:blipFill>
          <a:blip r:embed="rId1"/>
          <a:stretch>
            <a:fillRect/>
          </a:stretch>
        </p:blipFill>
        <p:spPr>
          <a:xfrm>
            <a:off x="541020" y="2333625"/>
            <a:ext cx="6644640" cy="3163570"/>
          </a:xfrm>
          <a:prstGeom prst="rect">
            <a:avLst/>
          </a:prstGeom>
        </p:spPr>
      </p:pic>
      <p:sp>
        <p:nvSpPr>
          <p:cNvPr id="5"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业务人员登录精益平台，通过事前预警</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营销预警工单</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待派发</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手动创建营销工单路径来创建手工工单。精益平台目前已实现对接精准营销平台，业务人员可先通过精准营销平台创建客群，并在精益平台实现工单</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创建；</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pic>
        <p:nvPicPr>
          <p:cNvPr id="6" name="图片 5"/>
          <p:cNvPicPr>
            <a:picLocks noChangeAspect="1"/>
          </p:cNvPicPr>
          <p:nvPr/>
        </p:nvPicPr>
        <p:blipFill>
          <a:blip r:embed="rId2"/>
          <a:stretch>
            <a:fillRect/>
          </a:stretch>
        </p:blipFill>
        <p:spPr>
          <a:xfrm>
            <a:off x="7454900" y="2019300"/>
            <a:ext cx="4317365" cy="4102735"/>
          </a:xfrm>
          <a:prstGeom prst="rect">
            <a:avLst/>
          </a:prstGeom>
        </p:spPr>
      </p:pic>
      <p:sp>
        <p:nvSpPr>
          <p:cNvPr id="7" name="文本框 6"/>
          <p:cNvSpPr txBox="1"/>
          <p:nvPr/>
        </p:nvSpPr>
        <p:spPr>
          <a:xfrm>
            <a:off x="1831340" y="5673725"/>
            <a:ext cx="4064000" cy="368300"/>
          </a:xfrm>
          <a:prstGeom prst="rect">
            <a:avLst/>
          </a:prstGeom>
          <a:noFill/>
        </p:spPr>
        <p:txBody>
          <a:bodyPr wrap="square" rtlCol="0">
            <a:spAutoFit/>
          </a:bodyPr>
          <a:p>
            <a:pPr lvl="0" algn="ctr">
              <a:buClrTx/>
              <a:buSzTx/>
              <a:buFontTx/>
            </a:pPr>
            <a:r>
              <a:rPr lang="zh-CN" altLang="en-US" sz="1400" i="1">
                <a:sym typeface="+mn-ea"/>
              </a:rPr>
              <a:t>创建手工工单</a:t>
            </a:r>
            <a:r>
              <a:rPr lang="zh-CN" altLang="en-US" sz="1400" i="1">
                <a:sym typeface="+mn-ea"/>
              </a:rPr>
              <a:t>入口</a:t>
            </a:r>
            <a:endParaRPr lang="zh-CN" altLang="en-US" sz="1400" i="1">
              <a:sym typeface="+mn-ea"/>
            </a:endParaRPr>
          </a:p>
        </p:txBody>
      </p:sp>
      <p:sp>
        <p:nvSpPr>
          <p:cNvPr id="8" name="文本框 7"/>
          <p:cNvSpPr txBox="1"/>
          <p:nvPr/>
        </p:nvSpPr>
        <p:spPr>
          <a:xfrm>
            <a:off x="7708265" y="6122035"/>
            <a:ext cx="4064000" cy="306705"/>
          </a:xfrm>
          <a:prstGeom prst="rect">
            <a:avLst/>
          </a:prstGeom>
          <a:noFill/>
        </p:spPr>
        <p:txBody>
          <a:bodyPr wrap="square" rtlCol="0">
            <a:spAutoFit/>
          </a:bodyPr>
          <a:p>
            <a:pPr lvl="0" algn="ctr">
              <a:buClrTx/>
              <a:buSzTx/>
              <a:buFontTx/>
            </a:pPr>
            <a:r>
              <a:rPr lang="zh-CN" altLang="en-US" sz="1400" i="1">
                <a:sym typeface="+mn-ea"/>
              </a:rPr>
              <a:t>精益提下的任务流转</a:t>
            </a:r>
            <a:r>
              <a:rPr lang="zh-CN" altLang="en-US" sz="1400" i="1">
                <a:sym typeface="+mn-ea"/>
              </a:rPr>
              <a:t>流程</a:t>
            </a:r>
            <a:endParaRPr lang="zh-CN" altLang="en-US" sz="1400" i="1">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任务工作台</a:t>
            </a:r>
            <a:r>
              <a:rPr lang="en-US" altLang="zh-CN"/>
              <a:t>——</a:t>
            </a:r>
            <a:r>
              <a:rPr lang="zh-CN" altLang="en-US"/>
              <a:t>我的营销</a:t>
            </a:r>
            <a:r>
              <a:rPr lang="zh-CN" altLang="en-US"/>
              <a:t>任务</a:t>
            </a:r>
            <a:endParaRPr lang="zh-CN" altLang="en-US"/>
          </a:p>
        </p:txBody>
      </p:sp>
      <p:pic>
        <p:nvPicPr>
          <p:cNvPr id="4" name="图片 3"/>
          <p:cNvPicPr>
            <a:picLocks noChangeAspect="1"/>
          </p:cNvPicPr>
          <p:nvPr/>
        </p:nvPicPr>
        <p:blipFill>
          <a:blip r:embed="rId1"/>
          <a:stretch>
            <a:fillRect/>
          </a:stretch>
        </p:blipFill>
        <p:spPr>
          <a:xfrm>
            <a:off x="1062355" y="2002155"/>
            <a:ext cx="9777095" cy="4422140"/>
          </a:xfrm>
          <a:prstGeom prst="rect">
            <a:avLst/>
          </a:prstGeom>
        </p:spPr>
      </p:pic>
      <p:sp>
        <p:nvSpPr>
          <p:cNvPr id="5"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业务人员登录精益平台，通过事任务工作台</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我的营销任务路径，查看被指派给自己的营销任务，可以对任务选择接收、转派或拒绝，点击任务接收后可以通过立即执行跳转到</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IOP</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平台进行活动</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创建；</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事中监控</a:t>
            </a:r>
            <a:r>
              <a:rPr lang="en-US" altLang="zh-CN">
                <a:sym typeface="+mn-ea"/>
              </a:rPr>
              <a:t>——</a:t>
            </a:r>
            <a:r>
              <a:rPr lang="zh-CN" altLang="en-US">
                <a:sym typeface="+mn-ea"/>
              </a:rPr>
              <a:t>合约到期</a:t>
            </a:r>
            <a:r>
              <a:rPr lang="zh-CN" altLang="en-US">
                <a:sym typeface="+mn-ea"/>
              </a:rPr>
              <a:t>监控</a:t>
            </a:r>
            <a:endParaRPr lang="zh-CN" altLang="en-US">
              <a:sym typeface="+mn-ea"/>
            </a:endParaRPr>
          </a:p>
        </p:txBody>
      </p:sp>
      <p:pic>
        <p:nvPicPr>
          <p:cNvPr id="7" name="图片 6"/>
          <p:cNvPicPr>
            <a:picLocks noChangeAspect="1"/>
          </p:cNvPicPr>
          <p:nvPr/>
        </p:nvPicPr>
        <p:blipFill>
          <a:blip r:embed="rId1"/>
          <a:stretch>
            <a:fillRect/>
          </a:stretch>
        </p:blipFill>
        <p:spPr>
          <a:xfrm>
            <a:off x="6483350" y="2352040"/>
            <a:ext cx="5083175" cy="2987675"/>
          </a:xfrm>
          <a:prstGeom prst="rect">
            <a:avLst/>
          </a:prstGeom>
        </p:spPr>
      </p:pic>
      <p:pic>
        <p:nvPicPr>
          <p:cNvPr id="8" name="图片 7"/>
          <p:cNvPicPr>
            <a:picLocks noChangeAspect="1"/>
          </p:cNvPicPr>
          <p:nvPr/>
        </p:nvPicPr>
        <p:blipFill>
          <a:blip r:embed="rId2"/>
          <a:stretch>
            <a:fillRect/>
          </a:stretch>
        </p:blipFill>
        <p:spPr>
          <a:xfrm>
            <a:off x="429895" y="2352040"/>
            <a:ext cx="5797550" cy="2858770"/>
          </a:xfrm>
          <a:prstGeom prst="rect">
            <a:avLst/>
          </a:prstGeom>
        </p:spPr>
      </p:pic>
      <p:sp>
        <p:nvSpPr>
          <p:cNvPr id="9" name="矩形 21"/>
          <p:cNvSpPr>
            <a:spLocks noChangeArrowheads="1"/>
          </p:cNvSpPr>
          <p:nvPr/>
        </p:nvSpPr>
        <p:spPr bwMode="auto">
          <a:xfrm>
            <a:off x="430194" y="1079153"/>
            <a:ext cx="11385676"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gn="l" defTabSz="288925">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业务人员登录精益平台，事中监控</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合约到期监控菜单，查看各分公司属地内的合约到期监控统计情况；</a:t>
            </a:r>
            <a:r>
              <a:rPr lang="zh-CN" altLang="en-US" sz="1500" kern="0" dirty="0">
                <a:ea typeface="微软雅黑" panose="020B0503020204020204" charset="-122"/>
                <a:cs typeface="Arial" panose="020B0604020202020204" pitchFamily="34" charset="0"/>
                <a:sym typeface="Arial" panose="020B0604020202020204" pitchFamily="34" charset="0"/>
              </a:rPr>
              <a:t>合约一事一案监控统计与合约一事一案明细监控，监控维度一事一案到期情况，续约情况、</a:t>
            </a:r>
            <a:r>
              <a:rPr lang="en-US" altLang="zh-CN" sz="1500" kern="0" dirty="0">
                <a:ea typeface="微软雅黑" panose="020B0503020204020204" charset="-122"/>
                <a:cs typeface="Arial" panose="020B0604020202020204" pitchFamily="34" charset="0"/>
                <a:sym typeface="Arial" panose="020B0604020202020204" pitchFamily="34" charset="0"/>
              </a:rPr>
              <a:t>N+1</a:t>
            </a:r>
            <a:r>
              <a:rPr lang="zh-CN" altLang="en-US" sz="1500" kern="0" dirty="0">
                <a:ea typeface="微软雅黑" panose="020B0503020204020204" charset="-122"/>
                <a:cs typeface="Arial" panose="020B0604020202020204" pitchFamily="34" charset="0"/>
                <a:sym typeface="Arial" panose="020B0604020202020204" pitchFamily="34" charset="0"/>
              </a:rPr>
              <a:t>至</a:t>
            </a:r>
            <a:r>
              <a:rPr lang="en-US" altLang="zh-CN" sz="1500" kern="0" dirty="0">
                <a:ea typeface="微软雅黑" panose="020B0503020204020204" charset="-122"/>
                <a:cs typeface="Arial" panose="020B0604020202020204" pitchFamily="34" charset="0"/>
                <a:sym typeface="Arial" panose="020B0604020202020204" pitchFamily="34" charset="0"/>
              </a:rPr>
              <a:t>N+12</a:t>
            </a:r>
            <a:r>
              <a:rPr lang="zh-CN" altLang="en-US" sz="1500" kern="0" dirty="0">
                <a:ea typeface="微软雅黑" panose="020B0503020204020204" charset="-122"/>
                <a:cs typeface="Arial" panose="020B0604020202020204" pitchFamily="34" charset="0"/>
                <a:sym typeface="Arial" panose="020B0604020202020204" pitchFamily="34" charset="0"/>
              </a:rPr>
              <a:t>月到期情况，以及是否配置续约活动等；</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事中监控</a:t>
            </a:r>
            <a:r>
              <a:rPr lang="en-US" altLang="zh-CN">
                <a:sym typeface="+mn-ea"/>
              </a:rPr>
              <a:t>——</a:t>
            </a:r>
            <a:r>
              <a:rPr lang="zh-CN" altLang="en-US">
                <a:sym typeface="+mn-ea"/>
              </a:rPr>
              <a:t>一线任务执行监控</a:t>
            </a:r>
            <a:endParaRPr lang="zh-CN" altLang="en-US"/>
          </a:p>
        </p:txBody>
      </p:sp>
      <p:pic>
        <p:nvPicPr>
          <p:cNvPr id="6" name="图片 5"/>
          <p:cNvPicPr>
            <a:picLocks noChangeAspect="1"/>
          </p:cNvPicPr>
          <p:nvPr/>
        </p:nvPicPr>
        <p:blipFill>
          <a:blip r:embed="rId1"/>
          <a:stretch>
            <a:fillRect/>
          </a:stretch>
        </p:blipFill>
        <p:spPr>
          <a:xfrm>
            <a:off x="1094740" y="1809115"/>
            <a:ext cx="9246235" cy="4462145"/>
          </a:xfrm>
          <a:prstGeom prst="rect">
            <a:avLst/>
          </a:prstGeom>
        </p:spPr>
      </p:pic>
      <p:sp>
        <p:nvSpPr>
          <p:cNvPr id="7"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业务人员登录精益平台，事中监控</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一线任务执行监控菜单，查看各分公司自己创建的手工工单的执行情况；报表支持层层下钻至渠道执行</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维度；</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营销评估</a:t>
            </a:r>
            <a:r>
              <a:rPr lang="en-US" altLang="zh-CN"/>
              <a:t>——</a:t>
            </a:r>
            <a:r>
              <a:rPr lang="zh-CN" altLang="en-US"/>
              <a:t>任务类预警执行情况</a:t>
            </a:r>
            <a:r>
              <a:rPr lang="zh-CN" altLang="en-US"/>
              <a:t>报表</a:t>
            </a:r>
            <a:endParaRPr lang="zh-CN" altLang="en-US"/>
          </a:p>
        </p:txBody>
      </p:sp>
      <p:pic>
        <p:nvPicPr>
          <p:cNvPr id="5" name="图片 4"/>
          <p:cNvPicPr>
            <a:picLocks noChangeAspect="1"/>
          </p:cNvPicPr>
          <p:nvPr/>
        </p:nvPicPr>
        <p:blipFill>
          <a:blip r:embed="rId1"/>
          <a:stretch>
            <a:fillRect/>
          </a:stretch>
        </p:blipFill>
        <p:spPr>
          <a:xfrm>
            <a:off x="1419225" y="1710055"/>
            <a:ext cx="7592695" cy="2409825"/>
          </a:xfrm>
          <a:prstGeom prst="rect">
            <a:avLst/>
          </a:prstGeom>
        </p:spPr>
      </p:pic>
      <p:sp>
        <p:nvSpPr>
          <p:cNvPr id="7"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业务人员登录精益平台，营销评估</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携转预警情况分析、全球通离网预警情况分析、宽带预警情况分析查看各类任务预警下的执行情况，每个报表支持下载明细查单用户维度的执行</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情况。</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
        <p:nvSpPr>
          <p:cNvPr id="6" name="文本框 5"/>
          <p:cNvSpPr txBox="1"/>
          <p:nvPr/>
        </p:nvSpPr>
        <p:spPr>
          <a:xfrm>
            <a:off x="3592830" y="3813175"/>
            <a:ext cx="3669665" cy="306705"/>
          </a:xfrm>
          <a:prstGeom prst="rect">
            <a:avLst/>
          </a:prstGeom>
          <a:noFill/>
        </p:spPr>
        <p:txBody>
          <a:bodyPr wrap="square" rtlCol="0">
            <a:spAutoFit/>
          </a:bodyPr>
          <a:p>
            <a:pPr algn="ctr"/>
            <a:r>
              <a:rPr lang="zh-CN" altLang="en-US" sz="1400" i="1"/>
              <a:t>携转预警情况分析</a:t>
            </a:r>
            <a:r>
              <a:rPr lang="en-US" altLang="zh-CN" sz="1400" i="1"/>
              <a:t>——</a:t>
            </a:r>
            <a:r>
              <a:rPr lang="zh-CN" altLang="en-US" sz="1400" i="1"/>
              <a:t>在线</a:t>
            </a:r>
            <a:r>
              <a:rPr lang="en-US" altLang="zh-CN" sz="1400" i="1"/>
              <a:t>+</a:t>
            </a:r>
            <a:r>
              <a:rPr lang="zh-CN" altLang="en-US" sz="1400" i="1"/>
              <a:t>网格模式</a:t>
            </a:r>
            <a:r>
              <a:rPr lang="zh-CN" altLang="en-US" sz="1400" i="1"/>
              <a:t>为例</a:t>
            </a:r>
            <a:endParaRPr lang="zh-CN" altLang="en-US" sz="1400" i="1"/>
          </a:p>
        </p:txBody>
      </p:sp>
      <p:pic>
        <p:nvPicPr>
          <p:cNvPr id="8" name="图片 7"/>
          <p:cNvPicPr>
            <a:picLocks noChangeAspect="1"/>
          </p:cNvPicPr>
          <p:nvPr/>
        </p:nvPicPr>
        <p:blipFill>
          <a:blip r:embed="rId2"/>
          <a:stretch>
            <a:fillRect/>
          </a:stretch>
        </p:blipFill>
        <p:spPr>
          <a:xfrm>
            <a:off x="2296160" y="4358005"/>
            <a:ext cx="6715760" cy="2086610"/>
          </a:xfrm>
          <a:prstGeom prst="rect">
            <a:avLst/>
          </a:prstGeom>
        </p:spPr>
      </p:pic>
      <p:sp>
        <p:nvSpPr>
          <p:cNvPr id="9" name="文本框 8"/>
          <p:cNvSpPr txBox="1"/>
          <p:nvPr/>
        </p:nvSpPr>
        <p:spPr>
          <a:xfrm>
            <a:off x="3710940" y="6137910"/>
            <a:ext cx="3669665" cy="306705"/>
          </a:xfrm>
          <a:prstGeom prst="rect">
            <a:avLst/>
          </a:prstGeom>
          <a:noFill/>
        </p:spPr>
        <p:txBody>
          <a:bodyPr wrap="square" rtlCol="0">
            <a:spAutoFit/>
          </a:bodyPr>
          <a:p>
            <a:pPr algn="ctr"/>
            <a:r>
              <a:rPr lang="zh-CN" altLang="en-US" sz="1400" i="1"/>
              <a:t>宽带预警情况分析</a:t>
            </a:r>
            <a:endParaRPr lang="zh-CN" altLang="en-US" sz="1400" i="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营销评估</a:t>
            </a:r>
            <a:r>
              <a:rPr lang="en-US" altLang="zh-CN"/>
              <a:t>——</a:t>
            </a:r>
            <a:r>
              <a:rPr lang="zh-CN" altLang="en-US"/>
              <a:t>驾驶舱</a:t>
            </a:r>
            <a:endParaRPr lang="zh-CN" altLang="en-US"/>
          </a:p>
        </p:txBody>
      </p:sp>
      <p:pic>
        <p:nvPicPr>
          <p:cNvPr id="4" name="图片 3"/>
          <p:cNvPicPr>
            <a:picLocks noChangeAspect="1"/>
          </p:cNvPicPr>
          <p:nvPr/>
        </p:nvPicPr>
        <p:blipFill>
          <a:blip r:embed="rId1"/>
          <a:stretch>
            <a:fillRect/>
          </a:stretch>
        </p:blipFill>
        <p:spPr>
          <a:xfrm>
            <a:off x="1120775" y="1881505"/>
            <a:ext cx="9702165" cy="4734560"/>
          </a:xfrm>
          <a:prstGeom prst="rect">
            <a:avLst/>
          </a:prstGeom>
        </p:spPr>
      </p:pic>
      <p:sp>
        <p:nvSpPr>
          <p:cNvPr id="5" name="矩形 4"/>
          <p:cNvSpPr/>
          <p:nvPr/>
        </p:nvSpPr>
        <p:spPr>
          <a:xfrm>
            <a:off x="1212215" y="1976755"/>
            <a:ext cx="1536700" cy="419100"/>
          </a:xfrm>
          <a:prstGeom prst="rect">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200">
                <a:solidFill>
                  <a:srgbClr val="FF0000"/>
                </a:solidFill>
                <a:latin typeface="微软雅黑" panose="020B0503020204020204" charset="-122"/>
                <a:ea typeface="微软雅黑" panose="020B0503020204020204" charset="-122"/>
              </a:rPr>
              <a:t>层级下钻</a:t>
            </a:r>
            <a:endParaRPr lang="zh-CN" altLang="en-US" sz="1200">
              <a:solidFill>
                <a:srgbClr val="FF0000"/>
              </a:solidFill>
              <a:latin typeface="微软雅黑" panose="020B0503020204020204" charset="-122"/>
              <a:ea typeface="微软雅黑" panose="020B0503020204020204" charset="-122"/>
            </a:endParaRPr>
          </a:p>
        </p:txBody>
      </p:sp>
      <p:sp>
        <p:nvSpPr>
          <p:cNvPr id="7" name="矩形 21"/>
          <p:cNvSpPr>
            <a:spLocks noChangeArrowheads="1"/>
          </p:cNvSpPr>
          <p:nvPr/>
        </p:nvSpPr>
        <p:spPr bwMode="auto">
          <a:xfrm>
            <a:off x="429895" y="980440"/>
            <a:ext cx="1138555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业务人员登录精益平台，营销评估</a:t>
            </a:r>
            <a:r>
              <a:rPr kumimoji="1" lang="en-US" altLang="zh-CN" sz="1500" kern="100" dirty="0">
                <a:latin typeface="微软雅黑" panose="020B0503020204020204" charset="-122"/>
                <a:ea typeface="微软雅黑" panose="020B0503020204020204" charset="-122"/>
                <a:cs typeface="Times New Roman" panose="02020603050405020304" charset="0"/>
                <a:sym typeface="+mn-ea"/>
              </a:rPr>
              <a:t>——</a:t>
            </a: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驾驶舱</a:t>
            </a:r>
            <a:r>
              <a:rPr lang="zh-CN" altLang="en-US" sz="1500" dirty="0">
                <a:solidFill>
                  <a:srgbClr val="000000"/>
                </a:solidFill>
                <a:latin typeface="微软雅黑" panose="020B0503020204020204" charset="-122"/>
                <a:ea typeface="微软雅黑" panose="020B0503020204020204" charset="-122"/>
                <a:cs typeface="微软雅黑" panose="020B0503020204020204" charset="-122"/>
                <a:sym typeface="+mn-ea"/>
              </a:rPr>
              <a:t>路径查看管辖区域内的所有工单的执行情况及看管的客户情况。视图支持地州</a:t>
            </a:r>
            <a:r>
              <a:rPr lang="en-US" altLang="zh-CN" sz="150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altLang="en-US" sz="1500" dirty="0">
                <a:solidFill>
                  <a:srgbClr val="000000"/>
                </a:solidFill>
                <a:latin typeface="微软雅黑" panose="020B0503020204020204" charset="-122"/>
                <a:ea typeface="微软雅黑" panose="020B0503020204020204" charset="-122"/>
                <a:cs typeface="微软雅黑" panose="020B0503020204020204" charset="-122"/>
                <a:sym typeface="+mn-ea"/>
              </a:rPr>
              <a:t>县分</a:t>
            </a:r>
            <a:r>
              <a:rPr lang="en-US" altLang="zh-CN" sz="150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altLang="en-US" sz="1500" dirty="0">
                <a:solidFill>
                  <a:srgbClr val="000000"/>
                </a:solidFill>
                <a:latin typeface="微软雅黑" panose="020B0503020204020204" charset="-122"/>
                <a:ea typeface="微软雅黑" panose="020B0503020204020204" charset="-122"/>
                <a:cs typeface="微软雅黑" panose="020B0503020204020204" charset="-122"/>
                <a:sym typeface="+mn-ea"/>
              </a:rPr>
              <a:t>网格层层下钻。按工单类型统计模块支持一键跳转到相关报表查看更详细数据，实时把控全局，有助做决策。</a:t>
            </a:r>
            <a:endParaRPr lang="zh-CN" altLang="en-US" sz="1500"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0" indent="0">
              <a:lnSpc>
                <a:spcPct val="150000"/>
              </a:lnSpc>
              <a:buNone/>
            </a:pP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任务</a:t>
            </a:r>
            <a:r>
              <a:rPr lang="zh-CN" altLang="en-US"/>
              <a:t>督办</a:t>
            </a:r>
            <a:endParaRPr lang="zh-CN" altLang="en-US"/>
          </a:p>
        </p:txBody>
      </p:sp>
      <p:pic>
        <p:nvPicPr>
          <p:cNvPr id="4" name="图片 3"/>
          <p:cNvPicPr>
            <a:picLocks noChangeAspect="1"/>
          </p:cNvPicPr>
          <p:nvPr/>
        </p:nvPicPr>
        <p:blipFill>
          <a:blip r:embed="rId1"/>
          <a:stretch>
            <a:fillRect/>
          </a:stretch>
        </p:blipFill>
        <p:spPr>
          <a:xfrm>
            <a:off x="403860" y="2117090"/>
            <a:ext cx="9640570" cy="4251325"/>
          </a:xfrm>
          <a:prstGeom prst="rect">
            <a:avLst/>
          </a:prstGeom>
        </p:spPr>
      </p:pic>
      <p:sp>
        <p:nvSpPr>
          <p:cNvPr id="7" name="矩形 21"/>
          <p:cNvSpPr>
            <a:spLocks noChangeArrowheads="1"/>
          </p:cNvSpPr>
          <p:nvPr/>
        </p:nvSpPr>
        <p:spPr bwMode="auto">
          <a:xfrm>
            <a:off x="429895" y="980440"/>
            <a:ext cx="1138555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latin typeface="微软雅黑" panose="020B0503020204020204" charset="-122"/>
                <a:ea typeface="微软雅黑" panose="020B0503020204020204" charset="-122"/>
                <a:cs typeface="Times New Roman" panose="02020603050405020304" charset="0"/>
                <a:sym typeface="+mn-ea"/>
              </a:rPr>
              <a:t>点开任务督办模菜单，</a:t>
            </a:r>
            <a:r>
              <a:rPr lang="zh-CN" altLang="en-US" sz="1500" kern="0"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根据工作执行落实情况，区公司或者分公司管理人员在营销各环节可发起执行督办，支持督办任务的新增、查看、审批、变更与下线，通过固化督办触发机制，管理保障工作落实到位、责任到人，指导一线及时关注异动与任务进展情况</a:t>
            </a:r>
            <a:r>
              <a:rPr lang="zh-CN" altLang="en-US" sz="1500" b="1" kern="0" dirty="0">
                <a:solidFill>
                  <a:schemeClr val="tx1"/>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其他重点内容</a:t>
            </a:r>
            <a:r>
              <a:rPr lang="en-US" altLang="zh-CN" dirty="0">
                <a:sym typeface="+mn-ea"/>
              </a:rPr>
              <a:t>1</a:t>
            </a:r>
            <a:r>
              <a:rPr dirty="0">
                <a:sym typeface="+mn-ea"/>
              </a:rPr>
              <a:t>：</a:t>
            </a:r>
            <a:r>
              <a:rPr lang="zh-CN" dirty="0">
                <a:sym typeface="+mn-ea"/>
              </a:rPr>
              <a:t>业务</a:t>
            </a:r>
            <a:r>
              <a:rPr lang="zh-CN" dirty="0">
                <a:sym typeface="+mn-ea"/>
              </a:rPr>
              <a:t>视图</a:t>
            </a:r>
            <a:endParaRPr lang="zh-CN" dirty="0">
              <a:sym typeface="+mn-ea"/>
            </a:endParaRPr>
          </a:p>
        </p:txBody>
      </p:sp>
      <p:sp>
        <p:nvSpPr>
          <p:cNvPr id="4" name="矩形 21"/>
          <p:cNvSpPr>
            <a:spLocks noChangeArrowheads="1"/>
          </p:cNvSpPr>
          <p:nvPr/>
        </p:nvSpPr>
        <p:spPr bwMode="auto">
          <a:xfrm>
            <a:off x="430194" y="980728"/>
            <a:ext cx="11385676"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ct val="150000"/>
              </a:lnSpc>
              <a:buNone/>
            </a:pPr>
            <a:r>
              <a:rPr kumimoji="1" lang="zh-CN" altLang="en-US" sz="1500" kern="100" dirty="0">
                <a:solidFill>
                  <a:prstClr val="black"/>
                </a:solidFill>
                <a:latin typeface="微软雅黑" panose="020B0503020204020204" charset="-122"/>
                <a:ea typeface="微软雅黑" panose="020B0503020204020204" charset="-122"/>
                <a:cs typeface="Times New Roman" panose="02020603050405020304" charset="0"/>
                <a:sym typeface="+mn-ea"/>
              </a:rPr>
              <a:t>提供分角色、分版块、分业务、分场景的数据指标、任务信息看板，助力营销相关人员实时了解现状、层层深入分析、精确定位问题，直观动态反映全局运营情况，实现</a:t>
            </a:r>
            <a:r>
              <a:rPr kumimoji="1" lang="zh-CN" altLang="en-US" sz="1500" b="1" kern="100" dirty="0">
                <a:solidFill>
                  <a:schemeClr val="accent1"/>
                </a:solidFill>
                <a:latin typeface="微软雅黑" panose="020B0503020204020204" charset="-122"/>
                <a:ea typeface="微软雅黑" panose="020B0503020204020204" charset="-122"/>
                <a:cs typeface="Times New Roman" panose="02020603050405020304" charset="0"/>
                <a:sym typeface="+mn-ea"/>
              </a:rPr>
              <a:t>可视化经营，提升决策效率；</a:t>
            </a:r>
            <a:endParaRPr kumimoji="1" lang="zh-CN" altLang="en-US" sz="1500" kern="100" dirty="0">
              <a:latin typeface="微软雅黑" panose="020B0503020204020204" charset="-122"/>
              <a:ea typeface="微软雅黑" panose="020B0503020204020204" charset="-122"/>
              <a:cs typeface="Times New Roman" panose="02020603050405020304" charset="0"/>
              <a:sym typeface="+mn-ea"/>
            </a:endParaRPr>
          </a:p>
        </p:txBody>
      </p:sp>
      <p:grpSp>
        <p:nvGrpSpPr>
          <p:cNvPr id="40" name="组合 39"/>
          <p:cNvGrpSpPr/>
          <p:nvPr>
            <p:custDataLst>
              <p:tags r:id="rId1"/>
            </p:custDataLst>
          </p:nvPr>
        </p:nvGrpSpPr>
        <p:grpSpPr>
          <a:xfrm>
            <a:off x="9423400" y="2200275"/>
            <a:ext cx="2733675" cy="1005840"/>
            <a:chOff x="247593" y="1952228"/>
            <a:chExt cx="2764922" cy="1007637"/>
          </a:xfrm>
        </p:grpSpPr>
        <p:sp>
          <p:nvSpPr>
            <p:cNvPr id="24" name="矩形 23"/>
            <p:cNvSpPr/>
            <p:nvPr>
              <p:custDataLst>
                <p:tags r:id="rId2"/>
              </p:custDataLst>
            </p:nvPr>
          </p:nvSpPr>
          <p:spPr>
            <a:xfrm>
              <a:off x="247593" y="2481046"/>
              <a:ext cx="1245535" cy="369572"/>
            </a:xfrm>
            <a:prstGeom prst="rect">
              <a:avLst/>
            </a:prstGeom>
            <a:no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领导层</a:t>
              </a:r>
              <a:endParaRPr kumimoji="0" lang="zh-CN" altLang="en-US" sz="16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pic>
          <p:nvPicPr>
            <p:cNvPr id="63" name="图片 62"/>
            <p:cNvPicPr>
              <a:picLocks noChangeAspect="1"/>
            </p:cNvPicPr>
            <p:nvPr>
              <p:custDataLst>
                <p:tags r:id="rId3"/>
              </p:custDataLst>
            </p:nvPr>
          </p:nvPicPr>
          <p:blipFill>
            <a:blip r:embed="rId4">
              <a:duotone>
                <a:srgbClr val="5B9BD5">
                  <a:shade val="45000"/>
                  <a:satMod val="135000"/>
                </a:srgbClr>
                <a:prstClr val="white"/>
              </a:duotone>
            </a:blip>
            <a:stretch>
              <a:fillRect/>
            </a:stretch>
          </p:blipFill>
          <p:spPr>
            <a:xfrm>
              <a:off x="657820" y="2036461"/>
              <a:ext cx="585310" cy="442566"/>
            </a:xfrm>
            <a:prstGeom prst="rect">
              <a:avLst/>
            </a:prstGeom>
          </p:spPr>
        </p:pic>
        <p:sp>
          <p:nvSpPr>
            <p:cNvPr id="66" name="文本框 65"/>
            <p:cNvSpPr txBox="1"/>
            <p:nvPr>
              <p:custDataLst>
                <p:tags r:id="rId5"/>
              </p:custDataLst>
            </p:nvPr>
          </p:nvSpPr>
          <p:spPr>
            <a:xfrm>
              <a:off x="1169876" y="1952228"/>
              <a:ext cx="1842639" cy="1007637"/>
            </a:xfrm>
            <a:prstGeom prst="rect">
              <a:avLst/>
            </a:prstGeom>
            <a:noFill/>
          </p:spPr>
          <p:txBody>
            <a:bodyPr wrap="square" rtlCol="0">
              <a:noAutofit/>
            </a:bodyPr>
            <a:lstStyle>
              <a:defPPr>
                <a:defRPr lang="zh-CN"/>
              </a:defPPr>
              <a:lvl1pPr marL="285750" marR="0" lvl="0" indent="-285750" eaLnBrk="0" fontAlgn="base" hangingPunct="0">
                <a:lnSpc>
                  <a:spcPct val="130000"/>
                </a:lnSpc>
                <a:spcBef>
                  <a:spcPct val="0"/>
                </a:spcBef>
                <a:spcAft>
                  <a:spcPct val="0"/>
                </a:spcAft>
                <a:buClrTx/>
                <a:buSzTx/>
                <a:buFont typeface="Wingdings" panose="05000000000000000000" pitchFamily="2" charset="2"/>
                <a:buChar char="u"/>
                <a:defRPr kumimoji="1" sz="1100" b="0" i="0" u="none" strike="noStrike" cap="none" spc="0" normalizeH="0" baseline="0">
                  <a:ln>
                    <a:noFill/>
                  </a:ln>
                  <a:solidFill>
                    <a:prstClr val="black"/>
                  </a:solidFill>
                  <a:effectLst/>
                  <a:uLnTx/>
                  <a:uFillTx/>
                  <a:latin typeface="微软雅黑" panose="020B0503020204020204" charset="-122"/>
                  <a:ea typeface="微软雅黑" panose="020B0503020204020204" charset="-122"/>
                </a:defRPr>
              </a:lvl1pPr>
            </a:lstStyle>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全景可视可查</a:t>
              </a:r>
              <a:endParaRPr kumimoji="1" lang="zh-CN" altLang="en-US"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核心指标展示</a:t>
              </a:r>
              <a:endParaRPr kumimoji="1" lang="zh-CN" altLang="en-US"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全局视图</a:t>
              </a:r>
              <a:endParaRPr kumimoji="1" lang="en-US" altLang="zh-CN"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endParaRPr kumimoji="1" lang="en-US" altLang="zh-CN" sz="12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grpSp>
        <p:nvGrpSpPr>
          <p:cNvPr id="39" name="组合 38"/>
          <p:cNvGrpSpPr/>
          <p:nvPr>
            <p:custDataLst>
              <p:tags r:id="rId6"/>
            </p:custDataLst>
          </p:nvPr>
        </p:nvGrpSpPr>
        <p:grpSpPr>
          <a:xfrm>
            <a:off x="9423400" y="3938905"/>
            <a:ext cx="2981960" cy="887730"/>
            <a:chOff x="3169112" y="1952228"/>
            <a:chExt cx="3015884" cy="958142"/>
          </a:xfrm>
        </p:grpSpPr>
        <p:sp>
          <p:nvSpPr>
            <p:cNvPr id="44" name="矩形 43"/>
            <p:cNvSpPr/>
            <p:nvPr>
              <p:custDataLst>
                <p:tags r:id="rId7"/>
              </p:custDataLst>
            </p:nvPr>
          </p:nvSpPr>
          <p:spPr>
            <a:xfrm>
              <a:off x="3169112" y="2455646"/>
              <a:ext cx="1245535" cy="369572"/>
            </a:xfrm>
            <a:prstGeom prst="rect">
              <a:avLst/>
            </a:prstGeom>
            <a:no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管理层</a:t>
              </a:r>
              <a:endParaRPr kumimoji="0" lang="zh-CN" altLang="en-US" sz="16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pic>
          <p:nvPicPr>
            <p:cNvPr id="64" name="图片 63"/>
            <p:cNvPicPr>
              <a:picLocks noChangeAspect="1"/>
            </p:cNvPicPr>
            <p:nvPr>
              <p:custDataLst>
                <p:tags r:id="rId8"/>
              </p:custDataLst>
            </p:nvPr>
          </p:nvPicPr>
          <p:blipFill>
            <a:blip r:embed="rId9">
              <a:duotone>
                <a:srgbClr val="5B9BD5">
                  <a:shade val="45000"/>
                  <a:satMod val="135000"/>
                </a:srgbClr>
                <a:prstClr val="white"/>
              </a:duotone>
            </a:blip>
            <a:stretch>
              <a:fillRect/>
            </a:stretch>
          </p:blipFill>
          <p:spPr>
            <a:xfrm>
              <a:off x="3604764" y="2036461"/>
              <a:ext cx="410227" cy="419697"/>
            </a:xfrm>
            <a:prstGeom prst="rect">
              <a:avLst/>
            </a:prstGeom>
          </p:spPr>
        </p:pic>
        <p:sp>
          <p:nvSpPr>
            <p:cNvPr id="70" name="文本框 69"/>
            <p:cNvSpPr txBox="1"/>
            <p:nvPr>
              <p:custDataLst>
                <p:tags r:id="rId10"/>
              </p:custDataLst>
            </p:nvPr>
          </p:nvSpPr>
          <p:spPr>
            <a:xfrm>
              <a:off x="4063365" y="1952228"/>
              <a:ext cx="2121631" cy="958142"/>
            </a:xfrm>
            <a:prstGeom prst="rect">
              <a:avLst/>
            </a:prstGeom>
            <a:noFill/>
          </p:spPr>
          <p:txBody>
            <a:bodyPr wrap="square" rtlCol="0">
              <a:spAutoFit/>
            </a:bodyPr>
            <a:lstStyle>
              <a:defPPr>
                <a:defRPr lang="en-US"/>
              </a:defPPr>
              <a:lvl1pPr marL="285750" marR="0" lvl="0" indent="-285750" defTabSz="914400" eaLnBrk="0" fontAlgn="base" hangingPunct="0">
                <a:lnSpc>
                  <a:spcPct val="130000"/>
                </a:lnSpc>
                <a:spcBef>
                  <a:spcPts val="300"/>
                </a:spcBef>
                <a:spcAft>
                  <a:spcPct val="0"/>
                </a:spcAft>
                <a:buClrTx/>
                <a:buSzTx/>
                <a:buFont typeface="Wingdings" panose="05000000000000000000" pitchFamily="2" charset="2"/>
                <a:buChar char="u"/>
                <a:defRPr kumimoji="1" sz="1100" b="0" i="1" u="none" strike="noStrike" kern="0" cap="none" spc="0" normalizeH="0" baseline="0">
                  <a:ln>
                    <a:noFill/>
                  </a:ln>
                  <a:solidFill>
                    <a:prstClr val="black"/>
                  </a:solidFill>
                  <a:effectLst/>
                  <a:uLnTx/>
                  <a:uFillTx/>
                  <a:latin typeface="微软雅黑" panose="020B0503020204020204" charset="-122"/>
                  <a:ea typeface="微软雅黑" panose="020B0503020204020204" charset="-122"/>
                </a:defRPr>
              </a:lvl1pPr>
            </a:lstStyle>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2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事前营销分析</a:t>
              </a:r>
              <a:endParaRPr kumimoji="1" lang="en-US" altLang="zh-CN" sz="12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2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事中营销监控</a:t>
              </a:r>
              <a:endParaRPr kumimoji="1" lang="zh-CN" altLang="en-US" sz="12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2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事后营销评估</a:t>
              </a:r>
              <a:endParaRPr kumimoji="1" lang="zh-CN" altLang="en-US" sz="12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grpSp>
        <p:nvGrpSpPr>
          <p:cNvPr id="38" name="组合 37"/>
          <p:cNvGrpSpPr/>
          <p:nvPr>
            <p:custDataLst>
              <p:tags r:id="rId11"/>
            </p:custDataLst>
          </p:nvPr>
        </p:nvGrpSpPr>
        <p:grpSpPr>
          <a:xfrm>
            <a:off x="9533890" y="5558790"/>
            <a:ext cx="2785745" cy="828040"/>
            <a:chOff x="6065137" y="2010257"/>
            <a:chExt cx="2816602" cy="887189"/>
          </a:xfrm>
        </p:grpSpPr>
        <p:sp>
          <p:nvSpPr>
            <p:cNvPr id="45" name="矩形 44"/>
            <p:cNvSpPr/>
            <p:nvPr>
              <p:custDataLst>
                <p:tags r:id="rId12"/>
              </p:custDataLst>
            </p:nvPr>
          </p:nvSpPr>
          <p:spPr>
            <a:xfrm>
              <a:off x="6065137" y="2455893"/>
              <a:ext cx="1022118" cy="369435"/>
            </a:xfrm>
            <a:prstGeom prst="rect">
              <a:avLst/>
            </a:prstGeom>
            <a:no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基层一线</a:t>
              </a:r>
              <a:endParaRPr kumimoji="0" lang="zh-CN" altLang="en-US" sz="1600" b="1"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pic>
          <p:nvPicPr>
            <p:cNvPr id="65" name="图片 64"/>
            <p:cNvPicPr>
              <a:picLocks noChangeAspect="1"/>
            </p:cNvPicPr>
            <p:nvPr>
              <p:custDataLst>
                <p:tags r:id="rId13"/>
              </p:custDataLst>
            </p:nvPr>
          </p:nvPicPr>
          <p:blipFill>
            <a:blip r:embed="rId14">
              <a:duotone>
                <a:srgbClr val="5B9BD5">
                  <a:shade val="45000"/>
                  <a:satMod val="135000"/>
                </a:srgbClr>
                <a:prstClr val="white"/>
              </a:duotone>
            </a:blip>
            <a:stretch>
              <a:fillRect/>
            </a:stretch>
          </p:blipFill>
          <p:spPr>
            <a:xfrm>
              <a:off x="6335169" y="2036461"/>
              <a:ext cx="414210" cy="412761"/>
            </a:xfrm>
            <a:prstGeom prst="rect">
              <a:avLst/>
            </a:prstGeom>
          </p:spPr>
        </p:pic>
        <p:sp>
          <p:nvSpPr>
            <p:cNvPr id="71" name="文本框 70"/>
            <p:cNvSpPr txBox="1"/>
            <p:nvPr>
              <p:custDataLst>
                <p:tags r:id="rId15"/>
              </p:custDataLst>
            </p:nvPr>
          </p:nvSpPr>
          <p:spPr>
            <a:xfrm>
              <a:off x="6888088" y="2010257"/>
              <a:ext cx="1993651" cy="887189"/>
            </a:xfrm>
            <a:prstGeom prst="rect">
              <a:avLst/>
            </a:prstGeom>
            <a:noFill/>
          </p:spPr>
          <p:txBody>
            <a:bodyPr wrap="square" rtlCol="0">
              <a:spAutoFit/>
            </a:bodyPr>
            <a:lstStyle>
              <a:defPPr>
                <a:defRPr lang="en-US"/>
              </a:defPPr>
              <a:lvl1pPr marL="285750" marR="0" lvl="0" indent="-285750" defTabSz="914400" eaLnBrk="0" fontAlgn="base" hangingPunct="0">
                <a:lnSpc>
                  <a:spcPct val="130000"/>
                </a:lnSpc>
                <a:spcBef>
                  <a:spcPts val="300"/>
                </a:spcBef>
                <a:spcAft>
                  <a:spcPct val="0"/>
                </a:spcAft>
                <a:buClrTx/>
                <a:buSzTx/>
                <a:buFont typeface="Wingdings" panose="05000000000000000000" pitchFamily="2" charset="2"/>
                <a:buChar char="u"/>
                <a:defRPr kumimoji="1" sz="1100" b="0" i="1" u="none" strike="noStrike" kern="0" cap="none" spc="0" normalizeH="0" baseline="0">
                  <a:ln>
                    <a:noFill/>
                  </a:ln>
                  <a:solidFill>
                    <a:prstClr val="black"/>
                  </a:solidFill>
                  <a:effectLst/>
                  <a:uLnTx/>
                  <a:uFillTx/>
                  <a:latin typeface="微软雅黑" panose="020B0503020204020204" charset="-122"/>
                  <a:ea typeface="微软雅黑" panose="020B0503020204020204" charset="-122"/>
                </a:defRPr>
              </a:lvl1pPr>
            </a:lstStyle>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1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任务进度</a:t>
              </a:r>
              <a:endParaRPr kumimoji="1" lang="en-US" altLang="zh-CN" sz="11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1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营销执行监控</a:t>
              </a:r>
              <a:endParaRPr kumimoji="1" lang="en-US" altLang="zh-CN" sz="11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285750" marR="0" lvl="0" indent="-285750" algn="l" defTabSz="914400" rtl="0" eaLnBrk="0" fontAlgn="base" latinLnBrk="0" hangingPunct="0">
                <a:lnSpc>
                  <a:spcPct val="130000"/>
                </a:lnSpc>
                <a:spcBef>
                  <a:spcPts val="300"/>
                </a:spcBef>
                <a:spcAft>
                  <a:spcPct val="0"/>
                </a:spcAft>
                <a:buClrTx/>
                <a:buSzTx/>
                <a:buFont typeface="Wingdings" panose="05000000000000000000" pitchFamily="2" charset="2"/>
                <a:buChar char="u"/>
                <a:defRPr/>
              </a:pPr>
              <a:r>
                <a:rPr kumimoji="1" lang="zh-CN" altLang="en-US" sz="1100" b="1" i="0" u="none" strike="noStrike" kern="0" cap="none" spc="0" normalizeH="0" baseline="0" noProof="0" dirty="0">
                  <a:ln>
                    <a:noFill/>
                  </a:ln>
                  <a:solidFill>
                    <a:schemeClr val="accent1"/>
                  </a:solidFill>
                  <a:effectLst/>
                  <a:uLnTx/>
                  <a:uFillTx/>
                </a:rPr>
                <a:t>结果反馈</a:t>
              </a:r>
              <a:endParaRPr kumimoji="1" lang="zh-CN" altLang="en-US" sz="1100" b="1" i="0" u="none" strike="noStrike" kern="0" cap="none" spc="0" normalizeH="0" baseline="0" noProof="0" dirty="0">
                <a:ln>
                  <a:noFill/>
                </a:ln>
                <a:solidFill>
                  <a:schemeClr val="accent1"/>
                </a:solidFill>
                <a:effectLst/>
                <a:uLnTx/>
                <a:uFillTx/>
              </a:endParaRPr>
            </a:p>
          </p:txBody>
        </p:sp>
      </p:grpSp>
      <p:pic>
        <p:nvPicPr>
          <p:cNvPr id="7" name="图片 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29895" y="2388235"/>
            <a:ext cx="1562100" cy="1143635"/>
          </a:xfrm>
          <a:prstGeom prst="rect">
            <a:avLst/>
          </a:prstGeom>
        </p:spPr>
      </p:pic>
      <p:pic>
        <p:nvPicPr>
          <p:cNvPr id="8" name="图片 7"/>
          <p:cNvPicPr>
            <a:picLocks noChangeAspect="1"/>
          </p:cNvPicPr>
          <p:nvPr/>
        </p:nvPicPr>
        <p:blipFill>
          <a:blip r:embed="rId17"/>
          <a:stretch>
            <a:fillRect/>
          </a:stretch>
        </p:blipFill>
        <p:spPr>
          <a:xfrm>
            <a:off x="429895" y="4008755"/>
            <a:ext cx="1561465" cy="1060450"/>
          </a:xfrm>
          <a:prstGeom prst="rect">
            <a:avLst/>
          </a:prstGeom>
        </p:spPr>
      </p:pic>
      <p:pic>
        <p:nvPicPr>
          <p:cNvPr id="9" name="图片 8"/>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298700" y="2388235"/>
            <a:ext cx="1562100" cy="1144270"/>
          </a:xfrm>
          <a:prstGeom prst="rect">
            <a:avLst/>
          </a:prstGeom>
        </p:spPr>
      </p:pic>
      <p:pic>
        <p:nvPicPr>
          <p:cNvPr id="10" name="图片 9"/>
          <p:cNvPicPr>
            <a:picLocks noChangeAspect="1"/>
          </p:cNvPicPr>
          <p:nvPr/>
        </p:nvPicPr>
        <p:blipFill>
          <a:blip r:embed="rId19"/>
          <a:srcRect b="46349"/>
          <a:stretch>
            <a:fillRect/>
          </a:stretch>
        </p:blipFill>
        <p:spPr>
          <a:xfrm>
            <a:off x="2298700" y="4008755"/>
            <a:ext cx="1559560" cy="1058545"/>
          </a:xfrm>
          <a:prstGeom prst="rect">
            <a:avLst/>
          </a:prstGeom>
        </p:spPr>
      </p:pic>
      <p:pic>
        <p:nvPicPr>
          <p:cNvPr id="12" name="图片 11"/>
          <p:cNvPicPr>
            <a:picLocks noChangeAspect="1"/>
          </p:cNvPicPr>
          <p:nvPr/>
        </p:nvPicPr>
        <p:blipFill>
          <a:blip r:embed="rId20" cstate="print">
            <a:extLst>
              <a:ext uri="{28A0092B-C50C-407E-A947-70E740481C1C}">
                <a14:useLocalDpi xmlns:a14="http://schemas.microsoft.com/office/drawing/2010/main" val="0"/>
              </a:ext>
            </a:extLst>
          </a:blip>
          <a:srcRect b="54434"/>
          <a:stretch>
            <a:fillRect/>
          </a:stretch>
        </p:blipFill>
        <p:spPr>
          <a:xfrm>
            <a:off x="6025515" y="4008755"/>
            <a:ext cx="1546860" cy="1061085"/>
          </a:xfrm>
          <a:prstGeom prst="rect">
            <a:avLst/>
          </a:prstGeom>
        </p:spPr>
      </p:pic>
      <p:pic>
        <p:nvPicPr>
          <p:cNvPr id="13" name="图片 12"/>
          <p:cNvPicPr>
            <a:picLocks noChangeAspect="1"/>
          </p:cNvPicPr>
          <p:nvPr/>
        </p:nvPicPr>
        <p:blipFill>
          <a:blip r:embed="rId21"/>
          <a:stretch>
            <a:fillRect/>
          </a:stretch>
        </p:blipFill>
        <p:spPr>
          <a:xfrm>
            <a:off x="6026150" y="2388235"/>
            <a:ext cx="1551940" cy="1144270"/>
          </a:xfrm>
          <a:prstGeom prst="rect">
            <a:avLst/>
          </a:prstGeom>
        </p:spPr>
      </p:pic>
      <p:pic>
        <p:nvPicPr>
          <p:cNvPr id="14" name="图片 13"/>
          <p:cNvPicPr>
            <a:picLocks noChangeAspect="1"/>
          </p:cNvPicPr>
          <p:nvPr/>
        </p:nvPicPr>
        <p:blipFill>
          <a:blip r:embed="rId22"/>
          <a:stretch>
            <a:fillRect/>
          </a:stretch>
        </p:blipFill>
        <p:spPr>
          <a:xfrm>
            <a:off x="4167505" y="2388235"/>
            <a:ext cx="1551940" cy="1143635"/>
          </a:xfrm>
          <a:prstGeom prst="rect">
            <a:avLst/>
          </a:prstGeom>
        </p:spPr>
      </p:pic>
      <p:pic>
        <p:nvPicPr>
          <p:cNvPr id="15" name="图片 14"/>
          <p:cNvPicPr>
            <a:picLocks noChangeAspect="1"/>
          </p:cNvPicPr>
          <p:nvPr/>
        </p:nvPicPr>
        <p:blipFill>
          <a:blip r:embed="rId23"/>
          <a:stretch>
            <a:fillRect/>
          </a:stretch>
        </p:blipFill>
        <p:spPr>
          <a:xfrm>
            <a:off x="4165600" y="4008755"/>
            <a:ext cx="1552575" cy="1057910"/>
          </a:xfrm>
          <a:prstGeom prst="rect">
            <a:avLst/>
          </a:prstGeom>
        </p:spPr>
      </p:pic>
      <p:sp>
        <p:nvSpPr>
          <p:cNvPr id="16" name="文本框 15"/>
          <p:cNvSpPr txBox="1"/>
          <p:nvPr/>
        </p:nvSpPr>
        <p:spPr>
          <a:xfrm>
            <a:off x="694690" y="3607435"/>
            <a:ext cx="1031240"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整体概览看板</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17" name="文本框 16"/>
          <p:cNvSpPr txBox="1"/>
          <p:nvPr/>
        </p:nvSpPr>
        <p:spPr>
          <a:xfrm>
            <a:off x="615315" y="5191125"/>
            <a:ext cx="1031240"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个人工作概览</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18" name="文本框 17"/>
          <p:cNvSpPr txBox="1"/>
          <p:nvPr/>
        </p:nvSpPr>
        <p:spPr>
          <a:xfrm>
            <a:off x="2559050" y="3607435"/>
            <a:ext cx="1030605"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合约续约看板</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19" name="文本框 18"/>
          <p:cNvSpPr txBox="1"/>
          <p:nvPr/>
        </p:nvSpPr>
        <p:spPr>
          <a:xfrm>
            <a:off x="7933690" y="5191125"/>
            <a:ext cx="1030605"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携转视图</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pic>
        <p:nvPicPr>
          <p:cNvPr id="20" name="图片 19"/>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734300" y="2388235"/>
            <a:ext cx="1429385" cy="2678430"/>
          </a:xfrm>
          <a:prstGeom prst="rect">
            <a:avLst/>
          </a:prstGeom>
        </p:spPr>
      </p:pic>
      <p:sp>
        <p:nvSpPr>
          <p:cNvPr id="21" name="文本框 20"/>
          <p:cNvSpPr txBox="1"/>
          <p:nvPr/>
        </p:nvSpPr>
        <p:spPr>
          <a:xfrm>
            <a:off x="6134100" y="3607435"/>
            <a:ext cx="1340485"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存量营销闭环视图</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22" name="文本框 21"/>
          <p:cNvSpPr txBox="1"/>
          <p:nvPr/>
        </p:nvSpPr>
        <p:spPr>
          <a:xfrm>
            <a:off x="4422775" y="3607435"/>
            <a:ext cx="1030605"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存量业务视图</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23" name="文本框 22"/>
          <p:cNvSpPr txBox="1"/>
          <p:nvPr/>
        </p:nvSpPr>
        <p:spPr>
          <a:xfrm>
            <a:off x="6287135" y="5191125"/>
            <a:ext cx="1030605"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网格分派视图</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25" name="文本框 24"/>
          <p:cNvSpPr txBox="1"/>
          <p:nvPr/>
        </p:nvSpPr>
        <p:spPr>
          <a:xfrm>
            <a:off x="4251325" y="5191125"/>
            <a:ext cx="1385570"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中高价值客户视图</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26" name="文本框 25"/>
          <p:cNvSpPr txBox="1"/>
          <p:nvPr/>
        </p:nvSpPr>
        <p:spPr>
          <a:xfrm>
            <a:off x="2371725" y="5191125"/>
            <a:ext cx="1317625" cy="260350"/>
          </a:xfrm>
          <a:prstGeom prst="rect">
            <a:avLst/>
          </a:prstGeom>
          <a:noFill/>
          <a:ln>
            <a:solidFill>
              <a:srgbClr val="0070C0"/>
            </a:solidFill>
            <a:prstDash val="sysDash"/>
          </a:ln>
        </p:spPr>
        <p:txBody>
          <a:bodyPr wrap="square" rtlCol="0">
            <a:spAutoFit/>
          </a:bodyPr>
          <a:lstStyle/>
          <a:p>
            <a:pPr algn="ctr"/>
            <a:r>
              <a:rPr kumimoji="1" lang="zh-CN" altLang="en-US" sz="1100" dirty="0">
                <a:solidFill>
                  <a:schemeClr val="tx1">
                    <a:lumMod val="50000"/>
                    <a:lumOff val="50000"/>
                  </a:schemeClr>
                </a:solidFill>
                <a:latin typeface="微软雅黑" panose="020B0503020204020204" charset="-122"/>
                <a:ea typeface="微软雅黑" panose="020B0503020204020204" charset="-122"/>
              </a:rPr>
              <a:t>合约续约营销闭环</a:t>
            </a:r>
            <a:endParaRPr kumimoji="1"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28" name="矩形 27"/>
          <p:cNvSpPr/>
          <p:nvPr/>
        </p:nvSpPr>
        <p:spPr>
          <a:xfrm>
            <a:off x="337185" y="2273300"/>
            <a:ext cx="1749425" cy="323405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9" name="矩形 28"/>
          <p:cNvSpPr/>
          <p:nvPr/>
        </p:nvSpPr>
        <p:spPr>
          <a:xfrm>
            <a:off x="2159635" y="2273300"/>
            <a:ext cx="1749425" cy="323405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0" name="矩形 29"/>
          <p:cNvSpPr/>
          <p:nvPr/>
        </p:nvSpPr>
        <p:spPr>
          <a:xfrm>
            <a:off x="3974465" y="2273300"/>
            <a:ext cx="5260975" cy="323405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矩形 30"/>
          <p:cNvSpPr/>
          <p:nvPr/>
        </p:nvSpPr>
        <p:spPr>
          <a:xfrm>
            <a:off x="431165" y="1937385"/>
            <a:ext cx="1523365" cy="41910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latin typeface="微软雅黑" panose="020B0503020204020204" charset="-122"/>
                <a:ea typeface="微软雅黑" panose="020B0503020204020204" charset="-122"/>
              </a:rPr>
              <a:t>首页</a:t>
            </a:r>
            <a:r>
              <a:rPr lang="en-US" altLang="zh-CN" sz="1600" b="1">
                <a:solidFill>
                  <a:schemeClr val="tx1"/>
                </a:solidFill>
                <a:latin typeface="微软雅黑" panose="020B0503020204020204" charset="-122"/>
                <a:ea typeface="微软雅黑" panose="020B0503020204020204" charset="-122"/>
              </a:rPr>
              <a:t>-</a:t>
            </a:r>
            <a:endParaRPr lang="en-US" altLang="zh-CN" sz="1600" b="1">
              <a:solidFill>
                <a:schemeClr val="tx1"/>
              </a:solidFill>
              <a:latin typeface="微软雅黑" panose="020B0503020204020204" charset="-122"/>
              <a:ea typeface="微软雅黑" panose="020B0503020204020204" charset="-122"/>
            </a:endParaRPr>
          </a:p>
          <a:p>
            <a:pPr algn="ctr"/>
            <a:r>
              <a:rPr lang="zh-CN" altLang="en-US" sz="1600" b="1">
                <a:solidFill>
                  <a:schemeClr val="tx1"/>
                </a:solidFill>
                <a:latin typeface="微软雅黑" panose="020B0503020204020204" charset="-122"/>
                <a:ea typeface="微软雅黑" panose="020B0503020204020204" charset="-122"/>
              </a:rPr>
              <a:t>整体数据</a:t>
            </a:r>
            <a:r>
              <a:rPr lang="zh-CN" altLang="en-US" sz="1600" b="1">
                <a:solidFill>
                  <a:schemeClr val="tx1"/>
                </a:solidFill>
                <a:latin typeface="微软雅黑" panose="020B0503020204020204" charset="-122"/>
                <a:ea typeface="微软雅黑" panose="020B0503020204020204" charset="-122"/>
              </a:rPr>
              <a:t>概览</a:t>
            </a:r>
            <a:endParaRPr lang="zh-CN" altLang="en-US" sz="1600" b="1">
              <a:solidFill>
                <a:schemeClr val="tx1"/>
              </a:solidFill>
              <a:latin typeface="微软雅黑" panose="020B0503020204020204" charset="-122"/>
              <a:ea typeface="微软雅黑" panose="020B0503020204020204" charset="-122"/>
            </a:endParaRPr>
          </a:p>
        </p:txBody>
      </p:sp>
      <p:sp>
        <p:nvSpPr>
          <p:cNvPr id="32" name="矩形 31"/>
          <p:cNvSpPr/>
          <p:nvPr/>
        </p:nvSpPr>
        <p:spPr>
          <a:xfrm>
            <a:off x="2244725" y="1993265"/>
            <a:ext cx="1552575" cy="2908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latin typeface="微软雅黑" panose="020B0503020204020204" charset="-122"/>
                <a:ea typeface="微软雅黑" panose="020B0503020204020204" charset="-122"/>
              </a:rPr>
              <a:t>首页</a:t>
            </a:r>
            <a:r>
              <a:rPr lang="en-US" altLang="zh-CN" sz="1600" b="1">
                <a:solidFill>
                  <a:schemeClr val="tx1"/>
                </a:solidFill>
                <a:latin typeface="微软雅黑" panose="020B0503020204020204" charset="-122"/>
                <a:ea typeface="微软雅黑" panose="020B0503020204020204" charset="-122"/>
              </a:rPr>
              <a:t>—</a:t>
            </a:r>
            <a:endParaRPr lang="en-US" altLang="zh-CN" sz="1600" b="1">
              <a:solidFill>
                <a:schemeClr val="tx1"/>
              </a:solidFill>
              <a:latin typeface="微软雅黑" panose="020B0503020204020204" charset="-122"/>
              <a:ea typeface="微软雅黑" panose="020B0503020204020204" charset="-122"/>
            </a:endParaRPr>
          </a:p>
          <a:p>
            <a:pPr algn="ctr"/>
            <a:r>
              <a:rPr lang="zh-CN" altLang="en-US" sz="1600" b="1">
                <a:solidFill>
                  <a:schemeClr val="tx1"/>
                </a:solidFill>
                <a:latin typeface="微软雅黑" panose="020B0503020204020204" charset="-122"/>
                <a:ea typeface="微软雅黑" panose="020B0503020204020204" charset="-122"/>
              </a:rPr>
              <a:t>合约业务</a:t>
            </a:r>
            <a:r>
              <a:rPr lang="zh-CN" altLang="en-US" sz="1600" b="1">
                <a:solidFill>
                  <a:schemeClr val="tx1"/>
                </a:solidFill>
                <a:latin typeface="微软雅黑" panose="020B0503020204020204" charset="-122"/>
                <a:ea typeface="微软雅黑" panose="020B0503020204020204" charset="-122"/>
              </a:rPr>
              <a:t>视图</a:t>
            </a:r>
            <a:endParaRPr lang="zh-CN" altLang="en-US" sz="1600" b="1">
              <a:solidFill>
                <a:schemeClr val="tx1"/>
              </a:solidFill>
              <a:latin typeface="微软雅黑" panose="020B0503020204020204" charset="-122"/>
              <a:ea typeface="微软雅黑" panose="020B0503020204020204" charset="-122"/>
            </a:endParaRPr>
          </a:p>
        </p:txBody>
      </p:sp>
      <p:sp>
        <p:nvSpPr>
          <p:cNvPr id="33" name="矩形 32"/>
          <p:cNvSpPr/>
          <p:nvPr/>
        </p:nvSpPr>
        <p:spPr>
          <a:xfrm>
            <a:off x="4421505" y="1935480"/>
            <a:ext cx="4234815" cy="3778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rPr>
              <a:t>首页</a:t>
            </a:r>
            <a:r>
              <a:rPr lang="en-US" altLang="zh-CN" sz="1600" b="1">
                <a:solidFill>
                  <a:schemeClr val="tx1"/>
                </a:solidFill>
              </a:rPr>
              <a:t>——</a:t>
            </a:r>
            <a:endParaRPr lang="en-US" altLang="zh-CN" sz="1600" b="1">
              <a:solidFill>
                <a:schemeClr val="tx1"/>
              </a:solidFill>
            </a:endParaRPr>
          </a:p>
          <a:p>
            <a:pPr algn="ctr"/>
            <a:r>
              <a:rPr lang="zh-CN" altLang="en-US" sz="1600" b="1">
                <a:solidFill>
                  <a:schemeClr val="tx1"/>
                </a:solidFill>
              </a:rPr>
              <a:t>存量业务</a:t>
            </a:r>
            <a:r>
              <a:rPr lang="zh-CN" altLang="en-US" sz="1600" b="1">
                <a:solidFill>
                  <a:schemeClr val="tx1"/>
                </a:solidFill>
              </a:rPr>
              <a:t>视图</a:t>
            </a:r>
            <a:endParaRPr lang="zh-CN" altLang="en-US" sz="1600" b="1">
              <a:solidFill>
                <a:schemeClr val="tx1"/>
              </a:solidFill>
            </a:endParaRPr>
          </a:p>
        </p:txBody>
      </p:sp>
      <p:grpSp>
        <p:nvGrpSpPr>
          <p:cNvPr id="58" name="组合 57"/>
          <p:cNvGrpSpPr/>
          <p:nvPr/>
        </p:nvGrpSpPr>
        <p:grpSpPr>
          <a:xfrm rot="5400000">
            <a:off x="7923530" y="3658870"/>
            <a:ext cx="2967355" cy="254635"/>
            <a:chOff x="1549061" y="2688799"/>
            <a:chExt cx="6181358" cy="404747"/>
          </a:xfrm>
          <a:solidFill>
            <a:schemeClr val="accent1">
              <a:lumMod val="20000"/>
              <a:lumOff val="80000"/>
            </a:schemeClr>
          </a:solidFill>
        </p:grpSpPr>
        <p:sp>
          <p:nvSpPr>
            <p:cNvPr id="59" name="箭头: 下 17"/>
            <p:cNvSpPr/>
            <p:nvPr/>
          </p:nvSpPr>
          <p:spPr>
            <a:xfrm flipV="1">
              <a:off x="1549061" y="2688799"/>
              <a:ext cx="6181358" cy="404747"/>
            </a:xfrm>
            <a:prstGeom prst="downArrow">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60" name="MH_Text_1"/>
            <p:cNvSpPr txBox="1"/>
            <p:nvPr>
              <p:custDataLst>
                <p:tags r:id="rId25"/>
              </p:custDataLst>
            </p:nvPr>
          </p:nvSpPr>
          <p:spPr>
            <a:xfrm>
              <a:off x="3669571" y="2758253"/>
              <a:ext cx="1837764" cy="272334"/>
            </a:xfrm>
            <a:prstGeom prst="rect">
              <a:avLst/>
            </a:prstGeom>
            <a:grpFill/>
            <a:ln w="9525">
              <a:noFill/>
              <a:prstDash val="sysDot"/>
              <a:miter lim="800000"/>
            </a:ln>
          </p:spPr>
          <p:txBody>
            <a:bodyPr wrap="square" anchor="ctr">
              <a:noAutofit/>
            </a:bodyPr>
            <a:lstStyle>
              <a:defPPr>
                <a:defRPr lang="zh-CN"/>
              </a:defPPr>
              <a:lvl1pPr eaLnBrk="1" hangingPunct="1">
                <a:lnSpc>
                  <a:spcPct val="150000"/>
                </a:lnSpc>
                <a:defRPr sz="1100">
                  <a:solidFill>
                    <a:schemeClr val="bg1"/>
                  </a:solidFill>
                  <a:latin typeface="微软雅黑" panose="020B0503020204020204" charset="-122"/>
                  <a:ea typeface="微软雅黑" panose="020B0503020204020204" charset="-122"/>
                </a:defRPr>
              </a:lvl1pPr>
              <a:lvl2pPr marL="742950" indent="-285750"/>
              <a:lvl3pPr marL="1143000" indent="-228600"/>
              <a:lvl4pPr marL="1600200" indent="-228600"/>
              <a:lvl5pPr marL="2057400" indent="-228600"/>
              <a:lvl6pPr marL="2514600" indent="-228600" defTabSz="685800" eaLnBrk="0" fontAlgn="base" hangingPunct="0">
                <a:spcBef>
                  <a:spcPct val="0"/>
                </a:spcBef>
                <a:spcAft>
                  <a:spcPct val="0"/>
                </a:spcAft>
                <a:buFont typeface="Arial" panose="020B0604020202020204" pitchFamily="34" charset="0"/>
              </a:lvl6pPr>
              <a:lvl7pPr marL="2971800" indent="-228600" defTabSz="685800" eaLnBrk="0" fontAlgn="base" hangingPunct="0">
                <a:spcBef>
                  <a:spcPct val="0"/>
                </a:spcBef>
                <a:spcAft>
                  <a:spcPct val="0"/>
                </a:spcAft>
                <a:buFont typeface="Arial" panose="020B0604020202020204" pitchFamily="34" charset="0"/>
              </a:lvl7pPr>
              <a:lvl8pPr marL="3429000" indent="-228600" defTabSz="685800" eaLnBrk="0" fontAlgn="base" hangingPunct="0">
                <a:spcBef>
                  <a:spcPct val="0"/>
                </a:spcBef>
                <a:spcAft>
                  <a:spcPct val="0"/>
                </a:spcAft>
                <a:buFont typeface="Arial" panose="020B0604020202020204" pitchFamily="34" charset="0"/>
              </a:lvl8pPr>
              <a:lvl9pPr marL="3886200" indent="-228600" defTabSz="685800" eaLnBrk="0" fontAlgn="base" hangingPunct="0">
                <a:spcBef>
                  <a:spcPct val="0"/>
                </a:spcBef>
                <a:spcAft>
                  <a:spcPct val="0"/>
                </a:spcAft>
                <a:buFont typeface="Arial" panose="020B0604020202020204" pitchFamily="34" charset="0"/>
              </a:lvl9pPr>
            </a:lstStyle>
            <a:p>
              <a:pPr marL="0" marR="0" lvl="0" indent="0" algn="ctr" defTabSz="914400" rtl="0" eaLnBrk="1" fontAlgn="base" latinLnBrk="0" hangingPunct="1">
                <a:lnSpc>
                  <a:spcPct val="110000"/>
                </a:lnSpc>
                <a:spcBef>
                  <a:spcPts val="300"/>
                </a:spcBef>
                <a:spcAft>
                  <a:spcPct val="0"/>
                </a:spcAft>
                <a:buClrTx/>
                <a:buSzTx/>
                <a:buFontTx/>
                <a:buNone/>
                <a:defRPr/>
              </a:pPr>
              <a:endParaRPr kumimoji="0" lang="zh-CN" altLang="en-US" sz="1600" b="1" i="0" u="none" strike="noStrike" kern="1200" cap="none" spc="0" normalizeH="0" baseline="0" noProof="0" dirty="0">
                <a:ln>
                  <a:noFill/>
                </a:ln>
                <a:effectLst/>
                <a:uLnTx/>
                <a:uFillTx/>
                <a:latin typeface="Arial" panose="020B0604020202020204"/>
                <a:ea typeface="微软雅黑" panose="020B0503020204020204" charset="-122"/>
                <a:cs typeface="+mn-cs"/>
              </a:endParaRPr>
            </a:p>
          </p:txBody>
        </p:sp>
      </p:grpSp>
      <p:sp>
        <p:nvSpPr>
          <p:cNvPr id="35" name="文本框 34"/>
          <p:cNvSpPr txBox="1"/>
          <p:nvPr/>
        </p:nvSpPr>
        <p:spPr>
          <a:xfrm>
            <a:off x="323215" y="5546725"/>
            <a:ext cx="1763395" cy="1227455"/>
          </a:xfrm>
          <a:prstGeom prst="rect">
            <a:avLst/>
          </a:prstGeom>
          <a:noFill/>
        </p:spPr>
        <p:txBody>
          <a:bodyPr wrap="square" rtlCol="0">
            <a:noAutofit/>
          </a:bodyPr>
          <a:lstStyle/>
          <a:p>
            <a:pPr>
              <a:lnSpc>
                <a:spcPct val="110000"/>
              </a:lnSpc>
              <a:spcBef>
                <a:spcPts val="0"/>
              </a:spcBef>
              <a:spcAft>
                <a:spcPts val="0"/>
              </a:spcAft>
            </a:pPr>
            <a:r>
              <a:rPr lang="zh-CN" altLang="en-US" sz="1000" b="1">
                <a:latin typeface="微软雅黑" panose="020B0503020204020204" charset="-122"/>
                <a:ea typeface="微软雅黑" panose="020B0503020204020204" charset="-122"/>
                <a:cs typeface="微软雅黑" panose="020B0503020204020204" charset="-122"/>
              </a:rPr>
              <a:t>整体数据概览</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可查看平台使用情况，生产工单、任务接收、活动配置等</a:t>
            </a:r>
            <a:endParaRPr lang="zh-CN" altLang="en-US" sz="1000">
              <a:latin typeface="微软雅黑" panose="020B0503020204020204" charset="-122"/>
              <a:ea typeface="微软雅黑" panose="020B0503020204020204" charset="-122"/>
              <a:cs typeface="微软雅黑" panose="020B0503020204020204" charset="-122"/>
            </a:endParaRPr>
          </a:p>
          <a:p>
            <a:pPr>
              <a:lnSpc>
                <a:spcPct val="110000"/>
              </a:lnSpc>
              <a:spcBef>
                <a:spcPts val="0"/>
              </a:spcBef>
              <a:spcAft>
                <a:spcPts val="0"/>
              </a:spcAft>
            </a:pPr>
            <a:r>
              <a:rPr lang="zh-CN" altLang="en-US" sz="1000" b="1">
                <a:latin typeface="微软雅黑" panose="020B0503020204020204" charset="-122"/>
                <a:ea typeface="微软雅黑" panose="020B0503020204020204" charset="-122"/>
                <a:cs typeface="微软雅黑" panose="020B0503020204020204" charset="-122"/>
              </a:rPr>
              <a:t>个人工作概览</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可查看自己的任、审批、督办等同时支撑快捷跳转</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2086610" y="5543550"/>
            <a:ext cx="1873885" cy="1152525"/>
          </a:xfrm>
          <a:prstGeom prst="rect">
            <a:avLst/>
          </a:prstGeom>
          <a:noFill/>
        </p:spPr>
        <p:txBody>
          <a:bodyPr wrap="square" rtlCol="0">
            <a:noAutofit/>
          </a:bodyPr>
          <a:lstStyle/>
          <a:p>
            <a:pPr>
              <a:lnSpc>
                <a:spcPct val="110000"/>
              </a:lnSpc>
              <a:spcBef>
                <a:spcPts val="0"/>
              </a:spcBef>
              <a:spcAft>
                <a:spcPts val="0"/>
              </a:spcAft>
            </a:pPr>
            <a:r>
              <a:rPr lang="zh-CN" altLang="en-US" sz="1000" b="1">
                <a:latin typeface="微软雅黑" panose="020B0503020204020204" charset="-122"/>
                <a:ea typeface="微软雅黑" panose="020B0503020204020204" charset="-122"/>
              </a:rPr>
              <a:t>合约续约看板：</a:t>
            </a:r>
            <a:r>
              <a:rPr lang="zh-CN" altLang="en-US" sz="1000">
                <a:latin typeface="微软雅黑" panose="020B0503020204020204" charset="-122"/>
                <a:ea typeface="微软雅黑" panose="020B0503020204020204" charset="-122"/>
              </a:rPr>
              <a:t>整体数据概览可查看平台使用情况，生产工单、任务接收、活动配置等</a:t>
            </a:r>
            <a:endParaRPr lang="zh-CN" altLang="en-US" sz="1000">
              <a:latin typeface="微软雅黑" panose="020B0503020204020204" charset="-122"/>
              <a:ea typeface="微软雅黑" panose="020B0503020204020204" charset="-122"/>
            </a:endParaRPr>
          </a:p>
          <a:p>
            <a:pPr>
              <a:lnSpc>
                <a:spcPct val="110000"/>
              </a:lnSpc>
              <a:spcBef>
                <a:spcPts val="0"/>
              </a:spcBef>
              <a:spcAft>
                <a:spcPts val="0"/>
              </a:spcAft>
            </a:pPr>
            <a:r>
              <a:rPr lang="zh-CN" altLang="en-US" sz="1000" b="1">
                <a:latin typeface="微软雅黑" panose="020B0503020204020204" charset="-122"/>
                <a:ea typeface="微软雅黑" panose="020B0503020204020204" charset="-122"/>
              </a:rPr>
              <a:t>营销执行闭环：</a:t>
            </a:r>
            <a:r>
              <a:rPr lang="zh-CN" altLang="en-US" sz="1000">
                <a:latin typeface="微软雅黑" panose="020B0503020204020204" charset="-122"/>
                <a:ea typeface="微软雅黑" panose="020B0503020204020204" charset="-122"/>
              </a:rPr>
              <a:t>业务人员通过个人工作概览可查看自己的任、审批、督办等同时支撑快捷跳转</a:t>
            </a:r>
            <a:endParaRPr lang="zh-CN" altLang="en-US" sz="1000">
              <a:latin typeface="微软雅黑" panose="020B0503020204020204" charset="-122"/>
              <a:ea typeface="微软雅黑" panose="020B0503020204020204" charset="-122"/>
            </a:endParaRPr>
          </a:p>
        </p:txBody>
      </p:sp>
      <p:sp>
        <p:nvSpPr>
          <p:cNvPr id="37" name="文本框 36"/>
          <p:cNvSpPr txBox="1"/>
          <p:nvPr/>
        </p:nvSpPr>
        <p:spPr>
          <a:xfrm>
            <a:off x="3979545" y="5612765"/>
            <a:ext cx="5255895" cy="860425"/>
          </a:xfrm>
          <a:prstGeom prst="rect">
            <a:avLst/>
          </a:prstGeom>
          <a:noFill/>
        </p:spPr>
        <p:txBody>
          <a:bodyPr wrap="square" rtlCol="0">
            <a:spAutoFit/>
          </a:bodyPr>
          <a:lstStyle/>
          <a:p>
            <a:r>
              <a:rPr lang="zh-CN" altLang="en-US" sz="1000" b="1" dirty="0">
                <a:latin typeface="微软雅黑" panose="020B0503020204020204" charset="-122"/>
                <a:ea typeface="微软雅黑" panose="020B0503020204020204" charset="-122"/>
              </a:rPr>
              <a:t>存量业务视图：</a:t>
            </a:r>
            <a:r>
              <a:rPr lang="zh-CN" altLang="en-US" sz="1000" dirty="0">
                <a:latin typeface="微软雅黑" panose="020B0503020204020204" charset="-122"/>
                <a:ea typeface="微软雅黑" panose="020B0503020204020204" charset="-122"/>
              </a:rPr>
              <a:t>分为整体存量业务视图、中高价值客户视图、高价值客户视图、营销闭环视图</a:t>
            </a:r>
            <a:endParaRPr lang="zh-CN" altLang="en-US" sz="1000" dirty="0">
              <a:latin typeface="微软雅黑" panose="020B0503020204020204" charset="-122"/>
              <a:ea typeface="微软雅黑" panose="020B0503020204020204" charset="-122"/>
            </a:endParaRPr>
          </a:p>
          <a:p>
            <a:r>
              <a:rPr lang="zh-CN" altLang="en-US" sz="1000" b="1" dirty="0">
                <a:latin typeface="微软雅黑" panose="020B0503020204020204" charset="-122"/>
                <a:ea typeface="微软雅黑" panose="020B0503020204020204" charset="-122"/>
              </a:rPr>
              <a:t>网格分配视图：</a:t>
            </a:r>
            <a:r>
              <a:rPr lang="zh-CN" altLang="en-US" sz="1000" dirty="0">
                <a:latin typeface="微软雅黑" panose="020B0503020204020204" charset="-122"/>
                <a:ea typeface="微软雅黑" panose="020B0503020204020204" charset="-122"/>
              </a:rPr>
              <a:t>网格分派视图可监控网格已分配、未分配，支持下钻至网格</a:t>
            </a:r>
            <a:endParaRPr lang="zh-CN" altLang="en-US" sz="1000" b="1" dirty="0">
              <a:latin typeface="微软雅黑" panose="020B0503020204020204" charset="-122"/>
              <a:ea typeface="微软雅黑" panose="020B0503020204020204" charset="-122"/>
            </a:endParaRPr>
          </a:p>
          <a:p>
            <a:endParaRPr lang="zh-CN" altLang="en-US" sz="1000" b="1" dirty="0">
              <a:latin typeface="微软雅黑" panose="020B0503020204020204" charset="-122"/>
              <a:ea typeface="微软雅黑" panose="020B0503020204020204" charset="-122"/>
            </a:endParaRPr>
          </a:p>
          <a:p>
            <a:r>
              <a:rPr lang="zh-CN" altLang="en-US" sz="1000" b="1" dirty="0">
                <a:latin typeface="微软雅黑" panose="020B0503020204020204" charset="-122"/>
                <a:ea typeface="微软雅黑" panose="020B0503020204020204" charset="-122"/>
              </a:rPr>
              <a:t>携转视图：</a:t>
            </a:r>
            <a:r>
              <a:rPr lang="zh-CN" altLang="en-US" sz="1000" dirty="0">
                <a:latin typeface="微软雅黑" panose="020B0503020204020204" charset="-122"/>
                <a:ea typeface="微软雅黑" panose="020B0503020204020204" charset="-122"/>
              </a:rPr>
              <a:t>携转视图支持查看携转挽留多模式执行情况、执行效率等</a:t>
            </a:r>
            <a:endParaRPr lang="zh-CN" altLang="en-US" sz="1000" dirty="0">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191135" y="2149475"/>
            <a:ext cx="5537835" cy="453898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sym typeface="+mn-ea"/>
              </a:rPr>
              <a:t>其他重点内容</a:t>
            </a:r>
            <a:r>
              <a:rPr lang="en-US" altLang="zh-CN" dirty="0">
                <a:sym typeface="+mn-ea"/>
              </a:rPr>
              <a:t>2</a:t>
            </a:r>
            <a:r>
              <a:rPr dirty="0">
                <a:sym typeface="+mn-ea"/>
              </a:rPr>
              <a:t>：</a:t>
            </a:r>
            <a:r>
              <a:rPr lang="zh-CN" dirty="0">
                <a:sym typeface="+mn-ea"/>
              </a:rPr>
              <a:t>存量客户看管关系管理及落地</a:t>
            </a:r>
            <a:endParaRPr lang="zh-CN" dirty="0">
              <a:sym typeface="+mn-ea"/>
            </a:endParaRPr>
          </a:p>
        </p:txBody>
      </p:sp>
      <p:sp>
        <p:nvSpPr>
          <p:cNvPr id="57" name="矩形 56"/>
          <p:cNvSpPr/>
          <p:nvPr/>
        </p:nvSpPr>
        <p:spPr>
          <a:xfrm>
            <a:off x="191135" y="977265"/>
            <a:ext cx="11560810" cy="915670"/>
          </a:xfrm>
          <a:prstGeom prst="rect">
            <a:avLst/>
          </a:prstGeom>
          <a:noFill/>
          <a:ln w="38100" cmpd="dbl" algn="ctr">
            <a:noFill/>
            <a:miter lim="800000"/>
          </a:ln>
          <a:effectLst/>
        </p:spPr>
        <p:txBody>
          <a:bodyPr anchor="ctr"/>
          <a:lstStyle/>
          <a:p>
            <a:pPr eaLnBrk="1" hangingPunct="1">
              <a:lnSpc>
                <a:spcPts val="2500"/>
              </a:lnSpc>
              <a:buClr>
                <a:schemeClr val="tx1"/>
              </a:buClr>
              <a:defRPr/>
            </a:pPr>
            <a:r>
              <a:rPr lang="zh-CN" altLang="en-US" sz="1500" dirty="0">
                <a:latin typeface="微软雅黑" panose="020B0503020204020204" charset="-122"/>
                <a:ea typeface="微软雅黑" panose="020B0503020204020204" charset="-122"/>
                <a:cs typeface="微软雅黑" panose="020B0503020204020204" charset="-122"/>
                <a:sym typeface="+mn-ea"/>
              </a:rPr>
              <a:t>因精益运营平台看管存量客户，需要明确网格经理看管的客户群体。有精益平台下发、管理、监控以及分析，网格通为落地执行采取的形式是在网格通开发了网格物理单元分配功能，由网格长将物理单元全量分配给网格经理，该物理单元的用户由分配的网格经理看管，数据每个与精益平台进行同步；</a:t>
            </a:r>
            <a:endParaRPr lang="en-US" altLang="zh-CN" sz="1500" dirty="0">
              <a:latin typeface="微软雅黑" panose="020B0503020204020204" charset="-122"/>
              <a:ea typeface="微软雅黑" panose="020B0503020204020204" charset="-122"/>
              <a:cs typeface="微软雅黑" panose="020B0503020204020204" charset="-122"/>
              <a:sym typeface="+mn-ea"/>
            </a:endParaRPr>
          </a:p>
        </p:txBody>
      </p:sp>
      <p:sp>
        <p:nvSpPr>
          <p:cNvPr id="4" name="矩形 3"/>
          <p:cNvSpPr/>
          <p:nvPr/>
        </p:nvSpPr>
        <p:spPr>
          <a:xfrm>
            <a:off x="427355" y="2016760"/>
            <a:ext cx="5128260" cy="3175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latin typeface="微软雅黑" panose="020B0503020204020204" charset="-122"/>
                <a:ea typeface="微软雅黑" panose="020B0503020204020204" charset="-122"/>
              </a:rPr>
              <a:t>精益平台：下发、管理、监控、统计、分析</a:t>
            </a:r>
            <a:endParaRPr lang="zh-CN" altLang="en-US" sz="1400">
              <a:latin typeface="微软雅黑" panose="020B0503020204020204" charset="-122"/>
              <a:ea typeface="微软雅黑" panose="020B0503020204020204" charset="-122"/>
            </a:endParaRPr>
          </a:p>
        </p:txBody>
      </p:sp>
      <p:grpSp>
        <p:nvGrpSpPr>
          <p:cNvPr id="48" name="组合 47"/>
          <p:cNvGrpSpPr/>
          <p:nvPr/>
        </p:nvGrpSpPr>
        <p:grpSpPr>
          <a:xfrm>
            <a:off x="5942330" y="2451100"/>
            <a:ext cx="5728970" cy="4025265"/>
            <a:chOff x="8830" y="1837"/>
            <a:chExt cx="9310" cy="8873"/>
          </a:xfrm>
        </p:grpSpPr>
        <p:grpSp>
          <p:nvGrpSpPr>
            <p:cNvPr id="44" name="组合 43"/>
            <p:cNvGrpSpPr/>
            <p:nvPr/>
          </p:nvGrpSpPr>
          <p:grpSpPr>
            <a:xfrm>
              <a:off x="8830" y="1837"/>
              <a:ext cx="9309" cy="4301"/>
              <a:chOff x="336" y="1837"/>
              <a:chExt cx="9309" cy="4301"/>
            </a:xfrm>
          </p:grpSpPr>
          <p:grpSp>
            <p:nvGrpSpPr>
              <p:cNvPr id="38" name="组合 37"/>
              <p:cNvGrpSpPr/>
              <p:nvPr/>
            </p:nvGrpSpPr>
            <p:grpSpPr>
              <a:xfrm>
                <a:off x="336" y="1840"/>
                <a:ext cx="2344" cy="4298"/>
                <a:chOff x="1191" y="4720"/>
                <a:chExt cx="2344" cy="4298"/>
              </a:xfrm>
            </p:grpSpPr>
            <p:grpSp>
              <p:nvGrpSpPr>
                <p:cNvPr id="6" name="组合 5"/>
                <p:cNvGrpSpPr/>
                <p:nvPr/>
              </p:nvGrpSpPr>
              <p:grpSpPr>
                <a:xfrm>
                  <a:off x="1249" y="5180"/>
                  <a:ext cx="2020" cy="3838"/>
                  <a:chOff x="432222" y="2171053"/>
                  <a:chExt cx="2279403" cy="4575164"/>
                </a:xfrm>
              </p:grpSpPr>
              <p:pic>
                <p:nvPicPr>
                  <p:cNvPr id="8" name="图片 7" descr="第一uuuuuuu"/>
                  <p:cNvPicPr>
                    <a:picLocks noChangeAspect="1"/>
                  </p:cNvPicPr>
                  <p:nvPr/>
                </p:nvPicPr>
                <p:blipFill rotWithShape="1">
                  <a:blip r:embed="rId1"/>
                  <a:srcRect l="48111" r="3116"/>
                  <a:stretch>
                    <a:fillRect/>
                  </a:stretch>
                </p:blipFill>
                <p:spPr>
                  <a:xfrm>
                    <a:off x="432223" y="2171053"/>
                    <a:ext cx="2279402" cy="4575164"/>
                  </a:xfrm>
                  <a:prstGeom prst="rect">
                    <a:avLst/>
                  </a:prstGeom>
                  <a:ln>
                    <a:noFill/>
                  </a:ln>
                  <a:effectLst>
                    <a:outerShdw blurRad="292100" dist="139700" dir="2700000" algn="tl" rotWithShape="0">
                      <a:srgbClr val="333333">
                        <a:alpha val="65000"/>
                      </a:srgbClr>
                    </a:outerShdw>
                  </a:effectLst>
                </p:spPr>
              </p:pic>
              <p:pic>
                <p:nvPicPr>
                  <p:cNvPr id="11" name="图片 10" descr="第一uuuuuuu"/>
                  <p:cNvPicPr>
                    <a:picLocks noChangeAspect="1"/>
                  </p:cNvPicPr>
                  <p:nvPr/>
                </p:nvPicPr>
                <p:blipFill rotWithShape="1">
                  <a:blip r:embed="rId1"/>
                  <a:srcRect l="2368" t="57948" r="56030" b="27887"/>
                  <a:stretch>
                    <a:fillRect/>
                  </a:stretch>
                </p:blipFill>
                <p:spPr>
                  <a:xfrm>
                    <a:off x="540234" y="4738923"/>
                    <a:ext cx="1944216" cy="648073"/>
                  </a:xfrm>
                  <a:prstGeom prst="rect">
                    <a:avLst/>
                  </a:prstGeom>
                  <a:ln>
                    <a:noFill/>
                  </a:ln>
                  <a:effectLst>
                    <a:outerShdw blurRad="292100" dist="139700" dir="2700000" algn="tl" rotWithShape="0">
                      <a:srgbClr val="333333">
                        <a:alpha val="65000"/>
                      </a:srgbClr>
                    </a:outerShdw>
                  </a:effectLst>
                </p:spPr>
              </p:pic>
              <p:pic>
                <p:nvPicPr>
                  <p:cNvPr id="15" name="图片 14" descr="第一uuuuuuu"/>
                  <p:cNvPicPr>
                    <a:picLocks noChangeAspect="1"/>
                  </p:cNvPicPr>
                  <p:nvPr/>
                </p:nvPicPr>
                <p:blipFill rotWithShape="1">
                  <a:blip r:embed="rId1"/>
                  <a:srcRect l="929" t="6090" r="52847" b="83819"/>
                  <a:stretch>
                    <a:fillRect/>
                  </a:stretch>
                </p:blipFill>
                <p:spPr>
                  <a:xfrm>
                    <a:off x="432222" y="2508599"/>
                    <a:ext cx="2160241" cy="461665"/>
                  </a:xfrm>
                  <a:prstGeom prst="rect">
                    <a:avLst/>
                  </a:prstGeom>
                  <a:ln>
                    <a:noFill/>
                  </a:ln>
                  <a:effectLst>
                    <a:outerShdw blurRad="292100" dist="139700" dir="2700000" algn="tl" rotWithShape="0">
                      <a:srgbClr val="333333">
                        <a:alpha val="65000"/>
                      </a:srgbClr>
                    </a:outerShdw>
                  </a:effectLst>
                </p:spPr>
              </p:pic>
            </p:grpSp>
            <p:sp>
              <p:nvSpPr>
                <p:cNvPr id="26" name="燕尾形 25"/>
                <p:cNvSpPr/>
                <p:nvPr/>
              </p:nvSpPr>
              <p:spPr>
                <a:xfrm>
                  <a:off x="1191" y="4720"/>
                  <a:ext cx="2345" cy="460"/>
                </a:xfrm>
                <a:prstGeom prst="chevron">
                  <a:avLst/>
                </a:prstGeom>
                <a:solidFill>
                  <a:srgbClr val="EE822F"/>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t>客户分配主页</a:t>
                  </a:r>
                  <a:endParaRPr lang="zh-CN" altLang="en-US" sz="1000" b="1"/>
                </a:p>
              </p:txBody>
            </p:sp>
          </p:grpSp>
          <p:grpSp>
            <p:nvGrpSpPr>
              <p:cNvPr id="43" name="组合 42"/>
              <p:cNvGrpSpPr/>
              <p:nvPr/>
            </p:nvGrpSpPr>
            <p:grpSpPr>
              <a:xfrm>
                <a:off x="2615" y="1837"/>
                <a:ext cx="7030" cy="4301"/>
                <a:chOff x="2615" y="1837"/>
                <a:chExt cx="7030" cy="4301"/>
              </a:xfrm>
            </p:grpSpPr>
            <p:grpSp>
              <p:nvGrpSpPr>
                <p:cNvPr id="39" name="组合 38"/>
                <p:cNvGrpSpPr/>
                <p:nvPr/>
              </p:nvGrpSpPr>
              <p:grpSpPr>
                <a:xfrm>
                  <a:off x="2615" y="1840"/>
                  <a:ext cx="2298" cy="4298"/>
                  <a:chOff x="3696" y="4720"/>
                  <a:chExt cx="2298" cy="4298"/>
                </a:xfrm>
              </p:grpSpPr>
              <p:grpSp>
                <p:nvGrpSpPr>
                  <p:cNvPr id="29" name="组合 28"/>
                  <p:cNvGrpSpPr/>
                  <p:nvPr/>
                </p:nvGrpSpPr>
                <p:grpSpPr>
                  <a:xfrm>
                    <a:off x="3900" y="5180"/>
                    <a:ext cx="1765" cy="3838"/>
                    <a:chOff x="3852762" y="2215713"/>
                    <a:chExt cx="2016024" cy="4267189"/>
                  </a:xfrm>
                </p:grpSpPr>
                <p:pic>
                  <p:nvPicPr>
                    <p:cNvPr id="37" name="图片 36" descr="未分配第一步"/>
                    <p:cNvPicPr>
                      <a:picLocks noChangeAspect="1"/>
                    </p:cNvPicPr>
                    <p:nvPr/>
                  </p:nvPicPr>
                  <p:blipFill rotWithShape="1">
                    <a:blip r:embed="rId2"/>
                    <a:srcRect l="48153"/>
                    <a:stretch>
                      <a:fillRect/>
                    </a:stretch>
                  </p:blipFill>
                  <p:spPr>
                    <a:xfrm>
                      <a:off x="3852762" y="2215713"/>
                      <a:ext cx="2016024" cy="4267189"/>
                    </a:xfrm>
                    <a:prstGeom prst="rect">
                      <a:avLst/>
                    </a:prstGeom>
                    <a:ln>
                      <a:noFill/>
                    </a:ln>
                    <a:effectLst>
                      <a:outerShdw blurRad="292100" dist="139700" dir="2700000" algn="tl" rotWithShape="0">
                        <a:srgbClr val="333333">
                          <a:alpha val="65000"/>
                        </a:srgbClr>
                      </a:outerShdw>
                    </a:effectLst>
                  </p:spPr>
                </p:pic>
                <p:pic>
                  <p:nvPicPr>
                    <p:cNvPr id="40" name="图片 39" descr="未分配第一步"/>
                    <p:cNvPicPr>
                      <a:picLocks noChangeAspect="1"/>
                    </p:cNvPicPr>
                    <p:nvPr/>
                  </p:nvPicPr>
                  <p:blipFill rotWithShape="1">
                    <a:blip r:embed="rId2"/>
                    <a:srcRect t="33495" r="53704" b="56380"/>
                    <a:stretch>
                      <a:fillRect/>
                    </a:stretch>
                  </p:blipFill>
                  <p:spPr>
                    <a:xfrm>
                      <a:off x="3971764" y="4592225"/>
                      <a:ext cx="1800200" cy="432048"/>
                    </a:xfrm>
                    <a:prstGeom prst="rect">
                      <a:avLst/>
                    </a:prstGeom>
                    <a:ln>
                      <a:noFill/>
                    </a:ln>
                    <a:effectLst>
                      <a:outerShdw blurRad="292100" dist="139700" dir="2700000" algn="tl" rotWithShape="0">
                        <a:srgbClr val="333333">
                          <a:alpha val="65000"/>
                        </a:srgbClr>
                      </a:outerShdw>
                    </a:effectLst>
                  </p:spPr>
                </p:pic>
              </p:grpSp>
              <p:sp>
                <p:nvSpPr>
                  <p:cNvPr id="41" name="燕尾形 40"/>
                  <p:cNvSpPr/>
                  <p:nvPr/>
                </p:nvSpPr>
                <p:spPr>
                  <a:xfrm>
                    <a:off x="3696" y="4720"/>
                    <a:ext cx="2298" cy="460"/>
                  </a:xfrm>
                  <a:prstGeom prst="chevron">
                    <a:avLst/>
                  </a:prstGeom>
                  <a:solidFill>
                    <a:srgbClr val="91ACE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b="1">
                        <a:sym typeface="+mn-ea"/>
                      </a:rPr>
                      <a:t>选择客户经理</a:t>
                    </a:r>
                    <a:endParaRPr lang="zh-CN" altLang="en-US" sz="1000" b="1">
                      <a:sym typeface="+mn-ea"/>
                    </a:endParaRPr>
                  </a:p>
                </p:txBody>
              </p:sp>
            </p:grpSp>
            <p:grpSp>
              <p:nvGrpSpPr>
                <p:cNvPr id="42" name="组合 41"/>
                <p:cNvGrpSpPr/>
                <p:nvPr/>
              </p:nvGrpSpPr>
              <p:grpSpPr>
                <a:xfrm>
                  <a:off x="4848" y="1840"/>
                  <a:ext cx="2468" cy="4298"/>
                  <a:chOff x="5994" y="4720"/>
                  <a:chExt cx="2468" cy="4298"/>
                </a:xfrm>
              </p:grpSpPr>
              <p:grpSp>
                <p:nvGrpSpPr>
                  <p:cNvPr id="45" name="组合 44"/>
                  <p:cNvGrpSpPr/>
                  <p:nvPr/>
                </p:nvGrpSpPr>
                <p:grpSpPr>
                  <a:xfrm>
                    <a:off x="6152" y="5180"/>
                    <a:ext cx="1950" cy="3838"/>
                    <a:chOff x="6323216" y="2215713"/>
                    <a:chExt cx="2077040" cy="4267189"/>
                  </a:xfrm>
                </p:grpSpPr>
                <p:pic>
                  <p:nvPicPr>
                    <p:cNvPr id="46" name="图片 45" descr="第二步未分配"/>
                    <p:cNvPicPr>
                      <a:picLocks noChangeAspect="1"/>
                    </p:cNvPicPr>
                    <p:nvPr/>
                  </p:nvPicPr>
                  <p:blipFill rotWithShape="1">
                    <a:blip r:embed="rId3"/>
                    <a:srcRect l="48954"/>
                    <a:stretch>
                      <a:fillRect/>
                    </a:stretch>
                  </p:blipFill>
                  <p:spPr>
                    <a:xfrm>
                      <a:off x="6323216" y="2215713"/>
                      <a:ext cx="2077040" cy="4267189"/>
                    </a:xfrm>
                    <a:prstGeom prst="rect">
                      <a:avLst/>
                    </a:prstGeom>
                    <a:ln>
                      <a:noFill/>
                    </a:ln>
                    <a:effectLst>
                      <a:outerShdw blurRad="292100" dist="139700" dir="2700000" algn="tl" rotWithShape="0">
                        <a:srgbClr val="333333">
                          <a:alpha val="65000"/>
                        </a:srgbClr>
                      </a:outerShdw>
                    </a:effectLst>
                  </p:spPr>
                </p:pic>
                <p:pic>
                  <p:nvPicPr>
                    <p:cNvPr id="47" name="图片 46" descr="第二步未分配"/>
                    <p:cNvPicPr>
                      <a:picLocks noChangeAspect="1"/>
                    </p:cNvPicPr>
                    <p:nvPr/>
                  </p:nvPicPr>
                  <p:blipFill rotWithShape="1">
                    <a:blip r:embed="rId3"/>
                    <a:srcRect l="3207" t="48862" r="54152" b="35950"/>
                    <a:stretch>
                      <a:fillRect/>
                    </a:stretch>
                  </p:blipFill>
                  <p:spPr>
                    <a:xfrm>
                      <a:off x="6577718" y="5284097"/>
                      <a:ext cx="1568036" cy="648072"/>
                    </a:xfrm>
                    <a:prstGeom prst="rect">
                      <a:avLst/>
                    </a:prstGeom>
                    <a:ln>
                      <a:noFill/>
                    </a:ln>
                    <a:effectLst>
                      <a:outerShdw blurRad="292100" dist="139700" dir="2700000" algn="tl" rotWithShape="0">
                        <a:srgbClr val="333333">
                          <a:alpha val="65000"/>
                        </a:srgbClr>
                      </a:outerShdw>
                    </a:effectLst>
                  </p:spPr>
                </p:pic>
              </p:grpSp>
              <p:sp>
                <p:nvSpPr>
                  <p:cNvPr id="49" name="燕尾形 48"/>
                  <p:cNvSpPr/>
                  <p:nvPr/>
                </p:nvSpPr>
                <p:spPr>
                  <a:xfrm>
                    <a:off x="5994" y="4720"/>
                    <a:ext cx="2468" cy="460"/>
                  </a:xfrm>
                  <a:prstGeom prst="chevron">
                    <a:avLst/>
                  </a:prstGeom>
                  <a:solidFill>
                    <a:srgbClr val="75BD4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b="1">
                        <a:sym typeface="+mn-ea"/>
                      </a:rPr>
                      <a:t>选择物理单元</a:t>
                    </a:r>
                    <a:endParaRPr lang="zh-CN" altLang="en-US" sz="1000" b="1">
                      <a:sym typeface="+mn-ea"/>
                    </a:endParaRPr>
                  </a:p>
                </p:txBody>
              </p:sp>
            </p:grpSp>
            <p:grpSp>
              <p:nvGrpSpPr>
                <p:cNvPr id="50" name="组合 49"/>
                <p:cNvGrpSpPr/>
                <p:nvPr/>
              </p:nvGrpSpPr>
              <p:grpSpPr>
                <a:xfrm>
                  <a:off x="7251" y="1837"/>
                  <a:ext cx="2395" cy="4301"/>
                  <a:chOff x="8577" y="4720"/>
                  <a:chExt cx="2395" cy="4301"/>
                </a:xfrm>
              </p:grpSpPr>
              <p:grpSp>
                <p:nvGrpSpPr>
                  <p:cNvPr id="51" name="组合 50"/>
                  <p:cNvGrpSpPr/>
                  <p:nvPr/>
                </p:nvGrpSpPr>
                <p:grpSpPr>
                  <a:xfrm>
                    <a:off x="8813" y="5182"/>
                    <a:ext cx="1837" cy="3839"/>
                    <a:chOff x="9120335" y="2215713"/>
                    <a:chExt cx="2160241" cy="4267190"/>
                  </a:xfrm>
                </p:grpSpPr>
                <p:pic>
                  <p:nvPicPr>
                    <p:cNvPr id="52" name="图片 51" descr="第三步uuuuuuuu未分配"/>
                    <p:cNvPicPr>
                      <a:picLocks noChangeAspect="1"/>
                    </p:cNvPicPr>
                    <p:nvPr/>
                  </p:nvPicPr>
                  <p:blipFill rotWithShape="1">
                    <a:blip r:embed="rId4"/>
                    <a:srcRect l="47105"/>
                    <a:stretch>
                      <a:fillRect/>
                    </a:stretch>
                  </p:blipFill>
                  <p:spPr>
                    <a:xfrm>
                      <a:off x="9120335" y="2215713"/>
                      <a:ext cx="2160241" cy="4267190"/>
                    </a:xfrm>
                    <a:prstGeom prst="rect">
                      <a:avLst/>
                    </a:prstGeom>
                    <a:ln>
                      <a:noFill/>
                    </a:ln>
                    <a:effectLst>
                      <a:outerShdw blurRad="292100" dist="139700" dir="2700000" algn="tl" rotWithShape="0">
                        <a:srgbClr val="333333">
                          <a:alpha val="65000"/>
                        </a:srgbClr>
                      </a:outerShdw>
                    </a:effectLst>
                  </p:spPr>
                </p:pic>
                <p:pic>
                  <p:nvPicPr>
                    <p:cNvPr id="53" name="图片 52" descr="第三步uuuuuuuu未分配"/>
                    <p:cNvPicPr>
                      <a:picLocks noChangeAspect="1"/>
                    </p:cNvPicPr>
                    <p:nvPr/>
                  </p:nvPicPr>
                  <p:blipFill rotWithShape="1">
                    <a:blip r:embed="rId4"/>
                    <a:srcRect l="-385" t="65138" r="55436" b="23019"/>
                    <a:stretch>
                      <a:fillRect/>
                    </a:stretch>
                  </p:blipFill>
                  <p:spPr>
                    <a:xfrm>
                      <a:off x="9145027" y="5284097"/>
                      <a:ext cx="2135549" cy="525626"/>
                    </a:xfrm>
                    <a:prstGeom prst="rect">
                      <a:avLst/>
                    </a:prstGeom>
                    <a:ln>
                      <a:noFill/>
                    </a:ln>
                    <a:effectLst>
                      <a:outerShdw blurRad="292100" dist="139700" dir="2700000" algn="tl" rotWithShape="0">
                        <a:srgbClr val="333333">
                          <a:alpha val="65000"/>
                        </a:srgbClr>
                      </a:outerShdw>
                    </a:effectLst>
                  </p:spPr>
                </p:pic>
              </p:grpSp>
              <p:sp>
                <p:nvSpPr>
                  <p:cNvPr id="54" name="燕尾形 53"/>
                  <p:cNvSpPr/>
                  <p:nvPr/>
                </p:nvSpPr>
                <p:spPr>
                  <a:xfrm>
                    <a:off x="8577" y="4720"/>
                    <a:ext cx="2395" cy="460"/>
                  </a:xfrm>
                  <a:prstGeom prst="chevron">
                    <a:avLst/>
                  </a:prstGeom>
                  <a:solidFill>
                    <a:srgbClr val="30C0B4"/>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b="1">
                        <a:sym typeface="+mn-ea"/>
                      </a:rPr>
                      <a:t>提交完成分配</a:t>
                    </a:r>
                    <a:endParaRPr lang="zh-CN" altLang="en-US" sz="1000" b="1">
                      <a:sym typeface="+mn-ea"/>
                    </a:endParaRPr>
                  </a:p>
                </p:txBody>
              </p:sp>
            </p:grpSp>
          </p:grpSp>
        </p:grpSp>
        <p:grpSp>
          <p:nvGrpSpPr>
            <p:cNvPr id="55" name="组合 54"/>
            <p:cNvGrpSpPr/>
            <p:nvPr/>
          </p:nvGrpSpPr>
          <p:grpSpPr>
            <a:xfrm>
              <a:off x="8888" y="6410"/>
              <a:ext cx="2440" cy="4300"/>
              <a:chOff x="8888" y="6410"/>
              <a:chExt cx="2440" cy="4300"/>
            </a:xfrm>
          </p:grpSpPr>
          <p:grpSp>
            <p:nvGrpSpPr>
              <p:cNvPr id="56" name="组合 55"/>
              <p:cNvGrpSpPr/>
              <p:nvPr/>
            </p:nvGrpSpPr>
            <p:grpSpPr>
              <a:xfrm>
                <a:off x="9108" y="6872"/>
                <a:ext cx="1901" cy="3838"/>
                <a:chOff x="695400" y="1556792"/>
                <a:chExt cx="2390815" cy="4622108"/>
              </a:xfrm>
            </p:grpSpPr>
            <p:pic>
              <p:nvPicPr>
                <p:cNvPr id="58" name="图片 57" descr="已分配第一步"/>
                <p:cNvPicPr>
                  <a:picLocks noChangeAspect="1"/>
                </p:cNvPicPr>
                <p:nvPr/>
              </p:nvPicPr>
              <p:blipFill rotWithShape="1">
                <a:blip r:embed="rId5"/>
                <a:srcRect l="49078"/>
                <a:stretch>
                  <a:fillRect/>
                </a:stretch>
              </p:blipFill>
              <p:spPr>
                <a:xfrm>
                  <a:off x="695400" y="1556792"/>
                  <a:ext cx="2390815" cy="4622108"/>
                </a:xfrm>
                <a:prstGeom prst="rect">
                  <a:avLst/>
                </a:prstGeom>
                <a:ln>
                  <a:noFill/>
                </a:ln>
                <a:effectLst>
                  <a:outerShdw blurRad="292100" dist="139700" dir="2700000" algn="tl" rotWithShape="0">
                    <a:srgbClr val="333333">
                      <a:alpha val="65000"/>
                    </a:srgbClr>
                  </a:outerShdw>
                </a:effectLst>
              </p:spPr>
            </p:pic>
            <p:pic>
              <p:nvPicPr>
                <p:cNvPr id="59" name="图片 58" descr="已分配第一步"/>
                <p:cNvPicPr>
                  <a:picLocks noChangeAspect="1"/>
                </p:cNvPicPr>
                <p:nvPr/>
              </p:nvPicPr>
              <p:blipFill rotWithShape="1">
                <a:blip r:embed="rId5"/>
                <a:srcRect t="59984" r="52456" b="29110"/>
                <a:stretch>
                  <a:fillRect/>
                </a:stretch>
              </p:blipFill>
              <p:spPr>
                <a:xfrm>
                  <a:off x="726971" y="4005064"/>
                  <a:ext cx="2232248" cy="504056"/>
                </a:xfrm>
                <a:prstGeom prst="rect">
                  <a:avLst/>
                </a:prstGeom>
                <a:ln>
                  <a:noFill/>
                </a:ln>
                <a:effectLst>
                  <a:outerShdw blurRad="292100" dist="139700" dir="2700000" algn="tl" rotWithShape="0">
                    <a:srgbClr val="333333">
                      <a:alpha val="65000"/>
                    </a:srgbClr>
                  </a:outerShdw>
                </a:effectLst>
              </p:spPr>
            </p:pic>
          </p:grpSp>
          <p:sp>
            <p:nvSpPr>
              <p:cNvPr id="60" name="燕尾形 59"/>
              <p:cNvSpPr/>
              <p:nvPr/>
            </p:nvSpPr>
            <p:spPr>
              <a:xfrm>
                <a:off x="8888" y="6410"/>
                <a:ext cx="2441" cy="460"/>
              </a:xfrm>
              <a:prstGeom prst="chevron">
                <a:avLst/>
              </a:prstGeom>
              <a:solidFill>
                <a:srgbClr val="EE822F"/>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b="1">
                    <a:sym typeface="+mn-ea"/>
                  </a:rPr>
                  <a:t>选择客户经理</a:t>
                </a:r>
                <a:endParaRPr lang="zh-CN" altLang="en-US" sz="1000" b="1">
                  <a:sym typeface="+mn-ea"/>
                </a:endParaRPr>
              </a:p>
            </p:txBody>
          </p:sp>
        </p:grpSp>
        <p:grpSp>
          <p:nvGrpSpPr>
            <p:cNvPr id="61" name="组合 60"/>
            <p:cNvGrpSpPr/>
            <p:nvPr/>
          </p:nvGrpSpPr>
          <p:grpSpPr>
            <a:xfrm>
              <a:off x="12254" y="6410"/>
              <a:ext cx="2526" cy="4298"/>
              <a:chOff x="11093" y="6410"/>
              <a:chExt cx="2526" cy="4298"/>
            </a:xfrm>
          </p:grpSpPr>
          <p:grpSp>
            <p:nvGrpSpPr>
              <p:cNvPr id="62" name="组合 61"/>
              <p:cNvGrpSpPr/>
              <p:nvPr/>
            </p:nvGrpSpPr>
            <p:grpSpPr>
              <a:xfrm>
                <a:off x="11329" y="6870"/>
                <a:ext cx="2056" cy="3838"/>
                <a:chOff x="3212537" y="1916832"/>
                <a:chExt cx="2336667" cy="4552704"/>
              </a:xfrm>
            </p:grpSpPr>
            <p:pic>
              <p:nvPicPr>
                <p:cNvPr id="63" name="图片 62" descr="8ed7d293ccf24e2dd6b217f0416b4ab"/>
                <p:cNvPicPr>
                  <a:picLocks noChangeAspect="1"/>
                </p:cNvPicPr>
                <p:nvPr/>
              </p:nvPicPr>
              <p:blipFill rotWithShape="1">
                <a:blip r:embed="rId6"/>
                <a:srcRect l="49651" t="1211"/>
                <a:stretch>
                  <a:fillRect/>
                </a:stretch>
              </p:blipFill>
              <p:spPr>
                <a:xfrm>
                  <a:off x="3212537" y="1916832"/>
                  <a:ext cx="2336667" cy="4552704"/>
                </a:xfrm>
                <a:prstGeom prst="rect">
                  <a:avLst/>
                </a:prstGeom>
                <a:ln>
                  <a:noFill/>
                </a:ln>
                <a:effectLst>
                  <a:outerShdw blurRad="292100" dist="139700" dir="2700000" algn="tl" rotWithShape="0">
                    <a:srgbClr val="333333">
                      <a:alpha val="65000"/>
                    </a:srgbClr>
                  </a:outerShdw>
                </a:effectLst>
              </p:spPr>
            </p:pic>
            <p:pic>
              <p:nvPicPr>
                <p:cNvPr id="64" name="图片 63" descr="8ed7d293ccf24e2dd6b217f0416b4ab"/>
                <p:cNvPicPr>
                  <a:picLocks noChangeAspect="1"/>
                </p:cNvPicPr>
                <p:nvPr/>
              </p:nvPicPr>
              <p:blipFill rotWithShape="1">
                <a:blip r:embed="rId6"/>
                <a:srcRect l="1551" t="32813" r="55004" b="28125"/>
                <a:stretch>
                  <a:fillRect/>
                </a:stretch>
              </p:blipFill>
              <p:spPr>
                <a:xfrm>
                  <a:off x="3458424" y="1916832"/>
                  <a:ext cx="1844891" cy="1647223"/>
                </a:xfrm>
                <a:prstGeom prst="rect">
                  <a:avLst/>
                </a:prstGeom>
                <a:ln>
                  <a:noFill/>
                </a:ln>
                <a:effectLst>
                  <a:outerShdw blurRad="292100" dist="139700" dir="2700000" algn="tl" rotWithShape="0">
                    <a:srgbClr val="333333">
                      <a:alpha val="65000"/>
                    </a:srgbClr>
                  </a:outerShdw>
                </a:effectLst>
              </p:spPr>
            </p:pic>
          </p:grpSp>
          <p:sp>
            <p:nvSpPr>
              <p:cNvPr id="65" name="燕尾形 64"/>
              <p:cNvSpPr/>
              <p:nvPr/>
            </p:nvSpPr>
            <p:spPr>
              <a:xfrm>
                <a:off x="11093" y="6410"/>
                <a:ext cx="2527" cy="462"/>
              </a:xfrm>
              <a:prstGeom prst="chevron">
                <a:avLst/>
              </a:prstGeom>
              <a:solidFill>
                <a:srgbClr val="91ACE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b="1">
                    <a:sym typeface="+mn-ea"/>
                  </a:rPr>
                  <a:t>调整分配区域</a:t>
                </a:r>
                <a:endParaRPr lang="zh-CN" altLang="en-US" sz="1000" b="1">
                  <a:sym typeface="+mn-ea"/>
                </a:endParaRPr>
              </a:p>
            </p:txBody>
          </p:sp>
        </p:grpSp>
        <p:grpSp>
          <p:nvGrpSpPr>
            <p:cNvPr id="66" name="组合 65"/>
            <p:cNvGrpSpPr/>
            <p:nvPr/>
          </p:nvGrpSpPr>
          <p:grpSpPr>
            <a:xfrm>
              <a:off x="15706" y="6407"/>
              <a:ext cx="2434" cy="4303"/>
              <a:chOff x="13463" y="6407"/>
              <a:chExt cx="2434" cy="4303"/>
            </a:xfrm>
          </p:grpSpPr>
          <p:grpSp>
            <p:nvGrpSpPr>
              <p:cNvPr id="67" name="组合 66"/>
              <p:cNvGrpSpPr/>
              <p:nvPr/>
            </p:nvGrpSpPr>
            <p:grpSpPr>
              <a:xfrm>
                <a:off x="13704" y="6872"/>
                <a:ext cx="1901" cy="3838"/>
                <a:chOff x="7536160" y="1899144"/>
                <a:chExt cx="2160241" cy="4552704"/>
              </a:xfrm>
            </p:grpSpPr>
            <p:pic>
              <p:nvPicPr>
                <p:cNvPr id="68" name="图片 67" descr="已分配第三步"/>
                <p:cNvPicPr>
                  <a:picLocks noChangeAspect="1"/>
                </p:cNvPicPr>
                <p:nvPr/>
              </p:nvPicPr>
              <p:blipFill rotWithShape="1">
                <a:blip r:embed="rId7"/>
                <a:srcRect l="47810" t="1211"/>
                <a:stretch>
                  <a:fillRect/>
                </a:stretch>
              </p:blipFill>
              <p:spPr>
                <a:xfrm>
                  <a:off x="7536160" y="1899144"/>
                  <a:ext cx="2160241" cy="4552704"/>
                </a:xfrm>
                <a:prstGeom prst="rect">
                  <a:avLst/>
                </a:prstGeom>
                <a:ln>
                  <a:noFill/>
                </a:ln>
                <a:effectLst>
                  <a:outerShdw blurRad="292100" dist="139700" dir="2700000" algn="tl" rotWithShape="0">
                    <a:srgbClr val="333333">
                      <a:alpha val="65000"/>
                    </a:srgbClr>
                  </a:outerShdw>
                </a:effectLst>
              </p:spPr>
            </p:pic>
            <p:pic>
              <p:nvPicPr>
                <p:cNvPr id="69" name="图片 68" descr="已分配第三步"/>
                <p:cNvPicPr>
                  <a:picLocks noChangeAspect="1"/>
                </p:cNvPicPr>
                <p:nvPr/>
              </p:nvPicPr>
              <p:blipFill rotWithShape="1">
                <a:blip r:embed="rId7"/>
                <a:srcRect t="50171" r="53632" b="35767"/>
                <a:stretch>
                  <a:fillRect/>
                </a:stretch>
              </p:blipFill>
              <p:spPr>
                <a:xfrm>
                  <a:off x="7537175" y="5013176"/>
                  <a:ext cx="2159226" cy="576064"/>
                </a:xfrm>
                <a:prstGeom prst="rect">
                  <a:avLst/>
                </a:prstGeom>
                <a:ln>
                  <a:noFill/>
                </a:ln>
                <a:effectLst>
                  <a:outerShdw blurRad="292100" dist="139700" dir="2700000" algn="tl" rotWithShape="0">
                    <a:srgbClr val="333333">
                      <a:alpha val="65000"/>
                    </a:srgbClr>
                  </a:outerShdw>
                </a:effectLst>
              </p:spPr>
            </p:pic>
          </p:grpSp>
          <p:sp>
            <p:nvSpPr>
              <p:cNvPr id="70" name="燕尾形 69"/>
              <p:cNvSpPr/>
              <p:nvPr/>
            </p:nvSpPr>
            <p:spPr>
              <a:xfrm>
                <a:off x="13463" y="6407"/>
                <a:ext cx="2434" cy="463"/>
              </a:xfrm>
              <a:prstGeom prst="chevron">
                <a:avLst/>
              </a:prstGeom>
              <a:solidFill>
                <a:srgbClr val="75BD4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b="1">
                    <a:sym typeface="+mn-ea"/>
                  </a:rPr>
                  <a:t>提交完成调整</a:t>
                </a:r>
                <a:endParaRPr lang="zh-CN" altLang="en-US" sz="1000" b="1">
                  <a:sym typeface="+mn-ea"/>
                </a:endParaRPr>
              </a:p>
            </p:txBody>
          </p:sp>
        </p:grpSp>
      </p:grpSp>
      <p:sp>
        <p:nvSpPr>
          <p:cNvPr id="71" name="矩形 70"/>
          <p:cNvSpPr/>
          <p:nvPr/>
        </p:nvSpPr>
        <p:spPr>
          <a:xfrm>
            <a:off x="5790565" y="2149475"/>
            <a:ext cx="5989955" cy="453898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nvSpPr>
        <p:spPr>
          <a:xfrm>
            <a:off x="5942330" y="2016760"/>
            <a:ext cx="5728970" cy="3175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latin typeface="微软雅黑" panose="020B0503020204020204" charset="-122"/>
                <a:ea typeface="微软雅黑" panose="020B0503020204020204" charset="-122"/>
                <a:sym typeface="+mn-ea"/>
              </a:rPr>
              <a:t>网格通落地：分配、调整、修改</a:t>
            </a:r>
            <a:endParaRPr lang="zh-CN" altLang="en-US" sz="1400">
              <a:latin typeface="微软雅黑" panose="020B0503020204020204" charset="-122"/>
              <a:ea typeface="微软雅黑" panose="020B0503020204020204" charset="-122"/>
              <a:sym typeface="+mn-ea"/>
            </a:endParaRPr>
          </a:p>
        </p:txBody>
      </p:sp>
      <p:pic>
        <p:nvPicPr>
          <p:cNvPr id="73" name="图片 72"/>
          <p:cNvPicPr>
            <a:picLocks noChangeAspect="1"/>
          </p:cNvPicPr>
          <p:nvPr/>
        </p:nvPicPr>
        <p:blipFill>
          <a:blip r:embed="rId8"/>
          <a:stretch>
            <a:fillRect/>
          </a:stretch>
        </p:blipFill>
        <p:spPr>
          <a:xfrm>
            <a:off x="427355" y="2451100"/>
            <a:ext cx="2476500" cy="1355725"/>
          </a:xfrm>
          <a:prstGeom prst="rect">
            <a:avLst/>
          </a:prstGeom>
        </p:spPr>
      </p:pic>
      <p:pic>
        <p:nvPicPr>
          <p:cNvPr id="74" name="图片 73"/>
          <p:cNvPicPr>
            <a:picLocks noChangeAspect="1"/>
          </p:cNvPicPr>
          <p:nvPr/>
        </p:nvPicPr>
        <p:blipFill>
          <a:blip r:embed="rId9"/>
          <a:stretch>
            <a:fillRect/>
          </a:stretch>
        </p:blipFill>
        <p:spPr>
          <a:xfrm>
            <a:off x="3199765" y="2458720"/>
            <a:ext cx="2289175" cy="1348740"/>
          </a:xfrm>
          <a:prstGeom prst="rect">
            <a:avLst/>
          </a:prstGeom>
        </p:spPr>
      </p:pic>
      <p:pic>
        <p:nvPicPr>
          <p:cNvPr id="75" name="图片 74"/>
          <p:cNvPicPr>
            <a:picLocks noChangeAspect="1"/>
          </p:cNvPicPr>
          <p:nvPr/>
        </p:nvPicPr>
        <p:blipFill>
          <a:blip r:embed="rId10"/>
          <a:stretch>
            <a:fillRect/>
          </a:stretch>
        </p:blipFill>
        <p:spPr>
          <a:xfrm>
            <a:off x="374650" y="4402455"/>
            <a:ext cx="2468245" cy="1649095"/>
          </a:xfrm>
          <a:prstGeom prst="rect">
            <a:avLst/>
          </a:prstGeom>
        </p:spPr>
      </p:pic>
      <p:pic>
        <p:nvPicPr>
          <p:cNvPr id="76" name="图片 75"/>
          <p:cNvPicPr>
            <a:picLocks noChangeAspect="1"/>
          </p:cNvPicPr>
          <p:nvPr/>
        </p:nvPicPr>
        <p:blipFill>
          <a:blip r:embed="rId11"/>
          <a:stretch>
            <a:fillRect/>
          </a:stretch>
        </p:blipFill>
        <p:spPr>
          <a:xfrm>
            <a:off x="3199130" y="4402455"/>
            <a:ext cx="2291715" cy="1642110"/>
          </a:xfrm>
          <a:prstGeom prst="rect">
            <a:avLst/>
          </a:prstGeom>
        </p:spPr>
      </p:pic>
      <p:sp>
        <p:nvSpPr>
          <p:cNvPr id="77" name="文本框 76"/>
          <p:cNvSpPr txBox="1"/>
          <p:nvPr/>
        </p:nvSpPr>
        <p:spPr>
          <a:xfrm>
            <a:off x="571500" y="3851910"/>
            <a:ext cx="2063115" cy="275590"/>
          </a:xfrm>
          <a:prstGeom prst="rect">
            <a:avLst/>
          </a:prstGeom>
          <a:noFill/>
        </p:spPr>
        <p:txBody>
          <a:bodyPr wrap="square" rtlCol="0">
            <a:spAutoFit/>
          </a:bodyPr>
          <a:lstStyle/>
          <a:p>
            <a:pPr algn="ctr"/>
            <a:r>
              <a:rPr lang="zh-CN" altLang="en-US" sz="1200" b="1"/>
              <a:t>存量拍照客户下发</a:t>
            </a:r>
            <a:endParaRPr lang="zh-CN" altLang="en-US" sz="1200" b="1"/>
          </a:p>
        </p:txBody>
      </p:sp>
      <p:sp>
        <p:nvSpPr>
          <p:cNvPr id="78" name="文本框 77"/>
          <p:cNvSpPr txBox="1"/>
          <p:nvPr/>
        </p:nvSpPr>
        <p:spPr>
          <a:xfrm>
            <a:off x="3338195" y="3851910"/>
            <a:ext cx="2063115" cy="275590"/>
          </a:xfrm>
          <a:prstGeom prst="rect">
            <a:avLst/>
          </a:prstGeom>
          <a:noFill/>
        </p:spPr>
        <p:txBody>
          <a:bodyPr wrap="square" rtlCol="0">
            <a:spAutoFit/>
          </a:bodyPr>
          <a:lstStyle/>
          <a:p>
            <a:pPr algn="ctr"/>
            <a:r>
              <a:rPr lang="zh-CN" altLang="en-US" sz="1200" b="1"/>
              <a:t>存量用户拍照视图</a:t>
            </a:r>
            <a:endParaRPr lang="zh-CN" altLang="en-US" sz="1200" b="1"/>
          </a:p>
        </p:txBody>
      </p:sp>
      <p:sp>
        <p:nvSpPr>
          <p:cNvPr id="79" name="文本框 78"/>
          <p:cNvSpPr txBox="1"/>
          <p:nvPr/>
        </p:nvSpPr>
        <p:spPr>
          <a:xfrm>
            <a:off x="544830" y="6200140"/>
            <a:ext cx="2063115" cy="275590"/>
          </a:xfrm>
          <a:prstGeom prst="rect">
            <a:avLst/>
          </a:prstGeom>
          <a:noFill/>
        </p:spPr>
        <p:txBody>
          <a:bodyPr wrap="square" rtlCol="0">
            <a:spAutoFit/>
          </a:bodyPr>
          <a:lstStyle/>
          <a:p>
            <a:pPr algn="ctr"/>
            <a:r>
              <a:rPr lang="zh-CN" altLang="en-US" sz="1200" b="1"/>
              <a:t>物理网格分配明细</a:t>
            </a:r>
            <a:endParaRPr lang="zh-CN" altLang="en-US" sz="1200" b="1"/>
          </a:p>
        </p:txBody>
      </p:sp>
      <p:sp>
        <p:nvSpPr>
          <p:cNvPr id="80" name="文本框 79"/>
          <p:cNvSpPr txBox="1"/>
          <p:nvPr/>
        </p:nvSpPr>
        <p:spPr>
          <a:xfrm>
            <a:off x="3338195" y="6200140"/>
            <a:ext cx="2063115" cy="275590"/>
          </a:xfrm>
          <a:prstGeom prst="rect">
            <a:avLst/>
          </a:prstGeom>
          <a:noFill/>
        </p:spPr>
        <p:txBody>
          <a:bodyPr wrap="square" rtlCol="0">
            <a:spAutoFit/>
          </a:bodyPr>
          <a:lstStyle/>
          <a:p>
            <a:pPr algn="ctr"/>
            <a:r>
              <a:rPr lang="zh-CN" altLang="en-US" sz="1200" b="1"/>
              <a:t>存量用户拍照明细</a:t>
            </a:r>
            <a:endParaRPr lang="zh-CN" altLang="en-US" sz="12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其他重点内容</a:t>
            </a:r>
            <a:r>
              <a:rPr lang="en-US" altLang="zh-CN" dirty="0">
                <a:sym typeface="+mn-ea"/>
              </a:rPr>
              <a:t>3</a:t>
            </a:r>
            <a:r>
              <a:rPr dirty="0">
                <a:sym typeface="+mn-ea"/>
              </a:rPr>
              <a:t>：</a:t>
            </a:r>
            <a:r>
              <a:rPr lang="zh-CN" altLang="en-US"/>
              <a:t>网格通</a:t>
            </a:r>
            <a:r>
              <a:rPr lang="en-US" altLang="zh-CN"/>
              <a:t>-</a:t>
            </a:r>
            <a:r>
              <a:rPr lang="zh-CN" altLang="en-US"/>
              <a:t>精益营销客户看管</a:t>
            </a:r>
            <a:endParaRPr lang="zh-CN" altLang="en-US"/>
          </a:p>
        </p:txBody>
      </p:sp>
      <p:grpSp>
        <p:nvGrpSpPr>
          <p:cNvPr id="148" name="组合 147"/>
          <p:cNvGrpSpPr/>
          <p:nvPr/>
        </p:nvGrpSpPr>
        <p:grpSpPr>
          <a:xfrm>
            <a:off x="758190" y="1191895"/>
            <a:ext cx="11123295" cy="2189480"/>
            <a:chOff x="616" y="1987"/>
            <a:chExt cx="17907" cy="6236"/>
          </a:xfrm>
        </p:grpSpPr>
        <p:pic>
          <p:nvPicPr>
            <p:cNvPr id="143" name="图片 142" descr="d2719f5ccb0298d256aaacf6bb5ed93"/>
            <p:cNvPicPr preferRelativeResize="0"/>
            <p:nvPr/>
          </p:nvPicPr>
          <p:blipFill>
            <a:blip r:embed="rId1"/>
            <a:stretch>
              <a:fillRect/>
            </a:stretch>
          </p:blipFill>
          <p:spPr>
            <a:xfrm>
              <a:off x="616" y="1987"/>
              <a:ext cx="2835" cy="6236"/>
            </a:xfrm>
            <a:prstGeom prst="rect">
              <a:avLst/>
            </a:prstGeom>
          </p:spPr>
        </p:pic>
        <p:pic>
          <p:nvPicPr>
            <p:cNvPr id="145" name="图片 144" descr="5c0bce24643143d43e22b43f8407830"/>
            <p:cNvPicPr preferRelativeResize="0"/>
            <p:nvPr/>
          </p:nvPicPr>
          <p:blipFill>
            <a:blip r:embed="rId2"/>
            <a:stretch>
              <a:fillRect/>
            </a:stretch>
          </p:blipFill>
          <p:spPr>
            <a:xfrm>
              <a:off x="8153" y="1987"/>
              <a:ext cx="2834" cy="6236"/>
            </a:xfrm>
            <a:prstGeom prst="rect">
              <a:avLst/>
            </a:prstGeom>
          </p:spPr>
        </p:pic>
        <p:pic>
          <p:nvPicPr>
            <p:cNvPr id="146" name="图片 145" descr="fab899aab13b8d67a2bad8a28aa0faf"/>
            <p:cNvPicPr preferRelativeResize="0"/>
            <p:nvPr/>
          </p:nvPicPr>
          <p:blipFill>
            <a:blip r:embed="rId3"/>
            <a:stretch>
              <a:fillRect/>
            </a:stretch>
          </p:blipFill>
          <p:spPr>
            <a:xfrm>
              <a:off x="4385" y="1987"/>
              <a:ext cx="2834" cy="6236"/>
            </a:xfrm>
            <a:prstGeom prst="rect">
              <a:avLst/>
            </a:prstGeom>
          </p:spPr>
        </p:pic>
        <p:pic>
          <p:nvPicPr>
            <p:cNvPr id="144" name="图片 143" descr="9a7d93af2acd3a09ad053f0e7f18c92"/>
            <p:cNvPicPr preferRelativeResize="0"/>
            <p:nvPr/>
          </p:nvPicPr>
          <p:blipFill>
            <a:blip r:embed="rId4"/>
            <a:stretch>
              <a:fillRect/>
            </a:stretch>
          </p:blipFill>
          <p:spPr>
            <a:xfrm>
              <a:off x="11921" y="1987"/>
              <a:ext cx="2834" cy="6236"/>
            </a:xfrm>
            <a:prstGeom prst="rect">
              <a:avLst/>
            </a:prstGeom>
          </p:spPr>
        </p:pic>
        <p:pic>
          <p:nvPicPr>
            <p:cNvPr id="147" name="图片 13"/>
            <p:cNvPicPr preferRelativeResize="0"/>
            <p:nvPr/>
          </p:nvPicPr>
          <p:blipFill>
            <a:blip r:embed="rId5" cstate="print">
              <a:extLst>
                <a:ext uri="{28A0092B-C50C-407E-A947-70E740481C1C}">
                  <a14:useLocalDpi xmlns:a14="http://schemas.microsoft.com/office/drawing/2010/main" val="0"/>
                </a:ext>
              </a:extLst>
            </a:blip>
            <a:srcRect/>
            <a:stretch>
              <a:fillRect/>
            </a:stretch>
          </p:blipFill>
          <p:spPr>
            <a:xfrm>
              <a:off x="15689" y="1987"/>
              <a:ext cx="2834" cy="6236"/>
            </a:xfrm>
            <a:prstGeom prst="rect">
              <a:avLst/>
            </a:prstGeom>
            <a:noFill/>
            <a:ln>
              <a:noFill/>
            </a:ln>
          </p:spPr>
        </p:pic>
      </p:grpSp>
      <p:sp>
        <p:nvSpPr>
          <p:cNvPr id="150" name="矩形 149"/>
          <p:cNvSpPr/>
          <p:nvPr/>
        </p:nvSpPr>
        <p:spPr>
          <a:xfrm>
            <a:off x="448310" y="3511550"/>
            <a:ext cx="11432540" cy="1185545"/>
          </a:xfrm>
          <a:prstGeom prst="rect">
            <a:avLst/>
          </a:prstGeom>
          <a:solidFill>
            <a:schemeClr val="bg1"/>
          </a:solidFill>
          <a:ln>
            <a:solidFill>
              <a:schemeClr val="bg1">
                <a:lumMod val="65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pic>
        <p:nvPicPr>
          <p:cNvPr id="152" name="图片 151"/>
          <p:cNvPicPr/>
          <p:nvPr/>
        </p:nvPicPr>
        <p:blipFill>
          <a:blip r:embed="rId6"/>
          <a:stretch>
            <a:fillRect/>
          </a:stretch>
        </p:blipFill>
        <p:spPr>
          <a:xfrm>
            <a:off x="504825" y="3530600"/>
            <a:ext cx="1100455" cy="886460"/>
          </a:xfrm>
          <a:prstGeom prst="rect">
            <a:avLst/>
          </a:prstGeom>
        </p:spPr>
      </p:pic>
      <p:sp>
        <p:nvSpPr>
          <p:cNvPr id="153" name="文本框 152"/>
          <p:cNvSpPr txBox="1"/>
          <p:nvPr/>
        </p:nvSpPr>
        <p:spPr>
          <a:xfrm>
            <a:off x="414020" y="4475480"/>
            <a:ext cx="1407160" cy="198755"/>
          </a:xfrm>
          <a:prstGeom prst="rect">
            <a:avLst/>
          </a:prstGeom>
          <a:noFill/>
        </p:spPr>
        <p:txBody>
          <a:bodyPr wrap="square" rtlCol="0">
            <a:spAutoFit/>
          </a:bodyPr>
          <a:lstStyle/>
          <a:p>
            <a:r>
              <a:rPr lang="zh-CN" altLang="en-US" sz="700"/>
              <a:t>网格通精益营销入口</a:t>
            </a:r>
            <a:endParaRPr lang="zh-CN" altLang="en-US" sz="700"/>
          </a:p>
        </p:txBody>
      </p:sp>
      <p:grpSp>
        <p:nvGrpSpPr>
          <p:cNvPr id="154" name="组合 153"/>
          <p:cNvGrpSpPr/>
          <p:nvPr/>
        </p:nvGrpSpPr>
        <p:grpSpPr>
          <a:xfrm>
            <a:off x="1895475" y="3530600"/>
            <a:ext cx="1073150" cy="1251585"/>
            <a:chOff x="2895" y="1746"/>
            <a:chExt cx="1700" cy="3203"/>
          </a:xfrm>
        </p:grpSpPr>
        <p:sp>
          <p:nvSpPr>
            <p:cNvPr id="155" name="文本框 154"/>
            <p:cNvSpPr txBox="1"/>
            <p:nvPr/>
          </p:nvSpPr>
          <p:spPr>
            <a:xfrm>
              <a:off x="3104" y="4164"/>
              <a:ext cx="1281" cy="785"/>
            </a:xfrm>
            <a:prstGeom prst="rect">
              <a:avLst/>
            </a:prstGeom>
            <a:noFill/>
          </p:spPr>
          <p:txBody>
            <a:bodyPr wrap="square" rtlCol="0">
              <a:spAutoFit/>
            </a:bodyPr>
            <a:lstStyle/>
            <a:p>
              <a:r>
                <a:rPr lang="zh-CN" altLang="en-US" sz="700"/>
                <a:t>我的看管</a:t>
              </a:r>
              <a:endParaRPr lang="zh-CN" altLang="en-US" sz="700"/>
            </a:p>
            <a:p>
              <a:r>
                <a:rPr lang="zh-CN" altLang="en-US" sz="700"/>
                <a:t>客户列表</a:t>
              </a:r>
              <a:endParaRPr lang="zh-CN" altLang="en-US" sz="700"/>
            </a:p>
          </p:txBody>
        </p:sp>
        <p:pic>
          <p:nvPicPr>
            <p:cNvPr id="156" name="图片 1"/>
            <p:cNvPicPr/>
            <p:nvPr/>
          </p:nvPicPr>
          <p:blipFill>
            <a:blip r:embed="rId7"/>
            <a:stretch>
              <a:fillRect/>
            </a:stretch>
          </p:blipFill>
          <p:spPr>
            <a:xfrm>
              <a:off x="2895" y="1746"/>
              <a:ext cx="1700" cy="2268"/>
            </a:xfrm>
            <a:prstGeom prst="rect">
              <a:avLst/>
            </a:prstGeom>
          </p:spPr>
        </p:pic>
      </p:grpSp>
      <p:grpSp>
        <p:nvGrpSpPr>
          <p:cNvPr id="157" name="组合 156"/>
          <p:cNvGrpSpPr/>
          <p:nvPr/>
        </p:nvGrpSpPr>
        <p:grpSpPr>
          <a:xfrm>
            <a:off x="3223895" y="3530600"/>
            <a:ext cx="1073150" cy="1144270"/>
            <a:chOff x="4936" y="1746"/>
            <a:chExt cx="1700" cy="2927"/>
          </a:xfrm>
        </p:grpSpPr>
        <p:sp>
          <p:nvSpPr>
            <p:cNvPr id="158" name="文本框 157"/>
            <p:cNvSpPr txBox="1"/>
            <p:nvPr/>
          </p:nvSpPr>
          <p:spPr>
            <a:xfrm>
              <a:off x="5069" y="4164"/>
              <a:ext cx="1567" cy="509"/>
            </a:xfrm>
            <a:prstGeom prst="rect">
              <a:avLst/>
            </a:prstGeom>
            <a:noFill/>
          </p:spPr>
          <p:txBody>
            <a:bodyPr wrap="square" rtlCol="0">
              <a:spAutoFit/>
            </a:bodyPr>
            <a:lstStyle/>
            <a:p>
              <a:r>
                <a:rPr lang="zh-CN" altLang="en-US" sz="700"/>
                <a:t>查看用户数据</a:t>
              </a:r>
              <a:endParaRPr lang="zh-CN" altLang="en-US" sz="700"/>
            </a:p>
          </p:txBody>
        </p:sp>
        <p:pic>
          <p:nvPicPr>
            <p:cNvPr id="159" name="图片 1"/>
            <p:cNvPicPr/>
            <p:nvPr/>
          </p:nvPicPr>
          <p:blipFill>
            <a:blip r:embed="rId8"/>
            <a:stretch>
              <a:fillRect/>
            </a:stretch>
          </p:blipFill>
          <p:spPr>
            <a:xfrm>
              <a:off x="4936" y="1746"/>
              <a:ext cx="1700" cy="2268"/>
            </a:xfrm>
            <a:prstGeom prst="rect">
              <a:avLst/>
            </a:prstGeom>
          </p:spPr>
        </p:pic>
      </p:grpSp>
      <p:grpSp>
        <p:nvGrpSpPr>
          <p:cNvPr id="160" name="组合 159"/>
          <p:cNvGrpSpPr/>
          <p:nvPr/>
        </p:nvGrpSpPr>
        <p:grpSpPr>
          <a:xfrm>
            <a:off x="4476115" y="3530600"/>
            <a:ext cx="1073150" cy="1251585"/>
            <a:chOff x="6977" y="1746"/>
            <a:chExt cx="1700" cy="3203"/>
          </a:xfrm>
        </p:grpSpPr>
        <p:pic>
          <p:nvPicPr>
            <p:cNvPr id="161" name="图片 2"/>
            <p:cNvPicPr/>
            <p:nvPr/>
          </p:nvPicPr>
          <p:blipFill>
            <a:blip r:embed="rId9" cstate="print">
              <a:extLst>
                <a:ext uri="{28A0092B-C50C-407E-A947-70E740481C1C}">
                  <a14:useLocalDpi xmlns:a14="http://schemas.microsoft.com/office/drawing/2010/main" val="0"/>
                </a:ext>
              </a:extLst>
            </a:blip>
            <a:srcRect/>
            <a:stretch>
              <a:fillRect/>
            </a:stretch>
          </p:blipFill>
          <p:spPr>
            <a:xfrm>
              <a:off x="6977" y="1746"/>
              <a:ext cx="1700" cy="2268"/>
            </a:xfrm>
            <a:prstGeom prst="rect">
              <a:avLst/>
            </a:prstGeom>
            <a:noFill/>
            <a:ln>
              <a:noFill/>
            </a:ln>
          </p:spPr>
        </p:pic>
        <p:sp>
          <p:nvSpPr>
            <p:cNvPr id="162" name="文本框 161"/>
            <p:cNvSpPr txBox="1"/>
            <p:nvPr/>
          </p:nvSpPr>
          <p:spPr>
            <a:xfrm>
              <a:off x="7110" y="4164"/>
              <a:ext cx="1567" cy="785"/>
            </a:xfrm>
            <a:prstGeom prst="rect">
              <a:avLst/>
            </a:prstGeom>
            <a:noFill/>
          </p:spPr>
          <p:txBody>
            <a:bodyPr wrap="square" rtlCol="0">
              <a:spAutoFit/>
            </a:bodyPr>
            <a:lstStyle/>
            <a:p>
              <a:r>
                <a:rPr lang="zh-CN" altLang="en-US" sz="700"/>
                <a:t>查看用户信息及活动</a:t>
              </a:r>
              <a:endParaRPr lang="zh-CN" altLang="en-US" sz="700"/>
            </a:p>
          </p:txBody>
        </p:sp>
      </p:grpSp>
      <p:grpSp>
        <p:nvGrpSpPr>
          <p:cNvPr id="163" name="组合 162"/>
          <p:cNvGrpSpPr/>
          <p:nvPr/>
        </p:nvGrpSpPr>
        <p:grpSpPr>
          <a:xfrm>
            <a:off x="5728970" y="3530600"/>
            <a:ext cx="1073150" cy="1144270"/>
            <a:chOff x="9018" y="1746"/>
            <a:chExt cx="1700" cy="2927"/>
          </a:xfrm>
        </p:grpSpPr>
        <p:sp>
          <p:nvSpPr>
            <p:cNvPr id="164" name="文本框 163"/>
            <p:cNvSpPr txBox="1"/>
            <p:nvPr/>
          </p:nvSpPr>
          <p:spPr>
            <a:xfrm>
              <a:off x="9204" y="4164"/>
              <a:ext cx="1266" cy="509"/>
            </a:xfrm>
            <a:prstGeom prst="rect">
              <a:avLst/>
            </a:prstGeom>
            <a:noFill/>
          </p:spPr>
          <p:txBody>
            <a:bodyPr wrap="square" rtlCol="0">
              <a:spAutoFit/>
            </a:bodyPr>
            <a:lstStyle/>
            <a:p>
              <a:r>
                <a:rPr lang="zh-CN" altLang="en-US" sz="700"/>
                <a:t>拨打电话</a:t>
              </a:r>
              <a:endParaRPr lang="zh-CN" altLang="en-US" sz="700"/>
            </a:p>
          </p:txBody>
        </p:sp>
        <p:pic>
          <p:nvPicPr>
            <p:cNvPr id="165" name="图片 1"/>
            <p:cNvPicPr/>
            <p:nvPr/>
          </p:nvPicPr>
          <p:blipFill>
            <a:blip r:embed="rId10"/>
            <a:stretch>
              <a:fillRect/>
            </a:stretch>
          </p:blipFill>
          <p:spPr>
            <a:xfrm>
              <a:off x="9018" y="1746"/>
              <a:ext cx="1700" cy="2268"/>
            </a:xfrm>
            <a:prstGeom prst="rect">
              <a:avLst/>
            </a:prstGeom>
          </p:spPr>
        </p:pic>
      </p:grpSp>
      <p:grpSp>
        <p:nvGrpSpPr>
          <p:cNvPr id="166" name="组合 165"/>
          <p:cNvGrpSpPr/>
          <p:nvPr/>
        </p:nvGrpSpPr>
        <p:grpSpPr>
          <a:xfrm>
            <a:off x="8234045" y="3530600"/>
            <a:ext cx="1073150" cy="1144270"/>
            <a:chOff x="13100" y="1746"/>
            <a:chExt cx="1700" cy="2927"/>
          </a:xfrm>
        </p:grpSpPr>
        <p:pic>
          <p:nvPicPr>
            <p:cNvPr id="167" name="图片 3"/>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3100" y="1746"/>
              <a:ext cx="1700" cy="2268"/>
            </a:xfrm>
            <a:prstGeom prst="rect">
              <a:avLst/>
            </a:prstGeom>
            <a:noFill/>
            <a:ln>
              <a:noFill/>
            </a:ln>
          </p:spPr>
        </p:pic>
        <p:sp>
          <p:nvSpPr>
            <p:cNvPr id="168" name="文本框 167"/>
            <p:cNvSpPr txBox="1"/>
            <p:nvPr/>
          </p:nvSpPr>
          <p:spPr>
            <a:xfrm>
              <a:off x="13294" y="4164"/>
              <a:ext cx="1266" cy="509"/>
            </a:xfrm>
            <a:prstGeom prst="rect">
              <a:avLst/>
            </a:prstGeom>
            <a:noFill/>
          </p:spPr>
          <p:txBody>
            <a:bodyPr wrap="square" rtlCol="0">
              <a:spAutoFit/>
            </a:bodyPr>
            <a:lstStyle/>
            <a:p>
              <a:r>
                <a:rPr lang="zh-CN" altLang="en-US" sz="700"/>
                <a:t>下发放音</a:t>
              </a:r>
              <a:endParaRPr lang="zh-CN" altLang="en-US" sz="700"/>
            </a:p>
          </p:txBody>
        </p:sp>
      </p:grpSp>
      <p:grpSp>
        <p:nvGrpSpPr>
          <p:cNvPr id="169" name="组合 168"/>
          <p:cNvGrpSpPr/>
          <p:nvPr/>
        </p:nvGrpSpPr>
        <p:grpSpPr>
          <a:xfrm>
            <a:off x="9486900" y="3530600"/>
            <a:ext cx="1073150" cy="1144270"/>
            <a:chOff x="15141" y="1746"/>
            <a:chExt cx="1700" cy="2927"/>
          </a:xfrm>
        </p:grpSpPr>
        <p:pic>
          <p:nvPicPr>
            <p:cNvPr id="170" name="图片 4"/>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5141" y="1746"/>
              <a:ext cx="1700" cy="2268"/>
            </a:xfrm>
            <a:prstGeom prst="rect">
              <a:avLst/>
            </a:prstGeom>
            <a:noFill/>
            <a:ln>
              <a:noFill/>
            </a:ln>
          </p:spPr>
        </p:pic>
        <p:sp>
          <p:nvSpPr>
            <p:cNvPr id="171" name="文本框 170"/>
            <p:cNvSpPr txBox="1"/>
            <p:nvPr/>
          </p:nvSpPr>
          <p:spPr>
            <a:xfrm>
              <a:off x="15418" y="4164"/>
              <a:ext cx="1146" cy="509"/>
            </a:xfrm>
            <a:prstGeom prst="rect">
              <a:avLst/>
            </a:prstGeom>
            <a:noFill/>
          </p:spPr>
          <p:txBody>
            <a:bodyPr wrap="square" rtlCol="0">
              <a:spAutoFit/>
            </a:bodyPr>
            <a:lstStyle/>
            <a:p>
              <a:r>
                <a:rPr lang="zh-CN" altLang="en-US" sz="700"/>
                <a:t>放音成功</a:t>
              </a:r>
              <a:endParaRPr lang="zh-CN" altLang="en-US" sz="700"/>
            </a:p>
          </p:txBody>
        </p:sp>
      </p:grpSp>
      <p:grpSp>
        <p:nvGrpSpPr>
          <p:cNvPr id="172" name="组合 171"/>
          <p:cNvGrpSpPr/>
          <p:nvPr/>
        </p:nvGrpSpPr>
        <p:grpSpPr>
          <a:xfrm>
            <a:off x="6981825" y="3530600"/>
            <a:ext cx="1073150" cy="1251585"/>
            <a:chOff x="11059" y="1746"/>
            <a:chExt cx="1700" cy="3203"/>
          </a:xfrm>
        </p:grpSpPr>
        <p:pic>
          <p:nvPicPr>
            <p:cNvPr id="173" name="图片 5"/>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1059" y="1746"/>
              <a:ext cx="1700" cy="2268"/>
            </a:xfrm>
            <a:prstGeom prst="rect">
              <a:avLst/>
            </a:prstGeom>
            <a:noFill/>
            <a:ln>
              <a:noFill/>
            </a:ln>
          </p:spPr>
        </p:pic>
        <p:sp>
          <p:nvSpPr>
            <p:cNvPr id="174" name="文本框 173"/>
            <p:cNvSpPr txBox="1"/>
            <p:nvPr/>
          </p:nvSpPr>
          <p:spPr>
            <a:xfrm>
              <a:off x="11276" y="4164"/>
              <a:ext cx="1266" cy="785"/>
            </a:xfrm>
            <a:prstGeom prst="rect">
              <a:avLst/>
            </a:prstGeom>
            <a:noFill/>
          </p:spPr>
          <p:txBody>
            <a:bodyPr wrap="square" rtlCol="0">
              <a:spAutoFit/>
            </a:bodyPr>
            <a:lstStyle/>
            <a:p>
              <a:r>
                <a:rPr lang="zh-CN" altLang="en-US" sz="700"/>
                <a:t>选择活动进行放音</a:t>
              </a:r>
              <a:endParaRPr lang="zh-CN" altLang="en-US" sz="700"/>
            </a:p>
          </p:txBody>
        </p:sp>
      </p:grpSp>
      <p:grpSp>
        <p:nvGrpSpPr>
          <p:cNvPr id="175" name="组合 174"/>
          <p:cNvGrpSpPr/>
          <p:nvPr/>
        </p:nvGrpSpPr>
        <p:grpSpPr>
          <a:xfrm>
            <a:off x="10739120" y="3530600"/>
            <a:ext cx="1074420" cy="1144270"/>
            <a:chOff x="17182" y="1746"/>
            <a:chExt cx="1702" cy="2927"/>
          </a:xfrm>
        </p:grpSpPr>
        <p:pic>
          <p:nvPicPr>
            <p:cNvPr id="176" name="图片 3"/>
            <p:cNvPicPr/>
            <p:nvPr/>
          </p:nvPicPr>
          <p:blipFill>
            <a:blip r:embed="rId14" cstate="print">
              <a:extLst>
                <a:ext uri="{28A0092B-C50C-407E-A947-70E740481C1C}">
                  <a14:useLocalDpi xmlns:a14="http://schemas.microsoft.com/office/drawing/2010/main" val="0"/>
                </a:ext>
              </a:extLst>
            </a:blip>
            <a:srcRect/>
            <a:stretch>
              <a:fillRect/>
            </a:stretch>
          </p:blipFill>
          <p:spPr>
            <a:xfrm>
              <a:off x="17182" y="1746"/>
              <a:ext cx="1700" cy="2268"/>
            </a:xfrm>
            <a:prstGeom prst="rect">
              <a:avLst/>
            </a:prstGeom>
            <a:noFill/>
            <a:ln>
              <a:noFill/>
            </a:ln>
          </p:spPr>
        </p:pic>
        <p:sp>
          <p:nvSpPr>
            <p:cNvPr id="177" name="文本框 176"/>
            <p:cNvSpPr txBox="1"/>
            <p:nvPr/>
          </p:nvSpPr>
          <p:spPr>
            <a:xfrm>
              <a:off x="17385" y="4164"/>
              <a:ext cx="1499" cy="509"/>
            </a:xfrm>
            <a:prstGeom prst="rect">
              <a:avLst/>
            </a:prstGeom>
            <a:noFill/>
          </p:spPr>
          <p:txBody>
            <a:bodyPr wrap="square" rtlCol="0">
              <a:spAutoFit/>
            </a:bodyPr>
            <a:lstStyle/>
            <a:p>
              <a:r>
                <a:rPr lang="zh-CN" altLang="en-US" sz="700"/>
                <a:t>办理情况记录</a:t>
              </a:r>
              <a:endParaRPr lang="zh-CN" altLang="en-US" sz="700"/>
            </a:p>
          </p:txBody>
        </p:sp>
      </p:grpSp>
      <p:sp>
        <p:nvSpPr>
          <p:cNvPr id="178" name="文本框 177"/>
          <p:cNvSpPr txBox="1"/>
          <p:nvPr/>
        </p:nvSpPr>
        <p:spPr>
          <a:xfrm>
            <a:off x="59055" y="3649345"/>
            <a:ext cx="321310" cy="826770"/>
          </a:xfrm>
          <a:prstGeom prst="rect">
            <a:avLst/>
          </a:prstGeom>
          <a:noFill/>
        </p:spPr>
        <p:txBody>
          <a:bodyPr vert="eaVert" wrap="square" rtlCol="0">
            <a:spAutoFit/>
          </a:bodyPr>
          <a:lstStyle/>
          <a:p>
            <a:r>
              <a:rPr lang="zh-CN" altLang="en-US" sz="900" b="1"/>
              <a:t>客户看管流程</a:t>
            </a:r>
            <a:endParaRPr lang="zh-CN" altLang="en-US" sz="900" b="1"/>
          </a:p>
        </p:txBody>
      </p:sp>
      <p:pic>
        <p:nvPicPr>
          <p:cNvPr id="179" name="图片 7"/>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a:xfrm>
            <a:off x="504825" y="3536315"/>
            <a:ext cx="1101090" cy="879475"/>
          </a:xfrm>
          <a:prstGeom prst="rect">
            <a:avLst/>
          </a:prstGeom>
          <a:noFill/>
          <a:ln>
            <a:noFill/>
          </a:ln>
        </p:spPr>
      </p:pic>
      <p:sp>
        <p:nvSpPr>
          <p:cNvPr id="181" name="矩形 180"/>
          <p:cNvSpPr/>
          <p:nvPr/>
        </p:nvSpPr>
        <p:spPr>
          <a:xfrm>
            <a:off x="459105" y="4735830"/>
            <a:ext cx="11421110" cy="1118870"/>
          </a:xfrm>
          <a:prstGeom prst="rect">
            <a:avLst/>
          </a:prstGeom>
          <a:solidFill>
            <a:schemeClr val="bg1"/>
          </a:solidFill>
          <a:ln>
            <a:solidFill>
              <a:schemeClr val="bg1">
                <a:lumMod val="65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700"/>
          </a:p>
        </p:txBody>
      </p:sp>
      <p:sp>
        <p:nvSpPr>
          <p:cNvPr id="182" name="文本框 181"/>
          <p:cNvSpPr txBox="1"/>
          <p:nvPr/>
        </p:nvSpPr>
        <p:spPr>
          <a:xfrm>
            <a:off x="563880" y="5650865"/>
            <a:ext cx="954405" cy="183515"/>
          </a:xfrm>
          <a:prstGeom prst="rect">
            <a:avLst/>
          </a:prstGeom>
          <a:noFill/>
        </p:spPr>
        <p:txBody>
          <a:bodyPr wrap="square" rtlCol="0">
            <a:spAutoFit/>
          </a:bodyPr>
          <a:lstStyle/>
          <a:p>
            <a:r>
              <a:rPr lang="zh-CN" altLang="en-US" sz="600"/>
              <a:t>我的任务列表</a:t>
            </a:r>
            <a:endParaRPr lang="zh-CN" altLang="en-US" sz="600"/>
          </a:p>
        </p:txBody>
      </p:sp>
      <p:sp>
        <p:nvSpPr>
          <p:cNvPr id="183" name="文本框 182"/>
          <p:cNvSpPr txBox="1"/>
          <p:nvPr/>
        </p:nvSpPr>
        <p:spPr>
          <a:xfrm>
            <a:off x="3137535" y="5650865"/>
            <a:ext cx="760730" cy="183515"/>
          </a:xfrm>
          <a:prstGeom prst="rect">
            <a:avLst/>
          </a:prstGeom>
          <a:noFill/>
        </p:spPr>
        <p:txBody>
          <a:bodyPr wrap="square" rtlCol="0">
            <a:spAutoFit/>
          </a:bodyPr>
          <a:lstStyle/>
          <a:p>
            <a:r>
              <a:rPr lang="zh-CN" altLang="en-US" sz="600"/>
              <a:t>进入活动</a:t>
            </a:r>
            <a:endParaRPr lang="zh-CN" altLang="en-US" sz="600"/>
          </a:p>
        </p:txBody>
      </p:sp>
      <p:grpSp>
        <p:nvGrpSpPr>
          <p:cNvPr id="184" name="组合 183"/>
          <p:cNvGrpSpPr/>
          <p:nvPr/>
        </p:nvGrpSpPr>
        <p:grpSpPr>
          <a:xfrm>
            <a:off x="4231005" y="4784090"/>
            <a:ext cx="1072515" cy="1050290"/>
            <a:chOff x="9018" y="1746"/>
            <a:chExt cx="1700" cy="2847"/>
          </a:xfrm>
        </p:grpSpPr>
        <p:sp>
          <p:nvSpPr>
            <p:cNvPr id="185" name="文本框 184"/>
            <p:cNvSpPr txBox="1"/>
            <p:nvPr/>
          </p:nvSpPr>
          <p:spPr>
            <a:xfrm>
              <a:off x="9292" y="4096"/>
              <a:ext cx="1266" cy="497"/>
            </a:xfrm>
            <a:prstGeom prst="rect">
              <a:avLst/>
            </a:prstGeom>
            <a:noFill/>
          </p:spPr>
          <p:txBody>
            <a:bodyPr wrap="square" rtlCol="0">
              <a:spAutoFit/>
            </a:bodyPr>
            <a:lstStyle/>
            <a:p>
              <a:r>
                <a:rPr lang="zh-CN" altLang="en-US" sz="600"/>
                <a:t>拨打电话</a:t>
              </a:r>
              <a:endParaRPr lang="zh-CN" altLang="en-US" sz="600"/>
            </a:p>
          </p:txBody>
        </p:sp>
        <p:pic>
          <p:nvPicPr>
            <p:cNvPr id="186" name="图片 1"/>
            <p:cNvPicPr/>
            <p:nvPr/>
          </p:nvPicPr>
          <p:blipFill>
            <a:blip r:embed="rId10"/>
            <a:stretch>
              <a:fillRect/>
            </a:stretch>
          </p:blipFill>
          <p:spPr>
            <a:xfrm>
              <a:off x="9018" y="1746"/>
              <a:ext cx="1700" cy="2268"/>
            </a:xfrm>
            <a:prstGeom prst="rect">
              <a:avLst/>
            </a:prstGeom>
          </p:spPr>
        </p:pic>
      </p:grpSp>
      <p:grpSp>
        <p:nvGrpSpPr>
          <p:cNvPr id="187" name="组合 186"/>
          <p:cNvGrpSpPr/>
          <p:nvPr/>
        </p:nvGrpSpPr>
        <p:grpSpPr>
          <a:xfrm>
            <a:off x="6944360" y="4791075"/>
            <a:ext cx="1072515" cy="1042670"/>
            <a:chOff x="13100" y="1746"/>
            <a:chExt cx="1700" cy="2934"/>
          </a:xfrm>
        </p:grpSpPr>
        <p:pic>
          <p:nvPicPr>
            <p:cNvPr id="188" name="图片 3"/>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3100" y="1746"/>
              <a:ext cx="1700" cy="2268"/>
            </a:xfrm>
            <a:prstGeom prst="rect">
              <a:avLst/>
            </a:prstGeom>
            <a:noFill/>
            <a:ln>
              <a:noFill/>
            </a:ln>
          </p:spPr>
        </p:pic>
        <p:sp>
          <p:nvSpPr>
            <p:cNvPr id="189" name="文本框 188"/>
            <p:cNvSpPr txBox="1"/>
            <p:nvPr/>
          </p:nvSpPr>
          <p:spPr>
            <a:xfrm>
              <a:off x="13205" y="4164"/>
              <a:ext cx="1266" cy="516"/>
            </a:xfrm>
            <a:prstGeom prst="rect">
              <a:avLst/>
            </a:prstGeom>
            <a:noFill/>
          </p:spPr>
          <p:txBody>
            <a:bodyPr wrap="square" rtlCol="0">
              <a:spAutoFit/>
            </a:bodyPr>
            <a:lstStyle/>
            <a:p>
              <a:r>
                <a:rPr lang="zh-CN" altLang="en-US" sz="600"/>
                <a:t>下发放音</a:t>
              </a:r>
              <a:endParaRPr lang="zh-CN" altLang="en-US" sz="600"/>
            </a:p>
          </p:txBody>
        </p:sp>
      </p:grpSp>
      <p:grpSp>
        <p:nvGrpSpPr>
          <p:cNvPr id="190" name="组合 189"/>
          <p:cNvGrpSpPr/>
          <p:nvPr/>
        </p:nvGrpSpPr>
        <p:grpSpPr>
          <a:xfrm>
            <a:off x="8195310" y="4791075"/>
            <a:ext cx="1072515" cy="1042670"/>
            <a:chOff x="15141" y="1746"/>
            <a:chExt cx="1700" cy="2934"/>
          </a:xfrm>
        </p:grpSpPr>
        <p:pic>
          <p:nvPicPr>
            <p:cNvPr id="191" name="图片 4"/>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5141" y="1746"/>
              <a:ext cx="1700" cy="2268"/>
            </a:xfrm>
            <a:prstGeom prst="rect">
              <a:avLst/>
            </a:prstGeom>
            <a:noFill/>
            <a:ln>
              <a:noFill/>
            </a:ln>
          </p:spPr>
        </p:pic>
        <p:sp>
          <p:nvSpPr>
            <p:cNvPr id="192" name="文本框 191"/>
            <p:cNvSpPr txBox="1"/>
            <p:nvPr/>
          </p:nvSpPr>
          <p:spPr>
            <a:xfrm>
              <a:off x="15328" y="4164"/>
              <a:ext cx="1146" cy="516"/>
            </a:xfrm>
            <a:prstGeom prst="rect">
              <a:avLst/>
            </a:prstGeom>
            <a:noFill/>
          </p:spPr>
          <p:txBody>
            <a:bodyPr wrap="square" rtlCol="0">
              <a:spAutoFit/>
            </a:bodyPr>
            <a:lstStyle/>
            <a:p>
              <a:r>
                <a:rPr lang="zh-CN" altLang="en-US" sz="600"/>
                <a:t>放音成功</a:t>
              </a:r>
              <a:endParaRPr lang="zh-CN" altLang="en-US" sz="600"/>
            </a:p>
          </p:txBody>
        </p:sp>
      </p:grpSp>
      <p:grpSp>
        <p:nvGrpSpPr>
          <p:cNvPr id="193" name="组合 192"/>
          <p:cNvGrpSpPr/>
          <p:nvPr/>
        </p:nvGrpSpPr>
        <p:grpSpPr>
          <a:xfrm>
            <a:off x="5692775" y="4791075"/>
            <a:ext cx="1072515" cy="1042670"/>
            <a:chOff x="11059" y="1746"/>
            <a:chExt cx="1700" cy="2929"/>
          </a:xfrm>
        </p:grpSpPr>
        <p:pic>
          <p:nvPicPr>
            <p:cNvPr id="194" name="图片 5"/>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1059" y="1746"/>
              <a:ext cx="1700" cy="2268"/>
            </a:xfrm>
            <a:prstGeom prst="rect">
              <a:avLst/>
            </a:prstGeom>
            <a:noFill/>
            <a:ln>
              <a:noFill/>
            </a:ln>
          </p:spPr>
        </p:pic>
        <p:sp>
          <p:nvSpPr>
            <p:cNvPr id="195" name="文本框 194"/>
            <p:cNvSpPr txBox="1"/>
            <p:nvPr/>
          </p:nvSpPr>
          <p:spPr>
            <a:xfrm>
              <a:off x="11081" y="4160"/>
              <a:ext cx="1266" cy="515"/>
            </a:xfrm>
            <a:prstGeom prst="rect">
              <a:avLst/>
            </a:prstGeom>
            <a:noFill/>
          </p:spPr>
          <p:txBody>
            <a:bodyPr wrap="square" rtlCol="0">
              <a:spAutoFit/>
            </a:bodyPr>
            <a:lstStyle/>
            <a:p>
              <a:r>
                <a:rPr lang="zh-CN" altLang="en-US" sz="600"/>
                <a:t>选择活动进行放音</a:t>
              </a:r>
              <a:endParaRPr lang="zh-CN" altLang="en-US" sz="600"/>
            </a:p>
          </p:txBody>
        </p:sp>
      </p:grpSp>
      <p:grpSp>
        <p:nvGrpSpPr>
          <p:cNvPr id="196" name="组合 195"/>
          <p:cNvGrpSpPr/>
          <p:nvPr/>
        </p:nvGrpSpPr>
        <p:grpSpPr>
          <a:xfrm>
            <a:off x="9446895" y="4784090"/>
            <a:ext cx="2215515" cy="1076960"/>
            <a:chOff x="17182" y="1830"/>
            <a:chExt cx="3513" cy="2919"/>
          </a:xfrm>
        </p:grpSpPr>
        <p:pic>
          <p:nvPicPr>
            <p:cNvPr id="197" name="图片 3"/>
            <p:cNvPicPr/>
            <p:nvPr/>
          </p:nvPicPr>
          <p:blipFill>
            <a:blip r:embed="rId19" cstate="print">
              <a:extLst>
                <a:ext uri="{28A0092B-C50C-407E-A947-70E740481C1C}">
                  <a14:useLocalDpi xmlns:a14="http://schemas.microsoft.com/office/drawing/2010/main" val="0"/>
                </a:ext>
              </a:extLst>
            </a:blip>
            <a:srcRect/>
            <a:stretch>
              <a:fillRect/>
            </a:stretch>
          </p:blipFill>
          <p:spPr>
            <a:xfrm>
              <a:off x="17182" y="1830"/>
              <a:ext cx="1700" cy="2184"/>
            </a:xfrm>
            <a:prstGeom prst="rect">
              <a:avLst/>
            </a:prstGeom>
            <a:noFill/>
            <a:ln>
              <a:noFill/>
            </a:ln>
          </p:spPr>
        </p:pic>
        <p:sp>
          <p:nvSpPr>
            <p:cNvPr id="198" name="文本框 197"/>
            <p:cNvSpPr txBox="1"/>
            <p:nvPr/>
          </p:nvSpPr>
          <p:spPr>
            <a:xfrm>
              <a:off x="17331" y="4180"/>
              <a:ext cx="1498" cy="497"/>
            </a:xfrm>
            <a:prstGeom prst="rect">
              <a:avLst/>
            </a:prstGeom>
            <a:noFill/>
          </p:spPr>
          <p:txBody>
            <a:bodyPr wrap="square" rtlCol="0">
              <a:spAutoFit/>
            </a:bodyPr>
            <a:lstStyle/>
            <a:p>
              <a:r>
                <a:rPr lang="zh-CN" altLang="en-US" sz="600"/>
                <a:t>办理情况记录</a:t>
              </a:r>
              <a:endParaRPr lang="zh-CN" altLang="en-US" sz="600"/>
            </a:p>
          </p:txBody>
        </p:sp>
        <p:sp>
          <p:nvSpPr>
            <p:cNvPr id="199" name="文本框 198"/>
            <p:cNvSpPr txBox="1"/>
            <p:nvPr/>
          </p:nvSpPr>
          <p:spPr>
            <a:xfrm>
              <a:off x="19630" y="4252"/>
              <a:ext cx="1065" cy="497"/>
            </a:xfrm>
            <a:prstGeom prst="rect">
              <a:avLst/>
            </a:prstGeom>
            <a:noFill/>
          </p:spPr>
          <p:txBody>
            <a:bodyPr wrap="square" rtlCol="0">
              <a:spAutoFit/>
            </a:bodyPr>
            <a:lstStyle/>
            <a:p>
              <a:r>
                <a:rPr lang="zh-CN" altLang="en-US" sz="600"/>
                <a:t>维系结果查询</a:t>
              </a:r>
              <a:endParaRPr lang="zh-CN" altLang="en-US" sz="600"/>
            </a:p>
          </p:txBody>
        </p:sp>
      </p:grpSp>
      <p:sp>
        <p:nvSpPr>
          <p:cNvPr id="200" name="文本框 199"/>
          <p:cNvSpPr txBox="1"/>
          <p:nvPr/>
        </p:nvSpPr>
        <p:spPr>
          <a:xfrm>
            <a:off x="69850" y="4846955"/>
            <a:ext cx="321310" cy="723900"/>
          </a:xfrm>
          <a:prstGeom prst="rect">
            <a:avLst/>
          </a:prstGeom>
          <a:noFill/>
        </p:spPr>
        <p:txBody>
          <a:bodyPr vert="eaVert" wrap="square" rtlCol="0">
            <a:spAutoFit/>
          </a:bodyPr>
          <a:lstStyle/>
          <a:p>
            <a:r>
              <a:rPr lang="en-US" altLang="zh-CN" sz="800" b="1"/>
              <a:t>  </a:t>
            </a:r>
            <a:r>
              <a:rPr lang="en-US" altLang="zh-CN" sz="900" b="1"/>
              <a:t> </a:t>
            </a:r>
            <a:r>
              <a:rPr lang="zh-CN" altLang="en-US" sz="900" b="1"/>
              <a:t>我的任务</a:t>
            </a:r>
            <a:endParaRPr lang="zh-CN" altLang="en-US" sz="900" b="1"/>
          </a:p>
        </p:txBody>
      </p:sp>
      <p:pic>
        <p:nvPicPr>
          <p:cNvPr id="201" name="图片 1"/>
          <p:cNvPicPr>
            <a:picLocks noChangeAspect="1"/>
          </p:cNvPicPr>
          <p:nvPr/>
        </p:nvPicPr>
        <p:blipFill>
          <a:blip r:embed="rId20"/>
          <a:stretch>
            <a:fillRect/>
          </a:stretch>
        </p:blipFill>
        <p:spPr>
          <a:xfrm>
            <a:off x="514985" y="4790440"/>
            <a:ext cx="1099820" cy="836295"/>
          </a:xfrm>
          <a:prstGeom prst="rect">
            <a:avLst/>
          </a:prstGeom>
        </p:spPr>
      </p:pic>
      <p:pic>
        <p:nvPicPr>
          <p:cNvPr id="202" name="图片 5"/>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a:xfrm>
            <a:off x="1745615" y="4790440"/>
            <a:ext cx="1098550" cy="854075"/>
          </a:xfrm>
          <a:prstGeom prst="rect">
            <a:avLst/>
          </a:prstGeom>
          <a:noFill/>
          <a:ln>
            <a:noFill/>
          </a:ln>
        </p:spPr>
      </p:pic>
      <p:sp>
        <p:nvSpPr>
          <p:cNvPr id="203" name="文本框 202"/>
          <p:cNvSpPr txBox="1"/>
          <p:nvPr/>
        </p:nvSpPr>
        <p:spPr>
          <a:xfrm>
            <a:off x="2023110" y="5635625"/>
            <a:ext cx="609600" cy="198755"/>
          </a:xfrm>
          <a:prstGeom prst="rect">
            <a:avLst/>
          </a:prstGeom>
          <a:noFill/>
        </p:spPr>
        <p:txBody>
          <a:bodyPr wrap="square" rtlCol="0">
            <a:spAutoFit/>
          </a:bodyPr>
          <a:lstStyle/>
          <a:p>
            <a:r>
              <a:rPr lang="zh-CN" altLang="en-US" sz="700"/>
              <a:t>任务</a:t>
            </a:r>
            <a:r>
              <a:rPr lang="zh-CN" altLang="en-US" sz="600"/>
              <a:t>列表</a:t>
            </a:r>
            <a:endParaRPr lang="zh-CN" altLang="en-US" sz="600"/>
          </a:p>
        </p:txBody>
      </p:sp>
      <p:pic>
        <p:nvPicPr>
          <p:cNvPr id="204" name="图片 7"/>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a:xfrm>
            <a:off x="2976880" y="4790440"/>
            <a:ext cx="1099820" cy="830580"/>
          </a:xfrm>
          <a:prstGeom prst="rect">
            <a:avLst/>
          </a:prstGeom>
          <a:noFill/>
          <a:ln>
            <a:noFill/>
          </a:ln>
        </p:spPr>
      </p:pic>
      <p:pic>
        <p:nvPicPr>
          <p:cNvPr id="205" name="图片 8"/>
          <p:cNvPicPr>
            <a:picLocks noChangeAspect="1"/>
          </p:cNvPicPr>
          <p:nvPr/>
        </p:nvPicPr>
        <p:blipFill>
          <a:blip r:embed="rId23" cstate="print">
            <a:extLst>
              <a:ext uri="{28A0092B-C50C-407E-A947-70E740481C1C}">
                <a14:useLocalDpi xmlns:a14="http://schemas.microsoft.com/office/drawing/2010/main" val="0"/>
              </a:ext>
            </a:extLst>
          </a:blip>
          <a:srcRect/>
          <a:stretch>
            <a:fillRect/>
          </a:stretch>
        </p:blipFill>
        <p:spPr>
          <a:xfrm>
            <a:off x="10711815" y="4791710"/>
            <a:ext cx="1099820" cy="779780"/>
          </a:xfrm>
          <a:prstGeom prst="rect">
            <a:avLst/>
          </a:prstGeom>
          <a:noFill/>
          <a:ln>
            <a:noFill/>
          </a:ln>
        </p:spPr>
      </p:pic>
      <p:sp>
        <p:nvSpPr>
          <p:cNvPr id="207" name="矩形 206"/>
          <p:cNvSpPr/>
          <p:nvPr/>
        </p:nvSpPr>
        <p:spPr>
          <a:xfrm>
            <a:off x="459105" y="5865495"/>
            <a:ext cx="11437620" cy="961390"/>
          </a:xfrm>
          <a:prstGeom prst="rect">
            <a:avLst/>
          </a:prstGeom>
          <a:solidFill>
            <a:schemeClr val="bg1"/>
          </a:solidFill>
          <a:ln>
            <a:solidFill>
              <a:schemeClr val="bg1">
                <a:lumMod val="65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700"/>
          </a:p>
        </p:txBody>
      </p:sp>
      <p:sp>
        <p:nvSpPr>
          <p:cNvPr id="208" name="文本框 207"/>
          <p:cNvSpPr txBox="1"/>
          <p:nvPr/>
        </p:nvSpPr>
        <p:spPr>
          <a:xfrm>
            <a:off x="103505" y="5973445"/>
            <a:ext cx="321310" cy="697230"/>
          </a:xfrm>
          <a:prstGeom prst="rect">
            <a:avLst/>
          </a:prstGeom>
          <a:noFill/>
        </p:spPr>
        <p:txBody>
          <a:bodyPr vert="eaVert" wrap="square" rtlCol="0">
            <a:spAutoFit/>
          </a:bodyPr>
          <a:lstStyle/>
          <a:p>
            <a:r>
              <a:rPr lang="en-US" altLang="zh-CN" sz="700" b="1"/>
              <a:t>   </a:t>
            </a:r>
            <a:r>
              <a:rPr lang="zh-CN" altLang="en-US" sz="900" b="1"/>
              <a:t>我的预警</a:t>
            </a:r>
            <a:endParaRPr lang="zh-CN" altLang="en-US" sz="900" b="1"/>
          </a:p>
        </p:txBody>
      </p:sp>
      <p:pic>
        <p:nvPicPr>
          <p:cNvPr id="209" name="图片 10"/>
          <p:cNvPicPr>
            <a:picLocks noChangeAspect="1"/>
          </p:cNvPicPr>
          <p:nvPr/>
        </p:nvPicPr>
        <p:blipFill>
          <a:blip r:embed="rId24" cstate="print">
            <a:extLst>
              <a:ext uri="{28A0092B-C50C-407E-A947-70E740481C1C}">
                <a14:useLocalDpi xmlns:a14="http://schemas.microsoft.com/office/drawing/2010/main" val="0"/>
              </a:ext>
            </a:extLst>
          </a:blip>
          <a:srcRect/>
          <a:stretch>
            <a:fillRect/>
          </a:stretch>
        </p:blipFill>
        <p:spPr>
          <a:xfrm>
            <a:off x="556260" y="5917565"/>
            <a:ext cx="1026795" cy="733425"/>
          </a:xfrm>
          <a:prstGeom prst="rect">
            <a:avLst/>
          </a:prstGeom>
          <a:noFill/>
          <a:ln>
            <a:noFill/>
          </a:ln>
        </p:spPr>
      </p:pic>
      <p:pic>
        <p:nvPicPr>
          <p:cNvPr id="210" name="图片 11"/>
          <p:cNvPicPr>
            <a:picLocks noChangeAspect="1"/>
          </p:cNvPicPr>
          <p:nvPr/>
        </p:nvPicPr>
        <p:blipFill>
          <a:blip r:embed="rId25" cstate="print">
            <a:extLst>
              <a:ext uri="{28A0092B-C50C-407E-A947-70E740481C1C}">
                <a14:useLocalDpi xmlns:a14="http://schemas.microsoft.com/office/drawing/2010/main" val="0"/>
              </a:ext>
            </a:extLst>
          </a:blip>
          <a:srcRect/>
          <a:stretch>
            <a:fillRect/>
          </a:stretch>
        </p:blipFill>
        <p:spPr>
          <a:xfrm>
            <a:off x="3893185" y="5937885"/>
            <a:ext cx="1101725" cy="713740"/>
          </a:xfrm>
          <a:prstGeom prst="rect">
            <a:avLst/>
          </a:prstGeom>
          <a:noFill/>
          <a:ln>
            <a:noFill/>
          </a:ln>
        </p:spPr>
      </p:pic>
      <p:pic>
        <p:nvPicPr>
          <p:cNvPr id="211" name="图片 1"/>
          <p:cNvPicPr>
            <a:picLocks noChangeAspect="1"/>
          </p:cNvPicPr>
          <p:nvPr/>
        </p:nvPicPr>
        <p:blipFill>
          <a:blip r:embed="rId26"/>
          <a:stretch>
            <a:fillRect/>
          </a:stretch>
        </p:blipFill>
        <p:spPr>
          <a:xfrm>
            <a:off x="7229475" y="5937885"/>
            <a:ext cx="1075055" cy="713740"/>
          </a:xfrm>
          <a:prstGeom prst="rect">
            <a:avLst/>
          </a:prstGeom>
        </p:spPr>
      </p:pic>
      <p:sp>
        <p:nvSpPr>
          <p:cNvPr id="212" name="文本框 211"/>
          <p:cNvSpPr txBox="1"/>
          <p:nvPr/>
        </p:nvSpPr>
        <p:spPr>
          <a:xfrm>
            <a:off x="534035" y="6632575"/>
            <a:ext cx="996950" cy="198755"/>
          </a:xfrm>
          <a:prstGeom prst="rect">
            <a:avLst/>
          </a:prstGeom>
          <a:noFill/>
        </p:spPr>
        <p:txBody>
          <a:bodyPr wrap="square" rtlCol="0">
            <a:spAutoFit/>
          </a:bodyPr>
          <a:lstStyle/>
          <a:p>
            <a:r>
              <a:rPr lang="zh-CN" altLang="en-US" sz="700"/>
              <a:t>收到携转预警信息</a:t>
            </a:r>
            <a:endParaRPr lang="zh-CN" altLang="en-US" sz="700"/>
          </a:p>
        </p:txBody>
      </p:sp>
      <p:pic>
        <p:nvPicPr>
          <p:cNvPr id="213" name="图片 12"/>
          <p:cNvPicPr>
            <a:picLocks noChangeAspect="1" noChangeArrowheads="1"/>
          </p:cNvPicPr>
          <p:nvPr/>
        </p:nvPicPr>
        <p:blipFill>
          <a:blip r:embed="rId27" cstate="print">
            <a:extLst>
              <a:ext uri="{28A0092B-C50C-407E-A947-70E740481C1C}">
                <a14:useLocalDpi xmlns:a14="http://schemas.microsoft.com/office/drawing/2010/main" val="0"/>
              </a:ext>
            </a:extLst>
          </a:blip>
          <a:srcRect t="5337" b="28791"/>
          <a:stretch>
            <a:fillRect/>
          </a:stretch>
        </p:blipFill>
        <p:spPr>
          <a:xfrm>
            <a:off x="10539095" y="5917565"/>
            <a:ext cx="1255395" cy="704215"/>
          </a:xfrm>
          <a:prstGeom prst="rect">
            <a:avLst/>
          </a:prstGeom>
          <a:noFill/>
          <a:ln>
            <a:noFill/>
          </a:ln>
        </p:spPr>
      </p:pic>
      <p:sp>
        <p:nvSpPr>
          <p:cNvPr id="214" name="文本框 213"/>
          <p:cNvSpPr txBox="1"/>
          <p:nvPr/>
        </p:nvSpPr>
        <p:spPr>
          <a:xfrm>
            <a:off x="4057650" y="6638925"/>
            <a:ext cx="762000" cy="198755"/>
          </a:xfrm>
          <a:prstGeom prst="rect">
            <a:avLst/>
          </a:prstGeom>
          <a:noFill/>
        </p:spPr>
        <p:txBody>
          <a:bodyPr wrap="square" rtlCol="0">
            <a:spAutoFit/>
          </a:bodyPr>
          <a:lstStyle/>
          <a:p>
            <a:r>
              <a:rPr lang="zh-CN" altLang="en-US" sz="700"/>
              <a:t>预警信息查看</a:t>
            </a:r>
            <a:endParaRPr lang="zh-CN" altLang="en-US" sz="700"/>
          </a:p>
        </p:txBody>
      </p:sp>
      <p:sp>
        <p:nvSpPr>
          <p:cNvPr id="215" name="文本框 214"/>
          <p:cNvSpPr txBox="1"/>
          <p:nvPr/>
        </p:nvSpPr>
        <p:spPr>
          <a:xfrm>
            <a:off x="7418070" y="6632575"/>
            <a:ext cx="726440" cy="198755"/>
          </a:xfrm>
          <a:prstGeom prst="rect">
            <a:avLst/>
          </a:prstGeom>
          <a:noFill/>
        </p:spPr>
        <p:txBody>
          <a:bodyPr wrap="square" rtlCol="0">
            <a:spAutoFit/>
          </a:bodyPr>
          <a:lstStyle/>
          <a:p>
            <a:r>
              <a:rPr lang="zh-CN" altLang="en-US" sz="700"/>
              <a:t>外呼进行维系</a:t>
            </a:r>
            <a:endParaRPr lang="zh-CN" altLang="en-US" sz="700"/>
          </a:p>
        </p:txBody>
      </p:sp>
      <p:sp>
        <p:nvSpPr>
          <p:cNvPr id="216" name="文本框 215"/>
          <p:cNvSpPr txBox="1"/>
          <p:nvPr/>
        </p:nvSpPr>
        <p:spPr>
          <a:xfrm>
            <a:off x="10814050" y="6625590"/>
            <a:ext cx="803275" cy="198755"/>
          </a:xfrm>
          <a:prstGeom prst="rect">
            <a:avLst/>
          </a:prstGeom>
          <a:noFill/>
        </p:spPr>
        <p:txBody>
          <a:bodyPr wrap="square" rtlCol="0">
            <a:spAutoFit/>
          </a:bodyPr>
          <a:lstStyle/>
          <a:p>
            <a:r>
              <a:rPr lang="zh-CN" altLang="en-US" sz="700"/>
              <a:t>维系结果反馈</a:t>
            </a:r>
            <a:endParaRPr lang="zh-CN" altLang="en-US" sz="700"/>
          </a:p>
        </p:txBody>
      </p:sp>
      <p:sp>
        <p:nvSpPr>
          <p:cNvPr id="217" name="文本框 216"/>
          <p:cNvSpPr txBox="1"/>
          <p:nvPr/>
        </p:nvSpPr>
        <p:spPr>
          <a:xfrm>
            <a:off x="344170" y="1218565"/>
            <a:ext cx="362585" cy="1014730"/>
          </a:xfrm>
          <a:prstGeom prst="rect">
            <a:avLst/>
          </a:prstGeom>
          <a:noFill/>
        </p:spPr>
        <p:txBody>
          <a:bodyPr wrap="square" rtlCol="0">
            <a:spAutoFit/>
          </a:bodyPr>
          <a:lstStyle/>
          <a:p>
            <a:r>
              <a:rPr lang="zh-CN" altLang="en-US" sz="1200" b="1"/>
              <a:t>网格通入口</a:t>
            </a:r>
            <a:endParaRPr lang="zh-CN" altLang="en-US" sz="1200" b="1"/>
          </a:p>
        </p:txBody>
      </p:sp>
      <p:sp>
        <p:nvSpPr>
          <p:cNvPr id="218" name="文本框 217"/>
          <p:cNvSpPr txBox="1"/>
          <p:nvPr/>
        </p:nvSpPr>
        <p:spPr>
          <a:xfrm>
            <a:off x="2725420" y="1213485"/>
            <a:ext cx="362585" cy="829945"/>
          </a:xfrm>
          <a:prstGeom prst="rect">
            <a:avLst/>
          </a:prstGeom>
          <a:noFill/>
        </p:spPr>
        <p:txBody>
          <a:bodyPr wrap="square" rtlCol="0">
            <a:spAutoFit/>
          </a:bodyPr>
          <a:lstStyle/>
          <a:p>
            <a:r>
              <a:rPr lang="zh-CN" altLang="en-US" sz="1200" b="1"/>
              <a:t>我的客户</a:t>
            </a:r>
            <a:endParaRPr lang="zh-CN" altLang="en-US" sz="1200" b="1"/>
          </a:p>
        </p:txBody>
      </p:sp>
      <p:sp>
        <p:nvSpPr>
          <p:cNvPr id="219" name="文本框 218"/>
          <p:cNvSpPr txBox="1"/>
          <p:nvPr/>
        </p:nvSpPr>
        <p:spPr>
          <a:xfrm>
            <a:off x="5045710" y="1218565"/>
            <a:ext cx="362585" cy="829945"/>
          </a:xfrm>
          <a:prstGeom prst="rect">
            <a:avLst/>
          </a:prstGeom>
          <a:noFill/>
        </p:spPr>
        <p:txBody>
          <a:bodyPr wrap="square" rtlCol="0">
            <a:spAutoFit/>
          </a:bodyPr>
          <a:lstStyle/>
          <a:p>
            <a:r>
              <a:rPr lang="zh-CN" altLang="en-US" sz="1200" b="1"/>
              <a:t>我的任务</a:t>
            </a:r>
            <a:endParaRPr lang="zh-CN" altLang="en-US" sz="1200" b="1"/>
          </a:p>
        </p:txBody>
      </p:sp>
      <p:sp>
        <p:nvSpPr>
          <p:cNvPr id="220" name="文本框 219"/>
          <p:cNvSpPr txBox="1"/>
          <p:nvPr/>
        </p:nvSpPr>
        <p:spPr>
          <a:xfrm>
            <a:off x="7406640" y="1218565"/>
            <a:ext cx="362585" cy="829945"/>
          </a:xfrm>
          <a:prstGeom prst="rect">
            <a:avLst/>
          </a:prstGeom>
          <a:noFill/>
        </p:spPr>
        <p:txBody>
          <a:bodyPr wrap="square" rtlCol="0">
            <a:spAutoFit/>
          </a:bodyPr>
          <a:lstStyle/>
          <a:p>
            <a:r>
              <a:rPr lang="zh-CN" altLang="en-US" sz="1200" b="1"/>
              <a:t>我的预警</a:t>
            </a:r>
            <a:endParaRPr lang="zh-CN" altLang="en-US" sz="1200" b="1"/>
          </a:p>
        </p:txBody>
      </p:sp>
      <p:sp>
        <p:nvSpPr>
          <p:cNvPr id="221" name="文本框 220"/>
          <p:cNvSpPr txBox="1"/>
          <p:nvPr/>
        </p:nvSpPr>
        <p:spPr>
          <a:xfrm>
            <a:off x="9757410" y="1218565"/>
            <a:ext cx="362585" cy="1198880"/>
          </a:xfrm>
          <a:prstGeom prst="rect">
            <a:avLst/>
          </a:prstGeom>
          <a:noFill/>
        </p:spPr>
        <p:txBody>
          <a:bodyPr wrap="square" rtlCol="0">
            <a:spAutoFit/>
          </a:bodyPr>
          <a:lstStyle/>
          <a:p>
            <a:r>
              <a:rPr lang="zh-CN" altLang="en-US" sz="1200" b="1"/>
              <a:t>我的维系结果</a:t>
            </a:r>
            <a:endParaRPr lang="zh-CN" altLang="en-US" sz="12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其他重点内容</a:t>
            </a:r>
            <a:r>
              <a:rPr lang="en-US" altLang="zh-CN" dirty="0">
                <a:sym typeface="+mn-ea"/>
              </a:rPr>
              <a:t>4</a:t>
            </a:r>
            <a:r>
              <a:rPr dirty="0">
                <a:sym typeface="+mn-ea"/>
              </a:rPr>
              <a:t>：</a:t>
            </a:r>
            <a:r>
              <a:rPr lang="en-US" altLang="zh-CN"/>
              <a:t>IOP</a:t>
            </a:r>
            <a:r>
              <a:rPr lang="zh-CN" altLang="en-US"/>
              <a:t>精益营销智能活动配置</a:t>
            </a:r>
            <a:endParaRPr lang="zh-CN" altLang="en-US"/>
          </a:p>
        </p:txBody>
      </p:sp>
      <p:sp>
        <p:nvSpPr>
          <p:cNvPr id="6" name="矩形 5"/>
          <p:cNvSpPr/>
          <p:nvPr/>
        </p:nvSpPr>
        <p:spPr>
          <a:xfrm>
            <a:off x="5160645" y="1703705"/>
            <a:ext cx="6619875" cy="509270"/>
          </a:xfrm>
          <a:prstGeom prst="rect">
            <a:avLst/>
          </a:prstGeom>
          <a:noFill/>
          <a:ln w="38100" cmpd="dbl" algn="ctr">
            <a:noFill/>
            <a:miter lim="800000"/>
          </a:ln>
          <a:effectLst/>
        </p:spPr>
        <p:txBody>
          <a:bodyPr anchor="ctr"/>
          <a:lstStyle/>
          <a:p>
            <a:pPr marL="171450" indent="-171450" eaLnBrk="1" hangingPunct="1">
              <a:lnSpc>
                <a:spcPct val="150000"/>
              </a:lnSpc>
              <a:buClr>
                <a:schemeClr val="tx1"/>
              </a:buClr>
              <a:buFont typeface="Wingdings" panose="05000000000000000000" pitchFamily="2" charset="2"/>
              <a:buChar char="Ø"/>
              <a:defRPr/>
            </a:pP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根据任务名称，找到要处理的任务，点击“处理”按钮，执行进入</a:t>
            </a:r>
            <a:r>
              <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rPr>
              <a:t>IOP</a:t>
            </a: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活动配置环节（活动配置、活动提交、活动审批均按照</a:t>
            </a:r>
            <a:r>
              <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rPr>
              <a:t>IOP</a:t>
            </a: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活动流程操作）</a:t>
            </a:r>
            <a:endPar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nvGrpSpPr>
          <p:cNvPr id="29" name="组合 28"/>
          <p:cNvGrpSpPr/>
          <p:nvPr/>
        </p:nvGrpSpPr>
        <p:grpSpPr>
          <a:xfrm>
            <a:off x="5160645" y="2466340"/>
            <a:ext cx="6744970" cy="3876172"/>
            <a:chOff x="912" y="2327"/>
            <a:chExt cx="17159" cy="8297"/>
          </a:xfrm>
        </p:grpSpPr>
        <p:pic>
          <p:nvPicPr>
            <p:cNvPr id="24" name="图片 23"/>
            <p:cNvPicPr>
              <a:picLocks noChangeAspect="1"/>
            </p:cNvPicPr>
            <p:nvPr/>
          </p:nvPicPr>
          <p:blipFill>
            <a:blip r:embed="rId1"/>
            <a:stretch>
              <a:fillRect/>
            </a:stretch>
          </p:blipFill>
          <p:spPr>
            <a:xfrm>
              <a:off x="3250" y="8123"/>
              <a:ext cx="11454" cy="2093"/>
            </a:xfrm>
            <a:prstGeom prst="rect">
              <a:avLst/>
            </a:prstGeom>
          </p:spPr>
        </p:pic>
        <p:pic>
          <p:nvPicPr>
            <p:cNvPr id="23" name="图片 22"/>
            <p:cNvPicPr>
              <a:picLocks noChangeAspect="1"/>
            </p:cNvPicPr>
            <p:nvPr/>
          </p:nvPicPr>
          <p:blipFill>
            <a:blip r:embed="rId2"/>
            <a:stretch>
              <a:fillRect/>
            </a:stretch>
          </p:blipFill>
          <p:spPr>
            <a:xfrm>
              <a:off x="2919" y="3676"/>
              <a:ext cx="11784" cy="3935"/>
            </a:xfrm>
            <a:prstGeom prst="rect">
              <a:avLst/>
            </a:prstGeom>
          </p:spPr>
        </p:pic>
        <p:pic>
          <p:nvPicPr>
            <p:cNvPr id="3" name="图片 2"/>
            <p:cNvPicPr>
              <a:picLocks noChangeAspect="1"/>
            </p:cNvPicPr>
            <p:nvPr/>
          </p:nvPicPr>
          <p:blipFill rotWithShape="1">
            <a:blip r:embed="rId3"/>
            <a:srcRect t="30202" b="58400"/>
            <a:stretch>
              <a:fillRect/>
            </a:stretch>
          </p:blipFill>
          <p:spPr>
            <a:xfrm>
              <a:off x="912" y="2327"/>
              <a:ext cx="16840" cy="1247"/>
            </a:xfrm>
            <a:prstGeom prst="rect">
              <a:avLst/>
            </a:prstGeom>
            <a:ln>
              <a:noFill/>
            </a:ln>
            <a:effectLst>
              <a:outerShdw blurRad="190500" algn="tl" rotWithShape="0">
                <a:srgbClr val="000000">
                  <a:alpha val="70000"/>
                </a:srgbClr>
              </a:outerShdw>
            </a:effectLst>
          </p:spPr>
        </p:pic>
        <p:sp>
          <p:nvSpPr>
            <p:cNvPr id="7" name="矩形: 圆角 5"/>
            <p:cNvSpPr/>
            <p:nvPr/>
          </p:nvSpPr>
          <p:spPr bwMode="auto">
            <a:xfrm>
              <a:off x="16291" y="2998"/>
              <a:ext cx="1021" cy="454"/>
            </a:xfrm>
            <a:prstGeom prst="roundRect">
              <a:avLst/>
            </a:prstGeom>
            <a:noFill/>
            <a:ln w="38100" cap="flat" cmpd="sng" algn="ctr">
              <a:solidFill>
                <a:srgbClr val="C0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8" name="文本框 7"/>
            <p:cNvSpPr txBox="1"/>
            <p:nvPr>
              <p:custDataLst>
                <p:tags r:id="rId4"/>
              </p:custDataLst>
            </p:nvPr>
          </p:nvSpPr>
          <p:spPr>
            <a:xfrm>
              <a:off x="15531" y="3664"/>
              <a:ext cx="2540" cy="791"/>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solidFill>
                    <a:srgbClr val="C00000"/>
                  </a:solidFill>
                  <a:latin typeface="微软雅黑" panose="020B0503020204020204" charset="-122"/>
                  <a:ea typeface="微软雅黑" panose="020B0503020204020204" charset="-122"/>
                </a:rPr>
                <a:t>步骤一：点击处理</a:t>
              </a:r>
              <a:endParaRPr lang="zh-CN" altLang="en-US" sz="1000" b="1" dirty="0">
                <a:solidFill>
                  <a:srgbClr val="C00000"/>
                </a:solidFill>
                <a:latin typeface="微软雅黑" panose="020B0503020204020204" charset="-122"/>
                <a:ea typeface="微软雅黑" panose="020B0503020204020204" charset="-122"/>
              </a:endParaRPr>
            </a:p>
          </p:txBody>
        </p:sp>
        <p:sp>
          <p:nvSpPr>
            <p:cNvPr id="9" name="矩形: 圆角 7"/>
            <p:cNvSpPr/>
            <p:nvPr/>
          </p:nvSpPr>
          <p:spPr bwMode="auto">
            <a:xfrm>
              <a:off x="3250" y="4071"/>
              <a:ext cx="11453" cy="1273"/>
            </a:xfrm>
            <a:prstGeom prst="roundRect">
              <a:avLst/>
            </a:prstGeom>
            <a:noFill/>
            <a:ln w="12700" cap="flat" cmpd="sng" algn="ctr">
              <a:solidFill>
                <a:srgbClr val="C0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10" name="文本框 9"/>
            <p:cNvSpPr txBox="1"/>
            <p:nvPr>
              <p:custDataLst>
                <p:tags r:id="rId5"/>
              </p:custDataLst>
            </p:nvPr>
          </p:nvSpPr>
          <p:spPr>
            <a:xfrm>
              <a:off x="7437" y="4071"/>
              <a:ext cx="2540" cy="791"/>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solidFill>
                    <a:srgbClr val="C00000"/>
                  </a:solidFill>
                  <a:latin typeface="微软雅黑" panose="020B0503020204020204" charset="-122"/>
                  <a:ea typeface="微软雅黑" panose="020B0503020204020204" charset="-122"/>
                </a:rPr>
                <a:t>步骤二：拆分客群</a:t>
              </a:r>
              <a:endParaRPr lang="zh-CN" altLang="en-US" sz="1000" b="1" dirty="0">
                <a:solidFill>
                  <a:srgbClr val="C00000"/>
                </a:solidFill>
                <a:latin typeface="微软雅黑" panose="020B0503020204020204" charset="-122"/>
                <a:ea typeface="微软雅黑" panose="020B0503020204020204" charset="-122"/>
              </a:endParaRPr>
            </a:p>
          </p:txBody>
        </p:sp>
        <p:sp>
          <p:nvSpPr>
            <p:cNvPr id="11" name="矩形: 圆角 9"/>
            <p:cNvSpPr/>
            <p:nvPr/>
          </p:nvSpPr>
          <p:spPr bwMode="auto">
            <a:xfrm>
              <a:off x="3250" y="4474"/>
              <a:ext cx="5175" cy="733"/>
            </a:xfrm>
            <a:prstGeom prst="roundRect">
              <a:avLst/>
            </a:prstGeom>
            <a:solidFill>
              <a:schemeClr val="bg2">
                <a:lumMod val="90000"/>
                <a:alpha val="35000"/>
              </a:schemeClr>
            </a:solidFill>
            <a:ln w="38100"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12" name="矩形: 圆角 10"/>
            <p:cNvSpPr/>
            <p:nvPr/>
          </p:nvSpPr>
          <p:spPr bwMode="auto">
            <a:xfrm>
              <a:off x="9528" y="4336"/>
              <a:ext cx="5175" cy="872"/>
            </a:xfrm>
            <a:prstGeom prst="roundRect">
              <a:avLst/>
            </a:prstGeom>
            <a:solidFill>
              <a:schemeClr val="accent6">
                <a:alpha val="25000"/>
              </a:schemeClr>
            </a:solidFill>
            <a:ln w="38100"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13" name="文本框 12"/>
            <p:cNvSpPr txBox="1"/>
            <p:nvPr>
              <p:custDataLst>
                <p:tags r:id="rId6"/>
              </p:custDataLst>
            </p:nvPr>
          </p:nvSpPr>
          <p:spPr>
            <a:xfrm>
              <a:off x="4384" y="4675"/>
              <a:ext cx="3756" cy="494"/>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latin typeface="微软雅黑" panose="020B0503020204020204" charset="-122"/>
                  <a:ea typeface="微软雅黑" panose="020B0503020204020204" charset="-122"/>
                </a:rPr>
                <a:t>在此区域设置拆分条件</a:t>
              </a:r>
              <a:endParaRPr lang="zh-CN" altLang="en-US" sz="1000" b="1" dirty="0">
                <a:latin typeface="微软雅黑" panose="020B0503020204020204" charset="-122"/>
                <a:ea typeface="微软雅黑" panose="020B0503020204020204" charset="-122"/>
              </a:endParaRPr>
            </a:p>
          </p:txBody>
        </p:sp>
        <p:sp>
          <p:nvSpPr>
            <p:cNvPr id="14" name="文本框 13"/>
            <p:cNvSpPr txBox="1"/>
            <p:nvPr>
              <p:custDataLst>
                <p:tags r:id="rId7"/>
              </p:custDataLst>
            </p:nvPr>
          </p:nvSpPr>
          <p:spPr>
            <a:xfrm>
              <a:off x="11046" y="4663"/>
              <a:ext cx="3055" cy="791"/>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latin typeface="微软雅黑" panose="020B0503020204020204" charset="-122"/>
                  <a:ea typeface="微软雅黑" panose="020B0503020204020204" charset="-122"/>
                </a:rPr>
                <a:t>点击此区域 增加客群</a:t>
              </a:r>
              <a:endParaRPr lang="zh-CN" altLang="en-US" sz="1000" b="1" dirty="0">
                <a:latin typeface="微软雅黑" panose="020B0503020204020204" charset="-122"/>
                <a:ea typeface="微软雅黑" panose="020B0503020204020204" charset="-122"/>
              </a:endParaRPr>
            </a:p>
          </p:txBody>
        </p:sp>
        <p:sp>
          <p:nvSpPr>
            <p:cNvPr id="15" name="矩形: 圆角 13"/>
            <p:cNvSpPr/>
            <p:nvPr/>
          </p:nvSpPr>
          <p:spPr bwMode="auto">
            <a:xfrm>
              <a:off x="3250" y="8123"/>
              <a:ext cx="11453" cy="1733"/>
            </a:xfrm>
            <a:prstGeom prst="roundRect">
              <a:avLst/>
            </a:prstGeom>
            <a:noFill/>
            <a:ln w="12700" cap="flat" cmpd="sng" algn="ctr">
              <a:solidFill>
                <a:srgbClr val="C0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16" name="矩形: 圆角 14"/>
            <p:cNvSpPr/>
            <p:nvPr/>
          </p:nvSpPr>
          <p:spPr bwMode="auto">
            <a:xfrm>
              <a:off x="3404" y="8158"/>
              <a:ext cx="5742" cy="1665"/>
            </a:xfrm>
            <a:prstGeom prst="roundRect">
              <a:avLst/>
            </a:prstGeom>
            <a:solidFill>
              <a:schemeClr val="bg2">
                <a:lumMod val="90000"/>
                <a:alpha val="35000"/>
              </a:schemeClr>
            </a:solidFill>
            <a:ln w="38100"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17" name="矩形: 圆角 15"/>
            <p:cNvSpPr/>
            <p:nvPr/>
          </p:nvSpPr>
          <p:spPr bwMode="auto">
            <a:xfrm>
              <a:off x="9314" y="8194"/>
              <a:ext cx="5175" cy="1629"/>
            </a:xfrm>
            <a:prstGeom prst="roundRect">
              <a:avLst/>
            </a:prstGeom>
            <a:solidFill>
              <a:schemeClr val="accent6">
                <a:alpha val="35000"/>
              </a:schemeClr>
            </a:solidFill>
            <a:ln w="38100"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18" name="文本框 17"/>
            <p:cNvSpPr txBox="1"/>
            <p:nvPr>
              <p:custDataLst>
                <p:tags r:id="rId8"/>
              </p:custDataLst>
            </p:nvPr>
          </p:nvSpPr>
          <p:spPr>
            <a:xfrm>
              <a:off x="7437" y="7697"/>
              <a:ext cx="4328" cy="494"/>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solidFill>
                    <a:srgbClr val="C00000"/>
                  </a:solidFill>
                  <a:latin typeface="微软雅黑" panose="020B0503020204020204" charset="-122"/>
                  <a:ea typeface="微软雅黑" panose="020B0503020204020204" charset="-122"/>
                </a:rPr>
                <a:t>步骤四：活动配置相关</a:t>
              </a:r>
              <a:endParaRPr lang="zh-CN" altLang="en-US" sz="1000" b="1" dirty="0">
                <a:solidFill>
                  <a:srgbClr val="C00000"/>
                </a:solidFill>
                <a:latin typeface="微软雅黑" panose="020B0503020204020204" charset="-122"/>
                <a:ea typeface="微软雅黑" panose="020B0503020204020204" charset="-122"/>
              </a:endParaRPr>
            </a:p>
          </p:txBody>
        </p:sp>
        <p:sp>
          <p:nvSpPr>
            <p:cNvPr id="19" name="文本框 18"/>
            <p:cNvSpPr txBox="1"/>
            <p:nvPr>
              <p:custDataLst>
                <p:tags r:id="rId9"/>
              </p:custDataLst>
            </p:nvPr>
          </p:nvSpPr>
          <p:spPr>
            <a:xfrm>
              <a:off x="4497" y="8798"/>
              <a:ext cx="4171" cy="791"/>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latin typeface="微软雅黑" panose="020B0503020204020204" charset="-122"/>
                  <a:ea typeface="微软雅黑" panose="020B0503020204020204" charset="-122"/>
                </a:rPr>
                <a:t>此区域预览已拆分客群规模</a:t>
              </a:r>
              <a:endParaRPr lang="zh-CN" altLang="en-US" sz="1000" b="1" dirty="0">
                <a:latin typeface="微软雅黑" panose="020B0503020204020204" charset="-122"/>
                <a:ea typeface="微软雅黑" panose="020B0503020204020204" charset="-122"/>
              </a:endParaRPr>
            </a:p>
          </p:txBody>
        </p:sp>
        <p:sp>
          <p:nvSpPr>
            <p:cNvPr id="20" name="文本框 19"/>
            <p:cNvSpPr txBox="1"/>
            <p:nvPr>
              <p:custDataLst>
                <p:tags r:id="rId10"/>
              </p:custDataLst>
            </p:nvPr>
          </p:nvSpPr>
          <p:spPr>
            <a:xfrm>
              <a:off x="9918" y="8617"/>
              <a:ext cx="3911" cy="1383"/>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latin typeface="微软雅黑" panose="020B0503020204020204" charset="-122"/>
                  <a:ea typeface="微软雅黑" panose="020B0503020204020204" charset="-122"/>
                </a:rPr>
                <a:t>点击“编辑”进入对应客群活动配置界面（流程参考</a:t>
              </a:r>
              <a:r>
                <a:rPr lang="en-US" altLang="zh-CN" sz="1000" b="1" dirty="0">
                  <a:latin typeface="微软雅黑" panose="020B0503020204020204" charset="-122"/>
                  <a:ea typeface="微软雅黑" panose="020B0503020204020204" charset="-122"/>
                </a:rPr>
                <a:t>IOP</a:t>
              </a:r>
              <a:r>
                <a:rPr lang="zh-CN" altLang="en-US" sz="1000" b="1" dirty="0">
                  <a:latin typeface="微软雅黑" panose="020B0503020204020204" charset="-122"/>
                  <a:ea typeface="微软雅黑" panose="020B0503020204020204" charset="-122"/>
                </a:rPr>
                <a:t>活动配置流程）</a:t>
              </a:r>
              <a:endParaRPr lang="zh-CN" altLang="en-US" sz="1000" b="1" dirty="0">
                <a:latin typeface="微软雅黑" panose="020B0503020204020204" charset="-122"/>
                <a:ea typeface="微软雅黑" panose="020B0503020204020204" charset="-122"/>
              </a:endParaRPr>
            </a:p>
          </p:txBody>
        </p:sp>
        <p:sp>
          <p:nvSpPr>
            <p:cNvPr id="21" name="文本框 20"/>
            <p:cNvSpPr txBox="1"/>
            <p:nvPr>
              <p:custDataLst>
                <p:tags r:id="rId11"/>
              </p:custDataLst>
            </p:nvPr>
          </p:nvSpPr>
          <p:spPr>
            <a:xfrm>
              <a:off x="9914" y="10130"/>
              <a:ext cx="4187" cy="494"/>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solidFill>
                    <a:srgbClr val="C00000"/>
                  </a:solidFill>
                  <a:latin typeface="微软雅黑" panose="020B0503020204020204" charset="-122"/>
                  <a:ea typeface="微软雅黑" panose="020B0503020204020204" charset="-122"/>
                </a:rPr>
                <a:t>步骤五：提交活动审批</a:t>
              </a:r>
              <a:endParaRPr lang="zh-CN" altLang="en-US" sz="1000" b="1" dirty="0">
                <a:solidFill>
                  <a:srgbClr val="C00000"/>
                </a:solidFill>
                <a:latin typeface="微软雅黑" panose="020B0503020204020204" charset="-122"/>
                <a:ea typeface="微软雅黑" panose="020B0503020204020204" charset="-122"/>
              </a:endParaRPr>
            </a:p>
          </p:txBody>
        </p:sp>
        <p:sp>
          <p:nvSpPr>
            <p:cNvPr id="22" name="矩形: 圆角 20"/>
            <p:cNvSpPr/>
            <p:nvPr/>
          </p:nvSpPr>
          <p:spPr bwMode="auto">
            <a:xfrm>
              <a:off x="8821" y="9839"/>
              <a:ext cx="1021" cy="454"/>
            </a:xfrm>
            <a:prstGeom prst="roundRect">
              <a:avLst/>
            </a:prstGeom>
            <a:noFill/>
            <a:ln w="19050" cap="flat" cmpd="sng" algn="ctr">
              <a:solidFill>
                <a:srgbClr val="C0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27" name="矩形 26"/>
            <p:cNvSpPr/>
            <p:nvPr/>
          </p:nvSpPr>
          <p:spPr>
            <a:xfrm>
              <a:off x="3273" y="5669"/>
              <a:ext cx="11216" cy="1566"/>
            </a:xfrm>
            <a:prstGeom prst="rect">
              <a:avLst/>
            </a:prstGeom>
            <a:solidFill>
              <a:schemeClr val="accent1">
                <a:alpha val="3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p>
          </p:txBody>
        </p:sp>
        <p:sp>
          <p:nvSpPr>
            <p:cNvPr id="25" name="文本框 24"/>
            <p:cNvSpPr txBox="1"/>
            <p:nvPr>
              <p:custDataLst>
                <p:tags r:id="rId12"/>
              </p:custDataLst>
            </p:nvPr>
          </p:nvSpPr>
          <p:spPr>
            <a:xfrm>
              <a:off x="6844" y="5451"/>
              <a:ext cx="4351" cy="494"/>
            </a:xfrm>
            <a:prstGeom prst="rect">
              <a:avLst/>
            </a:prstGeom>
            <a:noFill/>
          </p:spPr>
          <p:txBody>
            <a:bodyPr wrap="square" rtlCol="0">
              <a:sp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solidFill>
                    <a:srgbClr val="C00000"/>
                  </a:solidFill>
                  <a:latin typeface="微软雅黑" panose="020B0503020204020204" charset="-122"/>
                  <a:ea typeface="微软雅黑" panose="020B0503020204020204" charset="-122"/>
                </a:rPr>
                <a:t>步骤三：完善活动通用信息</a:t>
              </a:r>
              <a:endParaRPr lang="zh-CN" altLang="en-US" sz="1000" b="1" dirty="0">
                <a:solidFill>
                  <a:srgbClr val="C00000"/>
                </a:solidFill>
                <a:latin typeface="微软雅黑" panose="020B0503020204020204" charset="-122"/>
                <a:ea typeface="微软雅黑" panose="020B0503020204020204" charset="-122"/>
              </a:endParaRPr>
            </a:p>
          </p:txBody>
        </p:sp>
        <p:sp>
          <p:nvSpPr>
            <p:cNvPr id="26" name="矩形: 圆角 7"/>
            <p:cNvSpPr/>
            <p:nvPr/>
          </p:nvSpPr>
          <p:spPr bwMode="auto">
            <a:xfrm>
              <a:off x="3176" y="5395"/>
              <a:ext cx="11526" cy="2254"/>
            </a:xfrm>
            <a:prstGeom prst="roundRect">
              <a:avLst/>
            </a:prstGeom>
            <a:noFill/>
            <a:ln w="12700" cap="flat" cmpd="sng" algn="ctr">
              <a:solidFill>
                <a:srgbClr val="C0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050" b="0"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endParaRPr>
            </a:p>
          </p:txBody>
        </p:sp>
        <p:sp>
          <p:nvSpPr>
            <p:cNvPr id="28" name="文本框 27"/>
            <p:cNvSpPr txBox="1"/>
            <p:nvPr>
              <p:custDataLst>
                <p:tags r:id="rId13"/>
              </p:custDataLst>
            </p:nvPr>
          </p:nvSpPr>
          <p:spPr>
            <a:xfrm>
              <a:off x="5650" y="6638"/>
              <a:ext cx="6793" cy="730"/>
            </a:xfrm>
            <a:prstGeom prst="rect">
              <a:avLst/>
            </a:prstGeom>
            <a:noFill/>
          </p:spPr>
          <p:txBody>
            <a:bodyPr wrap="square" rtlCol="0">
              <a:noAutofit/>
            </a:bodyPr>
            <a:lstStyle/>
            <a:p>
              <a:pPr marL="228600" marR="0" lvl="0" indent="-228600" algn="l" defTabSz="914400" rtl="0" eaLnBrk="1" fontAlgn="base" latinLnBrk="0" hangingPunct="1">
                <a:lnSpc>
                  <a:spcPct val="90000"/>
                </a:lnSpc>
                <a:spcBef>
                  <a:spcPts val="1000"/>
                </a:spcBef>
                <a:spcAft>
                  <a:spcPct val="0"/>
                </a:spcAft>
                <a:buClrTx/>
                <a:buSzTx/>
                <a:buFontTx/>
                <a:buNone/>
                <a:defRPr/>
              </a:pPr>
              <a:r>
                <a:rPr lang="zh-CN" altLang="en-US" sz="1000" b="1" dirty="0">
                  <a:latin typeface="微软雅黑" panose="020B0503020204020204" charset="-122"/>
                  <a:ea typeface="微软雅黑" panose="020B0503020204020204" charset="-122"/>
                </a:rPr>
                <a:t>在此区域完善活动通用信息的配置，点击客群拆分后活动信息自动引入活动中，无需多次配置</a:t>
              </a:r>
              <a:endParaRPr lang="zh-CN" altLang="en-US" sz="1000" b="1" dirty="0">
                <a:latin typeface="微软雅黑" panose="020B0503020204020204" charset="-122"/>
                <a:ea typeface="微软雅黑" panose="020B0503020204020204" charset="-122"/>
              </a:endParaRPr>
            </a:p>
          </p:txBody>
        </p:sp>
      </p:grpSp>
      <p:sp>
        <p:nvSpPr>
          <p:cNvPr id="30" name="矩形 21"/>
          <p:cNvSpPr>
            <a:spLocks noChangeArrowheads="1"/>
          </p:cNvSpPr>
          <p:nvPr/>
        </p:nvSpPr>
        <p:spPr bwMode="auto">
          <a:xfrm>
            <a:off x="407035" y="980728"/>
            <a:ext cx="11267224"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gn="just" latinLnBrk="0">
              <a:lnSpc>
                <a:spcPct val="150000"/>
              </a:lnSpc>
              <a:buNone/>
            </a:pPr>
            <a:r>
              <a:rPr lang="en-US" altLang="zh-CN" sz="1500" dirty="0">
                <a:latin typeface="微软雅黑" panose="020B0503020204020204" charset="-122"/>
                <a:ea typeface="微软雅黑" panose="020B0503020204020204" charset="-122"/>
                <a:sym typeface="+mn-ea"/>
              </a:rPr>
              <a:t>IOP</a:t>
            </a:r>
            <a:r>
              <a:rPr lang="zh-CN" altLang="en-US" sz="1500" dirty="0">
                <a:latin typeface="微软雅黑" panose="020B0503020204020204" charset="-122"/>
                <a:ea typeface="微软雅黑" panose="020B0503020204020204" charset="-122"/>
                <a:sym typeface="+mn-ea"/>
              </a:rPr>
              <a:t>结合精益平台流转流程，新增精益</a:t>
            </a:r>
            <a:r>
              <a:rPr lang="zh-CN" altLang="en-US" sz="1500" dirty="0">
                <a:latin typeface="微软雅黑" panose="020B0503020204020204" charset="-122"/>
                <a:ea typeface="微软雅黑" panose="020B0503020204020204" charset="-122"/>
                <a:sym typeface="+mn-ea"/>
              </a:rPr>
              <a:t>运营模块内容，包括任务接收、客群接受、客群拆分、活动配置、数据回传等能力；</a:t>
            </a:r>
            <a:endParaRPr lang="zh-CN" altLang="en-US" sz="1500" dirty="0">
              <a:latin typeface="微软雅黑" panose="020B0503020204020204" charset="-122"/>
              <a:ea typeface="微软雅黑" panose="020B0503020204020204" charset="-122"/>
              <a:sym typeface="+mn-ea"/>
            </a:endParaRPr>
          </a:p>
        </p:txBody>
      </p:sp>
      <p:sp>
        <p:nvSpPr>
          <p:cNvPr id="31" name="矩形 30"/>
          <p:cNvSpPr/>
          <p:nvPr/>
        </p:nvSpPr>
        <p:spPr>
          <a:xfrm>
            <a:off x="163195" y="1703705"/>
            <a:ext cx="4798695" cy="509270"/>
          </a:xfrm>
          <a:prstGeom prst="rect">
            <a:avLst/>
          </a:prstGeom>
          <a:noFill/>
          <a:ln w="38100" cmpd="dbl" algn="ctr">
            <a:noFill/>
            <a:miter lim="800000"/>
          </a:ln>
          <a:effectLst/>
        </p:spPr>
        <p:txBody>
          <a:bodyPr anchor="t" anchorCtr="0"/>
          <a:lstStyle/>
          <a:p>
            <a:pPr marL="171450" indent="-171450" eaLnBrk="1" hangingPunct="1">
              <a:lnSpc>
                <a:spcPct val="150000"/>
              </a:lnSpc>
              <a:buClr>
                <a:schemeClr val="tx1"/>
              </a:buClr>
              <a:buFont typeface="Wingdings" panose="05000000000000000000" pitchFamily="2" charset="2"/>
              <a:buChar char="Ø"/>
              <a:defRPr/>
            </a:pP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根据精益平台接收的任务列表以及配置完成的活动列表</a:t>
            </a:r>
            <a:endParaRPr lang="en-US" altLang="zh-CN" sz="12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nvGrpSpPr>
          <p:cNvPr id="34" name="组合 33"/>
          <p:cNvGrpSpPr/>
          <p:nvPr/>
        </p:nvGrpSpPr>
        <p:grpSpPr>
          <a:xfrm>
            <a:off x="163195" y="2350135"/>
            <a:ext cx="4886960" cy="3963035"/>
            <a:chOff x="257" y="3883"/>
            <a:chExt cx="7696" cy="6059"/>
          </a:xfrm>
        </p:grpSpPr>
        <p:pic>
          <p:nvPicPr>
            <p:cNvPr id="32" name="图片 31"/>
            <p:cNvPicPr>
              <a:picLocks noChangeAspect="1"/>
            </p:cNvPicPr>
            <p:nvPr/>
          </p:nvPicPr>
          <p:blipFill>
            <a:blip r:embed="rId14"/>
            <a:stretch>
              <a:fillRect/>
            </a:stretch>
          </p:blipFill>
          <p:spPr>
            <a:xfrm>
              <a:off x="257" y="3884"/>
              <a:ext cx="6529" cy="6058"/>
            </a:xfrm>
            <a:prstGeom prst="rect">
              <a:avLst/>
            </a:prstGeom>
          </p:spPr>
        </p:pic>
        <p:pic>
          <p:nvPicPr>
            <p:cNvPr id="33" name="图片 32"/>
            <p:cNvPicPr>
              <a:picLocks noChangeAspect="1"/>
            </p:cNvPicPr>
            <p:nvPr/>
          </p:nvPicPr>
          <p:blipFill>
            <a:blip r:embed="rId15"/>
            <a:stretch>
              <a:fillRect/>
            </a:stretch>
          </p:blipFill>
          <p:spPr>
            <a:xfrm>
              <a:off x="2521" y="3883"/>
              <a:ext cx="5432" cy="597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sym typeface="+mn-ea"/>
              </a:rPr>
              <a:t>业务场景说明：</a:t>
            </a:r>
            <a:r>
              <a:rPr lang="zh-CN" altLang="en-US" sz="2000" dirty="0" smtClean="0">
                <a:sym typeface="+mn-ea"/>
              </a:rPr>
              <a:t>高价值客户看管</a:t>
            </a:r>
            <a:r>
              <a:rPr lang="en-US" altLang="zh-CN" sz="2000" dirty="0" smtClean="0">
                <a:sym typeface="+mn-ea"/>
              </a:rPr>
              <a:t>&amp;</a:t>
            </a:r>
            <a:r>
              <a:rPr lang="zh-CN" altLang="en-US" sz="2000" dirty="0" smtClean="0">
                <a:sym typeface="+mn-ea"/>
              </a:rPr>
              <a:t>携转挽留</a:t>
            </a:r>
            <a:r>
              <a:rPr lang="en-US" altLang="zh-CN" sz="2000" dirty="0" smtClean="0">
                <a:sym typeface="+mn-ea"/>
              </a:rPr>
              <a:t>&amp;</a:t>
            </a:r>
            <a:r>
              <a:rPr lang="zh-CN" altLang="en-US" sz="2000" dirty="0" smtClean="0">
                <a:sym typeface="+mn-ea"/>
              </a:rPr>
              <a:t>存量价值客户保有运营</a:t>
            </a:r>
            <a:endParaRPr lang="zh-CN" altLang="en-US" sz="2000" dirty="0" smtClean="0">
              <a:sym typeface="+mn-ea"/>
            </a:endParaRPr>
          </a:p>
        </p:txBody>
      </p:sp>
      <p:sp>
        <p:nvSpPr>
          <p:cNvPr id="58" name="文本框 57"/>
          <p:cNvSpPr txBox="1"/>
          <p:nvPr/>
        </p:nvSpPr>
        <p:spPr>
          <a:xfrm>
            <a:off x="127000" y="5319395"/>
            <a:ext cx="317500" cy="398780"/>
          </a:xfrm>
          <a:prstGeom prst="rect">
            <a:avLst/>
          </a:prstGeom>
          <a:noFill/>
        </p:spPr>
        <p:txBody>
          <a:bodyPr wrap="square" rtlCol="0">
            <a:spAutoFit/>
          </a:bodyPr>
          <a:lstStyle/>
          <a:p>
            <a:r>
              <a:rPr lang="en-US" altLang="zh-CN" sz="2000" b="1" i="1" dirty="0">
                <a:solidFill>
                  <a:srgbClr val="4874CB"/>
                </a:solidFill>
              </a:rPr>
              <a:t>3</a:t>
            </a:r>
            <a:endParaRPr lang="en-US" altLang="zh-CN" sz="2000" b="1" i="1" dirty="0">
              <a:solidFill>
                <a:srgbClr val="4874CB"/>
              </a:solidFill>
            </a:endParaRPr>
          </a:p>
        </p:txBody>
      </p:sp>
      <p:sp>
        <p:nvSpPr>
          <p:cNvPr id="121" name="文本框 120"/>
          <p:cNvSpPr txBox="1"/>
          <p:nvPr/>
        </p:nvSpPr>
        <p:spPr>
          <a:xfrm>
            <a:off x="480695" y="1001395"/>
            <a:ext cx="11408322" cy="962660"/>
          </a:xfrm>
          <a:prstGeom prst="rect">
            <a:avLst/>
          </a:prstGeom>
          <a:noFill/>
        </p:spPr>
        <p:txBody>
          <a:bodyPr wrap="square" rtlCol="0" anchor="t">
            <a:spAutoFit/>
          </a:bodyPr>
          <a:lstStyle/>
          <a:p>
            <a:pPr marL="285750" indent="-285750" defTabSz="288925">
              <a:lnSpc>
                <a:spcPct val="135000"/>
              </a:lnSpc>
              <a:buFont typeface="Wingdings" panose="05000000000000000000" pitchFamily="2" charset="2"/>
              <a:buChar char="p"/>
            </a:pPr>
            <a:r>
              <a:rPr lang="zh-CN" altLang="en-US" sz="1400" b="1" kern="0" dirty="0">
                <a:latin typeface="微软雅黑" panose="020B0503020204020204" charset="-122"/>
                <a:ea typeface="微软雅黑" panose="020B0503020204020204" charset="-122"/>
                <a:cs typeface="微软雅黑" panose="020B0503020204020204" charset="-122"/>
                <a:sym typeface="Arial" panose="020B0604020202020204" pitchFamily="34" charset="0"/>
              </a:rPr>
              <a:t>全球通高价值客户看管：</a:t>
            </a:r>
            <a:r>
              <a:rPr lang="zh-CN" altLang="en-US" sz="1400" kern="0" dirty="0">
                <a:latin typeface="微软雅黑" panose="020B0503020204020204" charset="-122"/>
                <a:ea typeface="微软雅黑" panose="020B0503020204020204" charset="-122"/>
                <a:cs typeface="微软雅黑" panose="020B0503020204020204" charset="-122"/>
                <a:sym typeface="Arial" panose="020B0604020202020204" pitchFamily="34" charset="0"/>
              </a:rPr>
              <a:t>系统化方式将全球通高价值客户任务分解到人，通过网格通实现了高价值保有客户的“全看管全覆盖”</a:t>
            </a:r>
            <a:endParaRPr lang="zh-CN" altLang="en-US" sz="1400" kern="0"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285750" indent="-285750" defTabSz="288925">
              <a:lnSpc>
                <a:spcPct val="135000"/>
              </a:lnSpc>
              <a:buFont typeface="Wingdings" panose="05000000000000000000" pitchFamily="2" charset="2"/>
              <a:buChar char="p"/>
            </a:pPr>
            <a:r>
              <a:rPr lang="zh-CN" altLang="en-US" sz="1400" b="1" kern="0" dirty="0" smtClean="0">
                <a:latin typeface="微软雅黑" panose="020B0503020204020204" charset="-122"/>
                <a:ea typeface="微软雅黑" panose="020B0503020204020204" charset="-122"/>
                <a:cs typeface="微软雅黑" panose="020B0503020204020204" charset="-122"/>
                <a:sym typeface="+mn-ea"/>
              </a:rPr>
              <a:t>实时携转预警</a:t>
            </a:r>
            <a:r>
              <a:rPr lang="zh-CN" altLang="en-US" sz="1400" b="1" kern="0" dirty="0" smtClean="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lang="zh-CN" altLang="en-US" sz="1400" kern="0" dirty="0">
                <a:latin typeface="微软雅黑" panose="020B0503020204020204" charset="-122"/>
                <a:ea typeface="微软雅黑" panose="020B0503020204020204" charset="-122"/>
                <a:cs typeface="微软雅黑" panose="020B0503020204020204" charset="-122"/>
                <a:sym typeface="Arial" panose="020B0604020202020204" pitchFamily="34" charset="0"/>
              </a:rPr>
              <a:t>实现携转用户实时预警并推送给网格侧，网格经理通过网格通对客户及时维系</a:t>
            </a:r>
            <a:r>
              <a:rPr lang="zh-CN" altLang="en-US" sz="1400" kern="0" dirty="0" smtClean="0">
                <a:latin typeface="微软雅黑" panose="020B0503020204020204" charset="-122"/>
                <a:ea typeface="微软雅黑" panose="020B0503020204020204" charset="-122"/>
                <a:cs typeface="微软雅黑" panose="020B0503020204020204" charset="-122"/>
                <a:sym typeface="Arial" panose="020B0604020202020204" pitchFamily="34" charset="0"/>
              </a:rPr>
              <a:t>，反馈营销效果</a:t>
            </a:r>
            <a:endParaRPr lang="en-US" altLang="zh-CN" sz="1400" kern="0" dirty="0" smtClean="0">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285750" indent="-285750" defTabSz="288925">
              <a:lnSpc>
                <a:spcPct val="135000"/>
              </a:lnSpc>
              <a:buFont typeface="Wingdings" panose="05000000000000000000" pitchFamily="2" charset="2"/>
              <a:buChar char="p"/>
            </a:pPr>
            <a:r>
              <a:rPr lang="zh-CN" altLang="en-US" sz="1400" b="1" dirty="0" smtClean="0">
                <a:sym typeface="+mn-ea"/>
              </a:rPr>
              <a:t>存量价值客户保有运营</a:t>
            </a:r>
            <a:r>
              <a:rPr lang="zh-CN" altLang="en-US" sz="1400" b="1" kern="0" dirty="0" smtClean="0">
                <a:latin typeface="微软雅黑" panose="020B0503020204020204" charset="-122"/>
                <a:ea typeface="微软雅黑" panose="020B0503020204020204" charset="-122"/>
                <a:cs typeface="微软雅黑" panose="020B0503020204020204" charset="-122"/>
                <a:sym typeface="+mn-ea"/>
              </a:rPr>
              <a:t>：</a:t>
            </a:r>
            <a:r>
              <a:rPr lang="zh-CN" altLang="en-US" sz="1400" kern="0" dirty="0" smtClean="0">
                <a:latin typeface="微软雅黑" panose="020B0503020204020204" charset="-122"/>
                <a:ea typeface="微软雅黑" panose="020B0503020204020204" charset="-122"/>
                <a:cs typeface="微软雅黑" panose="020B0503020204020204" charset="-122"/>
                <a:sym typeface="Arial" panose="020B0604020202020204" pitchFamily="34" charset="0"/>
              </a:rPr>
              <a:t>实现中高价值看管客户维系任务的创建、派发，通过</a:t>
            </a:r>
            <a:r>
              <a:rPr lang="en-US" altLang="zh-CN" sz="1400" kern="0" dirty="0" smtClean="0">
                <a:latin typeface="微软雅黑" panose="020B0503020204020204" charset="-122"/>
                <a:ea typeface="微软雅黑" panose="020B0503020204020204" charset="-122"/>
                <a:cs typeface="微软雅黑" panose="020B0503020204020204" charset="-122"/>
                <a:sym typeface="Arial" panose="020B0604020202020204" pitchFamily="34" charset="0"/>
              </a:rPr>
              <a:t>IOP</a:t>
            </a:r>
            <a:r>
              <a:rPr lang="zh-CN" altLang="en-US" sz="1400" kern="0" dirty="0" smtClean="0">
                <a:latin typeface="微软雅黑" panose="020B0503020204020204" charset="-122"/>
                <a:ea typeface="微软雅黑" panose="020B0503020204020204" charset="-122"/>
                <a:cs typeface="微软雅黑" panose="020B0503020204020204" charset="-122"/>
                <a:sym typeface="Arial" panose="020B0604020202020204" pitchFamily="34" charset="0"/>
              </a:rPr>
              <a:t>平台进行营销活动配置和执行，反馈营销效果</a:t>
            </a:r>
            <a:endParaRPr lang="zh-CN" altLang="en-US" sz="1400" kern="0"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35" name="组合 34"/>
          <p:cNvGrpSpPr/>
          <p:nvPr/>
        </p:nvGrpSpPr>
        <p:grpSpPr>
          <a:xfrm rot="5400000">
            <a:off x="4464685" y="3830955"/>
            <a:ext cx="1694815" cy="201930"/>
            <a:chOff x="1549061" y="2688799"/>
            <a:chExt cx="6181358" cy="404747"/>
          </a:xfrm>
          <a:solidFill>
            <a:schemeClr val="accent1">
              <a:lumMod val="20000"/>
              <a:lumOff val="80000"/>
            </a:schemeClr>
          </a:solidFill>
        </p:grpSpPr>
        <p:sp>
          <p:nvSpPr>
            <p:cNvPr id="36" name="箭头: 下 17"/>
            <p:cNvSpPr/>
            <p:nvPr/>
          </p:nvSpPr>
          <p:spPr>
            <a:xfrm flipV="1">
              <a:off x="1549061" y="2688799"/>
              <a:ext cx="6181358" cy="404747"/>
            </a:xfrm>
            <a:prstGeom prst="downArrow">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7" name="MH_Text_1"/>
            <p:cNvSpPr txBox="1"/>
            <p:nvPr>
              <p:custDataLst>
                <p:tags r:id="rId1"/>
              </p:custDataLst>
            </p:nvPr>
          </p:nvSpPr>
          <p:spPr>
            <a:xfrm>
              <a:off x="3669571" y="2758253"/>
              <a:ext cx="1837764" cy="272334"/>
            </a:xfrm>
            <a:prstGeom prst="rect">
              <a:avLst/>
            </a:prstGeom>
            <a:grpFill/>
            <a:ln w="9525">
              <a:noFill/>
              <a:prstDash val="sysDot"/>
              <a:miter lim="800000"/>
            </a:ln>
          </p:spPr>
          <p:txBody>
            <a:bodyPr wrap="square" anchor="ctr">
              <a:noAutofit/>
            </a:bodyPr>
            <a:lstStyle>
              <a:defPPr>
                <a:defRPr lang="zh-CN"/>
              </a:defPPr>
              <a:lvl1pPr eaLnBrk="1" hangingPunct="1">
                <a:lnSpc>
                  <a:spcPct val="150000"/>
                </a:lnSpc>
                <a:defRPr sz="1100">
                  <a:solidFill>
                    <a:schemeClr val="bg1"/>
                  </a:solidFill>
                  <a:latin typeface="微软雅黑" panose="020B0503020204020204" charset="-122"/>
                  <a:ea typeface="微软雅黑" panose="020B0503020204020204" charset="-122"/>
                </a:defRPr>
              </a:lvl1pPr>
              <a:lvl2pPr marL="742950" indent="-285750"/>
              <a:lvl3pPr marL="1143000" indent="-228600"/>
              <a:lvl4pPr marL="1600200" indent="-228600"/>
              <a:lvl5pPr marL="2057400" indent="-228600"/>
              <a:lvl6pPr marL="2514600" indent="-228600" defTabSz="685800" eaLnBrk="0" fontAlgn="base" hangingPunct="0">
                <a:spcBef>
                  <a:spcPct val="0"/>
                </a:spcBef>
                <a:spcAft>
                  <a:spcPct val="0"/>
                </a:spcAft>
                <a:buFont typeface="Arial" panose="020B0604020202020204" pitchFamily="34" charset="0"/>
              </a:lvl6pPr>
              <a:lvl7pPr marL="2971800" indent="-228600" defTabSz="685800" eaLnBrk="0" fontAlgn="base" hangingPunct="0">
                <a:spcBef>
                  <a:spcPct val="0"/>
                </a:spcBef>
                <a:spcAft>
                  <a:spcPct val="0"/>
                </a:spcAft>
                <a:buFont typeface="Arial" panose="020B0604020202020204" pitchFamily="34" charset="0"/>
              </a:lvl7pPr>
              <a:lvl8pPr marL="3429000" indent="-228600" defTabSz="685800" eaLnBrk="0" fontAlgn="base" hangingPunct="0">
                <a:spcBef>
                  <a:spcPct val="0"/>
                </a:spcBef>
                <a:spcAft>
                  <a:spcPct val="0"/>
                </a:spcAft>
                <a:buFont typeface="Arial" panose="020B0604020202020204" pitchFamily="34" charset="0"/>
              </a:lvl8pPr>
              <a:lvl9pPr marL="3886200" indent="-228600" defTabSz="685800" eaLnBrk="0" fontAlgn="base" hangingPunct="0">
                <a:spcBef>
                  <a:spcPct val="0"/>
                </a:spcBef>
                <a:spcAft>
                  <a:spcPct val="0"/>
                </a:spcAft>
                <a:buFont typeface="Arial" panose="020B0604020202020204" pitchFamily="34" charset="0"/>
              </a:lvl9pPr>
            </a:lstStyle>
            <a:p>
              <a:pPr marL="0" marR="0" lvl="0" indent="0" algn="ctr" defTabSz="914400" rtl="0" eaLnBrk="1" fontAlgn="base" latinLnBrk="0" hangingPunct="1">
                <a:lnSpc>
                  <a:spcPct val="110000"/>
                </a:lnSpc>
                <a:spcBef>
                  <a:spcPts val="300"/>
                </a:spcBef>
                <a:spcAft>
                  <a:spcPct val="0"/>
                </a:spcAft>
                <a:buClrTx/>
                <a:buSzTx/>
                <a:buFontTx/>
                <a:buNone/>
                <a:defRPr/>
              </a:pPr>
              <a:endParaRPr kumimoji="0" lang="zh-CN" altLang="en-US" sz="1600" b="1" i="0" u="none" strike="noStrike" kern="1200" cap="none" spc="0" normalizeH="0" baseline="0" noProof="0" dirty="0">
                <a:ln>
                  <a:noFill/>
                </a:ln>
                <a:effectLst/>
                <a:uLnTx/>
                <a:uFillTx/>
                <a:latin typeface="Arial" panose="020B0604020202020204"/>
                <a:ea typeface="微软雅黑" panose="020B0503020204020204" charset="-122"/>
                <a:cs typeface="+mn-cs"/>
              </a:endParaRPr>
            </a:p>
          </p:txBody>
        </p:sp>
      </p:grpSp>
      <p:sp>
        <p:nvSpPr>
          <p:cNvPr id="49" name="矩形 48"/>
          <p:cNvSpPr/>
          <p:nvPr/>
        </p:nvSpPr>
        <p:spPr>
          <a:xfrm>
            <a:off x="487680" y="2052955"/>
            <a:ext cx="965200" cy="125412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sz="1200" b="1" dirty="0"/>
              <a:t>全球通高价值客户看管</a:t>
            </a:r>
            <a:endParaRPr lang="zh-CN" altLang="en-US" sz="1200" dirty="0"/>
          </a:p>
        </p:txBody>
      </p:sp>
      <p:sp>
        <p:nvSpPr>
          <p:cNvPr id="100" name="文本框 99"/>
          <p:cNvSpPr txBox="1"/>
          <p:nvPr>
            <p:custDataLst>
              <p:tags r:id="rId2"/>
            </p:custDataLst>
          </p:nvPr>
        </p:nvSpPr>
        <p:spPr>
          <a:xfrm>
            <a:off x="11322685" y="2334260"/>
            <a:ext cx="728980" cy="57467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营销效果评估</a:t>
            </a:r>
            <a:endParaRPr lang="zh-CN" altLang="en-US" sz="1000" dirty="0">
              <a:solidFill>
                <a:schemeClr val="bg1"/>
              </a:solidFill>
            </a:endParaRPr>
          </a:p>
        </p:txBody>
      </p:sp>
      <p:sp>
        <p:nvSpPr>
          <p:cNvPr id="101" name="文本框 100"/>
          <p:cNvSpPr txBox="1"/>
          <p:nvPr/>
        </p:nvSpPr>
        <p:spPr>
          <a:xfrm>
            <a:off x="11151870" y="2990850"/>
            <a:ext cx="1009650"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执行、质态和效益评估</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77" name="文本框 76"/>
          <p:cNvSpPr txBox="1"/>
          <p:nvPr>
            <p:custDataLst>
              <p:tags r:id="rId3"/>
            </p:custDataLst>
          </p:nvPr>
        </p:nvSpPr>
        <p:spPr>
          <a:xfrm>
            <a:off x="1593850" y="2224405"/>
            <a:ext cx="847090" cy="40195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全球通客户看管下发</a:t>
            </a:r>
            <a:endParaRPr lang="zh-CN" altLang="en-US" sz="1000" dirty="0">
              <a:solidFill>
                <a:schemeClr val="bg1"/>
              </a:solidFill>
            </a:endParaRPr>
          </a:p>
        </p:txBody>
      </p:sp>
      <p:sp>
        <p:nvSpPr>
          <p:cNvPr id="82" name="矩形 81"/>
          <p:cNvSpPr/>
          <p:nvPr/>
        </p:nvSpPr>
        <p:spPr>
          <a:xfrm>
            <a:off x="1532255" y="2112010"/>
            <a:ext cx="5401310" cy="119316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kumimoji="1" lang="zh-CN" altLang="en-US" sz="16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algn="ctr" eaLnBrk="1" hangingPunct="1"/>
            <a:endParaRPr kumimoji="1" lang="zh-CN" altLang="en-US" sz="1600" b="1"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83" name="矩形 82"/>
          <p:cNvSpPr/>
          <p:nvPr/>
        </p:nvSpPr>
        <p:spPr>
          <a:xfrm>
            <a:off x="2654300" y="2052955"/>
            <a:ext cx="2886710" cy="17208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精益平台</a:t>
            </a:r>
            <a:endParaRPr lang="zh-CN" altLang="en-US" sz="1200" b="1"/>
          </a:p>
        </p:txBody>
      </p:sp>
      <p:sp>
        <p:nvSpPr>
          <p:cNvPr id="91" name="右箭头 25"/>
          <p:cNvSpPr/>
          <p:nvPr/>
        </p:nvSpPr>
        <p:spPr>
          <a:xfrm>
            <a:off x="6045835" y="2469515"/>
            <a:ext cx="216535" cy="16192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2" name="文本框 91"/>
          <p:cNvSpPr txBox="1"/>
          <p:nvPr>
            <p:custDataLst>
              <p:tags r:id="rId4"/>
            </p:custDataLst>
          </p:nvPr>
        </p:nvSpPr>
        <p:spPr>
          <a:xfrm>
            <a:off x="6298565" y="2274570"/>
            <a:ext cx="582930" cy="51562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营销任务执行</a:t>
            </a:r>
            <a:endParaRPr lang="zh-CN" altLang="en-US" sz="1000" dirty="0">
              <a:solidFill>
                <a:schemeClr val="bg1"/>
              </a:solidFill>
            </a:endParaRPr>
          </a:p>
        </p:txBody>
      </p:sp>
      <p:sp>
        <p:nvSpPr>
          <p:cNvPr id="103" name="文本框 102"/>
          <p:cNvSpPr txBox="1"/>
          <p:nvPr/>
        </p:nvSpPr>
        <p:spPr>
          <a:xfrm>
            <a:off x="5936615" y="2867025"/>
            <a:ext cx="996950" cy="50673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我的营销任务</a:t>
            </a:r>
            <a:r>
              <a:rPr kumimoji="1" lang="en-US" altLang="zh-CN"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a:t>
            </a: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营销活动配置</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07" name="右箭头 25"/>
          <p:cNvSpPr/>
          <p:nvPr/>
        </p:nvSpPr>
        <p:spPr>
          <a:xfrm>
            <a:off x="6903720" y="2469515"/>
            <a:ext cx="95250" cy="229870"/>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3" name="矩形 92"/>
          <p:cNvSpPr/>
          <p:nvPr/>
        </p:nvSpPr>
        <p:spPr>
          <a:xfrm>
            <a:off x="6971030" y="2112010"/>
            <a:ext cx="2737485" cy="119316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94" name="矩形 93"/>
          <p:cNvSpPr/>
          <p:nvPr/>
        </p:nvSpPr>
        <p:spPr>
          <a:xfrm>
            <a:off x="7404100" y="2040890"/>
            <a:ext cx="1758315" cy="17208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t>IOP</a:t>
            </a:r>
            <a:endParaRPr lang="en-US" altLang="zh-CN" sz="1200" b="1"/>
          </a:p>
        </p:txBody>
      </p:sp>
      <p:sp>
        <p:nvSpPr>
          <p:cNvPr id="95" name="文本框 94"/>
          <p:cNvSpPr txBox="1"/>
          <p:nvPr>
            <p:custDataLst>
              <p:tags r:id="rId5"/>
            </p:custDataLst>
          </p:nvPr>
        </p:nvSpPr>
        <p:spPr>
          <a:xfrm>
            <a:off x="7005955" y="2272030"/>
            <a:ext cx="601980" cy="58039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目标用户合并拆分</a:t>
            </a:r>
            <a:endParaRPr lang="zh-CN" altLang="en-US" sz="1000" dirty="0">
              <a:solidFill>
                <a:schemeClr val="bg1"/>
              </a:solidFill>
            </a:endParaRPr>
          </a:p>
        </p:txBody>
      </p:sp>
      <p:sp>
        <p:nvSpPr>
          <p:cNvPr id="96" name="右箭头 25"/>
          <p:cNvSpPr/>
          <p:nvPr/>
        </p:nvSpPr>
        <p:spPr>
          <a:xfrm>
            <a:off x="7660640" y="2469515"/>
            <a:ext cx="231775" cy="16192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7" name="文本框 96"/>
          <p:cNvSpPr txBox="1"/>
          <p:nvPr>
            <p:custDataLst>
              <p:tags r:id="rId6"/>
            </p:custDataLst>
          </p:nvPr>
        </p:nvSpPr>
        <p:spPr>
          <a:xfrm>
            <a:off x="7892415" y="2224405"/>
            <a:ext cx="641985" cy="62103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根据用户切片配置活动</a:t>
            </a:r>
            <a:endParaRPr lang="zh-CN" altLang="en-US" sz="1000" dirty="0">
              <a:solidFill>
                <a:schemeClr val="bg1"/>
              </a:solidFill>
            </a:endParaRPr>
          </a:p>
        </p:txBody>
      </p:sp>
      <p:sp>
        <p:nvSpPr>
          <p:cNvPr id="98" name="右箭头 25"/>
          <p:cNvSpPr/>
          <p:nvPr/>
        </p:nvSpPr>
        <p:spPr>
          <a:xfrm>
            <a:off x="8587105" y="2469515"/>
            <a:ext cx="231775" cy="16192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9" name="文本框 98"/>
          <p:cNvSpPr txBox="1"/>
          <p:nvPr>
            <p:custDataLst>
              <p:tags r:id="rId7"/>
            </p:custDataLst>
          </p:nvPr>
        </p:nvSpPr>
        <p:spPr>
          <a:xfrm>
            <a:off x="8818880" y="2225040"/>
            <a:ext cx="641985" cy="62738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活动提交审批执行</a:t>
            </a:r>
            <a:endParaRPr lang="zh-CN" altLang="en-US" sz="1000" dirty="0">
              <a:solidFill>
                <a:schemeClr val="bg1"/>
              </a:solidFill>
            </a:endParaRPr>
          </a:p>
        </p:txBody>
      </p:sp>
      <p:sp>
        <p:nvSpPr>
          <p:cNvPr id="104" name="文本框 103"/>
          <p:cNvSpPr txBox="1"/>
          <p:nvPr/>
        </p:nvSpPr>
        <p:spPr>
          <a:xfrm>
            <a:off x="7005955" y="2830830"/>
            <a:ext cx="768350" cy="430530"/>
          </a:xfrm>
          <a:prstGeom prst="rect">
            <a:avLst/>
          </a:prstGeom>
          <a:noFill/>
        </p:spPr>
        <p:txBody>
          <a:bodyPr wrap="square">
            <a:noAutofit/>
          </a:bodyPr>
          <a:lstStyle/>
          <a:p>
            <a:pPr indent="0">
              <a:lnSpc>
                <a:spcPct val="125000"/>
              </a:lnSpc>
              <a:spcBef>
                <a:spcPts val="0"/>
              </a:spcBef>
              <a:spcAft>
                <a:spcPts val="0"/>
              </a:spcAft>
              <a:buNone/>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目标用户合并、切片拆分</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05" name="文本框 104"/>
          <p:cNvSpPr txBox="1"/>
          <p:nvPr/>
        </p:nvSpPr>
        <p:spPr>
          <a:xfrm>
            <a:off x="7892415" y="2844800"/>
            <a:ext cx="819150" cy="430530"/>
          </a:xfrm>
          <a:prstGeom prst="rect">
            <a:avLst/>
          </a:prstGeom>
          <a:noFill/>
        </p:spPr>
        <p:txBody>
          <a:bodyPr wrap="square">
            <a:noAutofit/>
          </a:bodyPr>
          <a:lstStyle/>
          <a:p>
            <a:pPr indent="0">
              <a:lnSpc>
                <a:spcPct val="125000"/>
              </a:lnSpc>
              <a:spcBef>
                <a:spcPts val="0"/>
              </a:spcBef>
              <a:spcAft>
                <a:spcPts val="0"/>
              </a:spcAft>
              <a:buNone/>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根据切片进行活动配置</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06" name="文本框 105"/>
          <p:cNvSpPr txBox="1"/>
          <p:nvPr/>
        </p:nvSpPr>
        <p:spPr>
          <a:xfrm>
            <a:off x="8733790" y="2830830"/>
            <a:ext cx="886460" cy="430530"/>
          </a:xfrm>
          <a:prstGeom prst="rect">
            <a:avLst/>
          </a:prstGeom>
          <a:noFill/>
        </p:spPr>
        <p:txBody>
          <a:bodyPr wrap="square">
            <a:noAutofit/>
          </a:bodyPr>
          <a:lstStyle/>
          <a:p>
            <a:pPr indent="0">
              <a:lnSpc>
                <a:spcPct val="125000"/>
              </a:lnSpc>
              <a:spcBef>
                <a:spcPts val="0"/>
              </a:spcBef>
              <a:spcAft>
                <a:spcPts val="0"/>
              </a:spcAft>
              <a:buNone/>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提交活动审批</a:t>
            </a:r>
            <a:r>
              <a:rPr kumimoji="1" lang="en-US" altLang="zh-CN"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a:t>
            </a: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活动执行</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08" name="右箭头 25"/>
          <p:cNvSpPr/>
          <p:nvPr/>
        </p:nvSpPr>
        <p:spPr>
          <a:xfrm>
            <a:off x="9567545" y="2469515"/>
            <a:ext cx="231775" cy="16192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870440" y="2052320"/>
            <a:ext cx="1249680" cy="1033145"/>
          </a:xfrm>
          <a:prstGeom prst="rect">
            <a:avLst/>
          </a:prstGeom>
          <a:ln>
            <a:noFill/>
          </a:ln>
          <a:effectLst>
            <a:outerShdw blurRad="292100" dist="139700" dir="2700000" algn="tl" rotWithShape="0">
              <a:srgbClr val="333333">
                <a:alpha val="65000"/>
              </a:srgbClr>
            </a:outerShdw>
          </a:effectLst>
        </p:spPr>
      </p:pic>
      <p:sp>
        <p:nvSpPr>
          <p:cNvPr id="6" name="文本框 5"/>
          <p:cNvSpPr txBox="1"/>
          <p:nvPr/>
        </p:nvSpPr>
        <p:spPr>
          <a:xfrm>
            <a:off x="9960610" y="3129280"/>
            <a:ext cx="1057275" cy="229870"/>
          </a:xfrm>
          <a:prstGeom prst="rect">
            <a:avLst/>
          </a:prstGeom>
          <a:noFill/>
        </p:spPr>
        <p:txBody>
          <a:bodyPr wrap="square" rtlCol="0">
            <a:spAutoFit/>
          </a:bodyPr>
          <a:p>
            <a:r>
              <a:rPr lang="zh-CN" altLang="en-US" sz="900" b="1"/>
              <a:t>网格通</a:t>
            </a:r>
            <a:r>
              <a:rPr lang="en-US" altLang="zh-CN" sz="900" b="1"/>
              <a:t>-</a:t>
            </a:r>
            <a:r>
              <a:rPr lang="zh-CN" altLang="en-US" sz="900" b="1"/>
              <a:t>精益营销</a:t>
            </a:r>
            <a:endParaRPr lang="zh-CN" altLang="en-US" sz="900" b="1"/>
          </a:p>
        </p:txBody>
      </p:sp>
      <p:sp>
        <p:nvSpPr>
          <p:cNvPr id="13" name="文本框 12"/>
          <p:cNvSpPr txBox="1"/>
          <p:nvPr/>
        </p:nvSpPr>
        <p:spPr>
          <a:xfrm>
            <a:off x="5040630" y="-461645"/>
            <a:ext cx="6096000" cy="368300"/>
          </a:xfrm>
          <a:prstGeom prst="rect">
            <a:avLst/>
          </a:prstGeom>
          <a:noFill/>
        </p:spPr>
        <p:txBody>
          <a:bodyPr wrap="square" rtlCol="0" anchor="t">
            <a:spAutoFit/>
          </a:bodyPr>
          <a:p>
            <a:r>
              <a:rPr lang="zh-CN" altLang="en-US"/>
              <a:t>全球通高价值客户看管</a:t>
            </a:r>
            <a:endParaRPr lang="zh-CN" altLang="en-US"/>
          </a:p>
        </p:txBody>
      </p:sp>
      <p:sp>
        <p:nvSpPr>
          <p:cNvPr id="16" name="矩形 15"/>
          <p:cNvSpPr/>
          <p:nvPr/>
        </p:nvSpPr>
        <p:spPr>
          <a:xfrm>
            <a:off x="501015" y="5301615"/>
            <a:ext cx="965200" cy="125412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sz="1200" b="1" dirty="0"/>
              <a:t>存量高价值客户保有运营</a:t>
            </a:r>
            <a:endParaRPr lang="zh-CN" altLang="en-US" sz="1200" dirty="0"/>
          </a:p>
        </p:txBody>
      </p:sp>
      <p:sp>
        <p:nvSpPr>
          <p:cNvPr id="17" name="文本框 16"/>
          <p:cNvSpPr txBox="1"/>
          <p:nvPr>
            <p:custDataLst>
              <p:tags r:id="rId9"/>
            </p:custDataLst>
          </p:nvPr>
        </p:nvSpPr>
        <p:spPr>
          <a:xfrm>
            <a:off x="11336020" y="5582920"/>
            <a:ext cx="728980" cy="57467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营销效果评估</a:t>
            </a:r>
            <a:endParaRPr lang="zh-CN" altLang="en-US" sz="1000" dirty="0">
              <a:solidFill>
                <a:schemeClr val="bg1"/>
              </a:solidFill>
            </a:endParaRPr>
          </a:p>
        </p:txBody>
      </p:sp>
      <p:sp>
        <p:nvSpPr>
          <p:cNvPr id="18" name="文本框 17"/>
          <p:cNvSpPr txBox="1"/>
          <p:nvPr/>
        </p:nvSpPr>
        <p:spPr>
          <a:xfrm>
            <a:off x="11165205" y="6239510"/>
            <a:ext cx="1009650"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执行、质态和效益评估</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grpSp>
        <p:nvGrpSpPr>
          <p:cNvPr id="152" name="组合 151"/>
          <p:cNvGrpSpPr/>
          <p:nvPr/>
        </p:nvGrpSpPr>
        <p:grpSpPr>
          <a:xfrm>
            <a:off x="7892415" y="5319395"/>
            <a:ext cx="3217616" cy="1252855"/>
            <a:chOff x="10893" y="8348"/>
            <a:chExt cx="4560" cy="1973"/>
          </a:xfrm>
        </p:grpSpPr>
        <p:sp>
          <p:nvSpPr>
            <p:cNvPr id="112" name="右箭头 25"/>
            <p:cNvSpPr/>
            <p:nvPr/>
          </p:nvSpPr>
          <p:spPr>
            <a:xfrm>
              <a:off x="10893" y="9052"/>
              <a:ext cx="150" cy="362"/>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矩形 113"/>
            <p:cNvSpPr/>
            <p:nvPr/>
          </p:nvSpPr>
          <p:spPr>
            <a:xfrm>
              <a:off x="10999" y="8442"/>
              <a:ext cx="4311" cy="1879"/>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115" name="矩形 114"/>
            <p:cNvSpPr/>
            <p:nvPr/>
          </p:nvSpPr>
          <p:spPr>
            <a:xfrm>
              <a:off x="11681" y="8348"/>
              <a:ext cx="2769" cy="271"/>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t>IOP</a:t>
              </a:r>
              <a:endParaRPr lang="en-US" altLang="zh-CN" sz="1200" b="1"/>
            </a:p>
          </p:txBody>
        </p:sp>
        <p:sp>
          <p:nvSpPr>
            <p:cNvPr id="116" name="文本框 115"/>
            <p:cNvSpPr txBox="1"/>
            <p:nvPr>
              <p:custDataLst>
                <p:tags r:id="rId10"/>
              </p:custDataLst>
            </p:nvPr>
          </p:nvSpPr>
          <p:spPr>
            <a:xfrm>
              <a:off x="11054" y="8854"/>
              <a:ext cx="948" cy="64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目标用户合并拆分</a:t>
              </a:r>
              <a:endParaRPr lang="zh-CN" altLang="en-US" sz="1000" dirty="0">
                <a:solidFill>
                  <a:schemeClr val="bg1"/>
                </a:solidFill>
              </a:endParaRPr>
            </a:p>
          </p:txBody>
        </p:sp>
        <p:sp>
          <p:nvSpPr>
            <p:cNvPr id="117" name="右箭头 25"/>
            <p:cNvSpPr/>
            <p:nvPr/>
          </p:nvSpPr>
          <p:spPr>
            <a:xfrm>
              <a:off x="12085" y="9080"/>
              <a:ext cx="365" cy="25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7" name="文本框 126"/>
            <p:cNvSpPr txBox="1"/>
            <p:nvPr>
              <p:custDataLst>
                <p:tags r:id="rId11"/>
              </p:custDataLst>
            </p:nvPr>
          </p:nvSpPr>
          <p:spPr>
            <a:xfrm>
              <a:off x="12450" y="8868"/>
              <a:ext cx="1011" cy="64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根据用户切片配置活动</a:t>
              </a:r>
              <a:endParaRPr lang="zh-CN" altLang="en-US" sz="1000" dirty="0">
                <a:solidFill>
                  <a:schemeClr val="bg1"/>
                </a:solidFill>
              </a:endParaRPr>
            </a:p>
          </p:txBody>
        </p:sp>
        <p:sp>
          <p:nvSpPr>
            <p:cNvPr id="128" name="右箭头 25"/>
            <p:cNvSpPr/>
            <p:nvPr/>
          </p:nvSpPr>
          <p:spPr>
            <a:xfrm>
              <a:off x="13544" y="9080"/>
              <a:ext cx="365" cy="25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9" name="文本框 128"/>
            <p:cNvSpPr txBox="1"/>
            <p:nvPr>
              <p:custDataLst>
                <p:tags r:id="rId12"/>
              </p:custDataLst>
            </p:nvPr>
          </p:nvSpPr>
          <p:spPr>
            <a:xfrm>
              <a:off x="13909" y="8869"/>
              <a:ext cx="1011" cy="64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活动提交审批执行</a:t>
              </a:r>
              <a:endParaRPr lang="zh-CN" altLang="en-US" sz="1000" dirty="0">
                <a:solidFill>
                  <a:schemeClr val="bg1"/>
                </a:solidFill>
              </a:endParaRPr>
            </a:p>
          </p:txBody>
        </p:sp>
        <p:sp>
          <p:nvSpPr>
            <p:cNvPr id="144" name="文本框 143"/>
            <p:cNvSpPr txBox="1"/>
            <p:nvPr/>
          </p:nvSpPr>
          <p:spPr>
            <a:xfrm>
              <a:off x="11054" y="9574"/>
              <a:ext cx="1339" cy="678"/>
            </a:xfrm>
            <a:prstGeom prst="rect">
              <a:avLst/>
            </a:prstGeom>
            <a:noFill/>
          </p:spPr>
          <p:txBody>
            <a:bodyPr wrap="square">
              <a:noAutofit/>
            </a:bodyPr>
            <a:lstStyle/>
            <a:p>
              <a:pPr indent="0">
                <a:lnSpc>
                  <a:spcPct val="125000"/>
                </a:lnSpc>
                <a:spcBef>
                  <a:spcPts val="0"/>
                </a:spcBef>
                <a:spcAft>
                  <a:spcPts val="0"/>
                </a:spcAft>
                <a:buNone/>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目标用户合并、切片拆分</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45" name="文本框 144"/>
            <p:cNvSpPr txBox="1"/>
            <p:nvPr/>
          </p:nvSpPr>
          <p:spPr>
            <a:xfrm>
              <a:off x="12450" y="9596"/>
              <a:ext cx="1290" cy="678"/>
            </a:xfrm>
            <a:prstGeom prst="rect">
              <a:avLst/>
            </a:prstGeom>
            <a:noFill/>
          </p:spPr>
          <p:txBody>
            <a:bodyPr wrap="square">
              <a:noAutofit/>
            </a:bodyPr>
            <a:lstStyle/>
            <a:p>
              <a:pPr indent="0">
                <a:lnSpc>
                  <a:spcPct val="125000"/>
                </a:lnSpc>
                <a:spcBef>
                  <a:spcPts val="0"/>
                </a:spcBef>
                <a:spcAft>
                  <a:spcPts val="0"/>
                </a:spcAft>
                <a:buNone/>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根据切片进行活动配置</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46" name="文本框 145"/>
            <p:cNvSpPr txBox="1"/>
            <p:nvPr/>
          </p:nvSpPr>
          <p:spPr>
            <a:xfrm>
              <a:off x="13909" y="9574"/>
              <a:ext cx="1262" cy="678"/>
            </a:xfrm>
            <a:prstGeom prst="rect">
              <a:avLst/>
            </a:prstGeom>
            <a:noFill/>
          </p:spPr>
          <p:txBody>
            <a:bodyPr wrap="square">
              <a:noAutofit/>
            </a:bodyPr>
            <a:lstStyle/>
            <a:p>
              <a:pPr indent="0">
                <a:lnSpc>
                  <a:spcPct val="125000"/>
                </a:lnSpc>
                <a:spcBef>
                  <a:spcPts val="0"/>
                </a:spcBef>
                <a:spcAft>
                  <a:spcPts val="0"/>
                </a:spcAft>
                <a:buNone/>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提交活动审批</a:t>
              </a:r>
              <a:r>
                <a:rPr kumimoji="1" lang="en-US" altLang="zh-CN"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a:t>
              </a: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活动执行</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47" name="右箭头 25"/>
            <p:cNvSpPr/>
            <p:nvPr/>
          </p:nvSpPr>
          <p:spPr>
            <a:xfrm>
              <a:off x="15088" y="9059"/>
              <a:ext cx="365" cy="25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42" name="矩形 141"/>
          <p:cNvSpPr/>
          <p:nvPr/>
        </p:nvSpPr>
        <p:spPr>
          <a:xfrm>
            <a:off x="5558790" y="4676140"/>
            <a:ext cx="5459095" cy="55054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38" name="矩形 37"/>
          <p:cNvSpPr/>
          <p:nvPr/>
        </p:nvSpPr>
        <p:spPr>
          <a:xfrm>
            <a:off x="497205" y="3376295"/>
            <a:ext cx="955675" cy="185039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bg1"/>
                </a:solidFill>
              </a:rPr>
              <a:t>实时携转</a:t>
            </a:r>
            <a:endParaRPr lang="zh-CN" altLang="en-US" sz="1200" b="1" dirty="0">
              <a:solidFill>
                <a:schemeClr val="bg1"/>
              </a:solidFill>
            </a:endParaRPr>
          </a:p>
          <a:p>
            <a:pPr algn="ctr" defTabSz="288925"/>
            <a:r>
              <a:rPr lang="zh-CN" altLang="en-US" sz="1200" b="1" dirty="0" smtClean="0">
                <a:solidFill>
                  <a:schemeClr val="bg1"/>
                </a:solidFill>
              </a:rPr>
              <a:t>预警</a:t>
            </a:r>
            <a:endParaRPr lang="en-US" altLang="zh-CN" sz="1200" b="1" dirty="0">
              <a:solidFill>
                <a:schemeClr val="bg1"/>
              </a:solidFill>
            </a:endParaRPr>
          </a:p>
        </p:txBody>
      </p:sp>
      <p:sp>
        <p:nvSpPr>
          <p:cNvPr id="55" name="矩形 54"/>
          <p:cNvSpPr/>
          <p:nvPr/>
        </p:nvSpPr>
        <p:spPr>
          <a:xfrm>
            <a:off x="1530985" y="3376295"/>
            <a:ext cx="3773805" cy="184975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56" name="矩形 55"/>
          <p:cNvSpPr/>
          <p:nvPr/>
        </p:nvSpPr>
        <p:spPr>
          <a:xfrm>
            <a:off x="1799590" y="3326765"/>
            <a:ext cx="3425825" cy="32131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精益平台携转挽留</a:t>
            </a:r>
            <a:r>
              <a:rPr lang="en-US" altLang="zh-CN" sz="1200" b="1"/>
              <a:t>3</a:t>
            </a:r>
            <a:r>
              <a:rPr lang="zh-CN" altLang="en-US" sz="1200" b="1"/>
              <a:t>种模式</a:t>
            </a:r>
            <a:endParaRPr lang="zh-CN" altLang="en-US" sz="1200" b="1"/>
          </a:p>
        </p:txBody>
      </p:sp>
      <p:sp>
        <p:nvSpPr>
          <p:cNvPr id="57" name="文本框 56"/>
          <p:cNvSpPr txBox="1"/>
          <p:nvPr/>
        </p:nvSpPr>
        <p:spPr>
          <a:xfrm>
            <a:off x="130175" y="3906520"/>
            <a:ext cx="314325" cy="398780"/>
          </a:xfrm>
          <a:prstGeom prst="rect">
            <a:avLst/>
          </a:prstGeom>
          <a:noFill/>
        </p:spPr>
        <p:txBody>
          <a:bodyPr wrap="square" rtlCol="0">
            <a:spAutoFit/>
          </a:bodyPr>
          <a:lstStyle/>
          <a:p>
            <a:r>
              <a:rPr lang="en-US" altLang="zh-CN" sz="2000" b="1" i="1">
                <a:solidFill>
                  <a:srgbClr val="4874CB"/>
                </a:solidFill>
              </a:rPr>
              <a:t>2</a:t>
            </a:r>
            <a:endParaRPr lang="en-US" altLang="zh-CN" sz="2000" b="1" i="1">
              <a:solidFill>
                <a:srgbClr val="4874CB"/>
              </a:solidFill>
            </a:endParaRPr>
          </a:p>
        </p:txBody>
      </p:sp>
      <p:sp>
        <p:nvSpPr>
          <p:cNvPr id="65" name="矩形 64"/>
          <p:cNvSpPr/>
          <p:nvPr/>
        </p:nvSpPr>
        <p:spPr>
          <a:xfrm>
            <a:off x="5574030" y="3386455"/>
            <a:ext cx="5459095" cy="55054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66" name="矩形 65"/>
          <p:cNvSpPr/>
          <p:nvPr/>
        </p:nvSpPr>
        <p:spPr>
          <a:xfrm>
            <a:off x="8078470" y="4620895"/>
            <a:ext cx="2948305" cy="15621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sym typeface="+mn-ea"/>
              </a:rPr>
              <a:t>网格通</a:t>
            </a:r>
            <a:endParaRPr lang="zh-CN" altLang="en-US" sz="1200" b="1">
              <a:sym typeface="+mn-ea"/>
            </a:endParaRPr>
          </a:p>
        </p:txBody>
      </p:sp>
      <p:grpSp>
        <p:nvGrpSpPr>
          <p:cNvPr id="33" name="组合 32"/>
          <p:cNvGrpSpPr/>
          <p:nvPr/>
        </p:nvGrpSpPr>
        <p:grpSpPr>
          <a:xfrm rot="0">
            <a:off x="1481455" y="3917315"/>
            <a:ext cx="3665220" cy="1082040"/>
            <a:chOff x="2242" y="3644"/>
            <a:chExt cx="6278" cy="1010"/>
          </a:xfrm>
        </p:grpSpPr>
        <p:sp>
          <p:nvSpPr>
            <p:cNvPr id="50" name="文本框 49"/>
            <p:cNvSpPr txBox="1"/>
            <p:nvPr>
              <p:custDataLst>
                <p:tags r:id="rId13"/>
              </p:custDataLst>
            </p:nvPr>
          </p:nvSpPr>
          <p:spPr>
            <a:xfrm>
              <a:off x="2435" y="3648"/>
              <a:ext cx="1042" cy="32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dirty="0">
                  <a:solidFill>
                    <a:schemeClr val="bg1"/>
                  </a:solidFill>
                </a:rPr>
                <a:t>创建携转任务预警</a:t>
              </a:r>
              <a:endParaRPr lang="zh-CN" altLang="en-US" dirty="0">
                <a:solidFill>
                  <a:schemeClr val="bg1"/>
                </a:solidFill>
              </a:endParaRPr>
            </a:p>
          </p:txBody>
        </p:sp>
        <p:sp>
          <p:nvSpPr>
            <p:cNvPr id="51" name="文本框 50"/>
            <p:cNvSpPr txBox="1"/>
            <p:nvPr>
              <p:custDataLst>
                <p:tags r:id="rId14"/>
              </p:custDataLst>
            </p:nvPr>
          </p:nvSpPr>
          <p:spPr>
            <a:xfrm>
              <a:off x="3933" y="3648"/>
              <a:ext cx="1042" cy="32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dirty="0">
                  <a:solidFill>
                    <a:schemeClr val="bg1"/>
                  </a:solidFill>
                </a:rPr>
                <a:t>预警指标自动触发</a:t>
              </a:r>
              <a:endParaRPr lang="zh-CN" altLang="en-US" dirty="0">
                <a:solidFill>
                  <a:schemeClr val="bg1"/>
                </a:solidFill>
              </a:endParaRPr>
            </a:p>
          </p:txBody>
        </p:sp>
        <p:sp>
          <p:nvSpPr>
            <p:cNvPr id="52" name="右箭头 25"/>
            <p:cNvSpPr/>
            <p:nvPr/>
          </p:nvSpPr>
          <p:spPr>
            <a:xfrm>
              <a:off x="3546" y="3743"/>
              <a:ext cx="409" cy="12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3" name="文本框 52"/>
            <p:cNvSpPr txBox="1"/>
            <p:nvPr/>
          </p:nvSpPr>
          <p:spPr>
            <a:xfrm>
              <a:off x="2242" y="4001"/>
              <a:ext cx="1350" cy="344"/>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选择业务场景</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54" name="文本框 53"/>
            <p:cNvSpPr txBox="1"/>
            <p:nvPr/>
          </p:nvSpPr>
          <p:spPr>
            <a:xfrm>
              <a:off x="3805" y="4003"/>
              <a:ext cx="1350" cy="473"/>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携转码查询实时标签</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59" name="文本框 58"/>
            <p:cNvSpPr txBox="1"/>
            <p:nvPr>
              <p:custDataLst>
                <p:tags r:id="rId15"/>
              </p:custDataLst>
            </p:nvPr>
          </p:nvSpPr>
          <p:spPr>
            <a:xfrm>
              <a:off x="5404" y="3644"/>
              <a:ext cx="1042" cy="32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dirty="0">
                  <a:solidFill>
                    <a:schemeClr val="bg1"/>
                  </a:solidFill>
                </a:rPr>
                <a:t>预警审批</a:t>
              </a:r>
              <a:endParaRPr lang="zh-CN" altLang="en-US" dirty="0">
                <a:solidFill>
                  <a:schemeClr val="bg1"/>
                </a:solidFill>
              </a:endParaRPr>
            </a:p>
          </p:txBody>
        </p:sp>
        <p:sp>
          <p:nvSpPr>
            <p:cNvPr id="60" name="右箭头 25"/>
            <p:cNvSpPr/>
            <p:nvPr/>
          </p:nvSpPr>
          <p:spPr>
            <a:xfrm>
              <a:off x="5017" y="3740"/>
              <a:ext cx="409" cy="12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61" name="文本框 60"/>
            <p:cNvSpPr txBox="1"/>
            <p:nvPr/>
          </p:nvSpPr>
          <p:spPr>
            <a:xfrm>
              <a:off x="5096" y="4011"/>
              <a:ext cx="1350" cy="602"/>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审批通过后，执行预警监控</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62" name="右箭头 25"/>
            <p:cNvSpPr/>
            <p:nvPr/>
          </p:nvSpPr>
          <p:spPr>
            <a:xfrm>
              <a:off x="6488" y="3740"/>
              <a:ext cx="409" cy="12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63" name="文本框 62"/>
            <p:cNvSpPr txBox="1"/>
            <p:nvPr>
              <p:custDataLst>
                <p:tags r:id="rId16"/>
              </p:custDataLst>
            </p:nvPr>
          </p:nvSpPr>
          <p:spPr>
            <a:xfrm>
              <a:off x="6939" y="3645"/>
              <a:ext cx="1581" cy="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dirty="0">
                  <a:solidFill>
                    <a:schemeClr val="bg1"/>
                  </a:solidFill>
                </a:rPr>
                <a:t>预警出发下发工单至网格通</a:t>
              </a:r>
              <a:endParaRPr lang="zh-CN" altLang="en-US" dirty="0">
                <a:solidFill>
                  <a:schemeClr val="bg1"/>
                </a:solidFill>
              </a:endParaRPr>
            </a:p>
          </p:txBody>
        </p:sp>
        <p:sp>
          <p:nvSpPr>
            <p:cNvPr id="64" name="文本框 63"/>
            <p:cNvSpPr txBox="1"/>
            <p:nvPr/>
          </p:nvSpPr>
          <p:spPr>
            <a:xfrm>
              <a:off x="6939" y="4181"/>
              <a:ext cx="1580" cy="473"/>
            </a:xfrm>
            <a:prstGeom prst="rect">
              <a:avLst/>
            </a:prstGeom>
            <a:noFill/>
          </p:spPr>
          <p:txBody>
            <a:bodyPr wrap="square">
              <a:spAutoFit/>
            </a:bodyPr>
            <a:lstStyle/>
            <a:p>
              <a:pPr marL="171450" indent="-171450">
                <a:buFont typeface="Wingdings" panose="05000000000000000000" pitchFamily="2" charset="2"/>
                <a:buChar char="Ø"/>
              </a:pPr>
              <a:r>
                <a:rPr lang="zh-CN" altLang="en-US" sz="900">
                  <a:sym typeface="+mn-ea"/>
                </a:rPr>
                <a:t>用户发送短信查询携转码触发预警</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grpSp>
      <p:sp>
        <p:nvSpPr>
          <p:cNvPr id="67" name="文本框 66"/>
          <p:cNvSpPr txBox="1"/>
          <p:nvPr/>
        </p:nvSpPr>
        <p:spPr>
          <a:xfrm>
            <a:off x="5706745" y="3786505"/>
            <a:ext cx="1229995" cy="183515"/>
          </a:xfrm>
          <a:prstGeom prst="rect">
            <a:avLst/>
          </a:prstGeom>
          <a:noFill/>
        </p:spPr>
        <p:txBody>
          <a:bodyPr wrap="square" rtlCol="0">
            <a:spAutoFit/>
          </a:bodyPr>
          <a:lstStyle/>
          <a:p>
            <a:r>
              <a:rPr lang="zh-CN" altLang="en-US" sz="600"/>
              <a:t>网格收到预警信息</a:t>
            </a:r>
            <a:endParaRPr lang="zh-CN" altLang="en-US" sz="600"/>
          </a:p>
        </p:txBody>
      </p:sp>
      <p:pic>
        <p:nvPicPr>
          <p:cNvPr id="68" name="图片 10"/>
          <p:cNvPicPr>
            <a:picLocks noChangeAspect="1" noChangeArrowheads="1"/>
          </p:cNvPicPr>
          <p:nvPr/>
        </p:nvPicPr>
        <p:blipFill>
          <a:blip r:embed="rId17" cstate="print">
            <a:extLst>
              <a:ext uri="{28A0092B-C50C-407E-A947-70E740481C1C}">
                <a14:useLocalDpi xmlns:a14="http://schemas.microsoft.com/office/drawing/2010/main" val="0"/>
              </a:ext>
            </a:extLst>
          </a:blip>
          <a:srcRect b="55784"/>
          <a:stretch>
            <a:fillRect/>
          </a:stretch>
        </p:blipFill>
        <p:spPr>
          <a:xfrm>
            <a:off x="5661025" y="3505200"/>
            <a:ext cx="1282700" cy="287655"/>
          </a:xfrm>
          <a:prstGeom prst="rect">
            <a:avLst/>
          </a:prstGeom>
          <a:noFill/>
          <a:ln>
            <a:noFill/>
          </a:ln>
        </p:spPr>
      </p:pic>
      <p:pic>
        <p:nvPicPr>
          <p:cNvPr id="69" name="图片 11"/>
          <p:cNvPicPr>
            <a:picLocks noChangeAspect="1" noChangeArrowheads="1"/>
          </p:cNvPicPr>
          <p:nvPr/>
        </p:nvPicPr>
        <p:blipFill>
          <a:blip r:embed="rId18" cstate="print">
            <a:extLst>
              <a:ext uri="{28A0092B-C50C-407E-A947-70E740481C1C}">
                <a14:useLocalDpi xmlns:a14="http://schemas.microsoft.com/office/drawing/2010/main" val="0"/>
              </a:ext>
            </a:extLst>
          </a:blip>
          <a:srcRect b="58992"/>
          <a:stretch>
            <a:fillRect/>
          </a:stretch>
        </p:blipFill>
        <p:spPr>
          <a:xfrm>
            <a:off x="7045960" y="3510915"/>
            <a:ext cx="1358900" cy="281940"/>
          </a:xfrm>
          <a:prstGeom prst="rect">
            <a:avLst/>
          </a:prstGeom>
          <a:noFill/>
          <a:ln>
            <a:noFill/>
          </a:ln>
        </p:spPr>
      </p:pic>
      <p:sp>
        <p:nvSpPr>
          <p:cNvPr id="70" name="文本框 69"/>
          <p:cNvSpPr txBox="1"/>
          <p:nvPr/>
        </p:nvSpPr>
        <p:spPr>
          <a:xfrm>
            <a:off x="7282180" y="3789045"/>
            <a:ext cx="949325" cy="183515"/>
          </a:xfrm>
          <a:prstGeom prst="rect">
            <a:avLst/>
          </a:prstGeom>
          <a:noFill/>
        </p:spPr>
        <p:txBody>
          <a:bodyPr wrap="square" rtlCol="0">
            <a:spAutoFit/>
          </a:bodyPr>
          <a:lstStyle/>
          <a:p>
            <a:r>
              <a:rPr lang="zh-CN" altLang="en-US" sz="600"/>
              <a:t>携转信息查看</a:t>
            </a:r>
            <a:endParaRPr lang="zh-CN" altLang="en-US" sz="600"/>
          </a:p>
        </p:txBody>
      </p:sp>
      <p:pic>
        <p:nvPicPr>
          <p:cNvPr id="71" name="图片 1"/>
          <p:cNvPicPr>
            <a:picLocks noChangeAspect="1"/>
          </p:cNvPicPr>
          <p:nvPr/>
        </p:nvPicPr>
        <p:blipFill>
          <a:blip r:embed="rId19"/>
          <a:srcRect t="5795" b="30398"/>
          <a:stretch>
            <a:fillRect/>
          </a:stretch>
        </p:blipFill>
        <p:spPr>
          <a:xfrm>
            <a:off x="8508365" y="3500120"/>
            <a:ext cx="1200785" cy="287020"/>
          </a:xfrm>
          <a:prstGeom prst="rect">
            <a:avLst/>
          </a:prstGeom>
        </p:spPr>
      </p:pic>
      <p:sp>
        <p:nvSpPr>
          <p:cNvPr id="72" name="文本框 71"/>
          <p:cNvSpPr txBox="1"/>
          <p:nvPr/>
        </p:nvSpPr>
        <p:spPr>
          <a:xfrm>
            <a:off x="8632825" y="3791585"/>
            <a:ext cx="949325" cy="183515"/>
          </a:xfrm>
          <a:prstGeom prst="rect">
            <a:avLst/>
          </a:prstGeom>
          <a:noFill/>
        </p:spPr>
        <p:txBody>
          <a:bodyPr wrap="square" rtlCol="0">
            <a:spAutoFit/>
          </a:bodyPr>
          <a:lstStyle/>
          <a:p>
            <a:r>
              <a:rPr lang="zh-CN" altLang="en-US" sz="600"/>
              <a:t>外呼维系客户</a:t>
            </a:r>
            <a:endParaRPr lang="zh-CN" altLang="en-US" sz="600"/>
          </a:p>
        </p:txBody>
      </p:sp>
      <p:pic>
        <p:nvPicPr>
          <p:cNvPr id="73" name="图片 12"/>
          <p:cNvPicPr>
            <a:picLocks noChangeAspect="1" noChangeArrowheads="1"/>
          </p:cNvPicPr>
          <p:nvPr/>
        </p:nvPicPr>
        <p:blipFill>
          <a:blip r:embed="rId20" cstate="print">
            <a:extLst>
              <a:ext uri="{28A0092B-C50C-407E-A947-70E740481C1C}">
                <a14:useLocalDpi xmlns:a14="http://schemas.microsoft.com/office/drawing/2010/main" val="0"/>
              </a:ext>
            </a:extLst>
          </a:blip>
          <a:srcRect t="5337" b="28791"/>
          <a:stretch>
            <a:fillRect/>
          </a:stretch>
        </p:blipFill>
        <p:spPr>
          <a:xfrm>
            <a:off x="9813290" y="3505200"/>
            <a:ext cx="1075690" cy="281940"/>
          </a:xfrm>
          <a:prstGeom prst="rect">
            <a:avLst/>
          </a:prstGeom>
          <a:noFill/>
          <a:ln>
            <a:noFill/>
          </a:ln>
        </p:spPr>
      </p:pic>
      <p:sp>
        <p:nvSpPr>
          <p:cNvPr id="74" name="文本框 73"/>
          <p:cNvSpPr txBox="1"/>
          <p:nvPr/>
        </p:nvSpPr>
        <p:spPr>
          <a:xfrm>
            <a:off x="9926955" y="3786505"/>
            <a:ext cx="949325" cy="183515"/>
          </a:xfrm>
          <a:prstGeom prst="rect">
            <a:avLst/>
          </a:prstGeom>
          <a:noFill/>
        </p:spPr>
        <p:txBody>
          <a:bodyPr wrap="square" rtlCol="0">
            <a:spAutoFit/>
          </a:bodyPr>
          <a:lstStyle/>
          <a:p>
            <a:r>
              <a:rPr lang="zh-CN" altLang="en-US" sz="600"/>
              <a:t>维系结果反馈</a:t>
            </a:r>
            <a:endParaRPr lang="zh-CN" altLang="en-US" sz="600"/>
          </a:p>
        </p:txBody>
      </p:sp>
      <p:sp>
        <p:nvSpPr>
          <p:cNvPr id="7" name="矩形 6"/>
          <p:cNvSpPr/>
          <p:nvPr/>
        </p:nvSpPr>
        <p:spPr>
          <a:xfrm>
            <a:off x="5574030" y="4043045"/>
            <a:ext cx="5459095" cy="55054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8" name="矩形 7"/>
          <p:cNvSpPr/>
          <p:nvPr/>
        </p:nvSpPr>
        <p:spPr>
          <a:xfrm>
            <a:off x="6445250" y="3966845"/>
            <a:ext cx="3368040" cy="15621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sym typeface="+mn-ea"/>
              </a:rPr>
              <a:t>在线平台</a:t>
            </a:r>
            <a:endParaRPr lang="zh-CN" altLang="en-US" sz="1200" b="1">
              <a:sym typeface="+mn-ea"/>
            </a:endParaRPr>
          </a:p>
        </p:txBody>
      </p:sp>
      <p:sp>
        <p:nvSpPr>
          <p:cNvPr id="39" name="椭圆 38"/>
          <p:cNvSpPr/>
          <p:nvPr/>
        </p:nvSpPr>
        <p:spPr>
          <a:xfrm>
            <a:off x="5480685" y="3218815"/>
            <a:ext cx="438785" cy="2609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i="1">
                <a:solidFill>
                  <a:srgbClr val="FF0000"/>
                </a:solidFill>
              </a:rPr>
              <a:t>1</a:t>
            </a:r>
            <a:endParaRPr lang="en-US" altLang="zh-CN" b="1" i="1">
              <a:solidFill>
                <a:srgbClr val="FF0000"/>
              </a:solidFill>
            </a:endParaRPr>
          </a:p>
        </p:txBody>
      </p:sp>
      <p:sp>
        <p:nvSpPr>
          <p:cNvPr id="40" name="椭圆 39"/>
          <p:cNvSpPr/>
          <p:nvPr/>
        </p:nvSpPr>
        <p:spPr>
          <a:xfrm>
            <a:off x="5480685" y="3917315"/>
            <a:ext cx="438785" cy="2609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i="1">
                <a:solidFill>
                  <a:srgbClr val="FF0000"/>
                </a:solidFill>
              </a:rPr>
              <a:t>2</a:t>
            </a:r>
            <a:endParaRPr lang="en-US" altLang="zh-CN" b="1" i="1">
              <a:solidFill>
                <a:srgbClr val="FF0000"/>
              </a:solidFill>
            </a:endParaRPr>
          </a:p>
        </p:txBody>
      </p:sp>
      <p:sp>
        <p:nvSpPr>
          <p:cNvPr id="41" name="矩形 40"/>
          <p:cNvSpPr/>
          <p:nvPr/>
        </p:nvSpPr>
        <p:spPr>
          <a:xfrm>
            <a:off x="5574030" y="4620895"/>
            <a:ext cx="2439670" cy="15621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sym typeface="+mn-ea"/>
              </a:rPr>
              <a:t>在线平台</a:t>
            </a:r>
            <a:endParaRPr lang="zh-CN" altLang="en-US" sz="1200" b="1">
              <a:sym typeface="+mn-ea"/>
            </a:endParaRPr>
          </a:p>
        </p:txBody>
      </p:sp>
      <p:grpSp>
        <p:nvGrpSpPr>
          <p:cNvPr id="42" name="组合 41"/>
          <p:cNvGrpSpPr/>
          <p:nvPr/>
        </p:nvGrpSpPr>
        <p:grpSpPr>
          <a:xfrm rot="5400000">
            <a:off x="10160635" y="4137660"/>
            <a:ext cx="1913890" cy="200025"/>
            <a:chOff x="1549061" y="2688799"/>
            <a:chExt cx="6181358" cy="404747"/>
          </a:xfrm>
          <a:solidFill>
            <a:schemeClr val="accent1">
              <a:lumMod val="20000"/>
              <a:lumOff val="80000"/>
            </a:schemeClr>
          </a:solidFill>
        </p:grpSpPr>
        <p:sp>
          <p:nvSpPr>
            <p:cNvPr id="43" name="箭头: 下 17"/>
            <p:cNvSpPr/>
            <p:nvPr/>
          </p:nvSpPr>
          <p:spPr>
            <a:xfrm flipV="1">
              <a:off x="1549061" y="2688799"/>
              <a:ext cx="6181358" cy="404747"/>
            </a:xfrm>
            <a:prstGeom prst="downArrow">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4" name="MH_Text_1"/>
            <p:cNvSpPr txBox="1"/>
            <p:nvPr>
              <p:custDataLst>
                <p:tags r:id="rId21"/>
              </p:custDataLst>
            </p:nvPr>
          </p:nvSpPr>
          <p:spPr>
            <a:xfrm>
              <a:off x="3669571" y="2758253"/>
              <a:ext cx="1837764" cy="272334"/>
            </a:xfrm>
            <a:prstGeom prst="rect">
              <a:avLst/>
            </a:prstGeom>
            <a:grpFill/>
            <a:ln w="9525">
              <a:noFill/>
              <a:prstDash val="sysDot"/>
              <a:miter lim="800000"/>
            </a:ln>
          </p:spPr>
          <p:txBody>
            <a:bodyPr wrap="square" anchor="ctr">
              <a:noAutofit/>
            </a:bodyPr>
            <a:lstStyle>
              <a:defPPr>
                <a:defRPr lang="zh-CN"/>
              </a:defPPr>
              <a:lvl1pPr eaLnBrk="1" hangingPunct="1">
                <a:lnSpc>
                  <a:spcPct val="150000"/>
                </a:lnSpc>
                <a:defRPr sz="1100">
                  <a:solidFill>
                    <a:schemeClr val="bg1"/>
                  </a:solidFill>
                  <a:latin typeface="微软雅黑" panose="020B0503020204020204" charset="-122"/>
                  <a:ea typeface="微软雅黑" panose="020B0503020204020204" charset="-122"/>
                </a:defRPr>
              </a:lvl1pPr>
              <a:lvl2pPr marL="742950" indent="-285750"/>
              <a:lvl3pPr marL="1143000" indent="-228600"/>
              <a:lvl4pPr marL="1600200" indent="-228600"/>
              <a:lvl5pPr marL="2057400" indent="-228600"/>
              <a:lvl6pPr marL="2514600" indent="-228600" defTabSz="685800" eaLnBrk="0" fontAlgn="base" hangingPunct="0">
                <a:spcBef>
                  <a:spcPct val="0"/>
                </a:spcBef>
                <a:spcAft>
                  <a:spcPct val="0"/>
                </a:spcAft>
                <a:buFont typeface="Arial" panose="020B0604020202020204" pitchFamily="34" charset="0"/>
              </a:lvl6pPr>
              <a:lvl7pPr marL="2971800" indent="-228600" defTabSz="685800" eaLnBrk="0" fontAlgn="base" hangingPunct="0">
                <a:spcBef>
                  <a:spcPct val="0"/>
                </a:spcBef>
                <a:spcAft>
                  <a:spcPct val="0"/>
                </a:spcAft>
                <a:buFont typeface="Arial" panose="020B0604020202020204" pitchFamily="34" charset="0"/>
              </a:lvl7pPr>
              <a:lvl8pPr marL="3429000" indent="-228600" defTabSz="685800" eaLnBrk="0" fontAlgn="base" hangingPunct="0">
                <a:spcBef>
                  <a:spcPct val="0"/>
                </a:spcBef>
                <a:spcAft>
                  <a:spcPct val="0"/>
                </a:spcAft>
                <a:buFont typeface="Arial" panose="020B0604020202020204" pitchFamily="34" charset="0"/>
              </a:lvl8pPr>
              <a:lvl9pPr marL="3886200" indent="-228600" defTabSz="685800" eaLnBrk="0" fontAlgn="base" hangingPunct="0">
                <a:spcBef>
                  <a:spcPct val="0"/>
                </a:spcBef>
                <a:spcAft>
                  <a:spcPct val="0"/>
                </a:spcAft>
                <a:buFont typeface="Arial" panose="020B0604020202020204" pitchFamily="34" charset="0"/>
              </a:lvl9pPr>
            </a:lstStyle>
            <a:p>
              <a:pPr marL="0" marR="0" lvl="0" indent="0" algn="ctr" defTabSz="914400" rtl="0" eaLnBrk="1" fontAlgn="base" latinLnBrk="0" hangingPunct="1">
                <a:lnSpc>
                  <a:spcPct val="110000"/>
                </a:lnSpc>
                <a:spcBef>
                  <a:spcPts val="300"/>
                </a:spcBef>
                <a:spcAft>
                  <a:spcPct val="0"/>
                </a:spcAft>
                <a:buClrTx/>
                <a:buSzTx/>
                <a:buFontTx/>
                <a:buNone/>
                <a:defRPr/>
              </a:pPr>
              <a:endParaRPr kumimoji="0" lang="zh-CN" altLang="en-US" sz="1600" b="1" i="0" u="none" strike="noStrike" kern="1200" cap="none" spc="0" normalizeH="0" baseline="0" noProof="0" dirty="0">
                <a:ln>
                  <a:noFill/>
                </a:ln>
                <a:effectLst/>
                <a:uLnTx/>
                <a:uFillTx/>
                <a:latin typeface="Arial" panose="020B0604020202020204"/>
                <a:ea typeface="微软雅黑" panose="020B0503020204020204" charset="-122"/>
                <a:cs typeface="+mn-cs"/>
              </a:endParaRPr>
            </a:p>
          </p:txBody>
        </p:sp>
      </p:grpSp>
      <p:sp>
        <p:nvSpPr>
          <p:cNvPr id="45" name="文本框 44"/>
          <p:cNvSpPr txBox="1"/>
          <p:nvPr>
            <p:custDataLst>
              <p:tags r:id="rId22"/>
            </p:custDataLst>
          </p:nvPr>
        </p:nvSpPr>
        <p:spPr>
          <a:xfrm>
            <a:off x="11217910" y="3740785"/>
            <a:ext cx="721360" cy="40068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营销效果评估</a:t>
            </a:r>
            <a:endParaRPr lang="zh-CN" altLang="en-US" sz="1000" dirty="0">
              <a:solidFill>
                <a:schemeClr val="bg1"/>
              </a:solidFill>
            </a:endParaRPr>
          </a:p>
        </p:txBody>
      </p:sp>
      <p:sp>
        <p:nvSpPr>
          <p:cNvPr id="46" name="文本框 45"/>
          <p:cNvSpPr txBox="1"/>
          <p:nvPr/>
        </p:nvSpPr>
        <p:spPr>
          <a:xfrm>
            <a:off x="11087735" y="4197985"/>
            <a:ext cx="999490"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执行、质态和效益评估</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34" name="文本框 33"/>
          <p:cNvSpPr txBox="1"/>
          <p:nvPr>
            <p:custDataLst>
              <p:tags r:id="rId23"/>
            </p:custDataLst>
          </p:nvPr>
        </p:nvSpPr>
        <p:spPr>
          <a:xfrm>
            <a:off x="5574030" y="4812665"/>
            <a:ext cx="417195"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700" dirty="0">
                <a:solidFill>
                  <a:schemeClr val="bg1"/>
                </a:solidFill>
              </a:rPr>
              <a:t>营销任务接受</a:t>
            </a:r>
            <a:endParaRPr lang="zh-CN" altLang="en-US" sz="700" dirty="0">
              <a:solidFill>
                <a:schemeClr val="bg1"/>
              </a:solidFill>
            </a:endParaRPr>
          </a:p>
        </p:txBody>
      </p:sp>
      <p:sp>
        <p:nvSpPr>
          <p:cNvPr id="47" name="文本框 46"/>
          <p:cNvSpPr txBox="1"/>
          <p:nvPr>
            <p:custDataLst>
              <p:tags r:id="rId24"/>
            </p:custDataLst>
          </p:nvPr>
        </p:nvSpPr>
        <p:spPr>
          <a:xfrm>
            <a:off x="6094730" y="4812665"/>
            <a:ext cx="35560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700" dirty="0">
                <a:solidFill>
                  <a:schemeClr val="bg1"/>
                </a:solidFill>
              </a:rPr>
              <a:t>工单分派</a:t>
            </a:r>
            <a:endParaRPr lang="zh-CN" altLang="en-US" sz="700" dirty="0">
              <a:solidFill>
                <a:schemeClr val="bg1"/>
              </a:solidFill>
            </a:endParaRPr>
          </a:p>
        </p:txBody>
      </p:sp>
      <p:sp>
        <p:nvSpPr>
          <p:cNvPr id="48" name="文本框 47"/>
          <p:cNvSpPr txBox="1"/>
          <p:nvPr>
            <p:custDataLst>
              <p:tags r:id="rId25"/>
            </p:custDataLst>
          </p:nvPr>
        </p:nvSpPr>
        <p:spPr>
          <a:xfrm>
            <a:off x="6554470" y="4812665"/>
            <a:ext cx="35560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700" dirty="0">
                <a:solidFill>
                  <a:schemeClr val="bg1"/>
                </a:solidFill>
              </a:rPr>
              <a:t>外呼维系</a:t>
            </a:r>
            <a:endParaRPr lang="zh-CN" altLang="en-US" sz="700" dirty="0">
              <a:solidFill>
                <a:schemeClr val="bg1"/>
              </a:solidFill>
            </a:endParaRPr>
          </a:p>
        </p:txBody>
      </p:sp>
      <p:sp>
        <p:nvSpPr>
          <p:cNvPr id="110" name="文本框 109"/>
          <p:cNvSpPr txBox="1"/>
          <p:nvPr>
            <p:custDataLst>
              <p:tags r:id="rId26"/>
            </p:custDataLst>
          </p:nvPr>
        </p:nvSpPr>
        <p:spPr>
          <a:xfrm>
            <a:off x="7013575" y="4812665"/>
            <a:ext cx="35560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700" dirty="0">
                <a:solidFill>
                  <a:schemeClr val="bg1"/>
                </a:solidFill>
              </a:rPr>
              <a:t>结果反馈</a:t>
            </a:r>
            <a:endParaRPr lang="zh-CN" altLang="en-US" sz="700" dirty="0">
              <a:solidFill>
                <a:schemeClr val="bg1"/>
              </a:solidFill>
            </a:endParaRPr>
          </a:p>
        </p:txBody>
      </p:sp>
      <p:sp>
        <p:nvSpPr>
          <p:cNvPr id="113" name="右箭头 25"/>
          <p:cNvSpPr/>
          <p:nvPr/>
        </p:nvSpPr>
        <p:spPr>
          <a:xfrm>
            <a:off x="7369810" y="4898390"/>
            <a:ext cx="12128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p>
        </p:txBody>
      </p:sp>
      <p:sp>
        <p:nvSpPr>
          <p:cNvPr id="118" name="右箭头 25"/>
          <p:cNvSpPr/>
          <p:nvPr/>
        </p:nvSpPr>
        <p:spPr>
          <a:xfrm>
            <a:off x="5991225" y="4898390"/>
            <a:ext cx="10350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p>
        </p:txBody>
      </p:sp>
      <p:sp>
        <p:nvSpPr>
          <p:cNvPr id="119" name="右箭头 25"/>
          <p:cNvSpPr/>
          <p:nvPr/>
        </p:nvSpPr>
        <p:spPr>
          <a:xfrm>
            <a:off x="6450330" y="4898390"/>
            <a:ext cx="10350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p>
        </p:txBody>
      </p:sp>
      <p:sp>
        <p:nvSpPr>
          <p:cNvPr id="120" name="右箭头 25"/>
          <p:cNvSpPr/>
          <p:nvPr/>
        </p:nvSpPr>
        <p:spPr>
          <a:xfrm>
            <a:off x="6910070" y="4898390"/>
            <a:ext cx="10350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p>
        </p:txBody>
      </p:sp>
      <p:sp>
        <p:nvSpPr>
          <p:cNvPr id="122" name="文本框 121"/>
          <p:cNvSpPr txBox="1"/>
          <p:nvPr>
            <p:custDataLst>
              <p:tags r:id="rId27"/>
            </p:custDataLst>
          </p:nvPr>
        </p:nvSpPr>
        <p:spPr>
          <a:xfrm>
            <a:off x="7491095" y="4812665"/>
            <a:ext cx="76200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700" dirty="0">
                <a:solidFill>
                  <a:schemeClr val="bg1"/>
                </a:solidFill>
              </a:rPr>
              <a:t>失败及未接通转派网格执行</a:t>
            </a:r>
            <a:endParaRPr lang="zh-CN" altLang="en-US" sz="700" dirty="0">
              <a:solidFill>
                <a:schemeClr val="bg1"/>
              </a:solidFill>
            </a:endParaRPr>
          </a:p>
        </p:txBody>
      </p:sp>
      <p:sp>
        <p:nvSpPr>
          <p:cNvPr id="123" name="文本框 122"/>
          <p:cNvSpPr txBox="1"/>
          <p:nvPr>
            <p:custDataLst>
              <p:tags r:id="rId28"/>
            </p:custDataLst>
          </p:nvPr>
        </p:nvSpPr>
        <p:spPr>
          <a:xfrm>
            <a:off x="5886450" y="4221480"/>
            <a:ext cx="64135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800" dirty="0">
                <a:solidFill>
                  <a:schemeClr val="bg1"/>
                </a:solidFill>
              </a:rPr>
              <a:t>营销任务接受</a:t>
            </a:r>
            <a:endParaRPr lang="zh-CN" altLang="en-US" sz="800" dirty="0">
              <a:solidFill>
                <a:schemeClr val="bg1"/>
              </a:solidFill>
            </a:endParaRPr>
          </a:p>
        </p:txBody>
      </p:sp>
      <p:sp>
        <p:nvSpPr>
          <p:cNvPr id="124" name="文本框 123"/>
          <p:cNvSpPr txBox="1"/>
          <p:nvPr>
            <p:custDataLst>
              <p:tags r:id="rId29"/>
            </p:custDataLst>
          </p:nvPr>
        </p:nvSpPr>
        <p:spPr>
          <a:xfrm>
            <a:off x="7323455" y="4221480"/>
            <a:ext cx="66421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800" dirty="0">
                <a:solidFill>
                  <a:schemeClr val="bg1"/>
                </a:solidFill>
              </a:rPr>
              <a:t>工单分派</a:t>
            </a:r>
            <a:endParaRPr lang="zh-CN" altLang="en-US" sz="800" dirty="0">
              <a:solidFill>
                <a:schemeClr val="bg1"/>
              </a:solidFill>
            </a:endParaRPr>
          </a:p>
        </p:txBody>
      </p:sp>
      <p:sp>
        <p:nvSpPr>
          <p:cNvPr id="125" name="文本框 124"/>
          <p:cNvSpPr txBox="1"/>
          <p:nvPr>
            <p:custDataLst>
              <p:tags r:id="rId30"/>
            </p:custDataLst>
          </p:nvPr>
        </p:nvSpPr>
        <p:spPr>
          <a:xfrm>
            <a:off x="8773795" y="4221480"/>
            <a:ext cx="66421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800" dirty="0">
                <a:solidFill>
                  <a:schemeClr val="bg1"/>
                </a:solidFill>
              </a:rPr>
              <a:t>外呼维系</a:t>
            </a:r>
            <a:endParaRPr lang="zh-CN" altLang="en-US" sz="800" dirty="0">
              <a:solidFill>
                <a:schemeClr val="bg1"/>
              </a:solidFill>
            </a:endParaRPr>
          </a:p>
        </p:txBody>
      </p:sp>
      <p:sp>
        <p:nvSpPr>
          <p:cNvPr id="126" name="文本框 125"/>
          <p:cNvSpPr txBox="1"/>
          <p:nvPr>
            <p:custDataLst>
              <p:tags r:id="rId31"/>
            </p:custDataLst>
          </p:nvPr>
        </p:nvSpPr>
        <p:spPr>
          <a:xfrm>
            <a:off x="10224135" y="4222750"/>
            <a:ext cx="664210" cy="28321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800" dirty="0">
                <a:solidFill>
                  <a:schemeClr val="bg1"/>
                </a:solidFill>
              </a:rPr>
              <a:t>结果反馈</a:t>
            </a:r>
            <a:endParaRPr lang="zh-CN" altLang="en-US" sz="800" dirty="0">
              <a:solidFill>
                <a:schemeClr val="bg1"/>
              </a:solidFill>
            </a:endParaRPr>
          </a:p>
        </p:txBody>
      </p:sp>
      <p:sp>
        <p:nvSpPr>
          <p:cNvPr id="130" name="右箭头 25"/>
          <p:cNvSpPr/>
          <p:nvPr/>
        </p:nvSpPr>
        <p:spPr>
          <a:xfrm>
            <a:off x="6744970" y="4301490"/>
            <a:ext cx="25717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1" name="右箭头 25"/>
          <p:cNvSpPr/>
          <p:nvPr/>
        </p:nvSpPr>
        <p:spPr>
          <a:xfrm>
            <a:off x="8252460" y="4301490"/>
            <a:ext cx="25717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2" name="右箭头 25"/>
          <p:cNvSpPr/>
          <p:nvPr/>
        </p:nvSpPr>
        <p:spPr>
          <a:xfrm>
            <a:off x="9692640" y="4301490"/>
            <a:ext cx="257175" cy="11239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41" name="组合 140"/>
          <p:cNvGrpSpPr/>
          <p:nvPr/>
        </p:nvGrpSpPr>
        <p:grpSpPr>
          <a:xfrm rot="0">
            <a:off x="8404225" y="4772660"/>
            <a:ext cx="2505710" cy="524510"/>
            <a:chOff x="8847" y="6649"/>
            <a:chExt cx="8316" cy="1622"/>
          </a:xfrm>
        </p:grpSpPr>
        <p:sp>
          <p:nvSpPr>
            <p:cNvPr id="133" name="文本框 132"/>
            <p:cNvSpPr txBox="1"/>
            <p:nvPr/>
          </p:nvSpPr>
          <p:spPr>
            <a:xfrm>
              <a:off x="8920" y="7349"/>
              <a:ext cx="1957" cy="853"/>
            </a:xfrm>
            <a:prstGeom prst="rect">
              <a:avLst/>
            </a:prstGeom>
            <a:noFill/>
          </p:spPr>
          <p:txBody>
            <a:bodyPr wrap="square" rtlCol="0">
              <a:spAutoFit/>
            </a:bodyPr>
            <a:lstStyle/>
            <a:p>
              <a:r>
                <a:rPr lang="zh-CN" altLang="en-US" sz="600"/>
                <a:t>网格收到预警信息</a:t>
              </a:r>
              <a:endParaRPr lang="zh-CN" altLang="en-US" sz="600"/>
            </a:p>
          </p:txBody>
        </p:sp>
        <p:pic>
          <p:nvPicPr>
            <p:cNvPr id="134" name="图片 10"/>
            <p:cNvPicPr>
              <a:picLocks noChangeAspect="1" noChangeArrowheads="1"/>
            </p:cNvPicPr>
            <p:nvPr/>
          </p:nvPicPr>
          <p:blipFill>
            <a:blip r:embed="rId32" cstate="print">
              <a:extLst>
                <a:ext uri="{28A0092B-C50C-407E-A947-70E740481C1C}">
                  <a14:useLocalDpi xmlns:a14="http://schemas.microsoft.com/office/drawing/2010/main" val="0"/>
                </a:ext>
              </a:extLst>
            </a:blip>
            <a:srcRect b="55784"/>
            <a:stretch>
              <a:fillRect/>
            </a:stretch>
          </p:blipFill>
          <p:spPr>
            <a:xfrm>
              <a:off x="8847" y="6662"/>
              <a:ext cx="2041" cy="702"/>
            </a:xfrm>
            <a:prstGeom prst="rect">
              <a:avLst/>
            </a:prstGeom>
            <a:noFill/>
            <a:ln>
              <a:noFill/>
            </a:ln>
          </p:spPr>
        </p:pic>
        <p:pic>
          <p:nvPicPr>
            <p:cNvPr id="135" name="图片 11"/>
            <p:cNvPicPr>
              <a:picLocks noChangeAspect="1" noChangeArrowheads="1"/>
            </p:cNvPicPr>
            <p:nvPr/>
          </p:nvPicPr>
          <p:blipFill>
            <a:blip r:embed="rId33" cstate="print">
              <a:extLst>
                <a:ext uri="{28A0092B-C50C-407E-A947-70E740481C1C}">
                  <a14:useLocalDpi xmlns:a14="http://schemas.microsoft.com/office/drawing/2010/main" val="0"/>
                </a:ext>
              </a:extLst>
            </a:blip>
            <a:srcRect b="58992"/>
            <a:stretch>
              <a:fillRect/>
            </a:stretch>
          </p:blipFill>
          <p:spPr>
            <a:xfrm>
              <a:off x="11050" y="6675"/>
              <a:ext cx="2162" cy="689"/>
            </a:xfrm>
            <a:prstGeom prst="rect">
              <a:avLst/>
            </a:prstGeom>
            <a:noFill/>
            <a:ln>
              <a:noFill/>
            </a:ln>
          </p:spPr>
        </p:pic>
        <p:sp>
          <p:nvSpPr>
            <p:cNvPr id="136" name="文本框 135"/>
            <p:cNvSpPr txBox="1"/>
            <p:nvPr/>
          </p:nvSpPr>
          <p:spPr>
            <a:xfrm>
              <a:off x="11426" y="7418"/>
              <a:ext cx="1510" cy="853"/>
            </a:xfrm>
            <a:prstGeom prst="rect">
              <a:avLst/>
            </a:prstGeom>
            <a:noFill/>
          </p:spPr>
          <p:txBody>
            <a:bodyPr wrap="square" rtlCol="0">
              <a:spAutoFit/>
            </a:bodyPr>
            <a:lstStyle/>
            <a:p>
              <a:r>
                <a:rPr lang="zh-CN" altLang="en-US" sz="600"/>
                <a:t>携转信息查看</a:t>
              </a:r>
              <a:endParaRPr lang="zh-CN" altLang="en-US" sz="600"/>
            </a:p>
          </p:txBody>
        </p:sp>
        <p:pic>
          <p:nvPicPr>
            <p:cNvPr id="137" name="图片 1"/>
            <p:cNvPicPr>
              <a:picLocks noChangeAspect="1"/>
            </p:cNvPicPr>
            <p:nvPr/>
          </p:nvPicPr>
          <p:blipFill>
            <a:blip r:embed="rId19"/>
            <a:srcRect t="5795" b="30398"/>
            <a:stretch>
              <a:fillRect/>
            </a:stretch>
          </p:blipFill>
          <p:spPr>
            <a:xfrm>
              <a:off x="13377" y="6649"/>
              <a:ext cx="1910" cy="701"/>
            </a:xfrm>
            <a:prstGeom prst="rect">
              <a:avLst/>
            </a:prstGeom>
          </p:spPr>
        </p:pic>
        <p:sp>
          <p:nvSpPr>
            <p:cNvPr id="138" name="文本框 137"/>
            <p:cNvSpPr txBox="1"/>
            <p:nvPr/>
          </p:nvSpPr>
          <p:spPr>
            <a:xfrm>
              <a:off x="13575" y="7361"/>
              <a:ext cx="1510" cy="853"/>
            </a:xfrm>
            <a:prstGeom prst="rect">
              <a:avLst/>
            </a:prstGeom>
            <a:noFill/>
          </p:spPr>
          <p:txBody>
            <a:bodyPr wrap="square" rtlCol="0">
              <a:spAutoFit/>
            </a:bodyPr>
            <a:lstStyle/>
            <a:p>
              <a:r>
                <a:rPr lang="zh-CN" altLang="en-US" sz="600"/>
                <a:t>外呼维系客户</a:t>
              </a:r>
              <a:endParaRPr lang="zh-CN" altLang="en-US" sz="600"/>
            </a:p>
          </p:txBody>
        </p:sp>
        <p:pic>
          <p:nvPicPr>
            <p:cNvPr id="139" name="图片 12"/>
            <p:cNvPicPr>
              <a:picLocks noChangeAspect="1" noChangeArrowheads="1"/>
            </p:cNvPicPr>
            <p:nvPr/>
          </p:nvPicPr>
          <p:blipFill>
            <a:blip r:embed="rId34" cstate="print">
              <a:extLst>
                <a:ext uri="{28A0092B-C50C-407E-A947-70E740481C1C}">
                  <a14:useLocalDpi xmlns:a14="http://schemas.microsoft.com/office/drawing/2010/main" val="0"/>
                </a:ext>
              </a:extLst>
            </a:blip>
            <a:srcRect t="5337" b="28791"/>
            <a:stretch>
              <a:fillRect/>
            </a:stretch>
          </p:blipFill>
          <p:spPr>
            <a:xfrm>
              <a:off x="15452" y="6662"/>
              <a:ext cx="1711" cy="688"/>
            </a:xfrm>
            <a:prstGeom prst="rect">
              <a:avLst/>
            </a:prstGeom>
            <a:noFill/>
            <a:ln>
              <a:noFill/>
            </a:ln>
          </p:spPr>
        </p:pic>
        <p:sp>
          <p:nvSpPr>
            <p:cNvPr id="140" name="文本框 139"/>
            <p:cNvSpPr txBox="1"/>
            <p:nvPr/>
          </p:nvSpPr>
          <p:spPr>
            <a:xfrm>
              <a:off x="15633" y="7349"/>
              <a:ext cx="1510" cy="853"/>
            </a:xfrm>
            <a:prstGeom prst="rect">
              <a:avLst/>
            </a:prstGeom>
            <a:noFill/>
          </p:spPr>
          <p:txBody>
            <a:bodyPr wrap="square" rtlCol="0">
              <a:spAutoFit/>
            </a:bodyPr>
            <a:lstStyle/>
            <a:p>
              <a:r>
                <a:rPr lang="zh-CN" altLang="en-US" sz="600"/>
                <a:t>维系结果反馈</a:t>
              </a:r>
              <a:endParaRPr lang="zh-CN" altLang="en-US" sz="600"/>
            </a:p>
          </p:txBody>
        </p:sp>
      </p:grpSp>
      <p:sp>
        <p:nvSpPr>
          <p:cNvPr id="143" name="椭圆 142"/>
          <p:cNvSpPr/>
          <p:nvPr/>
        </p:nvSpPr>
        <p:spPr>
          <a:xfrm>
            <a:off x="5480685" y="4537710"/>
            <a:ext cx="438785" cy="2609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i="1">
                <a:solidFill>
                  <a:srgbClr val="FF0000"/>
                </a:solidFill>
              </a:rPr>
              <a:t>3</a:t>
            </a:r>
            <a:endParaRPr lang="en-US" altLang="zh-CN" b="1" i="1">
              <a:solidFill>
                <a:srgbClr val="FF0000"/>
              </a:solidFill>
            </a:endParaRPr>
          </a:p>
        </p:txBody>
      </p:sp>
      <p:sp>
        <p:nvSpPr>
          <p:cNvPr id="150" name="文本框 149"/>
          <p:cNvSpPr txBox="1"/>
          <p:nvPr/>
        </p:nvSpPr>
        <p:spPr>
          <a:xfrm>
            <a:off x="127000" y="2493645"/>
            <a:ext cx="317500" cy="398780"/>
          </a:xfrm>
          <a:prstGeom prst="rect">
            <a:avLst/>
          </a:prstGeom>
          <a:noFill/>
        </p:spPr>
        <p:txBody>
          <a:bodyPr wrap="square" rtlCol="0">
            <a:spAutoFit/>
          </a:bodyPr>
          <a:p>
            <a:r>
              <a:rPr lang="en-US" altLang="zh-CN" sz="2000" b="1" i="1" dirty="0">
                <a:solidFill>
                  <a:srgbClr val="4874CB"/>
                </a:solidFill>
              </a:rPr>
              <a:t>1</a:t>
            </a:r>
            <a:endParaRPr lang="en-US" altLang="zh-CN" sz="2000" b="1" i="1" dirty="0">
              <a:solidFill>
                <a:srgbClr val="4874CB"/>
              </a:solidFill>
            </a:endParaRPr>
          </a:p>
        </p:txBody>
      </p:sp>
      <p:sp>
        <p:nvSpPr>
          <p:cNvPr id="154" name="下箭头 153"/>
          <p:cNvSpPr/>
          <p:nvPr/>
        </p:nvSpPr>
        <p:spPr>
          <a:xfrm>
            <a:off x="1760855" y="2634615"/>
            <a:ext cx="441325" cy="217805"/>
          </a:xfrm>
          <a:prstGeom prst="down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5" name="文本框 154"/>
          <p:cNvSpPr txBox="1"/>
          <p:nvPr>
            <p:custDataLst>
              <p:tags r:id="rId35"/>
            </p:custDataLst>
          </p:nvPr>
        </p:nvSpPr>
        <p:spPr>
          <a:xfrm>
            <a:off x="1593850" y="2852420"/>
            <a:ext cx="847090" cy="42799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全球通客户看管关系归格</a:t>
            </a:r>
            <a:endParaRPr lang="zh-CN" altLang="en-US" sz="1000" dirty="0">
              <a:solidFill>
                <a:schemeClr val="bg1"/>
              </a:solidFill>
            </a:endParaRPr>
          </a:p>
        </p:txBody>
      </p:sp>
      <p:sp>
        <p:nvSpPr>
          <p:cNvPr id="156" name="燕尾形 155"/>
          <p:cNvSpPr/>
          <p:nvPr/>
        </p:nvSpPr>
        <p:spPr>
          <a:xfrm>
            <a:off x="2481580" y="2405380"/>
            <a:ext cx="117475" cy="779780"/>
          </a:xfrm>
          <a:prstGeom prst="chevron">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文本框 89"/>
          <p:cNvSpPr txBox="1"/>
          <p:nvPr>
            <p:custDataLst>
              <p:tags r:id="rId36"/>
            </p:custDataLst>
          </p:nvPr>
        </p:nvSpPr>
        <p:spPr>
          <a:xfrm>
            <a:off x="5381625" y="2274570"/>
            <a:ext cx="613410" cy="50736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营销任务接受</a:t>
            </a:r>
            <a:endParaRPr lang="en-US" altLang="zh-CN" sz="1000" dirty="0">
              <a:solidFill>
                <a:schemeClr val="bg1"/>
              </a:solidFill>
            </a:endParaRPr>
          </a:p>
        </p:txBody>
      </p:sp>
      <p:sp>
        <p:nvSpPr>
          <p:cNvPr id="19" name="文本框 18"/>
          <p:cNvSpPr txBox="1"/>
          <p:nvPr>
            <p:custDataLst>
              <p:tags r:id="rId37"/>
            </p:custDataLst>
          </p:nvPr>
        </p:nvSpPr>
        <p:spPr>
          <a:xfrm>
            <a:off x="1664970" y="5746750"/>
            <a:ext cx="713740" cy="35496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手工创建营销工单</a:t>
            </a:r>
            <a:endParaRPr lang="zh-CN" altLang="en-US" sz="1000" dirty="0">
              <a:solidFill>
                <a:schemeClr val="bg1"/>
              </a:solidFill>
            </a:endParaRPr>
          </a:p>
        </p:txBody>
      </p:sp>
      <p:sp>
        <p:nvSpPr>
          <p:cNvPr id="20" name="文本框 19"/>
          <p:cNvSpPr txBox="1"/>
          <p:nvPr>
            <p:custDataLst>
              <p:tags r:id="rId38"/>
            </p:custDataLst>
          </p:nvPr>
        </p:nvSpPr>
        <p:spPr>
          <a:xfrm>
            <a:off x="2784475" y="5746750"/>
            <a:ext cx="713740" cy="35496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工单信息完善</a:t>
            </a:r>
            <a:endParaRPr lang="zh-CN" altLang="en-US" sz="1000" dirty="0">
              <a:solidFill>
                <a:schemeClr val="bg1"/>
              </a:solidFill>
            </a:endParaRPr>
          </a:p>
        </p:txBody>
      </p:sp>
      <p:sp>
        <p:nvSpPr>
          <p:cNvPr id="21" name="右箭头 25"/>
          <p:cNvSpPr/>
          <p:nvPr/>
        </p:nvSpPr>
        <p:spPr>
          <a:xfrm>
            <a:off x="2444115" y="5853430"/>
            <a:ext cx="25273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p:cNvSpPr txBox="1"/>
          <p:nvPr/>
        </p:nvSpPr>
        <p:spPr>
          <a:xfrm>
            <a:off x="1545590" y="6138545"/>
            <a:ext cx="833755"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选择业务场景</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3" name="文本框 22"/>
          <p:cNvSpPr txBox="1"/>
          <p:nvPr/>
        </p:nvSpPr>
        <p:spPr>
          <a:xfrm>
            <a:off x="2696210" y="6141720"/>
            <a:ext cx="966470"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完善信息、上传客群</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4" name="矩形 23"/>
          <p:cNvSpPr/>
          <p:nvPr/>
        </p:nvSpPr>
        <p:spPr>
          <a:xfrm>
            <a:off x="1545590" y="5507355"/>
            <a:ext cx="6299200" cy="1054735"/>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kumimoji="1" lang="zh-CN" altLang="en-US" sz="16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algn="ctr" eaLnBrk="1" hangingPunct="1"/>
            <a:endParaRPr kumimoji="1" lang="zh-CN" altLang="en-US" sz="1600" b="1"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5" name="矩形 24"/>
          <p:cNvSpPr/>
          <p:nvPr/>
        </p:nvSpPr>
        <p:spPr>
          <a:xfrm>
            <a:off x="2854325" y="5455285"/>
            <a:ext cx="3366770" cy="1524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精益平台</a:t>
            </a:r>
            <a:endParaRPr lang="zh-CN" altLang="en-US" sz="1200" b="1"/>
          </a:p>
        </p:txBody>
      </p:sp>
      <p:sp>
        <p:nvSpPr>
          <p:cNvPr id="26" name="右箭头 25"/>
          <p:cNvSpPr/>
          <p:nvPr/>
        </p:nvSpPr>
        <p:spPr>
          <a:xfrm>
            <a:off x="3535680" y="5849620"/>
            <a:ext cx="25273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p:cNvSpPr txBox="1"/>
          <p:nvPr>
            <p:custDataLst>
              <p:tags r:id="rId39"/>
            </p:custDataLst>
          </p:nvPr>
        </p:nvSpPr>
        <p:spPr>
          <a:xfrm>
            <a:off x="3874135" y="5743575"/>
            <a:ext cx="705485" cy="36004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营销预警工单派发</a:t>
            </a:r>
            <a:endParaRPr lang="zh-CN" altLang="en-US" sz="1000" dirty="0">
              <a:solidFill>
                <a:schemeClr val="bg1"/>
              </a:solidFill>
            </a:endParaRPr>
          </a:p>
        </p:txBody>
      </p:sp>
      <p:sp>
        <p:nvSpPr>
          <p:cNvPr id="28" name="文本框 27"/>
          <p:cNvSpPr txBox="1"/>
          <p:nvPr/>
        </p:nvSpPr>
        <p:spPr>
          <a:xfrm>
            <a:off x="3787775" y="6138545"/>
            <a:ext cx="840105"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营销工单派发</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9" name="右箭头 25"/>
          <p:cNvSpPr/>
          <p:nvPr/>
        </p:nvSpPr>
        <p:spPr>
          <a:xfrm>
            <a:off x="4627245" y="5844540"/>
            <a:ext cx="25273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文本框 29"/>
          <p:cNvSpPr txBox="1"/>
          <p:nvPr>
            <p:custDataLst>
              <p:tags r:id="rId40"/>
            </p:custDataLst>
          </p:nvPr>
        </p:nvSpPr>
        <p:spPr>
          <a:xfrm>
            <a:off x="4879340" y="5738495"/>
            <a:ext cx="770255" cy="36004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营销任务指派</a:t>
            </a:r>
            <a:endParaRPr lang="zh-CN" altLang="en-US" sz="1000" dirty="0">
              <a:solidFill>
                <a:schemeClr val="bg1"/>
              </a:solidFill>
            </a:endParaRPr>
          </a:p>
        </p:txBody>
      </p:sp>
      <p:sp>
        <p:nvSpPr>
          <p:cNvPr id="31" name="右箭头 25"/>
          <p:cNvSpPr/>
          <p:nvPr/>
        </p:nvSpPr>
        <p:spPr>
          <a:xfrm>
            <a:off x="5718810" y="5845810"/>
            <a:ext cx="25273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p:cNvSpPr txBox="1"/>
          <p:nvPr>
            <p:custDataLst>
              <p:tags r:id="rId41"/>
            </p:custDataLst>
          </p:nvPr>
        </p:nvSpPr>
        <p:spPr>
          <a:xfrm>
            <a:off x="6035040" y="5739765"/>
            <a:ext cx="715645" cy="36004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营销任务接受</a:t>
            </a:r>
            <a:endParaRPr lang="en-US" altLang="zh-CN" sz="1000" dirty="0">
              <a:solidFill>
                <a:schemeClr val="bg1"/>
              </a:solidFill>
            </a:endParaRPr>
          </a:p>
        </p:txBody>
      </p:sp>
      <p:sp>
        <p:nvSpPr>
          <p:cNvPr id="75" name="右箭头 25"/>
          <p:cNvSpPr/>
          <p:nvPr/>
        </p:nvSpPr>
        <p:spPr>
          <a:xfrm>
            <a:off x="6809740" y="5853430"/>
            <a:ext cx="25273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6" name="文本框 75"/>
          <p:cNvSpPr txBox="1"/>
          <p:nvPr>
            <p:custDataLst>
              <p:tags r:id="rId42"/>
            </p:custDataLst>
          </p:nvPr>
        </p:nvSpPr>
        <p:spPr>
          <a:xfrm>
            <a:off x="7104380" y="5746750"/>
            <a:ext cx="680085" cy="36004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营销任务执行</a:t>
            </a:r>
            <a:endParaRPr lang="zh-CN" altLang="en-US" sz="1000" dirty="0">
              <a:solidFill>
                <a:schemeClr val="bg1"/>
              </a:solidFill>
            </a:endParaRPr>
          </a:p>
        </p:txBody>
      </p:sp>
      <p:sp>
        <p:nvSpPr>
          <p:cNvPr id="109" name="文本框 108"/>
          <p:cNvSpPr txBox="1"/>
          <p:nvPr/>
        </p:nvSpPr>
        <p:spPr>
          <a:xfrm>
            <a:off x="4725035" y="6138545"/>
            <a:ext cx="925195"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营销任务指派</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11" name="文本框 110"/>
          <p:cNvSpPr txBox="1"/>
          <p:nvPr/>
        </p:nvSpPr>
        <p:spPr>
          <a:xfrm>
            <a:off x="6682105" y="6174740"/>
            <a:ext cx="1162685" cy="36830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我的营销任务</a:t>
            </a:r>
            <a:r>
              <a:rPr kumimoji="1" lang="en-US" altLang="zh-CN"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a:t>
            </a: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营销活动配置</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59" name="文本框 158"/>
          <p:cNvSpPr txBox="1"/>
          <p:nvPr>
            <p:custDataLst>
              <p:tags r:id="rId43"/>
            </p:custDataLst>
          </p:nvPr>
        </p:nvSpPr>
        <p:spPr>
          <a:xfrm>
            <a:off x="3535680" y="2266315"/>
            <a:ext cx="705485" cy="541655"/>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营销预警工单派发</a:t>
            </a:r>
            <a:endParaRPr lang="zh-CN" altLang="en-US" sz="1000" dirty="0">
              <a:solidFill>
                <a:schemeClr val="bg1"/>
              </a:solidFill>
            </a:endParaRPr>
          </a:p>
        </p:txBody>
      </p:sp>
      <p:sp>
        <p:nvSpPr>
          <p:cNvPr id="161" name="文本框 160"/>
          <p:cNvSpPr txBox="1"/>
          <p:nvPr>
            <p:custDataLst>
              <p:tags r:id="rId44"/>
            </p:custDataLst>
          </p:nvPr>
        </p:nvSpPr>
        <p:spPr>
          <a:xfrm>
            <a:off x="4441190" y="2274570"/>
            <a:ext cx="770255" cy="53340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营销任务指派</a:t>
            </a:r>
            <a:endParaRPr lang="zh-CN" altLang="en-US" sz="1000" dirty="0">
              <a:solidFill>
                <a:schemeClr val="bg1"/>
              </a:solidFill>
            </a:endParaRPr>
          </a:p>
        </p:txBody>
      </p:sp>
      <p:sp>
        <p:nvSpPr>
          <p:cNvPr id="157" name="文本框 156"/>
          <p:cNvSpPr txBox="1"/>
          <p:nvPr>
            <p:custDataLst>
              <p:tags r:id="rId45"/>
            </p:custDataLst>
          </p:nvPr>
        </p:nvSpPr>
        <p:spPr>
          <a:xfrm>
            <a:off x="2654300" y="2271395"/>
            <a:ext cx="713740" cy="535940"/>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手工创建营销工单</a:t>
            </a:r>
            <a:endParaRPr lang="zh-CN" altLang="en-US" sz="1000" dirty="0">
              <a:solidFill>
                <a:schemeClr val="bg1"/>
              </a:solidFill>
            </a:endParaRPr>
          </a:p>
        </p:txBody>
      </p:sp>
      <p:sp>
        <p:nvSpPr>
          <p:cNvPr id="166" name="文本框 165"/>
          <p:cNvSpPr txBox="1"/>
          <p:nvPr/>
        </p:nvSpPr>
        <p:spPr>
          <a:xfrm>
            <a:off x="2654300" y="2867025"/>
            <a:ext cx="714375" cy="368300"/>
          </a:xfrm>
          <a:prstGeom prst="rect">
            <a:avLst/>
          </a:prstGeom>
          <a:noFill/>
        </p:spPr>
        <p:txBody>
          <a:bodyPr wrap="square">
            <a:spAutoFit/>
          </a:bodyPr>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选择业务场景</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67" name="文本框 166"/>
          <p:cNvSpPr txBox="1"/>
          <p:nvPr/>
        </p:nvSpPr>
        <p:spPr>
          <a:xfrm>
            <a:off x="3535680" y="2908935"/>
            <a:ext cx="706120" cy="368300"/>
          </a:xfrm>
          <a:prstGeom prst="rect">
            <a:avLst/>
          </a:prstGeom>
          <a:noFill/>
        </p:spPr>
        <p:txBody>
          <a:bodyPr wrap="square">
            <a:spAutoFit/>
          </a:bodyPr>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营销工单派发</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68" name="文本框 167"/>
          <p:cNvSpPr txBox="1"/>
          <p:nvPr/>
        </p:nvSpPr>
        <p:spPr>
          <a:xfrm>
            <a:off x="4441190" y="2867025"/>
            <a:ext cx="801370" cy="368300"/>
          </a:xfrm>
          <a:prstGeom prst="rect">
            <a:avLst/>
          </a:prstGeom>
          <a:noFill/>
        </p:spPr>
        <p:txBody>
          <a:bodyPr wrap="square">
            <a:spAutoFit/>
          </a:bodyPr>
          <a:p>
            <a:pPr marL="171450" indent="-171450">
              <a:buFont typeface="Wingdings" panose="05000000000000000000" pitchFamily="2" charset="2"/>
              <a:buChar char="Ø"/>
            </a:pPr>
            <a:r>
              <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rPr>
              <a:t>营销任务指派</a:t>
            </a:r>
            <a:endParaRPr kumimoji="1" lang="zh-CN" altLang="en-US" sz="9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69" name="右箭头 168"/>
          <p:cNvSpPr/>
          <p:nvPr/>
        </p:nvSpPr>
        <p:spPr>
          <a:xfrm>
            <a:off x="3368675" y="2469515"/>
            <a:ext cx="19558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70" name="右箭头 169"/>
          <p:cNvSpPr/>
          <p:nvPr/>
        </p:nvSpPr>
        <p:spPr>
          <a:xfrm>
            <a:off x="4245610" y="2469515"/>
            <a:ext cx="19558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71" name="右箭头 170"/>
          <p:cNvSpPr/>
          <p:nvPr/>
        </p:nvSpPr>
        <p:spPr>
          <a:xfrm>
            <a:off x="5211445" y="2469515"/>
            <a:ext cx="19558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72" name="右箭头 171"/>
          <p:cNvSpPr/>
          <p:nvPr/>
        </p:nvSpPr>
        <p:spPr>
          <a:xfrm>
            <a:off x="11140440" y="2612390"/>
            <a:ext cx="181610" cy="142875"/>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业务场景说明：合约到期续约</a:t>
            </a:r>
            <a:r>
              <a:rPr lang="en-US" altLang="zh-CN" dirty="0" smtClean="0">
                <a:sym typeface="+mn-ea"/>
              </a:rPr>
              <a:t>&amp;</a:t>
            </a:r>
            <a:r>
              <a:rPr lang="zh-CN" altLang="en-US" dirty="0" smtClean="0">
                <a:sym typeface="+mn-ea"/>
              </a:rPr>
              <a:t>一事一案监控</a:t>
            </a:r>
            <a:endParaRPr lang="zh-CN" altLang="en-US" dirty="0">
              <a:sym typeface="+mn-ea"/>
            </a:endParaRPr>
          </a:p>
        </p:txBody>
      </p:sp>
      <p:grpSp>
        <p:nvGrpSpPr>
          <p:cNvPr id="156" name="组合 155"/>
          <p:cNvGrpSpPr/>
          <p:nvPr/>
        </p:nvGrpSpPr>
        <p:grpSpPr>
          <a:xfrm>
            <a:off x="641985" y="2014220"/>
            <a:ext cx="11265535" cy="3667912"/>
            <a:chOff x="487" y="1876"/>
            <a:chExt cx="18265" cy="8334"/>
          </a:xfrm>
        </p:grpSpPr>
        <p:grpSp>
          <p:nvGrpSpPr>
            <p:cNvPr id="3" name="组合 2"/>
            <p:cNvGrpSpPr/>
            <p:nvPr/>
          </p:nvGrpSpPr>
          <p:grpSpPr>
            <a:xfrm>
              <a:off x="2007" y="1876"/>
              <a:ext cx="16745" cy="3890"/>
              <a:chOff x="2007" y="1826"/>
              <a:chExt cx="16745" cy="2941"/>
            </a:xfrm>
          </p:grpSpPr>
          <p:sp>
            <p:nvSpPr>
              <p:cNvPr id="4" name="文本框 3"/>
              <p:cNvSpPr txBox="1"/>
              <p:nvPr>
                <p:custDataLst>
                  <p:tags r:id="rId1"/>
                </p:custDataLst>
              </p:nvPr>
            </p:nvSpPr>
            <p:spPr>
              <a:xfrm>
                <a:off x="2220"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创建合约到期预警</a:t>
                </a:r>
                <a:endParaRPr lang="zh-CN" altLang="en-US" sz="1000" dirty="0">
                  <a:solidFill>
                    <a:schemeClr val="bg1"/>
                  </a:solidFill>
                </a:endParaRPr>
              </a:p>
            </p:txBody>
          </p:sp>
          <p:sp>
            <p:nvSpPr>
              <p:cNvPr id="6" name="文本框 5"/>
              <p:cNvSpPr txBox="1"/>
              <p:nvPr>
                <p:custDataLst>
                  <p:tags r:id="rId2"/>
                </p:custDataLst>
              </p:nvPr>
            </p:nvSpPr>
            <p:spPr>
              <a:xfrm>
                <a:off x="3871"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预警指标自动触发</a:t>
                </a:r>
                <a:endParaRPr lang="zh-CN" altLang="en-US" sz="1000" dirty="0">
                  <a:solidFill>
                    <a:schemeClr val="bg1"/>
                  </a:solidFill>
                </a:endParaRPr>
              </a:p>
            </p:txBody>
          </p:sp>
          <p:sp>
            <p:nvSpPr>
              <p:cNvPr id="7" name="文本框 6"/>
              <p:cNvSpPr txBox="1"/>
              <p:nvPr>
                <p:custDataLst>
                  <p:tags r:id="rId3"/>
                </p:custDataLst>
              </p:nvPr>
            </p:nvSpPr>
            <p:spPr>
              <a:xfrm>
                <a:off x="5522"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生成合约到期工单</a:t>
                </a:r>
                <a:endParaRPr lang="zh-CN" altLang="en-US" sz="1000" dirty="0">
                  <a:solidFill>
                    <a:schemeClr val="bg1"/>
                  </a:solidFill>
                </a:endParaRPr>
              </a:p>
            </p:txBody>
          </p:sp>
          <p:sp>
            <p:nvSpPr>
              <p:cNvPr id="8" name="文本框 7"/>
              <p:cNvSpPr txBox="1"/>
              <p:nvPr>
                <p:custDataLst>
                  <p:tags r:id="rId4"/>
                </p:custDataLst>
              </p:nvPr>
            </p:nvSpPr>
            <p:spPr>
              <a:xfrm>
                <a:off x="7173"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工单处理与审批</a:t>
                </a:r>
                <a:endParaRPr lang="zh-CN" altLang="en-US" sz="1000" dirty="0">
                  <a:solidFill>
                    <a:schemeClr val="bg1"/>
                  </a:solidFill>
                </a:endParaRPr>
              </a:p>
            </p:txBody>
          </p:sp>
          <p:sp>
            <p:nvSpPr>
              <p:cNvPr id="9" name="文本框 8"/>
              <p:cNvSpPr txBox="1"/>
              <p:nvPr>
                <p:custDataLst>
                  <p:tags r:id="rId5"/>
                </p:custDataLst>
              </p:nvPr>
            </p:nvSpPr>
            <p:spPr>
              <a:xfrm>
                <a:off x="8824"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营销任务自动推送</a:t>
                </a:r>
                <a:r>
                  <a:rPr lang="en-US" altLang="zh-CN" sz="1000" dirty="0">
                    <a:solidFill>
                      <a:schemeClr val="bg1"/>
                    </a:solidFill>
                  </a:rPr>
                  <a:t>IOP</a:t>
                </a:r>
                <a:endParaRPr lang="zh-CN" altLang="en-US" sz="1000" dirty="0">
                  <a:solidFill>
                    <a:schemeClr val="bg1"/>
                  </a:solidFill>
                </a:endParaRPr>
              </a:p>
            </p:txBody>
          </p:sp>
          <p:sp>
            <p:nvSpPr>
              <p:cNvPr id="10" name="文本框 9"/>
              <p:cNvSpPr txBox="1"/>
              <p:nvPr>
                <p:custDataLst>
                  <p:tags r:id="rId6"/>
                </p:custDataLst>
              </p:nvPr>
            </p:nvSpPr>
            <p:spPr>
              <a:xfrm>
                <a:off x="10616"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en-US" altLang="zh-CN" sz="1000" dirty="0">
                    <a:solidFill>
                      <a:schemeClr val="bg1"/>
                    </a:solidFill>
                  </a:rPr>
                  <a:t>IOP</a:t>
                </a:r>
                <a:r>
                  <a:rPr lang="zh-CN" altLang="en-US" sz="1000" dirty="0">
                    <a:solidFill>
                      <a:schemeClr val="bg1"/>
                    </a:solidFill>
                  </a:rPr>
                  <a:t>平台上创建续约活动</a:t>
                </a:r>
                <a:endParaRPr lang="zh-CN" altLang="en-US" sz="1000" dirty="0">
                  <a:solidFill>
                    <a:schemeClr val="bg1"/>
                  </a:solidFill>
                </a:endParaRPr>
              </a:p>
            </p:txBody>
          </p:sp>
          <p:sp>
            <p:nvSpPr>
              <p:cNvPr id="11" name="文本框 10"/>
              <p:cNvSpPr txBox="1"/>
              <p:nvPr>
                <p:custDataLst>
                  <p:tags r:id="rId7"/>
                </p:custDataLst>
              </p:nvPr>
            </p:nvSpPr>
            <p:spPr>
              <a:xfrm>
                <a:off x="12267"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渠道自动执行</a:t>
                </a:r>
                <a:endParaRPr lang="zh-CN" altLang="en-US" sz="1000" dirty="0">
                  <a:solidFill>
                    <a:schemeClr val="bg1"/>
                  </a:solidFill>
                </a:endParaRPr>
              </a:p>
            </p:txBody>
          </p:sp>
          <p:sp>
            <p:nvSpPr>
              <p:cNvPr id="12" name="文本框 11"/>
              <p:cNvSpPr txBox="1"/>
              <p:nvPr>
                <p:custDataLst>
                  <p:tags r:id="rId8"/>
                </p:custDataLst>
              </p:nvPr>
            </p:nvSpPr>
            <p:spPr>
              <a:xfrm>
                <a:off x="13918"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执行过程监控</a:t>
                </a:r>
                <a:endParaRPr lang="zh-CN" altLang="en-US" sz="1000" dirty="0">
                  <a:solidFill>
                    <a:schemeClr val="bg1"/>
                  </a:solidFill>
                </a:endParaRPr>
              </a:p>
            </p:txBody>
          </p:sp>
          <p:sp>
            <p:nvSpPr>
              <p:cNvPr id="13" name="右箭头 25"/>
              <p:cNvSpPr/>
              <p:nvPr/>
            </p:nvSpPr>
            <p:spPr>
              <a:xfrm>
                <a:off x="3444"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右箭头 26"/>
              <p:cNvSpPr/>
              <p:nvPr/>
            </p:nvSpPr>
            <p:spPr>
              <a:xfrm>
                <a:off x="5094"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右箭头 27"/>
              <p:cNvSpPr/>
              <p:nvPr/>
            </p:nvSpPr>
            <p:spPr>
              <a:xfrm>
                <a:off x="6744" y="2765"/>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右箭头 28"/>
              <p:cNvSpPr/>
              <p:nvPr/>
            </p:nvSpPr>
            <p:spPr>
              <a:xfrm>
                <a:off x="8394"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右箭头 29"/>
              <p:cNvSpPr/>
              <p:nvPr/>
            </p:nvSpPr>
            <p:spPr>
              <a:xfrm>
                <a:off x="10043"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右箭头 32"/>
              <p:cNvSpPr/>
              <p:nvPr/>
            </p:nvSpPr>
            <p:spPr>
              <a:xfrm>
                <a:off x="11832" y="2765"/>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右箭头 34"/>
              <p:cNvSpPr/>
              <p:nvPr/>
            </p:nvSpPr>
            <p:spPr>
              <a:xfrm>
                <a:off x="13482"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nvSpPr>
            <p:spPr>
              <a:xfrm>
                <a:off x="2007" y="3553"/>
                <a:ext cx="1866" cy="685"/>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选择业务场景</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选择业务指标</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1" name="文本框 20"/>
              <p:cNvSpPr txBox="1"/>
              <p:nvPr/>
            </p:nvSpPr>
            <p:spPr>
              <a:xfrm>
                <a:off x="3730" y="3553"/>
                <a:ext cx="1488" cy="685"/>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获取合约活动</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2" name="文本框 21"/>
              <p:cNvSpPr txBox="1"/>
              <p:nvPr/>
            </p:nvSpPr>
            <p:spPr>
              <a:xfrm>
                <a:off x="5269" y="3553"/>
                <a:ext cx="1488" cy="685"/>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自动下发工单</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3" name="文本框 22"/>
              <p:cNvSpPr txBox="1"/>
              <p:nvPr/>
            </p:nvSpPr>
            <p:spPr>
              <a:xfrm>
                <a:off x="6962" y="3553"/>
                <a:ext cx="1990" cy="1214"/>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分公司处理工单</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反馈次月是否营销</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5" name="文本框 24"/>
              <p:cNvSpPr txBox="1"/>
              <p:nvPr/>
            </p:nvSpPr>
            <p:spPr>
              <a:xfrm>
                <a:off x="8705" y="3553"/>
                <a:ext cx="1590" cy="950"/>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根据合约归属下发任务</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6" name="文本框 25"/>
              <p:cNvSpPr txBox="1"/>
              <p:nvPr/>
            </p:nvSpPr>
            <p:spPr>
              <a:xfrm>
                <a:off x="10448" y="3553"/>
                <a:ext cx="1590" cy="1214"/>
              </a:xfrm>
              <a:prstGeom prst="rect">
                <a:avLst/>
              </a:prstGeom>
              <a:noFill/>
            </p:spPr>
            <p:txBody>
              <a:bodyPr wrap="square">
                <a:spAutoFit/>
              </a:bodyPr>
              <a:lstStyle/>
              <a:p>
                <a:pPr marL="171450" indent="-171450">
                  <a:buFont typeface="Wingdings" panose="05000000000000000000" pitchFamily="2" charset="2"/>
                  <a:buChar char="Ø"/>
                </a:pPr>
                <a:r>
                  <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IOP</a:t>
                </a: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创建营销活动</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选择执行渠道</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7" name="文本框 26"/>
              <p:cNvSpPr txBox="1"/>
              <p:nvPr/>
            </p:nvSpPr>
            <p:spPr>
              <a:xfrm>
                <a:off x="12014" y="3553"/>
                <a:ext cx="1590" cy="685"/>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渠道自动执行活动</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8" name="文本框 27"/>
              <p:cNvSpPr txBox="1"/>
              <p:nvPr/>
            </p:nvSpPr>
            <p:spPr>
              <a:xfrm>
                <a:off x="13711" y="3553"/>
                <a:ext cx="1590" cy="1214"/>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任务、活动、资源和效益监控</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29" name="文本框 28"/>
              <p:cNvSpPr txBox="1"/>
              <p:nvPr>
                <p:custDataLst>
                  <p:tags r:id="rId9"/>
                </p:custDataLst>
              </p:nvPr>
            </p:nvSpPr>
            <p:spPr>
              <a:xfrm>
                <a:off x="15549"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督办任务下发</a:t>
                </a:r>
                <a:endParaRPr lang="zh-CN" altLang="en-US" sz="1000" dirty="0">
                  <a:solidFill>
                    <a:schemeClr val="bg1"/>
                  </a:solidFill>
                </a:endParaRPr>
              </a:p>
            </p:txBody>
          </p:sp>
          <p:sp>
            <p:nvSpPr>
              <p:cNvPr id="30" name="右箭头 34"/>
              <p:cNvSpPr/>
              <p:nvPr/>
            </p:nvSpPr>
            <p:spPr>
              <a:xfrm>
                <a:off x="15113"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p:cNvSpPr txBox="1"/>
              <p:nvPr/>
            </p:nvSpPr>
            <p:spPr>
              <a:xfrm>
                <a:off x="15342" y="3443"/>
                <a:ext cx="1590" cy="924"/>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执行不到位的任务下发督办</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32" name="文本框 31"/>
              <p:cNvSpPr txBox="1"/>
              <p:nvPr>
                <p:custDataLst>
                  <p:tags r:id="rId10"/>
                </p:custDataLst>
              </p:nvPr>
            </p:nvSpPr>
            <p:spPr>
              <a:xfrm>
                <a:off x="17198" y="2494"/>
                <a:ext cx="1148" cy="991"/>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营销效果评估</a:t>
                </a:r>
                <a:endParaRPr lang="zh-CN" altLang="en-US" sz="1000" dirty="0">
                  <a:solidFill>
                    <a:schemeClr val="bg1"/>
                  </a:solidFill>
                </a:endParaRPr>
              </a:p>
            </p:txBody>
          </p:sp>
          <p:sp>
            <p:nvSpPr>
              <p:cNvPr id="33" name="右箭头 34"/>
              <p:cNvSpPr/>
              <p:nvPr/>
            </p:nvSpPr>
            <p:spPr>
              <a:xfrm>
                <a:off x="16761" y="2790"/>
                <a:ext cx="451" cy="39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框 33"/>
              <p:cNvSpPr txBox="1"/>
              <p:nvPr/>
            </p:nvSpPr>
            <p:spPr>
              <a:xfrm>
                <a:off x="16991" y="3443"/>
                <a:ext cx="1590" cy="924"/>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执行、质态和效益评估</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35" name="矩形 34"/>
              <p:cNvSpPr/>
              <p:nvPr/>
            </p:nvSpPr>
            <p:spPr>
              <a:xfrm>
                <a:off x="2007" y="1826"/>
                <a:ext cx="3212" cy="2941"/>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36" name="文本框 35"/>
              <p:cNvSpPr txBox="1"/>
              <p:nvPr/>
            </p:nvSpPr>
            <p:spPr>
              <a:xfrm>
                <a:off x="2564" y="1966"/>
                <a:ext cx="2070" cy="513"/>
              </a:xfrm>
              <a:prstGeom prst="rect">
                <a:avLst/>
              </a:prstGeom>
              <a:noFill/>
            </p:spPr>
            <p:txBody>
              <a:bodyPr wrap="square" rtlCol="0">
                <a:spAutoFit/>
              </a:bodyPr>
              <a:lstStyle/>
              <a:p>
                <a:pPr algn="ctr"/>
                <a:r>
                  <a:rPr lang="zh-CN" altLang="en-US" sz="1400" b="1" dirty="0">
                    <a:solidFill>
                      <a:schemeClr val="bg1">
                        <a:lumMod val="50000"/>
                      </a:schemeClr>
                    </a:solidFill>
                    <a:latin typeface="微软雅黑" panose="020B0503020204020204" charset="-122"/>
                    <a:ea typeface="微软雅黑" panose="020B0503020204020204" charset="-122"/>
                  </a:rPr>
                  <a:t>指标预警创建</a:t>
                </a:r>
                <a:endParaRPr lang="zh-CN" altLang="en-US" sz="1400" b="1" dirty="0">
                  <a:solidFill>
                    <a:schemeClr val="bg1">
                      <a:lumMod val="50000"/>
                    </a:schemeClr>
                  </a:solidFill>
                  <a:latin typeface="微软雅黑" panose="020B0503020204020204" charset="-122"/>
                  <a:ea typeface="微软雅黑" panose="020B0503020204020204" charset="-122"/>
                </a:endParaRPr>
              </a:p>
            </p:txBody>
          </p:sp>
          <p:sp>
            <p:nvSpPr>
              <p:cNvPr id="24" name="矩形 23"/>
              <p:cNvSpPr/>
              <p:nvPr/>
            </p:nvSpPr>
            <p:spPr>
              <a:xfrm>
                <a:off x="5340" y="1826"/>
                <a:ext cx="6628" cy="2941"/>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39" name="文本框 38"/>
              <p:cNvSpPr txBox="1"/>
              <p:nvPr/>
            </p:nvSpPr>
            <p:spPr>
              <a:xfrm>
                <a:off x="7819" y="1966"/>
                <a:ext cx="1671" cy="513"/>
              </a:xfrm>
              <a:prstGeom prst="rect">
                <a:avLst/>
              </a:prstGeom>
              <a:noFill/>
            </p:spPr>
            <p:txBody>
              <a:bodyPr wrap="square" rtlCol="0">
                <a:spAutoFit/>
              </a:bodyPr>
              <a:lstStyle>
                <a:defPPr>
                  <a:defRPr lang="en-US"/>
                </a:defPPr>
                <a:lvl1pPr algn="ctr">
                  <a:defRPr sz="1400" b="1">
                    <a:solidFill>
                      <a:schemeClr val="bg1">
                        <a:lumMod val="50000"/>
                      </a:schemeClr>
                    </a:solidFill>
                    <a:latin typeface="微软雅黑" panose="020B0503020204020204" charset="-122"/>
                    <a:ea typeface="微软雅黑" panose="020B0503020204020204" charset="-122"/>
                  </a:defRPr>
                </a:lvl1pPr>
              </a:lstStyle>
              <a:p>
                <a:r>
                  <a:rPr lang="zh-CN" altLang="en-US" dirty="0"/>
                  <a:t>任务流转</a:t>
                </a:r>
                <a:endParaRPr lang="zh-CN" altLang="en-US" dirty="0"/>
              </a:p>
            </p:txBody>
          </p:sp>
          <p:sp>
            <p:nvSpPr>
              <p:cNvPr id="40" name="矩形 39"/>
              <p:cNvSpPr/>
              <p:nvPr/>
            </p:nvSpPr>
            <p:spPr>
              <a:xfrm>
                <a:off x="12099" y="1826"/>
                <a:ext cx="4833" cy="2941"/>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41" name="文本框 40"/>
              <p:cNvSpPr txBox="1"/>
              <p:nvPr/>
            </p:nvSpPr>
            <p:spPr>
              <a:xfrm>
                <a:off x="13589" y="1966"/>
                <a:ext cx="1671" cy="513"/>
              </a:xfrm>
              <a:prstGeom prst="rect">
                <a:avLst/>
              </a:prstGeom>
              <a:noFill/>
            </p:spPr>
            <p:txBody>
              <a:bodyPr wrap="square" rtlCol="0">
                <a:spAutoFit/>
              </a:bodyPr>
              <a:lstStyle>
                <a:defPPr>
                  <a:defRPr lang="en-US"/>
                </a:defPPr>
                <a:lvl1pPr algn="ctr">
                  <a:defRPr sz="1400" b="1">
                    <a:solidFill>
                      <a:schemeClr val="bg1">
                        <a:lumMod val="50000"/>
                      </a:schemeClr>
                    </a:solidFill>
                    <a:latin typeface="微软雅黑" panose="020B0503020204020204" charset="-122"/>
                    <a:ea typeface="微软雅黑" panose="020B0503020204020204" charset="-122"/>
                  </a:defRPr>
                </a:lvl1pPr>
              </a:lstStyle>
              <a:p>
                <a:r>
                  <a:rPr lang="zh-CN" altLang="en-US" dirty="0"/>
                  <a:t>过程监控</a:t>
                </a:r>
                <a:endParaRPr lang="zh-CN" altLang="en-US" dirty="0"/>
              </a:p>
            </p:txBody>
          </p:sp>
          <p:sp>
            <p:nvSpPr>
              <p:cNvPr id="42" name="矩形 41"/>
              <p:cNvSpPr/>
              <p:nvPr/>
            </p:nvSpPr>
            <p:spPr>
              <a:xfrm>
                <a:off x="17017" y="1826"/>
                <a:ext cx="1735" cy="2941"/>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43" name="文本框 42"/>
              <p:cNvSpPr txBox="1"/>
              <p:nvPr/>
            </p:nvSpPr>
            <p:spPr>
              <a:xfrm>
                <a:off x="17051" y="1968"/>
                <a:ext cx="1671" cy="513"/>
              </a:xfrm>
              <a:prstGeom prst="rect">
                <a:avLst/>
              </a:prstGeom>
              <a:noFill/>
            </p:spPr>
            <p:txBody>
              <a:bodyPr wrap="square" rtlCol="0">
                <a:spAutoFit/>
              </a:bodyPr>
              <a:lstStyle>
                <a:defPPr>
                  <a:defRPr lang="en-US"/>
                </a:defPPr>
                <a:lvl1pPr algn="ctr">
                  <a:defRPr sz="1400" b="1">
                    <a:solidFill>
                      <a:schemeClr val="bg1">
                        <a:lumMod val="50000"/>
                      </a:schemeClr>
                    </a:solidFill>
                    <a:latin typeface="微软雅黑" panose="020B0503020204020204" charset="-122"/>
                    <a:ea typeface="微软雅黑" panose="020B0503020204020204" charset="-122"/>
                  </a:defRPr>
                </a:lvl1pPr>
              </a:lstStyle>
              <a:p>
                <a:r>
                  <a:rPr lang="zh-CN" altLang="en-US" dirty="0"/>
                  <a:t>效果评估</a:t>
                </a:r>
                <a:endParaRPr lang="zh-CN" altLang="en-US" dirty="0"/>
              </a:p>
            </p:txBody>
          </p:sp>
        </p:grpSp>
        <p:grpSp>
          <p:nvGrpSpPr>
            <p:cNvPr id="44" name="组合 43"/>
            <p:cNvGrpSpPr/>
            <p:nvPr/>
          </p:nvGrpSpPr>
          <p:grpSpPr>
            <a:xfrm>
              <a:off x="2007" y="6319"/>
              <a:ext cx="16745" cy="3821"/>
              <a:chOff x="2007" y="6165"/>
              <a:chExt cx="16745" cy="3977"/>
            </a:xfrm>
          </p:grpSpPr>
          <p:sp>
            <p:nvSpPr>
              <p:cNvPr id="45" name="文本框 44"/>
              <p:cNvSpPr txBox="1"/>
              <p:nvPr>
                <p:custDataLst>
                  <p:tags r:id="rId11"/>
                </p:custDataLst>
              </p:nvPr>
            </p:nvSpPr>
            <p:spPr>
              <a:xfrm>
                <a:off x="2220"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批量选择一事一案</a:t>
                </a:r>
                <a:endParaRPr lang="zh-CN" altLang="en-US" sz="1000" dirty="0">
                  <a:solidFill>
                    <a:schemeClr val="bg1"/>
                  </a:solidFill>
                </a:endParaRPr>
              </a:p>
            </p:txBody>
          </p:sp>
          <p:sp>
            <p:nvSpPr>
              <p:cNvPr id="46" name="文本框 45"/>
              <p:cNvSpPr txBox="1"/>
              <p:nvPr>
                <p:custDataLst>
                  <p:tags r:id="rId12"/>
                </p:custDataLst>
              </p:nvPr>
            </p:nvSpPr>
            <p:spPr>
              <a:xfrm>
                <a:off x="3871"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设置触发条件</a:t>
                </a:r>
                <a:endParaRPr lang="zh-CN" altLang="en-US" sz="1000" dirty="0">
                  <a:solidFill>
                    <a:schemeClr val="bg1"/>
                  </a:solidFill>
                </a:endParaRPr>
              </a:p>
            </p:txBody>
          </p:sp>
          <p:sp>
            <p:nvSpPr>
              <p:cNvPr id="47" name="文本框 46"/>
              <p:cNvSpPr txBox="1"/>
              <p:nvPr>
                <p:custDataLst>
                  <p:tags r:id="rId13"/>
                </p:custDataLst>
              </p:nvPr>
            </p:nvSpPr>
            <p:spPr>
              <a:xfrm>
                <a:off x="5522"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生成合约到期工单</a:t>
                </a:r>
                <a:endParaRPr lang="zh-CN" altLang="en-US" sz="1000" dirty="0">
                  <a:solidFill>
                    <a:schemeClr val="bg1"/>
                  </a:solidFill>
                </a:endParaRPr>
              </a:p>
            </p:txBody>
          </p:sp>
          <p:sp>
            <p:nvSpPr>
              <p:cNvPr id="48" name="文本框 47"/>
              <p:cNvSpPr txBox="1"/>
              <p:nvPr>
                <p:custDataLst>
                  <p:tags r:id="rId14"/>
                </p:custDataLst>
              </p:nvPr>
            </p:nvSpPr>
            <p:spPr>
              <a:xfrm>
                <a:off x="7173"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工单处理与审批</a:t>
                </a:r>
                <a:endParaRPr lang="zh-CN" altLang="en-US" sz="1000" dirty="0">
                  <a:solidFill>
                    <a:schemeClr val="bg1"/>
                  </a:solidFill>
                </a:endParaRPr>
              </a:p>
            </p:txBody>
          </p:sp>
          <p:sp>
            <p:nvSpPr>
              <p:cNvPr id="121" name="文本框 120"/>
              <p:cNvSpPr txBox="1"/>
              <p:nvPr>
                <p:custDataLst>
                  <p:tags r:id="rId15"/>
                </p:custDataLst>
              </p:nvPr>
            </p:nvSpPr>
            <p:spPr>
              <a:xfrm>
                <a:off x="8824"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营销任务自动推送</a:t>
                </a:r>
                <a:r>
                  <a:rPr lang="en-US" altLang="zh-CN" sz="1000" dirty="0">
                    <a:solidFill>
                      <a:schemeClr val="bg1"/>
                    </a:solidFill>
                  </a:rPr>
                  <a:t>IOP</a:t>
                </a:r>
                <a:endParaRPr lang="zh-CN" altLang="en-US" sz="1000" dirty="0">
                  <a:solidFill>
                    <a:schemeClr val="bg1"/>
                  </a:solidFill>
                </a:endParaRPr>
              </a:p>
            </p:txBody>
          </p:sp>
          <p:sp>
            <p:nvSpPr>
              <p:cNvPr id="122" name="文本框 121"/>
              <p:cNvSpPr txBox="1"/>
              <p:nvPr>
                <p:custDataLst>
                  <p:tags r:id="rId16"/>
                </p:custDataLst>
              </p:nvPr>
            </p:nvSpPr>
            <p:spPr>
              <a:xfrm>
                <a:off x="10616"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en-US" altLang="zh-CN" sz="1000" dirty="0">
                    <a:solidFill>
                      <a:schemeClr val="bg1"/>
                    </a:solidFill>
                  </a:rPr>
                  <a:t>IOP</a:t>
                </a:r>
                <a:r>
                  <a:rPr lang="zh-CN" altLang="en-US" sz="1000" dirty="0">
                    <a:solidFill>
                      <a:schemeClr val="bg1"/>
                    </a:solidFill>
                  </a:rPr>
                  <a:t>平台上创建续约活动</a:t>
                </a:r>
                <a:endParaRPr lang="zh-CN" altLang="en-US" sz="1000" dirty="0">
                  <a:solidFill>
                    <a:schemeClr val="bg1"/>
                  </a:solidFill>
                </a:endParaRPr>
              </a:p>
            </p:txBody>
          </p:sp>
          <p:sp>
            <p:nvSpPr>
              <p:cNvPr id="123" name="文本框 122"/>
              <p:cNvSpPr txBox="1"/>
              <p:nvPr>
                <p:custDataLst>
                  <p:tags r:id="rId17"/>
                </p:custDataLst>
              </p:nvPr>
            </p:nvSpPr>
            <p:spPr>
              <a:xfrm>
                <a:off x="12267"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渠道自动执行</a:t>
                </a:r>
                <a:endParaRPr lang="zh-CN" altLang="en-US" sz="1000" dirty="0">
                  <a:solidFill>
                    <a:schemeClr val="bg1"/>
                  </a:solidFill>
                </a:endParaRPr>
              </a:p>
            </p:txBody>
          </p:sp>
          <p:sp>
            <p:nvSpPr>
              <p:cNvPr id="124" name="文本框 123"/>
              <p:cNvSpPr txBox="1"/>
              <p:nvPr>
                <p:custDataLst>
                  <p:tags r:id="rId18"/>
                </p:custDataLst>
              </p:nvPr>
            </p:nvSpPr>
            <p:spPr>
              <a:xfrm>
                <a:off x="13918"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执行过程监控</a:t>
                </a:r>
                <a:endParaRPr lang="zh-CN" altLang="en-US" sz="1000" dirty="0">
                  <a:solidFill>
                    <a:schemeClr val="bg1"/>
                  </a:solidFill>
                </a:endParaRPr>
              </a:p>
            </p:txBody>
          </p:sp>
          <p:sp>
            <p:nvSpPr>
              <p:cNvPr id="125" name="右箭头 25"/>
              <p:cNvSpPr/>
              <p:nvPr/>
            </p:nvSpPr>
            <p:spPr>
              <a:xfrm>
                <a:off x="3444"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6" name="右箭头 26"/>
              <p:cNvSpPr/>
              <p:nvPr/>
            </p:nvSpPr>
            <p:spPr>
              <a:xfrm>
                <a:off x="5094"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7" name="右箭头 27"/>
              <p:cNvSpPr/>
              <p:nvPr/>
            </p:nvSpPr>
            <p:spPr>
              <a:xfrm>
                <a:off x="6744" y="7419"/>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8" name="右箭头 28"/>
              <p:cNvSpPr/>
              <p:nvPr/>
            </p:nvSpPr>
            <p:spPr>
              <a:xfrm>
                <a:off x="8394"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9" name="右箭头 29"/>
              <p:cNvSpPr/>
              <p:nvPr/>
            </p:nvSpPr>
            <p:spPr>
              <a:xfrm>
                <a:off x="10043"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0" name="右箭头 32"/>
              <p:cNvSpPr/>
              <p:nvPr/>
            </p:nvSpPr>
            <p:spPr>
              <a:xfrm>
                <a:off x="11832" y="7419"/>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1" name="右箭头 34"/>
              <p:cNvSpPr/>
              <p:nvPr/>
            </p:nvSpPr>
            <p:spPr>
              <a:xfrm>
                <a:off x="13482"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2" name="文本框 131"/>
              <p:cNvSpPr txBox="1"/>
              <p:nvPr/>
            </p:nvSpPr>
            <p:spPr>
              <a:xfrm>
                <a:off x="2007" y="8471"/>
                <a:ext cx="1488" cy="943"/>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批量选择一事一案</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3" name="文本框 132"/>
              <p:cNvSpPr txBox="1"/>
              <p:nvPr/>
            </p:nvSpPr>
            <p:spPr>
              <a:xfrm>
                <a:off x="3730" y="8471"/>
                <a:ext cx="1488" cy="943"/>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获取合约活动</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4" name="文本框 133"/>
              <p:cNvSpPr txBox="1"/>
              <p:nvPr/>
            </p:nvSpPr>
            <p:spPr>
              <a:xfrm>
                <a:off x="5269" y="8471"/>
                <a:ext cx="1488" cy="943"/>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自动下发工单</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5" name="文本框 134"/>
              <p:cNvSpPr txBox="1"/>
              <p:nvPr/>
            </p:nvSpPr>
            <p:spPr>
              <a:xfrm>
                <a:off x="6961" y="8471"/>
                <a:ext cx="1743" cy="1671"/>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分公司处理工单</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反馈次月是否营销</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6" name="文本框 135"/>
              <p:cNvSpPr txBox="1"/>
              <p:nvPr/>
            </p:nvSpPr>
            <p:spPr>
              <a:xfrm>
                <a:off x="8705" y="8471"/>
                <a:ext cx="1590" cy="1308"/>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根据合约归属下发任务</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7" name="文本框 136"/>
              <p:cNvSpPr txBox="1"/>
              <p:nvPr/>
            </p:nvSpPr>
            <p:spPr>
              <a:xfrm>
                <a:off x="10448" y="8471"/>
                <a:ext cx="1590" cy="1671"/>
              </a:xfrm>
              <a:prstGeom prst="rect">
                <a:avLst/>
              </a:prstGeom>
              <a:noFill/>
            </p:spPr>
            <p:txBody>
              <a:bodyPr wrap="square">
                <a:spAutoFit/>
              </a:bodyPr>
              <a:lstStyle/>
              <a:p>
                <a:pPr marL="171450" indent="-171450">
                  <a:buFont typeface="Wingdings" panose="05000000000000000000" pitchFamily="2" charset="2"/>
                  <a:buChar char="Ø"/>
                </a:pPr>
                <a:r>
                  <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IOP</a:t>
                </a: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创建营销活动</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选择执行渠道</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8" name="文本框 137"/>
              <p:cNvSpPr txBox="1"/>
              <p:nvPr/>
            </p:nvSpPr>
            <p:spPr>
              <a:xfrm>
                <a:off x="12014" y="8471"/>
                <a:ext cx="1590" cy="943"/>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渠道自动执行活动</a:t>
                </a:r>
                <a:endParaRPr kumimoji="1" lang="en-US" altLang="zh-CN"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39" name="文本框 138"/>
              <p:cNvSpPr txBox="1"/>
              <p:nvPr/>
            </p:nvSpPr>
            <p:spPr>
              <a:xfrm>
                <a:off x="13711" y="8471"/>
                <a:ext cx="1590" cy="1671"/>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任务、活动、资源和效益监控</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40" name="文本框 139"/>
              <p:cNvSpPr txBox="1"/>
              <p:nvPr>
                <p:custDataLst>
                  <p:tags r:id="rId19"/>
                </p:custDataLst>
              </p:nvPr>
            </p:nvSpPr>
            <p:spPr>
              <a:xfrm>
                <a:off x="15549"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督办任务下发</a:t>
                </a:r>
                <a:endParaRPr lang="zh-CN" altLang="en-US" sz="1000" dirty="0">
                  <a:solidFill>
                    <a:schemeClr val="bg1"/>
                  </a:solidFill>
                </a:endParaRPr>
              </a:p>
            </p:txBody>
          </p:sp>
          <p:sp>
            <p:nvSpPr>
              <p:cNvPr id="141" name="右箭头 34"/>
              <p:cNvSpPr/>
              <p:nvPr/>
            </p:nvSpPr>
            <p:spPr>
              <a:xfrm>
                <a:off x="15113"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2" name="文本框 141"/>
              <p:cNvSpPr txBox="1"/>
              <p:nvPr/>
            </p:nvSpPr>
            <p:spPr>
              <a:xfrm>
                <a:off x="15342" y="8471"/>
                <a:ext cx="1590" cy="1308"/>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执行不到位的任务下发督办</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43" name="文本框 142"/>
              <p:cNvSpPr txBox="1"/>
              <p:nvPr>
                <p:custDataLst>
                  <p:tags r:id="rId20"/>
                </p:custDataLst>
              </p:nvPr>
            </p:nvSpPr>
            <p:spPr>
              <a:xfrm>
                <a:off x="17198" y="7057"/>
                <a:ext cx="1148" cy="1324"/>
              </a:xfrm>
              <a:prstGeom prst="rect">
                <a:avLst/>
              </a:prstGeom>
              <a:solidFill>
                <a:srgbClr val="0070C0"/>
              </a:solidFill>
            </p:spPr>
            <p:txBody>
              <a:bodyPr wrap="square" rtlCol="0" anchor="ctr">
                <a:noAutofit/>
              </a:bodyPr>
              <a:lstStyle>
                <a:defPPr>
                  <a:defRPr lang="zh-CN"/>
                </a:defPPr>
                <a:lvl1pPr algn="ctr">
                  <a:defRPr sz="900" b="1">
                    <a:solidFill>
                      <a:prstClr val="black"/>
                    </a:solidFill>
                    <a:latin typeface="微软雅黑" panose="020B0503020204020204" charset="-122"/>
                    <a:ea typeface="微软雅黑" panose="020B0503020204020204" charset="-122"/>
                  </a:defRPr>
                </a:lvl1pPr>
              </a:lstStyle>
              <a:p>
                <a:r>
                  <a:rPr lang="zh-CN" altLang="en-US" sz="1000" dirty="0">
                    <a:solidFill>
                      <a:schemeClr val="bg1"/>
                    </a:solidFill>
                  </a:rPr>
                  <a:t>营销效果评估</a:t>
                </a:r>
                <a:endParaRPr lang="zh-CN" altLang="en-US" sz="1000" dirty="0">
                  <a:solidFill>
                    <a:schemeClr val="bg1"/>
                  </a:solidFill>
                </a:endParaRPr>
              </a:p>
            </p:txBody>
          </p:sp>
          <p:sp>
            <p:nvSpPr>
              <p:cNvPr id="144" name="右箭头 34"/>
              <p:cNvSpPr/>
              <p:nvPr/>
            </p:nvSpPr>
            <p:spPr>
              <a:xfrm>
                <a:off x="16761" y="7453"/>
                <a:ext cx="451" cy="533"/>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5" name="文本框 144"/>
              <p:cNvSpPr txBox="1"/>
              <p:nvPr/>
            </p:nvSpPr>
            <p:spPr>
              <a:xfrm>
                <a:off x="16991" y="8471"/>
                <a:ext cx="1590" cy="1308"/>
              </a:xfrm>
              <a:prstGeom prst="rect">
                <a:avLst/>
              </a:prstGeom>
              <a:noFill/>
            </p:spPr>
            <p:txBody>
              <a:bodyPr wrap="square">
                <a:spAutoFit/>
              </a:bodyPr>
              <a:lstStyle/>
              <a:p>
                <a:pPr marL="171450" indent="-171450">
                  <a:buFont typeface="Wingdings" panose="05000000000000000000" pitchFamily="2" charset="2"/>
                  <a:buChar char="Ø"/>
                </a:pPr>
                <a:r>
                  <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rPr>
                  <a:t>执行、质态和效益评估</a:t>
                </a:r>
                <a:endParaRPr kumimoji="1" lang="zh-CN" altLang="en-US" sz="1000" kern="100" dirty="0">
                  <a:solidFill>
                    <a:prstClr val="black"/>
                  </a:solidFill>
                  <a:latin typeface="微软雅黑" panose="020B0503020204020204" charset="-122"/>
                  <a:ea typeface="微软雅黑" panose="020B0503020204020204" charset="-122"/>
                  <a:cs typeface="Times New Roman" panose="02020603050405020304" charset="0"/>
                  <a:sym typeface="+mn-ea"/>
                </a:endParaRPr>
              </a:p>
            </p:txBody>
          </p:sp>
          <p:sp>
            <p:nvSpPr>
              <p:cNvPr id="146" name="矩形 145"/>
              <p:cNvSpPr/>
              <p:nvPr/>
            </p:nvSpPr>
            <p:spPr>
              <a:xfrm>
                <a:off x="2007" y="6165"/>
                <a:ext cx="3212" cy="3929"/>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147" name="文本框 146"/>
              <p:cNvSpPr txBox="1"/>
              <p:nvPr/>
            </p:nvSpPr>
            <p:spPr>
              <a:xfrm>
                <a:off x="2554" y="6358"/>
                <a:ext cx="2186" cy="725"/>
              </a:xfrm>
              <a:prstGeom prst="rect">
                <a:avLst/>
              </a:prstGeom>
              <a:noFill/>
            </p:spPr>
            <p:txBody>
              <a:bodyPr wrap="square" rtlCol="0">
                <a:spAutoFit/>
              </a:bodyPr>
              <a:lstStyle/>
              <a:p>
                <a:pPr algn="ctr"/>
                <a:r>
                  <a:rPr lang="zh-CN" altLang="en-US" sz="1400" b="1" dirty="0">
                    <a:solidFill>
                      <a:schemeClr val="bg1">
                        <a:lumMod val="50000"/>
                      </a:schemeClr>
                    </a:solidFill>
                    <a:latin typeface="微软雅黑" panose="020B0503020204020204" charset="-122"/>
                    <a:ea typeface="微软雅黑" panose="020B0503020204020204" charset="-122"/>
                  </a:rPr>
                  <a:t>批量创建预警</a:t>
                </a:r>
                <a:endParaRPr lang="zh-CN" altLang="en-US" sz="1400" b="1" dirty="0">
                  <a:solidFill>
                    <a:schemeClr val="bg1">
                      <a:lumMod val="50000"/>
                    </a:schemeClr>
                  </a:solidFill>
                  <a:latin typeface="微软雅黑" panose="020B0503020204020204" charset="-122"/>
                  <a:ea typeface="微软雅黑" panose="020B0503020204020204" charset="-122"/>
                </a:endParaRPr>
              </a:p>
            </p:txBody>
          </p:sp>
          <p:sp>
            <p:nvSpPr>
              <p:cNvPr id="148" name="矩形 147"/>
              <p:cNvSpPr/>
              <p:nvPr/>
            </p:nvSpPr>
            <p:spPr>
              <a:xfrm>
                <a:off x="5340" y="6165"/>
                <a:ext cx="6628" cy="3929"/>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149" name="文本框 148"/>
              <p:cNvSpPr txBox="1"/>
              <p:nvPr/>
            </p:nvSpPr>
            <p:spPr>
              <a:xfrm>
                <a:off x="7819" y="6357"/>
                <a:ext cx="1671" cy="725"/>
              </a:xfrm>
              <a:prstGeom prst="rect">
                <a:avLst/>
              </a:prstGeom>
              <a:noFill/>
            </p:spPr>
            <p:txBody>
              <a:bodyPr wrap="square" rtlCol="0">
                <a:spAutoFit/>
              </a:bodyPr>
              <a:lstStyle>
                <a:defPPr>
                  <a:defRPr lang="en-US"/>
                </a:defPPr>
                <a:lvl1pPr algn="ctr">
                  <a:defRPr sz="1400" b="1">
                    <a:solidFill>
                      <a:schemeClr val="bg1">
                        <a:lumMod val="50000"/>
                      </a:schemeClr>
                    </a:solidFill>
                    <a:latin typeface="微软雅黑" panose="020B0503020204020204" charset="-122"/>
                    <a:ea typeface="微软雅黑" panose="020B0503020204020204" charset="-122"/>
                  </a:defRPr>
                </a:lvl1pPr>
              </a:lstStyle>
              <a:p>
                <a:r>
                  <a:rPr lang="zh-CN" altLang="en-US" dirty="0"/>
                  <a:t>任务流转</a:t>
                </a:r>
                <a:endParaRPr lang="zh-CN" altLang="en-US" dirty="0"/>
              </a:p>
            </p:txBody>
          </p:sp>
          <p:sp>
            <p:nvSpPr>
              <p:cNvPr id="150" name="矩形 149"/>
              <p:cNvSpPr/>
              <p:nvPr/>
            </p:nvSpPr>
            <p:spPr>
              <a:xfrm>
                <a:off x="12099" y="6165"/>
                <a:ext cx="4833" cy="3929"/>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151" name="文本框 150"/>
              <p:cNvSpPr txBox="1"/>
              <p:nvPr/>
            </p:nvSpPr>
            <p:spPr>
              <a:xfrm>
                <a:off x="13589" y="6357"/>
                <a:ext cx="1671" cy="725"/>
              </a:xfrm>
              <a:prstGeom prst="rect">
                <a:avLst/>
              </a:prstGeom>
              <a:noFill/>
            </p:spPr>
            <p:txBody>
              <a:bodyPr wrap="square" rtlCol="0">
                <a:spAutoFit/>
              </a:bodyPr>
              <a:lstStyle>
                <a:defPPr>
                  <a:defRPr lang="en-US"/>
                </a:defPPr>
                <a:lvl1pPr algn="ctr">
                  <a:defRPr sz="1400" b="1">
                    <a:solidFill>
                      <a:schemeClr val="bg1">
                        <a:lumMod val="50000"/>
                      </a:schemeClr>
                    </a:solidFill>
                    <a:latin typeface="微软雅黑" panose="020B0503020204020204" charset="-122"/>
                    <a:ea typeface="微软雅黑" panose="020B0503020204020204" charset="-122"/>
                  </a:defRPr>
                </a:lvl1pPr>
              </a:lstStyle>
              <a:p>
                <a:r>
                  <a:rPr lang="zh-CN" altLang="en-US" dirty="0"/>
                  <a:t>过程监控</a:t>
                </a:r>
                <a:endParaRPr lang="zh-CN" altLang="en-US" dirty="0"/>
              </a:p>
            </p:txBody>
          </p:sp>
          <p:sp>
            <p:nvSpPr>
              <p:cNvPr id="152" name="矩形 151"/>
              <p:cNvSpPr/>
              <p:nvPr/>
            </p:nvSpPr>
            <p:spPr>
              <a:xfrm>
                <a:off x="17017" y="6165"/>
                <a:ext cx="1735" cy="3929"/>
              </a:xfrm>
              <a:prstGeom prst="rect">
                <a:avLst/>
              </a:prstGeom>
              <a:noFill/>
              <a:ln w="12700">
                <a:solidFill>
                  <a:srgbClr val="93C7F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600" b="1" dirty="0">
                  <a:solidFill>
                    <a:schemeClr val="tx1"/>
                  </a:solidFill>
                  <a:latin typeface="微软雅黑" panose="020B0503020204020204" charset="-122"/>
                  <a:ea typeface="微软雅黑" panose="020B0503020204020204" charset="-122"/>
                </a:endParaRPr>
              </a:p>
            </p:txBody>
          </p:sp>
          <p:sp>
            <p:nvSpPr>
              <p:cNvPr id="153" name="文本框 152"/>
              <p:cNvSpPr txBox="1"/>
              <p:nvPr/>
            </p:nvSpPr>
            <p:spPr>
              <a:xfrm>
                <a:off x="17051" y="6360"/>
                <a:ext cx="1671" cy="725"/>
              </a:xfrm>
              <a:prstGeom prst="rect">
                <a:avLst/>
              </a:prstGeom>
              <a:noFill/>
            </p:spPr>
            <p:txBody>
              <a:bodyPr wrap="square" rtlCol="0">
                <a:spAutoFit/>
              </a:bodyPr>
              <a:lstStyle>
                <a:defPPr>
                  <a:defRPr lang="en-US"/>
                </a:defPPr>
                <a:lvl1pPr algn="ctr">
                  <a:defRPr sz="1400" b="1">
                    <a:solidFill>
                      <a:schemeClr val="bg1">
                        <a:lumMod val="50000"/>
                      </a:schemeClr>
                    </a:solidFill>
                    <a:latin typeface="微软雅黑" panose="020B0503020204020204" charset="-122"/>
                    <a:ea typeface="微软雅黑" panose="020B0503020204020204" charset="-122"/>
                  </a:defRPr>
                </a:lvl1pPr>
              </a:lstStyle>
              <a:p>
                <a:r>
                  <a:rPr lang="zh-CN" altLang="en-US" dirty="0"/>
                  <a:t>效果评估</a:t>
                </a:r>
                <a:endParaRPr lang="zh-CN" altLang="en-US" dirty="0"/>
              </a:p>
            </p:txBody>
          </p:sp>
        </p:grpSp>
        <p:sp>
          <p:nvSpPr>
            <p:cNvPr id="154" name="矩形 153"/>
            <p:cNvSpPr/>
            <p:nvPr/>
          </p:nvSpPr>
          <p:spPr>
            <a:xfrm>
              <a:off x="487" y="1876"/>
              <a:ext cx="1520" cy="3891"/>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合约到期续约规则触发</a:t>
              </a:r>
              <a:endParaRPr lang="zh-CN" altLang="en-US" sz="1200" b="1"/>
            </a:p>
          </p:txBody>
        </p:sp>
        <p:sp>
          <p:nvSpPr>
            <p:cNvPr id="155" name="矩形 154"/>
            <p:cNvSpPr/>
            <p:nvPr/>
          </p:nvSpPr>
          <p:spPr>
            <a:xfrm>
              <a:off x="487" y="6318"/>
              <a:ext cx="1520" cy="3892"/>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合约到期续约条件选择</a:t>
              </a:r>
              <a:endParaRPr lang="zh-CN" altLang="en-US" sz="1200" b="1"/>
            </a:p>
          </p:txBody>
        </p:sp>
      </p:grpSp>
      <p:sp>
        <p:nvSpPr>
          <p:cNvPr id="157" name="文本框 156"/>
          <p:cNvSpPr txBox="1"/>
          <p:nvPr/>
        </p:nvSpPr>
        <p:spPr>
          <a:xfrm>
            <a:off x="163195" y="2512695"/>
            <a:ext cx="317500" cy="398780"/>
          </a:xfrm>
          <a:prstGeom prst="rect">
            <a:avLst/>
          </a:prstGeom>
          <a:noFill/>
        </p:spPr>
        <p:txBody>
          <a:bodyPr wrap="square" rtlCol="0">
            <a:spAutoFit/>
          </a:bodyPr>
          <a:lstStyle/>
          <a:p>
            <a:r>
              <a:rPr lang="en-US" altLang="zh-CN" sz="2000" b="1" i="1">
                <a:solidFill>
                  <a:srgbClr val="4874CB"/>
                </a:solidFill>
              </a:rPr>
              <a:t>4</a:t>
            </a:r>
            <a:endParaRPr lang="en-US" altLang="zh-CN" sz="2000" b="1" i="1">
              <a:solidFill>
                <a:srgbClr val="4874CB"/>
              </a:solidFill>
            </a:endParaRPr>
          </a:p>
        </p:txBody>
      </p:sp>
      <p:sp>
        <p:nvSpPr>
          <p:cNvPr id="158" name="文本框 157"/>
          <p:cNvSpPr txBox="1"/>
          <p:nvPr/>
        </p:nvSpPr>
        <p:spPr>
          <a:xfrm>
            <a:off x="163195" y="4218305"/>
            <a:ext cx="317500" cy="398780"/>
          </a:xfrm>
          <a:prstGeom prst="rect">
            <a:avLst/>
          </a:prstGeom>
          <a:noFill/>
        </p:spPr>
        <p:txBody>
          <a:bodyPr wrap="square" rtlCol="0">
            <a:spAutoFit/>
          </a:bodyPr>
          <a:lstStyle/>
          <a:p>
            <a:r>
              <a:rPr lang="en-US" altLang="zh-CN" sz="2000" b="1" i="1" dirty="0">
                <a:solidFill>
                  <a:srgbClr val="4874CB"/>
                </a:solidFill>
              </a:rPr>
              <a:t>5</a:t>
            </a:r>
            <a:endParaRPr lang="en-US" altLang="zh-CN" sz="2000" b="1" i="1" dirty="0">
              <a:solidFill>
                <a:srgbClr val="4874CB"/>
              </a:solidFill>
            </a:endParaRPr>
          </a:p>
        </p:txBody>
      </p:sp>
      <p:sp>
        <p:nvSpPr>
          <p:cNvPr id="159" name="文本框 158"/>
          <p:cNvSpPr txBox="1"/>
          <p:nvPr/>
        </p:nvSpPr>
        <p:spPr>
          <a:xfrm>
            <a:off x="163195" y="5937250"/>
            <a:ext cx="317500" cy="398780"/>
          </a:xfrm>
          <a:prstGeom prst="rect">
            <a:avLst/>
          </a:prstGeom>
          <a:noFill/>
        </p:spPr>
        <p:txBody>
          <a:bodyPr wrap="square" rtlCol="0">
            <a:spAutoFit/>
          </a:bodyPr>
          <a:lstStyle/>
          <a:p>
            <a:r>
              <a:rPr lang="en-US" altLang="zh-CN" sz="2000" b="1" i="1" dirty="0">
                <a:solidFill>
                  <a:srgbClr val="4874CB"/>
                </a:solidFill>
              </a:rPr>
              <a:t>6</a:t>
            </a:r>
            <a:endParaRPr lang="en-US" altLang="zh-CN" sz="2000" b="1" i="1" dirty="0">
              <a:solidFill>
                <a:srgbClr val="4874CB"/>
              </a:solidFill>
            </a:endParaRPr>
          </a:p>
        </p:txBody>
      </p:sp>
      <p:sp>
        <p:nvSpPr>
          <p:cNvPr id="161" name="矩形 160"/>
          <p:cNvSpPr/>
          <p:nvPr/>
        </p:nvSpPr>
        <p:spPr>
          <a:xfrm>
            <a:off x="641350" y="5869940"/>
            <a:ext cx="2258060" cy="6858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t>收入预测日监控</a:t>
            </a:r>
            <a:endParaRPr lang="zh-CN" altLang="en-US" sz="1400" b="1"/>
          </a:p>
        </p:txBody>
      </p:sp>
      <p:sp>
        <p:nvSpPr>
          <p:cNvPr id="162" name="矩形 161"/>
          <p:cNvSpPr/>
          <p:nvPr/>
        </p:nvSpPr>
        <p:spPr>
          <a:xfrm>
            <a:off x="3373755" y="5869940"/>
            <a:ext cx="2242820" cy="6858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t>新入网日</a:t>
            </a:r>
            <a:r>
              <a:rPr lang="en-US" altLang="zh-CN" sz="1400" b="1"/>
              <a:t>/</a:t>
            </a:r>
            <a:r>
              <a:rPr lang="zh-CN" altLang="en-US" sz="1400" b="1"/>
              <a:t>月监控</a:t>
            </a:r>
            <a:endParaRPr lang="zh-CN" altLang="en-US" sz="1400" b="1"/>
          </a:p>
        </p:txBody>
      </p:sp>
      <p:sp>
        <p:nvSpPr>
          <p:cNvPr id="163" name="矩形 162"/>
          <p:cNvSpPr/>
          <p:nvPr/>
        </p:nvSpPr>
        <p:spPr>
          <a:xfrm>
            <a:off x="8864600" y="5869940"/>
            <a:ext cx="2490470" cy="6858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t>存量一事一案收入评估</a:t>
            </a:r>
            <a:endParaRPr lang="zh-CN" altLang="en-US" sz="1400" b="1"/>
          </a:p>
        </p:txBody>
      </p:sp>
      <p:sp>
        <p:nvSpPr>
          <p:cNvPr id="37" name="文本框 36"/>
          <p:cNvSpPr txBox="1"/>
          <p:nvPr/>
        </p:nvSpPr>
        <p:spPr>
          <a:xfrm>
            <a:off x="480695" y="1001395"/>
            <a:ext cx="11408322" cy="962660"/>
          </a:xfrm>
          <a:prstGeom prst="rect">
            <a:avLst/>
          </a:prstGeom>
          <a:noFill/>
        </p:spPr>
        <p:txBody>
          <a:bodyPr wrap="square" rtlCol="0" anchor="t">
            <a:spAutoFit/>
          </a:bodyPr>
          <a:lstStyle/>
          <a:p>
            <a:pPr marL="285750" indent="-285750" algn="l" defTabSz="288925">
              <a:lnSpc>
                <a:spcPct val="135000"/>
              </a:lnSpc>
              <a:spcBef>
                <a:spcPts val="0"/>
              </a:spcBef>
              <a:spcAft>
                <a:spcPts val="0"/>
              </a:spcAft>
              <a:buFont typeface="Wingdings" panose="05000000000000000000" pitchFamily="2" charset="2"/>
              <a:buChar char="p"/>
            </a:pPr>
            <a:r>
              <a:rPr lang="zh-CN" altLang="en-US" sz="1400" b="1" kern="0" dirty="0">
                <a:latin typeface="微软雅黑" panose="020B0503020204020204" charset="-122"/>
                <a:ea typeface="微软雅黑" panose="020B0503020204020204" charset="-122"/>
                <a:cs typeface="微软雅黑" panose="020B0503020204020204" charset="-122"/>
                <a:sym typeface="+mn-ea"/>
              </a:rPr>
              <a:t>基于预警的续约活动</a:t>
            </a:r>
            <a:r>
              <a:rPr lang="zh-CN" altLang="en-US" sz="1400" b="1" kern="0" dirty="0">
                <a:solidFill>
                  <a:schemeClr val="tx1"/>
                </a:solidFill>
                <a:latin typeface="微软雅黑" panose="020B0503020204020204" charset="-122"/>
                <a:ea typeface="微软雅黑" panose="020B0503020204020204" charset="-122"/>
                <a:cs typeface="微软雅黑" panose="020B0503020204020204" charset="-122"/>
                <a:sym typeface="+mn-ea"/>
              </a:rPr>
              <a:t>自动</a:t>
            </a:r>
            <a:r>
              <a:rPr lang="zh-CN" altLang="en-US" sz="1400" b="1" kern="0" dirty="0" smtClean="0">
                <a:solidFill>
                  <a:schemeClr val="tx1"/>
                </a:solidFill>
                <a:latin typeface="微软雅黑" panose="020B0503020204020204" charset="-122"/>
                <a:ea typeface="微软雅黑" panose="020B0503020204020204" charset="-122"/>
                <a:cs typeface="微软雅黑" panose="020B0503020204020204" charset="-122"/>
                <a:sym typeface="+mn-ea"/>
              </a:rPr>
              <a:t>营销</a:t>
            </a:r>
            <a:r>
              <a:rPr lang="zh-CN" altLang="en-US" sz="1400" b="1" kern="0" dirty="0" smtClean="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lang="zh-CN" altLang="en-US" sz="1400" kern="0" dirty="0" smtClean="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实现</a:t>
            </a:r>
            <a:r>
              <a:rPr lang="zh-CN" altLang="en-US" sz="1400" kern="0"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到期用户自动监控，并按合约维度自动圈选目标客户群与下发续约任务，通过</a:t>
            </a:r>
            <a:r>
              <a:rPr lang="en-US" altLang="zh-CN" sz="1400" kern="0"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IOP</a:t>
            </a:r>
            <a:r>
              <a:rPr lang="zh-CN" altLang="en-US" sz="1400" kern="0"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进行续约活动</a:t>
            </a:r>
            <a:r>
              <a:rPr lang="zh-CN" altLang="en-US" sz="1400" kern="0" dirty="0" smtClean="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执行</a:t>
            </a:r>
            <a:endParaRPr lang="zh-CN" altLang="en-US" sz="1400" kern="0"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285750" indent="-285750" algn="l" defTabSz="288925">
              <a:lnSpc>
                <a:spcPct val="135000"/>
              </a:lnSpc>
              <a:spcBef>
                <a:spcPts val="0"/>
              </a:spcBef>
              <a:spcAft>
                <a:spcPts val="0"/>
              </a:spcAft>
              <a:buClrTx/>
              <a:buSzTx/>
              <a:buFont typeface="Wingdings" panose="05000000000000000000" pitchFamily="2" charset="2"/>
              <a:buChar char="p"/>
            </a:pPr>
            <a:r>
              <a:rPr lang="zh-CN" altLang="en-US" sz="1400" b="1" kern="0" dirty="0">
                <a:latin typeface="微软雅黑" panose="020B0503020204020204" charset="-122"/>
                <a:ea typeface="微软雅黑" panose="020B0503020204020204" charset="-122"/>
                <a:cs typeface="微软雅黑" panose="020B0503020204020204" charset="-122"/>
                <a:sym typeface="+mn-ea"/>
              </a:rPr>
              <a:t>营销活动执行过程监管：</a:t>
            </a:r>
            <a:r>
              <a:rPr lang="zh-CN" altLang="en-US" sz="1400" kern="0" dirty="0">
                <a:latin typeface="微软雅黑" panose="020B0503020204020204" charset="-122"/>
                <a:ea typeface="微软雅黑" panose="020B0503020204020204" charset="-122"/>
                <a:cs typeface="微软雅黑" panose="020B0503020204020204" charset="-122"/>
                <a:sym typeface="Arial" panose="020B0604020202020204" pitchFamily="34" charset="0"/>
              </a:rPr>
              <a:t>实现营销活动执行过程中对资源消耗情况、活动价值等核心活动指标进行监控，及时下线负效益营销活动，同时沉淀优秀案例，确保营销活动健康可持续开展</a:t>
            </a:r>
            <a:endParaRPr lang="zh-CN" altLang="en-US" sz="1400" kern="0"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9" name="矩形 48"/>
          <p:cNvSpPr/>
          <p:nvPr/>
        </p:nvSpPr>
        <p:spPr>
          <a:xfrm>
            <a:off x="6122035" y="5869940"/>
            <a:ext cx="2242820" cy="6858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a:t>新入网评估报表</a:t>
            </a:r>
            <a:endParaRPr lang="zh-CN" altLang="en-US" sz="1400" b="1"/>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平台近期要</a:t>
            </a:r>
            <a:r>
              <a:rPr lang="zh-CN" altLang="en-US"/>
              <a:t>优化的</a:t>
            </a:r>
            <a:r>
              <a:rPr lang="zh-CN" altLang="en-US"/>
              <a:t>内容：</a:t>
            </a:r>
            <a:endParaRPr lang="zh-CN" altLang="en-US"/>
          </a:p>
        </p:txBody>
      </p:sp>
      <p:graphicFrame>
        <p:nvGraphicFramePr>
          <p:cNvPr id="9" name="表格 8"/>
          <p:cNvGraphicFramePr/>
          <p:nvPr>
            <p:custDataLst>
              <p:tags r:id="rId1"/>
            </p:custDataLst>
          </p:nvPr>
        </p:nvGraphicFramePr>
        <p:xfrm>
          <a:off x="721995" y="2127885"/>
          <a:ext cx="10637520" cy="3930015"/>
        </p:xfrm>
        <a:graphic>
          <a:graphicData uri="http://schemas.openxmlformats.org/drawingml/2006/table">
            <a:tbl>
              <a:tblPr firstRow="1" bandRow="1">
                <a:tableStyleId>{5C22544A-7EE6-4342-B048-85BDC9FD1C3A}</a:tableStyleId>
              </a:tblPr>
              <a:tblGrid>
                <a:gridCol w="1139825"/>
                <a:gridCol w="1296670"/>
                <a:gridCol w="2078990"/>
                <a:gridCol w="1704340"/>
                <a:gridCol w="1472565"/>
                <a:gridCol w="1472565"/>
                <a:gridCol w="1472565"/>
              </a:tblGrid>
              <a:tr h="703580">
                <a:tc>
                  <a:txBody>
                    <a:bodyPr/>
                    <a:p>
                      <a:pPr>
                        <a:buNone/>
                      </a:pPr>
                      <a:endParaRPr lang="zh-CN" altLang="en-US"/>
                    </a:p>
                  </a:txBody>
                  <a:tcPr/>
                </a:tc>
                <a:tc>
                  <a:txBody>
                    <a:bodyPr/>
                    <a:p>
                      <a:pPr>
                        <a:buNone/>
                      </a:pPr>
                      <a:r>
                        <a:rPr lang="zh-CN" altLang="en-US"/>
                        <a:t>总预警触发</a:t>
                      </a:r>
                      <a:r>
                        <a:rPr lang="zh-CN" altLang="en-US"/>
                        <a:t>数</a:t>
                      </a:r>
                      <a:endParaRPr lang="zh-CN" altLang="en-US"/>
                    </a:p>
                  </a:txBody>
                  <a:tcPr/>
                </a:tc>
                <a:tc>
                  <a:txBody>
                    <a:bodyPr/>
                    <a:p>
                      <a:pPr>
                        <a:buNone/>
                      </a:pPr>
                      <a:r>
                        <a:rPr lang="zh-CN" altLang="en-US"/>
                        <a:t>网格经理执行</a:t>
                      </a:r>
                      <a:r>
                        <a:rPr lang="zh-CN" altLang="en-US"/>
                        <a:t>情况</a:t>
                      </a:r>
                      <a:endParaRPr lang="zh-CN" altLang="en-US"/>
                    </a:p>
                  </a:txBody>
                  <a:tcPr/>
                </a:tc>
                <a:tc>
                  <a:txBody>
                    <a:bodyPr/>
                    <a:p>
                      <a:pPr>
                        <a:buNone/>
                      </a:pPr>
                      <a:r>
                        <a:rPr lang="zh-CN" altLang="en-US">
                          <a:solidFill>
                            <a:srgbClr val="FF0000"/>
                          </a:solidFill>
                        </a:rPr>
                        <a:t>政企客户经理执行情况</a:t>
                      </a:r>
                      <a:endParaRPr lang="zh-CN" altLang="en-US">
                        <a:solidFill>
                          <a:srgbClr val="FF0000"/>
                        </a:solidFill>
                      </a:endParaRPr>
                    </a:p>
                  </a:txBody>
                  <a:tcPr/>
                </a:tc>
                <a:tc>
                  <a:txBody>
                    <a:bodyPr/>
                    <a:p>
                      <a:pPr>
                        <a:buNone/>
                      </a:pPr>
                      <a:r>
                        <a:rPr lang="zh-CN" altLang="en-US">
                          <a:solidFill>
                            <a:srgbClr val="FF0000"/>
                          </a:solidFill>
                        </a:rPr>
                        <a:t>装维人员执行情况</a:t>
                      </a:r>
                      <a:endParaRPr lang="zh-CN" altLang="en-US">
                        <a:solidFill>
                          <a:srgbClr val="FF0000"/>
                        </a:solidFill>
                      </a:endParaRPr>
                    </a:p>
                  </a:txBody>
                  <a:tcPr/>
                </a:tc>
                <a:tc>
                  <a:txBody>
                    <a:bodyPr/>
                    <a:p>
                      <a:pPr>
                        <a:buNone/>
                      </a:pPr>
                      <a:r>
                        <a:rPr lang="en-US" altLang="zh-CN">
                          <a:solidFill>
                            <a:srgbClr val="FF0000"/>
                          </a:solidFill>
                        </a:rPr>
                        <a:t>10088</a:t>
                      </a:r>
                      <a:r>
                        <a:rPr lang="zh-CN" altLang="en-US">
                          <a:solidFill>
                            <a:srgbClr val="FF0000"/>
                          </a:solidFill>
                        </a:rPr>
                        <a:t>执行</a:t>
                      </a:r>
                      <a:endParaRPr lang="zh-CN" altLang="en-US">
                        <a:solidFill>
                          <a:srgbClr val="FF0000"/>
                        </a:solidFill>
                      </a:endParaRPr>
                    </a:p>
                  </a:txBody>
                  <a:tcPr/>
                </a:tc>
                <a:tc>
                  <a:txBody>
                    <a:bodyPr/>
                    <a:p>
                      <a:pPr>
                        <a:buNone/>
                      </a:pPr>
                      <a:r>
                        <a:rPr lang="en-US" altLang="zh-CN">
                          <a:solidFill>
                            <a:srgbClr val="FF0000"/>
                          </a:solidFill>
                        </a:rPr>
                        <a:t>……</a:t>
                      </a:r>
                      <a:endParaRPr lang="en-US" altLang="zh-CN">
                        <a:solidFill>
                          <a:srgbClr val="FF0000"/>
                        </a:solidFill>
                      </a:endParaRPr>
                    </a:p>
                  </a:txBody>
                  <a:tcPr/>
                </a:tc>
              </a:tr>
              <a:tr h="606425">
                <a:tc>
                  <a:txBody>
                    <a:bodyPr/>
                    <a:p>
                      <a:pPr>
                        <a:buNone/>
                      </a:pPr>
                      <a:r>
                        <a:rPr lang="zh-CN" altLang="en-US"/>
                        <a:t>携转</a:t>
                      </a:r>
                      <a:r>
                        <a:rPr lang="zh-CN" altLang="en-US"/>
                        <a:t>挽留</a:t>
                      </a: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606425">
                <a:tc>
                  <a:txBody>
                    <a:bodyPr/>
                    <a:p>
                      <a:pPr>
                        <a:buNone/>
                      </a:pPr>
                      <a:r>
                        <a:rPr lang="zh-CN" altLang="en-US"/>
                        <a:t>宽带离网</a:t>
                      </a: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703580">
                <a:tc>
                  <a:txBody>
                    <a:bodyPr/>
                    <a:p>
                      <a:pPr>
                        <a:buNone/>
                      </a:pPr>
                      <a:r>
                        <a:rPr lang="zh-CN" altLang="en-US"/>
                        <a:t>全球通</a:t>
                      </a:r>
                      <a:r>
                        <a:rPr lang="zh-CN" altLang="en-US"/>
                        <a:t>离网</a:t>
                      </a: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703580">
                <a:tc>
                  <a:txBody>
                    <a:bodyPr/>
                    <a:p>
                      <a:pPr>
                        <a:buNone/>
                      </a:pPr>
                      <a:r>
                        <a:rPr lang="zh-CN" altLang="en-US">
                          <a:solidFill>
                            <a:srgbClr val="FF0000"/>
                          </a:solidFill>
                        </a:rPr>
                        <a:t>全球通投诉</a:t>
                      </a:r>
                      <a:endParaRPr lang="zh-CN" altLang="en-US">
                        <a:solidFill>
                          <a:srgbClr val="FF0000"/>
                        </a:solidFill>
                      </a:endParaRPr>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606425">
                <a:tc>
                  <a:txBody>
                    <a:bodyPr/>
                    <a:p>
                      <a:pPr>
                        <a:buNone/>
                      </a:pPr>
                      <a:r>
                        <a:rPr lang="en-US" altLang="zh-CN"/>
                        <a:t>…………</a:t>
                      </a:r>
                      <a:endParaRPr lang="en-US" altLang="zh-CN"/>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bl>
          </a:graphicData>
        </a:graphic>
      </p:graphicFrame>
      <p:sp>
        <p:nvSpPr>
          <p:cNvPr id="30" name="矩形 21"/>
          <p:cNvSpPr>
            <a:spLocks noChangeArrowheads="1"/>
          </p:cNvSpPr>
          <p:nvPr/>
        </p:nvSpPr>
        <p:spPr bwMode="auto">
          <a:xfrm>
            <a:off x="407035" y="980728"/>
            <a:ext cx="11267224"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gn="just" latinLnBrk="0">
              <a:lnSpc>
                <a:spcPct val="150000"/>
              </a:lnSpc>
              <a:buNone/>
            </a:pPr>
            <a:r>
              <a:rPr lang="zh-CN" altLang="en-US" sz="1500" dirty="0">
                <a:latin typeface="微软雅黑" panose="020B0503020204020204" charset="-122"/>
                <a:ea typeface="微软雅黑" panose="020B0503020204020204" charset="-122"/>
                <a:sym typeface="+mn-ea"/>
              </a:rPr>
              <a:t>根据业务发展要求，往后精益平台发起的所有预警类工单都要分角色执行；首先新增客户经理角色，把全球通客户中的战略客户关键人派发给客户经理去维系；再对接装维</a:t>
            </a:r>
            <a:r>
              <a:rPr lang="en-US" altLang="zh-CN" sz="1500" dirty="0">
                <a:latin typeface="微软雅黑" panose="020B0503020204020204" charset="-122"/>
                <a:ea typeface="微软雅黑" panose="020B0503020204020204" charset="-122"/>
                <a:sym typeface="+mn-ea"/>
              </a:rPr>
              <a:t>APP</a:t>
            </a:r>
            <a:r>
              <a:rPr lang="zh-CN" altLang="en-US" sz="1500" dirty="0">
                <a:latin typeface="微软雅黑" panose="020B0503020204020204" charset="-122"/>
                <a:ea typeface="微软雅黑" panose="020B0503020204020204" charset="-122"/>
                <a:sym typeface="+mn-ea"/>
              </a:rPr>
              <a:t>、</a:t>
            </a:r>
            <a:r>
              <a:rPr lang="zh-CN" altLang="en-US" sz="1500" dirty="0">
                <a:latin typeface="微软雅黑" panose="020B0503020204020204" charset="-122"/>
                <a:ea typeface="微软雅黑" panose="020B0503020204020204" charset="-122"/>
                <a:sym typeface="+mn-ea"/>
              </a:rPr>
              <a:t>把全球通客户中的非政企战略客户并且是宽带客户的工单派发给装维人员执行；</a:t>
            </a:r>
            <a:endParaRPr lang="zh-CN" altLang="en-US" sz="1500" dirty="0">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DIAGRAM_VIRTUALLY_FRAME" val="{&quot;height&quot;:346.85,&quot;left&quot;:27.5,&quot;top&quot;:156.05,&quot;width&quot;:949.3}"/>
</p:tagLst>
</file>

<file path=ppt/tags/tag129.xml><?xml version="1.0" encoding="utf-8"?>
<p:tagLst xmlns:p="http://schemas.openxmlformats.org/presentationml/2006/main">
  <p:tag name="KSO_WM_DIAGRAM_VIRTUALLY_FRAME" val="{&quot;height&quot;:346.85,&quot;left&quot;:27.5,&quot;top&quot;:156.05,&quot;width&quot;:949.3}"/>
</p:tagLst>
</file>

<file path=ppt/tags/tag130.xml><?xml version="1.0" encoding="utf-8"?>
<p:tagLst xmlns:p="http://schemas.openxmlformats.org/presentationml/2006/main">
  <p:tag name="KSO_WM_DIAGRAM_VIRTUALLY_FRAME" val="{&quot;height&quot;:346.85,&quot;left&quot;:27.5,&quot;top&quot;:156.05,&quot;width&quot;:949.3}"/>
</p:tagLst>
</file>

<file path=ppt/tags/tag131.xml><?xml version="1.0" encoding="utf-8"?>
<p:tagLst xmlns:p="http://schemas.openxmlformats.org/presentationml/2006/main">
  <p:tag name="KSO_WM_DIAGRAM_VIRTUALLY_FRAME" val="{&quot;height&quot;:346.85,&quot;left&quot;:27.5,&quot;top&quot;:156.05,&quot;width&quot;:949.3}"/>
</p:tagLst>
</file>

<file path=ppt/tags/tag132.xml><?xml version="1.0" encoding="utf-8"?>
<p:tagLst xmlns:p="http://schemas.openxmlformats.org/presentationml/2006/main">
  <p:tag name="KSO_WM_DIAGRAM_VIRTUALLY_FRAME" val="{&quot;height&quot;:346.85,&quot;left&quot;:27.5,&quot;top&quot;:156.05,&quot;width&quot;:949.3}"/>
</p:tagLst>
</file>

<file path=ppt/tags/tag133.xml><?xml version="1.0" encoding="utf-8"?>
<p:tagLst xmlns:p="http://schemas.openxmlformats.org/presentationml/2006/main">
  <p:tag name="KSO_WM_DIAGRAM_VIRTUALLY_FRAME" val="{&quot;height&quot;:346.85,&quot;left&quot;:27.5,&quot;top&quot;:156.05,&quot;width&quot;:949.3}"/>
</p:tagLst>
</file>

<file path=ppt/tags/tag134.xml><?xml version="1.0" encoding="utf-8"?>
<p:tagLst xmlns:p="http://schemas.openxmlformats.org/presentationml/2006/main">
  <p:tag name="KSO_WM_DIAGRAM_VIRTUALLY_FRAME" val="{&quot;height&quot;:346.85,&quot;left&quot;:27.5,&quot;top&quot;:156.05,&quot;width&quot;:949.3}"/>
</p:tagLst>
</file>

<file path=ppt/tags/tag135.xml><?xml version="1.0" encoding="utf-8"?>
<p:tagLst xmlns:p="http://schemas.openxmlformats.org/presentationml/2006/main">
  <p:tag name="KSO_WM_DIAGRAM_VIRTUALLY_FRAME" val="{&quot;height&quot;:346.85,&quot;left&quot;:27.5,&quot;top&quot;:156.05,&quot;width&quot;:949.3}"/>
</p:tagLst>
</file>

<file path=ppt/tags/tag136.xml><?xml version="1.0" encoding="utf-8"?>
<p:tagLst xmlns:p="http://schemas.openxmlformats.org/presentationml/2006/main">
  <p:tag name="KSO_WM_DIAGRAM_VIRTUALLY_FRAME" val="{&quot;height&quot;:346.85,&quot;left&quot;:27.5,&quot;top&quot;:156.05,&quot;width&quot;:949.3}"/>
</p:tagLst>
</file>

<file path=ppt/tags/tag137.xml><?xml version="1.0" encoding="utf-8"?>
<p:tagLst xmlns:p="http://schemas.openxmlformats.org/presentationml/2006/main">
  <p:tag name="KSO_WM_DIAGRAM_VIRTUALLY_FRAME" val="{&quot;height&quot;:346.85,&quot;left&quot;:27.5,&quot;top&quot;:156.05,&quot;width&quot;:949.3}"/>
</p:tagLst>
</file>

<file path=ppt/tags/tag138.xml><?xml version="1.0" encoding="utf-8"?>
<p:tagLst xmlns:p="http://schemas.openxmlformats.org/presentationml/2006/main">
  <p:tag name="KSO_WM_DIAGRAM_VIRTUALLY_FRAME" val="{&quot;height&quot;:346.85,&quot;left&quot;:27.5,&quot;top&quot;:156.05,&quot;width&quot;:949.3}"/>
</p:tagLst>
</file>

<file path=ppt/tags/tag139.xml><?xml version="1.0" encoding="utf-8"?>
<p:tagLst xmlns:p="http://schemas.openxmlformats.org/presentationml/2006/main">
  <p:tag name="KSO_WM_DIAGRAM_VIRTUALLY_FRAME" val="{&quot;height&quot;:346.85,&quot;left&quot;:27.5,&quot;top&quot;:156.05,&quot;width&quot;:949.3}"/>
</p:tagLst>
</file>

<file path=ppt/tags/tag140.xml><?xml version="1.0" encoding="utf-8"?>
<p:tagLst xmlns:p="http://schemas.openxmlformats.org/presentationml/2006/main">
  <p:tag name="MH" val="20161025141343"/>
  <p:tag name="MH_LIBRARY" val="GRAPHIC"/>
  <p:tag name="MH_TYPE" val="Text"/>
  <p:tag name="MH_ORDER" val="1"/>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MH" val="20161025141343"/>
  <p:tag name="MH_LIBRARY" val="GRAPHIC"/>
  <p:tag name="MH_TYPE" val="Text"/>
  <p:tag name="MH_ORDER" val="1"/>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MH" val="20161025141343"/>
  <p:tag name="MH_LIBRARY" val="GRAPHIC"/>
  <p:tag name="MH_TYPE" val="Text"/>
  <p:tag name="MH_ORDER" val="1"/>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TABLE_ENDDRAG_ORIGIN_RECT" val="837*309"/>
  <p:tag name="TABLE_ENDDRAG_RECT" val="67*167*837*309"/>
</p:tagLst>
</file>

<file path=ppt/tags/tag209.xml><?xml version="1.0" encoding="utf-8"?>
<p:tagLst xmlns:p="http://schemas.openxmlformats.org/presentationml/2006/main">
  <p:tag name="COMMONDATA" val="eyJoZGlkIjoiY2I0OGQ5YjY1OGE5MDc5ZDA2ZDY3NTNmZDY4YmI1YmYifQ=="/>
  <p:tag name="RESOURCE_RECORD_KEY" val="{&quot;70&quot;:[3318599,331934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4427</Words>
  <Application>WPS 演示</Application>
  <PresentationFormat>宽屏</PresentationFormat>
  <Paragraphs>696</Paragraphs>
  <Slides>18</Slides>
  <Notes>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18</vt:i4>
      </vt:variant>
    </vt:vector>
  </HeadingPairs>
  <TitlesOfParts>
    <vt:vector size="32" baseType="lpstr">
      <vt:lpstr>Arial</vt:lpstr>
      <vt:lpstr>宋体</vt:lpstr>
      <vt:lpstr>Wingdings</vt:lpstr>
      <vt:lpstr>Wingdings</vt:lpstr>
      <vt:lpstr>微软雅黑</vt:lpstr>
      <vt:lpstr>方正黑体简体</vt:lpstr>
      <vt:lpstr>黑体</vt:lpstr>
      <vt:lpstr>Calibri</vt:lpstr>
      <vt:lpstr>Arial</vt:lpstr>
      <vt:lpstr>Times New Roman</vt:lpstr>
      <vt:lpstr>华文细黑</vt:lpstr>
      <vt:lpstr>Arial Unicode MS</vt:lpstr>
      <vt:lpstr>Calibri Light</vt:lpstr>
      <vt:lpstr>WPS</vt:lpstr>
      <vt:lpstr>PowerPoint 演示文稿</vt:lpstr>
      <vt:lpstr>平台功能架构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成果内容1：可视化全局统筹</vt:lpstr>
      <vt:lpstr>成果内容8：存量客户看管关系管理及落地</vt:lpstr>
      <vt:lpstr>成果内容7：网格通-精益营销客户看管</vt:lpstr>
      <vt:lpstr>成果内容6：IOP精益营销智能活动配置</vt:lpstr>
      <vt:lpstr>业务场景说明：高价值客户看管&amp;携转挽留&amp;存量价值客户保有运营</vt:lpstr>
      <vt:lpstr>业务场景说明：合约到期续约&amp;一事一案监控</vt:lpstr>
      <vt:lpstr>系统现有四大预警三类执行角色</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初级高冷小美女＆</cp:lastModifiedBy>
  <cp:revision>466</cp:revision>
  <dcterms:created xsi:type="dcterms:W3CDTF">2024-01-11T09:05:00Z</dcterms:created>
  <dcterms:modified xsi:type="dcterms:W3CDTF">2025-10-19T15:39:31Z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FB19D915A64F4ECBB3F54FCA4593B652_13</vt:lpwstr>
  </property>
</Properties>
</file>