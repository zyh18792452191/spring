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64" r:id="rId3"/>
    <p:sldId id="263" r:id="rId4"/>
    <p:sldId id="259" r:id="rId6"/>
    <p:sldId id="260" r:id="rId7"/>
    <p:sldId id="261" r:id="rId8"/>
    <p:sldId id="262" r:id="rId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9" userDrawn="1">
          <p15:clr>
            <a:srgbClr val="A4A3A4"/>
          </p15:clr>
        </p15:guide>
        <p15:guide id="2" pos="3829"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马蔚然" initials="a" lastIdx="0" clrIdx="0"/>
  <p:cmAuthor id="2" name="李蓓" initials="L" lastIdx="0" clrIdx="1"/>
  <p:cmAuthor id="3" name="韩雪娟" initials="c" lastIdx="0" clrIdx="2"/>
  <p:cmAuthor id="4" name="1" initials="1" lastIdx="0" clrIdx="3"/>
  <p:cmAuthor id="5" name="Administrator" initials="A" lastIdx="0" clrIdx="4"/>
  <p:cmAuthor id="6" name="wangwei" initials="vv" lastIdx="0" clrIdx="5"/>
  <p:cmAuthor id="7" name="zhangxin" initials="z" lastIdx="0" clrIdx="6"/>
  <p:cmAuthor id="8" name="User" initials="U" lastIdx="0" clrIdx="7"/>
  <p:cmAuthor id="9" name="殷格非" initials="殷" lastIdx="0" clrIdx="8"/>
  <p:cmAuthor id="10" name="jiang" initials="j" lastIdx="0" clrIdx="9"/>
  <p:cmAuthor id="11" name="z r" initials="zr" lastIdx="0" clrIdx="10"/>
  <p:cmAuthor id="12" name="Steve Thorne" initials="S" lastIdx="0" clrIdx="11"/>
  <p:cmAuthor id="13" name="8310" initials="8" lastIdx="0" clrIdx="12"/>
  <p:cmAuthor id="14" name="smkhan" initials="s" lastIdx="0" clrIdx="13"/>
  <p:cmAuthor id="15" name="Aqf" initials="A" lastIdx="0" clrIdx="14"/>
  <p:cmAuthor id="16" name="张 少峰" initials="张" lastIdx="0" clrIdx="15"/>
  <p:cmAuthor id="17" name="muxiaohan" initials="m" lastIdx="0" clrIdx="16"/>
  <p:cmAuthor id="18" name="韩雨" initials="韩" lastIdx="0" clrIdx="17"/>
  <p:cmAuthor id="19" name="朱磊" initials="朱" lastIdx="0" clrIdx="18"/>
  <p:cmAuthor id="20" name="YaoChunfen" initials="Y" lastIdx="0" clrIdx="19"/>
  <p:cmAuthor id="21" name="chenlin02" initials="c" lastIdx="0" clrIdx="20"/>
  <p:cmAuthor id="22" name="cheng" initials="c" lastIdx="0" clrIdx="21"/>
  <p:cmAuthor id="23" name="黄宇欣" initials="黄" lastIdx="0" clrIdx="22"/>
  <p:cmAuthor id="24" name="马云飞10014438" initials="马" lastIdx="0" clrIdx="23"/>
  <p:cmAuthor id="25" name="李岩（IT）" initials="李" lastIdx="0" clrIdx="24"/>
  <p:cmAuthor id="26" name="13686" initials="1" lastIdx="0" clrIdx="25"/>
  <p:cmAuthor id="27" name="10078380" initials="1" lastIdx="0" clrIdx="26"/>
  <p:cmAuthor id="28" name="00035181" initials="0" lastIdx="0" clrIdx="27"/>
  <p:cmAuthor id="29" name="张燕" initials="MSOffice" lastIdx="0" clrIdx="28"/>
  <p:cmAuthor id="30" name="Saku Uchikawa" initials="S" lastIdx="0" clrIdx="29"/>
  <p:cmAuthor id="31" name="作者" initials="A" lastIdx="0" clrIdx="30"/>
  <p:cmAuthor id="32" name="卢静" initials="卢静" lastIdx="0" clrIdx="31"/>
  <p:cmAuthor id="33" name="liuyeqing" initials="l" lastIdx="0" clrIdx="32"/>
  <p:cmAuthor id="34" name="10009110" initials="1" lastIdx="0" clrIdx="33"/>
  <p:cmAuthor id="35" name="李蕾00009994" initials="李" lastIdx="0" clrIdx="34"/>
  <p:cmAuthor id="36" name="wyz" initials="w" lastIdx="0" clrIdx="35"/>
  <p:cmAuthor id="37" name="10270945" initials="1" lastIdx="0" clrIdx="36"/>
  <p:cmAuthor id="38" name="zrf" initials="zrf" lastIdx="0" clrIdx="37"/>
  <p:cmAuthor id="39" name="Hou Yingfeng" initials="H" lastIdx="0" clrIdx="38"/>
  <p:cmAuthor id="40" name="赵诚荣10027092" initials="赵" lastIdx="0" clrIdx="39"/>
  <p:cmAuthor id="41" name="10056791" initials="ZTE" lastIdx="0" clrIdx="40"/>
  <p:cmAuthor id="42" name="Author" initials="A" lastIdx="0" clrIdx="41"/>
  <p:cmAuthor id="43" name="李楠10047711" initials="李楠10047711" lastIdx="0" clrIdx="42"/>
  <p:cmAuthor id="44" name="10045953" initials="1" lastIdx="0" clrIdx="43"/>
  <p:cmAuthor id="45" name="A6910@365ms.vip" initials="A" lastIdx="0" clrIdx="44"/>
  <p:cmAuthor id="46" name="A6910" initials="A" lastIdx="0" clrIdx="45"/>
  <p:cmAuthor id="47" name="未知用户1" initials="未知用户1" lastIdx="0" clrIdx="46"/>
  <p:cmAuthor id="48" name="吕佩00036751" initials="吕佩00036751" lastIdx="0" clrIdx="47"/>
  <p:cmAuthor id="49" name="shye_EbMrZnMJ" initials="authorId_858303361" lastIdx="0" clrIdx="48"/>
  <p:cmAuthor id="50" name="migu" initials="m" lastIdx="0" clrIdx="49"/>
  <p:cmAuthor id="51" name="huang yonghong" initials="hy" lastIdx="0" clrIdx="50"/>
  <p:cmAuthor id="52" name="10206899" initials="1" lastIdx="0" clrIdx="51"/>
  <p:cmAuthor id="53" name="Ra7ER" initials="R" lastIdx="0" clrIdx="52"/>
  <p:cmAuthor id="54" name="10072453" initials="1" lastIdx="0" clrIdx="53"/>
  <p:cmAuthor id="55" name="关全全10258021" initials="关" lastIdx="0" clrIdx="54"/>
  <p:cmAuthor id="56" name="yangzhihui@tj.cmcc" initials="c" lastIdx="0" clrIdx="55"/>
  <p:cmAuthor id="57" name="赵欣" initials="赵" lastIdx="0" clrIdx="56"/>
  <p:cmAuthor id="58" name="肖星" initials="肖" lastIdx="0" clrIdx="57"/>
  <p:cmAuthor id="59" name="dell" initials="d" lastIdx="0" clrIdx="58"/>
  <p:cmAuthor id="60" name="Boom" initials="B" lastIdx="0" clrIdx="59"/>
  <p:cmAuthor id="61" name="evil" initials="e" lastIdx="0" clrIdx="60"/>
  <p:cmAuthor id="62" name="未知用户2" initials="未知用户2" lastIdx="0" clrIdx="61"/>
  <p:cmAuthor id="63" name="吕志勇" initials="吕" lastIdx="0" clrIdx="62"/>
  <p:cmAuthor id="64" name="何已龙" initials="何" lastIdx="0" clrIdx="63"/>
  <p:cmAuthor id="65" name="叶得会" initials="叶" lastIdx="0" clrIdx="64"/>
  <p:cmAuthor id="66" name="群智集" initials="群" lastIdx="0" clrIdx="65"/>
  <p:cmAuthor id="67" name="郏 鹏" initials="郏" lastIdx="0" clrIdx="66"/>
  <p:cmAuthor id="68" name="仇怿俊" initials="仇" lastIdx="0" clrIdx="67"/>
  <p:cmAuthor id="69" name="WX" initials="1" lastIdx="0" clrIdx="68"/>
  <p:cmAuthor id="70" name="LF T" initials="LT" lastIdx="0" clrIdx="69"/>
  <p:cmAuthor id="71" name="admin" initials="a" lastIdx="0" clrIdx="70"/>
  <p:cmAuthor id="72" name="罗 罗" initials="罗" lastIdx="0" clrIdx="71"/>
  <p:cmAuthor id="73" name="吴杰" initials="吴" lastIdx="0" clrIdx="72"/>
  <p:cmAuthor id="74" name="刘丽仙" initials="刘" lastIdx="0" clrIdx="73"/>
  <p:cmAuthor id="75" name="杨艳霞" initials="杨" lastIdx="0" clrIdx="74"/>
  <p:cmAuthor id="76" name=" " initials=" " lastIdx="0" clrIdx="75"/>
  <p:cmAuthor id="77" name="丁芙蓉" initials="丁" lastIdx="0" clrIdx="76"/>
  <p:cmAuthor id="78" name="许弘扬" initials="许" lastIdx="0" clrIdx="77"/>
  <p:cmAuthor id="79" name="陈尚文" initials="陈" lastIdx="0" clrIdx="78"/>
  <p:cmAuthor id="80" name="范作霖" initials="范" lastIdx="0" clrIdx="79"/>
  <p:cmAuthor id="81" name="包珊珊" initials="包" lastIdx="0" clrIdx="80"/>
  <p:cmAuthor id="82" name="�ǲ�����" initials="�" lastIdx="0" clrIdx="81"/>
  <p:cmAuthor id="83" name="牛宏民" initials="牛" lastIdx="0" clrIdx="82"/>
  <p:cmAuthor id="84" name="沈霄雷" initials="沈" lastIdx="0" clrIdx="83"/>
  <p:cmAuthor id="85" name="毛香勤" initials="毛" lastIdx="0" clrIdx="84"/>
  <p:cmAuthor id="86" name="郑廷东" initials="郑" lastIdx="0" clrIdx="85"/>
  <p:cmAuthor id="87" name="徐光宇" initials="徐" lastIdx="0" clrIdx="86"/>
  <p:cmAuthor id="88" name="mac" initials="m" lastIdx="0" clrIdx="87"/>
  <p:cmAuthor id="89" name="孙大威" initials="孙" lastIdx="0" clrIdx="88"/>
  <p:cmAuthor id="90" name="席美娟" initials="席" lastIdx="0" clrIdx="89"/>
  <p:cmAuthor id="91" name="樊佳佳" initials="樊" lastIdx="0" clrIdx="90"/>
  <p:cmAuthor id="92" name="杨 亚媛" initials="杨" lastIdx="0" clrIdx="91"/>
  <p:cmAuthor id="93" name="欧 志芳" initials="欧" lastIdx="0" clrIdx="92"/>
  <p:cmAuthor id="94" name="邢辰凤" initials="邢" lastIdx="0" clrIdx="93"/>
  <p:cmAuthor id="95" name="高永刚" initials="高" lastIdx="0" clrIdx="94"/>
  <p:cmAuthor id="96" name="光启" initials="光" lastIdx="0" clrIdx="95"/>
  <p:cmAuthor id="97" name="侯雪飞" initials="侯" lastIdx="0" clrIdx="96"/>
  <p:cmAuthor id="98" name="太海峰" initials="太" lastIdx="0" clrIdx="97"/>
  <p:cmAuthor id="99" name="yanchenrui@hq.cmcc" initials="yanchenrui@hq.cmcc" lastIdx="0" clrIdx="98"/>
  <p:cmAuthor id="100" name="未知用户29" initials="未" lastIdx="0" clrIdx="99"/>
  <p:cmAuthor id="101" name="朱朱朱_EfIvmAF7" initials="authorId_236067973" lastIdx="0" clrIdx="100"/>
  <p:cmAuthor id="102" name="庞亦龙" initials="庞亦龙" lastIdx="0" clrIdx="101"/>
  <p:cmAuthor id="103" name="Yuan Hu" initials="Y" lastIdx="0" clrIdx="102"/>
  <p:cmAuthor id="104" name="Tianchi Yao" initials="TY" lastIdx="0" clrIdx="103"/>
  <p:cmAuthor id="105" name="Unknown User117" initials="U" lastIdx="0" clrIdx="104"/>
  <p:cmAuthor id="106" name="李威" initials="李" lastIdx="0" clrIdx="105"/>
  <p:cmAuthor id="107" name="273679546@qq.com" initials="2" lastIdx="0" clrIdx="106"/>
  <p:cmAuthor id="108" name="li yx" initials="ly" lastIdx="0" clrIdx="107"/>
  <p:cmAuthor id="109" name="杨静" initials="杨" lastIdx="0" clrIdx="108"/>
  <p:cmAuthor id="110" name="韩晓宇00207529" initials="韩晓宇00207529" lastIdx="0" clrIdx="109"/>
  <p:cmAuthor id="111" name="YuQing" initials="Y" lastIdx="0" clrIdx="110"/>
  <p:cmAuthor id="112" name="Youwen Sun" initials="Y" lastIdx="0" clrIdx="111"/>
  <p:cmAuthor id="113" name="Microsoft 帐户" initials="M" lastIdx="0" clrIdx="112"/>
  <p:cmAuthor id="114" name="dadi" initials="d" lastIdx="0" clrIdx="113"/>
  <p:cmAuthor id="115" name="张田田" initials="张" lastIdx="0" clrIdx="114"/>
  <p:cmAuthor id="116" name="杨彦伟" initials="杨" lastIdx="0" clrIdx="115"/>
  <p:cmAuthor id="117" name="刘豹" initials="刘" lastIdx="0" clrIdx="116"/>
  <p:cmAuthor id="118" name="张艳芳" initials="张" lastIdx="0" clrIdx="117"/>
  <p:cmAuthor id="119" name="王志刚" initials="王" lastIdx="0" clrIdx="118"/>
  <p:cmAuthor id="120" name="徐杰" initials="徐" lastIdx="0" clrIdx="119"/>
  <p:cmAuthor id="121" name="朱海平" initials="朱" lastIdx="0" clrIdx="120"/>
  <p:cmAuthor id="122" name="王景红" initials="王" lastIdx="0" clrIdx="121"/>
  <p:cmAuthor id="123" name="席金煜" initials="席" lastIdx="0" clrIdx="122"/>
  <p:cmAuthor id="124" name="小延魔法师" initials="小" lastIdx="0" clrIdx="123"/>
  <p:cmAuthor id="125" name="fgx" initials="f" lastIdx="0" clrIdx="124"/>
  <p:cmAuthor id="126" name="叶 嘉南" initials="叶" lastIdx="0" clrIdx="125"/>
  <p:cmAuthor id="127" name="郑汝鸿" initials="郑" lastIdx="0" clrIdx="126"/>
  <p:cmAuthor id="128" name="641" initials="6" lastIdx="0" clrIdx="127"/>
  <p:cmAuthor id="129" name="杨秀丰" initials="杨" lastIdx="0" clrIdx="128"/>
  <p:cmAuthor id="130" name="惠莲" initials="惠" lastIdx="0" clrIdx="129"/>
  <p:cmAuthor id="131" name="liang ma" initials="l" lastIdx="0" clrIdx="130"/>
  <p:cmAuthor id="132" name="未知用户46" initials="未" lastIdx="0" clrIdx="131"/>
  <p:cmAuthor id="133" name="未知用户47" initials="未" lastIdx="0" clrIdx="132"/>
  <p:cmAuthor id="134" name="未知用户42" initials="未" lastIdx="0" clrIdx="133"/>
  <p:cmAuthor id="135" name="黄晓平" initials="黄" lastIdx="0" clrIdx="134"/>
  <p:cmAuthor id="136" name="刘洋洋" initials="刘洋洋" lastIdx="0" clrIdx="135"/>
  <p:cmAuthor id="137" name="未知用户43" initials="未" lastIdx="0" clrIdx="136"/>
  <p:cmAuthor id="138" name="未知用户48" initials="未" lastIdx="0" clrIdx="137"/>
  <p:cmAuthor id="139" name="未知用户49" initials="未" lastIdx="0" clrIdx="138"/>
  <p:cmAuthor id="140" name="未知用户50" initials="未" lastIdx="0" clrIdx="139"/>
  <p:cmAuthor id="141" name="未知用户51" initials="未" lastIdx="0" clrIdx="140"/>
  <p:cmAuthor id="142" name="未知用户52" initials="未" lastIdx="0" clrIdx="141"/>
  <p:cmAuthor id="143" name="未知用户53" initials="未" lastIdx="0" clrIdx="142"/>
  <p:cmAuthor id="144" name="未知用户54" initials="未" lastIdx="0" clrIdx="143"/>
  <p:cmAuthor id="145" name="未知用户55" initials="未" lastIdx="0" clrIdx="144"/>
  <p:cmAuthor id="146" name="未知用户56" initials="未" lastIdx="0" clrIdx="145"/>
  <p:cmAuthor id="147" name="未知用户57" initials="未" lastIdx="0" clrIdx="146"/>
  <p:cmAuthor id="148" name="未知用户58" initials="未" lastIdx="0" clrIdx="147"/>
  <p:cmAuthor id="149" name="未知用户59" initials="未" lastIdx="0" clrIdx="148"/>
  <p:cmAuthor id="150" name="hk z" initials="hz" lastIdx="0" clrIdx="149"/>
  <p:cmAuthor id="151" name="未知用户93" initials="" lastIdx="0" clrIdx="150"/>
  <p:cmAuthor id="152" name="未知用户90" initials="" lastIdx="0" clrIdx="151"/>
  <p:cmAuthor id="153" name="未知用户91" initials="" lastIdx="0" clrIdx="152"/>
  <p:cmAuthor id="154" name="未知用户92" initials="" lastIdx="0" clrIdx="153"/>
  <p:cmAuthor id="155" name="未知用户74" initials="" lastIdx="0" clrIdx="154"/>
  <p:cmAuthor id="156" name="未知用户75" initials="" lastIdx="0" clrIdx="155"/>
  <p:cmAuthor id="157" name="未知用户76" initials="" lastIdx="0" clrIdx="156"/>
  <p:cmAuthor id="158" name="未知用户77" initials="" lastIdx="0" clrIdx="157"/>
  <p:cmAuthor id="159" name="未知用户78" initials="" lastIdx="0" clrIdx="158"/>
  <p:cmAuthor id="160" name="未知用户79" initials="" lastIdx="0" clrIdx="159"/>
  <p:cmAuthor id="161" name="未知用户80" initials="" lastIdx="0" clrIdx="160"/>
  <p:cmAuthor id="162" name="Harry xu" initials="" lastIdx="0" clrIdx="161"/>
  <p:cmAuthor id="163" name="未知用户27" initials="未" lastIdx="0" clrIdx="162"/>
  <p:cmAuthor id="164" name="未知用户35" initials="未" lastIdx="0" clrIdx="163"/>
  <p:cmAuthor id="165" name="未知用户111" initials="未" lastIdx="0" clrIdx="164"/>
  <p:cmAuthor id="166" name="le" initials="l" lastIdx="0" clrIdx="165"/>
  <p:cmAuthor id="167" name="renyina" initials="r" lastIdx="0" clrIdx="166"/>
  <p:cmAuthor id="168" name="刘铎" initials="刘" lastIdx="0" clrIdx="167"/>
  <p:cmAuthor id="169" name="tianyuan@cmhi.cmcc" initials="tianyuan@cmhi.cmcc" lastIdx="0" clrIdx="168"/>
  <p:cmAuthor id="170" name="梁田" initials="梁" lastIdx="0" clrIdx="169"/>
  <p:cmAuthor id="171" name="陈毅辉" initials="陈" lastIdx="0" clrIdx="170"/>
  <p:cmAuthor id="172" name="wl_cm" initials="w" lastIdx="0" clrIdx="171"/>
  <p:cmAuthor id="173" name="Lenovo" initials="L" lastIdx="0" clrIdx="172"/>
  <p:cmAuthor id="174" name="zhaoqi" initials="z" lastIdx="0" clrIdx="173"/>
  <p:cmAuthor id="175" name="朱江" initials="朱" lastIdx="0" clrIdx="174"/>
  <p:cmAuthor id="176" name="ding ruiwen" initials="dr" lastIdx="0" clrIdx="175"/>
  <p:cmAuthor id="177" name="郏鹏" initials="M" lastIdx="0" clrIdx="176"/>
  <p:cmAuthor id="178" name="Deanna Schuler (Bookey Consulting)" initials="" lastIdx="0" clrIdx="177"/>
  <p:cmAuthor id="179" name="未知的使用者57" initials="" lastIdx="0" clrIdx="178"/>
  <p:cmAuthor id="180" name="未知的使用者16" initials="" lastIdx="0" clrIdx="179"/>
  <p:cmAuthor id="181" name="未知的使用者35" initials="" lastIdx="0" clrIdx="180"/>
  <p:cmAuthor id="182" name="maxine" initials="" lastIdx="0" clrIdx="181"/>
  <p:cmAuthor id="183" name="周元元" initials="" lastIdx="0" clrIdx="182"/>
  <p:cmAuthor id="184" name="未知的使用者27" initials="" lastIdx="0" clrIdx="183"/>
  <p:cmAuthor id="185" name="liupeng" initials="" lastIdx="0" clrIdx="184"/>
  <p:cmAuthor id="186" name="未知的使用者94" initials="" lastIdx="0" clrIdx="185"/>
  <p:cmAuthor id="187" name="未知的使用者56" initials="" lastIdx="0" clrIdx="186"/>
  <p:cmAuthor id="188" name="未知的使用者9" initials="" lastIdx="0" clrIdx="187"/>
  <p:cmAuthor id="189" name="未知用户62" initials="" lastIdx="0" clrIdx="188"/>
  <p:cmAuthor id="190" name="yuanzh" initials="" lastIdx="0" clrIdx="189"/>
  <p:cmAuthor id="191" name="未知用户108" initials="" lastIdx="0" clrIdx="190"/>
  <p:cmAuthor id="192" name="未知的使用者110" initials="" lastIdx="0" clrIdx="191"/>
  <p:cmAuthor id="193" name="linyd" initials="" lastIdx="0" clrIdx="192"/>
  <p:cmAuthor id="194" name="未知用户8" initials="" lastIdx="0" clrIdx="193"/>
  <p:cmAuthor id="195" name="未知的使用者31" initials="" lastIdx="0" clrIdx="194"/>
  <p:cmAuthor id="196" name="未知用户81" initials="" lastIdx="0" clrIdx="195"/>
  <p:cmAuthor id="197" name="未知用户115" initials="" lastIdx="0" clrIdx="196"/>
  <p:cmAuthor id="198" name="未知的使用者68" initials="" lastIdx="0" clrIdx="197"/>
  <p:cmAuthor id="199" name="mm" initials="" lastIdx="0" clrIdx="198"/>
  <p:cmAuthor id="200" name="未知用户15" initials="" lastIdx="0" clrIdx="199"/>
  <p:cmAuthor id="201" name="朱晓瑜" initials="" lastIdx="0" clrIdx="200"/>
  <p:cmAuthor id="202" name="不明使用者20" initials="" lastIdx="0" clrIdx="201"/>
  <p:cmAuthor id="203" name="未知用户82" initials="" lastIdx="0" clrIdx="202"/>
  <p:cmAuthor id="204" name="未知的使用者7" initials="" lastIdx="0" clrIdx="203"/>
  <p:cmAuthor id="205" name="15719214165@163.com" initials="1" lastIdx="0" clrIdx="204"/>
  <p:cmAuthor id="206" name="未知用户6" initials="" lastIdx="0" clrIdx="205"/>
  <p:cmAuthor id="207" name="张 曦" initials="张" lastIdx="0" clrIdx="206"/>
  <p:cmAuthor id="208" name="未知的使用者55" initials="" lastIdx="0" clrIdx="207"/>
  <p:cmAuthor id="209" name="未知的使用者50" initials="" lastIdx="0" clrIdx="208"/>
  <p:cmAuthor id="210" name="未知的使用者11" initials="" lastIdx="0" clrIdx="209"/>
  <p:cmAuthor id="211" name="未知用户106" initials="未" lastIdx="0" clrIdx="210"/>
  <p:cmAuthor id="212" name="未知用户116" initials="" lastIdx="0" clrIdx="211"/>
  <p:cmAuthor id="213" name="未知的使用者150" initials="未" lastIdx="0" clrIdx="212"/>
  <p:cmAuthor id="214" name="Panda" initials="P" lastIdx="0" clrIdx="213"/>
  <p:cmAuthor id="215" name="未知的使用者69" initials="" lastIdx="0" clrIdx="214"/>
  <p:cmAuthor id="216" name="未知的使用者112" initials="" lastIdx="0" clrIdx="215"/>
  <p:cmAuthor id="217" name="Kevin Hu" initials="" lastIdx="0" clrIdx="216"/>
  <p:cmAuthor id="218" name="未知的使用者38" initials="" lastIdx="0" clrIdx="217"/>
  <p:cmAuthor id="219" name="唐可欣" initials="" lastIdx="0" clrIdx="218"/>
  <p:cmAuthor id="220" name="未知的使用者8" initials="" lastIdx="0" clrIdx="219"/>
  <p:cmAuthor id="221" name="不明使用者56" initials="" lastIdx="0" clrIdx="220"/>
  <p:cmAuthor id="222" name="P00035_jeremy" initials="" lastIdx="0" clrIdx="221"/>
  <p:cmAuthor id="223" name="Unknown User7" initials="" lastIdx="0" clrIdx="222"/>
  <p:cmAuthor id="224" name="muzi wei" initials="" lastIdx="0" clrIdx="223"/>
  <p:cmAuthor id="225" name="未知的使用者41" initials="" lastIdx="0" clrIdx="224"/>
  <p:cmAuthor id="226" name="未知的使用者13" initials="" lastIdx="0" clrIdx="225"/>
  <p:cmAuthor id="227" name="djj" initials="" lastIdx="0" clrIdx="226"/>
  <p:cmAuthor id="228" name="未知用户117" initials="" lastIdx="0" clrIdx="227"/>
  <p:cmAuthor id="229" name="未知用户13" initials="" lastIdx="0" clrIdx="228"/>
  <p:cmAuthor id="230" name="不明使用者21" initials="" lastIdx="0" clrIdx="229"/>
  <p:cmAuthor id="231" name="YUMINGNJ" initials="" lastIdx="0" clrIdx="230"/>
  <p:cmAuthor id="232" name="未知的使用者52" initials="" lastIdx="0" clrIdx="231"/>
  <p:cmAuthor id="233" name="未知用户109" initials="" lastIdx="0" clrIdx="232"/>
  <p:cmAuthor id="234" name="thomas" initials="" lastIdx="0" clrIdx="233"/>
  <p:cmAuthor id="235" name="未知的使用者3" initials="" lastIdx="0" clrIdx="234"/>
  <p:cmAuthor id="236" name="未知用户14" initials="" lastIdx="0" clrIdx="235"/>
  <p:cmAuthor id="237" name="Unknown User65" initials="U" lastIdx="0" clrIdx="236"/>
  <p:cmAuthor id="238" name="未知用户98" initials="" lastIdx="0" clrIdx="237"/>
  <p:cmAuthor id="239" name="未知用户83" initials="" lastIdx="0" clrIdx="238"/>
  <p:cmAuthor id="240" name="未知用户61" initials="" lastIdx="0" clrIdx="239"/>
  <p:cmAuthor id="241" name="張秀娟" initials="" lastIdx="0" clrIdx="240"/>
  <p:cmAuthor id="242" name="Jason Wang" initials="" lastIdx="0" clrIdx="241"/>
  <p:cmAuthor id="243" name="不明使用者18" initials="" lastIdx="0" clrIdx="242"/>
  <p:cmAuthor id="244" name="未知用户28" initials="未" lastIdx="0" clrIdx="243"/>
  <p:cmAuthor id="245" name="未知的使用者72" initials="" lastIdx="0" clrIdx="244"/>
  <p:cmAuthor id="246" name="未知的使用者48" initials="" lastIdx="0" clrIdx="245"/>
  <p:cmAuthor id="247" name="未知的使用者104" initials="" lastIdx="0" clrIdx="246"/>
  <p:cmAuthor id="248" name="未知用户60" initials="" lastIdx="0" clrIdx="247"/>
  <p:cmAuthor id="249" name="未知的使用者39" initials="未" lastIdx="0" clrIdx="248"/>
  <p:cmAuthor id="250" name="Shawna Strickland" initials="" lastIdx="0" clrIdx="249"/>
  <p:cmAuthor id="251" name="未知的使用者36" initials="" lastIdx="0" clrIdx="250"/>
  <p:cmAuthor id="252" name="Daniel Wuu" initials="" lastIdx="0" clrIdx="251"/>
  <p:cmAuthor id="253" name="未知的使用者14" initials="" lastIdx="0" clrIdx="252"/>
  <p:cmAuthor id="254" name="Ashley Eberenz" initials="" lastIdx="0" clrIdx="253"/>
  <p:cmAuthor id="255" name="86157" initials="8" lastIdx="0" clrIdx="254"/>
  <p:cmAuthor id="256" name="不明使用者19" initials="" lastIdx="0" clrIdx="255"/>
  <p:cmAuthor id="257" name="qiantong" initials="" lastIdx="0" clrIdx="256"/>
  <p:cmAuthor id="258" name="未知的使用者74" initials="" lastIdx="0" clrIdx="257"/>
  <p:cmAuthor id="259" name="未知的使用者23" initials="" lastIdx="0" clrIdx="258"/>
  <p:cmAuthor id="260" name="未知的使用者1" initials="" lastIdx="0" clrIdx="259"/>
  <p:cmAuthor id="261" name="116304" initials="" lastIdx="0" clrIdx="260"/>
  <p:cmAuthor id="262" name="未知用户31" initials="未" lastIdx="0" clrIdx="261"/>
  <p:cmAuthor id="263" name="R affer" initials="" lastIdx="0" clrIdx="262"/>
  <p:cmAuthor id="264" name="qihua-DCMS" initials="" lastIdx="0" clrIdx="263"/>
  <p:cmAuthor id="265" name="未知的使用者95" initials="" lastIdx="0" clrIdx="264"/>
  <p:cmAuthor id="266" name="未知的使用者32" initials="" lastIdx="0" clrIdx="265"/>
  <p:cmAuthor id="267" name="未知的使用者49" initials="" lastIdx="0" clrIdx="266"/>
  <p:cmAuthor id="268" name="Unknown User26" initials="U" lastIdx="0" clrIdx="267"/>
  <p:cmAuthor id="269" name="yuexuejun" initials="" lastIdx="0" clrIdx="268"/>
  <p:cmAuthor id="270" name="未知的使用者71" initials="" lastIdx="0" clrIdx="269"/>
  <p:cmAuthor id="271" name="未知的使用者105" initials="" lastIdx="0" clrIdx="270"/>
  <p:cmAuthor id="272" name="Unknown User70" initials="" lastIdx="0" clrIdx="271"/>
  <p:cmAuthor id="273" name="clinchen" initials="" lastIdx="0" clrIdx="272"/>
  <p:cmAuthor id="274" name="未知用户23" initials="" lastIdx="0" clrIdx="273"/>
  <p:cmAuthor id="275" name="hanjuncompany" initials="" lastIdx="0" clrIdx="274"/>
  <p:cmAuthor id="276" name="kathy chen" initials="" lastIdx="0" clrIdx="275"/>
  <p:cmAuthor id="277" name="未知的使用者63" initials="" lastIdx="0" clrIdx="276"/>
  <p:cmAuthor id="278" name="未知的使用者64" initials="" lastIdx="0" clrIdx="277"/>
  <p:cmAuthor id="279" name="haha" initials="h" lastIdx="0" clrIdx="278"/>
  <p:cmAuthor id="280" name="未知的使用者47" initials="" lastIdx="0" clrIdx="279"/>
  <p:cmAuthor id="281" name="未知的使用者60" initials="" lastIdx="0" clrIdx="280"/>
  <p:cmAuthor id="282" name="未知的使用者59" initials="" lastIdx="0" clrIdx="281"/>
  <p:cmAuthor id="283" name="未知的使用者54" initials="" lastIdx="0" clrIdx="282"/>
  <p:cmAuthor id="284" name="未知的使用者66" initials="" lastIdx="0" clrIdx="283"/>
  <p:cmAuthor id="285" name="未知的使用者65" initials="" lastIdx="0" clrIdx="284"/>
  <p:cmAuthor id="286" name="未知的使用者106" initials="" lastIdx="0" clrIdx="285"/>
  <p:cmAuthor id="287" name="未知的使用者107" initials="" lastIdx="0" clrIdx="286"/>
  <p:cmAuthor id="288" name="未知的使用者108" initials="" lastIdx="0" clrIdx="287"/>
  <p:cmAuthor id="289" name="未知的使用者86" initials="" lastIdx="0" clrIdx="288"/>
  <p:cmAuthor id="290" name="未知的使用者116" initials="" lastIdx="0" clrIdx="289"/>
  <p:cmAuthor id="291" name="未知的使用者44" initials="" lastIdx="0" clrIdx="290"/>
  <p:cmAuthor id="292" name="未知的使用者37" initials="" lastIdx="0" clrIdx="291"/>
  <p:cmAuthor id="293" name="未知的使用者126" initials="" lastIdx="0" clrIdx="292"/>
  <p:cmAuthor id="294" name="未知的使用者127" initials="" lastIdx="0" clrIdx="293"/>
  <p:cmAuthor id="295" name="未知的使用者128" initials="" lastIdx="0" clrIdx="294"/>
  <p:cmAuthor id="296" name="未知的使用者124" initials="" lastIdx="0" clrIdx="295"/>
  <p:cmAuthor id="297" name="未知的使用者125" initials="" lastIdx="0" clrIdx="296"/>
  <p:cmAuthor id="298" name="Sara Chen" initials="" lastIdx="0" clrIdx="297"/>
  <p:cmAuthor id="299" name="huang gerrard" initials="" lastIdx="0" clrIdx="298"/>
  <p:cmAuthor id="300" name="未知用户170" initials="" lastIdx="0" clrIdx="299"/>
  <p:cmAuthor id="301" name="未知用户171" initials="" lastIdx="0" clrIdx="300"/>
  <p:cmAuthor id="302" name="未知用户172" initials="" lastIdx="0" clrIdx="301"/>
  <p:cmAuthor id="303" name="未知用户173" initials="" lastIdx="0" clrIdx="302"/>
  <p:cmAuthor id="304" name="未知用户149" initials="" lastIdx="0" clrIdx="303"/>
  <p:cmAuthor id="305" name="未知用户150" initials="" lastIdx="0" clrIdx="304"/>
  <p:cmAuthor id="306" name="未知用户151" initials="" lastIdx="0" clrIdx="305"/>
  <p:cmAuthor id="307" name="未知用户152" initials="" lastIdx="0" clrIdx="306"/>
  <p:cmAuthor id="308" name="未知用户153" initials="" lastIdx="0" clrIdx="307"/>
  <p:cmAuthor id="309" name="未知用户154" initials="" lastIdx="0" clrIdx="308"/>
  <p:cmAuthor id="310" name="未知用户155" initials="" lastIdx="0" clrIdx="309"/>
  <p:cmAuthor id="311" name="未知用户41" initials="" lastIdx="0" clrIdx="310"/>
  <p:cmAuthor id="312" name="未知用户44" initials="" lastIdx="0" clrIdx="311"/>
  <p:cmAuthor id="313" name="未知用户45" initials="" lastIdx="0" clrIdx="312"/>
  <p:cmAuthor id="314" name="未知用户156" initials="" lastIdx="0" clrIdx="313"/>
  <p:cmAuthor id="315" name="未知用户64" initials="" lastIdx="0" clrIdx="314"/>
  <p:cmAuthor id="316" name="未知用户65" initials="" lastIdx="0" clrIdx="315"/>
  <p:cmAuthor id="317" name="未知用户68" initials="" lastIdx="0" clrIdx="316"/>
  <p:cmAuthor id="318" name="未知用户69" initials="" lastIdx="0" clrIdx="317"/>
  <p:cmAuthor id="319" name="未知用户70" initials="" lastIdx="0" clrIdx="318"/>
  <p:cmAuthor id="320" name="未知用户71" initials="" lastIdx="0" clrIdx="319"/>
  <p:cmAuthor id="321" name="未知用户72" initials="" lastIdx="0" clrIdx="320"/>
  <p:cmAuthor id="322" name="未知用户73" initials="" lastIdx="0" clrIdx="321"/>
  <p:cmAuthor id="323" name="MA15" initials="" lastIdx="0" clrIdx="322"/>
  <p:cmAuthor id="324" name="未知用户96" initials="" lastIdx="0" clrIdx="323"/>
  <p:cmAuthor id="325" name="未知用户97" initials="" lastIdx="0" clrIdx="324"/>
  <p:cmAuthor id="326" name="未知用户40" initials="" lastIdx="0" clrIdx="325"/>
  <p:cmAuthor id="327" name="未知用户100" initials="" lastIdx="0" clrIdx="326"/>
  <p:cmAuthor id="328" name="未知用户101" initials="" lastIdx="0" clrIdx="327"/>
  <p:cmAuthor id="329" name="未知用户26" initials="" lastIdx="0" clrIdx="328"/>
  <p:cmAuthor id="330" name="未知用户32" initials="" lastIdx="0" clrIdx="329"/>
  <p:cmAuthor id="331" name="未知用户33" initials="" lastIdx="0" clrIdx="330"/>
  <p:cmAuthor id="332" name="未知用户34" initials="" lastIdx="0" clrIdx="331"/>
  <p:cmAuthor id="333" name="未知的使用者109" initials="" lastIdx="0" clrIdx="332"/>
  <p:cmAuthor id="334" name="未知的使用者122" initials="" lastIdx="0" clrIdx="333"/>
  <p:cmAuthor id="335" name="未知的使用者123" initials="" lastIdx="0" clrIdx="334"/>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59"/>
        <p:guide pos="3829"/>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commentAuthors" Target="commentAuthors.xml"/><Relationship Id="rId12" Type="http://schemas.openxmlformats.org/officeDocument/2006/relationships/tableStyles" Target="tableStyles.xml"/><Relationship Id="rId11" Type="http://schemas.openxmlformats.org/officeDocument/2006/relationships/viewProps" Target="viewProps.xml"/><Relationship Id="rId10" Type="http://schemas.openxmlformats.org/officeDocument/2006/relationships/presProps" Target="presProp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_内容">
    <p:spTree>
      <p:nvGrpSpPr>
        <p:cNvPr id="1" name=""/>
        <p:cNvGrpSpPr/>
        <p:nvPr/>
      </p:nvGrpSpPr>
      <p:grpSpPr>
        <a:xfrm>
          <a:off x="0" y="0"/>
          <a:ext cx="0" cy="0"/>
          <a:chOff x="0" y="0"/>
          <a:chExt cx="0" cy="0"/>
        </a:xfrm>
      </p:grpSpPr>
      <p:sp>
        <p:nvSpPr>
          <p:cNvPr id="10" name="Title Placeholder 1"/>
          <p:cNvSpPr>
            <a:spLocks noGrp="1"/>
          </p:cNvSpPr>
          <p:nvPr>
            <p:ph type="title" hasCustomPrompt="1"/>
          </p:nvPr>
        </p:nvSpPr>
        <p:spPr>
          <a:xfrm>
            <a:off x="162892" y="204441"/>
            <a:ext cx="9704710" cy="611184"/>
          </a:xfrm>
          <a:prstGeom prst="rect">
            <a:avLst/>
          </a:prstGeom>
        </p:spPr>
        <p:txBody>
          <a:bodyPr vert="horz" lIns="91440" tIns="45720" rIns="91440" bIns="45720" rtlCol="0" anchor="ctr">
            <a:normAutofit/>
          </a:bodyPr>
          <a:lstStyle>
            <a:lvl1pPr algn="l">
              <a:defRPr sz="2800" b="1">
                <a:solidFill>
                  <a:schemeClr val="accent1"/>
                </a:solidFill>
                <a:latin typeface="微软雅黑" panose="020B0503020204020204" charset="-122"/>
                <a:ea typeface="微软雅黑" panose="020B0503020204020204" charset="-122"/>
              </a:defRPr>
            </a:lvl1pPr>
          </a:lstStyle>
          <a:p>
            <a:r>
              <a:rPr lang="zh-CN" altLang="en-US" dirty="0"/>
              <a:t>单击此处编辑标题</a:t>
            </a:r>
            <a:endParaRPr lang="en-US" dirty="0"/>
          </a:p>
        </p:txBody>
      </p:sp>
      <p:sp>
        <p:nvSpPr>
          <p:cNvPr id="18" name="Text Placeholder 2"/>
          <p:cNvSpPr>
            <a:spLocks noGrp="1"/>
          </p:cNvSpPr>
          <p:nvPr>
            <p:ph type="body" idx="10" hasCustomPrompt="1"/>
          </p:nvPr>
        </p:nvSpPr>
        <p:spPr>
          <a:xfrm>
            <a:off x="914490" y="1334739"/>
            <a:ext cx="10364220" cy="4570994"/>
          </a:xfrm>
          <a:prstGeom prst="rect">
            <a:avLst/>
          </a:prstGeom>
        </p:spPr>
        <p:txBody>
          <a:bodyPr anchor="t">
            <a:normAutofit/>
          </a:bodyPr>
          <a:lstStyle>
            <a:lvl1pPr marL="0" indent="0" algn="l">
              <a:buNone/>
              <a:defRPr sz="1800" b="0">
                <a:latin typeface="方正黑体简体" panose="02000000000000000000" pitchFamily="2" charset="-122"/>
                <a:ea typeface="方正黑体简体" panose="02000000000000000000" pitchFamily="2"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单击此处编辑内容</a:t>
            </a:r>
            <a:endParaRPr lang="zh-CN" altLang="en-US" dirty="0"/>
          </a:p>
        </p:txBody>
      </p:sp>
      <p:pic>
        <p:nvPicPr>
          <p:cNvPr id="2" name="图片 1"/>
          <p:cNvPicPr>
            <a:picLocks noChangeAspect="1"/>
          </p:cNvPicPr>
          <p:nvPr userDrawn="1"/>
        </p:nvPicPr>
        <p:blipFill>
          <a:blip r:embed="rId2" cstate="print"/>
          <a:stretch>
            <a:fillRect/>
          </a:stretch>
        </p:blipFill>
        <p:spPr>
          <a:xfrm>
            <a:off x="10074213" y="-79719"/>
            <a:ext cx="1852258" cy="1389056"/>
          </a:xfrm>
          <a:prstGeom prst="rect">
            <a:avLst/>
          </a:prstGeom>
        </p:spPr>
      </p:pic>
      <p:sp>
        <p:nvSpPr>
          <p:cNvPr id="4" name="TextBox 3"/>
          <p:cNvSpPr txBox="1"/>
          <p:nvPr userDrawn="1"/>
        </p:nvSpPr>
        <p:spPr>
          <a:xfrm>
            <a:off x="11229494" y="6576616"/>
            <a:ext cx="447719" cy="246221"/>
          </a:xfrm>
          <a:prstGeom prst="rect">
            <a:avLst/>
          </a:prstGeom>
          <a:noFill/>
        </p:spPr>
        <p:txBody>
          <a:bodyPr wrap="none" rtlCol="0" anchor="ctr" anchorCtr="0">
            <a:noAutofit/>
          </a:bodyPr>
          <a:lstStyle/>
          <a:p>
            <a:pPr algn="r">
              <a:lnSpc>
                <a:spcPct val="100000"/>
              </a:lnSpc>
              <a:buClrTx/>
              <a:buSzTx/>
              <a:buFontTx/>
            </a:pPr>
            <a:fld id="{FDA8CB47-5F18-3A4B-AD3A-422A03DFB5D1}" type="slidenum">
              <a:rPr kumimoji="1" lang="zh-CN" altLang="en-US" sz="1200" b="0" smtClean="0">
                <a:solidFill>
                  <a:schemeClr val="accent2"/>
                </a:solidFill>
                <a:latin typeface="微软雅黑" panose="020B0503020204020204" charset="-122"/>
                <a:ea typeface="微软雅黑" panose="020B0503020204020204" charset="-122"/>
                <a:sym typeface="+mn-ea"/>
              </a:rPr>
            </a:fld>
            <a:endParaRPr kumimoji="1" lang="zh-CN" altLang="en-US" sz="1200" b="0" dirty="0">
              <a:solidFill>
                <a:schemeClr val="accent2"/>
              </a:solidFill>
              <a:latin typeface="微软雅黑" panose="020B0503020204020204" charset="-122"/>
              <a:ea typeface="微软雅黑" panose="020B0503020204020204" charset="-122"/>
              <a:sym typeface="+mn-ea"/>
            </a:endParaRPr>
          </a:p>
        </p:txBody>
      </p:sp>
      <p:cxnSp>
        <p:nvCxnSpPr>
          <p:cNvPr id="6" name="Straight Connector 5"/>
          <p:cNvCxnSpPr/>
          <p:nvPr userDrawn="1"/>
        </p:nvCxnSpPr>
        <p:spPr>
          <a:xfrm>
            <a:off x="0" y="920401"/>
            <a:ext cx="12193200"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tags" Target="../tags/tag62.xml"/><Relationship Id="rId17" Type="http://schemas.openxmlformats.org/officeDocument/2006/relationships/tags" Target="../tags/tag61.xml"/><Relationship Id="rId16" Type="http://schemas.openxmlformats.org/officeDocument/2006/relationships/tags" Target="../tags/tag60.xml"/><Relationship Id="rId15" Type="http://schemas.openxmlformats.org/officeDocument/2006/relationships/tags" Target="../tags/tag59.xml"/><Relationship Id="rId14" Type="http://schemas.openxmlformats.org/officeDocument/2006/relationships/tags" Target="../tags/tag58.xml"/><Relationship Id="rId13" Type="http://schemas.openxmlformats.org/officeDocument/2006/relationships/tags" Target="../tags/tag57.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3"/>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4"/>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5"/>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6"/>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7"/>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8"/>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6" Type="http://schemas.openxmlformats.org/officeDocument/2006/relationships/slideLayout" Target="../slideLayouts/slideLayout12.xml"/><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2.xml"/><Relationship Id="rId5" Type="http://schemas.openxmlformats.org/officeDocument/2006/relationships/slideLayout" Target="../slideLayouts/slideLayout12.xml"/><Relationship Id="rId4" Type="http://schemas.openxmlformats.org/officeDocument/2006/relationships/image" Target="../media/image13.png"/><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image" Target="../media/image10.png"/></Relationships>
</file>

<file path=ppt/slides/_rels/slide6.xml.rels><?xml version="1.0" encoding="UTF-8" standalone="yes"?>
<Relationships xmlns="http://schemas.openxmlformats.org/package/2006/relationships"><Relationship Id="rId8" Type="http://schemas.openxmlformats.org/officeDocument/2006/relationships/slideLayout" Target="../slideLayouts/slideLayout12.xml"/><Relationship Id="rId7" Type="http://schemas.openxmlformats.org/officeDocument/2006/relationships/image" Target="../media/image20.png"/><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占位符 4"/>
          <p:cNvSpPr>
            <a:spLocks noGrp="1"/>
          </p:cNvSpPr>
          <p:nvPr>
            <p:ph type="body" idx="1"/>
          </p:nvPr>
        </p:nvSpPr>
        <p:spPr>
          <a:xfrm>
            <a:off x="2961005" y="3643630"/>
            <a:ext cx="6546850" cy="1433195"/>
          </a:xfrm>
        </p:spPr>
        <p:txBody>
          <a:bodyPr>
            <a:normAutofit/>
          </a:bodyPr>
          <a:lstStyle/>
          <a:p>
            <a:r>
              <a:rPr lang="zh-CN" altLang="en-US" b="1" dirty="0" smtClean="0">
                <a:solidFill>
                  <a:srgbClr val="0070C0"/>
                </a:solidFill>
              </a:rPr>
              <a:t>亚信科技</a:t>
            </a:r>
            <a:endParaRPr lang="en-US" altLang="zh-CN" b="1" dirty="0" smtClean="0">
              <a:solidFill>
                <a:srgbClr val="0070C0"/>
              </a:solidFill>
            </a:endParaRPr>
          </a:p>
          <a:p>
            <a:r>
              <a:rPr lang="en-US" altLang="zh-CN" dirty="0" smtClean="0">
                <a:solidFill>
                  <a:srgbClr val="0070C0"/>
                </a:solidFill>
              </a:rPr>
              <a:t>2026</a:t>
            </a:r>
            <a:r>
              <a:rPr lang="zh-CN" altLang="en-US" dirty="0" smtClean="0">
                <a:solidFill>
                  <a:srgbClr val="0070C0"/>
                </a:solidFill>
              </a:rPr>
              <a:t>年</a:t>
            </a:r>
            <a:r>
              <a:rPr lang="en-US" altLang="zh-CN" dirty="0" smtClean="0">
                <a:solidFill>
                  <a:srgbClr val="0070C0"/>
                </a:solidFill>
              </a:rPr>
              <a:t>4</a:t>
            </a:r>
            <a:r>
              <a:rPr lang="zh-CN" altLang="en-US" dirty="0" smtClean="0">
                <a:solidFill>
                  <a:srgbClr val="0070C0"/>
                </a:solidFill>
              </a:rPr>
              <a:t>月</a:t>
            </a:r>
            <a:endParaRPr lang="zh-CN" altLang="en-US" dirty="0">
              <a:solidFill>
                <a:srgbClr val="0070C0"/>
              </a:solidFill>
            </a:endParaRPr>
          </a:p>
        </p:txBody>
      </p:sp>
      <p:sp>
        <p:nvSpPr>
          <p:cNvPr id="32770" name="TextBox 3"/>
          <p:cNvSpPr txBox="1"/>
          <p:nvPr>
            <p:custDataLst>
              <p:tags r:id="rId1"/>
            </p:custDataLst>
          </p:nvPr>
        </p:nvSpPr>
        <p:spPr>
          <a:xfrm>
            <a:off x="2135505" y="2138998"/>
            <a:ext cx="7921625" cy="768350"/>
          </a:xfrm>
          <a:prstGeom prst="rect">
            <a:avLst/>
          </a:prstGeom>
          <a:noFill/>
          <a:ln w="9525">
            <a:noFill/>
          </a:ln>
        </p:spPr>
        <p:txBody>
          <a:bodyPr anchor="t" anchorCtr="0">
            <a:spAutoFit/>
          </a:bodyPr>
          <a:lstStyle/>
          <a:p>
            <a:pPr algn="ctr"/>
            <a:r>
              <a:rPr lang="zh-CN" altLang="en-US" sz="4400" b="1" dirty="0">
                <a:solidFill>
                  <a:srgbClr val="0070C0"/>
                </a:solidFill>
                <a:latin typeface="微软雅黑" panose="020B0503020204020204" charset="-122"/>
                <a:ea typeface="微软雅黑" panose="020B0503020204020204" charset="-122"/>
              </a:rPr>
              <a:t>精益运营平台现状</a:t>
            </a:r>
            <a:r>
              <a:rPr lang="zh-CN" altLang="en-US" sz="4400" b="1" dirty="0">
                <a:solidFill>
                  <a:srgbClr val="0070C0"/>
                </a:solidFill>
                <a:latin typeface="微软雅黑" panose="020B0503020204020204" charset="-122"/>
                <a:ea typeface="微软雅黑" panose="020B0503020204020204" charset="-122"/>
              </a:rPr>
              <a:t>介绍</a:t>
            </a:r>
            <a:endParaRPr lang="zh-CN" altLang="en-US" sz="4400" b="1" dirty="0">
              <a:solidFill>
                <a:srgbClr val="0070C0"/>
              </a:solidFill>
              <a:latin typeface="微软雅黑" panose="020B0503020204020204" charset="-122"/>
              <a:ea typeface="微软雅黑" panose="020B0503020204020204" charset="-122"/>
            </a:endParaRPr>
          </a:p>
        </p:txBody>
      </p:sp>
    </p:spTree>
    <p:custDataLst>
      <p:tags r:id="rId2"/>
    </p:custData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sym typeface="+mn-ea"/>
              </a:rPr>
              <a:t>精益平台整体</a:t>
            </a:r>
            <a:r>
              <a:rPr lang="zh-CN" altLang="en-US" dirty="0">
                <a:sym typeface="+mn-ea"/>
              </a:rPr>
              <a:t>介绍</a:t>
            </a:r>
            <a:endParaRPr lang="zh-CN" altLang="en-US" dirty="0">
              <a:sym typeface="+mn-ea"/>
            </a:endParaRPr>
          </a:p>
        </p:txBody>
      </p:sp>
      <p:sp>
        <p:nvSpPr>
          <p:cNvPr id="3" name="文本占位符 2"/>
          <p:cNvSpPr>
            <a:spLocks noGrp="1"/>
          </p:cNvSpPr>
          <p:nvPr>
            <p:ph type="body" idx="10"/>
          </p:nvPr>
        </p:nvSpPr>
        <p:spPr>
          <a:xfrm>
            <a:off x="198352" y="969645"/>
            <a:ext cx="11797401" cy="642027"/>
          </a:xfrm>
          <a:noFill/>
        </p:spPr>
        <p:txBody>
          <a:bodyPr>
            <a:noAutofit/>
          </a:bodyPr>
          <a:lstStyle/>
          <a:p>
            <a:pPr marL="285750" indent="-285750">
              <a:lnSpc>
                <a:spcPct val="135000"/>
              </a:lnSpc>
              <a:spcAft>
                <a:spcPts val="0"/>
              </a:spcAft>
              <a:buFont typeface="Wingdings" panose="05000000000000000000" pitchFamily="2" charset="2"/>
              <a:buChar char="p"/>
            </a:pPr>
            <a:r>
              <a:rPr lang="zh-CN" altLang="en-US" sz="1400" dirty="0">
                <a:solidFill>
                  <a:srgbClr val="000000"/>
                </a:solidFill>
                <a:latin typeface="微软雅黑" panose="020B0503020204020204" charset="-122"/>
                <a:ea typeface="微软雅黑" panose="020B0503020204020204" charset="-122"/>
                <a:sym typeface="+mn-ea"/>
              </a:rPr>
              <a:t>新疆移动精益</a:t>
            </a:r>
            <a:r>
              <a:rPr lang="zh-CN" altLang="en-US" sz="1400" dirty="0">
                <a:solidFill>
                  <a:srgbClr val="000000"/>
                </a:solidFill>
                <a:latin typeface="微软雅黑" panose="020B0503020204020204" charset="-122"/>
                <a:ea typeface="微软雅黑" panose="020B0503020204020204" charset="-122"/>
                <a:sym typeface="+mn-ea"/>
              </a:rPr>
              <a:t>运营平台，实现了大数据平台、精准营销平台、</a:t>
            </a:r>
            <a:r>
              <a:rPr lang="en-US" altLang="zh-CN" sz="1400" dirty="0">
                <a:solidFill>
                  <a:srgbClr val="000000"/>
                </a:solidFill>
                <a:latin typeface="微软雅黑" panose="020B0503020204020204" charset="-122"/>
                <a:ea typeface="微软雅黑" panose="020B0503020204020204" charset="-122"/>
                <a:sym typeface="+mn-ea"/>
              </a:rPr>
              <a:t>CRM</a:t>
            </a:r>
            <a:r>
              <a:rPr lang="zh-CN" altLang="en-US" sz="1400" dirty="0">
                <a:solidFill>
                  <a:srgbClr val="000000"/>
                </a:solidFill>
                <a:latin typeface="微软雅黑" panose="020B0503020204020204" charset="-122"/>
                <a:ea typeface="微软雅黑" panose="020B0503020204020204" charset="-122"/>
                <a:sym typeface="+mn-ea"/>
              </a:rPr>
              <a:t>系统、</a:t>
            </a:r>
            <a:r>
              <a:rPr lang="en-US" altLang="zh-CN" sz="1400" dirty="0">
                <a:solidFill>
                  <a:srgbClr val="000000"/>
                </a:solidFill>
                <a:latin typeface="微软雅黑" panose="020B0503020204020204" charset="-122"/>
                <a:ea typeface="微软雅黑" panose="020B0503020204020204" charset="-122"/>
                <a:sym typeface="+mn-ea"/>
              </a:rPr>
              <a:t>IOP</a:t>
            </a:r>
            <a:r>
              <a:rPr lang="zh-CN" altLang="en-US" sz="1400" dirty="0">
                <a:solidFill>
                  <a:srgbClr val="000000"/>
                </a:solidFill>
                <a:latin typeface="微软雅黑" panose="020B0503020204020204" charset="-122"/>
                <a:ea typeface="微软雅黑" panose="020B0503020204020204" charset="-122"/>
                <a:sym typeface="+mn-ea"/>
              </a:rPr>
              <a:t>平台、网格通、在线、装维</a:t>
            </a:r>
            <a:r>
              <a:rPr lang="en-US" altLang="zh-CN" sz="1400" dirty="0">
                <a:solidFill>
                  <a:srgbClr val="000000"/>
                </a:solidFill>
                <a:latin typeface="微软雅黑" panose="020B0503020204020204" charset="-122"/>
                <a:ea typeface="微软雅黑" panose="020B0503020204020204" charset="-122"/>
                <a:sym typeface="+mn-ea"/>
              </a:rPr>
              <a:t>APP</a:t>
            </a:r>
            <a:r>
              <a:rPr lang="zh-CN" altLang="en-US" sz="1400" dirty="0" smtClean="0">
                <a:solidFill>
                  <a:srgbClr val="000000"/>
                </a:solidFill>
                <a:latin typeface="微软雅黑" panose="020B0503020204020204" charset="-122"/>
                <a:ea typeface="微软雅黑" panose="020B0503020204020204" charset="-122"/>
                <a:sym typeface="+mn-ea"/>
              </a:rPr>
              <a:t>等</a:t>
            </a:r>
            <a:r>
              <a:rPr lang="en-US" altLang="zh-CN" sz="1400" dirty="0" smtClean="0">
                <a:solidFill>
                  <a:srgbClr val="000000"/>
                </a:solidFill>
                <a:latin typeface="微软雅黑" panose="020B0503020204020204" charset="-122"/>
                <a:ea typeface="微软雅黑" panose="020B0503020204020204" charset="-122"/>
                <a:sym typeface="+mn-ea"/>
              </a:rPr>
              <a:t>10</a:t>
            </a:r>
            <a:r>
              <a:rPr lang="zh-CN" altLang="en-US" sz="1400" dirty="0" smtClean="0">
                <a:solidFill>
                  <a:srgbClr val="000000"/>
                </a:solidFill>
                <a:latin typeface="微软雅黑" panose="020B0503020204020204" charset="-122"/>
                <a:ea typeface="微软雅黑" panose="020B0503020204020204" charset="-122"/>
                <a:sym typeface="+mn-ea"/>
              </a:rPr>
              <a:t>大系统</a:t>
            </a:r>
            <a:r>
              <a:rPr lang="zh-CN" altLang="en-US" sz="1400" dirty="0">
                <a:solidFill>
                  <a:srgbClr val="000000"/>
                </a:solidFill>
                <a:latin typeface="微软雅黑" panose="020B0503020204020204" charset="-122"/>
                <a:ea typeface="微软雅黑" panose="020B0503020204020204" charset="-122"/>
                <a:sym typeface="+mn-ea"/>
              </a:rPr>
              <a:t>对接，</a:t>
            </a:r>
            <a:r>
              <a:rPr lang="zh-CN" altLang="en-US" sz="1400" dirty="0">
                <a:solidFill>
                  <a:schemeClr val="tx1"/>
                </a:solidFill>
                <a:latin typeface="微软雅黑" panose="020B0503020204020204" charset="-122"/>
                <a:ea typeface="微软雅黑" panose="020B0503020204020204" charset="-122"/>
                <a:sym typeface="+mn-ea"/>
              </a:rPr>
              <a:t>支撑市场经营从预警、任务、活动、监控、督办、效果评估的全流程闭环管控，</a:t>
            </a:r>
            <a:r>
              <a:rPr lang="zh-CN" altLang="en-US" sz="1400" b="1" dirty="0">
                <a:solidFill>
                  <a:srgbClr val="C00000"/>
                </a:solidFill>
                <a:latin typeface="微软雅黑" panose="020B0503020204020204" charset="-122"/>
                <a:ea typeface="微软雅黑" panose="020B0503020204020204" charset="-122"/>
                <a:sym typeface="+mn-ea"/>
              </a:rPr>
              <a:t>拉通市场经营活动中的工作流、业务流、数据流</a:t>
            </a:r>
            <a:r>
              <a:rPr lang="zh-CN" altLang="en-US" sz="1400" dirty="0">
                <a:solidFill>
                  <a:srgbClr val="000000"/>
                </a:solidFill>
                <a:latin typeface="微软雅黑" panose="020B0503020204020204" charset="-122"/>
                <a:ea typeface="微软雅黑" panose="020B0503020204020204" charset="-122"/>
                <a:sym typeface="+mn-ea"/>
              </a:rPr>
              <a:t>，全面提升市场经营数智化营销管控</a:t>
            </a:r>
            <a:r>
              <a:rPr lang="zh-CN" altLang="en-US" sz="1400" dirty="0" smtClean="0">
                <a:solidFill>
                  <a:srgbClr val="000000"/>
                </a:solidFill>
                <a:latin typeface="微软雅黑" panose="020B0503020204020204" charset="-122"/>
                <a:ea typeface="微软雅黑" panose="020B0503020204020204" charset="-122"/>
                <a:sym typeface="+mn-ea"/>
              </a:rPr>
              <a:t>水平。</a:t>
            </a:r>
            <a:endParaRPr lang="en-US" altLang="zh-CN" sz="1400" dirty="0" smtClean="0">
              <a:solidFill>
                <a:srgbClr val="000000"/>
              </a:solidFill>
              <a:latin typeface="微软雅黑" panose="020B0503020204020204" charset="-122"/>
              <a:ea typeface="微软雅黑" panose="020B0503020204020204" charset="-122"/>
              <a:sym typeface="+mn-ea"/>
            </a:endParaRPr>
          </a:p>
        </p:txBody>
      </p:sp>
      <p:sp>
        <p:nvSpPr>
          <p:cNvPr id="43" name="矩形 42"/>
          <p:cNvSpPr/>
          <p:nvPr/>
        </p:nvSpPr>
        <p:spPr>
          <a:xfrm>
            <a:off x="6370955" y="4077335"/>
            <a:ext cx="5442585" cy="2533015"/>
          </a:xfrm>
          <a:prstGeom prst="rect">
            <a:avLst/>
          </a:prstGeom>
          <a:noFill/>
          <a:ln w="19050">
            <a:solidFill>
              <a:schemeClr val="bg1">
                <a:lumMod val="8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eaLnBrk="1" hangingPunct="1"/>
            <a:endParaRPr lang="zh-CN" altLang="en-US" sz="1200" b="1" dirty="0">
              <a:solidFill>
                <a:schemeClr val="tx1"/>
              </a:solidFill>
              <a:latin typeface="微软雅黑" panose="020B0503020204020204" charset="-122"/>
              <a:ea typeface="微软雅黑" panose="020B0503020204020204" charset="-122"/>
            </a:endParaRPr>
          </a:p>
        </p:txBody>
      </p:sp>
      <p:sp>
        <p:nvSpPr>
          <p:cNvPr id="45" name="矩形 44"/>
          <p:cNvSpPr/>
          <p:nvPr/>
        </p:nvSpPr>
        <p:spPr>
          <a:xfrm>
            <a:off x="6809740" y="4232910"/>
            <a:ext cx="988060" cy="144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solidFill>
                  <a:schemeClr val="tx1"/>
                </a:solidFill>
                <a:latin typeface="微软雅黑" panose="020B0503020204020204" charset="-122"/>
                <a:ea typeface="微软雅黑" panose="020B0503020204020204" charset="-122"/>
              </a:rPr>
              <a:t>实时携</a:t>
            </a:r>
            <a:r>
              <a:rPr lang="zh-CN" altLang="en-US" sz="1050" dirty="0" smtClean="0">
                <a:solidFill>
                  <a:schemeClr val="tx1"/>
                </a:solidFill>
                <a:latin typeface="微软雅黑" panose="020B0503020204020204" charset="-122"/>
                <a:ea typeface="微软雅黑" panose="020B0503020204020204" charset="-122"/>
              </a:rPr>
              <a:t>转预警</a:t>
            </a:r>
            <a:endParaRPr lang="zh-CN" altLang="en-US" sz="1050" dirty="0">
              <a:solidFill>
                <a:schemeClr val="tx1"/>
              </a:solidFill>
              <a:latin typeface="微软雅黑" panose="020B0503020204020204" charset="-122"/>
              <a:ea typeface="微软雅黑" panose="020B0503020204020204" charset="-122"/>
            </a:endParaRPr>
          </a:p>
        </p:txBody>
      </p:sp>
      <p:sp>
        <p:nvSpPr>
          <p:cNvPr id="70" name="等腰三角形 69"/>
          <p:cNvSpPr/>
          <p:nvPr/>
        </p:nvSpPr>
        <p:spPr>
          <a:xfrm>
            <a:off x="2977515" y="3688080"/>
            <a:ext cx="5960110" cy="272415"/>
          </a:xfrm>
          <a:prstGeom prst="triangle">
            <a:avLst/>
          </a:prstGeom>
          <a:ln>
            <a:no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CN" altLang="en-US" sz="1400" b="1" dirty="0"/>
          </a:p>
        </p:txBody>
      </p:sp>
      <p:grpSp>
        <p:nvGrpSpPr>
          <p:cNvPr id="111" name="组合 110"/>
          <p:cNvGrpSpPr/>
          <p:nvPr/>
        </p:nvGrpSpPr>
        <p:grpSpPr>
          <a:xfrm rot="0">
            <a:off x="205105" y="2971800"/>
            <a:ext cx="11613515" cy="719455"/>
            <a:chOff x="467731" y="2309634"/>
            <a:chExt cx="11112391" cy="800167"/>
          </a:xfrm>
        </p:grpSpPr>
        <p:sp>
          <p:nvSpPr>
            <p:cNvPr id="113" name="任意多边形 112"/>
            <p:cNvSpPr/>
            <p:nvPr/>
          </p:nvSpPr>
          <p:spPr>
            <a:xfrm>
              <a:off x="467731" y="2309634"/>
              <a:ext cx="2514115" cy="800167"/>
            </a:xfrm>
            <a:custGeom>
              <a:avLst/>
              <a:gdLst>
                <a:gd name="connsiteX0" fmla="*/ 0 w 2514115"/>
                <a:gd name="connsiteY0" fmla="*/ 0 h 800167"/>
                <a:gd name="connsiteX1" fmla="*/ 2514115 w 2514115"/>
                <a:gd name="connsiteY1" fmla="*/ 0 h 800167"/>
                <a:gd name="connsiteX2" fmla="*/ 2514115 w 2514115"/>
                <a:gd name="connsiteY2" fmla="*/ 800167 h 800167"/>
                <a:gd name="connsiteX3" fmla="*/ 0 w 2514115"/>
                <a:gd name="connsiteY3" fmla="*/ 800167 h 800167"/>
                <a:gd name="connsiteX4" fmla="*/ 0 w 2514115"/>
                <a:gd name="connsiteY4" fmla="*/ 0 h 8001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14115" h="800167">
                  <a:moveTo>
                    <a:pt x="0" y="0"/>
                  </a:moveTo>
                  <a:lnTo>
                    <a:pt x="2514115" y="0"/>
                  </a:lnTo>
                  <a:lnTo>
                    <a:pt x="2514115" y="800167"/>
                  </a:lnTo>
                  <a:lnTo>
                    <a:pt x="0" y="800167"/>
                  </a:lnTo>
                  <a:lnTo>
                    <a:pt x="0" y="0"/>
                  </a:lnTo>
                  <a:close/>
                </a:path>
              </a:pathLst>
            </a:custGeom>
            <a:ln w="9525">
              <a:prstDash val="dash"/>
            </a:ln>
          </p:spPr>
          <p:style>
            <a:lnRef idx="2">
              <a:schemeClr val="accent1"/>
            </a:lnRef>
            <a:fillRef idx="1">
              <a:schemeClr val="lt1"/>
            </a:fillRef>
            <a:effectRef idx="0">
              <a:schemeClr val="accent1"/>
            </a:effectRef>
            <a:fontRef idx="minor">
              <a:schemeClr val="dk1"/>
            </a:fontRef>
          </p:style>
          <p:txBody>
            <a:bodyPr spcFirstLastPara="0" vert="horz" wrap="square" lIns="58674" tIns="58674" rIns="78232" bIns="88011" numCol="1" spcCol="1270" anchor="t" anchorCtr="0">
              <a:noAutofit/>
            </a:bodyPr>
            <a:lstStyle/>
            <a:p>
              <a:pPr marL="57150" lvl="1" indent="-57150" algn="l" defTabSz="488950" rtl="0">
                <a:lnSpc>
                  <a:spcPct val="90000"/>
                </a:lnSpc>
                <a:spcBef>
                  <a:spcPct val="0"/>
                </a:spcBef>
                <a:spcAft>
                  <a:spcPct val="15000"/>
                </a:spcAft>
                <a:buChar char="•"/>
              </a:pPr>
              <a:r>
                <a:rPr lang="zh-CN" sz="1000" kern="1200" dirty="0"/>
                <a:t>填补流程监控空白，</a:t>
              </a:r>
              <a:r>
                <a:rPr lang="zh-CN" altLang="en-US" sz="1000" kern="1200" dirty="0"/>
                <a:t>将线下工作搬到线上，</a:t>
              </a:r>
              <a:r>
                <a:rPr lang="zh-CN" sz="1000" kern="1200" dirty="0"/>
                <a:t>提升营销活动管控的自动化、智能化水平</a:t>
              </a:r>
              <a:endParaRPr lang="zh-CN" sz="1000" kern="1200" dirty="0"/>
            </a:p>
          </p:txBody>
        </p:sp>
        <p:sp>
          <p:nvSpPr>
            <p:cNvPr id="115" name="任意多边形 114"/>
            <p:cNvSpPr/>
            <p:nvPr/>
          </p:nvSpPr>
          <p:spPr>
            <a:xfrm>
              <a:off x="3333823" y="2309634"/>
              <a:ext cx="2514115" cy="800167"/>
            </a:xfrm>
            <a:custGeom>
              <a:avLst/>
              <a:gdLst>
                <a:gd name="connsiteX0" fmla="*/ 0 w 2514115"/>
                <a:gd name="connsiteY0" fmla="*/ 0 h 800167"/>
                <a:gd name="connsiteX1" fmla="*/ 2514115 w 2514115"/>
                <a:gd name="connsiteY1" fmla="*/ 0 h 800167"/>
                <a:gd name="connsiteX2" fmla="*/ 2514115 w 2514115"/>
                <a:gd name="connsiteY2" fmla="*/ 800167 h 800167"/>
                <a:gd name="connsiteX3" fmla="*/ 0 w 2514115"/>
                <a:gd name="connsiteY3" fmla="*/ 800167 h 800167"/>
                <a:gd name="connsiteX4" fmla="*/ 0 w 2514115"/>
                <a:gd name="connsiteY4" fmla="*/ 0 h 8001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14115" h="800167">
                  <a:moveTo>
                    <a:pt x="0" y="0"/>
                  </a:moveTo>
                  <a:lnTo>
                    <a:pt x="2514115" y="0"/>
                  </a:lnTo>
                  <a:lnTo>
                    <a:pt x="2514115" y="800167"/>
                  </a:lnTo>
                  <a:lnTo>
                    <a:pt x="0" y="800167"/>
                  </a:lnTo>
                  <a:lnTo>
                    <a:pt x="0" y="0"/>
                  </a:lnTo>
                  <a:close/>
                </a:path>
              </a:pathLst>
            </a:custGeom>
            <a:ln w="9525">
              <a:prstDash val="dash"/>
            </a:ln>
          </p:spPr>
          <p:style>
            <a:lnRef idx="2">
              <a:schemeClr val="accent1"/>
            </a:lnRef>
            <a:fillRef idx="1">
              <a:schemeClr val="lt1"/>
            </a:fillRef>
            <a:effectRef idx="0">
              <a:schemeClr val="accent1"/>
            </a:effectRef>
            <a:fontRef idx="minor">
              <a:schemeClr val="dk1"/>
            </a:fontRef>
          </p:style>
          <p:txBody>
            <a:bodyPr spcFirstLastPara="0" vert="horz" wrap="square" lIns="58674" tIns="58674" rIns="78232" bIns="88011" numCol="1" spcCol="1270" anchor="t" anchorCtr="0">
              <a:noAutofit/>
            </a:bodyPr>
            <a:lstStyle/>
            <a:p>
              <a:pPr marL="57150" lvl="1" indent="-57150" defTabSz="488950">
                <a:lnSpc>
                  <a:spcPct val="90000"/>
                </a:lnSpc>
                <a:spcBef>
                  <a:spcPct val="0"/>
                </a:spcBef>
                <a:spcAft>
                  <a:spcPct val="15000"/>
                </a:spcAft>
                <a:buChar char="•"/>
              </a:pPr>
              <a:r>
                <a:rPr lang="zh-CN" sz="1000" dirty="0"/>
                <a:t>解决营销活动流程分散、执行不规范等问题，实现营销活动全流程</a:t>
              </a:r>
              <a:r>
                <a:rPr lang="zh-CN" sz="1000" dirty="0" smtClean="0"/>
                <a:t>闭环</a:t>
              </a:r>
              <a:r>
                <a:rPr lang="zh-CN" altLang="en-US" sz="1000" dirty="0"/>
                <a:t>管控</a:t>
              </a:r>
              <a:endParaRPr lang="zh-CN" sz="1000" dirty="0"/>
            </a:p>
          </p:txBody>
        </p:sp>
        <p:sp>
          <p:nvSpPr>
            <p:cNvPr id="117" name="任意多边形 116"/>
            <p:cNvSpPr/>
            <p:nvPr/>
          </p:nvSpPr>
          <p:spPr>
            <a:xfrm>
              <a:off x="6199915" y="2309634"/>
              <a:ext cx="2514115" cy="800167"/>
            </a:xfrm>
            <a:custGeom>
              <a:avLst/>
              <a:gdLst>
                <a:gd name="connsiteX0" fmla="*/ 0 w 2514115"/>
                <a:gd name="connsiteY0" fmla="*/ 0 h 800167"/>
                <a:gd name="connsiteX1" fmla="*/ 2514115 w 2514115"/>
                <a:gd name="connsiteY1" fmla="*/ 0 h 800167"/>
                <a:gd name="connsiteX2" fmla="*/ 2514115 w 2514115"/>
                <a:gd name="connsiteY2" fmla="*/ 800167 h 800167"/>
                <a:gd name="connsiteX3" fmla="*/ 0 w 2514115"/>
                <a:gd name="connsiteY3" fmla="*/ 800167 h 800167"/>
                <a:gd name="connsiteX4" fmla="*/ 0 w 2514115"/>
                <a:gd name="connsiteY4" fmla="*/ 0 h 8001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14115" h="800167">
                  <a:moveTo>
                    <a:pt x="0" y="0"/>
                  </a:moveTo>
                  <a:lnTo>
                    <a:pt x="2514115" y="0"/>
                  </a:lnTo>
                  <a:lnTo>
                    <a:pt x="2514115" y="800167"/>
                  </a:lnTo>
                  <a:lnTo>
                    <a:pt x="0" y="800167"/>
                  </a:lnTo>
                  <a:lnTo>
                    <a:pt x="0" y="0"/>
                  </a:lnTo>
                  <a:close/>
                </a:path>
              </a:pathLst>
            </a:custGeom>
            <a:ln w="9525">
              <a:prstDash val="dash"/>
            </a:ln>
          </p:spPr>
          <p:style>
            <a:lnRef idx="2">
              <a:schemeClr val="accent1"/>
            </a:lnRef>
            <a:fillRef idx="1">
              <a:schemeClr val="lt1"/>
            </a:fillRef>
            <a:effectRef idx="0">
              <a:schemeClr val="accent1"/>
            </a:effectRef>
            <a:fontRef idx="minor">
              <a:schemeClr val="dk1"/>
            </a:fontRef>
          </p:style>
          <p:txBody>
            <a:bodyPr spcFirstLastPara="0" vert="horz" wrap="square" lIns="58674" tIns="58674" rIns="78232" bIns="88011" numCol="1" spcCol="1270" anchor="t" anchorCtr="0">
              <a:noAutofit/>
            </a:bodyPr>
            <a:lstStyle/>
            <a:p>
              <a:pPr marL="57150" lvl="1" indent="-57150" defTabSz="488950">
                <a:lnSpc>
                  <a:spcPct val="90000"/>
                </a:lnSpc>
                <a:spcBef>
                  <a:spcPct val="0"/>
                </a:spcBef>
                <a:spcAft>
                  <a:spcPct val="15000"/>
                </a:spcAft>
                <a:buChar char="•"/>
              </a:pPr>
              <a:r>
                <a:rPr lang="zh-CN" sz="1000"/>
                <a:t>解决营销过程及效果数据不拉通、不直观等问题，提升营销分析的多维化、可视化水平，提高整体统筹能力</a:t>
              </a:r>
              <a:endParaRPr lang="zh-CN" sz="1000"/>
            </a:p>
          </p:txBody>
        </p:sp>
        <p:sp>
          <p:nvSpPr>
            <p:cNvPr id="119" name="任意多边形 118"/>
            <p:cNvSpPr/>
            <p:nvPr/>
          </p:nvSpPr>
          <p:spPr>
            <a:xfrm>
              <a:off x="9066007" y="2309634"/>
              <a:ext cx="2514115" cy="800167"/>
            </a:xfrm>
            <a:custGeom>
              <a:avLst/>
              <a:gdLst>
                <a:gd name="connsiteX0" fmla="*/ 0 w 2514115"/>
                <a:gd name="connsiteY0" fmla="*/ 0 h 800167"/>
                <a:gd name="connsiteX1" fmla="*/ 2514115 w 2514115"/>
                <a:gd name="connsiteY1" fmla="*/ 0 h 800167"/>
                <a:gd name="connsiteX2" fmla="*/ 2514115 w 2514115"/>
                <a:gd name="connsiteY2" fmla="*/ 800167 h 800167"/>
                <a:gd name="connsiteX3" fmla="*/ 0 w 2514115"/>
                <a:gd name="connsiteY3" fmla="*/ 800167 h 800167"/>
                <a:gd name="connsiteX4" fmla="*/ 0 w 2514115"/>
                <a:gd name="connsiteY4" fmla="*/ 0 h 8001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14115" h="800167">
                  <a:moveTo>
                    <a:pt x="0" y="0"/>
                  </a:moveTo>
                  <a:lnTo>
                    <a:pt x="2514115" y="0"/>
                  </a:lnTo>
                  <a:lnTo>
                    <a:pt x="2514115" y="800167"/>
                  </a:lnTo>
                  <a:lnTo>
                    <a:pt x="0" y="800167"/>
                  </a:lnTo>
                  <a:lnTo>
                    <a:pt x="0" y="0"/>
                  </a:lnTo>
                  <a:close/>
                </a:path>
              </a:pathLst>
            </a:custGeom>
            <a:ln w="9525">
              <a:prstDash val="dash"/>
            </a:ln>
          </p:spPr>
          <p:style>
            <a:lnRef idx="2">
              <a:schemeClr val="accent1"/>
            </a:lnRef>
            <a:fillRef idx="1">
              <a:schemeClr val="lt1"/>
            </a:fillRef>
            <a:effectRef idx="0">
              <a:schemeClr val="accent1"/>
            </a:effectRef>
            <a:fontRef idx="minor">
              <a:schemeClr val="dk1"/>
            </a:fontRef>
          </p:style>
          <p:txBody>
            <a:bodyPr spcFirstLastPara="0" vert="horz" wrap="square" lIns="58674" tIns="58674" rIns="78232" bIns="88011" numCol="1" spcCol="1270" anchor="t" anchorCtr="0">
              <a:noAutofit/>
            </a:bodyPr>
            <a:lstStyle/>
            <a:p>
              <a:pPr marL="57150" lvl="1" indent="-57150" defTabSz="488950">
                <a:lnSpc>
                  <a:spcPct val="90000"/>
                </a:lnSpc>
                <a:spcBef>
                  <a:spcPct val="0"/>
                </a:spcBef>
                <a:spcAft>
                  <a:spcPct val="15000"/>
                </a:spcAft>
                <a:buChar char="•"/>
              </a:pPr>
              <a:r>
                <a:rPr lang="zh-CN" altLang="en-US" sz="1000" dirty="0" smtClean="0"/>
                <a:t>全量及中高端客户看管体系</a:t>
              </a:r>
              <a:endParaRPr lang="en-US" altLang="zh-CN" sz="1000" dirty="0" smtClean="0"/>
            </a:p>
            <a:p>
              <a:pPr marL="57150" lvl="1" indent="-57150" defTabSz="488950">
                <a:lnSpc>
                  <a:spcPct val="90000"/>
                </a:lnSpc>
                <a:spcBef>
                  <a:spcPct val="0"/>
                </a:spcBef>
                <a:spcAft>
                  <a:spcPct val="15000"/>
                </a:spcAft>
                <a:buChar char="•"/>
              </a:pPr>
              <a:r>
                <a:rPr lang="zh-CN" altLang="en-US" sz="1000" dirty="0" smtClean="0"/>
                <a:t>联动</a:t>
              </a:r>
              <a:r>
                <a:rPr lang="en-US" altLang="zh-CN" sz="1000" dirty="0" smtClean="0"/>
                <a:t>10086</a:t>
              </a:r>
              <a:r>
                <a:rPr lang="zh-CN" altLang="en-US" sz="1000" dirty="0"/>
                <a:t>中</a:t>
              </a:r>
              <a:r>
                <a:rPr lang="zh-CN" altLang="en-US" sz="1000" dirty="0" smtClean="0"/>
                <a:t>台和网格，实现携转挽留波次营销</a:t>
              </a:r>
              <a:endParaRPr lang="en-US" altLang="zh-CN" sz="1000" dirty="0" smtClean="0"/>
            </a:p>
            <a:p>
              <a:pPr marL="57150" lvl="1" indent="-57150" defTabSz="488950">
                <a:lnSpc>
                  <a:spcPct val="90000"/>
                </a:lnSpc>
                <a:spcBef>
                  <a:spcPct val="0"/>
                </a:spcBef>
                <a:spcAft>
                  <a:spcPct val="15000"/>
                </a:spcAft>
                <a:buChar char="•"/>
              </a:pPr>
              <a:r>
                <a:rPr lang="zh-CN" altLang="en-US" sz="1000" dirty="0" smtClean="0"/>
                <a:t>合约到期续约实现省市协同</a:t>
              </a:r>
              <a:endParaRPr lang="en-US" altLang="zh-CN" sz="1000" dirty="0" smtClean="0"/>
            </a:p>
            <a:p>
              <a:pPr marL="57150" lvl="1" indent="-57150" defTabSz="488950">
                <a:lnSpc>
                  <a:spcPct val="90000"/>
                </a:lnSpc>
                <a:spcBef>
                  <a:spcPct val="0"/>
                </a:spcBef>
                <a:spcAft>
                  <a:spcPct val="15000"/>
                </a:spcAft>
                <a:buChar char="•"/>
              </a:pPr>
              <a:endParaRPr lang="zh-CN" sz="1000" dirty="0"/>
            </a:p>
          </p:txBody>
        </p:sp>
      </p:grpSp>
      <p:grpSp>
        <p:nvGrpSpPr>
          <p:cNvPr id="156" name="组合 155"/>
          <p:cNvGrpSpPr/>
          <p:nvPr/>
        </p:nvGrpSpPr>
        <p:grpSpPr>
          <a:xfrm>
            <a:off x="6649720" y="4899025"/>
            <a:ext cx="4823460" cy="1656080"/>
            <a:chOff x="10613" y="7685"/>
            <a:chExt cx="7170" cy="2608"/>
          </a:xfrm>
        </p:grpSpPr>
        <p:sp>
          <p:nvSpPr>
            <p:cNvPr id="48" name="箭头: 五边形 49"/>
            <p:cNvSpPr/>
            <p:nvPr/>
          </p:nvSpPr>
          <p:spPr>
            <a:xfrm rot="16200000">
              <a:off x="14034" y="5764"/>
              <a:ext cx="434" cy="4275"/>
            </a:xfrm>
            <a:prstGeom prst="homePlate">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endParaRPr lang="zh-CN" altLang="en-US" sz="1200" b="1" dirty="0">
                <a:solidFill>
                  <a:schemeClr val="tx1"/>
                </a:solidFill>
                <a:latin typeface="微软雅黑" panose="020B0503020204020204" charset="-122"/>
                <a:ea typeface="微软雅黑" panose="020B0503020204020204" charset="-122"/>
              </a:endParaRPr>
            </a:p>
          </p:txBody>
        </p:sp>
        <p:sp>
          <p:nvSpPr>
            <p:cNvPr id="49" name="文本框 48"/>
            <p:cNvSpPr txBox="1"/>
            <p:nvPr/>
          </p:nvSpPr>
          <p:spPr>
            <a:xfrm>
              <a:off x="12957" y="7806"/>
              <a:ext cx="2818" cy="371"/>
            </a:xfrm>
            <a:prstGeom prst="rect">
              <a:avLst/>
            </a:prstGeom>
            <a:noFill/>
          </p:spPr>
          <p:txBody>
            <a:bodyPr wrap="square" rtlCol="0">
              <a:noAutofit/>
            </a:bodyPr>
            <a:lstStyle/>
            <a:p>
              <a:pPr algn="ctr"/>
              <a:r>
                <a:rPr lang="zh-CN" altLang="en-US" sz="1050" b="1" dirty="0" smtClean="0">
                  <a:solidFill>
                    <a:schemeClr val="bg1"/>
                  </a:solidFill>
                  <a:latin typeface="微软雅黑" panose="020B0503020204020204" charset="-122"/>
                  <a:ea typeface="微软雅黑" panose="020B0503020204020204" charset="-122"/>
                </a:rPr>
                <a:t>运营场景</a:t>
              </a:r>
              <a:r>
                <a:rPr lang="zh-CN" altLang="en-US" sz="1050" b="1" dirty="0">
                  <a:solidFill>
                    <a:schemeClr val="bg1"/>
                  </a:solidFill>
                  <a:latin typeface="微软雅黑" panose="020B0503020204020204" charset="-122"/>
                  <a:ea typeface="微软雅黑" panose="020B0503020204020204" charset="-122"/>
                </a:rPr>
                <a:t>支撑</a:t>
              </a:r>
              <a:endParaRPr lang="zh-CN" altLang="en-US" sz="1050" b="1" dirty="0">
                <a:solidFill>
                  <a:schemeClr val="bg1"/>
                </a:solidFill>
                <a:latin typeface="微软雅黑" panose="020B0503020204020204" charset="-122"/>
                <a:ea typeface="微软雅黑" panose="020B0503020204020204" charset="-122"/>
              </a:endParaRPr>
            </a:p>
          </p:txBody>
        </p:sp>
        <p:sp>
          <p:nvSpPr>
            <p:cNvPr id="50" name="任意多边形: 形状 51"/>
            <p:cNvSpPr/>
            <p:nvPr/>
          </p:nvSpPr>
          <p:spPr>
            <a:xfrm>
              <a:off x="10613" y="8427"/>
              <a:ext cx="1696" cy="1866"/>
            </a:xfrm>
            <a:custGeom>
              <a:avLst/>
              <a:gdLst>
                <a:gd name="connsiteX0" fmla="*/ 0 w 1025882"/>
                <a:gd name="connsiteY0" fmla="*/ 102588 h 1694896"/>
                <a:gd name="connsiteX1" fmla="*/ 102588 w 1025882"/>
                <a:gd name="connsiteY1" fmla="*/ 0 h 1694896"/>
                <a:gd name="connsiteX2" fmla="*/ 923294 w 1025882"/>
                <a:gd name="connsiteY2" fmla="*/ 0 h 1694896"/>
                <a:gd name="connsiteX3" fmla="*/ 1025882 w 1025882"/>
                <a:gd name="connsiteY3" fmla="*/ 102588 h 1694896"/>
                <a:gd name="connsiteX4" fmla="*/ 1025882 w 1025882"/>
                <a:gd name="connsiteY4" fmla="*/ 1592308 h 1694896"/>
                <a:gd name="connsiteX5" fmla="*/ 923294 w 1025882"/>
                <a:gd name="connsiteY5" fmla="*/ 1694896 h 1694896"/>
                <a:gd name="connsiteX6" fmla="*/ 102588 w 1025882"/>
                <a:gd name="connsiteY6" fmla="*/ 1694896 h 1694896"/>
                <a:gd name="connsiteX7" fmla="*/ 0 w 1025882"/>
                <a:gd name="connsiteY7" fmla="*/ 1592308 h 1694896"/>
                <a:gd name="connsiteX8" fmla="*/ 0 w 1025882"/>
                <a:gd name="connsiteY8" fmla="*/ 102588 h 1694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25882" h="1694896">
                  <a:moveTo>
                    <a:pt x="0" y="102588"/>
                  </a:moveTo>
                  <a:cubicBezTo>
                    <a:pt x="0" y="45930"/>
                    <a:pt x="45930" y="0"/>
                    <a:pt x="102588" y="0"/>
                  </a:cubicBezTo>
                  <a:lnTo>
                    <a:pt x="923294" y="0"/>
                  </a:lnTo>
                  <a:cubicBezTo>
                    <a:pt x="979952" y="0"/>
                    <a:pt x="1025882" y="45930"/>
                    <a:pt x="1025882" y="102588"/>
                  </a:cubicBezTo>
                  <a:lnTo>
                    <a:pt x="1025882" y="1592308"/>
                  </a:lnTo>
                  <a:cubicBezTo>
                    <a:pt x="1025882" y="1648966"/>
                    <a:pt x="979952" y="1694896"/>
                    <a:pt x="923294" y="1694896"/>
                  </a:cubicBezTo>
                  <a:lnTo>
                    <a:pt x="102588" y="1694896"/>
                  </a:lnTo>
                  <a:cubicBezTo>
                    <a:pt x="45930" y="1694896"/>
                    <a:pt x="0" y="1648966"/>
                    <a:pt x="0" y="1592308"/>
                  </a:cubicBezTo>
                  <a:lnTo>
                    <a:pt x="0" y="102588"/>
                  </a:lnTo>
                  <a:close/>
                </a:path>
              </a:pathLst>
            </a:custGeom>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spcFirstLastPara="0" vert="horz" wrap="square" lIns="49530" tIns="49530" rIns="49530" bIns="1235958" numCol="1" spcCol="1270" anchor="ctr" anchorCtr="0">
              <a:noAutofit/>
            </a:bodyPr>
            <a:lstStyle/>
            <a:p>
              <a:pPr marL="0" lvl="0" indent="0" algn="ctr" defTabSz="577850">
                <a:spcBef>
                  <a:spcPct val="0"/>
                </a:spcBef>
                <a:spcAft>
                  <a:spcPct val="35000"/>
                </a:spcAft>
                <a:buNone/>
              </a:pPr>
              <a:endParaRPr lang="zh-CN" sz="1050" b="1" kern="1200" dirty="0">
                <a:solidFill>
                  <a:srgbClr val="C00000"/>
                </a:solidFill>
                <a:latin typeface="微软雅黑" panose="020B0503020204020204" charset="-122"/>
                <a:ea typeface="微软雅黑" panose="020B0503020204020204" charset="-122"/>
              </a:endParaRPr>
            </a:p>
          </p:txBody>
        </p:sp>
        <p:sp>
          <p:nvSpPr>
            <p:cNvPr id="51" name="任意多边形: 形状 52"/>
            <p:cNvSpPr/>
            <p:nvPr/>
          </p:nvSpPr>
          <p:spPr>
            <a:xfrm>
              <a:off x="12439" y="8427"/>
              <a:ext cx="1696" cy="1866"/>
            </a:xfrm>
            <a:custGeom>
              <a:avLst/>
              <a:gdLst>
                <a:gd name="connsiteX0" fmla="*/ 0 w 1025882"/>
                <a:gd name="connsiteY0" fmla="*/ 102588 h 1694896"/>
                <a:gd name="connsiteX1" fmla="*/ 102588 w 1025882"/>
                <a:gd name="connsiteY1" fmla="*/ 0 h 1694896"/>
                <a:gd name="connsiteX2" fmla="*/ 923294 w 1025882"/>
                <a:gd name="connsiteY2" fmla="*/ 0 h 1694896"/>
                <a:gd name="connsiteX3" fmla="*/ 1025882 w 1025882"/>
                <a:gd name="connsiteY3" fmla="*/ 102588 h 1694896"/>
                <a:gd name="connsiteX4" fmla="*/ 1025882 w 1025882"/>
                <a:gd name="connsiteY4" fmla="*/ 1592308 h 1694896"/>
                <a:gd name="connsiteX5" fmla="*/ 923294 w 1025882"/>
                <a:gd name="connsiteY5" fmla="*/ 1694896 h 1694896"/>
                <a:gd name="connsiteX6" fmla="*/ 102588 w 1025882"/>
                <a:gd name="connsiteY6" fmla="*/ 1694896 h 1694896"/>
                <a:gd name="connsiteX7" fmla="*/ 0 w 1025882"/>
                <a:gd name="connsiteY7" fmla="*/ 1592308 h 1694896"/>
                <a:gd name="connsiteX8" fmla="*/ 0 w 1025882"/>
                <a:gd name="connsiteY8" fmla="*/ 102588 h 1694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25882" h="1694896">
                  <a:moveTo>
                    <a:pt x="0" y="102588"/>
                  </a:moveTo>
                  <a:cubicBezTo>
                    <a:pt x="0" y="45930"/>
                    <a:pt x="45930" y="0"/>
                    <a:pt x="102588" y="0"/>
                  </a:cubicBezTo>
                  <a:lnTo>
                    <a:pt x="923294" y="0"/>
                  </a:lnTo>
                  <a:cubicBezTo>
                    <a:pt x="979952" y="0"/>
                    <a:pt x="1025882" y="45930"/>
                    <a:pt x="1025882" y="102588"/>
                  </a:cubicBezTo>
                  <a:lnTo>
                    <a:pt x="1025882" y="1592308"/>
                  </a:lnTo>
                  <a:cubicBezTo>
                    <a:pt x="1025882" y="1648966"/>
                    <a:pt x="979952" y="1694896"/>
                    <a:pt x="923294" y="1694896"/>
                  </a:cubicBezTo>
                  <a:lnTo>
                    <a:pt x="102588" y="1694896"/>
                  </a:lnTo>
                  <a:cubicBezTo>
                    <a:pt x="45930" y="1694896"/>
                    <a:pt x="0" y="1648966"/>
                    <a:pt x="0" y="1592308"/>
                  </a:cubicBezTo>
                  <a:lnTo>
                    <a:pt x="0" y="102588"/>
                  </a:lnTo>
                  <a:close/>
                </a:path>
              </a:pathLst>
            </a:custGeom>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spcFirstLastPara="0" vert="horz" wrap="square" lIns="49530" tIns="49530" rIns="49530" bIns="1235958" numCol="1" spcCol="1270" anchor="ctr" anchorCtr="0">
              <a:noAutofit/>
            </a:bodyPr>
            <a:lstStyle/>
            <a:p>
              <a:pPr marL="0" lvl="0" indent="0" algn="ctr" defTabSz="577850">
                <a:lnSpc>
                  <a:spcPct val="90000"/>
                </a:lnSpc>
                <a:spcBef>
                  <a:spcPct val="0"/>
                </a:spcBef>
                <a:spcAft>
                  <a:spcPct val="35000"/>
                </a:spcAft>
                <a:buNone/>
              </a:pPr>
              <a:endParaRPr lang="zh-CN" sz="1050" b="1" kern="1200" dirty="0">
                <a:solidFill>
                  <a:srgbClr val="C00000"/>
                </a:solidFill>
                <a:latin typeface="微软雅黑" panose="020B0503020204020204" charset="-122"/>
                <a:ea typeface="微软雅黑" panose="020B0503020204020204" charset="-122"/>
              </a:endParaRPr>
            </a:p>
          </p:txBody>
        </p:sp>
        <p:sp>
          <p:nvSpPr>
            <p:cNvPr id="52" name="任意多边形: 形状 53"/>
            <p:cNvSpPr/>
            <p:nvPr/>
          </p:nvSpPr>
          <p:spPr>
            <a:xfrm>
              <a:off x="14263" y="8427"/>
              <a:ext cx="1696" cy="1866"/>
            </a:xfrm>
            <a:custGeom>
              <a:avLst/>
              <a:gdLst>
                <a:gd name="connsiteX0" fmla="*/ 0 w 1025882"/>
                <a:gd name="connsiteY0" fmla="*/ 102588 h 1694896"/>
                <a:gd name="connsiteX1" fmla="*/ 102588 w 1025882"/>
                <a:gd name="connsiteY1" fmla="*/ 0 h 1694896"/>
                <a:gd name="connsiteX2" fmla="*/ 923294 w 1025882"/>
                <a:gd name="connsiteY2" fmla="*/ 0 h 1694896"/>
                <a:gd name="connsiteX3" fmla="*/ 1025882 w 1025882"/>
                <a:gd name="connsiteY3" fmla="*/ 102588 h 1694896"/>
                <a:gd name="connsiteX4" fmla="*/ 1025882 w 1025882"/>
                <a:gd name="connsiteY4" fmla="*/ 1592308 h 1694896"/>
                <a:gd name="connsiteX5" fmla="*/ 923294 w 1025882"/>
                <a:gd name="connsiteY5" fmla="*/ 1694896 h 1694896"/>
                <a:gd name="connsiteX6" fmla="*/ 102588 w 1025882"/>
                <a:gd name="connsiteY6" fmla="*/ 1694896 h 1694896"/>
                <a:gd name="connsiteX7" fmla="*/ 0 w 1025882"/>
                <a:gd name="connsiteY7" fmla="*/ 1592308 h 1694896"/>
                <a:gd name="connsiteX8" fmla="*/ 0 w 1025882"/>
                <a:gd name="connsiteY8" fmla="*/ 102588 h 1694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25882" h="1694896">
                  <a:moveTo>
                    <a:pt x="0" y="102588"/>
                  </a:moveTo>
                  <a:cubicBezTo>
                    <a:pt x="0" y="45930"/>
                    <a:pt x="45930" y="0"/>
                    <a:pt x="102588" y="0"/>
                  </a:cubicBezTo>
                  <a:lnTo>
                    <a:pt x="923294" y="0"/>
                  </a:lnTo>
                  <a:cubicBezTo>
                    <a:pt x="979952" y="0"/>
                    <a:pt x="1025882" y="45930"/>
                    <a:pt x="1025882" y="102588"/>
                  </a:cubicBezTo>
                  <a:lnTo>
                    <a:pt x="1025882" y="1592308"/>
                  </a:lnTo>
                  <a:cubicBezTo>
                    <a:pt x="1025882" y="1648966"/>
                    <a:pt x="979952" y="1694896"/>
                    <a:pt x="923294" y="1694896"/>
                  </a:cubicBezTo>
                  <a:lnTo>
                    <a:pt x="102588" y="1694896"/>
                  </a:lnTo>
                  <a:cubicBezTo>
                    <a:pt x="45930" y="1694896"/>
                    <a:pt x="0" y="1648966"/>
                    <a:pt x="0" y="1592308"/>
                  </a:cubicBezTo>
                  <a:lnTo>
                    <a:pt x="0" y="102588"/>
                  </a:lnTo>
                  <a:close/>
                </a:path>
              </a:pathLst>
            </a:custGeom>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spcFirstLastPara="0" vert="horz" wrap="square" lIns="49530" tIns="49530" rIns="49530" bIns="1235958" numCol="1" spcCol="1270" anchor="ctr" anchorCtr="0">
              <a:noAutofit/>
            </a:bodyPr>
            <a:lstStyle/>
            <a:p>
              <a:pPr marL="0" lvl="0" indent="0" algn="ctr" defTabSz="577850">
                <a:lnSpc>
                  <a:spcPct val="90000"/>
                </a:lnSpc>
                <a:spcBef>
                  <a:spcPct val="0"/>
                </a:spcBef>
                <a:spcAft>
                  <a:spcPct val="35000"/>
                </a:spcAft>
                <a:buNone/>
              </a:pPr>
              <a:endParaRPr lang="zh-CN" sz="1050" b="1" kern="1200" dirty="0">
                <a:solidFill>
                  <a:srgbClr val="C00000"/>
                </a:solidFill>
                <a:latin typeface="微软雅黑" panose="020B0503020204020204" charset="-122"/>
                <a:ea typeface="微软雅黑" panose="020B0503020204020204" charset="-122"/>
              </a:endParaRPr>
            </a:p>
          </p:txBody>
        </p:sp>
        <p:sp>
          <p:nvSpPr>
            <p:cNvPr id="53" name="任意多边形: 形状 54"/>
            <p:cNvSpPr/>
            <p:nvPr/>
          </p:nvSpPr>
          <p:spPr>
            <a:xfrm>
              <a:off x="16087" y="8427"/>
              <a:ext cx="1696" cy="1866"/>
            </a:xfrm>
            <a:custGeom>
              <a:avLst/>
              <a:gdLst>
                <a:gd name="connsiteX0" fmla="*/ 0 w 1025882"/>
                <a:gd name="connsiteY0" fmla="*/ 102588 h 1694896"/>
                <a:gd name="connsiteX1" fmla="*/ 102588 w 1025882"/>
                <a:gd name="connsiteY1" fmla="*/ 0 h 1694896"/>
                <a:gd name="connsiteX2" fmla="*/ 923294 w 1025882"/>
                <a:gd name="connsiteY2" fmla="*/ 0 h 1694896"/>
                <a:gd name="connsiteX3" fmla="*/ 1025882 w 1025882"/>
                <a:gd name="connsiteY3" fmla="*/ 102588 h 1694896"/>
                <a:gd name="connsiteX4" fmla="*/ 1025882 w 1025882"/>
                <a:gd name="connsiteY4" fmla="*/ 1592308 h 1694896"/>
                <a:gd name="connsiteX5" fmla="*/ 923294 w 1025882"/>
                <a:gd name="connsiteY5" fmla="*/ 1694896 h 1694896"/>
                <a:gd name="connsiteX6" fmla="*/ 102588 w 1025882"/>
                <a:gd name="connsiteY6" fmla="*/ 1694896 h 1694896"/>
                <a:gd name="connsiteX7" fmla="*/ 0 w 1025882"/>
                <a:gd name="connsiteY7" fmla="*/ 1592308 h 1694896"/>
                <a:gd name="connsiteX8" fmla="*/ 0 w 1025882"/>
                <a:gd name="connsiteY8" fmla="*/ 102588 h 1694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25882" h="1694896">
                  <a:moveTo>
                    <a:pt x="0" y="102588"/>
                  </a:moveTo>
                  <a:cubicBezTo>
                    <a:pt x="0" y="45930"/>
                    <a:pt x="45930" y="0"/>
                    <a:pt x="102588" y="0"/>
                  </a:cubicBezTo>
                  <a:lnTo>
                    <a:pt x="923294" y="0"/>
                  </a:lnTo>
                  <a:cubicBezTo>
                    <a:pt x="979952" y="0"/>
                    <a:pt x="1025882" y="45930"/>
                    <a:pt x="1025882" y="102588"/>
                  </a:cubicBezTo>
                  <a:lnTo>
                    <a:pt x="1025882" y="1592308"/>
                  </a:lnTo>
                  <a:cubicBezTo>
                    <a:pt x="1025882" y="1648966"/>
                    <a:pt x="979952" y="1694896"/>
                    <a:pt x="923294" y="1694896"/>
                  </a:cubicBezTo>
                  <a:lnTo>
                    <a:pt x="102588" y="1694896"/>
                  </a:lnTo>
                  <a:cubicBezTo>
                    <a:pt x="45930" y="1694896"/>
                    <a:pt x="0" y="1648966"/>
                    <a:pt x="0" y="1592308"/>
                  </a:cubicBezTo>
                  <a:lnTo>
                    <a:pt x="0" y="102588"/>
                  </a:lnTo>
                  <a:close/>
                </a:path>
              </a:pathLst>
            </a:custGeom>
          </p:spPr>
          <p:style>
            <a:lnRef idx="0">
              <a:schemeClr val="accent1">
                <a:hueOff val="0"/>
                <a:satOff val="0"/>
                <a:lumOff val="0"/>
                <a:alphaOff val="0"/>
              </a:schemeClr>
            </a:lnRef>
            <a:fillRef idx="1">
              <a:schemeClr val="accent1">
                <a:tint val="40000"/>
                <a:hueOff val="0"/>
                <a:satOff val="0"/>
                <a:lumOff val="0"/>
                <a:alphaOff val="0"/>
              </a:schemeClr>
            </a:fillRef>
            <a:effectRef idx="0">
              <a:schemeClr val="accent1">
                <a:tint val="40000"/>
                <a:hueOff val="0"/>
                <a:satOff val="0"/>
                <a:lumOff val="0"/>
                <a:alphaOff val="0"/>
              </a:schemeClr>
            </a:effectRef>
            <a:fontRef idx="minor">
              <a:schemeClr val="dk1">
                <a:hueOff val="0"/>
                <a:satOff val="0"/>
                <a:lumOff val="0"/>
                <a:alphaOff val="0"/>
              </a:schemeClr>
            </a:fontRef>
          </p:style>
          <p:txBody>
            <a:bodyPr spcFirstLastPara="0" vert="horz" wrap="square" lIns="49530" tIns="49530" rIns="49530" bIns="1235958" numCol="1" spcCol="1270" anchor="ctr" anchorCtr="0">
              <a:noAutofit/>
            </a:bodyPr>
            <a:lstStyle/>
            <a:p>
              <a:pPr marL="0" lvl="0" indent="0" algn="ctr" defTabSz="577850">
                <a:lnSpc>
                  <a:spcPct val="90000"/>
                </a:lnSpc>
                <a:spcBef>
                  <a:spcPct val="0"/>
                </a:spcBef>
                <a:spcAft>
                  <a:spcPct val="35000"/>
                </a:spcAft>
                <a:buNone/>
              </a:pPr>
              <a:endParaRPr lang="zh-CN" sz="1050" b="1" kern="1200" dirty="0">
                <a:solidFill>
                  <a:srgbClr val="C00000"/>
                </a:solidFill>
                <a:latin typeface="微软雅黑" panose="020B0503020204020204" charset="-122"/>
                <a:ea typeface="微软雅黑" panose="020B0503020204020204" charset="-122"/>
              </a:endParaRPr>
            </a:p>
          </p:txBody>
        </p:sp>
        <p:grpSp>
          <p:nvGrpSpPr>
            <p:cNvPr id="54" name="组合 53"/>
            <p:cNvGrpSpPr/>
            <p:nvPr/>
          </p:nvGrpSpPr>
          <p:grpSpPr>
            <a:xfrm rot="0">
              <a:off x="10783" y="8881"/>
              <a:ext cx="1358" cy="1304"/>
              <a:chOff x="7180294" y="5196612"/>
              <a:chExt cx="820706" cy="1247722"/>
            </a:xfrm>
          </p:grpSpPr>
          <p:sp>
            <p:nvSpPr>
              <p:cNvPr id="67" name="任意多边形: 形状 56"/>
              <p:cNvSpPr/>
              <p:nvPr/>
            </p:nvSpPr>
            <p:spPr>
              <a:xfrm>
                <a:off x="7180294" y="5196612"/>
                <a:ext cx="820706" cy="356464"/>
              </a:xfrm>
              <a:custGeom>
                <a:avLst/>
                <a:gdLst>
                  <a:gd name="connsiteX0" fmla="*/ 0 w 820706"/>
                  <a:gd name="connsiteY0" fmla="*/ 82071 h 1101682"/>
                  <a:gd name="connsiteX1" fmla="*/ 82071 w 820706"/>
                  <a:gd name="connsiteY1" fmla="*/ 0 h 1101682"/>
                  <a:gd name="connsiteX2" fmla="*/ 738635 w 820706"/>
                  <a:gd name="connsiteY2" fmla="*/ 0 h 1101682"/>
                  <a:gd name="connsiteX3" fmla="*/ 820706 w 820706"/>
                  <a:gd name="connsiteY3" fmla="*/ 82071 h 1101682"/>
                  <a:gd name="connsiteX4" fmla="*/ 820706 w 820706"/>
                  <a:gd name="connsiteY4" fmla="*/ 1019611 h 1101682"/>
                  <a:gd name="connsiteX5" fmla="*/ 738635 w 820706"/>
                  <a:gd name="connsiteY5" fmla="*/ 1101682 h 1101682"/>
                  <a:gd name="connsiteX6" fmla="*/ 82071 w 820706"/>
                  <a:gd name="connsiteY6" fmla="*/ 1101682 h 1101682"/>
                  <a:gd name="connsiteX7" fmla="*/ 0 w 820706"/>
                  <a:gd name="connsiteY7" fmla="*/ 1019611 h 1101682"/>
                  <a:gd name="connsiteX8" fmla="*/ 0 w 820706"/>
                  <a:gd name="connsiteY8" fmla="*/ 82071 h 1101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0706" h="1101682">
                    <a:moveTo>
                      <a:pt x="0" y="82071"/>
                    </a:moveTo>
                    <a:cubicBezTo>
                      <a:pt x="0" y="36744"/>
                      <a:pt x="36744" y="0"/>
                      <a:pt x="82071" y="0"/>
                    </a:cubicBezTo>
                    <a:lnTo>
                      <a:pt x="738635" y="0"/>
                    </a:lnTo>
                    <a:cubicBezTo>
                      <a:pt x="783962" y="0"/>
                      <a:pt x="820706" y="36744"/>
                      <a:pt x="820706" y="82071"/>
                    </a:cubicBezTo>
                    <a:lnTo>
                      <a:pt x="820706" y="1019611"/>
                    </a:lnTo>
                    <a:cubicBezTo>
                      <a:pt x="820706" y="1064938"/>
                      <a:pt x="783962" y="1101682"/>
                      <a:pt x="738635" y="1101682"/>
                    </a:cubicBezTo>
                    <a:lnTo>
                      <a:pt x="82071" y="1101682"/>
                    </a:lnTo>
                    <a:cubicBezTo>
                      <a:pt x="36744" y="1101682"/>
                      <a:pt x="0" y="1064938"/>
                      <a:pt x="0" y="1019611"/>
                    </a:cubicBezTo>
                    <a:lnTo>
                      <a:pt x="0" y="82071"/>
                    </a:lnTo>
                    <a:close/>
                  </a:path>
                </a:pathLst>
              </a:custGeom>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6898" tIns="41183" rIns="46898" bIns="41183" numCol="1" spcCol="1270" anchor="ctr" anchorCtr="0">
                <a:noAutofit/>
              </a:bodyPr>
              <a:lstStyle/>
              <a:p>
                <a:pPr marL="0" lvl="0" indent="0" algn="ctr" defTabSz="400050">
                  <a:lnSpc>
                    <a:spcPct val="90000"/>
                  </a:lnSpc>
                  <a:spcBef>
                    <a:spcPct val="0"/>
                  </a:spcBef>
                  <a:spcAft>
                    <a:spcPct val="35000"/>
                  </a:spcAft>
                  <a:buNone/>
                </a:pPr>
                <a:r>
                  <a:rPr lang="zh-CN" altLang="en-US" sz="800" kern="1200" dirty="0">
                    <a:latin typeface="微软雅黑" panose="020B0503020204020204" charset="-122"/>
                    <a:ea typeface="微软雅黑" panose="020B0503020204020204" charset="-122"/>
                  </a:rPr>
                  <a:t>预警配置</a:t>
                </a:r>
                <a:endParaRPr lang="zh-CN" sz="800" kern="1200" dirty="0">
                  <a:latin typeface="微软雅黑" panose="020B0503020204020204" charset="-122"/>
                  <a:ea typeface="微软雅黑" panose="020B0503020204020204" charset="-122"/>
                </a:endParaRPr>
              </a:p>
            </p:txBody>
          </p:sp>
          <p:sp>
            <p:nvSpPr>
              <p:cNvPr id="68" name="任意多边形: 形状 57"/>
              <p:cNvSpPr/>
              <p:nvPr/>
            </p:nvSpPr>
            <p:spPr>
              <a:xfrm>
                <a:off x="7180294" y="5631713"/>
                <a:ext cx="820706" cy="356464"/>
              </a:xfrm>
              <a:custGeom>
                <a:avLst/>
                <a:gdLst>
                  <a:gd name="connsiteX0" fmla="*/ 0 w 820706"/>
                  <a:gd name="connsiteY0" fmla="*/ 82071 h 1101682"/>
                  <a:gd name="connsiteX1" fmla="*/ 82071 w 820706"/>
                  <a:gd name="connsiteY1" fmla="*/ 0 h 1101682"/>
                  <a:gd name="connsiteX2" fmla="*/ 738635 w 820706"/>
                  <a:gd name="connsiteY2" fmla="*/ 0 h 1101682"/>
                  <a:gd name="connsiteX3" fmla="*/ 820706 w 820706"/>
                  <a:gd name="connsiteY3" fmla="*/ 82071 h 1101682"/>
                  <a:gd name="connsiteX4" fmla="*/ 820706 w 820706"/>
                  <a:gd name="connsiteY4" fmla="*/ 1019611 h 1101682"/>
                  <a:gd name="connsiteX5" fmla="*/ 738635 w 820706"/>
                  <a:gd name="connsiteY5" fmla="*/ 1101682 h 1101682"/>
                  <a:gd name="connsiteX6" fmla="*/ 82071 w 820706"/>
                  <a:gd name="connsiteY6" fmla="*/ 1101682 h 1101682"/>
                  <a:gd name="connsiteX7" fmla="*/ 0 w 820706"/>
                  <a:gd name="connsiteY7" fmla="*/ 1019611 h 1101682"/>
                  <a:gd name="connsiteX8" fmla="*/ 0 w 820706"/>
                  <a:gd name="connsiteY8" fmla="*/ 82071 h 1101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0706" h="1101682">
                    <a:moveTo>
                      <a:pt x="0" y="82071"/>
                    </a:moveTo>
                    <a:cubicBezTo>
                      <a:pt x="0" y="36744"/>
                      <a:pt x="36744" y="0"/>
                      <a:pt x="82071" y="0"/>
                    </a:cubicBezTo>
                    <a:lnTo>
                      <a:pt x="738635" y="0"/>
                    </a:lnTo>
                    <a:cubicBezTo>
                      <a:pt x="783962" y="0"/>
                      <a:pt x="820706" y="36744"/>
                      <a:pt x="820706" y="82071"/>
                    </a:cubicBezTo>
                    <a:lnTo>
                      <a:pt x="820706" y="1019611"/>
                    </a:lnTo>
                    <a:cubicBezTo>
                      <a:pt x="820706" y="1064938"/>
                      <a:pt x="783962" y="1101682"/>
                      <a:pt x="738635" y="1101682"/>
                    </a:cubicBezTo>
                    <a:lnTo>
                      <a:pt x="82071" y="1101682"/>
                    </a:lnTo>
                    <a:cubicBezTo>
                      <a:pt x="36744" y="1101682"/>
                      <a:pt x="0" y="1064938"/>
                      <a:pt x="0" y="1019611"/>
                    </a:cubicBezTo>
                    <a:lnTo>
                      <a:pt x="0" y="82071"/>
                    </a:lnTo>
                    <a:close/>
                  </a:path>
                </a:pathLst>
              </a:custGeom>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6898" tIns="41183" rIns="46898" bIns="41183" numCol="1" spcCol="1270" anchor="ctr" anchorCtr="0">
                <a:noAutofit/>
              </a:bodyPr>
              <a:lstStyle/>
              <a:p>
                <a:pPr marL="0" lvl="0" indent="0" algn="ctr" defTabSz="400050">
                  <a:lnSpc>
                    <a:spcPct val="90000"/>
                  </a:lnSpc>
                  <a:spcBef>
                    <a:spcPct val="0"/>
                  </a:spcBef>
                  <a:spcAft>
                    <a:spcPct val="35000"/>
                  </a:spcAft>
                  <a:buNone/>
                </a:pPr>
                <a:r>
                  <a:rPr lang="zh-CN" altLang="en-US" sz="800" kern="1200" dirty="0">
                    <a:latin typeface="微软雅黑" panose="020B0503020204020204" charset="-122"/>
                    <a:ea typeface="微软雅黑" panose="020B0503020204020204" charset="-122"/>
                  </a:rPr>
                  <a:t>自动触发</a:t>
                </a:r>
                <a:endParaRPr lang="zh-CN" sz="800" kern="1200" dirty="0">
                  <a:latin typeface="微软雅黑" panose="020B0503020204020204" charset="-122"/>
                  <a:ea typeface="微软雅黑" panose="020B0503020204020204" charset="-122"/>
                </a:endParaRPr>
              </a:p>
            </p:txBody>
          </p:sp>
          <p:sp>
            <p:nvSpPr>
              <p:cNvPr id="69" name="任意多边形: 形状 58"/>
              <p:cNvSpPr/>
              <p:nvPr/>
            </p:nvSpPr>
            <p:spPr>
              <a:xfrm>
                <a:off x="7180294" y="6087870"/>
                <a:ext cx="820706" cy="356464"/>
              </a:xfrm>
              <a:custGeom>
                <a:avLst/>
                <a:gdLst>
                  <a:gd name="connsiteX0" fmla="*/ 0 w 820706"/>
                  <a:gd name="connsiteY0" fmla="*/ 82071 h 1101682"/>
                  <a:gd name="connsiteX1" fmla="*/ 82071 w 820706"/>
                  <a:gd name="connsiteY1" fmla="*/ 0 h 1101682"/>
                  <a:gd name="connsiteX2" fmla="*/ 738635 w 820706"/>
                  <a:gd name="connsiteY2" fmla="*/ 0 h 1101682"/>
                  <a:gd name="connsiteX3" fmla="*/ 820706 w 820706"/>
                  <a:gd name="connsiteY3" fmla="*/ 82071 h 1101682"/>
                  <a:gd name="connsiteX4" fmla="*/ 820706 w 820706"/>
                  <a:gd name="connsiteY4" fmla="*/ 1019611 h 1101682"/>
                  <a:gd name="connsiteX5" fmla="*/ 738635 w 820706"/>
                  <a:gd name="connsiteY5" fmla="*/ 1101682 h 1101682"/>
                  <a:gd name="connsiteX6" fmla="*/ 82071 w 820706"/>
                  <a:gd name="connsiteY6" fmla="*/ 1101682 h 1101682"/>
                  <a:gd name="connsiteX7" fmla="*/ 0 w 820706"/>
                  <a:gd name="connsiteY7" fmla="*/ 1019611 h 1101682"/>
                  <a:gd name="connsiteX8" fmla="*/ 0 w 820706"/>
                  <a:gd name="connsiteY8" fmla="*/ 82071 h 1101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0706" h="1101682">
                    <a:moveTo>
                      <a:pt x="0" y="82071"/>
                    </a:moveTo>
                    <a:cubicBezTo>
                      <a:pt x="0" y="36744"/>
                      <a:pt x="36744" y="0"/>
                      <a:pt x="82071" y="0"/>
                    </a:cubicBezTo>
                    <a:lnTo>
                      <a:pt x="738635" y="0"/>
                    </a:lnTo>
                    <a:cubicBezTo>
                      <a:pt x="783962" y="0"/>
                      <a:pt x="820706" y="36744"/>
                      <a:pt x="820706" y="82071"/>
                    </a:cubicBezTo>
                    <a:lnTo>
                      <a:pt x="820706" y="1019611"/>
                    </a:lnTo>
                    <a:cubicBezTo>
                      <a:pt x="820706" y="1064938"/>
                      <a:pt x="783962" y="1101682"/>
                      <a:pt x="738635" y="1101682"/>
                    </a:cubicBezTo>
                    <a:lnTo>
                      <a:pt x="82071" y="1101682"/>
                    </a:lnTo>
                    <a:cubicBezTo>
                      <a:pt x="36744" y="1101682"/>
                      <a:pt x="0" y="1064938"/>
                      <a:pt x="0" y="1019611"/>
                    </a:cubicBezTo>
                    <a:lnTo>
                      <a:pt x="0" y="82071"/>
                    </a:lnTo>
                    <a:close/>
                  </a:path>
                </a:pathLst>
              </a:custGeom>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6898" tIns="41183" rIns="46898" bIns="41183" numCol="1" spcCol="1270" anchor="ctr" anchorCtr="0">
                <a:noAutofit/>
              </a:bodyPr>
              <a:lstStyle/>
              <a:p>
                <a:pPr marL="0" lvl="0" indent="0" algn="ctr" defTabSz="400050">
                  <a:lnSpc>
                    <a:spcPct val="90000"/>
                  </a:lnSpc>
                  <a:spcBef>
                    <a:spcPct val="0"/>
                  </a:spcBef>
                  <a:spcAft>
                    <a:spcPct val="35000"/>
                  </a:spcAft>
                  <a:buNone/>
                </a:pPr>
                <a:r>
                  <a:rPr lang="zh-CN" altLang="en-US" sz="800" dirty="0">
                    <a:latin typeface="微软雅黑" panose="020B0503020204020204" charset="-122"/>
                    <a:ea typeface="微软雅黑" panose="020B0503020204020204" charset="-122"/>
                  </a:rPr>
                  <a:t>工单推送</a:t>
                </a:r>
                <a:endParaRPr lang="zh-CN" sz="800" kern="1200" dirty="0">
                  <a:latin typeface="微软雅黑" panose="020B0503020204020204" charset="-122"/>
                  <a:ea typeface="微软雅黑" panose="020B0503020204020204" charset="-122"/>
                </a:endParaRPr>
              </a:p>
            </p:txBody>
          </p:sp>
        </p:grpSp>
        <p:grpSp>
          <p:nvGrpSpPr>
            <p:cNvPr id="55" name="组合 54"/>
            <p:cNvGrpSpPr/>
            <p:nvPr/>
          </p:nvGrpSpPr>
          <p:grpSpPr>
            <a:xfrm rot="0">
              <a:off x="12639" y="8890"/>
              <a:ext cx="1358" cy="1304"/>
              <a:chOff x="7195101" y="5196612"/>
              <a:chExt cx="820706" cy="1247722"/>
            </a:xfrm>
          </p:grpSpPr>
          <p:sp>
            <p:nvSpPr>
              <p:cNvPr id="64" name="任意多边形: 形状 60"/>
              <p:cNvSpPr/>
              <p:nvPr/>
            </p:nvSpPr>
            <p:spPr>
              <a:xfrm>
                <a:off x="7195101" y="5196612"/>
                <a:ext cx="820706" cy="356464"/>
              </a:xfrm>
              <a:custGeom>
                <a:avLst/>
                <a:gdLst>
                  <a:gd name="connsiteX0" fmla="*/ 0 w 820706"/>
                  <a:gd name="connsiteY0" fmla="*/ 82071 h 1101682"/>
                  <a:gd name="connsiteX1" fmla="*/ 82071 w 820706"/>
                  <a:gd name="connsiteY1" fmla="*/ 0 h 1101682"/>
                  <a:gd name="connsiteX2" fmla="*/ 738635 w 820706"/>
                  <a:gd name="connsiteY2" fmla="*/ 0 h 1101682"/>
                  <a:gd name="connsiteX3" fmla="*/ 820706 w 820706"/>
                  <a:gd name="connsiteY3" fmla="*/ 82071 h 1101682"/>
                  <a:gd name="connsiteX4" fmla="*/ 820706 w 820706"/>
                  <a:gd name="connsiteY4" fmla="*/ 1019611 h 1101682"/>
                  <a:gd name="connsiteX5" fmla="*/ 738635 w 820706"/>
                  <a:gd name="connsiteY5" fmla="*/ 1101682 h 1101682"/>
                  <a:gd name="connsiteX6" fmla="*/ 82071 w 820706"/>
                  <a:gd name="connsiteY6" fmla="*/ 1101682 h 1101682"/>
                  <a:gd name="connsiteX7" fmla="*/ 0 w 820706"/>
                  <a:gd name="connsiteY7" fmla="*/ 1019611 h 1101682"/>
                  <a:gd name="connsiteX8" fmla="*/ 0 w 820706"/>
                  <a:gd name="connsiteY8" fmla="*/ 82071 h 1101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0706" h="1101682">
                    <a:moveTo>
                      <a:pt x="0" y="82071"/>
                    </a:moveTo>
                    <a:cubicBezTo>
                      <a:pt x="0" y="36744"/>
                      <a:pt x="36744" y="0"/>
                      <a:pt x="82071" y="0"/>
                    </a:cubicBezTo>
                    <a:lnTo>
                      <a:pt x="738635" y="0"/>
                    </a:lnTo>
                    <a:cubicBezTo>
                      <a:pt x="783962" y="0"/>
                      <a:pt x="820706" y="36744"/>
                      <a:pt x="820706" y="82071"/>
                    </a:cubicBezTo>
                    <a:lnTo>
                      <a:pt x="820706" y="1019611"/>
                    </a:lnTo>
                    <a:cubicBezTo>
                      <a:pt x="820706" y="1064938"/>
                      <a:pt x="783962" y="1101682"/>
                      <a:pt x="738635" y="1101682"/>
                    </a:cubicBezTo>
                    <a:lnTo>
                      <a:pt x="82071" y="1101682"/>
                    </a:lnTo>
                    <a:cubicBezTo>
                      <a:pt x="36744" y="1101682"/>
                      <a:pt x="0" y="1064938"/>
                      <a:pt x="0" y="1019611"/>
                    </a:cubicBezTo>
                    <a:lnTo>
                      <a:pt x="0" y="82071"/>
                    </a:lnTo>
                    <a:close/>
                  </a:path>
                </a:pathLst>
              </a:custGeom>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6898" tIns="41183" rIns="46898" bIns="41183" numCol="1" spcCol="1270" anchor="ctr" anchorCtr="0">
                <a:noAutofit/>
              </a:bodyPr>
              <a:lstStyle/>
              <a:p>
                <a:pPr marL="0" lvl="0" indent="0" algn="ctr" defTabSz="400050">
                  <a:lnSpc>
                    <a:spcPct val="90000"/>
                  </a:lnSpc>
                  <a:spcBef>
                    <a:spcPct val="0"/>
                  </a:spcBef>
                  <a:spcAft>
                    <a:spcPct val="35000"/>
                  </a:spcAft>
                  <a:buNone/>
                </a:pPr>
                <a:r>
                  <a:rPr lang="zh-CN" altLang="en-US" sz="800" kern="1200" dirty="0">
                    <a:latin typeface="微软雅黑" panose="020B0503020204020204" charset="-122"/>
                    <a:ea typeface="微软雅黑" panose="020B0503020204020204" charset="-122"/>
                  </a:rPr>
                  <a:t>任务监控</a:t>
                </a:r>
                <a:endParaRPr lang="zh-CN" sz="800" kern="1200" dirty="0">
                  <a:latin typeface="微软雅黑" panose="020B0503020204020204" charset="-122"/>
                  <a:ea typeface="微软雅黑" panose="020B0503020204020204" charset="-122"/>
                </a:endParaRPr>
              </a:p>
            </p:txBody>
          </p:sp>
          <p:sp>
            <p:nvSpPr>
              <p:cNvPr id="65" name="任意多边形: 形状 61"/>
              <p:cNvSpPr/>
              <p:nvPr/>
            </p:nvSpPr>
            <p:spPr>
              <a:xfrm>
                <a:off x="7195101" y="5631713"/>
                <a:ext cx="820706" cy="356464"/>
              </a:xfrm>
              <a:custGeom>
                <a:avLst/>
                <a:gdLst>
                  <a:gd name="connsiteX0" fmla="*/ 0 w 820706"/>
                  <a:gd name="connsiteY0" fmla="*/ 82071 h 1101682"/>
                  <a:gd name="connsiteX1" fmla="*/ 82071 w 820706"/>
                  <a:gd name="connsiteY1" fmla="*/ 0 h 1101682"/>
                  <a:gd name="connsiteX2" fmla="*/ 738635 w 820706"/>
                  <a:gd name="connsiteY2" fmla="*/ 0 h 1101682"/>
                  <a:gd name="connsiteX3" fmla="*/ 820706 w 820706"/>
                  <a:gd name="connsiteY3" fmla="*/ 82071 h 1101682"/>
                  <a:gd name="connsiteX4" fmla="*/ 820706 w 820706"/>
                  <a:gd name="connsiteY4" fmla="*/ 1019611 h 1101682"/>
                  <a:gd name="connsiteX5" fmla="*/ 738635 w 820706"/>
                  <a:gd name="connsiteY5" fmla="*/ 1101682 h 1101682"/>
                  <a:gd name="connsiteX6" fmla="*/ 82071 w 820706"/>
                  <a:gd name="connsiteY6" fmla="*/ 1101682 h 1101682"/>
                  <a:gd name="connsiteX7" fmla="*/ 0 w 820706"/>
                  <a:gd name="connsiteY7" fmla="*/ 1019611 h 1101682"/>
                  <a:gd name="connsiteX8" fmla="*/ 0 w 820706"/>
                  <a:gd name="connsiteY8" fmla="*/ 82071 h 1101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0706" h="1101682">
                    <a:moveTo>
                      <a:pt x="0" y="82071"/>
                    </a:moveTo>
                    <a:cubicBezTo>
                      <a:pt x="0" y="36744"/>
                      <a:pt x="36744" y="0"/>
                      <a:pt x="82071" y="0"/>
                    </a:cubicBezTo>
                    <a:lnTo>
                      <a:pt x="738635" y="0"/>
                    </a:lnTo>
                    <a:cubicBezTo>
                      <a:pt x="783962" y="0"/>
                      <a:pt x="820706" y="36744"/>
                      <a:pt x="820706" y="82071"/>
                    </a:cubicBezTo>
                    <a:lnTo>
                      <a:pt x="820706" y="1019611"/>
                    </a:lnTo>
                    <a:cubicBezTo>
                      <a:pt x="820706" y="1064938"/>
                      <a:pt x="783962" y="1101682"/>
                      <a:pt x="738635" y="1101682"/>
                    </a:cubicBezTo>
                    <a:lnTo>
                      <a:pt x="82071" y="1101682"/>
                    </a:lnTo>
                    <a:cubicBezTo>
                      <a:pt x="36744" y="1101682"/>
                      <a:pt x="0" y="1064938"/>
                      <a:pt x="0" y="1019611"/>
                    </a:cubicBezTo>
                    <a:lnTo>
                      <a:pt x="0" y="82071"/>
                    </a:lnTo>
                    <a:close/>
                  </a:path>
                </a:pathLst>
              </a:custGeom>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6898" tIns="41183" rIns="46898" bIns="41183" numCol="1" spcCol="1270" anchor="ctr" anchorCtr="0">
                <a:noAutofit/>
              </a:bodyPr>
              <a:lstStyle/>
              <a:p>
                <a:pPr marL="0" lvl="0" indent="0" algn="ctr" defTabSz="400050">
                  <a:lnSpc>
                    <a:spcPct val="90000"/>
                  </a:lnSpc>
                  <a:spcBef>
                    <a:spcPct val="0"/>
                  </a:spcBef>
                  <a:spcAft>
                    <a:spcPct val="35000"/>
                  </a:spcAft>
                  <a:buNone/>
                </a:pPr>
                <a:r>
                  <a:rPr lang="zh-CN" altLang="en-US" sz="800" dirty="0">
                    <a:latin typeface="微软雅黑" panose="020B0503020204020204" charset="-122"/>
                    <a:ea typeface="微软雅黑" panose="020B0503020204020204" charset="-122"/>
                  </a:rPr>
                  <a:t>活动</a:t>
                </a:r>
                <a:r>
                  <a:rPr lang="zh-CN" altLang="en-US" sz="800" kern="1200" dirty="0" smtClean="0">
                    <a:latin typeface="微软雅黑" panose="020B0503020204020204" charset="-122"/>
                    <a:ea typeface="微软雅黑" panose="020B0503020204020204" charset="-122"/>
                  </a:rPr>
                  <a:t>监控</a:t>
                </a:r>
                <a:endParaRPr lang="zh-CN" sz="800" kern="1200" dirty="0">
                  <a:latin typeface="微软雅黑" panose="020B0503020204020204" charset="-122"/>
                  <a:ea typeface="微软雅黑" panose="020B0503020204020204" charset="-122"/>
                </a:endParaRPr>
              </a:p>
            </p:txBody>
          </p:sp>
          <p:sp>
            <p:nvSpPr>
              <p:cNvPr id="66" name="任意多边形: 形状 62"/>
              <p:cNvSpPr/>
              <p:nvPr/>
            </p:nvSpPr>
            <p:spPr>
              <a:xfrm>
                <a:off x="7195101" y="6087870"/>
                <a:ext cx="820706" cy="356464"/>
              </a:xfrm>
              <a:custGeom>
                <a:avLst/>
                <a:gdLst>
                  <a:gd name="connsiteX0" fmla="*/ 0 w 820706"/>
                  <a:gd name="connsiteY0" fmla="*/ 82071 h 1101682"/>
                  <a:gd name="connsiteX1" fmla="*/ 82071 w 820706"/>
                  <a:gd name="connsiteY1" fmla="*/ 0 h 1101682"/>
                  <a:gd name="connsiteX2" fmla="*/ 738635 w 820706"/>
                  <a:gd name="connsiteY2" fmla="*/ 0 h 1101682"/>
                  <a:gd name="connsiteX3" fmla="*/ 820706 w 820706"/>
                  <a:gd name="connsiteY3" fmla="*/ 82071 h 1101682"/>
                  <a:gd name="connsiteX4" fmla="*/ 820706 w 820706"/>
                  <a:gd name="connsiteY4" fmla="*/ 1019611 h 1101682"/>
                  <a:gd name="connsiteX5" fmla="*/ 738635 w 820706"/>
                  <a:gd name="connsiteY5" fmla="*/ 1101682 h 1101682"/>
                  <a:gd name="connsiteX6" fmla="*/ 82071 w 820706"/>
                  <a:gd name="connsiteY6" fmla="*/ 1101682 h 1101682"/>
                  <a:gd name="connsiteX7" fmla="*/ 0 w 820706"/>
                  <a:gd name="connsiteY7" fmla="*/ 1019611 h 1101682"/>
                  <a:gd name="connsiteX8" fmla="*/ 0 w 820706"/>
                  <a:gd name="connsiteY8" fmla="*/ 82071 h 1101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0706" h="1101682">
                    <a:moveTo>
                      <a:pt x="0" y="82071"/>
                    </a:moveTo>
                    <a:cubicBezTo>
                      <a:pt x="0" y="36744"/>
                      <a:pt x="36744" y="0"/>
                      <a:pt x="82071" y="0"/>
                    </a:cubicBezTo>
                    <a:lnTo>
                      <a:pt x="738635" y="0"/>
                    </a:lnTo>
                    <a:cubicBezTo>
                      <a:pt x="783962" y="0"/>
                      <a:pt x="820706" y="36744"/>
                      <a:pt x="820706" y="82071"/>
                    </a:cubicBezTo>
                    <a:lnTo>
                      <a:pt x="820706" y="1019611"/>
                    </a:lnTo>
                    <a:cubicBezTo>
                      <a:pt x="820706" y="1064938"/>
                      <a:pt x="783962" y="1101682"/>
                      <a:pt x="738635" y="1101682"/>
                    </a:cubicBezTo>
                    <a:lnTo>
                      <a:pt x="82071" y="1101682"/>
                    </a:lnTo>
                    <a:cubicBezTo>
                      <a:pt x="36744" y="1101682"/>
                      <a:pt x="0" y="1064938"/>
                      <a:pt x="0" y="1019611"/>
                    </a:cubicBezTo>
                    <a:lnTo>
                      <a:pt x="0" y="82071"/>
                    </a:lnTo>
                    <a:close/>
                  </a:path>
                </a:pathLst>
              </a:custGeom>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6898" tIns="41183" rIns="46898" bIns="41183" numCol="1" spcCol="1270" anchor="ctr" anchorCtr="0">
                <a:noAutofit/>
              </a:bodyPr>
              <a:lstStyle/>
              <a:p>
                <a:pPr marL="0" lvl="0" indent="0" algn="ctr" defTabSz="400050">
                  <a:lnSpc>
                    <a:spcPct val="90000"/>
                  </a:lnSpc>
                  <a:spcBef>
                    <a:spcPct val="0"/>
                  </a:spcBef>
                  <a:spcAft>
                    <a:spcPct val="35000"/>
                  </a:spcAft>
                  <a:buNone/>
                </a:pPr>
                <a:r>
                  <a:rPr lang="zh-CN" altLang="en-US" sz="800" dirty="0">
                    <a:latin typeface="微软雅黑" panose="020B0503020204020204" charset="-122"/>
                    <a:ea typeface="微软雅黑" panose="020B0503020204020204" charset="-122"/>
                  </a:rPr>
                  <a:t>降收预测</a:t>
                </a:r>
                <a:endParaRPr lang="zh-CN" sz="800" kern="1200" dirty="0">
                  <a:latin typeface="微软雅黑" panose="020B0503020204020204" charset="-122"/>
                  <a:ea typeface="微软雅黑" panose="020B0503020204020204" charset="-122"/>
                </a:endParaRPr>
              </a:p>
            </p:txBody>
          </p:sp>
        </p:grpSp>
        <p:grpSp>
          <p:nvGrpSpPr>
            <p:cNvPr id="56" name="组合 55"/>
            <p:cNvGrpSpPr/>
            <p:nvPr/>
          </p:nvGrpSpPr>
          <p:grpSpPr>
            <a:xfrm rot="0">
              <a:off x="14453" y="8881"/>
              <a:ext cx="1358" cy="1304"/>
              <a:chOff x="7195102" y="5196612"/>
              <a:chExt cx="820706" cy="1247722"/>
            </a:xfrm>
          </p:grpSpPr>
          <p:sp>
            <p:nvSpPr>
              <p:cNvPr id="61" name="任意多边形: 形状 64"/>
              <p:cNvSpPr/>
              <p:nvPr/>
            </p:nvSpPr>
            <p:spPr>
              <a:xfrm>
                <a:off x="7195102" y="5196612"/>
                <a:ext cx="820706" cy="356464"/>
              </a:xfrm>
              <a:custGeom>
                <a:avLst/>
                <a:gdLst>
                  <a:gd name="connsiteX0" fmla="*/ 0 w 820706"/>
                  <a:gd name="connsiteY0" fmla="*/ 82071 h 1101682"/>
                  <a:gd name="connsiteX1" fmla="*/ 82071 w 820706"/>
                  <a:gd name="connsiteY1" fmla="*/ 0 h 1101682"/>
                  <a:gd name="connsiteX2" fmla="*/ 738635 w 820706"/>
                  <a:gd name="connsiteY2" fmla="*/ 0 h 1101682"/>
                  <a:gd name="connsiteX3" fmla="*/ 820706 w 820706"/>
                  <a:gd name="connsiteY3" fmla="*/ 82071 h 1101682"/>
                  <a:gd name="connsiteX4" fmla="*/ 820706 w 820706"/>
                  <a:gd name="connsiteY4" fmla="*/ 1019611 h 1101682"/>
                  <a:gd name="connsiteX5" fmla="*/ 738635 w 820706"/>
                  <a:gd name="connsiteY5" fmla="*/ 1101682 h 1101682"/>
                  <a:gd name="connsiteX6" fmla="*/ 82071 w 820706"/>
                  <a:gd name="connsiteY6" fmla="*/ 1101682 h 1101682"/>
                  <a:gd name="connsiteX7" fmla="*/ 0 w 820706"/>
                  <a:gd name="connsiteY7" fmla="*/ 1019611 h 1101682"/>
                  <a:gd name="connsiteX8" fmla="*/ 0 w 820706"/>
                  <a:gd name="connsiteY8" fmla="*/ 82071 h 1101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0706" h="1101682">
                    <a:moveTo>
                      <a:pt x="0" y="82071"/>
                    </a:moveTo>
                    <a:cubicBezTo>
                      <a:pt x="0" y="36744"/>
                      <a:pt x="36744" y="0"/>
                      <a:pt x="82071" y="0"/>
                    </a:cubicBezTo>
                    <a:lnTo>
                      <a:pt x="738635" y="0"/>
                    </a:lnTo>
                    <a:cubicBezTo>
                      <a:pt x="783962" y="0"/>
                      <a:pt x="820706" y="36744"/>
                      <a:pt x="820706" y="82071"/>
                    </a:cubicBezTo>
                    <a:lnTo>
                      <a:pt x="820706" y="1019611"/>
                    </a:lnTo>
                    <a:cubicBezTo>
                      <a:pt x="820706" y="1064938"/>
                      <a:pt x="783962" y="1101682"/>
                      <a:pt x="738635" y="1101682"/>
                    </a:cubicBezTo>
                    <a:lnTo>
                      <a:pt x="82071" y="1101682"/>
                    </a:lnTo>
                    <a:cubicBezTo>
                      <a:pt x="36744" y="1101682"/>
                      <a:pt x="0" y="1064938"/>
                      <a:pt x="0" y="1019611"/>
                    </a:cubicBezTo>
                    <a:lnTo>
                      <a:pt x="0" y="82071"/>
                    </a:lnTo>
                    <a:close/>
                  </a:path>
                </a:pathLst>
              </a:custGeom>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6898" tIns="41183" rIns="46898" bIns="41183" numCol="1" spcCol="1270" anchor="ctr" anchorCtr="0">
                <a:noAutofit/>
              </a:bodyPr>
              <a:lstStyle/>
              <a:p>
                <a:pPr marL="0" lvl="0" indent="0" algn="ctr" defTabSz="400050">
                  <a:lnSpc>
                    <a:spcPct val="90000"/>
                  </a:lnSpc>
                  <a:spcBef>
                    <a:spcPct val="0"/>
                  </a:spcBef>
                  <a:spcAft>
                    <a:spcPct val="35000"/>
                  </a:spcAft>
                  <a:buNone/>
                </a:pPr>
                <a:r>
                  <a:rPr lang="zh-CN" altLang="en-US" sz="800" kern="1200" dirty="0">
                    <a:latin typeface="微软雅黑" panose="020B0503020204020204" charset="-122"/>
                    <a:ea typeface="微软雅黑" panose="020B0503020204020204" charset="-122"/>
                  </a:rPr>
                  <a:t>执行情况</a:t>
                </a:r>
                <a:endParaRPr lang="zh-CN" sz="800" kern="1200" dirty="0">
                  <a:latin typeface="微软雅黑" panose="020B0503020204020204" charset="-122"/>
                  <a:ea typeface="微软雅黑" panose="020B0503020204020204" charset="-122"/>
                </a:endParaRPr>
              </a:p>
            </p:txBody>
          </p:sp>
          <p:sp>
            <p:nvSpPr>
              <p:cNvPr id="62" name="任意多边形: 形状 65"/>
              <p:cNvSpPr/>
              <p:nvPr/>
            </p:nvSpPr>
            <p:spPr>
              <a:xfrm>
                <a:off x="7195102" y="5631713"/>
                <a:ext cx="820706" cy="356464"/>
              </a:xfrm>
              <a:custGeom>
                <a:avLst/>
                <a:gdLst>
                  <a:gd name="connsiteX0" fmla="*/ 0 w 820706"/>
                  <a:gd name="connsiteY0" fmla="*/ 82071 h 1101682"/>
                  <a:gd name="connsiteX1" fmla="*/ 82071 w 820706"/>
                  <a:gd name="connsiteY1" fmla="*/ 0 h 1101682"/>
                  <a:gd name="connsiteX2" fmla="*/ 738635 w 820706"/>
                  <a:gd name="connsiteY2" fmla="*/ 0 h 1101682"/>
                  <a:gd name="connsiteX3" fmla="*/ 820706 w 820706"/>
                  <a:gd name="connsiteY3" fmla="*/ 82071 h 1101682"/>
                  <a:gd name="connsiteX4" fmla="*/ 820706 w 820706"/>
                  <a:gd name="connsiteY4" fmla="*/ 1019611 h 1101682"/>
                  <a:gd name="connsiteX5" fmla="*/ 738635 w 820706"/>
                  <a:gd name="connsiteY5" fmla="*/ 1101682 h 1101682"/>
                  <a:gd name="connsiteX6" fmla="*/ 82071 w 820706"/>
                  <a:gd name="connsiteY6" fmla="*/ 1101682 h 1101682"/>
                  <a:gd name="connsiteX7" fmla="*/ 0 w 820706"/>
                  <a:gd name="connsiteY7" fmla="*/ 1019611 h 1101682"/>
                  <a:gd name="connsiteX8" fmla="*/ 0 w 820706"/>
                  <a:gd name="connsiteY8" fmla="*/ 82071 h 1101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0706" h="1101682">
                    <a:moveTo>
                      <a:pt x="0" y="82071"/>
                    </a:moveTo>
                    <a:cubicBezTo>
                      <a:pt x="0" y="36744"/>
                      <a:pt x="36744" y="0"/>
                      <a:pt x="82071" y="0"/>
                    </a:cubicBezTo>
                    <a:lnTo>
                      <a:pt x="738635" y="0"/>
                    </a:lnTo>
                    <a:cubicBezTo>
                      <a:pt x="783962" y="0"/>
                      <a:pt x="820706" y="36744"/>
                      <a:pt x="820706" y="82071"/>
                    </a:cubicBezTo>
                    <a:lnTo>
                      <a:pt x="820706" y="1019611"/>
                    </a:lnTo>
                    <a:cubicBezTo>
                      <a:pt x="820706" y="1064938"/>
                      <a:pt x="783962" y="1101682"/>
                      <a:pt x="738635" y="1101682"/>
                    </a:cubicBezTo>
                    <a:lnTo>
                      <a:pt x="82071" y="1101682"/>
                    </a:lnTo>
                    <a:cubicBezTo>
                      <a:pt x="36744" y="1101682"/>
                      <a:pt x="0" y="1064938"/>
                      <a:pt x="0" y="1019611"/>
                    </a:cubicBezTo>
                    <a:lnTo>
                      <a:pt x="0" y="82071"/>
                    </a:lnTo>
                    <a:close/>
                  </a:path>
                </a:pathLst>
              </a:custGeom>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6898" tIns="41183" rIns="46898" bIns="41183" numCol="1" spcCol="1270" anchor="ctr" anchorCtr="0">
                <a:noAutofit/>
              </a:bodyPr>
              <a:lstStyle/>
              <a:p>
                <a:pPr marL="0" lvl="0" indent="0" algn="ctr" defTabSz="400050">
                  <a:lnSpc>
                    <a:spcPct val="90000"/>
                  </a:lnSpc>
                  <a:spcBef>
                    <a:spcPct val="0"/>
                  </a:spcBef>
                  <a:spcAft>
                    <a:spcPct val="35000"/>
                  </a:spcAft>
                  <a:buNone/>
                </a:pPr>
                <a:r>
                  <a:rPr lang="zh-CN" altLang="en-US" sz="800" kern="1200" dirty="0">
                    <a:latin typeface="微软雅黑" panose="020B0503020204020204" charset="-122"/>
                    <a:ea typeface="微软雅黑" panose="020B0503020204020204" charset="-122"/>
                  </a:rPr>
                  <a:t>质态分析</a:t>
                </a:r>
                <a:endParaRPr lang="zh-CN" sz="800" kern="1200" dirty="0">
                  <a:latin typeface="微软雅黑" panose="020B0503020204020204" charset="-122"/>
                  <a:ea typeface="微软雅黑" panose="020B0503020204020204" charset="-122"/>
                </a:endParaRPr>
              </a:p>
            </p:txBody>
          </p:sp>
          <p:sp>
            <p:nvSpPr>
              <p:cNvPr id="63" name="任意多边形: 形状 66"/>
              <p:cNvSpPr/>
              <p:nvPr/>
            </p:nvSpPr>
            <p:spPr>
              <a:xfrm>
                <a:off x="7195102" y="6087870"/>
                <a:ext cx="820706" cy="356464"/>
              </a:xfrm>
              <a:custGeom>
                <a:avLst/>
                <a:gdLst>
                  <a:gd name="connsiteX0" fmla="*/ 0 w 820706"/>
                  <a:gd name="connsiteY0" fmla="*/ 82071 h 1101682"/>
                  <a:gd name="connsiteX1" fmla="*/ 82071 w 820706"/>
                  <a:gd name="connsiteY1" fmla="*/ 0 h 1101682"/>
                  <a:gd name="connsiteX2" fmla="*/ 738635 w 820706"/>
                  <a:gd name="connsiteY2" fmla="*/ 0 h 1101682"/>
                  <a:gd name="connsiteX3" fmla="*/ 820706 w 820706"/>
                  <a:gd name="connsiteY3" fmla="*/ 82071 h 1101682"/>
                  <a:gd name="connsiteX4" fmla="*/ 820706 w 820706"/>
                  <a:gd name="connsiteY4" fmla="*/ 1019611 h 1101682"/>
                  <a:gd name="connsiteX5" fmla="*/ 738635 w 820706"/>
                  <a:gd name="connsiteY5" fmla="*/ 1101682 h 1101682"/>
                  <a:gd name="connsiteX6" fmla="*/ 82071 w 820706"/>
                  <a:gd name="connsiteY6" fmla="*/ 1101682 h 1101682"/>
                  <a:gd name="connsiteX7" fmla="*/ 0 w 820706"/>
                  <a:gd name="connsiteY7" fmla="*/ 1019611 h 1101682"/>
                  <a:gd name="connsiteX8" fmla="*/ 0 w 820706"/>
                  <a:gd name="connsiteY8" fmla="*/ 82071 h 1101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0706" h="1101682">
                    <a:moveTo>
                      <a:pt x="0" y="82071"/>
                    </a:moveTo>
                    <a:cubicBezTo>
                      <a:pt x="0" y="36744"/>
                      <a:pt x="36744" y="0"/>
                      <a:pt x="82071" y="0"/>
                    </a:cubicBezTo>
                    <a:lnTo>
                      <a:pt x="738635" y="0"/>
                    </a:lnTo>
                    <a:cubicBezTo>
                      <a:pt x="783962" y="0"/>
                      <a:pt x="820706" y="36744"/>
                      <a:pt x="820706" y="82071"/>
                    </a:cubicBezTo>
                    <a:lnTo>
                      <a:pt x="820706" y="1019611"/>
                    </a:lnTo>
                    <a:cubicBezTo>
                      <a:pt x="820706" y="1064938"/>
                      <a:pt x="783962" y="1101682"/>
                      <a:pt x="738635" y="1101682"/>
                    </a:cubicBezTo>
                    <a:lnTo>
                      <a:pt x="82071" y="1101682"/>
                    </a:lnTo>
                    <a:cubicBezTo>
                      <a:pt x="36744" y="1101682"/>
                      <a:pt x="0" y="1064938"/>
                      <a:pt x="0" y="1019611"/>
                    </a:cubicBezTo>
                    <a:lnTo>
                      <a:pt x="0" y="82071"/>
                    </a:lnTo>
                    <a:close/>
                  </a:path>
                </a:pathLst>
              </a:custGeom>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6898" tIns="41183" rIns="46898" bIns="41183" numCol="1" spcCol="1270" anchor="ctr" anchorCtr="0">
                <a:noAutofit/>
              </a:bodyPr>
              <a:lstStyle/>
              <a:p>
                <a:pPr marL="0" lvl="0" indent="0" algn="ctr" defTabSz="400050">
                  <a:lnSpc>
                    <a:spcPct val="90000"/>
                  </a:lnSpc>
                  <a:spcBef>
                    <a:spcPct val="0"/>
                  </a:spcBef>
                  <a:spcAft>
                    <a:spcPct val="35000"/>
                  </a:spcAft>
                  <a:buNone/>
                </a:pPr>
                <a:r>
                  <a:rPr lang="zh-CN" altLang="en-US" sz="800" dirty="0">
                    <a:latin typeface="微软雅黑" panose="020B0503020204020204" charset="-122"/>
                    <a:ea typeface="微软雅黑" panose="020B0503020204020204" charset="-122"/>
                  </a:rPr>
                  <a:t>效益评估</a:t>
                </a:r>
                <a:endParaRPr lang="zh-CN" sz="800" kern="1200" dirty="0">
                  <a:latin typeface="微软雅黑" panose="020B0503020204020204" charset="-122"/>
                  <a:ea typeface="微软雅黑" panose="020B0503020204020204" charset="-122"/>
                </a:endParaRPr>
              </a:p>
            </p:txBody>
          </p:sp>
        </p:grpSp>
        <p:grpSp>
          <p:nvGrpSpPr>
            <p:cNvPr id="57" name="组合 56"/>
            <p:cNvGrpSpPr/>
            <p:nvPr/>
          </p:nvGrpSpPr>
          <p:grpSpPr>
            <a:xfrm rot="0">
              <a:off x="16257" y="8888"/>
              <a:ext cx="1358" cy="1304"/>
              <a:chOff x="7195101" y="5196612"/>
              <a:chExt cx="820706" cy="1247722"/>
            </a:xfrm>
          </p:grpSpPr>
          <p:sp>
            <p:nvSpPr>
              <p:cNvPr id="58" name="任意多边形: 形状 68"/>
              <p:cNvSpPr/>
              <p:nvPr/>
            </p:nvSpPr>
            <p:spPr>
              <a:xfrm>
                <a:off x="7195101" y="5196612"/>
                <a:ext cx="820706" cy="356464"/>
              </a:xfrm>
              <a:custGeom>
                <a:avLst/>
                <a:gdLst>
                  <a:gd name="connsiteX0" fmla="*/ 0 w 820706"/>
                  <a:gd name="connsiteY0" fmla="*/ 82071 h 1101682"/>
                  <a:gd name="connsiteX1" fmla="*/ 82071 w 820706"/>
                  <a:gd name="connsiteY1" fmla="*/ 0 h 1101682"/>
                  <a:gd name="connsiteX2" fmla="*/ 738635 w 820706"/>
                  <a:gd name="connsiteY2" fmla="*/ 0 h 1101682"/>
                  <a:gd name="connsiteX3" fmla="*/ 820706 w 820706"/>
                  <a:gd name="connsiteY3" fmla="*/ 82071 h 1101682"/>
                  <a:gd name="connsiteX4" fmla="*/ 820706 w 820706"/>
                  <a:gd name="connsiteY4" fmla="*/ 1019611 h 1101682"/>
                  <a:gd name="connsiteX5" fmla="*/ 738635 w 820706"/>
                  <a:gd name="connsiteY5" fmla="*/ 1101682 h 1101682"/>
                  <a:gd name="connsiteX6" fmla="*/ 82071 w 820706"/>
                  <a:gd name="connsiteY6" fmla="*/ 1101682 h 1101682"/>
                  <a:gd name="connsiteX7" fmla="*/ 0 w 820706"/>
                  <a:gd name="connsiteY7" fmla="*/ 1019611 h 1101682"/>
                  <a:gd name="connsiteX8" fmla="*/ 0 w 820706"/>
                  <a:gd name="connsiteY8" fmla="*/ 82071 h 1101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0706" h="1101682">
                    <a:moveTo>
                      <a:pt x="0" y="82071"/>
                    </a:moveTo>
                    <a:cubicBezTo>
                      <a:pt x="0" y="36744"/>
                      <a:pt x="36744" y="0"/>
                      <a:pt x="82071" y="0"/>
                    </a:cubicBezTo>
                    <a:lnTo>
                      <a:pt x="738635" y="0"/>
                    </a:lnTo>
                    <a:cubicBezTo>
                      <a:pt x="783962" y="0"/>
                      <a:pt x="820706" y="36744"/>
                      <a:pt x="820706" y="82071"/>
                    </a:cubicBezTo>
                    <a:lnTo>
                      <a:pt x="820706" y="1019611"/>
                    </a:lnTo>
                    <a:cubicBezTo>
                      <a:pt x="820706" y="1064938"/>
                      <a:pt x="783962" y="1101682"/>
                      <a:pt x="738635" y="1101682"/>
                    </a:cubicBezTo>
                    <a:lnTo>
                      <a:pt x="82071" y="1101682"/>
                    </a:lnTo>
                    <a:cubicBezTo>
                      <a:pt x="36744" y="1101682"/>
                      <a:pt x="0" y="1064938"/>
                      <a:pt x="0" y="1019611"/>
                    </a:cubicBezTo>
                    <a:lnTo>
                      <a:pt x="0" y="82071"/>
                    </a:lnTo>
                    <a:close/>
                  </a:path>
                </a:pathLst>
              </a:custGeom>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6898" tIns="41183" rIns="46898" bIns="41183" numCol="1" spcCol="1270" anchor="ctr" anchorCtr="0">
                <a:noAutofit/>
              </a:bodyPr>
              <a:lstStyle/>
              <a:p>
                <a:pPr marL="0" lvl="0" indent="0" algn="ctr" defTabSz="400050">
                  <a:lnSpc>
                    <a:spcPct val="90000"/>
                  </a:lnSpc>
                  <a:spcBef>
                    <a:spcPct val="0"/>
                  </a:spcBef>
                  <a:spcAft>
                    <a:spcPct val="35000"/>
                  </a:spcAft>
                  <a:buNone/>
                </a:pPr>
                <a:r>
                  <a:rPr lang="zh-CN" altLang="en-US" sz="800" kern="1200" dirty="0">
                    <a:latin typeface="微软雅黑" panose="020B0503020204020204" charset="-122"/>
                    <a:ea typeface="微软雅黑" panose="020B0503020204020204" charset="-122"/>
                  </a:rPr>
                  <a:t>客户视图</a:t>
                </a:r>
                <a:endParaRPr lang="zh-CN" sz="800" kern="1200" dirty="0">
                  <a:latin typeface="微软雅黑" panose="020B0503020204020204" charset="-122"/>
                  <a:ea typeface="微软雅黑" panose="020B0503020204020204" charset="-122"/>
                </a:endParaRPr>
              </a:p>
            </p:txBody>
          </p:sp>
          <p:sp>
            <p:nvSpPr>
              <p:cNvPr id="59" name="任意多边形: 形状 69"/>
              <p:cNvSpPr/>
              <p:nvPr/>
            </p:nvSpPr>
            <p:spPr>
              <a:xfrm>
                <a:off x="7195101" y="5631713"/>
                <a:ext cx="820706" cy="356464"/>
              </a:xfrm>
              <a:custGeom>
                <a:avLst/>
                <a:gdLst>
                  <a:gd name="connsiteX0" fmla="*/ 0 w 820706"/>
                  <a:gd name="connsiteY0" fmla="*/ 82071 h 1101682"/>
                  <a:gd name="connsiteX1" fmla="*/ 82071 w 820706"/>
                  <a:gd name="connsiteY1" fmla="*/ 0 h 1101682"/>
                  <a:gd name="connsiteX2" fmla="*/ 738635 w 820706"/>
                  <a:gd name="connsiteY2" fmla="*/ 0 h 1101682"/>
                  <a:gd name="connsiteX3" fmla="*/ 820706 w 820706"/>
                  <a:gd name="connsiteY3" fmla="*/ 82071 h 1101682"/>
                  <a:gd name="connsiteX4" fmla="*/ 820706 w 820706"/>
                  <a:gd name="connsiteY4" fmla="*/ 1019611 h 1101682"/>
                  <a:gd name="connsiteX5" fmla="*/ 738635 w 820706"/>
                  <a:gd name="connsiteY5" fmla="*/ 1101682 h 1101682"/>
                  <a:gd name="connsiteX6" fmla="*/ 82071 w 820706"/>
                  <a:gd name="connsiteY6" fmla="*/ 1101682 h 1101682"/>
                  <a:gd name="connsiteX7" fmla="*/ 0 w 820706"/>
                  <a:gd name="connsiteY7" fmla="*/ 1019611 h 1101682"/>
                  <a:gd name="connsiteX8" fmla="*/ 0 w 820706"/>
                  <a:gd name="connsiteY8" fmla="*/ 82071 h 1101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0706" h="1101682">
                    <a:moveTo>
                      <a:pt x="0" y="82071"/>
                    </a:moveTo>
                    <a:cubicBezTo>
                      <a:pt x="0" y="36744"/>
                      <a:pt x="36744" y="0"/>
                      <a:pt x="82071" y="0"/>
                    </a:cubicBezTo>
                    <a:lnTo>
                      <a:pt x="738635" y="0"/>
                    </a:lnTo>
                    <a:cubicBezTo>
                      <a:pt x="783962" y="0"/>
                      <a:pt x="820706" y="36744"/>
                      <a:pt x="820706" y="82071"/>
                    </a:cubicBezTo>
                    <a:lnTo>
                      <a:pt x="820706" y="1019611"/>
                    </a:lnTo>
                    <a:cubicBezTo>
                      <a:pt x="820706" y="1064938"/>
                      <a:pt x="783962" y="1101682"/>
                      <a:pt x="738635" y="1101682"/>
                    </a:cubicBezTo>
                    <a:lnTo>
                      <a:pt x="82071" y="1101682"/>
                    </a:lnTo>
                    <a:cubicBezTo>
                      <a:pt x="36744" y="1101682"/>
                      <a:pt x="0" y="1064938"/>
                      <a:pt x="0" y="1019611"/>
                    </a:cubicBezTo>
                    <a:lnTo>
                      <a:pt x="0" y="82071"/>
                    </a:lnTo>
                    <a:close/>
                  </a:path>
                </a:pathLst>
              </a:custGeom>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6898" tIns="41183" rIns="46898" bIns="41183" numCol="1" spcCol="1270" anchor="ctr" anchorCtr="0">
                <a:noAutofit/>
              </a:bodyPr>
              <a:lstStyle/>
              <a:p>
                <a:pPr marL="0" lvl="0" indent="0" algn="ctr" defTabSz="400050">
                  <a:lnSpc>
                    <a:spcPct val="90000"/>
                  </a:lnSpc>
                  <a:spcBef>
                    <a:spcPct val="0"/>
                  </a:spcBef>
                  <a:spcAft>
                    <a:spcPct val="35000"/>
                  </a:spcAft>
                  <a:buNone/>
                </a:pPr>
                <a:r>
                  <a:rPr lang="zh-CN" altLang="en-US" sz="800" kern="1200" dirty="0">
                    <a:latin typeface="微软雅黑" panose="020B0503020204020204" charset="-122"/>
                    <a:ea typeface="微软雅黑" panose="020B0503020204020204" charset="-122"/>
                  </a:rPr>
                  <a:t>任务视图</a:t>
                </a:r>
                <a:endParaRPr lang="zh-CN" sz="800" kern="1200" dirty="0">
                  <a:latin typeface="微软雅黑" panose="020B0503020204020204" charset="-122"/>
                  <a:ea typeface="微软雅黑" panose="020B0503020204020204" charset="-122"/>
                </a:endParaRPr>
              </a:p>
            </p:txBody>
          </p:sp>
          <p:sp>
            <p:nvSpPr>
              <p:cNvPr id="60" name="任意多边形: 形状 70"/>
              <p:cNvSpPr/>
              <p:nvPr/>
            </p:nvSpPr>
            <p:spPr>
              <a:xfrm>
                <a:off x="7195101" y="6087870"/>
                <a:ext cx="820706" cy="356464"/>
              </a:xfrm>
              <a:custGeom>
                <a:avLst/>
                <a:gdLst>
                  <a:gd name="connsiteX0" fmla="*/ 0 w 820706"/>
                  <a:gd name="connsiteY0" fmla="*/ 82071 h 1101682"/>
                  <a:gd name="connsiteX1" fmla="*/ 82071 w 820706"/>
                  <a:gd name="connsiteY1" fmla="*/ 0 h 1101682"/>
                  <a:gd name="connsiteX2" fmla="*/ 738635 w 820706"/>
                  <a:gd name="connsiteY2" fmla="*/ 0 h 1101682"/>
                  <a:gd name="connsiteX3" fmla="*/ 820706 w 820706"/>
                  <a:gd name="connsiteY3" fmla="*/ 82071 h 1101682"/>
                  <a:gd name="connsiteX4" fmla="*/ 820706 w 820706"/>
                  <a:gd name="connsiteY4" fmla="*/ 1019611 h 1101682"/>
                  <a:gd name="connsiteX5" fmla="*/ 738635 w 820706"/>
                  <a:gd name="connsiteY5" fmla="*/ 1101682 h 1101682"/>
                  <a:gd name="connsiteX6" fmla="*/ 82071 w 820706"/>
                  <a:gd name="connsiteY6" fmla="*/ 1101682 h 1101682"/>
                  <a:gd name="connsiteX7" fmla="*/ 0 w 820706"/>
                  <a:gd name="connsiteY7" fmla="*/ 1019611 h 1101682"/>
                  <a:gd name="connsiteX8" fmla="*/ 0 w 820706"/>
                  <a:gd name="connsiteY8" fmla="*/ 82071 h 1101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820706" h="1101682">
                    <a:moveTo>
                      <a:pt x="0" y="82071"/>
                    </a:moveTo>
                    <a:cubicBezTo>
                      <a:pt x="0" y="36744"/>
                      <a:pt x="36744" y="0"/>
                      <a:pt x="82071" y="0"/>
                    </a:cubicBezTo>
                    <a:lnTo>
                      <a:pt x="738635" y="0"/>
                    </a:lnTo>
                    <a:cubicBezTo>
                      <a:pt x="783962" y="0"/>
                      <a:pt x="820706" y="36744"/>
                      <a:pt x="820706" y="82071"/>
                    </a:cubicBezTo>
                    <a:lnTo>
                      <a:pt x="820706" y="1019611"/>
                    </a:lnTo>
                    <a:cubicBezTo>
                      <a:pt x="820706" y="1064938"/>
                      <a:pt x="783962" y="1101682"/>
                      <a:pt x="738635" y="1101682"/>
                    </a:cubicBezTo>
                    <a:lnTo>
                      <a:pt x="82071" y="1101682"/>
                    </a:lnTo>
                    <a:cubicBezTo>
                      <a:pt x="36744" y="1101682"/>
                      <a:pt x="0" y="1064938"/>
                      <a:pt x="0" y="1019611"/>
                    </a:cubicBezTo>
                    <a:lnTo>
                      <a:pt x="0" y="82071"/>
                    </a:lnTo>
                    <a:close/>
                  </a:path>
                </a:pathLst>
              </a:custGeom>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46898" tIns="41183" rIns="46898" bIns="41183" numCol="1" spcCol="1270" anchor="ctr" anchorCtr="0">
                <a:noAutofit/>
              </a:bodyPr>
              <a:lstStyle/>
              <a:p>
                <a:pPr marL="0" lvl="0" indent="0" algn="ctr" defTabSz="400050">
                  <a:lnSpc>
                    <a:spcPct val="90000"/>
                  </a:lnSpc>
                  <a:spcBef>
                    <a:spcPct val="0"/>
                  </a:spcBef>
                  <a:spcAft>
                    <a:spcPct val="35000"/>
                  </a:spcAft>
                  <a:buNone/>
                </a:pPr>
                <a:r>
                  <a:rPr lang="zh-CN" altLang="en-US" sz="800" dirty="0">
                    <a:latin typeface="微软雅黑" panose="020B0503020204020204" charset="-122"/>
                    <a:ea typeface="微软雅黑" panose="020B0503020204020204" charset="-122"/>
                  </a:rPr>
                  <a:t>效果视图</a:t>
                </a:r>
                <a:endParaRPr lang="zh-CN" sz="800" kern="1200" dirty="0">
                  <a:latin typeface="微软雅黑" panose="020B0503020204020204" charset="-122"/>
                  <a:ea typeface="微软雅黑" panose="020B0503020204020204" charset="-122"/>
                </a:endParaRPr>
              </a:p>
            </p:txBody>
          </p:sp>
        </p:grpSp>
        <p:sp>
          <p:nvSpPr>
            <p:cNvPr id="121" name="文本框 120"/>
            <p:cNvSpPr txBox="1"/>
            <p:nvPr/>
          </p:nvSpPr>
          <p:spPr>
            <a:xfrm>
              <a:off x="10741" y="8061"/>
              <a:ext cx="1476" cy="743"/>
            </a:xfrm>
            <a:prstGeom prst="rect">
              <a:avLst/>
            </a:prstGeom>
            <a:noFill/>
          </p:spPr>
          <p:txBody>
            <a:bodyPr wrap="square" rtlCol="0">
              <a:spAutoFit/>
            </a:bodyPr>
            <a:lstStyle/>
            <a:p>
              <a:pPr lvl="0" algn="ctr" defTabSz="577850">
                <a:spcBef>
                  <a:spcPct val="0"/>
                </a:spcBef>
                <a:spcAft>
                  <a:spcPct val="35000"/>
                </a:spcAft>
              </a:pPr>
              <a:r>
                <a:rPr lang="zh-CN" altLang="en-US" sz="1000" b="1" dirty="0">
                  <a:latin typeface="微软雅黑" panose="020B0503020204020204" charset="-122"/>
                  <a:ea typeface="微软雅黑" panose="020B0503020204020204" charset="-122"/>
                </a:rPr>
                <a:t>预警指标</a:t>
              </a:r>
              <a:endParaRPr lang="en-US" altLang="zh-CN" sz="1000" b="1" dirty="0">
                <a:latin typeface="微软雅黑" panose="020B0503020204020204" charset="-122"/>
                <a:ea typeface="微软雅黑" panose="020B0503020204020204" charset="-122"/>
              </a:endParaRPr>
            </a:p>
            <a:p>
              <a:pPr lvl="0" algn="ctr" defTabSz="577850">
                <a:spcBef>
                  <a:spcPct val="0"/>
                </a:spcBef>
                <a:spcAft>
                  <a:spcPct val="35000"/>
                </a:spcAft>
              </a:pPr>
              <a:r>
                <a:rPr lang="zh-CN" altLang="en-US" sz="1000" dirty="0" smtClean="0">
                  <a:latin typeface="微软雅黑" panose="020B0503020204020204" charset="-122"/>
                  <a:ea typeface="微软雅黑" panose="020B0503020204020204" charset="-122"/>
                </a:rPr>
                <a:t>自动触发</a:t>
              </a:r>
              <a:endParaRPr lang="zh-CN" altLang="zh-CN" sz="1000" dirty="0">
                <a:latin typeface="微软雅黑" panose="020B0503020204020204" charset="-122"/>
                <a:ea typeface="微软雅黑" panose="020B0503020204020204" charset="-122"/>
              </a:endParaRPr>
            </a:p>
          </p:txBody>
        </p:sp>
        <p:sp>
          <p:nvSpPr>
            <p:cNvPr id="122" name="文本框 121"/>
            <p:cNvSpPr txBox="1"/>
            <p:nvPr/>
          </p:nvSpPr>
          <p:spPr>
            <a:xfrm>
              <a:off x="12570" y="8103"/>
              <a:ext cx="1476" cy="743"/>
            </a:xfrm>
            <a:prstGeom prst="rect">
              <a:avLst/>
            </a:prstGeom>
            <a:noFill/>
          </p:spPr>
          <p:txBody>
            <a:bodyPr wrap="square" rtlCol="0">
              <a:spAutoFit/>
            </a:bodyPr>
            <a:lstStyle>
              <a:defPPr>
                <a:defRPr lang="zh-CN"/>
              </a:defPPr>
              <a:lvl1pPr lvl="0" algn="ctr" defTabSz="577850">
                <a:spcBef>
                  <a:spcPct val="0"/>
                </a:spcBef>
                <a:spcAft>
                  <a:spcPct val="35000"/>
                </a:spcAft>
                <a:defRPr sz="1000" b="1">
                  <a:latin typeface="微软雅黑" panose="020B0503020204020204" charset="-122"/>
                  <a:ea typeface="微软雅黑" panose="020B0503020204020204" charset="-122"/>
                </a:defRPr>
              </a:lvl1pPr>
            </a:lstStyle>
            <a:p>
              <a:r>
                <a:rPr lang="zh-CN" altLang="en-US" dirty="0"/>
                <a:t>运营过程</a:t>
              </a:r>
              <a:endParaRPr lang="en-US" altLang="zh-CN" dirty="0"/>
            </a:p>
            <a:p>
              <a:r>
                <a:rPr lang="zh-CN" altLang="en-US" b="0" dirty="0"/>
                <a:t>实时监控</a:t>
              </a:r>
              <a:endParaRPr lang="zh-CN" altLang="zh-CN" b="0" dirty="0"/>
            </a:p>
          </p:txBody>
        </p:sp>
        <p:sp>
          <p:nvSpPr>
            <p:cNvPr id="124" name="文本框 123"/>
            <p:cNvSpPr txBox="1"/>
            <p:nvPr/>
          </p:nvSpPr>
          <p:spPr>
            <a:xfrm>
              <a:off x="14417" y="8109"/>
              <a:ext cx="1476" cy="743"/>
            </a:xfrm>
            <a:prstGeom prst="rect">
              <a:avLst/>
            </a:prstGeom>
            <a:noFill/>
          </p:spPr>
          <p:txBody>
            <a:bodyPr wrap="square" rtlCol="0">
              <a:spAutoFit/>
            </a:bodyPr>
            <a:lstStyle>
              <a:defPPr>
                <a:defRPr lang="zh-CN"/>
              </a:defPPr>
              <a:lvl1pPr lvl="0" algn="ctr" defTabSz="577850">
                <a:spcBef>
                  <a:spcPct val="0"/>
                </a:spcBef>
                <a:spcAft>
                  <a:spcPct val="35000"/>
                </a:spcAft>
                <a:defRPr sz="1000" b="1">
                  <a:latin typeface="微软雅黑" panose="020B0503020204020204" charset="-122"/>
                  <a:ea typeface="微软雅黑" panose="020B0503020204020204" charset="-122"/>
                </a:defRPr>
              </a:lvl1pPr>
            </a:lstStyle>
            <a:p>
              <a:r>
                <a:rPr lang="zh-CN" altLang="zh-CN" dirty="0"/>
                <a:t>效果评估</a:t>
              </a:r>
              <a:endParaRPr lang="en-US" altLang="zh-CN" dirty="0"/>
            </a:p>
            <a:p>
              <a:r>
                <a:rPr lang="zh-CN" altLang="en-US" b="0" dirty="0"/>
                <a:t>多维分析</a:t>
              </a:r>
              <a:endParaRPr lang="zh-CN" altLang="zh-CN" b="0" dirty="0"/>
            </a:p>
          </p:txBody>
        </p:sp>
        <p:sp>
          <p:nvSpPr>
            <p:cNvPr id="125" name="文本框 124"/>
            <p:cNvSpPr txBox="1"/>
            <p:nvPr/>
          </p:nvSpPr>
          <p:spPr>
            <a:xfrm>
              <a:off x="16257" y="8103"/>
              <a:ext cx="1476" cy="743"/>
            </a:xfrm>
            <a:prstGeom prst="rect">
              <a:avLst/>
            </a:prstGeom>
            <a:noFill/>
          </p:spPr>
          <p:txBody>
            <a:bodyPr wrap="square" rtlCol="0">
              <a:spAutoFit/>
            </a:bodyPr>
            <a:lstStyle>
              <a:defPPr>
                <a:defRPr lang="zh-CN"/>
              </a:defPPr>
              <a:lvl1pPr lvl="0" algn="ctr" defTabSz="577850">
                <a:spcBef>
                  <a:spcPct val="0"/>
                </a:spcBef>
                <a:spcAft>
                  <a:spcPct val="35000"/>
                </a:spcAft>
                <a:defRPr sz="1000" b="1">
                  <a:latin typeface="微软雅黑" panose="020B0503020204020204" charset="-122"/>
                  <a:ea typeface="微软雅黑" panose="020B0503020204020204" charset="-122"/>
                </a:defRPr>
              </a:lvl1pPr>
            </a:lstStyle>
            <a:p>
              <a:r>
                <a:rPr lang="zh-CN" altLang="en-US" dirty="0"/>
                <a:t>全局统筹</a:t>
              </a:r>
              <a:endParaRPr lang="en-US" altLang="zh-CN" dirty="0"/>
            </a:p>
            <a:p>
              <a:r>
                <a:rPr lang="zh-CN" altLang="en-US" b="0" dirty="0"/>
                <a:t>看板可视</a:t>
              </a:r>
              <a:endParaRPr lang="zh-CN" altLang="zh-CN" b="0" dirty="0"/>
            </a:p>
          </p:txBody>
        </p:sp>
      </p:grpSp>
      <p:sp>
        <p:nvSpPr>
          <p:cNvPr id="126" name="矩形 125"/>
          <p:cNvSpPr/>
          <p:nvPr/>
        </p:nvSpPr>
        <p:spPr>
          <a:xfrm>
            <a:off x="204470" y="2058670"/>
            <a:ext cx="11608435" cy="48704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600" b="1" dirty="0" smtClean="0">
                <a:solidFill>
                  <a:schemeClr val="bg1"/>
                </a:solidFill>
              </a:rPr>
              <a:t>对接</a:t>
            </a:r>
            <a:r>
              <a:rPr lang="en-US" altLang="zh-CN" sz="1600" b="1" dirty="0" smtClean="0">
                <a:solidFill>
                  <a:schemeClr val="bg1"/>
                </a:solidFill>
              </a:rPr>
              <a:t>10</a:t>
            </a:r>
            <a:r>
              <a:rPr lang="zh-CN" altLang="en-US" sz="1600" b="1" dirty="0" smtClean="0">
                <a:solidFill>
                  <a:schemeClr val="bg1"/>
                </a:solidFill>
              </a:rPr>
              <a:t>大系统，落地</a:t>
            </a:r>
            <a:r>
              <a:rPr lang="en-US" altLang="zh-CN" sz="1600" b="1" dirty="0" smtClean="0">
                <a:solidFill>
                  <a:schemeClr val="bg1"/>
                </a:solidFill>
              </a:rPr>
              <a:t>10</a:t>
            </a:r>
            <a:r>
              <a:rPr lang="zh-CN" altLang="en-US" sz="1600" b="1" dirty="0" smtClean="0">
                <a:solidFill>
                  <a:schemeClr val="bg1"/>
                </a:solidFill>
              </a:rPr>
              <a:t>类场景，实现</a:t>
            </a:r>
            <a:r>
              <a:rPr lang="en-US" altLang="zh-CN" sz="1600" b="1" dirty="0" smtClean="0">
                <a:solidFill>
                  <a:schemeClr val="bg1"/>
                </a:solidFill>
              </a:rPr>
              <a:t>4</a:t>
            </a:r>
            <a:r>
              <a:rPr lang="zh-CN" altLang="en-US" sz="1600" b="1" dirty="0" smtClean="0">
                <a:solidFill>
                  <a:schemeClr val="bg1"/>
                </a:solidFill>
              </a:rPr>
              <a:t>个转变</a:t>
            </a:r>
            <a:endParaRPr lang="zh-CN" altLang="en-US" sz="1600" b="1" dirty="0">
              <a:solidFill>
                <a:schemeClr val="bg1"/>
              </a:solidFill>
            </a:endParaRPr>
          </a:p>
        </p:txBody>
      </p:sp>
      <p:sp>
        <p:nvSpPr>
          <p:cNvPr id="129" name="任意多边形 128"/>
          <p:cNvSpPr/>
          <p:nvPr/>
        </p:nvSpPr>
        <p:spPr>
          <a:xfrm>
            <a:off x="205105" y="2613025"/>
            <a:ext cx="2627630" cy="358775"/>
          </a:xfrm>
          <a:custGeom>
            <a:avLst/>
            <a:gdLst>
              <a:gd name="connsiteX0" fmla="*/ 0 w 2514115"/>
              <a:gd name="connsiteY0" fmla="*/ 0 h 338326"/>
              <a:gd name="connsiteX1" fmla="*/ 2514115 w 2514115"/>
              <a:gd name="connsiteY1" fmla="*/ 0 h 338326"/>
              <a:gd name="connsiteX2" fmla="*/ 2514115 w 2514115"/>
              <a:gd name="connsiteY2" fmla="*/ 338326 h 338326"/>
              <a:gd name="connsiteX3" fmla="*/ 0 w 2514115"/>
              <a:gd name="connsiteY3" fmla="*/ 338326 h 338326"/>
              <a:gd name="connsiteX4" fmla="*/ 0 w 2514115"/>
              <a:gd name="connsiteY4" fmla="*/ 0 h 338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14115" h="338326">
                <a:moveTo>
                  <a:pt x="0" y="0"/>
                </a:moveTo>
                <a:lnTo>
                  <a:pt x="2514115" y="0"/>
                </a:lnTo>
                <a:lnTo>
                  <a:pt x="2514115" y="338326"/>
                </a:lnTo>
                <a:lnTo>
                  <a:pt x="0" y="338326"/>
                </a:lnTo>
                <a:lnTo>
                  <a:pt x="0" y="0"/>
                </a:lnTo>
                <a:close/>
              </a:path>
            </a:pathLst>
          </a:custGeom>
        </p:spPr>
        <p:style>
          <a:lnRef idx="2">
            <a:schemeClr val="accent1"/>
          </a:lnRef>
          <a:fillRef idx="1">
            <a:schemeClr val="lt1"/>
          </a:fillRef>
          <a:effectRef idx="0">
            <a:schemeClr val="accent1"/>
          </a:effectRef>
          <a:fontRef idx="minor">
            <a:schemeClr val="dk1"/>
          </a:fontRef>
        </p:style>
        <p:txBody>
          <a:bodyPr spcFirstLastPara="0" vert="horz" wrap="square" lIns="78232" tIns="44704" rIns="78232" bIns="44704" numCol="1" spcCol="1270" anchor="ctr" anchorCtr="0">
            <a:noAutofit/>
          </a:bodyPr>
          <a:lstStyle/>
          <a:p>
            <a:pPr lvl="0" algn="ctr" defTabSz="488950" rtl="0">
              <a:lnSpc>
                <a:spcPct val="90000"/>
              </a:lnSpc>
              <a:spcBef>
                <a:spcPct val="0"/>
              </a:spcBef>
              <a:spcAft>
                <a:spcPct val="35000"/>
              </a:spcAft>
            </a:pPr>
            <a:r>
              <a:rPr lang="zh-CN" altLang="en-US" sz="1200" b="1" kern="1200" dirty="0"/>
              <a:t>从人工盯控到</a:t>
            </a:r>
            <a:r>
              <a:rPr lang="zh-CN" altLang="en-US" sz="1200" b="1" kern="1200" dirty="0">
                <a:solidFill>
                  <a:srgbClr val="C00000"/>
                </a:solidFill>
              </a:rPr>
              <a:t>自动盯控</a:t>
            </a:r>
            <a:endParaRPr lang="zh-CN" altLang="en-US" sz="1200" b="1" kern="1200" dirty="0">
              <a:solidFill>
                <a:srgbClr val="C00000"/>
              </a:solidFill>
            </a:endParaRPr>
          </a:p>
        </p:txBody>
      </p:sp>
      <p:sp>
        <p:nvSpPr>
          <p:cNvPr id="130" name="文本框 129"/>
          <p:cNvSpPr txBox="1"/>
          <p:nvPr/>
        </p:nvSpPr>
        <p:spPr>
          <a:xfrm>
            <a:off x="5209540" y="3688080"/>
            <a:ext cx="1685925" cy="275590"/>
          </a:xfrm>
          <a:prstGeom prst="rect">
            <a:avLst/>
          </a:prstGeom>
          <a:noFill/>
        </p:spPr>
        <p:txBody>
          <a:bodyPr wrap="square" rtlCol="0">
            <a:spAutoFit/>
          </a:bodyPr>
          <a:lstStyle/>
          <a:p>
            <a:pPr algn="ctr"/>
            <a:r>
              <a:rPr lang="zh-CN" altLang="en-US" sz="1200" b="1" dirty="0" smtClean="0">
                <a:solidFill>
                  <a:schemeClr val="bg1"/>
                </a:solidFill>
              </a:rPr>
              <a:t>实现</a:t>
            </a:r>
            <a:r>
              <a:rPr lang="en-US" altLang="zh-CN" sz="1200" b="1" dirty="0" smtClean="0">
                <a:solidFill>
                  <a:schemeClr val="bg1"/>
                </a:solidFill>
              </a:rPr>
              <a:t>4</a:t>
            </a:r>
            <a:r>
              <a:rPr lang="zh-CN" altLang="en-US" sz="1200" b="1" dirty="0">
                <a:solidFill>
                  <a:schemeClr val="bg1"/>
                </a:solidFill>
              </a:rPr>
              <a:t>个</a:t>
            </a:r>
            <a:r>
              <a:rPr lang="zh-CN" altLang="en-US" sz="1200" b="1" dirty="0" smtClean="0">
                <a:solidFill>
                  <a:schemeClr val="bg1"/>
                </a:solidFill>
              </a:rPr>
              <a:t>转变</a:t>
            </a:r>
            <a:endParaRPr lang="zh-CN" altLang="en-US" sz="1200" b="1" dirty="0">
              <a:solidFill>
                <a:schemeClr val="bg1"/>
              </a:solidFill>
            </a:endParaRPr>
          </a:p>
        </p:txBody>
      </p:sp>
      <p:sp>
        <p:nvSpPr>
          <p:cNvPr id="142" name="任意多边形 141"/>
          <p:cNvSpPr/>
          <p:nvPr/>
        </p:nvSpPr>
        <p:spPr>
          <a:xfrm>
            <a:off x="3199765" y="2613025"/>
            <a:ext cx="2627630" cy="358775"/>
          </a:xfrm>
          <a:custGeom>
            <a:avLst/>
            <a:gdLst>
              <a:gd name="connsiteX0" fmla="*/ 0 w 2514115"/>
              <a:gd name="connsiteY0" fmla="*/ 0 h 338326"/>
              <a:gd name="connsiteX1" fmla="*/ 2514115 w 2514115"/>
              <a:gd name="connsiteY1" fmla="*/ 0 h 338326"/>
              <a:gd name="connsiteX2" fmla="*/ 2514115 w 2514115"/>
              <a:gd name="connsiteY2" fmla="*/ 338326 h 338326"/>
              <a:gd name="connsiteX3" fmla="*/ 0 w 2514115"/>
              <a:gd name="connsiteY3" fmla="*/ 338326 h 338326"/>
              <a:gd name="connsiteX4" fmla="*/ 0 w 2514115"/>
              <a:gd name="connsiteY4" fmla="*/ 0 h 338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14115" h="338326">
                <a:moveTo>
                  <a:pt x="0" y="0"/>
                </a:moveTo>
                <a:lnTo>
                  <a:pt x="2514115" y="0"/>
                </a:lnTo>
                <a:lnTo>
                  <a:pt x="2514115" y="338326"/>
                </a:lnTo>
                <a:lnTo>
                  <a:pt x="0" y="338326"/>
                </a:lnTo>
                <a:lnTo>
                  <a:pt x="0" y="0"/>
                </a:lnTo>
                <a:close/>
              </a:path>
            </a:pathLst>
          </a:custGeom>
        </p:spPr>
        <p:style>
          <a:lnRef idx="2">
            <a:schemeClr val="accent1"/>
          </a:lnRef>
          <a:fillRef idx="1">
            <a:schemeClr val="lt1"/>
          </a:fillRef>
          <a:effectRef idx="0">
            <a:schemeClr val="accent1"/>
          </a:effectRef>
          <a:fontRef idx="minor">
            <a:schemeClr val="dk1"/>
          </a:fontRef>
        </p:style>
        <p:txBody>
          <a:bodyPr spcFirstLastPara="0" vert="horz" wrap="square" lIns="78232" tIns="44704" rIns="78232" bIns="44704" numCol="1" spcCol="1270" anchor="ctr" anchorCtr="0">
            <a:noAutofit/>
          </a:bodyPr>
          <a:lstStyle/>
          <a:p>
            <a:pPr lvl="0" algn="ctr" defTabSz="488950" rtl="0">
              <a:lnSpc>
                <a:spcPct val="90000"/>
              </a:lnSpc>
              <a:spcBef>
                <a:spcPct val="0"/>
              </a:spcBef>
              <a:spcAft>
                <a:spcPct val="35000"/>
              </a:spcAft>
            </a:pPr>
            <a:r>
              <a:rPr lang="zh-CN" altLang="en-US" sz="1200" b="1" kern="1200" dirty="0" smtClean="0"/>
              <a:t>从分散管理</a:t>
            </a:r>
            <a:r>
              <a:rPr lang="zh-CN" altLang="en-US" sz="1200" b="1" kern="1200" dirty="0"/>
              <a:t>到</a:t>
            </a:r>
            <a:r>
              <a:rPr lang="zh-CN" altLang="en-US" sz="1200" b="1" kern="1200" dirty="0">
                <a:solidFill>
                  <a:srgbClr val="C00000"/>
                </a:solidFill>
              </a:rPr>
              <a:t>全流程闭环管控</a:t>
            </a:r>
            <a:endParaRPr lang="zh-CN" altLang="en-US" sz="1200" b="1" kern="1200" dirty="0">
              <a:solidFill>
                <a:srgbClr val="C00000"/>
              </a:solidFill>
            </a:endParaRPr>
          </a:p>
        </p:txBody>
      </p:sp>
      <p:sp>
        <p:nvSpPr>
          <p:cNvPr id="143" name="任意多边形 142"/>
          <p:cNvSpPr/>
          <p:nvPr/>
        </p:nvSpPr>
        <p:spPr>
          <a:xfrm>
            <a:off x="6195060" y="2613025"/>
            <a:ext cx="2627630" cy="358775"/>
          </a:xfrm>
          <a:custGeom>
            <a:avLst/>
            <a:gdLst>
              <a:gd name="connsiteX0" fmla="*/ 0 w 2514115"/>
              <a:gd name="connsiteY0" fmla="*/ 0 h 338326"/>
              <a:gd name="connsiteX1" fmla="*/ 2514115 w 2514115"/>
              <a:gd name="connsiteY1" fmla="*/ 0 h 338326"/>
              <a:gd name="connsiteX2" fmla="*/ 2514115 w 2514115"/>
              <a:gd name="connsiteY2" fmla="*/ 338326 h 338326"/>
              <a:gd name="connsiteX3" fmla="*/ 0 w 2514115"/>
              <a:gd name="connsiteY3" fmla="*/ 338326 h 338326"/>
              <a:gd name="connsiteX4" fmla="*/ 0 w 2514115"/>
              <a:gd name="connsiteY4" fmla="*/ 0 h 338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14115" h="338326">
                <a:moveTo>
                  <a:pt x="0" y="0"/>
                </a:moveTo>
                <a:lnTo>
                  <a:pt x="2514115" y="0"/>
                </a:lnTo>
                <a:lnTo>
                  <a:pt x="2514115" y="338326"/>
                </a:lnTo>
                <a:lnTo>
                  <a:pt x="0" y="338326"/>
                </a:lnTo>
                <a:lnTo>
                  <a:pt x="0" y="0"/>
                </a:lnTo>
                <a:close/>
              </a:path>
            </a:pathLst>
          </a:custGeom>
        </p:spPr>
        <p:style>
          <a:lnRef idx="2">
            <a:schemeClr val="accent1"/>
          </a:lnRef>
          <a:fillRef idx="1">
            <a:schemeClr val="lt1"/>
          </a:fillRef>
          <a:effectRef idx="0">
            <a:schemeClr val="accent1"/>
          </a:effectRef>
          <a:fontRef idx="minor">
            <a:schemeClr val="dk1"/>
          </a:fontRef>
        </p:style>
        <p:txBody>
          <a:bodyPr spcFirstLastPara="0" vert="horz" wrap="square" lIns="78232" tIns="44704" rIns="78232" bIns="44704" numCol="1" spcCol="1270" anchor="ctr" anchorCtr="0">
            <a:noAutofit/>
          </a:bodyPr>
          <a:lstStyle/>
          <a:p>
            <a:pPr lvl="0" algn="ctr" defTabSz="488950" rtl="0">
              <a:lnSpc>
                <a:spcPct val="90000"/>
              </a:lnSpc>
              <a:spcBef>
                <a:spcPct val="0"/>
              </a:spcBef>
              <a:spcAft>
                <a:spcPct val="35000"/>
              </a:spcAft>
            </a:pPr>
            <a:r>
              <a:rPr lang="zh-CN" altLang="en-US" sz="1200" b="1" kern="1200" dirty="0" smtClean="0"/>
              <a:t>从单一分析到</a:t>
            </a:r>
            <a:r>
              <a:rPr lang="zh-CN" altLang="en-US" sz="1200" b="1" kern="1200" dirty="0" smtClean="0">
                <a:solidFill>
                  <a:srgbClr val="C00000"/>
                </a:solidFill>
              </a:rPr>
              <a:t>多维视图</a:t>
            </a:r>
            <a:endParaRPr lang="zh-CN" altLang="en-US" sz="1200" b="1" kern="1200" dirty="0">
              <a:solidFill>
                <a:srgbClr val="C00000"/>
              </a:solidFill>
            </a:endParaRPr>
          </a:p>
        </p:txBody>
      </p:sp>
      <p:sp>
        <p:nvSpPr>
          <p:cNvPr id="144" name="任意多边形 143"/>
          <p:cNvSpPr/>
          <p:nvPr/>
        </p:nvSpPr>
        <p:spPr>
          <a:xfrm>
            <a:off x="9190990" y="2613025"/>
            <a:ext cx="2627630" cy="358775"/>
          </a:xfrm>
          <a:custGeom>
            <a:avLst/>
            <a:gdLst>
              <a:gd name="connsiteX0" fmla="*/ 0 w 2514115"/>
              <a:gd name="connsiteY0" fmla="*/ 0 h 338326"/>
              <a:gd name="connsiteX1" fmla="*/ 2514115 w 2514115"/>
              <a:gd name="connsiteY1" fmla="*/ 0 h 338326"/>
              <a:gd name="connsiteX2" fmla="*/ 2514115 w 2514115"/>
              <a:gd name="connsiteY2" fmla="*/ 338326 h 338326"/>
              <a:gd name="connsiteX3" fmla="*/ 0 w 2514115"/>
              <a:gd name="connsiteY3" fmla="*/ 338326 h 338326"/>
              <a:gd name="connsiteX4" fmla="*/ 0 w 2514115"/>
              <a:gd name="connsiteY4" fmla="*/ 0 h 3383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14115" h="338326">
                <a:moveTo>
                  <a:pt x="0" y="0"/>
                </a:moveTo>
                <a:lnTo>
                  <a:pt x="2514115" y="0"/>
                </a:lnTo>
                <a:lnTo>
                  <a:pt x="2514115" y="338326"/>
                </a:lnTo>
                <a:lnTo>
                  <a:pt x="0" y="338326"/>
                </a:lnTo>
                <a:lnTo>
                  <a:pt x="0" y="0"/>
                </a:lnTo>
                <a:close/>
              </a:path>
            </a:pathLst>
          </a:custGeom>
        </p:spPr>
        <p:style>
          <a:lnRef idx="2">
            <a:schemeClr val="accent1"/>
          </a:lnRef>
          <a:fillRef idx="1">
            <a:schemeClr val="lt1"/>
          </a:fillRef>
          <a:effectRef idx="0">
            <a:schemeClr val="accent1"/>
          </a:effectRef>
          <a:fontRef idx="minor">
            <a:schemeClr val="dk1"/>
          </a:fontRef>
        </p:style>
        <p:txBody>
          <a:bodyPr spcFirstLastPara="0" vert="horz" wrap="square" lIns="78232" tIns="44704" rIns="78232" bIns="44704" numCol="1" spcCol="1270" anchor="ctr" anchorCtr="0">
            <a:noAutofit/>
          </a:bodyPr>
          <a:lstStyle/>
          <a:p>
            <a:pPr lvl="0" algn="ctr" defTabSz="488950" rtl="0">
              <a:lnSpc>
                <a:spcPct val="90000"/>
              </a:lnSpc>
              <a:spcBef>
                <a:spcPct val="0"/>
              </a:spcBef>
              <a:spcAft>
                <a:spcPct val="35000"/>
              </a:spcAft>
            </a:pPr>
            <a:r>
              <a:rPr lang="zh-CN" altLang="en-US" sz="1200" b="1" kern="1200" dirty="0" smtClean="0"/>
              <a:t>从单兵执行到</a:t>
            </a:r>
            <a:r>
              <a:rPr lang="zh-CN" altLang="en-US" sz="1200" b="1" dirty="0" smtClean="0">
                <a:solidFill>
                  <a:srgbClr val="C00000"/>
                </a:solidFill>
              </a:rPr>
              <a:t>协同作战</a:t>
            </a:r>
            <a:endParaRPr lang="zh-CN" altLang="en-US" sz="1200" b="1" kern="1200" dirty="0">
              <a:solidFill>
                <a:srgbClr val="C00000"/>
              </a:solidFill>
            </a:endParaRPr>
          </a:p>
        </p:txBody>
      </p:sp>
      <p:sp>
        <p:nvSpPr>
          <p:cNvPr id="7" name="文本框 6"/>
          <p:cNvSpPr txBox="1"/>
          <p:nvPr/>
        </p:nvSpPr>
        <p:spPr>
          <a:xfrm>
            <a:off x="2353945" y="6039485"/>
            <a:ext cx="3841750" cy="453390"/>
          </a:xfrm>
          <a:prstGeom prst="rect">
            <a:avLst/>
          </a:prstGeom>
          <a:solidFill>
            <a:schemeClr val="accent1">
              <a:alpha val="5000"/>
            </a:schemeClr>
          </a:solidFill>
          <a:ln>
            <a:gradFill>
              <a:gsLst>
                <a:gs pos="0">
                  <a:schemeClr val="accent1">
                    <a:lumMod val="5000"/>
                    <a:lumOff val="95000"/>
                  </a:schemeClr>
                </a:gs>
                <a:gs pos="26000">
                  <a:schemeClr val="accent1">
                    <a:lumMod val="45000"/>
                    <a:lumOff val="55000"/>
                  </a:schemeClr>
                </a:gs>
                <a:gs pos="80000">
                  <a:schemeClr val="accent1">
                    <a:lumMod val="45000"/>
                    <a:lumOff val="55000"/>
                  </a:schemeClr>
                </a:gs>
                <a:gs pos="100000">
                  <a:schemeClr val="accent1">
                    <a:lumMod val="30000"/>
                    <a:lumOff val="70000"/>
                  </a:schemeClr>
                </a:gs>
              </a:gsLst>
              <a:lin ang="5400000" scaled="1"/>
            </a:gradFill>
          </a:ln>
        </p:spPr>
        <p:txBody>
          <a:bodyPr wrap="square" rtlCol="0">
            <a:noAutofit/>
          </a:bodyPr>
          <a:p>
            <a:endParaRPr lang="zh-CN" altLang="en-US" sz="1400"/>
          </a:p>
        </p:txBody>
      </p:sp>
      <p:sp>
        <p:nvSpPr>
          <p:cNvPr id="10" name="矩形 9"/>
          <p:cNvSpPr/>
          <p:nvPr/>
        </p:nvSpPr>
        <p:spPr>
          <a:xfrm>
            <a:off x="1343025" y="5193030"/>
            <a:ext cx="3690620" cy="687705"/>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eaLnBrk="1" hangingPunct="1"/>
            <a:r>
              <a:rPr lang="zh-CN" altLang="en-US" sz="1000" b="1" dirty="0">
                <a:solidFill>
                  <a:schemeClr val="bg1"/>
                </a:solidFill>
                <a:latin typeface="微软雅黑" panose="020B0503020204020204" charset="-122"/>
                <a:ea typeface="微软雅黑" panose="020B0503020204020204" charset="-122"/>
              </a:rPr>
              <a:t>精益运营平台</a:t>
            </a:r>
            <a:endParaRPr lang="zh-CN" altLang="en-US" sz="1000" b="1" dirty="0">
              <a:solidFill>
                <a:schemeClr val="bg1"/>
              </a:solidFill>
              <a:latin typeface="微软雅黑" panose="020B0503020204020204" charset="-122"/>
              <a:ea typeface="微软雅黑" panose="020B0503020204020204" charset="-122"/>
            </a:endParaRPr>
          </a:p>
        </p:txBody>
      </p:sp>
      <p:sp>
        <p:nvSpPr>
          <p:cNvPr id="16" name="矩形 15"/>
          <p:cNvSpPr/>
          <p:nvPr/>
        </p:nvSpPr>
        <p:spPr>
          <a:xfrm>
            <a:off x="1343025" y="6155055"/>
            <a:ext cx="952500" cy="332105"/>
          </a:xfrm>
          <a:prstGeom prst="rect">
            <a:avLst/>
          </a:prstGeom>
          <a:solidFill>
            <a:srgbClr val="93C7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dirty="0">
                <a:solidFill>
                  <a:schemeClr val="bg1"/>
                </a:solidFill>
                <a:latin typeface="微软雅黑" panose="020B0503020204020204" charset="-122"/>
                <a:ea typeface="微软雅黑" panose="020B0503020204020204" charset="-122"/>
              </a:rPr>
              <a:t>IOP</a:t>
            </a:r>
            <a:r>
              <a:rPr lang="zh-CN" altLang="en-US" sz="900" b="1" dirty="0">
                <a:solidFill>
                  <a:schemeClr val="bg1"/>
                </a:solidFill>
                <a:latin typeface="微软雅黑" panose="020B0503020204020204" charset="-122"/>
                <a:ea typeface="微软雅黑" panose="020B0503020204020204" charset="-122"/>
              </a:rPr>
              <a:t>平台</a:t>
            </a:r>
            <a:endParaRPr lang="zh-CN" altLang="en-US" sz="900" b="1" dirty="0">
              <a:solidFill>
                <a:schemeClr val="bg1"/>
              </a:solidFill>
              <a:latin typeface="微软雅黑" panose="020B0503020204020204" charset="-122"/>
              <a:ea typeface="微软雅黑" panose="020B0503020204020204" charset="-122"/>
            </a:endParaRPr>
          </a:p>
        </p:txBody>
      </p:sp>
      <p:sp>
        <p:nvSpPr>
          <p:cNvPr id="17" name="矩形 16"/>
          <p:cNvSpPr/>
          <p:nvPr/>
        </p:nvSpPr>
        <p:spPr>
          <a:xfrm>
            <a:off x="1343025" y="4638040"/>
            <a:ext cx="829945" cy="257175"/>
          </a:xfrm>
          <a:prstGeom prst="rect">
            <a:avLst/>
          </a:prstGeom>
          <a:solidFill>
            <a:srgbClr val="93C7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bg1"/>
                </a:solidFill>
                <a:latin typeface="微软雅黑" panose="020B0503020204020204" charset="-122"/>
                <a:ea typeface="微软雅黑" panose="020B0503020204020204" charset="-122"/>
              </a:rPr>
              <a:t>大数据平台</a:t>
            </a:r>
            <a:endParaRPr lang="zh-CN" altLang="en-US" sz="900" b="1" dirty="0">
              <a:solidFill>
                <a:schemeClr val="bg1"/>
              </a:solidFill>
              <a:latin typeface="微软雅黑" panose="020B0503020204020204" charset="-122"/>
              <a:ea typeface="微软雅黑" panose="020B0503020204020204" charset="-122"/>
            </a:endParaRPr>
          </a:p>
        </p:txBody>
      </p:sp>
      <p:sp>
        <p:nvSpPr>
          <p:cNvPr id="23" name="矩形 22"/>
          <p:cNvSpPr/>
          <p:nvPr/>
        </p:nvSpPr>
        <p:spPr>
          <a:xfrm>
            <a:off x="5219065" y="5193030"/>
            <a:ext cx="840740" cy="687705"/>
          </a:xfrm>
          <a:prstGeom prst="rect">
            <a:avLst/>
          </a:prstGeom>
          <a:solidFill>
            <a:srgbClr val="93C7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r>
              <a:rPr lang="en-US" altLang="zh-CN" sz="900" b="1" dirty="0">
                <a:solidFill>
                  <a:schemeClr val="bg1"/>
                </a:solidFill>
                <a:latin typeface="微软雅黑" panose="020B0503020204020204" charset="-122"/>
                <a:ea typeface="微软雅黑" panose="020B0503020204020204" charset="-122"/>
              </a:rPr>
              <a:t>CRM</a:t>
            </a:r>
            <a:r>
              <a:rPr lang="zh-CN" altLang="en-US" sz="900" b="1" dirty="0">
                <a:solidFill>
                  <a:schemeClr val="bg1"/>
                </a:solidFill>
                <a:latin typeface="微软雅黑" panose="020B0503020204020204" charset="-122"/>
                <a:ea typeface="微软雅黑" panose="020B0503020204020204" charset="-122"/>
              </a:rPr>
              <a:t>系统</a:t>
            </a:r>
            <a:endParaRPr lang="zh-CN" altLang="en-US" sz="900" b="1" dirty="0">
              <a:solidFill>
                <a:schemeClr val="bg1"/>
              </a:solidFill>
              <a:latin typeface="微软雅黑" panose="020B0503020204020204" charset="-122"/>
              <a:ea typeface="微软雅黑" panose="020B0503020204020204" charset="-122"/>
            </a:endParaRPr>
          </a:p>
        </p:txBody>
      </p:sp>
      <p:sp>
        <p:nvSpPr>
          <p:cNvPr id="24" name="矩形 23"/>
          <p:cNvSpPr/>
          <p:nvPr/>
        </p:nvSpPr>
        <p:spPr>
          <a:xfrm>
            <a:off x="356235" y="5193030"/>
            <a:ext cx="654050" cy="687705"/>
          </a:xfrm>
          <a:prstGeom prst="rect">
            <a:avLst/>
          </a:prstGeom>
          <a:solidFill>
            <a:srgbClr val="93C7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bg1"/>
                </a:solidFill>
                <a:latin typeface="微软雅黑" panose="020B0503020204020204" charset="-122"/>
                <a:ea typeface="微软雅黑" panose="020B0503020204020204" charset="-122"/>
              </a:rPr>
              <a:t>产商品中心</a:t>
            </a:r>
            <a:endParaRPr lang="zh-CN" altLang="en-US" sz="900" b="1" dirty="0">
              <a:solidFill>
                <a:schemeClr val="bg1"/>
              </a:solidFill>
              <a:latin typeface="微软雅黑" panose="020B0503020204020204" charset="-122"/>
              <a:ea typeface="微软雅黑" panose="020B0503020204020204" charset="-122"/>
            </a:endParaRPr>
          </a:p>
        </p:txBody>
      </p:sp>
      <p:sp>
        <p:nvSpPr>
          <p:cNvPr id="25" name="矩形 24"/>
          <p:cNvSpPr/>
          <p:nvPr/>
        </p:nvSpPr>
        <p:spPr>
          <a:xfrm>
            <a:off x="2428240" y="6102985"/>
            <a:ext cx="1391285" cy="384810"/>
          </a:xfrm>
          <a:prstGeom prst="rect">
            <a:avLst/>
          </a:prstGeom>
          <a:solidFill>
            <a:srgbClr val="93C7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bg1"/>
                </a:solidFill>
                <a:latin typeface="微软雅黑" panose="020B0503020204020204" charset="-122"/>
                <a:ea typeface="微软雅黑" panose="020B0503020204020204" charset="-122"/>
              </a:rPr>
              <a:t>网格</a:t>
            </a:r>
            <a:r>
              <a:rPr lang="zh-CN" altLang="en-US" sz="900" b="1" dirty="0" smtClean="0">
                <a:solidFill>
                  <a:schemeClr val="bg1"/>
                </a:solidFill>
                <a:latin typeface="微软雅黑" panose="020B0503020204020204" charset="-122"/>
                <a:ea typeface="微软雅黑" panose="020B0503020204020204" charset="-122"/>
              </a:rPr>
              <a:t>通</a:t>
            </a:r>
            <a:endParaRPr lang="zh-CN" altLang="en-US" sz="900" b="1" dirty="0" smtClean="0">
              <a:solidFill>
                <a:schemeClr val="bg1"/>
              </a:solidFill>
              <a:latin typeface="微软雅黑" panose="020B0503020204020204" charset="-122"/>
              <a:ea typeface="微软雅黑" panose="020B0503020204020204" charset="-122"/>
            </a:endParaRPr>
          </a:p>
          <a:p>
            <a:pPr algn="ctr"/>
            <a:r>
              <a:rPr lang="zh-CN" altLang="en-US" sz="700" b="1" dirty="0" smtClean="0">
                <a:solidFill>
                  <a:schemeClr val="bg1"/>
                </a:solidFill>
                <a:latin typeface="微软雅黑" panose="020B0503020204020204" charset="-122"/>
                <a:ea typeface="微软雅黑" panose="020B0503020204020204" charset="-122"/>
              </a:rPr>
              <a:t>（网格经理、政企客户经理、地市集运）</a:t>
            </a:r>
            <a:endParaRPr lang="zh-CN" altLang="en-US" sz="700" b="1" dirty="0" smtClean="0">
              <a:solidFill>
                <a:schemeClr val="bg1"/>
              </a:solidFill>
              <a:latin typeface="微软雅黑" panose="020B0503020204020204" charset="-122"/>
              <a:ea typeface="微软雅黑" panose="020B0503020204020204" charset="-122"/>
            </a:endParaRPr>
          </a:p>
        </p:txBody>
      </p:sp>
      <p:sp>
        <p:nvSpPr>
          <p:cNvPr id="26" name="矩形 25"/>
          <p:cNvSpPr/>
          <p:nvPr/>
        </p:nvSpPr>
        <p:spPr>
          <a:xfrm>
            <a:off x="4144645" y="4638040"/>
            <a:ext cx="886460" cy="262255"/>
          </a:xfrm>
          <a:prstGeom prst="rect">
            <a:avLst/>
          </a:prstGeom>
          <a:solidFill>
            <a:srgbClr val="93C7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dirty="0">
                <a:solidFill>
                  <a:schemeClr val="bg1"/>
                </a:solidFill>
                <a:latin typeface="微软雅黑" panose="020B0503020204020204" charset="-122"/>
                <a:ea typeface="微软雅黑" panose="020B0503020204020204" charset="-122"/>
              </a:rPr>
              <a:t>OA</a:t>
            </a:r>
            <a:r>
              <a:rPr lang="zh-CN" altLang="en-US" sz="900" b="1" dirty="0">
                <a:solidFill>
                  <a:schemeClr val="bg1"/>
                </a:solidFill>
                <a:latin typeface="微软雅黑" panose="020B0503020204020204" charset="-122"/>
                <a:ea typeface="微软雅黑" panose="020B0503020204020204" charset="-122"/>
              </a:rPr>
              <a:t>系统</a:t>
            </a:r>
            <a:endParaRPr lang="zh-CN" altLang="en-US" sz="900" b="1" dirty="0">
              <a:solidFill>
                <a:schemeClr val="bg1"/>
              </a:solidFill>
              <a:latin typeface="微软雅黑" panose="020B0503020204020204" charset="-122"/>
              <a:ea typeface="微软雅黑" panose="020B0503020204020204" charset="-122"/>
            </a:endParaRPr>
          </a:p>
        </p:txBody>
      </p:sp>
      <p:sp>
        <p:nvSpPr>
          <p:cNvPr id="27" name="箭头: 下 12"/>
          <p:cNvSpPr/>
          <p:nvPr/>
        </p:nvSpPr>
        <p:spPr>
          <a:xfrm>
            <a:off x="1780540" y="5930900"/>
            <a:ext cx="198120" cy="171450"/>
          </a:xfrm>
          <a:prstGeom prst="downArrow">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endParaRPr lang="zh-CN" altLang="en-US" sz="900" b="1" dirty="0">
              <a:solidFill>
                <a:schemeClr val="bg1">
                  <a:lumMod val="50000"/>
                </a:schemeClr>
              </a:solidFill>
              <a:latin typeface="微软雅黑" panose="020B0503020204020204" charset="-122"/>
              <a:ea typeface="微软雅黑" panose="020B0503020204020204" charset="-122"/>
            </a:endParaRPr>
          </a:p>
        </p:txBody>
      </p:sp>
      <p:sp>
        <p:nvSpPr>
          <p:cNvPr id="28" name="文本框 27"/>
          <p:cNvSpPr txBox="1"/>
          <p:nvPr/>
        </p:nvSpPr>
        <p:spPr>
          <a:xfrm>
            <a:off x="1282065" y="5830570"/>
            <a:ext cx="647700" cy="198755"/>
          </a:xfrm>
          <a:prstGeom prst="rect">
            <a:avLst/>
          </a:prstGeom>
          <a:noFill/>
        </p:spPr>
        <p:txBody>
          <a:bodyPr wrap="square" rtlCol="0">
            <a:spAutoFit/>
          </a:bodyPr>
          <a:lstStyle/>
          <a:p>
            <a:r>
              <a:rPr lang="zh-CN" altLang="en-US" sz="700" b="1" dirty="0">
                <a:solidFill>
                  <a:schemeClr val="bg1">
                    <a:lumMod val="50000"/>
                  </a:schemeClr>
                </a:solidFill>
                <a:latin typeface="微软雅黑" panose="020B0503020204020204" charset="-122"/>
                <a:ea typeface="微软雅黑" panose="020B0503020204020204" charset="-122"/>
              </a:rPr>
              <a:t>任务执行</a:t>
            </a:r>
            <a:endParaRPr lang="zh-CN" altLang="en-US" sz="700" b="1" dirty="0">
              <a:solidFill>
                <a:schemeClr val="bg1">
                  <a:lumMod val="50000"/>
                </a:schemeClr>
              </a:solidFill>
              <a:latin typeface="微软雅黑" panose="020B0503020204020204" charset="-122"/>
              <a:ea typeface="微软雅黑" panose="020B0503020204020204" charset="-122"/>
            </a:endParaRPr>
          </a:p>
        </p:txBody>
      </p:sp>
      <p:sp>
        <p:nvSpPr>
          <p:cNvPr id="29" name="箭头: 下 14"/>
          <p:cNvSpPr/>
          <p:nvPr/>
        </p:nvSpPr>
        <p:spPr>
          <a:xfrm flipV="1">
            <a:off x="2063750" y="5930900"/>
            <a:ext cx="198120" cy="171450"/>
          </a:xfrm>
          <a:prstGeom prst="downArrow">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endParaRPr lang="zh-CN" altLang="en-US" sz="900" b="1" dirty="0">
              <a:solidFill>
                <a:schemeClr val="bg1">
                  <a:lumMod val="50000"/>
                </a:schemeClr>
              </a:solidFill>
              <a:latin typeface="微软雅黑" panose="020B0503020204020204" charset="-122"/>
              <a:ea typeface="微软雅黑" panose="020B0503020204020204" charset="-122"/>
            </a:endParaRPr>
          </a:p>
        </p:txBody>
      </p:sp>
      <p:sp>
        <p:nvSpPr>
          <p:cNvPr id="30" name="文本框 29"/>
          <p:cNvSpPr txBox="1"/>
          <p:nvPr/>
        </p:nvSpPr>
        <p:spPr>
          <a:xfrm>
            <a:off x="2298065" y="5830570"/>
            <a:ext cx="608965" cy="198755"/>
          </a:xfrm>
          <a:prstGeom prst="rect">
            <a:avLst/>
          </a:prstGeom>
          <a:noFill/>
        </p:spPr>
        <p:txBody>
          <a:bodyPr wrap="square" rtlCol="0">
            <a:spAutoFit/>
          </a:bodyPr>
          <a:lstStyle/>
          <a:p>
            <a:r>
              <a:rPr lang="zh-CN" altLang="en-US" sz="700" b="1" dirty="0">
                <a:solidFill>
                  <a:schemeClr val="bg1">
                    <a:lumMod val="50000"/>
                  </a:schemeClr>
                </a:solidFill>
                <a:latin typeface="微软雅黑" panose="020B0503020204020204" charset="-122"/>
                <a:ea typeface="微软雅黑" panose="020B0503020204020204" charset="-122"/>
              </a:rPr>
              <a:t>效果反馈</a:t>
            </a:r>
            <a:endParaRPr lang="zh-CN" altLang="en-US" sz="700" b="1" dirty="0">
              <a:solidFill>
                <a:schemeClr val="bg1">
                  <a:lumMod val="50000"/>
                </a:schemeClr>
              </a:solidFill>
              <a:latin typeface="微软雅黑" panose="020B0503020204020204" charset="-122"/>
              <a:ea typeface="微软雅黑" panose="020B0503020204020204" charset="-122"/>
            </a:endParaRPr>
          </a:p>
        </p:txBody>
      </p:sp>
      <p:sp>
        <p:nvSpPr>
          <p:cNvPr id="31" name="箭头: 下 16"/>
          <p:cNvSpPr/>
          <p:nvPr/>
        </p:nvSpPr>
        <p:spPr>
          <a:xfrm>
            <a:off x="3652520" y="5930900"/>
            <a:ext cx="198120" cy="171450"/>
          </a:xfrm>
          <a:prstGeom prst="downArrow">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endParaRPr lang="zh-CN" altLang="en-US" sz="900" b="1" dirty="0">
              <a:solidFill>
                <a:schemeClr val="bg1">
                  <a:lumMod val="50000"/>
                </a:schemeClr>
              </a:solidFill>
              <a:latin typeface="微软雅黑" panose="020B0503020204020204" charset="-122"/>
              <a:ea typeface="微软雅黑" panose="020B0503020204020204" charset="-122"/>
            </a:endParaRPr>
          </a:p>
        </p:txBody>
      </p:sp>
      <p:sp>
        <p:nvSpPr>
          <p:cNvPr id="32" name="文本框 31"/>
          <p:cNvSpPr txBox="1"/>
          <p:nvPr/>
        </p:nvSpPr>
        <p:spPr>
          <a:xfrm>
            <a:off x="3148965" y="5840095"/>
            <a:ext cx="619125" cy="198755"/>
          </a:xfrm>
          <a:prstGeom prst="rect">
            <a:avLst/>
          </a:prstGeom>
          <a:noFill/>
        </p:spPr>
        <p:txBody>
          <a:bodyPr wrap="square" rtlCol="0">
            <a:spAutoFit/>
          </a:bodyPr>
          <a:lstStyle/>
          <a:p>
            <a:r>
              <a:rPr lang="zh-CN" altLang="en-US" sz="700" b="1" dirty="0">
                <a:solidFill>
                  <a:schemeClr val="bg1">
                    <a:lumMod val="50000"/>
                  </a:schemeClr>
                </a:solidFill>
                <a:latin typeface="微软雅黑" panose="020B0503020204020204" charset="-122"/>
                <a:ea typeface="微软雅黑" panose="020B0503020204020204" charset="-122"/>
              </a:rPr>
              <a:t>任务执行</a:t>
            </a:r>
            <a:endParaRPr lang="zh-CN" altLang="en-US" sz="700" b="1" dirty="0">
              <a:solidFill>
                <a:schemeClr val="bg1">
                  <a:lumMod val="50000"/>
                </a:schemeClr>
              </a:solidFill>
              <a:latin typeface="微软雅黑" panose="020B0503020204020204" charset="-122"/>
              <a:ea typeface="微软雅黑" panose="020B0503020204020204" charset="-122"/>
            </a:endParaRPr>
          </a:p>
        </p:txBody>
      </p:sp>
      <p:sp>
        <p:nvSpPr>
          <p:cNvPr id="33" name="箭头: 下 18"/>
          <p:cNvSpPr/>
          <p:nvPr/>
        </p:nvSpPr>
        <p:spPr>
          <a:xfrm flipV="1">
            <a:off x="3935095" y="5930900"/>
            <a:ext cx="198120" cy="171450"/>
          </a:xfrm>
          <a:prstGeom prst="downArrow">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endParaRPr lang="zh-CN" altLang="en-US" sz="900" b="1" dirty="0">
              <a:solidFill>
                <a:schemeClr val="bg1">
                  <a:lumMod val="50000"/>
                </a:schemeClr>
              </a:solidFill>
              <a:latin typeface="微软雅黑" panose="020B0503020204020204" charset="-122"/>
              <a:ea typeface="微软雅黑" panose="020B0503020204020204" charset="-122"/>
            </a:endParaRPr>
          </a:p>
        </p:txBody>
      </p:sp>
      <p:sp>
        <p:nvSpPr>
          <p:cNvPr id="34" name="文本框 33"/>
          <p:cNvSpPr txBox="1"/>
          <p:nvPr/>
        </p:nvSpPr>
        <p:spPr>
          <a:xfrm>
            <a:off x="4169410" y="5847080"/>
            <a:ext cx="676910" cy="198755"/>
          </a:xfrm>
          <a:prstGeom prst="rect">
            <a:avLst/>
          </a:prstGeom>
          <a:noFill/>
        </p:spPr>
        <p:txBody>
          <a:bodyPr wrap="square" rtlCol="0">
            <a:spAutoFit/>
          </a:bodyPr>
          <a:lstStyle/>
          <a:p>
            <a:r>
              <a:rPr lang="zh-CN" altLang="en-US" sz="700" b="1" dirty="0">
                <a:solidFill>
                  <a:schemeClr val="bg1">
                    <a:lumMod val="50000"/>
                  </a:schemeClr>
                </a:solidFill>
                <a:latin typeface="微软雅黑" panose="020B0503020204020204" charset="-122"/>
                <a:ea typeface="微软雅黑" panose="020B0503020204020204" charset="-122"/>
              </a:rPr>
              <a:t>效果反馈</a:t>
            </a:r>
            <a:endParaRPr lang="zh-CN" altLang="en-US" sz="700" b="1" dirty="0">
              <a:solidFill>
                <a:schemeClr val="bg1">
                  <a:lumMod val="50000"/>
                </a:schemeClr>
              </a:solidFill>
              <a:latin typeface="微软雅黑" panose="020B0503020204020204" charset="-122"/>
              <a:ea typeface="微软雅黑" panose="020B0503020204020204" charset="-122"/>
            </a:endParaRPr>
          </a:p>
        </p:txBody>
      </p:sp>
      <p:sp>
        <p:nvSpPr>
          <p:cNvPr id="35" name="箭头: 下 20"/>
          <p:cNvSpPr/>
          <p:nvPr/>
        </p:nvSpPr>
        <p:spPr>
          <a:xfrm>
            <a:off x="1976120" y="4956175"/>
            <a:ext cx="198120" cy="171450"/>
          </a:xfrm>
          <a:prstGeom prst="downArrow">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endParaRPr lang="zh-CN" altLang="en-US" sz="900" b="1" dirty="0">
              <a:solidFill>
                <a:schemeClr val="bg1">
                  <a:lumMod val="50000"/>
                </a:schemeClr>
              </a:solidFill>
              <a:latin typeface="微软雅黑" panose="020B0503020204020204" charset="-122"/>
              <a:ea typeface="微软雅黑" panose="020B0503020204020204" charset="-122"/>
            </a:endParaRPr>
          </a:p>
        </p:txBody>
      </p:sp>
      <p:sp>
        <p:nvSpPr>
          <p:cNvPr id="36" name="文本框 35"/>
          <p:cNvSpPr txBox="1"/>
          <p:nvPr/>
        </p:nvSpPr>
        <p:spPr>
          <a:xfrm>
            <a:off x="1390015" y="4872990"/>
            <a:ext cx="655955" cy="198755"/>
          </a:xfrm>
          <a:prstGeom prst="rect">
            <a:avLst/>
          </a:prstGeom>
          <a:noFill/>
        </p:spPr>
        <p:txBody>
          <a:bodyPr wrap="square" rtlCol="0">
            <a:spAutoFit/>
          </a:bodyPr>
          <a:lstStyle/>
          <a:p>
            <a:r>
              <a:rPr lang="zh-CN" altLang="en-US" sz="700" b="1" dirty="0">
                <a:solidFill>
                  <a:schemeClr val="bg1">
                    <a:lumMod val="50000"/>
                  </a:schemeClr>
                </a:solidFill>
                <a:latin typeface="微软雅黑" panose="020B0503020204020204" charset="-122"/>
                <a:ea typeface="微软雅黑" panose="020B0503020204020204" charset="-122"/>
              </a:rPr>
              <a:t>预警指标</a:t>
            </a:r>
            <a:endParaRPr lang="zh-CN" altLang="en-US" sz="700" b="1" dirty="0">
              <a:solidFill>
                <a:schemeClr val="bg1">
                  <a:lumMod val="50000"/>
                </a:schemeClr>
              </a:solidFill>
              <a:latin typeface="微软雅黑" panose="020B0503020204020204" charset="-122"/>
              <a:ea typeface="微软雅黑" panose="020B0503020204020204" charset="-122"/>
            </a:endParaRPr>
          </a:p>
        </p:txBody>
      </p:sp>
      <p:sp>
        <p:nvSpPr>
          <p:cNvPr id="37" name="文本框 36"/>
          <p:cNvSpPr txBox="1"/>
          <p:nvPr/>
        </p:nvSpPr>
        <p:spPr>
          <a:xfrm>
            <a:off x="2211705" y="4872355"/>
            <a:ext cx="652780" cy="198755"/>
          </a:xfrm>
          <a:prstGeom prst="rect">
            <a:avLst/>
          </a:prstGeom>
          <a:noFill/>
        </p:spPr>
        <p:txBody>
          <a:bodyPr wrap="square" rtlCol="0">
            <a:spAutoFit/>
          </a:bodyPr>
          <a:lstStyle/>
          <a:p>
            <a:r>
              <a:rPr lang="zh-CN" altLang="en-US" sz="700" b="1" dirty="0">
                <a:solidFill>
                  <a:schemeClr val="bg1">
                    <a:lumMod val="50000"/>
                  </a:schemeClr>
                </a:solidFill>
                <a:latin typeface="微软雅黑" panose="020B0503020204020204" charset="-122"/>
                <a:ea typeface="微软雅黑" panose="020B0503020204020204" charset="-122"/>
              </a:rPr>
              <a:t>分析数据</a:t>
            </a:r>
            <a:endParaRPr lang="zh-CN" altLang="en-US" sz="700" b="1" dirty="0">
              <a:solidFill>
                <a:schemeClr val="bg1">
                  <a:lumMod val="50000"/>
                </a:schemeClr>
              </a:solidFill>
              <a:latin typeface="微软雅黑" panose="020B0503020204020204" charset="-122"/>
              <a:ea typeface="微软雅黑" panose="020B0503020204020204" charset="-122"/>
            </a:endParaRPr>
          </a:p>
        </p:txBody>
      </p:sp>
      <p:sp>
        <p:nvSpPr>
          <p:cNvPr id="38" name="箭头: 下 24"/>
          <p:cNvSpPr/>
          <p:nvPr/>
        </p:nvSpPr>
        <p:spPr>
          <a:xfrm>
            <a:off x="3375025" y="4956175"/>
            <a:ext cx="198120" cy="171450"/>
          </a:xfrm>
          <a:prstGeom prst="downArrow">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endParaRPr lang="zh-CN" altLang="en-US" sz="900" b="1" dirty="0">
              <a:solidFill>
                <a:schemeClr val="bg1">
                  <a:lumMod val="50000"/>
                </a:schemeClr>
              </a:solidFill>
              <a:latin typeface="微软雅黑" panose="020B0503020204020204" charset="-122"/>
              <a:ea typeface="微软雅黑" panose="020B0503020204020204" charset="-122"/>
            </a:endParaRPr>
          </a:p>
        </p:txBody>
      </p:sp>
      <p:sp>
        <p:nvSpPr>
          <p:cNvPr id="39" name="文本框 38"/>
          <p:cNvSpPr txBox="1"/>
          <p:nvPr/>
        </p:nvSpPr>
        <p:spPr>
          <a:xfrm>
            <a:off x="2880360" y="4867275"/>
            <a:ext cx="605155" cy="198755"/>
          </a:xfrm>
          <a:prstGeom prst="rect">
            <a:avLst/>
          </a:prstGeom>
          <a:noFill/>
        </p:spPr>
        <p:txBody>
          <a:bodyPr wrap="square" rtlCol="0">
            <a:spAutoFit/>
          </a:bodyPr>
          <a:lstStyle/>
          <a:p>
            <a:r>
              <a:rPr lang="zh-CN" altLang="en-US" sz="700" b="1" dirty="0">
                <a:solidFill>
                  <a:schemeClr val="bg1">
                    <a:lumMod val="50000"/>
                  </a:schemeClr>
                </a:solidFill>
                <a:latin typeface="微软雅黑" panose="020B0503020204020204" charset="-122"/>
                <a:ea typeface="微软雅黑" panose="020B0503020204020204" charset="-122"/>
              </a:rPr>
              <a:t>组织信息</a:t>
            </a:r>
            <a:endParaRPr lang="zh-CN" altLang="en-US" sz="700" b="1" dirty="0">
              <a:solidFill>
                <a:schemeClr val="bg1">
                  <a:lumMod val="50000"/>
                </a:schemeClr>
              </a:solidFill>
              <a:latin typeface="微软雅黑" panose="020B0503020204020204" charset="-122"/>
              <a:ea typeface="微软雅黑" panose="020B0503020204020204" charset="-122"/>
            </a:endParaRPr>
          </a:p>
        </p:txBody>
      </p:sp>
      <p:sp>
        <p:nvSpPr>
          <p:cNvPr id="40" name="箭头: 下 26"/>
          <p:cNvSpPr/>
          <p:nvPr/>
        </p:nvSpPr>
        <p:spPr>
          <a:xfrm flipV="1">
            <a:off x="4025900" y="4956175"/>
            <a:ext cx="198120" cy="171450"/>
          </a:xfrm>
          <a:prstGeom prst="downArrow">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endParaRPr lang="zh-CN" altLang="en-US" sz="900" b="1" dirty="0">
              <a:solidFill>
                <a:schemeClr val="bg1">
                  <a:lumMod val="50000"/>
                </a:schemeClr>
              </a:solidFill>
              <a:latin typeface="微软雅黑" panose="020B0503020204020204" charset="-122"/>
              <a:ea typeface="微软雅黑" panose="020B0503020204020204" charset="-122"/>
            </a:endParaRPr>
          </a:p>
        </p:txBody>
      </p:sp>
      <p:sp>
        <p:nvSpPr>
          <p:cNvPr id="41" name="文本框 40"/>
          <p:cNvSpPr txBox="1"/>
          <p:nvPr/>
        </p:nvSpPr>
        <p:spPr>
          <a:xfrm>
            <a:off x="4228465" y="4879975"/>
            <a:ext cx="658495" cy="198755"/>
          </a:xfrm>
          <a:prstGeom prst="rect">
            <a:avLst/>
          </a:prstGeom>
          <a:noFill/>
        </p:spPr>
        <p:txBody>
          <a:bodyPr wrap="square" rtlCol="0">
            <a:spAutoFit/>
          </a:bodyPr>
          <a:lstStyle/>
          <a:p>
            <a:r>
              <a:rPr lang="zh-CN" altLang="en-US" sz="700" b="1" dirty="0">
                <a:solidFill>
                  <a:schemeClr val="bg1">
                    <a:lumMod val="50000"/>
                  </a:schemeClr>
                </a:solidFill>
                <a:latin typeface="微软雅黑" panose="020B0503020204020204" charset="-122"/>
                <a:ea typeface="微软雅黑" panose="020B0503020204020204" charset="-122"/>
              </a:rPr>
              <a:t>代办下发</a:t>
            </a:r>
            <a:endParaRPr lang="zh-CN" altLang="en-US" sz="700" b="1" dirty="0">
              <a:solidFill>
                <a:schemeClr val="bg1">
                  <a:lumMod val="50000"/>
                </a:schemeClr>
              </a:solidFill>
              <a:latin typeface="微软雅黑" panose="020B0503020204020204" charset="-122"/>
              <a:ea typeface="微软雅黑" panose="020B0503020204020204" charset="-122"/>
            </a:endParaRPr>
          </a:p>
        </p:txBody>
      </p:sp>
      <p:sp>
        <p:nvSpPr>
          <p:cNvPr id="42" name="箭头: 下 28"/>
          <p:cNvSpPr/>
          <p:nvPr/>
        </p:nvSpPr>
        <p:spPr>
          <a:xfrm rot="5400000" flipH="1">
            <a:off x="4996180" y="5342890"/>
            <a:ext cx="109220" cy="310515"/>
          </a:xfrm>
          <a:prstGeom prst="downArrow">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endParaRPr lang="zh-CN" altLang="en-US" sz="900" b="1" dirty="0">
              <a:solidFill>
                <a:schemeClr val="bg1">
                  <a:lumMod val="50000"/>
                </a:schemeClr>
              </a:solidFill>
              <a:latin typeface="微软雅黑" panose="020B0503020204020204" charset="-122"/>
              <a:ea typeface="微软雅黑" panose="020B0503020204020204" charset="-122"/>
            </a:endParaRPr>
          </a:p>
        </p:txBody>
      </p:sp>
      <p:sp>
        <p:nvSpPr>
          <p:cNvPr id="71" name="箭头: 下 29"/>
          <p:cNvSpPr/>
          <p:nvPr/>
        </p:nvSpPr>
        <p:spPr>
          <a:xfrm rot="16200000">
            <a:off x="1076960" y="5365750"/>
            <a:ext cx="109220" cy="310515"/>
          </a:xfrm>
          <a:prstGeom prst="downArrow">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hangingPunct="1"/>
            <a:endParaRPr lang="zh-CN" altLang="en-US" sz="900" b="1" dirty="0">
              <a:solidFill>
                <a:schemeClr val="bg1">
                  <a:lumMod val="50000"/>
                </a:schemeClr>
              </a:solidFill>
              <a:latin typeface="微软雅黑" panose="020B0503020204020204" charset="-122"/>
              <a:ea typeface="微软雅黑" panose="020B0503020204020204" charset="-122"/>
            </a:endParaRPr>
          </a:p>
        </p:txBody>
      </p:sp>
      <p:sp>
        <p:nvSpPr>
          <p:cNvPr id="72" name="文本框 71"/>
          <p:cNvSpPr txBox="1"/>
          <p:nvPr/>
        </p:nvSpPr>
        <p:spPr>
          <a:xfrm>
            <a:off x="4830445" y="5095240"/>
            <a:ext cx="648970" cy="198755"/>
          </a:xfrm>
          <a:prstGeom prst="rect">
            <a:avLst/>
          </a:prstGeom>
          <a:noFill/>
        </p:spPr>
        <p:txBody>
          <a:bodyPr wrap="square" rtlCol="0">
            <a:spAutoFit/>
          </a:bodyPr>
          <a:lstStyle/>
          <a:p>
            <a:r>
              <a:rPr lang="zh-CN" altLang="en-US" sz="700" b="1" dirty="0">
                <a:solidFill>
                  <a:schemeClr val="bg1">
                    <a:lumMod val="50000"/>
                  </a:schemeClr>
                </a:solidFill>
                <a:latin typeface="微软雅黑" panose="020B0503020204020204" charset="-122"/>
                <a:ea typeface="微软雅黑" panose="020B0503020204020204" charset="-122"/>
              </a:rPr>
              <a:t>办理数据</a:t>
            </a:r>
            <a:endParaRPr lang="zh-CN" altLang="en-US" sz="700" b="1" dirty="0">
              <a:solidFill>
                <a:schemeClr val="bg1">
                  <a:lumMod val="50000"/>
                </a:schemeClr>
              </a:solidFill>
              <a:latin typeface="微软雅黑" panose="020B0503020204020204" charset="-122"/>
              <a:ea typeface="微软雅黑" panose="020B0503020204020204" charset="-122"/>
            </a:endParaRPr>
          </a:p>
        </p:txBody>
      </p:sp>
      <p:sp>
        <p:nvSpPr>
          <p:cNvPr id="73" name="文本框 72"/>
          <p:cNvSpPr txBox="1"/>
          <p:nvPr/>
        </p:nvSpPr>
        <p:spPr>
          <a:xfrm>
            <a:off x="4817110" y="5550535"/>
            <a:ext cx="670560" cy="198755"/>
          </a:xfrm>
          <a:prstGeom prst="rect">
            <a:avLst/>
          </a:prstGeom>
          <a:noFill/>
        </p:spPr>
        <p:txBody>
          <a:bodyPr wrap="square" rtlCol="0">
            <a:spAutoFit/>
          </a:bodyPr>
          <a:lstStyle/>
          <a:p>
            <a:r>
              <a:rPr lang="zh-CN" altLang="en-US" sz="700" b="1" dirty="0">
                <a:solidFill>
                  <a:schemeClr val="bg1">
                    <a:lumMod val="50000"/>
                  </a:schemeClr>
                </a:solidFill>
                <a:latin typeface="微软雅黑" panose="020B0503020204020204" charset="-122"/>
                <a:ea typeface="微软雅黑" panose="020B0503020204020204" charset="-122"/>
              </a:rPr>
              <a:t>实时预警</a:t>
            </a:r>
            <a:endParaRPr lang="zh-CN" altLang="en-US" sz="700" b="1" dirty="0">
              <a:solidFill>
                <a:schemeClr val="bg1">
                  <a:lumMod val="50000"/>
                </a:schemeClr>
              </a:solidFill>
              <a:latin typeface="微软雅黑" panose="020B0503020204020204" charset="-122"/>
              <a:ea typeface="微软雅黑" panose="020B0503020204020204" charset="-122"/>
            </a:endParaRPr>
          </a:p>
        </p:txBody>
      </p:sp>
      <p:sp>
        <p:nvSpPr>
          <p:cNvPr id="76" name="文本框 75"/>
          <p:cNvSpPr txBox="1"/>
          <p:nvPr/>
        </p:nvSpPr>
        <p:spPr>
          <a:xfrm>
            <a:off x="912495" y="5132070"/>
            <a:ext cx="621665" cy="198755"/>
          </a:xfrm>
          <a:prstGeom prst="rect">
            <a:avLst/>
          </a:prstGeom>
          <a:noFill/>
        </p:spPr>
        <p:txBody>
          <a:bodyPr wrap="square" rtlCol="0">
            <a:spAutoFit/>
          </a:bodyPr>
          <a:lstStyle/>
          <a:p>
            <a:r>
              <a:rPr lang="zh-CN" altLang="en-US" sz="700" b="1" dirty="0">
                <a:solidFill>
                  <a:schemeClr val="bg1">
                    <a:lumMod val="50000"/>
                  </a:schemeClr>
                </a:solidFill>
                <a:latin typeface="微软雅黑" panose="020B0503020204020204" charset="-122"/>
                <a:ea typeface="微软雅黑" panose="020B0503020204020204" charset="-122"/>
              </a:rPr>
              <a:t>产品信息</a:t>
            </a:r>
            <a:endParaRPr lang="zh-CN" altLang="en-US" sz="700" b="1" dirty="0">
              <a:solidFill>
                <a:schemeClr val="bg1">
                  <a:lumMod val="50000"/>
                </a:schemeClr>
              </a:solidFill>
              <a:latin typeface="微软雅黑" panose="020B0503020204020204" charset="-122"/>
              <a:ea typeface="微软雅黑" panose="020B0503020204020204" charset="-122"/>
            </a:endParaRPr>
          </a:p>
        </p:txBody>
      </p:sp>
      <p:sp>
        <p:nvSpPr>
          <p:cNvPr id="112" name="矩形 111"/>
          <p:cNvSpPr/>
          <p:nvPr/>
        </p:nvSpPr>
        <p:spPr>
          <a:xfrm>
            <a:off x="290830" y="4077970"/>
            <a:ext cx="5994400" cy="2532380"/>
          </a:xfrm>
          <a:prstGeom prst="rect">
            <a:avLst/>
          </a:prstGeom>
          <a:noFill/>
          <a:ln w="19050">
            <a:solidFill>
              <a:schemeClr val="bg1">
                <a:lumMod val="85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eaLnBrk="1" hangingPunct="1"/>
            <a:endParaRPr lang="zh-CN" altLang="en-US" sz="800" b="1" dirty="0">
              <a:solidFill>
                <a:schemeClr val="tx1"/>
              </a:solidFill>
              <a:latin typeface="微软雅黑" panose="020B0503020204020204" charset="-122"/>
              <a:ea typeface="微软雅黑" panose="020B0503020204020204" charset="-122"/>
            </a:endParaRPr>
          </a:p>
        </p:txBody>
      </p:sp>
      <p:sp>
        <p:nvSpPr>
          <p:cNvPr id="114" name="文本框 113"/>
          <p:cNvSpPr txBox="1"/>
          <p:nvPr/>
        </p:nvSpPr>
        <p:spPr>
          <a:xfrm>
            <a:off x="163195" y="4149090"/>
            <a:ext cx="6040120" cy="276225"/>
          </a:xfrm>
          <a:prstGeom prst="rect">
            <a:avLst/>
          </a:prstGeom>
          <a:noFill/>
        </p:spPr>
        <p:txBody>
          <a:bodyPr wrap="square" rtlCol="0">
            <a:spAutoFit/>
          </a:bodyPr>
          <a:lstStyle/>
          <a:p>
            <a:pPr algn="ctr"/>
            <a:r>
              <a:rPr lang="zh-CN" altLang="en-US" sz="1200" b="1" dirty="0" smtClean="0">
                <a:latin typeface="微软雅黑" panose="020B0503020204020204" charset="-122"/>
                <a:ea typeface="微软雅黑" panose="020B0503020204020204" charset="-122"/>
              </a:rPr>
              <a:t>打造一体化运营</a:t>
            </a:r>
            <a:r>
              <a:rPr lang="zh-CN" altLang="en-US" sz="1200" b="1" dirty="0" smtClean="0">
                <a:latin typeface="微软雅黑" panose="020B0503020204020204" charset="-122"/>
                <a:ea typeface="微软雅黑" panose="020B0503020204020204" charset="-122"/>
              </a:rPr>
              <a:t>平台</a:t>
            </a:r>
            <a:endParaRPr lang="zh-CN" altLang="en-US" sz="1200" b="1" dirty="0" smtClean="0">
              <a:latin typeface="微软雅黑" panose="020B0503020204020204" charset="-122"/>
              <a:ea typeface="微软雅黑" panose="020B0503020204020204" charset="-122"/>
            </a:endParaRPr>
          </a:p>
        </p:txBody>
      </p:sp>
      <p:sp>
        <p:nvSpPr>
          <p:cNvPr id="116" name="矩形 115"/>
          <p:cNvSpPr/>
          <p:nvPr/>
        </p:nvSpPr>
        <p:spPr>
          <a:xfrm>
            <a:off x="3243580" y="4631690"/>
            <a:ext cx="782320" cy="262255"/>
          </a:xfrm>
          <a:prstGeom prst="rect">
            <a:avLst/>
          </a:prstGeom>
          <a:solidFill>
            <a:srgbClr val="93C7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900" b="1" dirty="0">
                <a:solidFill>
                  <a:schemeClr val="bg1"/>
                </a:solidFill>
                <a:latin typeface="微软雅黑" panose="020B0503020204020204" charset="-122"/>
                <a:ea typeface="微软雅黑" panose="020B0503020204020204" charset="-122"/>
              </a:rPr>
              <a:t>4A</a:t>
            </a:r>
            <a:r>
              <a:rPr lang="zh-CN" altLang="en-US" sz="900" b="1" dirty="0">
                <a:solidFill>
                  <a:schemeClr val="bg1"/>
                </a:solidFill>
                <a:latin typeface="微软雅黑" panose="020B0503020204020204" charset="-122"/>
                <a:ea typeface="微软雅黑" panose="020B0503020204020204" charset="-122"/>
              </a:rPr>
              <a:t>系统</a:t>
            </a:r>
            <a:endParaRPr lang="zh-CN" altLang="en-US" sz="900" b="1" dirty="0">
              <a:solidFill>
                <a:schemeClr val="bg1"/>
              </a:solidFill>
              <a:latin typeface="微软雅黑" panose="020B0503020204020204" charset="-122"/>
              <a:ea typeface="微软雅黑" panose="020B0503020204020204" charset="-122"/>
            </a:endParaRPr>
          </a:p>
        </p:txBody>
      </p:sp>
      <p:sp>
        <p:nvSpPr>
          <p:cNvPr id="118" name="文本框 117"/>
          <p:cNvSpPr txBox="1"/>
          <p:nvPr/>
        </p:nvSpPr>
        <p:spPr>
          <a:xfrm>
            <a:off x="243840" y="6414135"/>
            <a:ext cx="6293485" cy="116840"/>
          </a:xfrm>
          <a:prstGeom prst="rect">
            <a:avLst/>
          </a:prstGeom>
          <a:noFill/>
        </p:spPr>
        <p:txBody>
          <a:bodyPr wrap="square">
            <a:noAutofit/>
          </a:bodyPr>
          <a:lstStyle/>
          <a:p>
            <a:pPr algn="ctr"/>
            <a:endParaRPr lang="zh-CN" altLang="en-US" sz="600" b="1" dirty="0">
              <a:solidFill>
                <a:srgbClr val="C00000"/>
              </a:solidFill>
              <a:latin typeface="微软雅黑" panose="020B0503020204020204" charset="-122"/>
              <a:ea typeface="微软雅黑" panose="020B0503020204020204" charset="-122"/>
            </a:endParaRPr>
          </a:p>
        </p:txBody>
      </p:sp>
      <p:grpSp>
        <p:nvGrpSpPr>
          <p:cNvPr id="120" name="组合 119"/>
          <p:cNvGrpSpPr/>
          <p:nvPr/>
        </p:nvGrpSpPr>
        <p:grpSpPr>
          <a:xfrm rot="0">
            <a:off x="1416050" y="5460365"/>
            <a:ext cx="3431540" cy="330200"/>
            <a:chOff x="1112753" y="5748529"/>
            <a:chExt cx="2486859" cy="326226"/>
          </a:xfrm>
        </p:grpSpPr>
        <p:sp>
          <p:nvSpPr>
            <p:cNvPr id="123" name="矩形 122"/>
            <p:cNvSpPr/>
            <p:nvPr/>
          </p:nvSpPr>
          <p:spPr>
            <a:xfrm>
              <a:off x="1627817" y="5755213"/>
              <a:ext cx="443002" cy="319542"/>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eaLnBrk="1" hangingPunct="1"/>
              <a:r>
                <a:rPr lang="zh-CN" altLang="en-US" sz="800" dirty="0">
                  <a:solidFill>
                    <a:schemeClr val="tx1"/>
                  </a:solidFill>
                  <a:latin typeface="微软雅黑" panose="020B0503020204020204" charset="-122"/>
                  <a:ea typeface="微软雅黑" panose="020B0503020204020204" charset="-122"/>
                </a:rPr>
                <a:t>指标</a:t>
              </a:r>
              <a:endParaRPr lang="en-US" altLang="zh-CN" sz="800" dirty="0">
                <a:solidFill>
                  <a:schemeClr val="tx1"/>
                </a:solidFill>
                <a:latin typeface="微软雅黑" panose="020B0503020204020204" charset="-122"/>
                <a:ea typeface="微软雅黑" panose="020B0503020204020204" charset="-122"/>
              </a:endParaRPr>
            </a:p>
            <a:p>
              <a:pPr algn="ctr" eaLnBrk="1" hangingPunct="1"/>
              <a:r>
                <a:rPr lang="zh-CN" altLang="en-US" sz="800" dirty="0">
                  <a:solidFill>
                    <a:schemeClr val="tx1"/>
                  </a:solidFill>
                  <a:latin typeface="微软雅黑" panose="020B0503020204020204" charset="-122"/>
                  <a:ea typeface="微软雅黑" panose="020B0503020204020204" charset="-122"/>
                </a:rPr>
                <a:t>预警</a:t>
              </a:r>
              <a:endParaRPr lang="zh-CN" altLang="en-US" sz="800" dirty="0">
                <a:solidFill>
                  <a:schemeClr val="tx1"/>
                </a:solidFill>
                <a:latin typeface="微软雅黑" panose="020B0503020204020204" charset="-122"/>
                <a:ea typeface="微软雅黑" panose="020B0503020204020204" charset="-122"/>
              </a:endParaRPr>
            </a:p>
          </p:txBody>
        </p:sp>
        <p:sp>
          <p:nvSpPr>
            <p:cNvPr id="132" name="矩形 131"/>
            <p:cNvSpPr/>
            <p:nvPr/>
          </p:nvSpPr>
          <p:spPr>
            <a:xfrm>
              <a:off x="2137415" y="5755213"/>
              <a:ext cx="443002" cy="319542"/>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800" dirty="0">
                  <a:solidFill>
                    <a:schemeClr val="tx1"/>
                  </a:solidFill>
                  <a:latin typeface="微软雅黑" panose="020B0503020204020204" charset="-122"/>
                  <a:ea typeface="微软雅黑" panose="020B0503020204020204" charset="-122"/>
                </a:rPr>
                <a:t>任务</a:t>
              </a:r>
              <a:endParaRPr lang="en-US" altLang="zh-CN" sz="800" dirty="0">
                <a:solidFill>
                  <a:schemeClr val="tx1"/>
                </a:solidFill>
                <a:latin typeface="微软雅黑" panose="020B0503020204020204" charset="-122"/>
                <a:ea typeface="微软雅黑" panose="020B0503020204020204" charset="-122"/>
              </a:endParaRPr>
            </a:p>
            <a:p>
              <a:pPr algn="ctr"/>
              <a:r>
                <a:rPr lang="zh-CN" altLang="en-US" sz="800" dirty="0">
                  <a:solidFill>
                    <a:schemeClr val="tx1"/>
                  </a:solidFill>
                  <a:latin typeface="微软雅黑" panose="020B0503020204020204" charset="-122"/>
                  <a:ea typeface="微软雅黑" panose="020B0503020204020204" charset="-122"/>
                </a:rPr>
                <a:t>流转</a:t>
              </a:r>
              <a:endParaRPr lang="zh-CN" altLang="en-US" sz="800" dirty="0">
                <a:solidFill>
                  <a:schemeClr val="tx1"/>
                </a:solidFill>
                <a:latin typeface="微软雅黑" panose="020B0503020204020204" charset="-122"/>
                <a:ea typeface="微软雅黑" panose="020B0503020204020204" charset="-122"/>
              </a:endParaRPr>
            </a:p>
          </p:txBody>
        </p:sp>
        <p:sp>
          <p:nvSpPr>
            <p:cNvPr id="135" name="矩形 134"/>
            <p:cNvSpPr/>
            <p:nvPr/>
          </p:nvSpPr>
          <p:spPr>
            <a:xfrm>
              <a:off x="2647012" y="5755213"/>
              <a:ext cx="443002" cy="319542"/>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800" dirty="0">
                  <a:solidFill>
                    <a:schemeClr val="tx1"/>
                  </a:solidFill>
                  <a:latin typeface="微软雅黑" panose="020B0503020204020204" charset="-122"/>
                  <a:ea typeface="微软雅黑" panose="020B0503020204020204" charset="-122"/>
                </a:rPr>
                <a:t>过程</a:t>
              </a:r>
              <a:endParaRPr lang="en-US" altLang="zh-CN" sz="800" dirty="0">
                <a:solidFill>
                  <a:schemeClr val="tx1"/>
                </a:solidFill>
                <a:latin typeface="微软雅黑" panose="020B0503020204020204" charset="-122"/>
                <a:ea typeface="微软雅黑" panose="020B0503020204020204" charset="-122"/>
              </a:endParaRPr>
            </a:p>
            <a:p>
              <a:pPr algn="ctr"/>
              <a:r>
                <a:rPr lang="zh-CN" altLang="en-US" sz="800" dirty="0">
                  <a:solidFill>
                    <a:schemeClr val="tx1"/>
                  </a:solidFill>
                  <a:latin typeface="微软雅黑" panose="020B0503020204020204" charset="-122"/>
                  <a:ea typeface="微软雅黑" panose="020B0503020204020204" charset="-122"/>
                </a:rPr>
                <a:t>监控</a:t>
              </a:r>
              <a:endParaRPr lang="zh-CN" altLang="en-US" sz="800" dirty="0">
                <a:solidFill>
                  <a:schemeClr val="tx1"/>
                </a:solidFill>
                <a:latin typeface="微软雅黑" panose="020B0503020204020204" charset="-122"/>
                <a:ea typeface="微软雅黑" panose="020B0503020204020204" charset="-122"/>
              </a:endParaRPr>
            </a:p>
          </p:txBody>
        </p:sp>
        <p:sp>
          <p:nvSpPr>
            <p:cNvPr id="136" name="矩形 135"/>
            <p:cNvSpPr/>
            <p:nvPr/>
          </p:nvSpPr>
          <p:spPr>
            <a:xfrm>
              <a:off x="3156610" y="5755213"/>
              <a:ext cx="443002" cy="319542"/>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800" dirty="0">
                  <a:solidFill>
                    <a:schemeClr val="tx1"/>
                  </a:solidFill>
                  <a:latin typeface="微软雅黑" panose="020B0503020204020204" charset="-122"/>
                  <a:ea typeface="微软雅黑" panose="020B0503020204020204" charset="-122"/>
                </a:rPr>
                <a:t>效果</a:t>
              </a:r>
              <a:endParaRPr lang="en-US" altLang="zh-CN" sz="800" dirty="0">
                <a:solidFill>
                  <a:schemeClr val="tx1"/>
                </a:solidFill>
                <a:latin typeface="微软雅黑" panose="020B0503020204020204" charset="-122"/>
                <a:ea typeface="微软雅黑" panose="020B0503020204020204" charset="-122"/>
              </a:endParaRPr>
            </a:p>
            <a:p>
              <a:pPr algn="ctr"/>
              <a:r>
                <a:rPr lang="zh-CN" altLang="en-US" sz="800" dirty="0">
                  <a:solidFill>
                    <a:schemeClr val="tx1"/>
                  </a:solidFill>
                  <a:latin typeface="微软雅黑" panose="020B0503020204020204" charset="-122"/>
                  <a:ea typeface="微软雅黑" panose="020B0503020204020204" charset="-122"/>
                </a:rPr>
                <a:t>评估</a:t>
              </a:r>
              <a:endParaRPr lang="zh-CN" altLang="en-US" sz="800" dirty="0">
                <a:solidFill>
                  <a:schemeClr val="tx1"/>
                </a:solidFill>
                <a:latin typeface="微软雅黑" panose="020B0503020204020204" charset="-122"/>
                <a:ea typeface="微软雅黑" panose="020B0503020204020204" charset="-122"/>
              </a:endParaRPr>
            </a:p>
          </p:txBody>
        </p:sp>
        <p:sp>
          <p:nvSpPr>
            <p:cNvPr id="145" name="矩形 144"/>
            <p:cNvSpPr/>
            <p:nvPr/>
          </p:nvSpPr>
          <p:spPr>
            <a:xfrm>
              <a:off x="1112753" y="5748529"/>
              <a:ext cx="443002" cy="319542"/>
            </a:xfrm>
            <a:prstGeom prst="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eaLnBrk="1" hangingPunct="1"/>
              <a:r>
                <a:rPr lang="zh-CN" altLang="en-US" sz="800" dirty="0" smtClean="0">
                  <a:solidFill>
                    <a:schemeClr val="tx1"/>
                  </a:solidFill>
                  <a:latin typeface="微软雅黑" panose="020B0503020204020204" charset="-122"/>
                  <a:ea typeface="微软雅黑" panose="020B0503020204020204" charset="-122"/>
                </a:rPr>
                <a:t>看板视图</a:t>
              </a:r>
              <a:endParaRPr lang="zh-CN" altLang="en-US" sz="800" dirty="0" smtClean="0">
                <a:solidFill>
                  <a:schemeClr val="tx1"/>
                </a:solidFill>
                <a:latin typeface="微软雅黑" panose="020B0503020204020204" charset="-122"/>
                <a:ea typeface="微软雅黑" panose="020B0503020204020204" charset="-122"/>
              </a:endParaRPr>
            </a:p>
          </p:txBody>
        </p:sp>
      </p:grpSp>
      <p:sp>
        <p:nvSpPr>
          <p:cNvPr id="146" name="矩形 145"/>
          <p:cNvSpPr/>
          <p:nvPr/>
        </p:nvSpPr>
        <p:spPr>
          <a:xfrm>
            <a:off x="3952875" y="6102350"/>
            <a:ext cx="947420" cy="384810"/>
          </a:xfrm>
          <a:prstGeom prst="rect">
            <a:avLst/>
          </a:prstGeom>
          <a:solidFill>
            <a:srgbClr val="93C7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dirty="0" smtClean="0">
                <a:solidFill>
                  <a:schemeClr val="bg1"/>
                </a:solidFill>
                <a:latin typeface="微软雅黑" panose="020B0503020204020204" charset="-122"/>
                <a:ea typeface="微软雅黑" panose="020B0503020204020204" charset="-122"/>
              </a:rPr>
              <a:t>在线</a:t>
            </a:r>
            <a:endParaRPr lang="en-US" altLang="zh-CN" sz="900" b="1" dirty="0" smtClean="0">
              <a:solidFill>
                <a:schemeClr val="bg1"/>
              </a:solidFill>
              <a:latin typeface="微软雅黑" panose="020B0503020204020204" charset="-122"/>
              <a:ea typeface="微软雅黑" panose="020B0503020204020204" charset="-122"/>
            </a:endParaRPr>
          </a:p>
          <a:p>
            <a:pPr algn="ctr"/>
            <a:r>
              <a:rPr lang="zh-CN" altLang="en-US" sz="700" b="1" dirty="0" smtClean="0">
                <a:solidFill>
                  <a:schemeClr val="bg1"/>
                </a:solidFill>
                <a:latin typeface="微软雅黑" panose="020B0503020204020204" charset="-122"/>
                <a:ea typeface="微软雅黑" panose="020B0503020204020204" charset="-122"/>
              </a:rPr>
              <a:t>（</a:t>
            </a:r>
            <a:r>
              <a:rPr lang="en-US" altLang="zh-CN" sz="700" b="1" dirty="0" smtClean="0">
                <a:solidFill>
                  <a:schemeClr val="bg1"/>
                </a:solidFill>
                <a:latin typeface="微软雅黑" panose="020B0503020204020204" charset="-122"/>
                <a:ea typeface="微软雅黑" panose="020B0503020204020204" charset="-122"/>
              </a:rPr>
              <a:t>10086</a:t>
            </a:r>
            <a:r>
              <a:rPr lang="zh-CN" altLang="en-US" sz="700" b="1" dirty="0" smtClean="0">
                <a:solidFill>
                  <a:schemeClr val="bg1"/>
                </a:solidFill>
                <a:latin typeface="微软雅黑" panose="020B0503020204020204" charset="-122"/>
                <a:ea typeface="微软雅黑" panose="020B0503020204020204" charset="-122"/>
              </a:rPr>
              <a:t>、</a:t>
            </a:r>
            <a:r>
              <a:rPr lang="en-US" altLang="zh-CN" sz="700" b="1" dirty="0" smtClean="0">
                <a:solidFill>
                  <a:schemeClr val="bg1"/>
                </a:solidFill>
                <a:latin typeface="微软雅黑" panose="020B0503020204020204" charset="-122"/>
                <a:ea typeface="微软雅黑" panose="020B0503020204020204" charset="-122"/>
              </a:rPr>
              <a:t>10088</a:t>
            </a:r>
            <a:r>
              <a:rPr lang="zh-CN" altLang="en-US" sz="700" b="1" dirty="0" smtClean="0">
                <a:solidFill>
                  <a:schemeClr val="bg1"/>
                </a:solidFill>
                <a:latin typeface="微软雅黑" panose="020B0503020204020204" charset="-122"/>
                <a:ea typeface="微软雅黑" panose="020B0503020204020204" charset="-122"/>
              </a:rPr>
              <a:t>）</a:t>
            </a:r>
            <a:endParaRPr lang="zh-CN" altLang="en-US" sz="700" b="1" dirty="0" smtClean="0">
              <a:solidFill>
                <a:schemeClr val="bg1"/>
              </a:solidFill>
              <a:latin typeface="微软雅黑" panose="020B0503020204020204" charset="-122"/>
              <a:ea typeface="微软雅黑" panose="020B0503020204020204" charset="-122"/>
            </a:endParaRPr>
          </a:p>
        </p:txBody>
      </p:sp>
      <p:sp>
        <p:nvSpPr>
          <p:cNvPr id="147" name="矩形 146"/>
          <p:cNvSpPr/>
          <p:nvPr/>
        </p:nvSpPr>
        <p:spPr>
          <a:xfrm>
            <a:off x="5033645" y="6101715"/>
            <a:ext cx="947420" cy="384810"/>
          </a:xfrm>
          <a:prstGeom prst="rect">
            <a:avLst/>
          </a:prstGeom>
          <a:solidFill>
            <a:srgbClr val="93C7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dirty="0" smtClean="0">
                <a:solidFill>
                  <a:schemeClr val="bg1"/>
                </a:solidFill>
                <a:latin typeface="微软雅黑" panose="020B0503020204020204" charset="-122"/>
                <a:ea typeface="微软雅黑" panose="020B0503020204020204" charset="-122"/>
              </a:rPr>
              <a:t>装维</a:t>
            </a:r>
            <a:r>
              <a:rPr lang="en-US" altLang="zh-CN" sz="900" b="1" dirty="0" smtClean="0">
                <a:solidFill>
                  <a:schemeClr val="bg1"/>
                </a:solidFill>
                <a:latin typeface="微软雅黑" panose="020B0503020204020204" charset="-122"/>
                <a:ea typeface="微软雅黑" panose="020B0503020204020204" charset="-122"/>
              </a:rPr>
              <a:t>APP</a:t>
            </a:r>
            <a:endParaRPr lang="en-US" altLang="zh-CN" sz="900" b="1" dirty="0" smtClean="0">
              <a:solidFill>
                <a:schemeClr val="bg1"/>
              </a:solidFill>
              <a:latin typeface="微软雅黑" panose="020B0503020204020204" charset="-122"/>
              <a:ea typeface="微软雅黑" panose="020B0503020204020204" charset="-122"/>
            </a:endParaRPr>
          </a:p>
        </p:txBody>
      </p:sp>
      <p:sp>
        <p:nvSpPr>
          <p:cNvPr id="148" name="矩形 147"/>
          <p:cNvSpPr/>
          <p:nvPr/>
        </p:nvSpPr>
        <p:spPr>
          <a:xfrm>
            <a:off x="2224405" y="4633595"/>
            <a:ext cx="975360" cy="257175"/>
          </a:xfrm>
          <a:prstGeom prst="rect">
            <a:avLst/>
          </a:prstGeom>
          <a:solidFill>
            <a:srgbClr val="93C7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900" b="1" dirty="0">
                <a:solidFill>
                  <a:schemeClr val="bg1"/>
                </a:solidFill>
                <a:latin typeface="微软雅黑" panose="020B0503020204020204" charset="-122"/>
                <a:ea typeface="微软雅黑" panose="020B0503020204020204" charset="-122"/>
              </a:rPr>
              <a:t>精准营销平台</a:t>
            </a:r>
            <a:endParaRPr lang="zh-CN" altLang="en-US" sz="900" b="1" dirty="0">
              <a:solidFill>
                <a:schemeClr val="bg1"/>
              </a:solidFill>
              <a:latin typeface="微软雅黑" panose="020B0503020204020204" charset="-122"/>
              <a:ea typeface="微软雅黑" panose="020B0503020204020204" charset="-122"/>
            </a:endParaRPr>
          </a:p>
        </p:txBody>
      </p:sp>
      <p:sp>
        <p:nvSpPr>
          <p:cNvPr id="149" name="矩形 148"/>
          <p:cNvSpPr/>
          <p:nvPr/>
        </p:nvSpPr>
        <p:spPr>
          <a:xfrm>
            <a:off x="6809740" y="4454525"/>
            <a:ext cx="988060" cy="144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solidFill>
                  <a:schemeClr val="tx1"/>
                </a:solidFill>
                <a:latin typeface="微软雅黑" panose="020B0503020204020204" charset="-122"/>
                <a:ea typeface="微软雅黑" panose="020B0503020204020204" charset="-122"/>
              </a:rPr>
              <a:t>宽带离网</a:t>
            </a:r>
            <a:r>
              <a:rPr lang="zh-CN" altLang="en-US" sz="1050" dirty="0">
                <a:solidFill>
                  <a:schemeClr val="tx1"/>
                </a:solidFill>
                <a:latin typeface="微软雅黑" panose="020B0503020204020204" charset="-122"/>
                <a:ea typeface="微软雅黑" panose="020B0503020204020204" charset="-122"/>
              </a:rPr>
              <a:t>预警</a:t>
            </a:r>
            <a:endParaRPr lang="zh-CN" altLang="en-US" sz="1050" dirty="0">
              <a:solidFill>
                <a:schemeClr val="tx1"/>
              </a:solidFill>
              <a:latin typeface="微软雅黑" panose="020B0503020204020204" charset="-122"/>
              <a:ea typeface="微软雅黑" panose="020B0503020204020204" charset="-122"/>
            </a:endParaRPr>
          </a:p>
        </p:txBody>
      </p:sp>
      <p:sp>
        <p:nvSpPr>
          <p:cNvPr id="150" name="矩形 149"/>
          <p:cNvSpPr/>
          <p:nvPr/>
        </p:nvSpPr>
        <p:spPr>
          <a:xfrm>
            <a:off x="7949565" y="4232910"/>
            <a:ext cx="988060" cy="144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solidFill>
                  <a:schemeClr val="tx1"/>
                </a:solidFill>
                <a:latin typeface="微软雅黑" panose="020B0503020204020204" charset="-122"/>
                <a:ea typeface="微软雅黑" panose="020B0503020204020204" charset="-122"/>
              </a:rPr>
              <a:t>全球通</a:t>
            </a:r>
            <a:r>
              <a:rPr lang="zh-CN" altLang="en-US" sz="1050" dirty="0">
                <a:solidFill>
                  <a:schemeClr val="tx1"/>
                </a:solidFill>
                <a:latin typeface="微软雅黑" panose="020B0503020204020204" charset="-122"/>
                <a:ea typeface="微软雅黑" panose="020B0503020204020204" charset="-122"/>
              </a:rPr>
              <a:t>离网</a:t>
            </a:r>
            <a:endParaRPr lang="zh-CN" altLang="en-US" sz="1050" dirty="0">
              <a:solidFill>
                <a:schemeClr val="tx1"/>
              </a:solidFill>
              <a:latin typeface="微软雅黑" panose="020B0503020204020204" charset="-122"/>
              <a:ea typeface="微软雅黑" panose="020B0503020204020204" charset="-122"/>
            </a:endParaRPr>
          </a:p>
        </p:txBody>
      </p:sp>
      <p:sp>
        <p:nvSpPr>
          <p:cNvPr id="151" name="矩形 150"/>
          <p:cNvSpPr/>
          <p:nvPr/>
        </p:nvSpPr>
        <p:spPr>
          <a:xfrm>
            <a:off x="7949565" y="4454525"/>
            <a:ext cx="988060" cy="144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solidFill>
                  <a:schemeClr val="tx1"/>
                </a:solidFill>
                <a:latin typeface="微软雅黑" panose="020B0503020204020204" charset="-122"/>
                <a:ea typeface="微软雅黑" panose="020B0503020204020204" charset="-122"/>
              </a:rPr>
              <a:t>异动客户</a:t>
            </a:r>
            <a:r>
              <a:rPr lang="zh-CN" altLang="en-US" sz="1050" dirty="0">
                <a:solidFill>
                  <a:schemeClr val="tx1"/>
                </a:solidFill>
                <a:latin typeface="微软雅黑" panose="020B0503020204020204" charset="-122"/>
                <a:ea typeface="微软雅黑" panose="020B0503020204020204" charset="-122"/>
              </a:rPr>
              <a:t>修复</a:t>
            </a:r>
            <a:endParaRPr lang="zh-CN" altLang="en-US" sz="1050" dirty="0">
              <a:solidFill>
                <a:schemeClr val="tx1"/>
              </a:solidFill>
              <a:latin typeface="微软雅黑" panose="020B0503020204020204" charset="-122"/>
              <a:ea typeface="微软雅黑" panose="020B0503020204020204" charset="-122"/>
            </a:endParaRPr>
          </a:p>
        </p:txBody>
      </p:sp>
      <p:sp>
        <p:nvSpPr>
          <p:cNvPr id="152" name="矩形 151"/>
          <p:cNvSpPr/>
          <p:nvPr/>
        </p:nvSpPr>
        <p:spPr>
          <a:xfrm>
            <a:off x="9044940" y="4232910"/>
            <a:ext cx="988060" cy="144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solidFill>
                  <a:schemeClr val="tx1"/>
                </a:solidFill>
                <a:latin typeface="微软雅黑" panose="020B0503020204020204" charset="-122"/>
                <a:ea typeface="微软雅黑" panose="020B0503020204020204" charset="-122"/>
              </a:rPr>
              <a:t>热线商机</a:t>
            </a:r>
            <a:r>
              <a:rPr lang="zh-CN" altLang="en-US" sz="1050" dirty="0">
                <a:solidFill>
                  <a:schemeClr val="tx1"/>
                </a:solidFill>
                <a:latin typeface="微软雅黑" panose="020B0503020204020204" charset="-122"/>
                <a:ea typeface="微软雅黑" panose="020B0503020204020204" charset="-122"/>
              </a:rPr>
              <a:t>预警</a:t>
            </a:r>
            <a:endParaRPr lang="zh-CN" altLang="en-US" sz="1050" dirty="0">
              <a:solidFill>
                <a:schemeClr val="tx1"/>
              </a:solidFill>
              <a:latin typeface="微软雅黑" panose="020B0503020204020204" charset="-122"/>
              <a:ea typeface="微软雅黑" panose="020B0503020204020204" charset="-122"/>
            </a:endParaRPr>
          </a:p>
        </p:txBody>
      </p:sp>
      <p:sp>
        <p:nvSpPr>
          <p:cNvPr id="153" name="矩形 152"/>
          <p:cNvSpPr/>
          <p:nvPr/>
        </p:nvSpPr>
        <p:spPr>
          <a:xfrm>
            <a:off x="6809740" y="4692650"/>
            <a:ext cx="2127885" cy="17399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solidFill>
                  <a:schemeClr val="tx1"/>
                </a:solidFill>
                <a:latin typeface="微软雅黑" panose="020B0503020204020204" charset="-122"/>
                <a:ea typeface="微软雅黑" panose="020B0503020204020204" charset="-122"/>
              </a:rPr>
              <a:t>全球通离网原因</a:t>
            </a:r>
            <a:r>
              <a:rPr lang="zh-CN" altLang="en-US" sz="1050" dirty="0">
                <a:solidFill>
                  <a:schemeClr val="tx1"/>
                </a:solidFill>
                <a:latin typeface="微软雅黑" panose="020B0503020204020204" charset="-122"/>
                <a:ea typeface="微软雅黑" panose="020B0503020204020204" charset="-122"/>
              </a:rPr>
              <a:t>追溯</a:t>
            </a:r>
            <a:endParaRPr lang="zh-CN" altLang="en-US" sz="1050" dirty="0">
              <a:solidFill>
                <a:schemeClr val="tx1"/>
              </a:solidFill>
              <a:latin typeface="微软雅黑" panose="020B0503020204020204" charset="-122"/>
              <a:ea typeface="微软雅黑" panose="020B0503020204020204" charset="-122"/>
            </a:endParaRPr>
          </a:p>
        </p:txBody>
      </p:sp>
      <p:sp>
        <p:nvSpPr>
          <p:cNvPr id="154" name="文本框 153"/>
          <p:cNvSpPr txBox="1"/>
          <p:nvPr/>
        </p:nvSpPr>
        <p:spPr>
          <a:xfrm>
            <a:off x="6285230" y="4177665"/>
            <a:ext cx="524510" cy="716915"/>
          </a:xfrm>
          <a:prstGeom prst="rect">
            <a:avLst/>
          </a:prstGeom>
          <a:noFill/>
        </p:spPr>
        <p:txBody>
          <a:bodyPr wrap="square" rtlCol="0">
            <a:noAutofit/>
          </a:bodyPr>
          <a:p>
            <a:pPr>
              <a:lnSpc>
                <a:spcPct val="130000"/>
              </a:lnSpc>
            </a:pPr>
            <a:r>
              <a:rPr lang="zh-CN" altLang="en-US" sz="1000" b="1">
                <a:solidFill>
                  <a:srgbClr val="FF0000"/>
                </a:solidFill>
                <a:latin typeface="+mj-ea"/>
                <a:ea typeface="+mj-ea"/>
                <a:cs typeface="+mj-ea"/>
              </a:rPr>
              <a:t>支撑</a:t>
            </a:r>
            <a:r>
              <a:rPr lang="en-US" altLang="zh-CN" sz="1000" b="1">
                <a:solidFill>
                  <a:srgbClr val="FF0000"/>
                </a:solidFill>
                <a:latin typeface="+mj-ea"/>
                <a:ea typeface="+mj-ea"/>
                <a:cs typeface="+mj-ea"/>
              </a:rPr>
              <a:t>10</a:t>
            </a:r>
            <a:r>
              <a:rPr lang="zh-CN" altLang="en-US" sz="1000" b="1">
                <a:solidFill>
                  <a:srgbClr val="FF0000"/>
                </a:solidFill>
                <a:latin typeface="+mj-ea"/>
                <a:ea typeface="+mj-ea"/>
                <a:cs typeface="+mj-ea"/>
              </a:rPr>
              <a:t>个场景</a:t>
            </a:r>
            <a:endParaRPr lang="zh-CN" altLang="en-US" sz="1000" b="1">
              <a:solidFill>
                <a:srgbClr val="FF0000"/>
              </a:solidFill>
              <a:latin typeface="+mj-ea"/>
              <a:ea typeface="+mj-ea"/>
              <a:cs typeface="+mj-ea"/>
            </a:endParaRPr>
          </a:p>
        </p:txBody>
      </p:sp>
      <p:sp>
        <p:nvSpPr>
          <p:cNvPr id="158" name="矩形 157"/>
          <p:cNvSpPr/>
          <p:nvPr/>
        </p:nvSpPr>
        <p:spPr>
          <a:xfrm>
            <a:off x="10219690" y="4231005"/>
            <a:ext cx="1253490" cy="17399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solidFill>
                  <a:schemeClr val="tx1"/>
                </a:solidFill>
                <a:latin typeface="微软雅黑" panose="020B0503020204020204" charset="-122"/>
                <a:ea typeface="微软雅黑" panose="020B0503020204020204" charset="-122"/>
                <a:sym typeface="+mn-ea"/>
              </a:rPr>
              <a:t>全球通投诉问题</a:t>
            </a:r>
            <a:endParaRPr lang="zh-CN" altLang="en-US" sz="1050" dirty="0">
              <a:solidFill>
                <a:schemeClr val="tx1"/>
              </a:solidFill>
              <a:latin typeface="微软雅黑" panose="020B0503020204020204" charset="-122"/>
              <a:ea typeface="微软雅黑" panose="020B0503020204020204" charset="-122"/>
            </a:endParaRPr>
          </a:p>
        </p:txBody>
      </p:sp>
      <p:sp>
        <p:nvSpPr>
          <p:cNvPr id="159" name="矩形 158"/>
          <p:cNvSpPr/>
          <p:nvPr/>
        </p:nvSpPr>
        <p:spPr>
          <a:xfrm>
            <a:off x="10219690" y="4424680"/>
            <a:ext cx="1253490" cy="17399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solidFill>
                  <a:schemeClr val="tx1"/>
                </a:solidFill>
                <a:latin typeface="微软雅黑" panose="020B0503020204020204" charset="-122"/>
                <a:ea typeface="微软雅黑" panose="020B0503020204020204" charset="-122"/>
                <a:sym typeface="+mn-ea"/>
              </a:rPr>
              <a:t>中高价值客户看管</a:t>
            </a:r>
            <a:endParaRPr lang="zh-CN" altLang="en-US" sz="1050" dirty="0">
              <a:solidFill>
                <a:schemeClr val="tx1"/>
              </a:solidFill>
              <a:latin typeface="微软雅黑" panose="020B0503020204020204" charset="-122"/>
              <a:ea typeface="微软雅黑" panose="020B0503020204020204" charset="-122"/>
            </a:endParaRPr>
          </a:p>
        </p:txBody>
      </p:sp>
      <p:sp>
        <p:nvSpPr>
          <p:cNvPr id="160" name="矩形 159"/>
          <p:cNvSpPr/>
          <p:nvPr/>
        </p:nvSpPr>
        <p:spPr>
          <a:xfrm>
            <a:off x="9044940" y="4454525"/>
            <a:ext cx="988060" cy="144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solidFill>
                  <a:schemeClr val="tx1"/>
                </a:solidFill>
                <a:latin typeface="微软雅黑" panose="020B0503020204020204" charset="-122"/>
                <a:ea typeface="微软雅黑" panose="020B0503020204020204" charset="-122"/>
              </a:rPr>
              <a:t>合约到期</a:t>
            </a:r>
            <a:r>
              <a:rPr lang="zh-CN" altLang="en-US" sz="1050" dirty="0">
                <a:solidFill>
                  <a:schemeClr val="tx1"/>
                </a:solidFill>
                <a:latin typeface="微软雅黑" panose="020B0503020204020204" charset="-122"/>
                <a:ea typeface="微软雅黑" panose="020B0503020204020204" charset="-122"/>
              </a:rPr>
              <a:t>续约</a:t>
            </a:r>
            <a:endParaRPr lang="zh-CN" altLang="en-US" sz="1050" dirty="0">
              <a:solidFill>
                <a:schemeClr val="tx1"/>
              </a:solidFill>
              <a:latin typeface="微软雅黑" panose="020B0503020204020204" charset="-122"/>
              <a:ea typeface="微软雅黑" panose="020B0503020204020204" charset="-122"/>
            </a:endParaRPr>
          </a:p>
        </p:txBody>
      </p:sp>
      <p:sp>
        <p:nvSpPr>
          <p:cNvPr id="161" name="矩形 160"/>
          <p:cNvSpPr/>
          <p:nvPr/>
        </p:nvSpPr>
        <p:spPr>
          <a:xfrm>
            <a:off x="9044940" y="4692650"/>
            <a:ext cx="2427605" cy="17399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zh-CN" altLang="en-US" sz="1050" dirty="0">
                <a:solidFill>
                  <a:schemeClr val="tx1"/>
                </a:solidFill>
                <a:latin typeface="微软雅黑" panose="020B0503020204020204" charset="-122"/>
                <a:ea typeface="微软雅黑" panose="020B0503020204020204" charset="-122"/>
              </a:rPr>
              <a:t>全球通客户停机</a:t>
            </a:r>
            <a:r>
              <a:rPr lang="zh-CN" altLang="en-US" sz="1050" dirty="0">
                <a:solidFill>
                  <a:schemeClr val="tx1"/>
                </a:solidFill>
                <a:latin typeface="微软雅黑" panose="020B0503020204020204" charset="-122"/>
                <a:ea typeface="微软雅黑" panose="020B0503020204020204" charset="-122"/>
              </a:rPr>
              <a:t>赢回</a:t>
            </a:r>
            <a:endParaRPr lang="zh-CN" altLang="en-US" sz="1050" dirty="0">
              <a:solidFill>
                <a:schemeClr val="tx1"/>
              </a:solidFill>
              <a:latin typeface="微软雅黑" panose="020B0503020204020204" charset="-122"/>
              <a:ea typeface="微软雅黑" panose="020B0503020204020204" charset="-122"/>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zh-CN" altLang="en-US"/>
              <a:t>洞察能力：</a:t>
            </a:r>
            <a:r>
              <a:rPr lang="zh-CN" altLang="en-US"/>
              <a:t>分场景的业务视图</a:t>
            </a:r>
            <a:r>
              <a:rPr lang="en-US" altLang="zh-CN"/>
              <a:t>&amp;</a:t>
            </a:r>
            <a:r>
              <a:rPr lang="zh-CN" altLang="en-US"/>
              <a:t>基于规则的预警</a:t>
            </a:r>
            <a:r>
              <a:rPr lang="zh-CN" altLang="en-US"/>
              <a:t>能力</a:t>
            </a:r>
            <a:endParaRPr lang="zh-CN" altLang="en-US"/>
          </a:p>
        </p:txBody>
      </p:sp>
      <p:grpSp>
        <p:nvGrpSpPr>
          <p:cNvPr id="5" name="组合 4"/>
          <p:cNvGrpSpPr/>
          <p:nvPr/>
        </p:nvGrpSpPr>
        <p:grpSpPr>
          <a:xfrm>
            <a:off x="5732145" y="2008505"/>
            <a:ext cx="6129020" cy="4611370"/>
            <a:chOff x="9027" y="2923"/>
            <a:chExt cx="9652" cy="7262"/>
          </a:xfrm>
        </p:grpSpPr>
        <p:sp>
          <p:nvSpPr>
            <p:cNvPr id="87" name="矩形 86"/>
            <p:cNvSpPr/>
            <p:nvPr/>
          </p:nvSpPr>
          <p:spPr>
            <a:xfrm>
              <a:off x="9027" y="2923"/>
              <a:ext cx="9653" cy="10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600"/>
                </a:spcAft>
              </a:pPr>
              <a:r>
                <a:rPr lang="zh-CN" altLang="en-US" sz="1600" b="1" dirty="0" smtClean="0">
                  <a:solidFill>
                    <a:schemeClr val="bg1"/>
                  </a:solidFill>
                </a:rPr>
                <a:t>场景化可视看板</a:t>
              </a:r>
              <a:endParaRPr lang="en-US" altLang="zh-CN" sz="1600" b="1" dirty="0" smtClean="0">
                <a:solidFill>
                  <a:schemeClr val="bg1"/>
                </a:solidFill>
              </a:endParaRPr>
            </a:p>
            <a:p>
              <a:pPr algn="ctr">
                <a:spcAft>
                  <a:spcPts val="600"/>
                </a:spcAft>
              </a:pPr>
              <a:r>
                <a:rPr lang="zh-CN" altLang="en-US" sz="1400" dirty="0">
                  <a:solidFill>
                    <a:schemeClr val="bg1"/>
                  </a:solidFill>
                </a:rPr>
                <a:t>场景</a:t>
              </a:r>
              <a:r>
                <a:rPr lang="zh-CN" altLang="en-US" sz="1400" dirty="0" smtClean="0">
                  <a:solidFill>
                    <a:schemeClr val="bg1"/>
                  </a:solidFill>
                </a:rPr>
                <a:t>化视图看板，多角色、多层级、多业务的数据体系，快速了解业务</a:t>
              </a:r>
              <a:endParaRPr lang="zh-CN" altLang="en-US" sz="1400" dirty="0">
                <a:solidFill>
                  <a:schemeClr val="bg1"/>
                </a:solidFill>
              </a:endParaRPr>
            </a:p>
          </p:txBody>
        </p:sp>
        <p:sp>
          <p:nvSpPr>
            <p:cNvPr id="88" name="文本框 87"/>
            <p:cNvSpPr txBox="1"/>
            <p:nvPr/>
          </p:nvSpPr>
          <p:spPr>
            <a:xfrm>
              <a:off x="9227" y="4401"/>
              <a:ext cx="9192" cy="3647"/>
            </a:xfrm>
            <a:prstGeom prst="rect">
              <a:avLst/>
            </a:prstGeom>
            <a:noFill/>
          </p:spPr>
          <p:txBody>
            <a:bodyPr wrap="square" rtlCol="0">
              <a:noAutofit/>
            </a:bodyPr>
            <a:lstStyle/>
            <a:p>
              <a:pPr marL="171450" indent="-171450">
                <a:lnSpc>
                  <a:spcPct val="150000"/>
                </a:lnSpc>
                <a:spcBef>
                  <a:spcPts val="0"/>
                </a:spcBef>
                <a:spcAft>
                  <a:spcPts val="0"/>
                </a:spcAft>
                <a:buFont typeface="Wingdings" panose="05000000000000000000" pitchFamily="2" charset="2"/>
                <a:buChar char="ü"/>
              </a:pPr>
              <a:r>
                <a:rPr lang="zh-CN" altLang="en-US" sz="1200" b="1" dirty="0">
                  <a:latin typeface="微软雅黑" panose="020B0503020204020204" charset="-122"/>
                  <a:ea typeface="微软雅黑" panose="020B0503020204020204" charset="-122"/>
                  <a:cs typeface="微软雅黑" panose="020B0503020204020204" charset="-122"/>
                </a:rPr>
                <a:t>整体数据</a:t>
              </a:r>
              <a:r>
                <a:rPr lang="zh-CN" altLang="en-US" sz="1200" b="1" dirty="0" smtClean="0">
                  <a:latin typeface="微软雅黑" panose="020B0503020204020204" charset="-122"/>
                  <a:ea typeface="微软雅黑" panose="020B0503020204020204" charset="-122"/>
                  <a:cs typeface="微软雅黑" panose="020B0503020204020204" charset="-122"/>
                </a:rPr>
                <a:t>概览：</a:t>
              </a:r>
              <a:r>
                <a:rPr lang="zh-CN" altLang="en-US" sz="1200" dirty="0" smtClean="0">
                  <a:latin typeface="微软雅黑" panose="020B0503020204020204" charset="-122"/>
                  <a:ea typeface="微软雅黑" panose="020B0503020204020204" charset="-122"/>
                  <a:cs typeface="微软雅黑" panose="020B0503020204020204" charset="-122"/>
                </a:rPr>
                <a:t>可</a:t>
              </a:r>
              <a:r>
                <a:rPr lang="zh-CN" altLang="en-US" sz="1200" dirty="0">
                  <a:latin typeface="微软雅黑" panose="020B0503020204020204" charset="-122"/>
                  <a:ea typeface="微软雅黑" panose="020B0503020204020204" charset="-122"/>
                  <a:cs typeface="微软雅黑" panose="020B0503020204020204" charset="-122"/>
                </a:rPr>
                <a:t>查看平台使用情况，生产工单、任务接收、活动配置等</a:t>
              </a:r>
              <a:endParaRPr lang="zh-CN" altLang="en-US" sz="1200" dirty="0">
                <a:latin typeface="微软雅黑" panose="020B0503020204020204" charset="-122"/>
                <a:ea typeface="微软雅黑" panose="020B0503020204020204" charset="-122"/>
                <a:cs typeface="微软雅黑" panose="020B0503020204020204" charset="-122"/>
              </a:endParaRPr>
            </a:p>
            <a:p>
              <a:pPr marL="171450" indent="-171450">
                <a:lnSpc>
                  <a:spcPct val="150000"/>
                </a:lnSpc>
                <a:spcBef>
                  <a:spcPts val="0"/>
                </a:spcBef>
                <a:spcAft>
                  <a:spcPts val="0"/>
                </a:spcAft>
                <a:buFont typeface="Wingdings" panose="05000000000000000000" pitchFamily="2" charset="2"/>
                <a:buChar char="ü"/>
              </a:pPr>
              <a:r>
                <a:rPr lang="zh-CN" altLang="en-US" sz="1200" b="1" dirty="0" smtClean="0">
                  <a:latin typeface="微软雅黑" panose="020B0503020204020204" charset="-122"/>
                  <a:ea typeface="微软雅黑" panose="020B0503020204020204" charset="-122"/>
                </a:rPr>
                <a:t>合约</a:t>
              </a:r>
              <a:r>
                <a:rPr lang="zh-CN" altLang="en-US" sz="1200" b="1" dirty="0">
                  <a:latin typeface="微软雅黑" panose="020B0503020204020204" charset="-122"/>
                  <a:ea typeface="微软雅黑" panose="020B0503020204020204" charset="-122"/>
                </a:rPr>
                <a:t>续约看板</a:t>
              </a:r>
              <a:r>
                <a:rPr lang="zh-CN" altLang="en-US" sz="1200" b="1" dirty="0" smtClean="0">
                  <a:latin typeface="微软雅黑" panose="020B0503020204020204" charset="-122"/>
                  <a:ea typeface="微软雅黑" panose="020B0503020204020204" charset="-122"/>
                </a:rPr>
                <a:t>：</a:t>
              </a:r>
              <a:r>
                <a:rPr lang="zh-CN" altLang="en-US" sz="1200" dirty="0" smtClean="0">
                  <a:latin typeface="微软雅黑" panose="020B0503020204020204" charset="-122"/>
                  <a:ea typeface="微软雅黑" panose="020B0503020204020204" charset="-122"/>
                </a:rPr>
                <a:t>可查看合约续约场景下各项指标数据，包括到期用户、续约用户、续约率等，支持区域下钻</a:t>
              </a:r>
              <a:endParaRPr lang="en-US" altLang="zh-CN" sz="1200" dirty="0" smtClean="0">
                <a:latin typeface="微软雅黑" panose="020B0503020204020204" charset="-122"/>
                <a:ea typeface="微软雅黑" panose="020B0503020204020204" charset="-122"/>
              </a:endParaRPr>
            </a:p>
            <a:p>
              <a:pPr marL="171450" indent="-171450">
                <a:lnSpc>
                  <a:spcPct val="150000"/>
                </a:lnSpc>
                <a:spcBef>
                  <a:spcPts val="0"/>
                </a:spcBef>
                <a:spcAft>
                  <a:spcPts val="0"/>
                </a:spcAft>
                <a:buFont typeface="Wingdings" panose="05000000000000000000" pitchFamily="2" charset="2"/>
                <a:buChar char="ü"/>
              </a:pPr>
              <a:r>
                <a:rPr lang="zh-CN" altLang="en-US" sz="1200" b="1" dirty="0" smtClean="0">
                  <a:latin typeface="微软雅黑" panose="020B0503020204020204" charset="-122"/>
                  <a:ea typeface="微软雅黑" panose="020B0503020204020204" charset="-122"/>
                </a:rPr>
                <a:t>存量保有看板：</a:t>
              </a:r>
              <a:r>
                <a:rPr lang="zh-CN" altLang="en-US" sz="1200" dirty="0">
                  <a:latin typeface="微软雅黑" panose="020B0503020204020204" charset="-122"/>
                  <a:ea typeface="微软雅黑" panose="020B0503020204020204" charset="-122"/>
                </a:rPr>
                <a:t>分为整体存量业务视图、中高价值客户视图、高价值客户视图、</a:t>
              </a:r>
              <a:r>
                <a:rPr lang="zh-CN" altLang="en-US" sz="1200" dirty="0">
                  <a:solidFill>
                    <a:schemeClr val="tx1"/>
                  </a:solidFill>
                  <a:latin typeface="微软雅黑" panose="020B0503020204020204" charset="-122"/>
                  <a:ea typeface="微软雅黑" panose="020B0503020204020204" charset="-122"/>
                </a:rPr>
                <a:t>营销闭环视图</a:t>
              </a:r>
              <a:endParaRPr lang="zh-CN" altLang="en-US" sz="1200" dirty="0">
                <a:solidFill>
                  <a:srgbClr val="C00000"/>
                </a:solidFill>
                <a:latin typeface="微软雅黑" panose="020B0503020204020204" charset="-122"/>
                <a:ea typeface="微软雅黑" panose="020B0503020204020204" charset="-122"/>
              </a:endParaRPr>
            </a:p>
            <a:p>
              <a:pPr marL="171450" indent="-171450">
                <a:lnSpc>
                  <a:spcPct val="150000"/>
                </a:lnSpc>
                <a:buFont typeface="Wingdings" panose="05000000000000000000" pitchFamily="2" charset="2"/>
                <a:buChar char="ü"/>
              </a:pPr>
              <a:r>
                <a:rPr lang="zh-CN" altLang="en-US" sz="1200" b="1" dirty="0" smtClean="0">
                  <a:latin typeface="微软雅黑" panose="020B0503020204020204" charset="-122"/>
                  <a:ea typeface="微软雅黑" panose="020B0503020204020204" charset="-122"/>
                </a:rPr>
                <a:t>携转预警看板：</a:t>
              </a:r>
              <a:r>
                <a:rPr lang="zh-CN" altLang="en-US" sz="1200" dirty="0" smtClean="0">
                  <a:latin typeface="微软雅黑" panose="020B0503020204020204" charset="-122"/>
                  <a:ea typeface="微软雅黑" panose="020B0503020204020204" charset="-122"/>
                </a:rPr>
                <a:t>支持</a:t>
              </a:r>
              <a:r>
                <a:rPr lang="zh-CN" altLang="en-US" sz="1200" dirty="0">
                  <a:latin typeface="微软雅黑" panose="020B0503020204020204" charset="-122"/>
                  <a:ea typeface="微软雅黑" panose="020B0503020204020204" charset="-122"/>
                </a:rPr>
                <a:t>查看携转挽留多模式执行情况、执行效率</a:t>
              </a:r>
              <a:r>
                <a:rPr lang="zh-CN" altLang="en-US" sz="1200" dirty="0" smtClean="0">
                  <a:latin typeface="微软雅黑" panose="020B0503020204020204" charset="-122"/>
                  <a:ea typeface="微软雅黑" panose="020B0503020204020204" charset="-122"/>
                </a:rPr>
                <a:t>等</a:t>
              </a:r>
              <a:endParaRPr lang="en-US" altLang="zh-CN" sz="1200" dirty="0" smtClean="0">
                <a:latin typeface="微软雅黑" panose="020B0503020204020204" charset="-122"/>
                <a:ea typeface="微软雅黑" panose="020B0503020204020204" charset="-122"/>
              </a:endParaRPr>
            </a:p>
            <a:p>
              <a:pPr marL="171450" indent="-171450">
                <a:lnSpc>
                  <a:spcPct val="150000"/>
                </a:lnSpc>
                <a:buFont typeface="Wingdings" panose="05000000000000000000" pitchFamily="2" charset="2"/>
                <a:buChar char="ü"/>
              </a:pPr>
              <a:r>
                <a:rPr lang="zh-CN" altLang="en-US" sz="1200" b="1" dirty="0">
                  <a:latin typeface="微软雅黑" panose="020B0503020204020204" charset="-122"/>
                  <a:ea typeface="微软雅黑" panose="020B0503020204020204" charset="-122"/>
                </a:rPr>
                <a:t>网格分配视图：</a:t>
              </a:r>
              <a:r>
                <a:rPr lang="zh-CN" altLang="en-US" sz="1200" dirty="0">
                  <a:latin typeface="微软雅黑" panose="020B0503020204020204" charset="-122"/>
                  <a:ea typeface="微软雅黑" panose="020B0503020204020204" charset="-122"/>
                </a:rPr>
                <a:t>网格分派视图可监控网格已分配、未分配，支持下钻至</a:t>
              </a:r>
              <a:r>
                <a:rPr lang="zh-CN" altLang="en-US" sz="1200" dirty="0" smtClean="0">
                  <a:latin typeface="微软雅黑" panose="020B0503020204020204" charset="-122"/>
                  <a:ea typeface="微软雅黑" panose="020B0503020204020204" charset="-122"/>
                </a:rPr>
                <a:t>网格</a:t>
              </a:r>
              <a:endParaRPr lang="zh-CN" altLang="en-US" sz="1200" b="1" dirty="0">
                <a:latin typeface="微软雅黑" panose="020B0503020204020204" charset="-122"/>
                <a:ea typeface="微软雅黑" panose="020B0503020204020204" charset="-122"/>
              </a:endParaRPr>
            </a:p>
          </p:txBody>
        </p:sp>
        <p:grpSp>
          <p:nvGrpSpPr>
            <p:cNvPr id="6" name="组合 5"/>
            <p:cNvGrpSpPr/>
            <p:nvPr/>
          </p:nvGrpSpPr>
          <p:grpSpPr>
            <a:xfrm>
              <a:off x="9360" y="8020"/>
              <a:ext cx="9058" cy="1956"/>
              <a:chOff x="4632977" y="5251990"/>
              <a:chExt cx="7062582" cy="1241943"/>
            </a:xfrm>
          </p:grpSpPr>
          <p:pic>
            <p:nvPicPr>
              <p:cNvPr id="89" name="图片 88"/>
              <p:cNvPicPr>
                <a:picLocks noChangeAspect="1"/>
              </p:cNvPicPr>
              <p:nvPr/>
            </p:nvPicPr>
            <p:blipFill>
              <a:blip r:embed="rId1" cstate="print"/>
              <a:stretch>
                <a:fillRect/>
              </a:stretch>
            </p:blipFill>
            <p:spPr>
              <a:xfrm>
                <a:off x="4632977" y="5251990"/>
                <a:ext cx="2152565" cy="1167233"/>
              </a:xfrm>
              <a:prstGeom prst="rect">
                <a:avLst/>
              </a:prstGeom>
            </p:spPr>
          </p:pic>
          <p:pic>
            <p:nvPicPr>
              <p:cNvPr id="90" name="图片 89"/>
              <p:cNvPicPr>
                <a:picLocks noChangeAspect="1"/>
              </p:cNvPicPr>
              <p:nvPr/>
            </p:nvPicPr>
            <p:blipFill>
              <a:blip r:embed="rId2" cstate="print"/>
              <a:stretch>
                <a:fillRect/>
              </a:stretch>
            </p:blipFill>
            <p:spPr>
              <a:xfrm>
                <a:off x="7040982" y="5259054"/>
                <a:ext cx="2212963" cy="1200649"/>
              </a:xfrm>
              <a:prstGeom prst="rect">
                <a:avLst/>
              </a:prstGeom>
            </p:spPr>
          </p:pic>
          <p:pic>
            <p:nvPicPr>
              <p:cNvPr id="91" name="图片 90"/>
              <p:cNvPicPr>
                <a:picLocks noChangeAspect="1"/>
              </p:cNvPicPr>
              <p:nvPr/>
            </p:nvPicPr>
            <p:blipFill>
              <a:blip r:embed="rId3" cstate="print"/>
              <a:stretch>
                <a:fillRect/>
              </a:stretch>
            </p:blipFill>
            <p:spPr>
              <a:xfrm>
                <a:off x="9494504" y="5292592"/>
                <a:ext cx="2201055" cy="1201341"/>
              </a:xfrm>
              <a:prstGeom prst="rect">
                <a:avLst/>
              </a:prstGeom>
            </p:spPr>
          </p:pic>
          <p:sp>
            <p:nvSpPr>
              <p:cNvPr id="92" name="文本框 91"/>
              <p:cNvSpPr txBox="1"/>
              <p:nvPr/>
            </p:nvSpPr>
            <p:spPr>
              <a:xfrm>
                <a:off x="4661724" y="5621748"/>
                <a:ext cx="2129248" cy="261611"/>
              </a:xfrm>
              <a:prstGeom prst="rect">
                <a:avLst/>
              </a:prstGeom>
              <a:noFill/>
              <a:ln>
                <a:solidFill>
                  <a:srgbClr val="FF0000"/>
                </a:solidFill>
                <a:prstDash val="dash"/>
              </a:ln>
            </p:spPr>
            <p:txBody>
              <a:bodyPr wrap="square" rtlCol="0">
                <a:spAutoFit/>
              </a:bodyPr>
              <a:lstStyle/>
              <a:p>
                <a:pPr algn="ctr"/>
                <a:r>
                  <a:rPr kumimoji="1" lang="zh-CN" altLang="en-US" sz="1100" dirty="0">
                    <a:solidFill>
                      <a:srgbClr val="FF0000"/>
                    </a:solidFill>
                    <a:latin typeface="微软雅黑" panose="020B0503020204020204" charset="-122"/>
                    <a:ea typeface="微软雅黑" panose="020B0503020204020204" charset="-122"/>
                  </a:rPr>
                  <a:t>整体概览看板</a:t>
                </a:r>
                <a:endParaRPr kumimoji="1" lang="zh-CN" altLang="en-US" sz="1100" dirty="0">
                  <a:solidFill>
                    <a:srgbClr val="FF0000"/>
                  </a:solidFill>
                  <a:latin typeface="微软雅黑" panose="020B0503020204020204" charset="-122"/>
                  <a:ea typeface="微软雅黑" panose="020B0503020204020204" charset="-122"/>
                </a:endParaRPr>
              </a:p>
            </p:txBody>
          </p:sp>
          <p:sp>
            <p:nvSpPr>
              <p:cNvPr id="93" name="文本框 92"/>
              <p:cNvSpPr txBox="1"/>
              <p:nvPr/>
            </p:nvSpPr>
            <p:spPr>
              <a:xfrm>
                <a:off x="7062046" y="5633726"/>
                <a:ext cx="2127937" cy="261611"/>
              </a:xfrm>
              <a:prstGeom prst="rect">
                <a:avLst/>
              </a:prstGeom>
              <a:noFill/>
              <a:ln>
                <a:solidFill>
                  <a:srgbClr val="FF0000"/>
                </a:solidFill>
                <a:prstDash val="dash"/>
              </a:ln>
            </p:spPr>
            <p:txBody>
              <a:bodyPr wrap="square" rtlCol="0">
                <a:spAutoFit/>
              </a:bodyPr>
              <a:lstStyle/>
              <a:p>
                <a:pPr algn="ctr"/>
                <a:r>
                  <a:rPr kumimoji="1" lang="zh-CN" altLang="en-US" sz="1100" dirty="0">
                    <a:solidFill>
                      <a:srgbClr val="FF0000"/>
                    </a:solidFill>
                    <a:latin typeface="微软雅黑" panose="020B0503020204020204" charset="-122"/>
                    <a:ea typeface="微软雅黑" panose="020B0503020204020204" charset="-122"/>
                  </a:rPr>
                  <a:t>合约续约看板</a:t>
                </a:r>
                <a:endParaRPr kumimoji="1" lang="zh-CN" altLang="en-US" sz="1100" dirty="0">
                  <a:solidFill>
                    <a:srgbClr val="FF0000"/>
                  </a:solidFill>
                  <a:latin typeface="微软雅黑" panose="020B0503020204020204" charset="-122"/>
                  <a:ea typeface="微软雅黑" panose="020B0503020204020204" charset="-122"/>
                </a:endParaRPr>
              </a:p>
            </p:txBody>
          </p:sp>
          <p:sp>
            <p:nvSpPr>
              <p:cNvPr id="94" name="文本框 93"/>
              <p:cNvSpPr txBox="1"/>
              <p:nvPr/>
            </p:nvSpPr>
            <p:spPr>
              <a:xfrm>
                <a:off x="9531062" y="5621748"/>
                <a:ext cx="2127937" cy="261611"/>
              </a:xfrm>
              <a:prstGeom prst="rect">
                <a:avLst/>
              </a:prstGeom>
              <a:noFill/>
              <a:ln>
                <a:solidFill>
                  <a:srgbClr val="FF0000"/>
                </a:solidFill>
                <a:prstDash val="dash"/>
              </a:ln>
            </p:spPr>
            <p:txBody>
              <a:bodyPr wrap="square" rtlCol="0">
                <a:spAutoFit/>
              </a:bodyPr>
              <a:lstStyle/>
              <a:p>
                <a:pPr algn="ctr"/>
                <a:r>
                  <a:rPr kumimoji="1" lang="zh-CN" altLang="en-US" sz="1100" dirty="0">
                    <a:solidFill>
                      <a:srgbClr val="FF0000"/>
                    </a:solidFill>
                    <a:latin typeface="微软雅黑" panose="020B0503020204020204" charset="-122"/>
                    <a:ea typeface="微软雅黑" panose="020B0503020204020204" charset="-122"/>
                  </a:rPr>
                  <a:t>存量业务视图</a:t>
                </a:r>
                <a:endParaRPr kumimoji="1" lang="zh-CN" altLang="en-US" sz="1100" dirty="0">
                  <a:solidFill>
                    <a:srgbClr val="FF0000"/>
                  </a:solidFill>
                  <a:latin typeface="微软雅黑" panose="020B0503020204020204" charset="-122"/>
                  <a:ea typeface="微软雅黑" panose="020B0503020204020204" charset="-122"/>
                </a:endParaRPr>
              </a:p>
            </p:txBody>
          </p:sp>
        </p:grpSp>
        <p:sp>
          <p:nvSpPr>
            <p:cNvPr id="97" name="矩形 96"/>
            <p:cNvSpPr/>
            <p:nvPr/>
          </p:nvSpPr>
          <p:spPr>
            <a:xfrm>
              <a:off x="9027" y="4123"/>
              <a:ext cx="9653" cy="6062"/>
            </a:xfrm>
            <a:prstGeom prst="rect">
              <a:avLst/>
            </a:prstGeom>
            <a:noFill/>
            <a:ln w="9525">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8" name="组合 7"/>
          <p:cNvGrpSpPr/>
          <p:nvPr/>
        </p:nvGrpSpPr>
        <p:grpSpPr>
          <a:xfrm>
            <a:off x="422910" y="2008505"/>
            <a:ext cx="5060315" cy="4556760"/>
            <a:chOff x="533" y="2923"/>
            <a:chExt cx="6426" cy="7262"/>
          </a:xfrm>
        </p:grpSpPr>
        <p:sp>
          <p:nvSpPr>
            <p:cNvPr id="84" name="矩形 83"/>
            <p:cNvSpPr/>
            <p:nvPr/>
          </p:nvSpPr>
          <p:spPr>
            <a:xfrm>
              <a:off x="533" y="2923"/>
              <a:ext cx="6427" cy="10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600"/>
                </a:spcAft>
              </a:pPr>
              <a:r>
                <a:rPr lang="zh-CN" altLang="en-US" sz="1600" b="1" dirty="0">
                  <a:solidFill>
                    <a:schemeClr val="bg1"/>
                  </a:solidFill>
                </a:rPr>
                <a:t>预警</a:t>
              </a:r>
              <a:r>
                <a:rPr lang="zh-CN" altLang="en-US" sz="1600" b="1" dirty="0" smtClean="0">
                  <a:solidFill>
                    <a:schemeClr val="bg1"/>
                  </a:solidFill>
                </a:rPr>
                <a:t>自动触发</a:t>
              </a:r>
              <a:endParaRPr lang="en-US" altLang="zh-CN" sz="1600" b="1" dirty="0" smtClean="0">
                <a:solidFill>
                  <a:schemeClr val="bg1"/>
                </a:solidFill>
              </a:endParaRPr>
            </a:p>
            <a:p>
              <a:pPr algn="ctr">
                <a:spcAft>
                  <a:spcPts val="600"/>
                </a:spcAft>
              </a:pPr>
              <a:r>
                <a:rPr lang="zh-CN" altLang="en-US" sz="1400" dirty="0" smtClean="0">
                  <a:solidFill>
                    <a:schemeClr val="bg1"/>
                  </a:solidFill>
                </a:rPr>
                <a:t>实现预警指标自定义配置、管理和自动触发</a:t>
              </a:r>
              <a:endParaRPr lang="zh-CN" altLang="en-US" sz="1400" dirty="0">
                <a:solidFill>
                  <a:schemeClr val="bg1"/>
                </a:solidFill>
              </a:endParaRPr>
            </a:p>
          </p:txBody>
        </p:sp>
        <p:sp>
          <p:nvSpPr>
            <p:cNvPr id="86" name="文本框 85"/>
            <p:cNvSpPr txBox="1"/>
            <p:nvPr/>
          </p:nvSpPr>
          <p:spPr>
            <a:xfrm>
              <a:off x="533" y="4259"/>
              <a:ext cx="6267" cy="2256"/>
            </a:xfrm>
            <a:prstGeom prst="rect">
              <a:avLst/>
            </a:prstGeom>
            <a:noFill/>
          </p:spPr>
          <p:txBody>
            <a:bodyPr wrap="square" rtlCol="0">
              <a:noAutofit/>
            </a:bodyPr>
            <a:lstStyle>
              <a:defPPr>
                <a:defRPr lang="zh-CN"/>
              </a:defPPr>
              <a:lvl1pPr>
                <a:lnSpc>
                  <a:spcPct val="110000"/>
                </a:lnSpc>
                <a:spcBef>
                  <a:spcPts val="0"/>
                </a:spcBef>
                <a:spcAft>
                  <a:spcPts val="0"/>
                </a:spcAft>
                <a:defRPr sz="1000" b="1">
                  <a:latin typeface="微软雅黑" panose="020B0503020204020204" charset="-122"/>
                  <a:ea typeface="微软雅黑" panose="020B0503020204020204" charset="-122"/>
                  <a:cs typeface="微软雅黑" panose="020B0503020204020204" charset="-122"/>
                </a:defRPr>
              </a:lvl1pPr>
            </a:lstStyle>
            <a:p>
              <a:pPr marL="228600" indent="-228600">
                <a:lnSpc>
                  <a:spcPct val="150000"/>
                </a:lnSpc>
                <a:buFont typeface="Wingdings" panose="05000000000000000000" pitchFamily="2" charset="2"/>
                <a:buChar char="ü"/>
              </a:pPr>
              <a:r>
                <a:rPr lang="zh-CN" altLang="en-US" sz="1200" dirty="0" smtClean="0"/>
                <a:t>数据接入：</a:t>
              </a:r>
              <a:r>
                <a:rPr lang="zh-CN" altLang="en-US" sz="1200" b="0" dirty="0" smtClean="0"/>
                <a:t>接入场景下预警指标组合需要的源数据</a:t>
              </a:r>
              <a:endParaRPr lang="en-US" altLang="zh-CN" sz="1200" b="0" dirty="0" smtClean="0"/>
            </a:p>
            <a:p>
              <a:pPr marL="228600" indent="-228600">
                <a:lnSpc>
                  <a:spcPct val="150000"/>
                </a:lnSpc>
                <a:buFont typeface="Wingdings" panose="05000000000000000000" pitchFamily="2" charset="2"/>
                <a:buChar char="ü"/>
              </a:pPr>
              <a:r>
                <a:rPr lang="zh-CN" altLang="en-US" sz="1200" dirty="0" smtClean="0"/>
                <a:t>自定义</a:t>
              </a:r>
              <a:r>
                <a:rPr lang="zh-CN" altLang="en-US" sz="1200" dirty="0"/>
                <a:t>预警指标：</a:t>
              </a:r>
              <a:r>
                <a:rPr lang="zh-CN" altLang="en-US" sz="1200" b="0" dirty="0"/>
                <a:t>支持自定义设置预警指标、规则、周期、阈值等</a:t>
              </a:r>
              <a:endParaRPr lang="en-US" altLang="zh-CN" sz="1200" b="0" dirty="0"/>
            </a:p>
            <a:p>
              <a:pPr marL="228600" indent="-228600">
                <a:lnSpc>
                  <a:spcPct val="150000"/>
                </a:lnSpc>
                <a:buFont typeface="Wingdings" panose="05000000000000000000" pitchFamily="2" charset="2"/>
                <a:buChar char="ü"/>
              </a:pPr>
              <a:r>
                <a:rPr lang="zh-CN" altLang="en-US" sz="1200" dirty="0"/>
                <a:t>预警指标多维交叉计算：</a:t>
              </a:r>
              <a:r>
                <a:rPr lang="zh-CN" altLang="en-US" sz="1200" b="0" dirty="0"/>
                <a:t>支持指标的规则计算</a:t>
              </a:r>
              <a:endParaRPr lang="en-US" altLang="zh-CN" sz="1200" b="0" dirty="0"/>
            </a:p>
            <a:p>
              <a:pPr marL="228600" indent="-228600">
                <a:lnSpc>
                  <a:spcPct val="150000"/>
                </a:lnSpc>
                <a:buFont typeface="Wingdings" panose="05000000000000000000" pitchFamily="2" charset="2"/>
                <a:buChar char="ü"/>
              </a:pPr>
              <a:r>
                <a:rPr lang="zh-CN" altLang="en-US" sz="1200" dirty="0"/>
                <a:t>预警管理：</a:t>
              </a:r>
              <a:r>
                <a:rPr lang="zh-CN" altLang="en-US" sz="1200" b="0" dirty="0"/>
                <a:t>对预警指标进行增删改查</a:t>
              </a:r>
              <a:endParaRPr lang="en-US" altLang="zh-CN" sz="1200" b="0" dirty="0"/>
            </a:p>
            <a:p>
              <a:pPr marL="228600" indent="-228600">
                <a:lnSpc>
                  <a:spcPct val="150000"/>
                </a:lnSpc>
                <a:buFont typeface="Wingdings" panose="05000000000000000000" pitchFamily="2" charset="2"/>
                <a:buChar char="ü"/>
              </a:pPr>
              <a:r>
                <a:rPr lang="zh-CN" altLang="en-US" sz="1200" dirty="0"/>
                <a:t>工单自动下发：</a:t>
              </a:r>
              <a:r>
                <a:rPr lang="zh-CN" altLang="en-US" sz="1200" b="0" dirty="0"/>
                <a:t>预警触发后自动生成工单、输出客群</a:t>
              </a:r>
              <a:endParaRPr lang="zh-CN" altLang="en-US" sz="1200" b="0" dirty="0"/>
            </a:p>
          </p:txBody>
        </p:sp>
        <p:grpSp>
          <p:nvGrpSpPr>
            <p:cNvPr id="7" name="组合 6"/>
            <p:cNvGrpSpPr/>
            <p:nvPr/>
          </p:nvGrpSpPr>
          <p:grpSpPr>
            <a:xfrm>
              <a:off x="666" y="7025"/>
              <a:ext cx="6160" cy="3160"/>
              <a:chOff x="473768" y="3965123"/>
              <a:chExt cx="3541988" cy="1194510"/>
            </a:xfrm>
          </p:grpSpPr>
          <p:pic>
            <p:nvPicPr>
              <p:cNvPr id="9" name="图片 8"/>
              <p:cNvPicPr>
                <a:picLocks noChangeAspect="1"/>
              </p:cNvPicPr>
              <p:nvPr/>
            </p:nvPicPr>
            <p:blipFill>
              <a:blip r:embed="rId4" cstate="print"/>
              <a:stretch>
                <a:fillRect/>
              </a:stretch>
            </p:blipFill>
            <p:spPr>
              <a:xfrm>
                <a:off x="2093152" y="3965123"/>
                <a:ext cx="1922604" cy="1079441"/>
              </a:xfrm>
              <a:prstGeom prst="rect">
                <a:avLst/>
              </a:prstGeom>
            </p:spPr>
          </p:pic>
          <p:pic>
            <p:nvPicPr>
              <p:cNvPr id="10" name="图片 9"/>
              <p:cNvPicPr>
                <a:picLocks noChangeAspect="1"/>
              </p:cNvPicPr>
              <p:nvPr/>
            </p:nvPicPr>
            <p:blipFill rotWithShape="1">
              <a:blip r:embed="rId5" cstate="print"/>
              <a:srcRect/>
              <a:stretch>
                <a:fillRect/>
              </a:stretch>
            </p:blipFill>
            <p:spPr>
              <a:xfrm>
                <a:off x="473768" y="3966900"/>
                <a:ext cx="1499417" cy="1192733"/>
              </a:xfrm>
              <a:prstGeom prst="rect">
                <a:avLst/>
              </a:prstGeom>
            </p:spPr>
          </p:pic>
          <p:sp>
            <p:nvSpPr>
              <p:cNvPr id="11" name="文本框 10"/>
              <p:cNvSpPr txBox="1"/>
              <p:nvPr/>
            </p:nvSpPr>
            <p:spPr>
              <a:xfrm>
                <a:off x="733718" y="4504690"/>
                <a:ext cx="1058815" cy="156841"/>
              </a:xfrm>
              <a:prstGeom prst="rect">
                <a:avLst/>
              </a:prstGeom>
              <a:noFill/>
              <a:ln>
                <a:solidFill>
                  <a:srgbClr val="FF0000"/>
                </a:solidFill>
                <a:prstDash val="dash"/>
              </a:ln>
            </p:spPr>
            <p:txBody>
              <a:bodyPr wrap="square" rtlCol="0">
                <a:spAutoFit/>
              </a:bodyPr>
              <a:lstStyle/>
              <a:p>
                <a:pPr algn="ctr"/>
                <a:r>
                  <a:rPr kumimoji="1" lang="zh-CN" altLang="en-US" sz="1100" dirty="0" smtClean="0">
                    <a:solidFill>
                      <a:srgbClr val="FF0000"/>
                    </a:solidFill>
                    <a:latin typeface="微软雅黑" panose="020B0503020204020204" charset="-122"/>
                    <a:ea typeface="微软雅黑" panose="020B0503020204020204" charset="-122"/>
                  </a:rPr>
                  <a:t>预警基本信息</a:t>
                </a:r>
                <a:endParaRPr kumimoji="1" lang="zh-CN" altLang="en-US" sz="1100" dirty="0" smtClean="0">
                  <a:solidFill>
                    <a:srgbClr val="FF0000"/>
                  </a:solidFill>
                  <a:latin typeface="微软雅黑" panose="020B0503020204020204" charset="-122"/>
                  <a:ea typeface="微软雅黑" panose="020B0503020204020204" charset="-122"/>
                </a:endParaRPr>
              </a:p>
            </p:txBody>
          </p:sp>
          <p:sp>
            <p:nvSpPr>
              <p:cNvPr id="12" name="文本框 11"/>
              <p:cNvSpPr txBox="1"/>
              <p:nvPr/>
            </p:nvSpPr>
            <p:spPr>
              <a:xfrm>
                <a:off x="2564209" y="4504690"/>
                <a:ext cx="1230053" cy="156841"/>
              </a:xfrm>
              <a:prstGeom prst="rect">
                <a:avLst/>
              </a:prstGeom>
              <a:noFill/>
              <a:ln>
                <a:solidFill>
                  <a:srgbClr val="FF0000"/>
                </a:solidFill>
                <a:prstDash val="dash"/>
              </a:ln>
            </p:spPr>
            <p:txBody>
              <a:bodyPr wrap="square" rtlCol="0">
                <a:spAutoFit/>
              </a:bodyPr>
              <a:lstStyle/>
              <a:p>
                <a:pPr algn="ctr"/>
                <a:r>
                  <a:rPr kumimoji="1" lang="zh-CN" altLang="en-US" sz="1100" dirty="0" smtClean="0">
                    <a:solidFill>
                      <a:srgbClr val="FF0000"/>
                    </a:solidFill>
                    <a:latin typeface="微软雅黑" panose="020B0503020204020204" charset="-122"/>
                    <a:ea typeface="微软雅黑" panose="020B0503020204020204" charset="-122"/>
                  </a:rPr>
                  <a:t>预警指标拖拉拽</a:t>
                </a:r>
                <a:endParaRPr kumimoji="1" lang="zh-CN" altLang="en-US" sz="1100" dirty="0" smtClean="0">
                  <a:solidFill>
                    <a:srgbClr val="FF0000"/>
                  </a:solidFill>
                  <a:latin typeface="微软雅黑" panose="020B0503020204020204" charset="-122"/>
                  <a:ea typeface="微软雅黑" panose="020B0503020204020204" charset="-122"/>
                </a:endParaRPr>
              </a:p>
            </p:txBody>
          </p:sp>
        </p:grpSp>
        <p:sp>
          <p:nvSpPr>
            <p:cNvPr id="13" name="矩形 12"/>
            <p:cNvSpPr/>
            <p:nvPr/>
          </p:nvSpPr>
          <p:spPr>
            <a:xfrm>
              <a:off x="533" y="4123"/>
              <a:ext cx="6424" cy="6062"/>
            </a:xfrm>
            <a:prstGeom prst="rect">
              <a:avLst/>
            </a:prstGeom>
            <a:noFill/>
            <a:ln w="9525">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4" name="文本占位符 13"/>
          <p:cNvSpPr>
            <a:spLocks noGrp="1"/>
          </p:cNvSpPr>
          <p:nvPr>
            <p:ph type="body" idx="10"/>
          </p:nvPr>
        </p:nvSpPr>
        <p:spPr>
          <a:xfrm>
            <a:off x="163195" y="969645"/>
            <a:ext cx="11832590" cy="641985"/>
          </a:xfrm>
          <a:noFill/>
        </p:spPr>
        <p:txBody>
          <a:bodyPr>
            <a:noAutofit/>
          </a:bodyPr>
          <a:lstStyle/>
          <a:p>
            <a:pPr marL="285750" indent="-285750">
              <a:lnSpc>
                <a:spcPct val="135000"/>
              </a:lnSpc>
              <a:spcAft>
                <a:spcPts val="0"/>
              </a:spcAft>
              <a:buFont typeface="Wingdings" panose="05000000000000000000" pitchFamily="2" charset="2"/>
              <a:buChar char="p"/>
            </a:pPr>
            <a:r>
              <a:rPr lang="zh-CN" altLang="en-US" sz="1400" dirty="0" smtClean="0">
                <a:solidFill>
                  <a:srgbClr val="000000"/>
                </a:solidFill>
                <a:latin typeface="微软雅黑" panose="020B0503020204020204" charset="-122"/>
                <a:ea typeface="微软雅黑" panose="020B0503020204020204" charset="-122"/>
                <a:sym typeface="+mn-ea"/>
              </a:rPr>
              <a:t>基于多场景业务需求搭建智能预警能力，通过指标规则配置、数据交叉计算实现异常指标、异动客群、合约到期等事项自动监测预警，联动任务自动下发与商机精准推送。结合多维业务数据视图，实现客户保有、流失原因等数据综合洞察分析，提升业务管控与运营决策效率。</a:t>
            </a:r>
            <a:endParaRPr lang="zh-CN" altLang="en-US" sz="1400" dirty="0" smtClean="0">
              <a:solidFill>
                <a:srgbClr val="000000"/>
              </a:solidFill>
              <a:latin typeface="微软雅黑" panose="020B0503020204020204" charset="-122"/>
              <a:ea typeface="微软雅黑" panose="020B0503020204020204" charset="-122"/>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策略中心：关联任务的多策略创建下发及管理</a:t>
            </a:r>
            <a:r>
              <a:rPr lang="zh-CN" altLang="en-US"/>
              <a:t>能力</a:t>
            </a:r>
            <a:endParaRPr lang="zh-CN" altLang="en-US"/>
          </a:p>
        </p:txBody>
      </p:sp>
      <p:sp>
        <p:nvSpPr>
          <p:cNvPr id="14" name="文本占位符 13"/>
          <p:cNvSpPr>
            <a:spLocks noGrp="1"/>
          </p:cNvSpPr>
          <p:nvPr>
            <p:ph type="body" idx="10"/>
          </p:nvPr>
        </p:nvSpPr>
        <p:spPr>
          <a:xfrm>
            <a:off x="163195" y="969645"/>
            <a:ext cx="11832590" cy="641985"/>
          </a:xfrm>
          <a:noFill/>
        </p:spPr>
        <p:txBody>
          <a:bodyPr vert="horz" lIns="90000" tIns="46800" rIns="90000" bIns="46800" rtlCol="0" anchor="t">
            <a:noAutofit/>
          </a:bodyPr>
          <a:lstStyle/>
          <a:p>
            <a:pPr marL="285750" lvl="0" indent="-285750" algn="l">
              <a:lnSpc>
                <a:spcPct val="135000"/>
              </a:lnSpc>
              <a:spcAft>
                <a:spcPts val="0"/>
              </a:spcAft>
              <a:buClrTx/>
              <a:buSzTx/>
              <a:buFont typeface="Wingdings" panose="05000000000000000000" pitchFamily="2" charset="2"/>
              <a:buChar char="p"/>
            </a:pPr>
            <a:r>
              <a:rPr lang="zh-CN" altLang="en-US" sz="1400" dirty="0" smtClean="0">
                <a:solidFill>
                  <a:srgbClr val="000000"/>
                </a:solidFill>
                <a:latin typeface="微软雅黑" panose="020B0503020204020204" charset="-122"/>
                <a:ea typeface="微软雅黑" panose="020B0503020204020204" charset="-122"/>
                <a:sym typeface="+mn-ea"/>
              </a:rPr>
              <a:t>精益平台支持通过任务流转机制，将任务分配至相关人员在</a:t>
            </a:r>
            <a:r>
              <a:rPr lang="en-US" altLang="zh-CN" sz="1400" dirty="0" smtClean="0">
                <a:solidFill>
                  <a:srgbClr val="000000"/>
                </a:solidFill>
                <a:latin typeface="微软雅黑" panose="020B0503020204020204" charset="-122"/>
                <a:ea typeface="微软雅黑" panose="020B0503020204020204" charset="-122"/>
                <a:sym typeface="+mn-ea"/>
              </a:rPr>
              <a:t>IOP</a:t>
            </a:r>
            <a:r>
              <a:rPr lang="zh-CN" altLang="en-US" sz="1400" dirty="0" smtClean="0">
                <a:solidFill>
                  <a:srgbClr val="000000"/>
                </a:solidFill>
                <a:latin typeface="微软雅黑" panose="020B0503020204020204" charset="-122"/>
                <a:ea typeface="微软雅黑" panose="020B0503020204020204" charset="-122"/>
                <a:sym typeface="+mn-ea"/>
              </a:rPr>
              <a:t>平台完成客群接收、拆分及活动配置与审批，最终将审批通过的活动任务下发至网格通一线人员执行保有或营销任务。</a:t>
            </a:r>
            <a:endParaRPr lang="zh-CN" altLang="en-US" sz="1400" dirty="0" smtClean="0">
              <a:solidFill>
                <a:srgbClr val="000000"/>
              </a:solidFill>
              <a:latin typeface="微软雅黑" panose="020B0503020204020204" charset="-122"/>
              <a:ea typeface="微软雅黑" panose="020B0503020204020204" charset="-122"/>
              <a:sym typeface="+mn-ea"/>
            </a:endParaRPr>
          </a:p>
        </p:txBody>
      </p:sp>
      <p:grpSp>
        <p:nvGrpSpPr>
          <p:cNvPr id="8" name="组合 7"/>
          <p:cNvGrpSpPr/>
          <p:nvPr/>
        </p:nvGrpSpPr>
        <p:grpSpPr>
          <a:xfrm>
            <a:off x="433070" y="2008505"/>
            <a:ext cx="10851515" cy="4556760"/>
            <a:chOff x="533" y="2923"/>
            <a:chExt cx="6427" cy="7262"/>
          </a:xfrm>
        </p:grpSpPr>
        <p:sp>
          <p:nvSpPr>
            <p:cNvPr id="84" name="矩形 83"/>
            <p:cNvSpPr/>
            <p:nvPr/>
          </p:nvSpPr>
          <p:spPr>
            <a:xfrm>
              <a:off x="533" y="2923"/>
              <a:ext cx="6427" cy="10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600"/>
                </a:spcAft>
              </a:pPr>
              <a:r>
                <a:rPr lang="zh-CN" altLang="en-US" sz="1600" b="1" dirty="0" smtClean="0">
                  <a:solidFill>
                    <a:schemeClr val="bg1"/>
                  </a:solidFill>
                </a:rPr>
                <a:t>策略管理</a:t>
              </a:r>
              <a:endParaRPr lang="en-US" altLang="zh-CN" sz="1600" b="1" dirty="0" smtClean="0">
                <a:solidFill>
                  <a:schemeClr val="bg1"/>
                </a:solidFill>
              </a:endParaRPr>
            </a:p>
            <a:p>
              <a:pPr algn="ctr">
                <a:spcAft>
                  <a:spcPts val="600"/>
                </a:spcAft>
              </a:pPr>
              <a:r>
                <a:rPr lang="zh-CN" altLang="en-US" sz="1400" dirty="0">
                  <a:solidFill>
                    <a:schemeClr val="bg1"/>
                  </a:solidFill>
                </a:rPr>
                <a:t>针对同一任务创建多个活动推送至一线，并对策略进行多维度的</a:t>
              </a:r>
              <a:r>
                <a:rPr lang="zh-CN" altLang="en-US" sz="1400" dirty="0">
                  <a:solidFill>
                    <a:schemeClr val="bg1"/>
                  </a:solidFill>
                </a:rPr>
                <a:t>管理。</a:t>
              </a:r>
              <a:endParaRPr lang="zh-CN" altLang="en-US" sz="1400" dirty="0">
                <a:solidFill>
                  <a:schemeClr val="bg1"/>
                </a:solidFill>
              </a:endParaRPr>
            </a:p>
          </p:txBody>
        </p:sp>
        <p:sp>
          <p:nvSpPr>
            <p:cNvPr id="86" name="文本框 85"/>
            <p:cNvSpPr txBox="1"/>
            <p:nvPr/>
          </p:nvSpPr>
          <p:spPr>
            <a:xfrm>
              <a:off x="533" y="4259"/>
              <a:ext cx="6322" cy="2256"/>
            </a:xfrm>
            <a:prstGeom prst="rect">
              <a:avLst/>
            </a:prstGeom>
            <a:noFill/>
          </p:spPr>
          <p:txBody>
            <a:bodyPr wrap="square" rtlCol="0">
              <a:noAutofit/>
            </a:bodyPr>
            <a:lstStyle>
              <a:defPPr>
                <a:defRPr lang="zh-CN"/>
              </a:defPPr>
              <a:lvl1pPr>
                <a:lnSpc>
                  <a:spcPct val="110000"/>
                </a:lnSpc>
                <a:spcBef>
                  <a:spcPts val="0"/>
                </a:spcBef>
                <a:spcAft>
                  <a:spcPts val="0"/>
                </a:spcAft>
                <a:defRPr sz="1000" b="1">
                  <a:latin typeface="微软雅黑" panose="020B0503020204020204" charset="-122"/>
                  <a:ea typeface="微软雅黑" panose="020B0503020204020204" charset="-122"/>
                  <a:cs typeface="微软雅黑" panose="020B0503020204020204" charset="-122"/>
                </a:defRPr>
              </a:lvl1pPr>
            </a:lstStyle>
            <a:p>
              <a:pPr marL="228600" indent="-228600">
                <a:lnSpc>
                  <a:spcPct val="150000"/>
                </a:lnSpc>
                <a:buFont typeface="Wingdings" panose="05000000000000000000" pitchFamily="2" charset="2"/>
                <a:buChar char="ü"/>
              </a:pPr>
              <a:r>
                <a:rPr lang="zh-CN" altLang="en-US" sz="1200" dirty="0" smtClean="0"/>
                <a:t>策略管理：</a:t>
              </a:r>
              <a:r>
                <a:rPr lang="zh-CN" altLang="en-US" sz="1200" b="0" dirty="0" smtClean="0"/>
                <a:t>支持多渠道配置策略策划，并已对接集团的</a:t>
              </a:r>
              <a:r>
                <a:rPr lang="en-US" altLang="zh-CN" sz="1200" b="0" dirty="0" smtClean="0"/>
                <a:t>AI</a:t>
              </a:r>
              <a:r>
                <a:rPr lang="zh-CN" altLang="en-US" sz="1200" b="0" dirty="0" smtClean="0"/>
                <a:t>话术能力，实现匹配策略的话术的生成；所有策略同一进行汇总管理，列表展示当前已下发的策略信息，展示信息</a:t>
              </a:r>
              <a:r>
                <a:rPr lang="en-US" altLang="zh-CN" sz="1200" b="0" dirty="0" smtClean="0"/>
                <a:t>:</a:t>
              </a:r>
              <a:r>
                <a:rPr lang="zh-CN" altLang="en-US" sz="1200" b="0" dirty="0" smtClean="0"/>
                <a:t>策略名称、策略时间、创建人、执行渠道、策略状态、策略类型等相关字段信息，支持基于类型、状态、渠道、创建人、场景等维度进行筛选，支持查看详情</a:t>
              </a:r>
              <a:r>
                <a:rPr lang="zh-CN" altLang="en-US" sz="1200" b="0" dirty="0" smtClean="0"/>
                <a:t>等；</a:t>
              </a:r>
              <a:endParaRPr lang="zh-CN" altLang="en-US" sz="1200" b="0" dirty="0" smtClean="0"/>
            </a:p>
            <a:p>
              <a:pPr marL="228600" indent="-228600">
                <a:lnSpc>
                  <a:spcPct val="150000"/>
                </a:lnSpc>
                <a:buFont typeface="Wingdings" panose="05000000000000000000" pitchFamily="2" charset="2"/>
                <a:buChar char="ü"/>
              </a:pPr>
              <a:r>
                <a:rPr lang="zh-CN" altLang="en-US" sz="1200" dirty="0"/>
                <a:t>画布式策略策划：</a:t>
              </a:r>
              <a:r>
                <a:rPr lang="zh-CN" altLang="en-US" sz="1200" b="0" dirty="0"/>
                <a:t>基于组件化能力，实现对几大类渠道的活动进行自由策划，展示各组件信息：产品、渠道、客群、话术</a:t>
              </a:r>
              <a:r>
                <a:rPr lang="zh-CN" altLang="en-US" sz="1200" b="0" dirty="0"/>
                <a:t>等并</a:t>
              </a:r>
              <a:r>
                <a:rPr lang="zh-CN" altLang="en-US" sz="1200" b="0" dirty="0"/>
                <a:t>按组件属性配置性相关要素。</a:t>
              </a:r>
              <a:endParaRPr lang="zh-CN" altLang="en-US" sz="1200" b="0" dirty="0"/>
            </a:p>
            <a:p>
              <a:pPr marL="228600" indent="-228600">
                <a:lnSpc>
                  <a:spcPct val="150000"/>
                </a:lnSpc>
                <a:buFont typeface="Wingdings" panose="05000000000000000000" pitchFamily="2" charset="2"/>
                <a:buChar char="ü"/>
              </a:pPr>
              <a:r>
                <a:rPr lang="zh-CN" altLang="en-US" sz="1200" dirty="0"/>
                <a:t>策略审批管理：</a:t>
              </a:r>
              <a:r>
                <a:rPr lang="zh-CN" altLang="en-US" sz="1200" b="0" dirty="0"/>
                <a:t>审批管理列表支持按场景、审批状态、提交时间、提交人进行筛选查询，并展示策略基本信息，策略名称、提交人、提交时间、审批状态、渠道等基本信息，支持审批者对为审批的策略进行审批操作，审批通过</a:t>
              </a:r>
              <a:r>
                <a:rPr lang="en-US" altLang="zh-CN" sz="1200" b="0" dirty="0"/>
                <a:t>/</a:t>
              </a:r>
              <a:r>
                <a:rPr lang="zh-CN" altLang="en-US" sz="1200" b="0" dirty="0"/>
                <a:t>不同过等操作，并支持策略消息的推送和提醒</a:t>
              </a:r>
              <a:r>
                <a:rPr lang="zh-CN" altLang="en-US" sz="1200" b="0" dirty="0"/>
                <a:t>功能。</a:t>
              </a:r>
              <a:endParaRPr lang="zh-CN" altLang="en-US" sz="1200" b="0" dirty="0"/>
            </a:p>
          </p:txBody>
        </p:sp>
        <p:sp>
          <p:nvSpPr>
            <p:cNvPr id="13" name="矩形 12"/>
            <p:cNvSpPr/>
            <p:nvPr/>
          </p:nvSpPr>
          <p:spPr>
            <a:xfrm>
              <a:off x="533" y="4123"/>
              <a:ext cx="6424" cy="6062"/>
            </a:xfrm>
            <a:prstGeom prst="rect">
              <a:avLst/>
            </a:prstGeom>
            <a:noFill/>
            <a:ln w="9525">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3" name="图片 2"/>
          <p:cNvPicPr>
            <a:picLocks noChangeAspect="1"/>
          </p:cNvPicPr>
          <p:nvPr/>
        </p:nvPicPr>
        <p:blipFill>
          <a:blip r:embed="rId1"/>
          <a:stretch>
            <a:fillRect/>
          </a:stretch>
        </p:blipFill>
        <p:spPr>
          <a:xfrm>
            <a:off x="3707130" y="4651375"/>
            <a:ext cx="3456940" cy="1589405"/>
          </a:xfrm>
          <a:prstGeom prst="rect">
            <a:avLst/>
          </a:prstGeom>
        </p:spPr>
      </p:pic>
      <p:pic>
        <p:nvPicPr>
          <p:cNvPr id="5" name="图片 4"/>
          <p:cNvPicPr>
            <a:picLocks noChangeAspect="1"/>
          </p:cNvPicPr>
          <p:nvPr/>
        </p:nvPicPr>
        <p:blipFill>
          <a:blip r:embed="rId2"/>
          <a:stretch>
            <a:fillRect/>
          </a:stretch>
        </p:blipFill>
        <p:spPr>
          <a:xfrm>
            <a:off x="533400" y="4668520"/>
            <a:ext cx="2982595" cy="1572895"/>
          </a:xfrm>
          <a:prstGeom prst="rect">
            <a:avLst/>
          </a:prstGeom>
        </p:spPr>
      </p:pic>
      <p:sp>
        <p:nvSpPr>
          <p:cNvPr id="6" name="文本框 5"/>
          <p:cNvSpPr txBox="1"/>
          <p:nvPr/>
        </p:nvSpPr>
        <p:spPr>
          <a:xfrm>
            <a:off x="1104452" y="5497434"/>
            <a:ext cx="2137587" cy="260350"/>
          </a:xfrm>
          <a:prstGeom prst="rect">
            <a:avLst/>
          </a:prstGeom>
          <a:noFill/>
          <a:ln>
            <a:solidFill>
              <a:srgbClr val="FF0000"/>
            </a:solidFill>
            <a:prstDash val="dash"/>
          </a:ln>
        </p:spPr>
        <p:txBody>
          <a:bodyPr wrap="square" rtlCol="0">
            <a:spAutoFit/>
          </a:bodyPr>
          <a:lstStyle/>
          <a:p>
            <a:pPr algn="ctr"/>
            <a:r>
              <a:rPr kumimoji="1" lang="zh-CN" altLang="en-US" sz="1100" dirty="0" smtClean="0">
                <a:solidFill>
                  <a:srgbClr val="FF0000"/>
                </a:solidFill>
                <a:latin typeface="微软雅黑" panose="020B0503020204020204" charset="-122"/>
                <a:ea typeface="微软雅黑" panose="020B0503020204020204" charset="-122"/>
              </a:rPr>
              <a:t>画布式策略</a:t>
            </a:r>
            <a:r>
              <a:rPr kumimoji="1" lang="zh-CN" altLang="en-US" sz="1100" dirty="0" smtClean="0">
                <a:solidFill>
                  <a:srgbClr val="FF0000"/>
                </a:solidFill>
                <a:latin typeface="微软雅黑" panose="020B0503020204020204" charset="-122"/>
                <a:ea typeface="微软雅黑" panose="020B0503020204020204" charset="-122"/>
              </a:rPr>
              <a:t>策划</a:t>
            </a:r>
            <a:endParaRPr kumimoji="1" lang="zh-CN" altLang="en-US" sz="1100" dirty="0" smtClean="0">
              <a:solidFill>
                <a:srgbClr val="FF0000"/>
              </a:solidFill>
              <a:latin typeface="微软雅黑" panose="020B0503020204020204" charset="-122"/>
              <a:ea typeface="微软雅黑" panose="020B0503020204020204" charset="-122"/>
            </a:endParaRPr>
          </a:p>
        </p:txBody>
      </p:sp>
      <p:sp>
        <p:nvSpPr>
          <p:cNvPr id="15" name="文本框 14"/>
          <p:cNvSpPr txBox="1"/>
          <p:nvPr/>
        </p:nvSpPr>
        <p:spPr>
          <a:xfrm>
            <a:off x="4285167" y="5497434"/>
            <a:ext cx="2137587" cy="260350"/>
          </a:xfrm>
          <a:prstGeom prst="rect">
            <a:avLst/>
          </a:prstGeom>
          <a:noFill/>
          <a:ln>
            <a:solidFill>
              <a:srgbClr val="FF0000"/>
            </a:solidFill>
            <a:prstDash val="dash"/>
          </a:ln>
        </p:spPr>
        <p:txBody>
          <a:bodyPr wrap="square" rtlCol="0">
            <a:spAutoFit/>
          </a:bodyPr>
          <a:lstStyle/>
          <a:p>
            <a:pPr algn="ctr"/>
            <a:r>
              <a:rPr kumimoji="1" lang="zh-CN" altLang="en-US" sz="1100" dirty="0" smtClean="0">
                <a:solidFill>
                  <a:srgbClr val="FF0000"/>
                </a:solidFill>
                <a:latin typeface="微软雅黑" panose="020B0503020204020204" charset="-122"/>
                <a:ea typeface="微软雅黑" panose="020B0503020204020204" charset="-122"/>
              </a:rPr>
              <a:t>策略</a:t>
            </a:r>
            <a:r>
              <a:rPr kumimoji="1" lang="zh-CN" altLang="en-US" sz="1100" dirty="0" smtClean="0">
                <a:solidFill>
                  <a:srgbClr val="FF0000"/>
                </a:solidFill>
                <a:latin typeface="微软雅黑" panose="020B0503020204020204" charset="-122"/>
                <a:ea typeface="微软雅黑" panose="020B0503020204020204" charset="-122"/>
              </a:rPr>
              <a:t>管理</a:t>
            </a:r>
            <a:endParaRPr kumimoji="1" lang="zh-CN" altLang="en-US" sz="1100" dirty="0" smtClean="0">
              <a:solidFill>
                <a:srgbClr val="FF0000"/>
              </a:solidFill>
              <a:latin typeface="微软雅黑" panose="020B0503020204020204" charset="-122"/>
              <a:ea typeface="微软雅黑" panose="020B0503020204020204" charset="-122"/>
            </a:endParaRPr>
          </a:p>
        </p:txBody>
      </p:sp>
      <p:pic>
        <p:nvPicPr>
          <p:cNvPr id="16" name="图片 15"/>
          <p:cNvPicPr>
            <a:picLocks noChangeAspect="1"/>
          </p:cNvPicPr>
          <p:nvPr/>
        </p:nvPicPr>
        <p:blipFill>
          <a:blip r:embed="rId3"/>
          <a:stretch>
            <a:fillRect/>
          </a:stretch>
        </p:blipFill>
        <p:spPr>
          <a:xfrm>
            <a:off x="7338060" y="4633595"/>
            <a:ext cx="3648710" cy="1781810"/>
          </a:xfrm>
          <a:prstGeom prst="rect">
            <a:avLst/>
          </a:prstGeom>
        </p:spPr>
      </p:pic>
      <p:sp>
        <p:nvSpPr>
          <p:cNvPr id="17" name="文本框 16"/>
          <p:cNvSpPr txBox="1"/>
          <p:nvPr/>
        </p:nvSpPr>
        <p:spPr>
          <a:xfrm>
            <a:off x="7338882" y="5497434"/>
            <a:ext cx="2137587" cy="260350"/>
          </a:xfrm>
          <a:prstGeom prst="rect">
            <a:avLst/>
          </a:prstGeom>
          <a:noFill/>
          <a:ln>
            <a:solidFill>
              <a:srgbClr val="FF0000"/>
            </a:solidFill>
            <a:prstDash val="dash"/>
          </a:ln>
        </p:spPr>
        <p:txBody>
          <a:bodyPr wrap="square" rtlCol="0">
            <a:spAutoFit/>
          </a:bodyPr>
          <a:lstStyle/>
          <a:p>
            <a:pPr algn="ctr"/>
            <a:r>
              <a:rPr kumimoji="1" lang="zh-CN" altLang="en-US" sz="1100" dirty="0" smtClean="0">
                <a:solidFill>
                  <a:srgbClr val="FF0000"/>
                </a:solidFill>
                <a:latin typeface="微软雅黑" panose="020B0503020204020204" charset="-122"/>
                <a:ea typeface="微软雅黑" panose="020B0503020204020204" charset="-122"/>
              </a:rPr>
              <a:t>策略</a:t>
            </a:r>
            <a:r>
              <a:rPr kumimoji="1" lang="zh-CN" altLang="en-US" sz="1100" dirty="0" smtClean="0">
                <a:solidFill>
                  <a:srgbClr val="FF0000"/>
                </a:solidFill>
                <a:latin typeface="微软雅黑" panose="020B0503020204020204" charset="-122"/>
                <a:ea typeface="微软雅黑" panose="020B0503020204020204" charset="-122"/>
              </a:rPr>
              <a:t>审批</a:t>
            </a:r>
            <a:endParaRPr kumimoji="1" lang="zh-CN" altLang="en-US" sz="1100" dirty="0" smtClean="0">
              <a:solidFill>
                <a:srgbClr val="FF0000"/>
              </a:solidFill>
              <a:latin typeface="微软雅黑" panose="020B0503020204020204" charset="-122"/>
              <a:ea typeface="微软雅黑" panose="020B0503020204020204"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调度能力：基于规则的</a:t>
            </a:r>
            <a:r>
              <a:rPr lang="zh-CN" altLang="en-US"/>
              <a:t>多渠道工单调度</a:t>
            </a:r>
            <a:r>
              <a:rPr lang="zh-CN" altLang="en-US"/>
              <a:t>能力</a:t>
            </a:r>
            <a:endParaRPr lang="zh-CN" altLang="en-US"/>
          </a:p>
        </p:txBody>
      </p:sp>
      <p:pic>
        <p:nvPicPr>
          <p:cNvPr id="5" name="图片 4"/>
          <p:cNvPicPr>
            <a:picLocks noChangeAspect="1"/>
          </p:cNvPicPr>
          <p:nvPr/>
        </p:nvPicPr>
        <p:blipFill>
          <a:blip r:embed="rId1"/>
          <a:stretch>
            <a:fillRect/>
          </a:stretch>
        </p:blipFill>
        <p:spPr>
          <a:xfrm>
            <a:off x="525145" y="5046980"/>
            <a:ext cx="2496185" cy="1320800"/>
          </a:xfrm>
          <a:prstGeom prst="rect">
            <a:avLst/>
          </a:prstGeom>
        </p:spPr>
      </p:pic>
      <p:sp>
        <p:nvSpPr>
          <p:cNvPr id="14" name="文本占位符 13"/>
          <p:cNvSpPr>
            <a:spLocks noGrp="1"/>
          </p:cNvSpPr>
          <p:nvPr>
            <p:ph type="body" idx="10"/>
          </p:nvPr>
        </p:nvSpPr>
        <p:spPr>
          <a:xfrm>
            <a:off x="163195" y="969645"/>
            <a:ext cx="11832590" cy="1027430"/>
          </a:xfrm>
          <a:noFill/>
        </p:spPr>
        <p:txBody>
          <a:bodyPr>
            <a:noAutofit/>
          </a:bodyPr>
          <a:lstStyle/>
          <a:p>
            <a:pPr marL="285750" indent="-285750">
              <a:lnSpc>
                <a:spcPct val="135000"/>
              </a:lnSpc>
              <a:spcAft>
                <a:spcPts val="0"/>
              </a:spcAft>
              <a:buFont typeface="Wingdings" panose="05000000000000000000" pitchFamily="2" charset="2"/>
              <a:buChar char="p"/>
            </a:pPr>
            <a:r>
              <a:rPr lang="zh-CN" altLang="en-US" sz="1400" dirty="0">
                <a:solidFill>
                  <a:srgbClr val="000000"/>
                </a:solidFill>
                <a:latin typeface="微软雅黑" panose="020B0503020204020204" charset="-122"/>
                <a:ea typeface="微软雅黑" panose="020B0503020204020204" charset="-122"/>
                <a:sym typeface="+mn-ea"/>
              </a:rPr>
              <a:t>对接</a:t>
            </a:r>
            <a:r>
              <a:rPr lang="en-US" altLang="zh-CN" sz="1400" dirty="0">
                <a:solidFill>
                  <a:srgbClr val="000000"/>
                </a:solidFill>
                <a:latin typeface="微软雅黑" panose="020B0503020204020204" charset="-122"/>
                <a:ea typeface="微软雅黑" panose="020B0503020204020204" charset="-122"/>
                <a:sym typeface="+mn-ea"/>
              </a:rPr>
              <a:t>3</a:t>
            </a:r>
            <a:r>
              <a:rPr lang="zh-CN" altLang="en-US" sz="1400" dirty="0">
                <a:solidFill>
                  <a:srgbClr val="000000"/>
                </a:solidFill>
                <a:latin typeface="微软雅黑" panose="020B0503020204020204" charset="-122"/>
                <a:ea typeface="微软雅黑" panose="020B0503020204020204" charset="-122"/>
                <a:sym typeface="+mn-ea"/>
              </a:rPr>
              <a:t>大类线下触点（网格通、在线、装维），并对这些触点上的多个执行角色（网格经理、政企客户经理、集运、</a:t>
            </a:r>
            <a:r>
              <a:rPr lang="en-US" altLang="zh-CN" sz="1400" dirty="0">
                <a:solidFill>
                  <a:srgbClr val="000000"/>
                </a:solidFill>
                <a:latin typeface="微软雅黑" panose="020B0503020204020204" charset="-122"/>
                <a:ea typeface="微软雅黑" panose="020B0503020204020204" charset="-122"/>
                <a:sym typeface="+mn-ea"/>
              </a:rPr>
              <a:t>10086</a:t>
            </a:r>
            <a:r>
              <a:rPr lang="zh-CN" altLang="en-US" sz="1400" dirty="0">
                <a:solidFill>
                  <a:srgbClr val="000000"/>
                </a:solidFill>
                <a:latin typeface="微软雅黑" panose="020B0503020204020204" charset="-122"/>
                <a:ea typeface="微软雅黑" panose="020B0503020204020204" charset="-122"/>
                <a:sym typeface="+mn-ea"/>
              </a:rPr>
              <a:t>、</a:t>
            </a:r>
            <a:r>
              <a:rPr lang="en-US" altLang="zh-CN" sz="1400" dirty="0">
                <a:solidFill>
                  <a:srgbClr val="000000"/>
                </a:solidFill>
                <a:latin typeface="微软雅黑" panose="020B0503020204020204" charset="-122"/>
                <a:ea typeface="微软雅黑" panose="020B0503020204020204" charset="-122"/>
                <a:sym typeface="+mn-ea"/>
              </a:rPr>
              <a:t>1088</a:t>
            </a:r>
            <a:r>
              <a:rPr lang="zh-CN" altLang="en-US" sz="1400" dirty="0">
                <a:solidFill>
                  <a:srgbClr val="000000"/>
                </a:solidFill>
                <a:latin typeface="微软雅黑" panose="020B0503020204020204" charset="-122"/>
                <a:ea typeface="微软雅黑" panose="020B0503020204020204" charset="-122"/>
                <a:sym typeface="+mn-ea"/>
              </a:rPr>
              <a:t>等）进行不同场景不同规则下的派单，汇聚下发给运营人员和一线人员的各种</a:t>
            </a:r>
            <a:r>
              <a:rPr lang="zh-CN" altLang="en-US" sz="1400" dirty="0">
                <a:solidFill>
                  <a:srgbClr val="000000"/>
                </a:solidFill>
                <a:latin typeface="微软雅黑" panose="020B0503020204020204" charset="-122"/>
                <a:ea typeface="微软雅黑" panose="020B0503020204020204" charset="-122"/>
                <a:sym typeface="+mn-ea"/>
              </a:rPr>
              <a:t>保有类工单、营销类工单、维系类工单等多类工单，进行统一</a:t>
            </a:r>
            <a:r>
              <a:rPr lang="zh-CN" altLang="en-US" sz="1400" dirty="0">
                <a:solidFill>
                  <a:srgbClr val="000000"/>
                </a:solidFill>
                <a:latin typeface="微软雅黑" panose="020B0503020204020204" charset="-122"/>
                <a:ea typeface="微软雅黑" panose="020B0503020204020204" charset="-122"/>
                <a:sym typeface="+mn-ea"/>
              </a:rPr>
              <a:t>管理。</a:t>
            </a:r>
            <a:endParaRPr lang="zh-CN" altLang="en-US" sz="1400" dirty="0">
              <a:solidFill>
                <a:srgbClr val="000000"/>
              </a:solidFill>
              <a:latin typeface="微软雅黑" panose="020B0503020204020204" charset="-122"/>
              <a:ea typeface="微软雅黑" panose="020B0503020204020204" charset="-122"/>
              <a:sym typeface="+mn-ea"/>
            </a:endParaRPr>
          </a:p>
        </p:txBody>
      </p:sp>
      <p:grpSp>
        <p:nvGrpSpPr>
          <p:cNvPr id="8" name="组合 7"/>
          <p:cNvGrpSpPr/>
          <p:nvPr/>
        </p:nvGrpSpPr>
        <p:grpSpPr>
          <a:xfrm>
            <a:off x="414020" y="1923415"/>
            <a:ext cx="5482590" cy="4646930"/>
            <a:chOff x="533" y="2779"/>
            <a:chExt cx="6427" cy="7406"/>
          </a:xfrm>
        </p:grpSpPr>
        <p:sp>
          <p:nvSpPr>
            <p:cNvPr id="84" name="矩形 83"/>
            <p:cNvSpPr/>
            <p:nvPr/>
          </p:nvSpPr>
          <p:spPr>
            <a:xfrm>
              <a:off x="533" y="2779"/>
              <a:ext cx="6427" cy="12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600"/>
                </a:spcAft>
              </a:pPr>
              <a:r>
                <a:rPr lang="zh-CN" altLang="en-US" sz="1600" b="1" dirty="0" smtClean="0">
                  <a:solidFill>
                    <a:schemeClr val="bg1"/>
                  </a:solidFill>
                </a:rPr>
                <a:t>工单管理</a:t>
              </a:r>
              <a:endParaRPr lang="en-US" altLang="zh-CN" sz="1600" b="1" dirty="0" smtClean="0">
                <a:solidFill>
                  <a:schemeClr val="bg1"/>
                </a:solidFill>
              </a:endParaRPr>
            </a:p>
            <a:p>
              <a:pPr algn="ctr">
                <a:spcAft>
                  <a:spcPts val="600"/>
                </a:spcAft>
              </a:pPr>
              <a:r>
                <a:rPr lang="zh-CN" altLang="en-US" sz="1400" dirty="0">
                  <a:solidFill>
                    <a:schemeClr val="bg1"/>
                  </a:solidFill>
                </a:rPr>
                <a:t>汇聚平台各</a:t>
              </a:r>
              <a:r>
                <a:rPr lang="zh-CN" altLang="en-US" sz="1400" dirty="0">
                  <a:solidFill>
                    <a:schemeClr val="bg1"/>
                  </a:solidFill>
                </a:rPr>
                <a:t>类工单，涵盖营销类、维系类（离网挽留）、管理类、服务类、提醒类等</a:t>
              </a:r>
              <a:r>
                <a:rPr lang="zh-CN" altLang="en-US" sz="1400" dirty="0">
                  <a:solidFill>
                    <a:schemeClr val="bg1"/>
                  </a:solidFill>
                </a:rPr>
                <a:t>多种类型</a:t>
              </a:r>
              <a:endParaRPr lang="zh-CN" altLang="en-US" sz="1400" dirty="0">
                <a:solidFill>
                  <a:schemeClr val="bg1"/>
                </a:solidFill>
              </a:endParaRPr>
            </a:p>
          </p:txBody>
        </p:sp>
        <p:sp>
          <p:nvSpPr>
            <p:cNvPr id="86" name="文本框 85"/>
            <p:cNvSpPr txBox="1"/>
            <p:nvPr/>
          </p:nvSpPr>
          <p:spPr>
            <a:xfrm>
              <a:off x="533" y="4259"/>
              <a:ext cx="6267" cy="2764"/>
            </a:xfrm>
            <a:prstGeom prst="rect">
              <a:avLst/>
            </a:prstGeom>
            <a:noFill/>
          </p:spPr>
          <p:txBody>
            <a:bodyPr wrap="square" rtlCol="0">
              <a:noAutofit/>
            </a:bodyPr>
            <a:lstStyle>
              <a:defPPr>
                <a:defRPr lang="zh-CN"/>
              </a:defPPr>
              <a:lvl1pPr>
                <a:lnSpc>
                  <a:spcPct val="110000"/>
                </a:lnSpc>
                <a:spcBef>
                  <a:spcPts val="0"/>
                </a:spcBef>
                <a:spcAft>
                  <a:spcPts val="0"/>
                </a:spcAft>
                <a:defRPr sz="1000" b="1">
                  <a:latin typeface="微软雅黑" panose="020B0503020204020204" charset="-122"/>
                  <a:ea typeface="微软雅黑" panose="020B0503020204020204" charset="-122"/>
                  <a:cs typeface="微软雅黑" panose="020B0503020204020204" charset="-122"/>
                </a:defRPr>
              </a:lvl1pPr>
            </a:lstStyle>
            <a:p>
              <a:pPr marL="228600" indent="-228600">
                <a:lnSpc>
                  <a:spcPct val="150000"/>
                </a:lnSpc>
                <a:buFont typeface="Wingdings" panose="05000000000000000000" pitchFamily="2" charset="2"/>
                <a:buChar char="ü"/>
              </a:pPr>
              <a:r>
                <a:rPr lang="zh-CN" altLang="en-US" sz="1200" dirty="0" smtClean="0"/>
                <a:t>工单汇聚：</a:t>
              </a:r>
              <a:r>
                <a:rPr lang="zh-CN" altLang="en-US" sz="1200" b="0" dirty="0" smtClean="0"/>
                <a:t>目前已</a:t>
              </a:r>
              <a:r>
                <a:rPr lang="zh-CN" altLang="en-US" sz="1200" b="0" dirty="0" smtClean="0"/>
                <a:t>汇聚保有类工单、营销类工单、维系类工单（携转挽留、全球通用户离网预警）、管理类工单（基于指标的调度工单及一键发起</a:t>
              </a:r>
              <a:r>
                <a:rPr lang="en-US" altLang="zh-CN" sz="1200" b="0" dirty="0" smtClean="0"/>
                <a:t>IOP</a:t>
              </a:r>
              <a:r>
                <a:rPr lang="zh-CN" altLang="en-US" sz="1200" b="0" dirty="0" smtClean="0"/>
                <a:t>的运营</a:t>
              </a:r>
              <a:r>
                <a:rPr lang="zh-CN" altLang="en-US" sz="1200" b="0" dirty="0" smtClean="0"/>
                <a:t>动作）、通用类提醒工单等多种类型的工单的下发、汇聚和管理；</a:t>
              </a:r>
              <a:endParaRPr lang="zh-CN" altLang="en-US" sz="1200" dirty="0" smtClean="0"/>
            </a:p>
            <a:p>
              <a:pPr marL="228600" indent="-228600">
                <a:lnSpc>
                  <a:spcPct val="150000"/>
                </a:lnSpc>
                <a:buFont typeface="Wingdings" panose="05000000000000000000" pitchFamily="2" charset="2"/>
                <a:buChar char="ü"/>
              </a:pPr>
              <a:r>
                <a:rPr lang="zh-CN" altLang="en-US" sz="1200" dirty="0"/>
                <a:t>工单列表：</a:t>
              </a:r>
              <a:r>
                <a:rPr lang="zh-CN" altLang="en-US" sz="1200" b="0" dirty="0"/>
                <a:t>展示已下发的工单信息，包括：工单名称、执行人、发起人、支撑场景、状态、渠道、工单状态等基本信息；</a:t>
              </a:r>
              <a:r>
                <a:rPr lang="zh-CN" altLang="en-US" sz="1200" b="0" dirty="0"/>
                <a:t>并支持按工单类型、时间、场景、区域等多维度进行筛选查询</a:t>
              </a:r>
              <a:endParaRPr lang="zh-CN" altLang="en-US" sz="1200" b="0" dirty="0"/>
            </a:p>
          </p:txBody>
        </p:sp>
        <p:sp>
          <p:nvSpPr>
            <p:cNvPr id="12" name="文本框 11"/>
            <p:cNvSpPr txBox="1"/>
            <p:nvPr/>
          </p:nvSpPr>
          <p:spPr>
            <a:xfrm>
              <a:off x="1299" y="8279"/>
              <a:ext cx="2139" cy="415"/>
            </a:xfrm>
            <a:prstGeom prst="rect">
              <a:avLst/>
            </a:prstGeom>
            <a:noFill/>
            <a:ln>
              <a:solidFill>
                <a:srgbClr val="FF0000"/>
              </a:solidFill>
              <a:prstDash val="dash"/>
            </a:ln>
          </p:spPr>
          <p:txBody>
            <a:bodyPr wrap="square" rtlCol="0">
              <a:spAutoFit/>
            </a:bodyPr>
            <a:lstStyle/>
            <a:p>
              <a:pPr algn="ctr"/>
              <a:r>
                <a:rPr kumimoji="1" lang="zh-CN" altLang="en-US" sz="1100" dirty="0" smtClean="0">
                  <a:solidFill>
                    <a:srgbClr val="FF0000"/>
                  </a:solidFill>
                  <a:latin typeface="微软雅黑" panose="020B0503020204020204" charset="-122"/>
                  <a:ea typeface="微软雅黑" panose="020B0503020204020204" charset="-122"/>
                </a:rPr>
                <a:t>预警工单</a:t>
              </a:r>
              <a:r>
                <a:rPr kumimoji="1" lang="zh-CN" altLang="en-US" sz="1100" dirty="0" smtClean="0">
                  <a:solidFill>
                    <a:srgbClr val="FF0000"/>
                  </a:solidFill>
                  <a:latin typeface="微软雅黑" panose="020B0503020204020204" charset="-122"/>
                  <a:ea typeface="微软雅黑" panose="020B0503020204020204" charset="-122"/>
                </a:rPr>
                <a:t>管理</a:t>
              </a:r>
              <a:endParaRPr kumimoji="1" lang="zh-CN" altLang="en-US" sz="1100" dirty="0" smtClean="0">
                <a:solidFill>
                  <a:srgbClr val="FF0000"/>
                </a:solidFill>
                <a:latin typeface="微软雅黑" panose="020B0503020204020204" charset="-122"/>
                <a:ea typeface="微软雅黑" panose="020B0503020204020204" charset="-122"/>
              </a:endParaRPr>
            </a:p>
          </p:txBody>
        </p:sp>
        <p:sp>
          <p:nvSpPr>
            <p:cNvPr id="13" name="矩形 12"/>
            <p:cNvSpPr/>
            <p:nvPr/>
          </p:nvSpPr>
          <p:spPr>
            <a:xfrm>
              <a:off x="533" y="4123"/>
              <a:ext cx="6424" cy="6062"/>
            </a:xfrm>
            <a:prstGeom prst="rect">
              <a:avLst/>
            </a:prstGeom>
            <a:noFill/>
            <a:ln w="9525">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合 14"/>
          <p:cNvGrpSpPr/>
          <p:nvPr/>
        </p:nvGrpSpPr>
        <p:grpSpPr>
          <a:xfrm>
            <a:off x="6205220" y="1923415"/>
            <a:ext cx="5726430" cy="4646930"/>
            <a:chOff x="533" y="2779"/>
            <a:chExt cx="6427" cy="7406"/>
          </a:xfrm>
        </p:grpSpPr>
        <p:sp>
          <p:nvSpPr>
            <p:cNvPr id="16" name="矩形 15"/>
            <p:cNvSpPr/>
            <p:nvPr/>
          </p:nvSpPr>
          <p:spPr>
            <a:xfrm>
              <a:off x="533" y="2779"/>
              <a:ext cx="6427" cy="122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600"/>
                </a:spcAft>
              </a:pPr>
              <a:r>
                <a:rPr lang="zh-CN" altLang="en-US" sz="1600" b="1" dirty="0" smtClean="0">
                  <a:solidFill>
                    <a:schemeClr val="bg1"/>
                  </a:solidFill>
                </a:rPr>
                <a:t>工单下发</a:t>
              </a:r>
              <a:r>
                <a:rPr lang="en-US" altLang="zh-CN" sz="1600" b="1" dirty="0" smtClean="0">
                  <a:solidFill>
                    <a:schemeClr val="bg1"/>
                  </a:solidFill>
                </a:rPr>
                <a:t>&amp;</a:t>
              </a:r>
              <a:r>
                <a:rPr lang="zh-CN" altLang="en-US" sz="1600" b="1" dirty="0" smtClean="0">
                  <a:solidFill>
                    <a:schemeClr val="bg1"/>
                  </a:solidFill>
                </a:rPr>
                <a:t>渠道协同调度</a:t>
              </a:r>
              <a:endParaRPr lang="en-US" altLang="zh-CN" sz="1600" b="1" dirty="0" smtClean="0">
                <a:solidFill>
                  <a:schemeClr val="bg1"/>
                </a:solidFill>
              </a:endParaRPr>
            </a:p>
            <a:p>
              <a:pPr algn="ctr">
                <a:spcAft>
                  <a:spcPts val="600"/>
                </a:spcAft>
              </a:pPr>
              <a:r>
                <a:rPr lang="zh-CN" altLang="en-US" sz="1400" dirty="0">
                  <a:solidFill>
                    <a:schemeClr val="bg1"/>
                  </a:solidFill>
                </a:rPr>
                <a:t>支持对网格经理、政企客户经理、地市集运、</a:t>
              </a:r>
              <a:r>
                <a:rPr lang="en-US" altLang="zh-CN" sz="1400" dirty="0">
                  <a:solidFill>
                    <a:schemeClr val="bg1"/>
                  </a:solidFill>
                </a:rPr>
                <a:t>10088</a:t>
              </a:r>
              <a:r>
                <a:rPr lang="zh-CN" altLang="en-US" sz="1400" dirty="0">
                  <a:solidFill>
                    <a:schemeClr val="bg1"/>
                  </a:solidFill>
                </a:rPr>
                <a:t>等多个渠道派发工单及以上渠道工单的二次转派至</a:t>
              </a:r>
              <a:r>
                <a:rPr lang="zh-CN" altLang="en-US" sz="1400" dirty="0">
                  <a:solidFill>
                    <a:schemeClr val="bg1"/>
                  </a:solidFill>
                </a:rPr>
                <a:t>装维</a:t>
              </a:r>
              <a:endParaRPr lang="zh-CN" altLang="en-US" sz="1400" dirty="0">
                <a:solidFill>
                  <a:schemeClr val="bg1"/>
                </a:solidFill>
              </a:endParaRPr>
            </a:p>
          </p:txBody>
        </p:sp>
        <p:sp>
          <p:nvSpPr>
            <p:cNvPr id="17" name="文本框 16"/>
            <p:cNvSpPr txBox="1"/>
            <p:nvPr/>
          </p:nvSpPr>
          <p:spPr>
            <a:xfrm>
              <a:off x="533" y="4259"/>
              <a:ext cx="6267" cy="3724"/>
            </a:xfrm>
            <a:prstGeom prst="rect">
              <a:avLst/>
            </a:prstGeom>
            <a:noFill/>
          </p:spPr>
          <p:txBody>
            <a:bodyPr wrap="square" rtlCol="0">
              <a:noAutofit/>
            </a:bodyPr>
            <a:lstStyle>
              <a:defPPr>
                <a:defRPr lang="zh-CN"/>
              </a:defPPr>
              <a:lvl1pPr>
                <a:lnSpc>
                  <a:spcPct val="110000"/>
                </a:lnSpc>
                <a:spcBef>
                  <a:spcPts val="0"/>
                </a:spcBef>
                <a:spcAft>
                  <a:spcPts val="0"/>
                </a:spcAft>
                <a:defRPr sz="1000" b="1">
                  <a:latin typeface="微软雅黑" panose="020B0503020204020204" charset="-122"/>
                  <a:ea typeface="微软雅黑" panose="020B0503020204020204" charset="-122"/>
                  <a:cs typeface="微软雅黑" panose="020B0503020204020204" charset="-122"/>
                </a:defRPr>
              </a:lvl1pPr>
            </a:lstStyle>
            <a:p>
              <a:pPr marL="228600" indent="-228600">
                <a:lnSpc>
                  <a:spcPct val="150000"/>
                </a:lnSpc>
                <a:buFont typeface="Wingdings" panose="05000000000000000000" pitchFamily="2" charset="2"/>
                <a:buChar char="ü"/>
              </a:pPr>
              <a:r>
                <a:rPr lang="zh-CN" altLang="en-US" sz="1200" dirty="0" smtClean="0"/>
                <a:t>一线工单发起：</a:t>
              </a:r>
              <a:r>
                <a:rPr lang="zh-CN" altLang="en-US" sz="1200" b="0" dirty="0"/>
                <a:t>针对营销类、维系类、服务类等需一线执行的工单，按工单渠道自动下发至对应执行人（如：下发至网格经理的工单会按照五级区域看管关系；下发至</a:t>
              </a:r>
              <a:r>
                <a:rPr lang="en-US" altLang="zh-CN" sz="1200" b="0" dirty="0"/>
                <a:t>10088</a:t>
              </a:r>
              <a:r>
                <a:rPr lang="zh-CN" altLang="en-US" sz="1200" b="0" dirty="0"/>
                <a:t>的工单会按照全球通客户等级</a:t>
              </a:r>
              <a:r>
                <a:rPr lang="zh-CN" altLang="en-US" sz="1200" b="0" dirty="0"/>
                <a:t>等）；</a:t>
              </a:r>
              <a:endParaRPr lang="zh-CN" altLang="en-US" sz="1200" b="0" dirty="0"/>
            </a:p>
            <a:p>
              <a:pPr marL="228600" indent="-228600">
                <a:lnSpc>
                  <a:spcPct val="150000"/>
                </a:lnSpc>
                <a:buFont typeface="Wingdings" panose="05000000000000000000" pitchFamily="2" charset="2"/>
                <a:buChar char="ü"/>
              </a:pPr>
              <a:r>
                <a:rPr lang="zh-CN" altLang="en-US" sz="1200" dirty="0"/>
                <a:t>调度发起：</a:t>
              </a:r>
              <a:r>
                <a:rPr lang="zh-CN" altLang="en-US" sz="1200" b="0" dirty="0"/>
                <a:t>通过选择指标等相关信息，创建工单信息，接收人、工单内容等，发起调度</a:t>
              </a:r>
              <a:r>
                <a:rPr lang="zh-CN" altLang="en-US" sz="1200" b="0" dirty="0"/>
                <a:t>工单；</a:t>
              </a:r>
              <a:endParaRPr lang="zh-CN" altLang="en-US" sz="1200" b="0" dirty="0"/>
            </a:p>
            <a:p>
              <a:pPr marL="228600" indent="-228600">
                <a:lnSpc>
                  <a:spcPct val="150000"/>
                </a:lnSpc>
                <a:buFont typeface="Wingdings" panose="05000000000000000000" pitchFamily="2" charset="2"/>
                <a:buChar char="ü"/>
              </a:pPr>
              <a:r>
                <a:rPr lang="zh-CN" altLang="en-US" sz="1200" dirty="0"/>
                <a:t>渠道协同调度</a:t>
              </a:r>
              <a:r>
                <a:rPr lang="zh-CN" altLang="en-US" sz="1200" b="0" dirty="0"/>
                <a:t>：支持一线人员基于情况进行工单转派，如：网格经理、</a:t>
              </a:r>
              <a:r>
                <a:rPr lang="en-US" altLang="zh-CN" sz="1200" b="0" dirty="0"/>
                <a:t>10088</a:t>
              </a:r>
              <a:r>
                <a:rPr lang="zh-CN" altLang="en-US" sz="1200" b="0" dirty="0"/>
                <a:t>、地市集运人员支持把工单转派至装维；地市集运人员支持把工单转派至看管该用户的网格</a:t>
              </a:r>
              <a:r>
                <a:rPr lang="zh-CN" altLang="en-US" sz="1200" b="0" dirty="0"/>
                <a:t>经理；</a:t>
              </a:r>
              <a:endParaRPr lang="zh-CN" altLang="en-US" sz="1200" b="0" dirty="0"/>
            </a:p>
          </p:txBody>
        </p:sp>
        <p:sp>
          <p:nvSpPr>
            <p:cNvPr id="19" name="矩形 18"/>
            <p:cNvSpPr/>
            <p:nvPr/>
          </p:nvSpPr>
          <p:spPr>
            <a:xfrm>
              <a:off x="533" y="4123"/>
              <a:ext cx="6424" cy="6062"/>
            </a:xfrm>
            <a:prstGeom prst="rect">
              <a:avLst/>
            </a:prstGeom>
            <a:noFill/>
            <a:ln w="9525">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0" name="图片 19"/>
          <p:cNvPicPr>
            <a:picLocks noChangeAspect="1"/>
          </p:cNvPicPr>
          <p:nvPr/>
        </p:nvPicPr>
        <p:blipFill>
          <a:blip r:embed="rId2"/>
          <a:stretch>
            <a:fillRect/>
          </a:stretch>
        </p:blipFill>
        <p:spPr>
          <a:xfrm>
            <a:off x="6464300" y="5440045"/>
            <a:ext cx="2527935" cy="996315"/>
          </a:xfrm>
          <a:prstGeom prst="rect">
            <a:avLst/>
          </a:prstGeom>
        </p:spPr>
      </p:pic>
      <p:sp>
        <p:nvSpPr>
          <p:cNvPr id="21" name="文本框 20"/>
          <p:cNvSpPr txBox="1"/>
          <p:nvPr/>
        </p:nvSpPr>
        <p:spPr>
          <a:xfrm>
            <a:off x="6815428" y="5802704"/>
            <a:ext cx="1824686" cy="260350"/>
          </a:xfrm>
          <a:prstGeom prst="rect">
            <a:avLst/>
          </a:prstGeom>
          <a:noFill/>
          <a:ln>
            <a:solidFill>
              <a:srgbClr val="FF0000"/>
            </a:solidFill>
            <a:prstDash val="dash"/>
          </a:ln>
        </p:spPr>
        <p:txBody>
          <a:bodyPr wrap="square" rtlCol="0">
            <a:spAutoFit/>
          </a:bodyPr>
          <a:lstStyle/>
          <a:p>
            <a:pPr algn="ctr"/>
            <a:r>
              <a:rPr kumimoji="1" lang="zh-CN" altLang="en-US" sz="1100" dirty="0" smtClean="0">
                <a:solidFill>
                  <a:srgbClr val="FF0000"/>
                </a:solidFill>
                <a:latin typeface="微软雅黑" panose="020B0503020204020204" charset="-122"/>
                <a:ea typeface="微软雅黑" panose="020B0503020204020204" charset="-122"/>
              </a:rPr>
              <a:t>督办单</a:t>
            </a:r>
            <a:r>
              <a:rPr kumimoji="1" lang="zh-CN" altLang="en-US" sz="1100" dirty="0" smtClean="0">
                <a:solidFill>
                  <a:srgbClr val="FF0000"/>
                </a:solidFill>
                <a:latin typeface="微软雅黑" panose="020B0503020204020204" charset="-122"/>
                <a:ea typeface="微软雅黑" panose="020B0503020204020204" charset="-122"/>
              </a:rPr>
              <a:t>列表</a:t>
            </a:r>
            <a:endParaRPr kumimoji="1" lang="zh-CN" altLang="en-US" sz="1100" dirty="0" smtClean="0">
              <a:solidFill>
                <a:srgbClr val="FF0000"/>
              </a:solidFill>
              <a:latin typeface="微软雅黑" panose="020B0503020204020204" charset="-122"/>
              <a:ea typeface="微软雅黑" panose="020B0503020204020204" charset="-122"/>
            </a:endParaRPr>
          </a:p>
        </p:txBody>
      </p:sp>
      <p:pic>
        <p:nvPicPr>
          <p:cNvPr id="22" name="图片 21"/>
          <p:cNvPicPr>
            <a:picLocks noChangeAspect="1"/>
          </p:cNvPicPr>
          <p:nvPr/>
        </p:nvPicPr>
        <p:blipFill>
          <a:blip r:embed="rId3"/>
          <a:stretch>
            <a:fillRect/>
          </a:stretch>
        </p:blipFill>
        <p:spPr>
          <a:xfrm>
            <a:off x="9055100" y="5374640"/>
            <a:ext cx="2788920" cy="957580"/>
          </a:xfrm>
          <a:prstGeom prst="rect">
            <a:avLst/>
          </a:prstGeom>
        </p:spPr>
      </p:pic>
      <p:sp>
        <p:nvSpPr>
          <p:cNvPr id="23" name="文本框 22"/>
          <p:cNvSpPr txBox="1"/>
          <p:nvPr/>
        </p:nvSpPr>
        <p:spPr>
          <a:xfrm>
            <a:off x="9696423" y="5950024"/>
            <a:ext cx="1824686" cy="260350"/>
          </a:xfrm>
          <a:prstGeom prst="rect">
            <a:avLst/>
          </a:prstGeom>
          <a:noFill/>
          <a:ln>
            <a:solidFill>
              <a:srgbClr val="FF0000"/>
            </a:solidFill>
            <a:prstDash val="dash"/>
          </a:ln>
        </p:spPr>
        <p:txBody>
          <a:bodyPr wrap="square" rtlCol="0">
            <a:spAutoFit/>
          </a:bodyPr>
          <a:lstStyle/>
          <a:p>
            <a:pPr algn="ctr"/>
            <a:r>
              <a:rPr kumimoji="1" lang="zh-CN" altLang="en-US" sz="1100" dirty="0" smtClean="0">
                <a:solidFill>
                  <a:srgbClr val="FF0000"/>
                </a:solidFill>
                <a:latin typeface="微软雅黑" panose="020B0503020204020204" charset="-122"/>
                <a:ea typeface="微软雅黑" panose="020B0503020204020204" charset="-122"/>
              </a:rPr>
              <a:t>执行渠道</a:t>
            </a:r>
            <a:r>
              <a:rPr kumimoji="1" lang="zh-CN" altLang="en-US" sz="1100" dirty="0" smtClean="0">
                <a:solidFill>
                  <a:srgbClr val="FF0000"/>
                </a:solidFill>
                <a:latin typeface="微软雅黑" panose="020B0503020204020204" charset="-122"/>
                <a:ea typeface="微软雅黑" panose="020B0503020204020204" charset="-122"/>
              </a:rPr>
              <a:t>配置</a:t>
            </a:r>
            <a:endParaRPr kumimoji="1" lang="zh-CN" altLang="en-US" sz="1100" dirty="0" smtClean="0">
              <a:solidFill>
                <a:srgbClr val="FF0000"/>
              </a:solidFill>
              <a:latin typeface="微软雅黑" panose="020B0503020204020204" charset="-122"/>
              <a:ea typeface="微软雅黑" panose="020B0503020204020204" charset="-122"/>
            </a:endParaRPr>
          </a:p>
        </p:txBody>
      </p:sp>
      <p:pic>
        <p:nvPicPr>
          <p:cNvPr id="24" name="图片 23"/>
          <p:cNvPicPr>
            <a:picLocks noChangeAspect="1"/>
          </p:cNvPicPr>
          <p:nvPr/>
        </p:nvPicPr>
        <p:blipFill>
          <a:blip r:embed="rId4"/>
          <a:stretch>
            <a:fillRect/>
          </a:stretch>
        </p:blipFill>
        <p:spPr>
          <a:xfrm>
            <a:off x="3125470" y="5073650"/>
            <a:ext cx="2634615" cy="1294130"/>
          </a:xfrm>
          <a:prstGeom prst="rect">
            <a:avLst/>
          </a:prstGeom>
        </p:spPr>
      </p:pic>
      <p:sp>
        <p:nvSpPr>
          <p:cNvPr id="26" name="文本框 25"/>
          <p:cNvSpPr txBox="1"/>
          <p:nvPr/>
        </p:nvSpPr>
        <p:spPr>
          <a:xfrm>
            <a:off x="3530626" y="5374416"/>
            <a:ext cx="1824686" cy="260350"/>
          </a:xfrm>
          <a:prstGeom prst="rect">
            <a:avLst/>
          </a:prstGeom>
          <a:noFill/>
          <a:ln>
            <a:solidFill>
              <a:srgbClr val="FF0000"/>
            </a:solidFill>
            <a:prstDash val="dash"/>
          </a:ln>
        </p:spPr>
        <p:txBody>
          <a:bodyPr wrap="square" rtlCol="0">
            <a:spAutoFit/>
          </a:bodyPr>
          <a:lstStyle/>
          <a:p>
            <a:pPr algn="ctr"/>
            <a:r>
              <a:rPr kumimoji="1" lang="zh-CN" altLang="en-US" sz="1100" dirty="0" smtClean="0">
                <a:solidFill>
                  <a:srgbClr val="FF0000"/>
                </a:solidFill>
                <a:latin typeface="微软雅黑" panose="020B0503020204020204" charset="-122"/>
                <a:ea typeface="微软雅黑" panose="020B0503020204020204" charset="-122"/>
              </a:rPr>
              <a:t>保有工单</a:t>
            </a:r>
            <a:r>
              <a:rPr kumimoji="1" lang="zh-CN" altLang="en-US" sz="1100" dirty="0" smtClean="0">
                <a:solidFill>
                  <a:srgbClr val="FF0000"/>
                </a:solidFill>
                <a:latin typeface="微软雅黑" panose="020B0503020204020204" charset="-122"/>
                <a:ea typeface="微软雅黑" panose="020B0503020204020204" charset="-122"/>
              </a:rPr>
              <a:t>管理</a:t>
            </a:r>
            <a:endParaRPr kumimoji="1" lang="zh-CN" altLang="en-US" sz="1100" dirty="0" smtClean="0">
              <a:solidFill>
                <a:srgbClr val="FF0000"/>
              </a:solidFill>
              <a:latin typeface="微软雅黑" panose="020B0503020204020204" charset="-122"/>
              <a:ea typeface="微软雅黑" panose="020B0503020204020204"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zh-CN" altLang="en-US"/>
              <a:t>评估中心：工单效能</a:t>
            </a:r>
            <a:r>
              <a:rPr lang="en-US" altLang="zh-CN"/>
              <a:t>&amp;</a:t>
            </a:r>
            <a:r>
              <a:rPr lang="zh-CN" altLang="en-US"/>
              <a:t>策略</a:t>
            </a:r>
            <a:r>
              <a:rPr lang="zh-CN" altLang="en-US"/>
              <a:t>转化</a:t>
            </a:r>
            <a:r>
              <a:rPr lang="en-US" altLang="zh-CN"/>
              <a:t>&amp;</a:t>
            </a:r>
            <a:r>
              <a:rPr lang="zh-CN" altLang="en-US"/>
              <a:t>渠道效能</a:t>
            </a:r>
            <a:r>
              <a:rPr lang="zh-CN" altLang="en-US"/>
              <a:t>评估</a:t>
            </a:r>
            <a:endParaRPr lang="zh-CN" altLang="en-US"/>
          </a:p>
        </p:txBody>
      </p:sp>
      <p:pic>
        <p:nvPicPr>
          <p:cNvPr id="16" name="图片 15"/>
          <p:cNvPicPr>
            <a:picLocks noChangeAspect="1"/>
          </p:cNvPicPr>
          <p:nvPr/>
        </p:nvPicPr>
        <p:blipFill>
          <a:blip r:embed="rId1"/>
          <a:stretch>
            <a:fillRect/>
          </a:stretch>
        </p:blipFill>
        <p:spPr>
          <a:xfrm>
            <a:off x="540385" y="4416425"/>
            <a:ext cx="5370830" cy="819150"/>
          </a:xfrm>
          <a:prstGeom prst="rect">
            <a:avLst/>
          </a:prstGeom>
        </p:spPr>
      </p:pic>
      <p:grpSp>
        <p:nvGrpSpPr>
          <p:cNvPr id="24" name="组合 23"/>
          <p:cNvGrpSpPr/>
          <p:nvPr/>
        </p:nvGrpSpPr>
        <p:grpSpPr>
          <a:xfrm>
            <a:off x="422910" y="1856105"/>
            <a:ext cx="5605382" cy="4866108"/>
            <a:chOff x="533" y="2923"/>
            <a:chExt cx="6427" cy="7755"/>
          </a:xfrm>
        </p:grpSpPr>
        <p:sp>
          <p:nvSpPr>
            <p:cNvPr id="25" name="矩形 24"/>
            <p:cNvSpPr/>
            <p:nvPr/>
          </p:nvSpPr>
          <p:spPr>
            <a:xfrm>
              <a:off x="533" y="2923"/>
              <a:ext cx="6427" cy="10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600"/>
                </a:spcAft>
              </a:pPr>
              <a:r>
                <a:rPr lang="zh-CN" altLang="en-US" sz="1600" b="1" dirty="0" smtClean="0">
                  <a:solidFill>
                    <a:schemeClr val="bg1"/>
                  </a:solidFill>
                </a:rPr>
                <a:t>工单效能</a:t>
              </a:r>
              <a:r>
                <a:rPr lang="en-US" altLang="zh-CN" sz="1600" b="1" dirty="0" smtClean="0">
                  <a:solidFill>
                    <a:schemeClr val="bg1"/>
                  </a:solidFill>
                </a:rPr>
                <a:t>&amp;</a:t>
              </a:r>
              <a:r>
                <a:rPr lang="zh-CN" altLang="en-US" sz="1600" b="1" dirty="0" smtClean="0">
                  <a:solidFill>
                    <a:schemeClr val="bg1"/>
                  </a:solidFill>
                </a:rPr>
                <a:t>策略</a:t>
              </a:r>
              <a:r>
                <a:rPr lang="zh-CN" altLang="en-US" sz="1600" b="1" dirty="0" smtClean="0">
                  <a:solidFill>
                    <a:schemeClr val="bg1"/>
                  </a:solidFill>
                </a:rPr>
                <a:t>转化评估</a:t>
              </a:r>
              <a:endParaRPr lang="zh-CN" altLang="en-US" sz="1600" b="1" dirty="0" smtClean="0">
                <a:solidFill>
                  <a:schemeClr val="bg1"/>
                </a:solidFill>
              </a:endParaRPr>
            </a:p>
            <a:p>
              <a:pPr algn="ctr">
                <a:spcAft>
                  <a:spcPts val="600"/>
                </a:spcAft>
              </a:pPr>
              <a:r>
                <a:rPr lang="zh-CN" altLang="en-US" sz="1200" dirty="0" smtClean="0">
                  <a:solidFill>
                    <a:schemeClr val="bg1"/>
                  </a:solidFill>
                </a:rPr>
                <a:t>围绕工单响应时长、处理时长、完成率等核心指标，构建工单维度的可视化评估分析</a:t>
              </a:r>
              <a:r>
                <a:rPr lang="zh-CN" altLang="en-US" sz="1200" dirty="0" smtClean="0">
                  <a:solidFill>
                    <a:schemeClr val="bg1"/>
                  </a:solidFill>
                </a:rPr>
                <a:t>能力</a:t>
              </a:r>
              <a:endParaRPr lang="zh-CN" altLang="en-US" sz="1200" dirty="0" smtClean="0">
                <a:solidFill>
                  <a:schemeClr val="bg1"/>
                </a:solidFill>
              </a:endParaRPr>
            </a:p>
          </p:txBody>
        </p:sp>
        <p:sp>
          <p:nvSpPr>
            <p:cNvPr id="26" name="文本框 25"/>
            <p:cNvSpPr txBox="1"/>
            <p:nvPr/>
          </p:nvSpPr>
          <p:spPr>
            <a:xfrm>
              <a:off x="533" y="4259"/>
              <a:ext cx="6425" cy="4132"/>
            </a:xfrm>
            <a:prstGeom prst="rect">
              <a:avLst/>
            </a:prstGeom>
            <a:noFill/>
          </p:spPr>
          <p:txBody>
            <a:bodyPr wrap="square" rtlCol="0">
              <a:noAutofit/>
            </a:bodyPr>
            <a:lstStyle>
              <a:defPPr>
                <a:defRPr lang="zh-CN"/>
              </a:defPPr>
              <a:lvl1pPr>
                <a:lnSpc>
                  <a:spcPct val="110000"/>
                </a:lnSpc>
                <a:spcBef>
                  <a:spcPts val="0"/>
                </a:spcBef>
                <a:spcAft>
                  <a:spcPts val="0"/>
                </a:spcAft>
                <a:defRPr sz="1000" b="1">
                  <a:latin typeface="微软雅黑" panose="020B0503020204020204" charset="-122"/>
                  <a:ea typeface="微软雅黑" panose="020B0503020204020204" charset="-122"/>
                  <a:cs typeface="微软雅黑" panose="020B0503020204020204" charset="-122"/>
                </a:defRPr>
              </a:lvl1pPr>
            </a:lstStyle>
            <a:p>
              <a:pPr marL="228600" indent="-228600">
                <a:lnSpc>
                  <a:spcPct val="150000"/>
                </a:lnSpc>
                <a:buFont typeface="Wingdings" panose="05000000000000000000" pitchFamily="2" charset="2"/>
                <a:buChar char="ü"/>
              </a:pPr>
              <a:r>
                <a:rPr lang="zh-CN" altLang="en-US" sz="1200" dirty="0" smtClean="0"/>
                <a:t>分场景的工单全流程盯控报表：</a:t>
              </a:r>
              <a:r>
                <a:rPr lang="zh-CN" altLang="en-US" sz="1200" b="0" dirty="0" smtClean="0"/>
                <a:t>目前已构建常用流程</a:t>
              </a:r>
              <a:r>
                <a:rPr lang="en-US" altLang="zh-CN" sz="1200" b="0" dirty="0" smtClean="0"/>
                <a:t>9</a:t>
              </a:r>
              <a:r>
                <a:rPr lang="zh-CN" altLang="en-US" sz="1200" b="0" dirty="0" smtClean="0"/>
                <a:t>大场景和保有任务流程的</a:t>
              </a:r>
              <a:r>
                <a:rPr lang="zh-CN" altLang="en-US" sz="1200" b="0" dirty="0" smtClean="0"/>
                <a:t>报表，支持按照工单维度统计工单下发客户数、触达数、触达时效、触达角色等维度的报表，支持地</a:t>
              </a:r>
              <a:r>
                <a:rPr lang="en-US" altLang="zh-CN" sz="1200" b="0" dirty="0" smtClean="0"/>
                <a:t>-</a:t>
              </a:r>
              <a:r>
                <a:rPr lang="zh-CN" altLang="en-US" sz="1200" b="0" dirty="0" smtClean="0"/>
                <a:t>市</a:t>
              </a:r>
              <a:r>
                <a:rPr lang="en-US" altLang="zh-CN" sz="1200" b="0" dirty="0" smtClean="0"/>
                <a:t>-</a:t>
              </a:r>
              <a:r>
                <a:rPr lang="zh-CN" altLang="en-US" sz="1200" b="0" dirty="0" smtClean="0"/>
                <a:t>县</a:t>
              </a:r>
              <a:r>
                <a:rPr lang="en-US" altLang="zh-CN" sz="1200" b="0" dirty="0" smtClean="0"/>
                <a:t>-</a:t>
              </a:r>
              <a:r>
                <a:rPr lang="zh-CN" altLang="en-US" sz="1200" b="0" dirty="0" smtClean="0"/>
                <a:t>格维度的层层下钻、下载和导出；</a:t>
              </a:r>
              <a:endParaRPr lang="en-US" altLang="zh-CN" sz="1200" b="0" dirty="0" smtClean="0"/>
            </a:p>
            <a:p>
              <a:pPr marL="228600" indent="-228600">
                <a:lnSpc>
                  <a:spcPct val="150000"/>
                </a:lnSpc>
                <a:buFont typeface="Wingdings" panose="05000000000000000000" pitchFamily="2" charset="2"/>
                <a:buChar char="ü"/>
              </a:pPr>
              <a:r>
                <a:rPr lang="zh-CN" altLang="en-US" sz="1200" dirty="0"/>
                <a:t>四级工单执行分布图：</a:t>
              </a:r>
              <a:r>
                <a:rPr lang="zh-CN" altLang="en-US" sz="1200" b="0" dirty="0" smtClean="0"/>
                <a:t>在地图上可视化展示全疆按日月累计维度的工单执行情况；</a:t>
              </a:r>
              <a:endParaRPr lang="zh-CN" altLang="en-US" sz="1200" b="0" dirty="0" smtClean="0"/>
            </a:p>
            <a:p>
              <a:pPr marL="228600" indent="-228600">
                <a:lnSpc>
                  <a:spcPct val="150000"/>
                </a:lnSpc>
                <a:buFont typeface="Wingdings" panose="05000000000000000000" pitchFamily="2" charset="2"/>
                <a:buChar char="ü"/>
              </a:pPr>
              <a:r>
                <a:rPr lang="zh-CN" altLang="en-US" sz="1200" dirty="0"/>
                <a:t>保有任务执行效果统计</a:t>
              </a:r>
              <a:r>
                <a:rPr lang="zh-CN" altLang="en-US" sz="1200" b="0" dirty="0" smtClean="0"/>
                <a:t>：展示策略的触达率、办理率</a:t>
              </a:r>
              <a:r>
                <a:rPr lang="zh-CN" altLang="en-US" sz="1200" b="0" dirty="0" smtClean="0"/>
                <a:t>等，</a:t>
              </a:r>
              <a:endParaRPr lang="zh-CN" altLang="en-US" sz="1200" b="0" dirty="0" smtClean="0"/>
            </a:p>
            <a:p>
              <a:pPr marL="228600" indent="-228600">
                <a:lnSpc>
                  <a:spcPct val="150000"/>
                </a:lnSpc>
                <a:buFont typeface="Wingdings" panose="05000000000000000000" pitchFamily="2" charset="2"/>
                <a:buChar char="ü"/>
              </a:pPr>
              <a:endParaRPr lang="zh-CN" altLang="en-US" sz="1200" b="0" dirty="0"/>
            </a:p>
          </p:txBody>
        </p:sp>
        <p:sp>
          <p:nvSpPr>
            <p:cNvPr id="30" name="文本框 29"/>
            <p:cNvSpPr txBox="1"/>
            <p:nvPr/>
          </p:nvSpPr>
          <p:spPr>
            <a:xfrm>
              <a:off x="4379" y="7116"/>
              <a:ext cx="1841" cy="415"/>
            </a:xfrm>
            <a:prstGeom prst="rect">
              <a:avLst/>
            </a:prstGeom>
            <a:noFill/>
            <a:ln>
              <a:solidFill>
                <a:srgbClr val="FF0000"/>
              </a:solidFill>
              <a:prstDash val="dash"/>
            </a:ln>
          </p:spPr>
          <p:txBody>
            <a:bodyPr wrap="square" rtlCol="0">
              <a:spAutoFit/>
            </a:bodyPr>
            <a:lstStyle/>
            <a:p>
              <a:pPr algn="ctr"/>
              <a:r>
                <a:rPr kumimoji="1" lang="zh-CN" altLang="en-US" sz="1100" b="1" dirty="0">
                  <a:solidFill>
                    <a:srgbClr val="FF0000"/>
                  </a:solidFill>
                  <a:latin typeface="微软雅黑" panose="020B0503020204020204" charset="-122"/>
                  <a:ea typeface="微软雅黑" panose="020B0503020204020204" charset="-122"/>
                  <a:sym typeface="+mn-ea"/>
                </a:rPr>
                <a:t>预警任务执行盯控</a:t>
              </a:r>
              <a:endParaRPr kumimoji="1" lang="zh-CN" altLang="en-US" sz="1100" b="1" dirty="0">
                <a:solidFill>
                  <a:srgbClr val="FF0000"/>
                </a:solidFill>
                <a:latin typeface="微软雅黑" panose="020B0503020204020204" charset="-122"/>
                <a:ea typeface="微软雅黑" panose="020B0503020204020204" charset="-122"/>
                <a:sym typeface="+mn-ea"/>
              </a:endParaRPr>
            </a:p>
          </p:txBody>
        </p:sp>
        <p:sp>
          <p:nvSpPr>
            <p:cNvPr id="32" name="矩形 31"/>
            <p:cNvSpPr/>
            <p:nvPr/>
          </p:nvSpPr>
          <p:spPr>
            <a:xfrm>
              <a:off x="533" y="4123"/>
              <a:ext cx="6424" cy="6555"/>
            </a:xfrm>
            <a:prstGeom prst="rect">
              <a:avLst/>
            </a:prstGeom>
            <a:noFill/>
            <a:ln w="9525">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4" name="组合 33"/>
          <p:cNvGrpSpPr/>
          <p:nvPr/>
        </p:nvGrpSpPr>
        <p:grpSpPr>
          <a:xfrm>
            <a:off x="6199505" y="1856105"/>
            <a:ext cx="5705475" cy="4866005"/>
            <a:chOff x="533" y="2923"/>
            <a:chExt cx="6427" cy="7755"/>
          </a:xfrm>
        </p:grpSpPr>
        <p:sp>
          <p:nvSpPr>
            <p:cNvPr id="35" name="矩形 34"/>
            <p:cNvSpPr/>
            <p:nvPr/>
          </p:nvSpPr>
          <p:spPr>
            <a:xfrm>
              <a:off x="533" y="2923"/>
              <a:ext cx="6427" cy="108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Aft>
                  <a:spcPts val="600"/>
                </a:spcAft>
              </a:pPr>
              <a:r>
                <a:rPr lang="zh-CN" altLang="en-US" sz="1600" b="1" dirty="0" smtClean="0">
                  <a:solidFill>
                    <a:schemeClr val="bg1"/>
                  </a:solidFill>
                </a:rPr>
                <a:t>渠道效能评估</a:t>
              </a:r>
              <a:endParaRPr lang="zh-CN" altLang="en-US" sz="1600" b="1" dirty="0" smtClean="0">
                <a:solidFill>
                  <a:schemeClr val="bg1"/>
                </a:solidFill>
              </a:endParaRPr>
            </a:p>
            <a:p>
              <a:pPr algn="ctr">
                <a:spcAft>
                  <a:spcPts val="600"/>
                </a:spcAft>
              </a:pPr>
              <a:r>
                <a:rPr lang="zh-CN" altLang="en-US" sz="1200" dirty="0" smtClean="0">
                  <a:solidFill>
                    <a:schemeClr val="bg1"/>
                  </a:solidFill>
                </a:rPr>
                <a:t>针对已对接任务下派的各类线下渠道（包括网格经理、政企客户经理、</a:t>
              </a:r>
              <a:r>
                <a:rPr lang="en-US" altLang="zh-CN" sz="1200" dirty="0" smtClean="0">
                  <a:solidFill>
                    <a:schemeClr val="bg1"/>
                  </a:solidFill>
                </a:rPr>
                <a:t>10088</a:t>
              </a:r>
              <a:r>
                <a:rPr lang="zh-CN" altLang="en-US" sz="1200" dirty="0" smtClean="0">
                  <a:solidFill>
                    <a:schemeClr val="bg1"/>
                  </a:solidFill>
                </a:rPr>
                <a:t>、</a:t>
              </a:r>
              <a:r>
                <a:rPr lang="en-US" altLang="zh-CN" sz="1200" dirty="0" smtClean="0">
                  <a:solidFill>
                    <a:schemeClr val="bg1"/>
                  </a:solidFill>
                </a:rPr>
                <a:t>10086</a:t>
              </a:r>
              <a:r>
                <a:rPr lang="zh-CN" altLang="en-US" sz="1200" dirty="0" smtClean="0">
                  <a:solidFill>
                    <a:schemeClr val="bg1"/>
                  </a:solidFill>
                </a:rPr>
                <a:t>、装维人员等），对其触达率、转化率等关键指标进行可视化展示</a:t>
              </a:r>
              <a:endParaRPr lang="zh-CN" altLang="en-US" sz="1200" dirty="0" smtClean="0">
                <a:solidFill>
                  <a:schemeClr val="bg1"/>
                </a:solidFill>
              </a:endParaRPr>
            </a:p>
          </p:txBody>
        </p:sp>
        <p:sp>
          <p:nvSpPr>
            <p:cNvPr id="37" name="文本框 36"/>
            <p:cNvSpPr txBox="1"/>
            <p:nvPr/>
          </p:nvSpPr>
          <p:spPr>
            <a:xfrm>
              <a:off x="533" y="4259"/>
              <a:ext cx="6267" cy="1754"/>
            </a:xfrm>
            <a:prstGeom prst="rect">
              <a:avLst/>
            </a:prstGeom>
            <a:noFill/>
          </p:spPr>
          <p:txBody>
            <a:bodyPr wrap="square" rtlCol="0">
              <a:noAutofit/>
            </a:bodyPr>
            <a:lstStyle>
              <a:defPPr>
                <a:defRPr lang="zh-CN"/>
              </a:defPPr>
              <a:lvl1pPr>
                <a:lnSpc>
                  <a:spcPct val="110000"/>
                </a:lnSpc>
                <a:spcBef>
                  <a:spcPts val="0"/>
                </a:spcBef>
                <a:spcAft>
                  <a:spcPts val="0"/>
                </a:spcAft>
                <a:defRPr sz="1000" b="1">
                  <a:latin typeface="微软雅黑" panose="020B0503020204020204" charset="-122"/>
                  <a:ea typeface="微软雅黑" panose="020B0503020204020204" charset="-122"/>
                  <a:cs typeface="微软雅黑" panose="020B0503020204020204" charset="-122"/>
                </a:defRPr>
              </a:lvl1pPr>
            </a:lstStyle>
            <a:p>
              <a:pPr marL="228600" indent="-228600">
                <a:lnSpc>
                  <a:spcPct val="150000"/>
                </a:lnSpc>
                <a:buFont typeface="Wingdings" panose="05000000000000000000" pitchFamily="2" charset="2"/>
                <a:buChar char="ü"/>
              </a:pPr>
              <a:r>
                <a:rPr lang="zh-CN" altLang="en-US" sz="1200" dirty="0" smtClean="0"/>
                <a:t>多渠道执行数据对比</a:t>
              </a:r>
              <a:r>
                <a:rPr lang="zh-CN" altLang="en-US" sz="1200" b="0" dirty="0"/>
                <a:t>：支持按照执行角色（网格经理、政企客户经理、</a:t>
              </a:r>
              <a:r>
                <a:rPr lang="en-US" altLang="zh-CN" sz="1200" b="0" dirty="0"/>
                <a:t>10088</a:t>
              </a:r>
              <a:r>
                <a:rPr lang="zh-CN" altLang="en-US" sz="1200" b="0" dirty="0"/>
                <a:t>、</a:t>
              </a:r>
              <a:r>
                <a:rPr lang="en-US" altLang="zh-CN" sz="1200" b="0" dirty="0"/>
                <a:t>10086</a:t>
              </a:r>
              <a:r>
                <a:rPr lang="zh-CN" altLang="en-US" sz="1200" b="0" dirty="0"/>
                <a:t>、装维人员）展示工单执行数据；</a:t>
              </a:r>
              <a:endParaRPr lang="en-US" altLang="zh-CN" sz="1200" b="0" dirty="0"/>
            </a:p>
            <a:p>
              <a:pPr marL="228600" indent="-228600">
                <a:lnSpc>
                  <a:spcPct val="150000"/>
                </a:lnSpc>
                <a:buFont typeface="Wingdings" panose="05000000000000000000" pitchFamily="2" charset="2"/>
                <a:buChar char="ü"/>
              </a:pPr>
              <a:r>
                <a:rPr lang="zh-CN" altLang="en-US" sz="1200" dirty="0"/>
                <a:t>四级</a:t>
              </a:r>
              <a:r>
                <a:rPr lang="zh-CN" altLang="en-US" sz="1200" dirty="0"/>
                <a:t>下钻：</a:t>
              </a:r>
              <a:r>
                <a:rPr lang="zh-CN" altLang="en-US" sz="1200" b="0" dirty="0"/>
                <a:t>支持按全疆、地市、区县、网格、渠道等维度进行逐级下钻展示；</a:t>
              </a:r>
              <a:endParaRPr lang="zh-CN" altLang="en-US" sz="1200" b="0" dirty="0"/>
            </a:p>
            <a:p>
              <a:pPr marL="228600" indent="-228600">
                <a:lnSpc>
                  <a:spcPct val="150000"/>
                </a:lnSpc>
                <a:buFont typeface="Wingdings" panose="05000000000000000000" pitchFamily="2" charset="2"/>
                <a:buChar char="ü"/>
              </a:pPr>
              <a:r>
                <a:rPr lang="zh-CN" altLang="en-US" sz="1200" dirty="0"/>
                <a:t>分渠道执行情况展示：</a:t>
              </a:r>
              <a:r>
                <a:rPr lang="zh-CN" altLang="en-US" sz="1200" b="0" dirty="0"/>
                <a:t>支持统一执行角色在不同区域内的工单执行情况对比</a:t>
              </a:r>
              <a:r>
                <a:rPr lang="zh-CN" altLang="en-US" sz="1200" b="0" dirty="0"/>
                <a:t>展示；</a:t>
              </a:r>
              <a:endParaRPr lang="zh-CN" altLang="en-US" sz="1200" b="0" dirty="0"/>
            </a:p>
          </p:txBody>
        </p:sp>
        <p:sp>
          <p:nvSpPr>
            <p:cNvPr id="39" name="矩形 38"/>
            <p:cNvSpPr/>
            <p:nvPr/>
          </p:nvSpPr>
          <p:spPr>
            <a:xfrm>
              <a:off x="533" y="4123"/>
              <a:ext cx="6424" cy="6555"/>
            </a:xfrm>
            <a:prstGeom prst="rect">
              <a:avLst/>
            </a:prstGeom>
            <a:noFill/>
            <a:ln w="9525">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43" name="文本框 42"/>
          <p:cNvSpPr txBox="1"/>
          <p:nvPr/>
        </p:nvSpPr>
        <p:spPr>
          <a:xfrm>
            <a:off x="3913450" y="5753954"/>
            <a:ext cx="1469592" cy="260404"/>
          </a:xfrm>
          <a:prstGeom prst="rect">
            <a:avLst/>
          </a:prstGeom>
          <a:noFill/>
          <a:ln>
            <a:solidFill>
              <a:srgbClr val="FF0000"/>
            </a:solidFill>
            <a:prstDash val="dash"/>
          </a:ln>
        </p:spPr>
        <p:txBody>
          <a:bodyPr wrap="square" rtlCol="0">
            <a:noAutofit/>
          </a:bodyPr>
          <a:lstStyle/>
          <a:p>
            <a:pPr algn="ctr"/>
            <a:r>
              <a:rPr kumimoji="1" lang="zh-CN" altLang="en-US" sz="1100" b="1" dirty="0">
                <a:solidFill>
                  <a:srgbClr val="FF0000"/>
                </a:solidFill>
                <a:latin typeface="微软雅黑" panose="020B0503020204020204" charset="-122"/>
                <a:ea typeface="微软雅黑" panose="020B0503020204020204" charset="-122"/>
                <a:sym typeface="+mn-ea"/>
              </a:rPr>
              <a:t>工单执行</a:t>
            </a:r>
            <a:r>
              <a:rPr kumimoji="1" lang="zh-CN" altLang="en-US" sz="1100" b="1" dirty="0">
                <a:solidFill>
                  <a:srgbClr val="FF0000"/>
                </a:solidFill>
                <a:latin typeface="微软雅黑" panose="020B0503020204020204" charset="-122"/>
                <a:ea typeface="微软雅黑" panose="020B0503020204020204" charset="-122"/>
                <a:sym typeface="+mn-ea"/>
              </a:rPr>
              <a:t>分布图</a:t>
            </a:r>
            <a:endParaRPr kumimoji="1" lang="zh-CN" altLang="en-US" sz="1100" b="1" dirty="0">
              <a:solidFill>
                <a:srgbClr val="FF0000"/>
              </a:solidFill>
              <a:latin typeface="微软雅黑" panose="020B0503020204020204" charset="-122"/>
              <a:ea typeface="微软雅黑" panose="020B0503020204020204" charset="-122"/>
              <a:sym typeface="+mn-ea"/>
            </a:endParaRPr>
          </a:p>
        </p:txBody>
      </p:sp>
      <p:pic>
        <p:nvPicPr>
          <p:cNvPr id="45" name="图片 44"/>
          <p:cNvPicPr>
            <a:picLocks noChangeAspect="1"/>
          </p:cNvPicPr>
          <p:nvPr/>
        </p:nvPicPr>
        <p:blipFill>
          <a:blip r:embed="rId2"/>
          <a:stretch>
            <a:fillRect/>
          </a:stretch>
        </p:blipFill>
        <p:spPr>
          <a:xfrm>
            <a:off x="540385" y="5287010"/>
            <a:ext cx="5370830" cy="808355"/>
          </a:xfrm>
          <a:prstGeom prst="rect">
            <a:avLst/>
          </a:prstGeom>
        </p:spPr>
      </p:pic>
      <p:sp>
        <p:nvSpPr>
          <p:cNvPr id="47" name="文本框 46"/>
          <p:cNvSpPr txBox="1"/>
          <p:nvPr/>
        </p:nvSpPr>
        <p:spPr>
          <a:xfrm>
            <a:off x="3780418" y="5340569"/>
            <a:ext cx="1605649" cy="260350"/>
          </a:xfrm>
          <a:prstGeom prst="rect">
            <a:avLst/>
          </a:prstGeom>
          <a:noFill/>
          <a:ln>
            <a:solidFill>
              <a:srgbClr val="FF0000"/>
            </a:solidFill>
            <a:prstDash val="dash"/>
          </a:ln>
        </p:spPr>
        <p:txBody>
          <a:bodyPr wrap="square" rtlCol="0">
            <a:spAutoFit/>
          </a:bodyPr>
          <a:lstStyle/>
          <a:p>
            <a:pPr algn="ctr"/>
            <a:r>
              <a:rPr kumimoji="1" lang="zh-CN" altLang="en-US" sz="1100" b="1" dirty="0">
                <a:solidFill>
                  <a:srgbClr val="FF0000"/>
                </a:solidFill>
                <a:latin typeface="微软雅黑" panose="020B0503020204020204" charset="-122"/>
                <a:ea typeface="微软雅黑" panose="020B0503020204020204" charset="-122"/>
                <a:sym typeface="+mn-ea"/>
              </a:rPr>
              <a:t>策略转化</a:t>
            </a:r>
            <a:r>
              <a:rPr kumimoji="1" lang="zh-CN" altLang="en-US" sz="1100" b="1" dirty="0">
                <a:solidFill>
                  <a:srgbClr val="FF0000"/>
                </a:solidFill>
                <a:latin typeface="微软雅黑" panose="020B0503020204020204" charset="-122"/>
                <a:ea typeface="微软雅黑" panose="020B0503020204020204" charset="-122"/>
                <a:sym typeface="+mn-ea"/>
              </a:rPr>
              <a:t>评估</a:t>
            </a:r>
            <a:endParaRPr kumimoji="1" lang="zh-CN" altLang="en-US" sz="1100" b="1" dirty="0">
              <a:solidFill>
                <a:srgbClr val="FF0000"/>
              </a:solidFill>
              <a:latin typeface="微软雅黑" panose="020B0503020204020204" charset="-122"/>
              <a:ea typeface="微软雅黑" panose="020B0503020204020204" charset="-122"/>
              <a:sym typeface="+mn-ea"/>
            </a:endParaRPr>
          </a:p>
        </p:txBody>
      </p:sp>
      <p:pic>
        <p:nvPicPr>
          <p:cNvPr id="40" name="图片 39"/>
          <p:cNvPicPr>
            <a:picLocks noChangeAspect="1"/>
          </p:cNvPicPr>
          <p:nvPr/>
        </p:nvPicPr>
        <p:blipFill>
          <a:blip r:embed="rId3"/>
          <a:stretch>
            <a:fillRect/>
          </a:stretch>
        </p:blipFill>
        <p:spPr>
          <a:xfrm>
            <a:off x="1579245" y="6081395"/>
            <a:ext cx="1336040" cy="596900"/>
          </a:xfrm>
          <a:prstGeom prst="rect">
            <a:avLst/>
          </a:prstGeom>
        </p:spPr>
      </p:pic>
      <p:sp>
        <p:nvSpPr>
          <p:cNvPr id="42" name="文本框 41"/>
          <p:cNvSpPr txBox="1"/>
          <p:nvPr/>
        </p:nvSpPr>
        <p:spPr>
          <a:xfrm>
            <a:off x="1869385" y="6084154"/>
            <a:ext cx="1469592" cy="260404"/>
          </a:xfrm>
          <a:prstGeom prst="rect">
            <a:avLst/>
          </a:prstGeom>
          <a:noFill/>
          <a:ln>
            <a:solidFill>
              <a:srgbClr val="FF0000"/>
            </a:solidFill>
            <a:prstDash val="dash"/>
          </a:ln>
        </p:spPr>
        <p:txBody>
          <a:bodyPr wrap="square" rtlCol="0">
            <a:noAutofit/>
          </a:bodyPr>
          <a:lstStyle/>
          <a:p>
            <a:pPr algn="ctr"/>
            <a:r>
              <a:rPr kumimoji="1" lang="zh-CN" altLang="en-US" sz="1100" b="1" dirty="0">
                <a:solidFill>
                  <a:srgbClr val="FF0000"/>
                </a:solidFill>
                <a:latin typeface="微软雅黑" panose="020B0503020204020204" charset="-122"/>
                <a:ea typeface="微软雅黑" panose="020B0503020204020204" charset="-122"/>
                <a:sym typeface="+mn-ea"/>
              </a:rPr>
              <a:t>工单执行</a:t>
            </a:r>
            <a:r>
              <a:rPr kumimoji="1" lang="zh-CN" altLang="en-US" sz="1100" b="1" dirty="0">
                <a:solidFill>
                  <a:srgbClr val="FF0000"/>
                </a:solidFill>
                <a:latin typeface="微软雅黑" panose="020B0503020204020204" charset="-122"/>
                <a:ea typeface="微软雅黑" panose="020B0503020204020204" charset="-122"/>
                <a:sym typeface="+mn-ea"/>
              </a:rPr>
              <a:t>分布图</a:t>
            </a:r>
            <a:endParaRPr kumimoji="1" lang="zh-CN" altLang="en-US" sz="1100" b="1" dirty="0">
              <a:solidFill>
                <a:srgbClr val="FF0000"/>
              </a:solidFill>
              <a:latin typeface="微软雅黑" panose="020B0503020204020204" charset="-122"/>
              <a:ea typeface="微软雅黑" panose="020B0503020204020204" charset="-122"/>
              <a:sym typeface="+mn-ea"/>
            </a:endParaRPr>
          </a:p>
        </p:txBody>
      </p:sp>
      <p:pic>
        <p:nvPicPr>
          <p:cNvPr id="9" name="图片 8"/>
          <p:cNvPicPr>
            <a:picLocks noChangeAspect="1"/>
          </p:cNvPicPr>
          <p:nvPr/>
        </p:nvPicPr>
        <p:blipFill>
          <a:blip r:embed="rId4"/>
          <a:stretch>
            <a:fillRect/>
          </a:stretch>
        </p:blipFill>
        <p:spPr>
          <a:xfrm>
            <a:off x="3420745" y="6058535"/>
            <a:ext cx="857885" cy="622935"/>
          </a:xfrm>
          <a:prstGeom prst="rect">
            <a:avLst/>
          </a:prstGeom>
        </p:spPr>
      </p:pic>
      <p:sp>
        <p:nvSpPr>
          <p:cNvPr id="48" name="文本框 47"/>
          <p:cNvSpPr txBox="1"/>
          <p:nvPr/>
        </p:nvSpPr>
        <p:spPr>
          <a:xfrm>
            <a:off x="3916625" y="6084154"/>
            <a:ext cx="1469592" cy="260404"/>
          </a:xfrm>
          <a:prstGeom prst="rect">
            <a:avLst/>
          </a:prstGeom>
          <a:noFill/>
          <a:ln>
            <a:solidFill>
              <a:srgbClr val="FF0000"/>
            </a:solidFill>
            <a:prstDash val="dash"/>
          </a:ln>
        </p:spPr>
        <p:txBody>
          <a:bodyPr wrap="square" rtlCol="0">
            <a:noAutofit/>
          </a:bodyPr>
          <a:lstStyle/>
          <a:p>
            <a:pPr algn="ctr"/>
            <a:r>
              <a:rPr kumimoji="1" lang="zh-CN" altLang="en-US" sz="1100" b="1" dirty="0">
                <a:solidFill>
                  <a:srgbClr val="FF0000"/>
                </a:solidFill>
                <a:latin typeface="微软雅黑" panose="020B0503020204020204" charset="-122"/>
                <a:ea typeface="微软雅黑" panose="020B0503020204020204" charset="-122"/>
                <a:sym typeface="+mn-ea"/>
              </a:rPr>
              <a:t>按工单类型</a:t>
            </a:r>
            <a:r>
              <a:rPr kumimoji="1" lang="zh-CN" altLang="en-US" sz="1100" b="1" dirty="0">
                <a:solidFill>
                  <a:srgbClr val="FF0000"/>
                </a:solidFill>
                <a:latin typeface="微软雅黑" panose="020B0503020204020204" charset="-122"/>
                <a:ea typeface="微软雅黑" panose="020B0503020204020204" charset="-122"/>
                <a:sym typeface="+mn-ea"/>
              </a:rPr>
              <a:t>分析</a:t>
            </a:r>
            <a:endParaRPr kumimoji="1" lang="zh-CN" altLang="en-US" sz="1100" b="1" dirty="0">
              <a:solidFill>
                <a:srgbClr val="FF0000"/>
              </a:solidFill>
              <a:latin typeface="微软雅黑" panose="020B0503020204020204" charset="-122"/>
              <a:ea typeface="微软雅黑" panose="020B0503020204020204" charset="-122"/>
              <a:sym typeface="+mn-ea"/>
            </a:endParaRPr>
          </a:p>
        </p:txBody>
      </p:sp>
      <p:pic>
        <p:nvPicPr>
          <p:cNvPr id="49" name="图片 48"/>
          <p:cNvPicPr>
            <a:picLocks noChangeAspect="1"/>
          </p:cNvPicPr>
          <p:nvPr/>
        </p:nvPicPr>
        <p:blipFill>
          <a:blip r:embed="rId5"/>
          <a:stretch>
            <a:fillRect/>
          </a:stretch>
        </p:blipFill>
        <p:spPr>
          <a:xfrm>
            <a:off x="6309995" y="5236210"/>
            <a:ext cx="2757805" cy="1331595"/>
          </a:xfrm>
          <a:prstGeom prst="rect">
            <a:avLst/>
          </a:prstGeom>
        </p:spPr>
      </p:pic>
      <p:pic>
        <p:nvPicPr>
          <p:cNvPr id="50" name="图片 49"/>
          <p:cNvPicPr>
            <a:picLocks noChangeAspect="1"/>
          </p:cNvPicPr>
          <p:nvPr/>
        </p:nvPicPr>
        <p:blipFill>
          <a:blip r:embed="rId6"/>
          <a:stretch>
            <a:fillRect/>
          </a:stretch>
        </p:blipFill>
        <p:spPr>
          <a:xfrm>
            <a:off x="9146540" y="5235575"/>
            <a:ext cx="2616200" cy="1332230"/>
          </a:xfrm>
          <a:prstGeom prst="rect">
            <a:avLst/>
          </a:prstGeom>
        </p:spPr>
      </p:pic>
      <p:sp>
        <p:nvSpPr>
          <p:cNvPr id="51" name="文本框 50"/>
          <p:cNvSpPr txBox="1"/>
          <p:nvPr/>
        </p:nvSpPr>
        <p:spPr>
          <a:xfrm>
            <a:off x="7762240" y="5600700"/>
            <a:ext cx="1305560" cy="276860"/>
          </a:xfrm>
          <a:prstGeom prst="rect">
            <a:avLst/>
          </a:prstGeom>
          <a:noFill/>
          <a:ln>
            <a:solidFill>
              <a:srgbClr val="FF0000"/>
            </a:solidFill>
            <a:prstDash val="dash"/>
          </a:ln>
        </p:spPr>
        <p:txBody>
          <a:bodyPr wrap="square" rtlCol="0">
            <a:noAutofit/>
          </a:bodyPr>
          <a:lstStyle/>
          <a:p>
            <a:pPr algn="ctr"/>
            <a:r>
              <a:rPr kumimoji="1" lang="zh-CN" altLang="en-US" sz="1100" b="1" dirty="0">
                <a:solidFill>
                  <a:srgbClr val="FF0000"/>
                </a:solidFill>
                <a:latin typeface="微软雅黑" panose="020B0503020204020204" charset="-122"/>
                <a:ea typeface="微软雅黑" panose="020B0503020204020204" charset="-122"/>
                <a:sym typeface="+mn-ea"/>
              </a:rPr>
              <a:t>分渠道按区域工单执行排序</a:t>
            </a:r>
            <a:endParaRPr kumimoji="1" lang="zh-CN" altLang="en-US" sz="1100" b="1" dirty="0">
              <a:solidFill>
                <a:srgbClr val="FF0000"/>
              </a:solidFill>
              <a:latin typeface="微软雅黑" panose="020B0503020204020204" charset="-122"/>
              <a:ea typeface="微软雅黑" panose="020B0503020204020204" charset="-122"/>
              <a:sym typeface="+mn-ea"/>
            </a:endParaRPr>
          </a:p>
        </p:txBody>
      </p:sp>
      <p:sp>
        <p:nvSpPr>
          <p:cNvPr id="52" name="文本框 51"/>
          <p:cNvSpPr txBox="1"/>
          <p:nvPr/>
        </p:nvSpPr>
        <p:spPr>
          <a:xfrm>
            <a:off x="10363835" y="5287010"/>
            <a:ext cx="1305560" cy="276860"/>
          </a:xfrm>
          <a:prstGeom prst="rect">
            <a:avLst/>
          </a:prstGeom>
          <a:noFill/>
          <a:ln>
            <a:solidFill>
              <a:srgbClr val="FF0000"/>
            </a:solidFill>
            <a:prstDash val="dash"/>
          </a:ln>
        </p:spPr>
        <p:txBody>
          <a:bodyPr wrap="square" rtlCol="0">
            <a:noAutofit/>
          </a:bodyPr>
          <a:lstStyle/>
          <a:p>
            <a:pPr algn="ctr"/>
            <a:r>
              <a:rPr kumimoji="1" lang="zh-CN" altLang="en-US" sz="1100" b="1" dirty="0">
                <a:solidFill>
                  <a:srgbClr val="FF0000"/>
                </a:solidFill>
                <a:latin typeface="微软雅黑" panose="020B0503020204020204" charset="-122"/>
                <a:ea typeface="微软雅黑" panose="020B0503020204020204" charset="-122"/>
                <a:sym typeface="+mn-ea"/>
              </a:rPr>
              <a:t>分渠道执行情况</a:t>
            </a:r>
            <a:endParaRPr kumimoji="1" lang="zh-CN" altLang="en-US" sz="1100" b="1" dirty="0">
              <a:solidFill>
                <a:srgbClr val="FF0000"/>
              </a:solidFill>
              <a:latin typeface="微软雅黑" panose="020B0503020204020204" charset="-122"/>
              <a:ea typeface="微软雅黑" panose="020B0503020204020204" charset="-122"/>
              <a:sym typeface="+mn-ea"/>
            </a:endParaRPr>
          </a:p>
          <a:p>
            <a:pPr algn="ctr"/>
            <a:r>
              <a:rPr kumimoji="1" lang="zh-CN" altLang="en-US" sz="1100" b="1" dirty="0">
                <a:solidFill>
                  <a:srgbClr val="FF0000"/>
                </a:solidFill>
                <a:latin typeface="微软雅黑" panose="020B0503020204020204" charset="-122"/>
                <a:ea typeface="微软雅黑" panose="020B0503020204020204" charset="-122"/>
                <a:sym typeface="+mn-ea"/>
              </a:rPr>
              <a:t>展示</a:t>
            </a:r>
            <a:endParaRPr kumimoji="1" lang="zh-CN" altLang="en-US" sz="1100" b="1" dirty="0">
              <a:solidFill>
                <a:srgbClr val="FF0000"/>
              </a:solidFill>
              <a:latin typeface="微软雅黑" panose="020B0503020204020204" charset="-122"/>
              <a:ea typeface="微软雅黑" panose="020B0503020204020204" charset="-122"/>
              <a:sym typeface="+mn-ea"/>
            </a:endParaRPr>
          </a:p>
        </p:txBody>
      </p:sp>
      <p:pic>
        <p:nvPicPr>
          <p:cNvPr id="53" name="图片 52"/>
          <p:cNvPicPr>
            <a:picLocks noChangeAspect="1"/>
          </p:cNvPicPr>
          <p:nvPr/>
        </p:nvPicPr>
        <p:blipFill>
          <a:blip r:embed="rId7"/>
          <a:stretch>
            <a:fillRect/>
          </a:stretch>
        </p:blipFill>
        <p:spPr>
          <a:xfrm>
            <a:off x="6309995" y="4144010"/>
            <a:ext cx="5453380" cy="1044575"/>
          </a:xfrm>
          <a:prstGeom prst="rect">
            <a:avLst/>
          </a:prstGeom>
        </p:spPr>
      </p:pic>
      <p:sp>
        <p:nvSpPr>
          <p:cNvPr id="54" name="文本框 53"/>
          <p:cNvSpPr txBox="1"/>
          <p:nvPr/>
        </p:nvSpPr>
        <p:spPr>
          <a:xfrm>
            <a:off x="7762240" y="4687570"/>
            <a:ext cx="2900045" cy="276860"/>
          </a:xfrm>
          <a:prstGeom prst="rect">
            <a:avLst/>
          </a:prstGeom>
          <a:noFill/>
          <a:ln>
            <a:solidFill>
              <a:srgbClr val="FF0000"/>
            </a:solidFill>
            <a:prstDash val="dash"/>
          </a:ln>
        </p:spPr>
        <p:txBody>
          <a:bodyPr wrap="square" rtlCol="0">
            <a:noAutofit/>
          </a:bodyPr>
          <a:lstStyle/>
          <a:p>
            <a:pPr algn="ctr"/>
            <a:r>
              <a:rPr kumimoji="1" lang="zh-CN" altLang="en-US" sz="1100" b="1" dirty="0">
                <a:solidFill>
                  <a:srgbClr val="FF0000"/>
                </a:solidFill>
                <a:latin typeface="微软雅黑" panose="020B0503020204020204" charset="-122"/>
                <a:ea typeface="微软雅黑" panose="020B0503020204020204" charset="-122"/>
                <a:sym typeface="+mn-ea"/>
              </a:rPr>
              <a:t>携转业务多渠道执行情况</a:t>
            </a:r>
            <a:r>
              <a:rPr kumimoji="1" lang="zh-CN" altLang="en-US" sz="1100" b="1" dirty="0">
                <a:solidFill>
                  <a:srgbClr val="FF0000"/>
                </a:solidFill>
                <a:latin typeface="微软雅黑" panose="020B0503020204020204" charset="-122"/>
                <a:ea typeface="微软雅黑" panose="020B0503020204020204" charset="-122"/>
                <a:sym typeface="+mn-ea"/>
              </a:rPr>
              <a:t>分析</a:t>
            </a:r>
            <a:endParaRPr kumimoji="1" lang="zh-CN" altLang="en-US" sz="1100" b="1" dirty="0">
              <a:solidFill>
                <a:srgbClr val="FF0000"/>
              </a:solidFill>
              <a:latin typeface="微软雅黑" panose="020B0503020204020204" charset="-122"/>
              <a:ea typeface="微软雅黑" panose="020B0503020204020204" charset="-122"/>
              <a:sym typeface="+mn-ea"/>
            </a:endParaRPr>
          </a:p>
        </p:txBody>
      </p:sp>
      <p:sp>
        <p:nvSpPr>
          <p:cNvPr id="55" name="文本占位符 54"/>
          <p:cNvSpPr>
            <a:spLocks noGrp="1"/>
          </p:cNvSpPr>
          <p:nvPr>
            <p:ph type="body" idx="10"/>
          </p:nvPr>
        </p:nvSpPr>
        <p:spPr>
          <a:xfrm>
            <a:off x="163195" y="969645"/>
            <a:ext cx="11832590" cy="641985"/>
          </a:xfrm>
          <a:noFill/>
        </p:spPr>
        <p:txBody>
          <a:bodyPr>
            <a:noAutofit/>
          </a:bodyPr>
          <a:lstStyle/>
          <a:p>
            <a:pPr marL="285750" indent="-285750">
              <a:lnSpc>
                <a:spcPct val="135000"/>
              </a:lnSpc>
              <a:spcAft>
                <a:spcPts val="0"/>
              </a:spcAft>
              <a:buFont typeface="Wingdings" panose="05000000000000000000" pitchFamily="2" charset="2"/>
              <a:buChar char="p"/>
            </a:pPr>
            <a:r>
              <a:rPr lang="zh-CN" altLang="en-US" sz="1400" dirty="0" smtClean="0">
                <a:solidFill>
                  <a:srgbClr val="000000"/>
                </a:solidFill>
                <a:latin typeface="微软雅黑" panose="020B0503020204020204" charset="-122"/>
                <a:ea typeface="微软雅黑" panose="020B0503020204020204" charset="-122"/>
                <a:sym typeface="+mn-ea"/>
              </a:rPr>
              <a:t>盯控任务及工单从创建、下派到执行的全流程，通过报表、视图等形式，按工单、业务、渠道、区域等多维度统计展示，实现全流程闭环管理，达成营销闭环。</a:t>
            </a:r>
            <a:endParaRPr lang="zh-CN" altLang="en-US" sz="1400" dirty="0" smtClean="0">
              <a:solidFill>
                <a:srgbClr val="000000"/>
              </a:solidFill>
              <a:latin typeface="微软雅黑" panose="020B0503020204020204" charset="-122"/>
              <a:ea typeface="微软雅黑" panose="020B0503020204020204" charset="-122"/>
              <a:sym typeface="+mn-ea"/>
            </a:endParaRPr>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2974</Words>
  <Application>WPS 演示</Application>
  <PresentationFormat>宽屏</PresentationFormat>
  <Paragraphs>264</Paragraphs>
  <Slides>6</Slides>
  <Notes>4</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6</vt:i4>
      </vt:variant>
    </vt:vector>
  </HeadingPairs>
  <TitlesOfParts>
    <vt:vector size="15" baseType="lpstr">
      <vt:lpstr>Arial</vt:lpstr>
      <vt:lpstr>宋体</vt:lpstr>
      <vt:lpstr>Wingdings</vt:lpstr>
      <vt:lpstr>Wingdings</vt:lpstr>
      <vt:lpstr>微软雅黑</vt:lpstr>
      <vt:lpstr>方正黑体简体</vt:lpstr>
      <vt:lpstr>Arial Unicode MS</vt:lpstr>
      <vt:lpstr>Calibri</vt:lpstr>
      <vt:lpstr>WPS</vt:lpstr>
      <vt:lpstr>PowerPoint 演示文稿</vt:lpstr>
      <vt:lpstr>精益平台整体介绍</vt:lpstr>
      <vt:lpstr>洞察能力：按场景的业务视图&amp;基于规则的预警能力</vt:lpstr>
      <vt:lpstr>策略中心：关联任务的多策略创建</vt:lpstr>
      <vt:lpstr>调度能力：基于规则的工单调度能力</vt:lpstr>
      <vt:lpstr>评估中心：工单效能&amp;策略转化&amp;渠道效能评估</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初级高冷小美女＆</cp:lastModifiedBy>
  <cp:revision>160</cp:revision>
  <dcterms:created xsi:type="dcterms:W3CDTF">2019-06-19T02:08:00Z</dcterms:created>
  <dcterms:modified xsi:type="dcterms:W3CDTF">2026-04-18T08:29:32Z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A9E92D92C03740B59077C365C6279608_13</vt:lpwstr>
  </property>
</Properties>
</file>