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68" r:id="rId4"/>
  </p:sldMasterIdLst>
  <p:notesMasterIdLst>
    <p:notesMasterId r:id="rId6"/>
  </p:notesMasterIdLst>
  <p:handoutMasterIdLst>
    <p:handoutMasterId r:id="rId11"/>
  </p:handoutMasterIdLst>
  <p:sldIdLst>
    <p:sldId id="11830700" r:id="rId5"/>
    <p:sldId id="11830701" r:id="rId10"/>
    <p:sldId id="11830702" r:id="rId9"/>
    <p:sldId id="11830703" r:id="rId8"/>
    <p:sldId id="11830704" r:id="rId7"/>
    <p:sldId id="11830705" r:id="rId17"/>
    <p:sldId id="11830706" r:id="rId18"/>
    <p:sldId id="11830707" r:id="rId19"/>
    <p:sldId id="11830708" r:id="rId20"/>
    <p:sldId id="11830709" r:id="rId21"/>
    <p:sldId id="11830710" r:id="rId22"/>
    <p:sldId id="11830711" r:id="rId23"/>
    <p:sldId id="11830712" r:id="rId24"/>
    <p:sldId id="11830713" r:id="rId25"/>
    <p:sldId id="11830714" r:id="rId26"/>
    <p:sldId id="11830715" r:id="rId27"/>
    <p:sldId id="11830716" r:id="rId28"/>
    <p:sldId id="11830717" r:id="rId29"/>
    <p:sldId id="11830718" r:id="rId30"/>
    <p:sldId id="11830719" r:id="rId31"/>
    <p:sldId id="11830720" r:id="rId32"/>
    <p:sldId id="11830721" r:id="rId33"/>
    <p:sldId id="11830722" r:id="rId34"/>
    <p:sldId id="11830723" r:id="rId35"/>
    <p:sldId id="11830724" r:id="rId36"/>
    <p:sldId id="11830725" r:id="rId37"/>
    <p:sldId id="11830726" r:id="rId38"/>
    <p:sldId id="11830727" r:id="rId39"/>
    <p:sldId id="11830728" r:id="rId40"/>
    <p:sldId id="11830729" r:id="rId41"/>
    <p:sldId id="11830730" r:id="rId42"/>
    <p:sldId id="11830731" r:id="rId43"/>
    <p:sldId id="11830732" r:id="rId44"/>
    <p:sldId id="11830733" r:id="rId45"/>
    <p:sldId id="11830734" r:id="rId46"/>
    <p:sldId id="11830735" r:id="rId47"/>
  </p:sldIdLst>
  <p:sldSz cx="12192000" cy="6858000"/>
  <p:notesSz cx="9926320" cy="6797675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1" userDrawn="1">
          <p15:clr>
            <a:srgbClr val="A4A3A4"/>
          </p15:clr>
        </p15:guide>
        <p15:guide id="2" pos="37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han" initials="s" lastIdx="1" clrIdx="0"/>
  <p:cmAuthor id="1" name="Nada" initials="N" lastIdx="4" clrIdx="0"/>
  <p:cmAuthor id="2" name="程 瑜檬" initials="程" lastIdx="1" clrIdx="1"/>
  <p:cmAuthor id="3" name="liudehou" initials="l" lastIdx="2" clrIdx="2"/>
  <p:cmAuthor id="4" name="wangwei" initials="vv" lastIdx="1" clrIdx="3"/>
  <p:cmAuthor id="5" name="zhangxin" initials="z" lastIdx="3" clrIdx="4"/>
  <p:cmAuthor id="6" name="wei long" initials="wl" lastIdx="1" clrIdx="5"/>
  <p:cmAuthor id="7" name="Xiaosu Wang" initials="XW" lastIdx="1" clrIdx="6"/>
  <p:cmAuthor id="1479258870" name="夏先生" initials="夏" lastIdx="1" clrIdx="650"/>
  <p:cmAuthor id="8" name="xiaqianqian@hq.cmcc" initials="xiaqianqian@hq.cmcc" lastIdx="1" clrIdx="7"/>
  <p:cmAuthor id="1479258871" name="niuniu" initials="n" lastIdx="2" clrIdx="1479258870"/>
  <p:cmAuthor id="9" name="smkhan" initials="s" lastIdx="6" clrIdx="5"/>
  <p:cmAuthor id="10" name="李超（IT）" initials="L" lastIdx="1" clrIdx="9"/>
  <p:cmAuthor id="11" name="朱磊" initials="朱" lastIdx="2" clrIdx="10"/>
  <p:cmAuthor id="12" name="CMCC" initials="C" lastIdx="1" clrIdx="11"/>
  <p:cmAuthor id="13" name="罗位国/应用平台研发部/软件开发中心/总行机关/ABC" initials="罗" lastIdx="1" clrIdx="1"/>
  <p:cmAuthor id="14" name="李岩（IT）" initials="李" lastIdx="2" clrIdx="13"/>
  <p:cmAuthor id="15" name="13686" initials="1" lastIdx="1" clrIdx="14"/>
  <p:cmAuthor id="16" name="周辉" initials="周" lastIdx="1" clrIdx="15"/>
  <p:cmAuthor id="17" name="Xinyue Li" initials="X" lastIdx="1" clrIdx="18"/>
  <p:cmAuthor id="18" name="郭雨婷" initials="郭" lastIdx="1" clrIdx="17"/>
  <p:cmAuthor id="19" name="yanhexin" initials="y" lastIdx="1" clrIdx="18"/>
  <p:cmAuthor id="20" name="作者" initials="A" lastIdx="0" clrIdx="20"/>
  <p:cmAuthor id="21" name="Liu Jialin" initials="LJ" lastIdx="1" clrIdx="21"/>
  <p:cmAuthor id="22" name="宋瑞芳" initials="KS" lastIdx="9" clrIdx="22"/>
  <p:cmAuthor id="23" name="Administrator" initials="A" lastIdx="6" clrIdx="23"/>
  <p:cmAuthor id="24" name="张 强" initials="张" lastIdx="1" clrIdx="24"/>
  <p:cmAuthor id="25" name="wyz" initials="w" lastIdx="1" clrIdx="24"/>
  <p:cmAuthor id="26" name="Lee" initials="L" lastIdx="2" clrIdx="25"/>
  <p:cmAuthor id="27" name="王丽（IT）" initials="王" lastIdx="2" clrIdx="26"/>
  <p:cmAuthor id="28" name="zzy" initials="zzy" lastIdx="1" clrIdx="27"/>
  <p:cmAuthor id="29" name="张馨玲" initials="张" lastIdx="1" clrIdx="28"/>
  <p:cmAuthor id="30" name="10056791" initials="ZTE" lastIdx="1" clrIdx="29"/>
  <p:cmAuthor id="31" name="Author" initials="A" lastIdx="0" clrIdx="30"/>
  <p:cmAuthor id="32" name="李楠10047711" initials="李楠10047711" lastIdx="2" clrIdx="31"/>
  <p:cmAuthor id="33" name="10045953" initials="1" lastIdx="1" clrIdx="32"/>
  <p:cmAuthor id="738822927" name="洋仔" initials="洋" lastIdx="1" clrIdx="869"/>
  <p:cmAuthor id="34" name="Y Y" initials="YY" lastIdx="2" clrIdx="33"/>
  <p:cmAuthor id="35" name="HP" initials="H" lastIdx="2" clrIdx="34"/>
  <p:cmAuthor id="36" name="Microsoft 帐户" initials="M帐" lastIdx="6" clrIdx="36"/>
  <p:cmAuthor id="37" name="X13" initials="X" lastIdx="2" clrIdx="36"/>
  <p:cmAuthor id="38" name="赵欣" initials="zx" lastIdx="4" clrIdx="37"/>
  <p:cmAuthor id="39" name="10206899" initials="1" lastIdx="1" clrIdx="38"/>
  <p:cmAuthor id="40" name="10133177" initials="1" lastIdx="1" clrIdx="39"/>
  <p:cmAuthor id="41" name="yaohuijuan " initials="c" lastIdx="3" clrIdx="40"/>
  <p:cmAuthor id="42" name="zhifubao" initials="z" lastIdx="1" clrIdx="41"/>
  <p:cmAuthor id="43" name="Microsoft Office 用户" initials="MO用 [8] [6]" lastIdx="1" clrIdx="42"/>
  <p:cmAuthor id="44" name="User" initials="U" lastIdx="1" clrIdx="43"/>
  <p:cmAuthor id="45" name="未知用户35" initials="未" lastIdx="1" clrIdx="38"/>
  <p:cmAuthor id="46" name="茹志强" initials="U" lastIdx="0" clrIdx="45"/>
  <p:cmAuthor id="47" name="clj" initials="c" lastIdx="1" clrIdx="46"/>
  <p:cmAuthor id="48" name="尹瑶瑶" initials="尹" lastIdx="1" clrIdx="47"/>
  <p:cmAuthor id="248769537" name="刁航宇" initials="刁" lastIdx="1" clrIdx="845"/>
  <p:cmAuthor id="49" name="user" initials="u" lastIdx="2" clrIdx="48"/>
  <p:cmAuthor id="50" name="张卓豫" initials="zzy" lastIdx="1" clrIdx="49"/>
  <p:cmAuthor id="51" name="admin7" initials="l" lastIdx="1" clrIdx="50"/>
  <p:cmAuthor id="52" name="cmsz" initials="c" lastIdx="1" clrIdx="51"/>
  <p:cmAuthor id="53" name="施旻" initials="施" lastIdx="1" clrIdx="52"/>
  <p:cmAuthor id="54" name="zhangyuexin@hq.cmcc" initials="zhangyuexin@hq.cmcc" lastIdx="1" clrIdx="53"/>
  <p:cmAuthor id="55" name="黎丹" initials="黎" lastIdx="2" clrIdx="0"/>
  <p:cmAuthor id="56" name="Cmit" initials="C" lastIdx="1" clrIdx="55"/>
  <p:cmAuthor id="57" name="未知的使用者40" initials="" lastIdx="1" clrIdx="0"/>
  <p:cmAuthor id="58" name="X1" initials="X" lastIdx="1" clrIdx="57"/>
  <p:cmAuthor id="59" name="LZ" initials="Y" lastIdx="1" clrIdx="58"/>
  <p:cmAuthor id="60" name="lunan" initials="l" lastIdx="1" clrIdx="59"/>
  <p:cmAuthor id="61" name="未知的使用者29" initials="" lastIdx="1" clrIdx="0"/>
  <p:cmAuthor id="62" name="liyuting" initials="l" lastIdx="2" clrIdx="61"/>
  <p:cmAuthor id="63" name="未知的使用者98" initials="" lastIdx="1" clrIdx="0"/>
  <p:cmAuthor id="64" name="gengxuan" initials="g" lastIdx="10" clrIdx="63"/>
  <p:cmAuthor id="65" name="匿名用户" initials="匿" lastIdx="1" clrIdx="64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Sky123.Org" initials="" lastIdx="1" clrIdx="0"/>
  <p:cmAuthor id="76" name="陈驹洲" initials="A" lastIdx="1" clrIdx="25"/>
  <p:cmAuthor id="77" name="elfinhsu" initials="" lastIdx="1" clrIdx="0"/>
  <p:cmAuthor id="78" name="何 静" initials="何" lastIdx="1" clrIdx="4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246358619" name="小州Gg" initials="小" lastIdx="1" clrIdx="666"/>
  <p:cmAuthor id="85" name="未知的使用者45" initials="" lastIdx="1" clrIdx="0"/>
  <p:cmAuthor id="163458894" name="13488749431手机用户" initials="1" lastIdx="1" clrIdx="683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233746470" name="大攀" initials="大" lastIdx="1" clrIdx="661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606826857" name="李宁" initials="李" lastIdx="1" clrIdx="651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635724682" name="马宇媛" initials="马" lastIdx="2" clrIdx="478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158809000" name="王旭" initials="王" lastIdx="5" clrIdx="661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183" initials="未知用户183" lastIdx="1" clrIdx="49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Unknown User67" initials="U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焱恺 彭" initials="焱" lastIdx="1" clrIdx="95"/>
  <p:cmAuthor id="212" name="Daniel Wuu" initials="" lastIdx="1" clrIdx="0"/>
  <p:cmAuthor id="213" name="未知用户56" initials="" lastIdx="1" clrIdx="0"/>
  <p:cmAuthor id="214" name="未知的使用者14" initials="" lastIdx="2" clrIdx="0"/>
  <p:cmAuthor id="215" name="未知的使用者140" initials="未" lastIdx="1" clrIdx="1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29" name="guanhh" initials="g" lastIdx="3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376687852" name="初七之月亮" initials="初" lastIdx="1" clrIdx="597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663058477" name="Jason" initials="J" lastIdx="1" clrIdx="357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375845188" name="WPS" initials="W" lastIdx="1" clrIdx="17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32912694" name=" LION" initials=" " lastIdx="1" clrIdx="79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242809661" name="康斯坦尼斯拉夫斯基" initials="康" lastIdx="2" clrIdx="70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10177653" initials="1" lastIdx="1" clrIdx="322"/>
  <p:cmAuthor id="324" name="一个不愿意透露姓名" initials="lasdf" lastIdx="8" clrIdx="323"/>
  <p:cmAuthor id="325" name="86188" initials="8" lastIdx="1" clrIdx="324"/>
  <p:cmAuthor id="326" name="朱雪萍" initials="朱" lastIdx="1" clrIdx="325"/>
  <p:cmAuthor id="327" name="10205805" initials="1" lastIdx="1" clrIdx="326"/>
  <p:cmAuthor id="328" name="xueyan" initials="x" lastIdx="1" clrIdx="327"/>
  <p:cmAuthor id="329" name="ZF" initials="ZF" lastIdx="1" clrIdx="328"/>
  <p:cmAuthor id="330" name="KZY" initials="K" lastIdx="1" clrIdx="329"/>
  <p:cmAuthor id="331" name="WHF" initials="W" lastIdx="0" clrIdx="50"/>
  <p:cmAuthor id="667971135" name="J0" initials="J" lastIdx="1" clrIdx="50"/>
  <p:cmAuthor id="332" name="wangxinran" initials="w" lastIdx="1" clrIdx="331"/>
  <p:cmAuthor id="333" name="huxiaolu" initials="h" lastIdx="1" clrIdx="332"/>
  <p:cmAuthor id="334" name="zhoux" initials="z" lastIdx="1" clrIdx="333"/>
  <p:cmAuthor id="335" name="flower" initials="f" lastIdx="1" clrIdx="334"/>
  <p:cmAuthor id="1167942470" name="咘嘚咘嘚" initials="咘" lastIdx="1" clrIdx="376"/>
  <p:cmAuthor id="336" name="mzj" initials="m" lastIdx="1" clrIdx="335"/>
  <p:cmAuthor id="1167942471" name="WIN10" initials="W" lastIdx="1" clrIdx="1167942470"/>
  <p:cmAuthor id="337" name="hwjjjjjjjj" initials="h" lastIdx="2" clrIdx="336"/>
  <p:cmAuthor id="338" name="thinkin" initials="t" lastIdx="2" clrIdx="337"/>
  <p:cmAuthor id="339" name="黄薇（IT）" initials="l" lastIdx="1" clrIdx="338"/>
  <p:cmAuthor id="340" name="zhoupeng" initials="z" lastIdx="5" clrIdx="339"/>
  <p:cmAuthor id="341" name="Randolph" initials="R" lastIdx="1" clrIdx="340"/>
  <p:cmAuthor id="342" name="yangjianhe1" initials="y" lastIdx="1" clrIdx="341"/>
  <p:cmAuthor id="343" name="wangchangkun@cmhi.cmcc" initials="wangchangkun@cmhi.cmcc" lastIdx="1" clrIdx="342"/>
  <p:cmAuthor id="344" name="tong" initials="t" lastIdx="2" clrIdx="0"/>
  <p:cmAuthor id="345" name="cpic" initials="c" lastIdx="0" clrIdx="0"/>
  <p:cmAuthor id="1603436587" name="Frank" initials="F" lastIdx="1" clrIdx="899"/>
  <p:cmAuthor id="346" name="PC" initials="P" lastIdx="4" clrIdx="0"/>
  <p:cmAuthor id="1603436588" name="张松蕾" initials="C" lastIdx="1" clrIdx="1603436587"/>
  <p:cmAuthor id="347" name="zhangxinyao" initials="z" lastIdx="1" clrIdx="346"/>
  <p:cmAuthor id="348" name="未知的使用者169" initials="未" lastIdx="1" clrIdx="0"/>
  <p:cmAuthor id="349" name="Dizzy" initials="D" lastIdx="3" clrIdx="0"/>
  <p:cmAuthor id="350" name="huawei" initials="h" lastIdx="1" clrIdx="349"/>
  <p:cmAuthor id="351" name="yezengwei" initials="y" lastIdx="2" clrIdx="350"/>
  <p:cmAuthor id="352" name="孙璐璐" initials="孙" lastIdx="1" clrIdx="0"/>
  <p:cmAuthor id="353" name="1003776019@qq.com" initials="1" lastIdx="1" clrIdx="33"/>
  <p:cmAuthor id="354" name="cici" initials="c" lastIdx="1" clrIdx="353"/>
  <p:cmAuthor id="355" name="未知的使用者152" initials="未" lastIdx="1" clrIdx="0"/>
  <p:cmAuthor id="356" name="86134" initials="8" lastIdx="1" clrIdx="355"/>
  <p:cmAuthor id="357" name="方绍波|fangshaobo" initials="方" lastIdx="1" clrIdx="37"/>
  <p:cmAuthor id="359" name="王 金谦" initials="王" lastIdx="2" clrIdx="21"/>
  <p:cmAuthor id="360" name="Mary Beattie" initials="M" lastIdx="11" clrIdx="11"/>
  <p:cmAuthor id="287643681" name="殷格非" initials="殷" lastIdx="2" clrIdx="0"/>
  <p:cmAuthor id="361" name="15090" initials="1" lastIdx="5" clrIdx="360"/>
  <p:cmAuthor id="287643682" name="z r" initials="zr" lastIdx="5" clrIdx="12"/>
  <p:cmAuthor id="362" name="Andrea Michels" initials="A" lastIdx="13" clrIdx="13"/>
  <p:cmAuthor id="287643683" name="石晓利" initials="C" lastIdx="1" clrIdx="13"/>
  <p:cmAuthor id="363" name="admin" initials="a" lastIdx="1" clrIdx="362"/>
  <p:cmAuthor id="287643684" name="ma yanru" initials="my" lastIdx="1" clrIdx="25"/>
  <p:cmAuthor id="364" name="anni" initials="a" lastIdx="1" clrIdx="0"/>
  <p:cmAuthor id="287643685" name="songlinyan" initials="s" lastIdx="2" clrIdx="44"/>
  <p:cmAuthor id="365" name="liuyanxue" initials="l" lastIdx="1" clrIdx="364"/>
  <p:cmAuthor id="287643686" name="YaoChunfen" initials="Y" lastIdx="1" clrIdx="39"/>
  <p:cmAuthor id="366" name="Mark McGregor (HI)" initials="M" lastIdx="33" clrIdx="3"/>
  <p:cmAuthor id="287643687" name="cheng" initials="c" lastIdx="13" clrIdx="0"/>
  <p:cmAuthor id="367" name="59314" initials="5" lastIdx="1" clrIdx="366"/>
  <p:cmAuthor id="287643688" name="方少_UbQfrimU" initials="authorId_442114952" lastIdx="0" clrIdx="0"/>
  <p:cmAuthor id="368" name="赵芬芳" initials="赵" lastIdx="1" clrIdx="367"/>
  <p:cmAuthor id="287643689" name="叶盛_Q3A3IfEf" initials="authorId_506280334" lastIdx="0" clrIdx="0"/>
  <p:cmAuthor id="369" name="wangdaiyuan" initials="w" lastIdx="1" clrIdx="368"/>
  <p:cmAuthor id="287643690" name="Harley._bEJrUJ7r" initials="authorId_432156705" lastIdx="0" clrIdx="0"/>
  <p:cmAuthor id="370" name="YUN Jiayue" initials="Y" lastIdx="9" clrIdx="0"/>
  <p:cmAuthor id="287643691" name="罗平_VB7vJb2E" initials="authorId_305049361" lastIdx="0" clrIdx="0"/>
  <p:cmAuthor id="371" name="Louise Adamson (HI)" initials="L" lastIdx="173" clrIdx="9"/>
  <p:cmAuthor id="287643692" name="xixi_nUjqe22E" initials="authorId_359229261" lastIdx="0" clrIdx="0"/>
  <p:cmAuthor id="372" name="不明使用者2" initials="不" lastIdx="2" clrIdx="0"/>
  <p:cmAuthor id="287643693" name="安安_zm6nYnYZ" initials="authorId_347340296" lastIdx="0" clrIdx="0"/>
  <p:cmAuthor id="373" name="Yoda KK" initials="Y" lastIdx="1" clrIdx="10"/>
  <p:cmAuthor id="287643694" name="nature_emInFJF7" initials="authorId_313163542" lastIdx="0" clrIdx="0"/>
  <p:cmAuthor id="374" name="ZYM" initials="Z" lastIdx="0" clrIdx="18"/>
  <p:cmAuthor id="287643695" name="杨思思_VNjyvY7j" initials="authorId_430925712" lastIdx="0" clrIdx="0"/>
  <p:cmAuthor id="287643696" name="周君_MfIffYra" initials="authorId_375419134" lastIdx="0" clrIdx="0"/>
  <p:cmAuthor id="376" name="zhouyangfan" initials="z" lastIdx="0" clrIdx="0"/>
  <p:cmAuthor id="377" name="HNN" initials="H" lastIdx="1" clrIdx="53"/>
  <p:cmAuthor id="595510092" name="乐燕" initials="乐" lastIdx="1" clrIdx="647"/>
  <p:cmAuthor id="378" name="fengyuan03" initials="f" lastIdx="11" clrIdx="1"/>
  <p:cmAuthor id="379" name="刘国强" initials="刘" lastIdx="1" clrIdx="0"/>
  <p:cmAuthor id="380" name="Melanie Smitt" initials="M" lastIdx="33" clrIdx="12"/>
  <p:cmAuthor id="381" name="miaott" initials="m" lastIdx="0" clrIdx="195"/>
  <p:cmAuthor id="382" name="未知用户132" initials="未" lastIdx="1" clrIdx="0"/>
  <p:cmAuthor id="383" name="未知的使用者194" initials="未" lastIdx="1" clrIdx="0"/>
  <p:cmAuthor id="384" name="xusha" initials="x" lastIdx="1" clrIdx="2"/>
  <p:cmAuthor id="386" name="未知用户137" initials="未" lastIdx="10" clrIdx="0"/>
  <p:cmAuthor id="387" name="王源" initials="王" lastIdx="2" clrIdx="1"/>
  <p:cmAuthor id="388" name="未知用户220" initials="未" lastIdx="1" clrIdx="0"/>
  <p:cmAuthor id="389" name="李 东科" initials="李" lastIdx="1" clrIdx="35"/>
  <p:cmAuthor id="390" name="未知用户199" initials="未" lastIdx="0" clrIdx="1"/>
  <p:cmAuthor id="391" name="未知用户200" initials="未" lastIdx="2" clrIdx="0"/>
  <p:cmAuthor id="392" name="未知用户201" initials="未" lastIdx="11" clrIdx="1"/>
  <p:cmAuthor id="383159678" name="FAN" initials="F" lastIdx="555744" clrIdx="0"/>
  <p:cmAuthor id="393" name="未知用户214" initials="未" lastIdx="1" clrIdx="0"/>
  <p:cmAuthor id="383159679" name="sunaoran" initials="s" lastIdx="2" clrIdx="3"/>
  <p:cmAuthor id="394" name="夜尽迟渊_UrQfrmQZ" initials="夜" lastIdx="0" clrIdx="0"/>
  <p:cmAuthor id="395" name="未知的使用者196" initials="未" lastIdx="1" clrIdx="0"/>
  <p:cmAuthor id="396" name="未知的使用者222" initials="" lastIdx="5" clrIdx="1"/>
  <p:cmAuthor id="397" name="未知用户204" initials="未" lastIdx="1" clrIdx="0"/>
  <p:cmAuthor id="394525608" name="仇怿俊" initials="仇" lastIdx="0" clrIdx="0"/>
  <p:cmAuthor id="394525609" name="王 钰" initials="王" lastIdx="10" clrIdx="25"/>
  <p:cmAuthor id="399" name="未知用户206" initials="未" lastIdx="1" clrIdx="0"/>
  <p:cmAuthor id="394525610" name="罗 罗" initials="罗" lastIdx="1" clrIdx="37"/>
  <p:cmAuthor id="400" name="未知用户207" initials="未" lastIdx="1" clrIdx="0"/>
  <p:cmAuthor id="394525611" name="ShanQiu LH" initials="SL" lastIdx="1" clrIdx="51"/>
  <p:cmAuthor id="401" name="未知用户84" initials="未" lastIdx="1" clrIdx="0"/>
  <p:cmAuthor id="394525612" name="goulei" initials="g" lastIdx="2" clrIdx="41"/>
  <p:cmAuthor id="402" name="未知的使用者217" initials="" lastIdx="1" clrIdx="1"/>
  <p:cmAuthor id="403" name="未知用户210" initials="未" lastIdx="0" clrIdx="0"/>
  <p:cmAuthor id="404" name="未知的使用者219" initials="" lastIdx="8" clrIdx="0"/>
  <p:cmAuthor id="406" name="?定义" initials="?" lastIdx="2" clrIdx="0"/>
  <p:cmAuthor id="407" name="sxp" initials="s" lastIdx="1" clrIdx="2"/>
  <p:cmAuthor id="408" name="allan" initials="a" lastIdx="1" clrIdx="0"/>
  <p:cmAuthor id="409" name="未知的使用者231" initials="" lastIdx="1" clrIdx="0"/>
  <p:cmAuthor id="410" name="未知的使用者232" initials="" lastIdx="8" clrIdx="0"/>
  <p:cmAuthor id="411" name="alpha" initials="a" lastIdx="1" clrIdx="0"/>
  <p:cmAuthor id="412" name="未知的使用者161" initials="未" lastIdx="1" clrIdx="0"/>
  <p:cmAuthor id="413" name="未知的使用者130" initials="" lastIdx="3" clrIdx="0"/>
  <p:cmAuthor id="414" name="Unknown User22" initials="U" lastIdx="1" clrIdx="0"/>
  <p:cmAuthor id="415" name="未知的使用者132" initials="" lastIdx="1" clrIdx="0"/>
  <p:cmAuthor id="416" name="胡益铭" initials="胡" lastIdx="1" clrIdx="339"/>
  <p:cmAuthor id="417" name="Unknown User23" initials="U" lastIdx="1" clrIdx="0"/>
  <p:cmAuthor id="418" name="未知的使用者75" initials="未" lastIdx="1" clrIdx="0"/>
  <p:cmAuthor id="419" name="未知的使用者77" initials="未" lastIdx="1" clrIdx="0"/>
  <p:cmAuthor id="329128248" name="LBB" initials="L" lastIdx="1" clrIdx="665"/>
  <p:cmAuthor id="420" name="未知的使用者78" initials="未" lastIdx="5" clrIdx="1"/>
  <p:cmAuthor id="421" name="未知的使用者239" initials="" lastIdx="43" clrIdx="1"/>
  <p:cmAuthor id="422" name="未知用户186" initials="未" lastIdx="1" clrIdx="0"/>
  <p:cmAuthor id="424" name="未知的使用者206" initials="" lastIdx="1" clrIdx="0"/>
  <p:cmAuthor id="425" name="未知用户63" initials="未" lastIdx="1" clrIdx="0"/>
  <p:cmAuthor id="426" name="未知的使用者102" initials="未" lastIdx="5" clrIdx="1"/>
  <p:cmAuthor id="427" name="未知的使用者61" initials="未" lastIdx="1" clrIdx="0"/>
  <p:cmAuthor id="428" name="仝德志" initials="仝" lastIdx="1" clrIdx="0"/>
  <p:cmAuthor id="429" name="未知用户112" initials="未" lastIdx="4" clrIdx="0"/>
  <p:cmAuthor id="430" name="未知的使用者183" initials="未" lastIdx="5" clrIdx="1"/>
  <p:cmAuthor id="431" name="未知用户162" initials="未" lastIdx="1" clrIdx="1"/>
  <p:cmAuthor id="432" name="未知用户163" initials="未" lastIdx="1" clrIdx="0"/>
  <p:cmAuthor id="433" name="針對所選的門市進行小範圍實驗，捕捉驅動績效的關鍵影響因子" initials="針" lastIdx="1" clrIdx="0"/>
  <p:cmAuthor id="434" name="James" initials="J" lastIdx="1" clrIdx="0"/>
  <p:cmAuthor id="1442009752" name="WPS_1669175722" initials="W" lastIdx="1" clrIdx="299"/>
  <p:cmAuthor id="435" name="未知的使用者114" initials="未" lastIdx="1" clrIdx="0"/>
  <p:cmAuthor id="436" name="未知用户164" initials="未" lastIdx="1" clrIdx="0"/>
  <p:cmAuthor id="437" name="未知的使用者184" initials="未" lastIdx="8" clrIdx="0"/>
  <p:cmAuthor id="579339640" name="半暖时光" initials="半" lastIdx="1" clrIdx="142"/>
  <p:cmAuthor id="438" name="未知的使用者185" initials="未" lastIdx="10" clrIdx="0"/>
  <p:cmAuthor id="757822586" name="杜立旺" initials="杜" lastIdx="1" clrIdx="0"/>
  <p:cmAuthor id="439" name="未知的使用者186" initials="未" lastIdx="1" clrIdx="0"/>
  <p:cmAuthor id="440" name="未知的使用者175" initials="未" lastIdx="8" clrIdx="0"/>
  <p:cmAuthor id="634197509" name="yangsong" initials="y" lastIdx="1" clrIdx="876"/>
  <p:cmAuthor id="441" name="未知的使用者176" initials="未" lastIdx="1" clrIdx="0"/>
  <p:cmAuthor id="442" name="未知的使用者187" initials="未" lastIdx="1" clrIdx="0"/>
  <p:cmAuthor id="443" name="未知的使用者178" initials="未" lastIdx="1" clrIdx="0"/>
  <p:cmAuthor id="444" name="未知的使用者179" initials="未" lastIdx="1" clrIdx="0"/>
  <p:cmAuthor id="445" name="未知的使用者180" initials="未" lastIdx="2" clrIdx="0"/>
  <p:cmAuthor id="446" name="未知的使用者181" initials="未" lastIdx="7" clrIdx="1"/>
  <p:cmAuthor id="447" name="未知的使用者170" initials="未" lastIdx="43" clrIdx="1"/>
  <p:cmAuthor id="448" name="未知的使用者190" initials="未" lastIdx="1" clrIdx="1"/>
  <p:cmAuthor id="449" name="未知的使用者191" initials="未" lastIdx="1" clrIdx="0"/>
  <p:cmAuthor id="450" name="未知的使用者141" initials="未" lastIdx="8" clrIdx="0"/>
  <p:cmAuthor id="451" name="未知的使用者142" initials="未" lastIdx="1" clrIdx="0"/>
  <p:cmAuthor id="452" name="不明使用者6" initials="不" lastIdx="1" clrIdx="0"/>
  <p:cmAuthor id="453" name="未知的使用者143" initials="未" lastIdx="1" clrIdx="0"/>
  <p:cmAuthor id="454" name="王薇（政企）" initials="王" lastIdx="1" clrIdx="57"/>
  <p:cmAuthor id="455" name="未知的使用者144" initials="未" lastIdx="1" clrIdx="0"/>
  <p:cmAuthor id="456" name="未知的使用者145" initials="未" lastIdx="1" clrIdx="0"/>
  <p:cmAuthor id="276434777" name="PENG" initials="P" lastIdx="1" clrIdx="0"/>
  <p:cmAuthor id="457" name="未知用户165" initials="未" lastIdx="1" clrIdx="0"/>
  <p:cmAuthor id="458" name="未知的使用者147" initials="未" lastIdx="1" clrIdx="0"/>
  <p:cmAuthor id="459" name="未知用户166" initials="未" lastIdx="8" clrIdx="0"/>
  <p:cmAuthor id="460" name="未知的使用者149" initials="未" lastIdx="8" clrIdx="0"/>
  <p:cmAuthor id="461" name="未知用户167" initials="未" lastIdx="1" clrIdx="0"/>
  <p:cmAuthor id="462" name="未知用户168" initials="未" lastIdx="1" clrIdx="0"/>
  <p:cmAuthor id="463" name="未知用户169" initials="未" lastIdx="1" clrIdx="1"/>
  <p:cmAuthor id="464" name="未知用户202" initials="未" lastIdx="8" clrIdx="0"/>
  <p:cmAuthor id="465" name="未知的使用者220" initials="未" lastIdx="7" clrIdx="1"/>
  <p:cmAuthor id="466" name="未知用户134" initials="未" lastIdx="10" clrIdx="0"/>
  <p:cmAuthor id="467" name="未知用户135" initials="未" lastIdx="1" clrIdx="0"/>
  <p:cmAuthor id="468" name="未知用户205" initials="未" lastIdx="1" clrIdx="0"/>
  <p:cmAuthor id="469" name="未知的使用者157" initials="未" lastIdx="1" clrIdx="0"/>
  <p:cmAuthor id="470" name="未知的使用者204" initials="未" lastIdx="1" clrIdx="0"/>
  <p:cmAuthor id="471" name="Yoyo Wu" initials="Y" lastIdx="2" clrIdx="0"/>
  <p:cmAuthor id="472" name="zhangbin" initials="z" lastIdx="6" clrIdx="0"/>
  <p:cmAuthor id="473" name="Arno.Du(杜明星)" initials="A" lastIdx="0" clrIdx="0"/>
  <p:cmAuthor id="474" name="未知用户174" initials="未" lastIdx="1" clrIdx="0"/>
  <p:cmAuthor id="475" name="未知用户175" initials="未" lastIdx="1" clrIdx="1"/>
  <p:cmAuthor id="476" name="Unknown User27" initials="U" lastIdx="1" clrIdx="0"/>
  <p:cmAuthor id="477" name="Unknown User11" initials="U" lastIdx="0" clrIdx="1"/>
  <p:cmAuthor id="478" name="Unknown User112" initials="U" lastIdx="1" clrIdx="0"/>
  <p:cmAuthor id="479" name="Unknown User59" initials="U" lastIdx="1" clrIdx="0"/>
  <p:cmAuthor id="480" name="未知用户176" initials="未" lastIdx="1" clrIdx="0"/>
  <p:cmAuthor id="481" name="未知的使用者249" initials="未" lastIdx="43" clrIdx="1"/>
  <p:cmAuthor id="482" name="未知的使用者250" initials="未" lastIdx="1" clrIdx="0"/>
  <p:cmAuthor id="483" name="未知的使用者251" initials="未" lastIdx="1" clrIdx="0"/>
  <p:cmAuthor id="484" name="未知的使用者246" initials="未" lastIdx="1" clrIdx="1"/>
  <p:cmAuthor id="485" name="未知的使用者224" initials="未" lastIdx="1" clrIdx="0"/>
  <p:cmAuthor id="486" name="未知的使用者252" initials="未" lastIdx="1" clrIdx="0"/>
  <p:cmAuthor id="1138208202" name="黄常宇" initials="黄" lastIdx="1" clrIdx="791"/>
  <p:cmAuthor id="487" name="未知的使用者253" initials="未" lastIdx="1" clrIdx="0"/>
  <p:cmAuthor id="488" name="曾蓓/贝贝" initials="曾" lastIdx="0" clrIdx="0"/>
  <p:cmAuthor id="489" name="未知的使用者254" initials="未" lastIdx="1" clrIdx="0"/>
  <p:cmAuthor id="490" name="未知的使用者255" initials="未" lastIdx="1" clrIdx="0"/>
  <p:cmAuthor id="491" name="未知的使用者226" initials="未" lastIdx="8" clrIdx="0"/>
  <p:cmAuthor id="492" name="未知用户195" initials="未" lastIdx="1" clrIdx="0"/>
  <p:cmAuthor id="493" name="raymond luan" initials="r" lastIdx="0" clrIdx="0"/>
  <p:cmAuthor id="494" name="未知用户208" initials="未" lastIdx="1" clrIdx="0"/>
  <p:cmAuthor id="495" name="未知用户198" initials="未" lastIdx="1" clrIdx="0"/>
  <p:cmAuthor id="496" name="未知用户209" initials="未" lastIdx="1" clrIdx="0"/>
  <p:cmAuthor id="217358292" name="依依" initials="依" lastIdx="1" clrIdx="325"/>
  <p:cmAuthor id="497" name="未知用户36" initials="未" lastIdx="1" clrIdx="0"/>
  <p:cmAuthor id="498" name="Evonlin" initials="E" lastIdx="2" clrIdx="2"/>
  <p:cmAuthor id="499" name="WANGZF" initials="W" lastIdx="4" clrIdx="2"/>
  <p:cmAuthor id="500" name="未知用户94" initials="未" lastIdx="0" clrIdx="1"/>
  <p:cmAuthor id="501" name="未知的使用者188" initials="未" lastIdx="1" clrIdx="0"/>
  <p:cmAuthor id="502" name="未知用户118" initials="未" lastIdx="1" clrIdx="0"/>
  <p:cmAuthor id="503" name="未知用户119" initials="未" lastIdx="5" clrIdx="1"/>
  <p:cmAuthor id="504" name="未知用户120" initials="未" lastIdx="8" clrIdx="0"/>
  <p:cmAuthor id="505" name="未知用户121" initials="未" lastIdx="1" clrIdx="0"/>
  <p:cmAuthor id="506" name="未知用户122" initials="未" lastIdx="1" clrIdx="0"/>
  <p:cmAuthor id="507" name="梅芬 吳" initials="梅" lastIdx="1" clrIdx="85"/>
  <p:cmAuthor id="508" name="未知的使用者134" initials="未" lastIdx="1" clrIdx="0"/>
  <p:cmAuthor id="509" name="未知的使用者136" initials="未" lastIdx="1" clrIdx="0"/>
  <p:cmAuthor id="510" name="未知的使用者139" initials="未" lastIdx="1" clrIdx="0"/>
  <p:cmAuthor id="511" name="未知的使用者247" initials="未" lastIdx="6" clrIdx="0"/>
  <p:cmAuthor id="1411827" name="黄晓平" initials="黄" lastIdx="0" clrIdx="0"/>
  <p:cmAuthor id="512" name="Ohayolanda" initials="O" lastIdx="9" clrIdx="511"/>
  <p:cmAuthor id="1411828" name="王 刚" initials="王" lastIdx="1" clrIdx="38"/>
  <p:cmAuthor id="381437688" name="谢学斌" initials="谢" lastIdx="0" clrIdx="0"/>
  <p:cmAuthor id="513" name="未知用户191" initials="未" lastIdx="1" clrIdx="0"/>
  <p:cmAuthor id="1411829" name="张静_Anua7Nne" initials="authorId_935319063" lastIdx="0" clrIdx="0"/>
  <p:cmAuthor id="514" name="41586" initials="4" lastIdx="1" clrIdx="513"/>
  <p:cmAuthor id="1411830" name="唐 赛" initials="唐" lastIdx="1" clrIdx="45"/>
  <p:cmAuthor id="515" name="未知的使用者163" initials="未" lastIdx="1" clrIdx="0"/>
  <p:cmAuthor id="980107324" name="曹劲然" initials="曹" lastIdx="1" clrIdx="19"/>
  <p:cmAuthor id="516" name="未知用户197" initials="未" lastIdx="0" clrIdx="1"/>
  <p:cmAuthor id="517" name="alexw" initials="a" lastIdx="1" clrIdx="516"/>
  <p:cmAuthor id="518" name="未知的使用者158" initials="未" lastIdx="1" clrIdx="0"/>
  <p:cmAuthor id="519" name="未知的使用者148" initials="" lastIdx="8" clrIdx="0"/>
  <p:cmAuthor id="191251535" name="沈霄雷" initials="沈" lastIdx="833089" clrIdx="0"/>
  <p:cmAuthor id="520" name="Well Li" initials="W" lastIdx="1" clrIdx="0"/>
  <p:cmAuthor id="191251536" name="SF" initials="S" lastIdx="6" clrIdx="11"/>
  <p:cmAuthor id="521" name="任俊宣" initials="任" lastIdx="1" clrIdx="6"/>
  <p:cmAuthor id="191251537" name="sammi" initials="s" lastIdx="0" clrIdx="12"/>
  <p:cmAuthor id="522" name="未知用户269" initials="未" lastIdx="2" clrIdx="0"/>
  <p:cmAuthor id="191251538" name="渠沛" initials="渠" lastIdx="1" clrIdx="35"/>
  <p:cmAuthor id="523" name="未知用户189" initials="未" lastIdx="1" clrIdx="0"/>
  <p:cmAuthor id="191251539" name="席琛" initials="" lastIdx="0" clrIdx="58"/>
  <p:cmAuthor id="524" name="未知用户250" initials="未" lastIdx="0" clrIdx="0"/>
  <p:cmAuthor id="191251540" name="韩剑侠" initials="P" lastIdx="1" clrIdx="41"/>
  <p:cmAuthor id="525" name="未知用户272" initials="未" lastIdx="10" clrIdx="0"/>
  <p:cmAuthor id="191251541" name="sjzx" initials="s" lastIdx="1" clrIdx="25"/>
  <p:cmAuthor id="526" name="张婷婷" initials="c" lastIdx="1" clrIdx="525"/>
  <p:cmAuthor id="191251542" name="yang.yuan" initials="y" lastIdx="0" clrIdx="17"/>
  <p:cmAuthor id="527" name="不明使用者7" initials="不" lastIdx="7" clrIdx="1"/>
  <p:cmAuthor id="191251543" name="王娟" initials="1" lastIdx="1" clrIdx="31"/>
  <p:cmAuthor id="528" name="cs" initials="x" lastIdx="3" clrIdx="527"/>
  <p:cmAuthor id="529" name="孟令坤" initials="MLK" lastIdx="9" clrIdx="528"/>
  <p:cmAuthor id="530" name="未知用户139" initials="未" lastIdx="2" clrIdx="0"/>
  <p:cmAuthor id="531" name="myl" initials="m" lastIdx="4" clrIdx="530"/>
  <p:cmAuthor id="532" name="未知的使用者200" initials="未" lastIdx="1" clrIdx="0"/>
  <p:cmAuthor id="533" name="未知的使用者257" initials="未" lastIdx="1" clrIdx="0"/>
  <p:cmAuthor id="534" name="未知的使用者171" initials="未" lastIdx="3" clrIdx="1"/>
  <p:cmAuthor id="536" name="未知用户140" initials="未" lastIdx="0" clrIdx="1"/>
  <p:cmAuthor id="537" name="未知的使用者240" initials="未" lastIdx="1" clrIdx="0"/>
  <p:cmAuthor id="538" name="未知的使用者241" initials="未" lastIdx="1" clrIdx="0"/>
  <p:cmAuthor id="539" name="未知的使用者242" initials="未" lastIdx="2" clrIdx="0"/>
  <p:cmAuthor id="540" name="未知的使用者243" initials="未" lastIdx="1" clrIdx="0"/>
  <p:cmAuthor id="541" name="未知的使用者258" initials="未" lastIdx="8" clrIdx="0"/>
  <p:cmAuthor id="542" name="未知的使用者259" initials="未" lastIdx="1" clrIdx="0"/>
  <p:cmAuthor id="708433798" name="jialuo" initials="j" lastIdx="0" clrIdx="0"/>
  <p:cmAuthor id="543" name="未知的使用者260" initials="未" lastIdx="1" clrIdx="0"/>
  <p:cmAuthor id="708433799" name="haoxiaoxue" initials="h" lastIdx="6" clrIdx="708433798"/>
  <p:cmAuthor id="544" name="未知的使用者261" initials="未" lastIdx="11" clrIdx="0"/>
  <p:cmAuthor id="708433800" name="曼 王" initials="曼王" lastIdx="1" clrIdx="191251538"/>
  <p:cmAuthor id="545" name="未知的使用者262" initials="未" lastIdx="7" clrIdx="1"/>
  <p:cmAuthor id="708433801" name="刘晓富" initials="User" lastIdx="1" clrIdx="708433800"/>
  <p:cmAuthor id="546" name="未知的使用者263" initials="未" lastIdx="1" clrIdx="2"/>
  <p:cmAuthor id="547" name="未知的使用者264" initials="未" lastIdx="1" clrIdx="0"/>
  <p:cmAuthor id="548" name="未知的使用者265" initials="未" lastIdx="1" clrIdx="0"/>
  <p:cmAuthor id="549" name="未知的使用者266" initials="未" lastIdx="1" clrIdx="1"/>
  <p:cmAuthor id="550" name="未知的使用者267" initials="未" lastIdx="1" clrIdx="0"/>
  <p:cmAuthor id="551" name="未知的使用者268" initials="未" lastIdx="2" clrIdx="0"/>
  <p:cmAuthor id="552" name="未知的使用者269" initials="未" lastIdx="7" clrIdx="1"/>
  <p:cmAuthor id="553" name="刘晖" initials="刘" lastIdx="1" clrIdx="0"/>
  <p:cmAuthor id="554" name="piccotina" initials="p" lastIdx="1" clrIdx="553"/>
  <p:cmAuthor id="555" name="lillian" initials="l" lastIdx="1" clrIdx="0"/>
  <p:cmAuthor id="556" name="未知用户146" initials="未" lastIdx="5" clrIdx="1"/>
  <p:cmAuthor id="557" name="未知用户157" initials="未" lastIdx="8" clrIdx="0"/>
  <p:cmAuthor id="558" name="未知用户158" initials="未" lastIdx="2" clrIdx="0"/>
  <p:cmAuthor id="559" name="未知用户159" initials="未" lastIdx="1" clrIdx="0"/>
  <p:cmAuthor id="475196944" name="姚琳" initials="姚" lastIdx="1133934" clrIdx="0"/>
  <p:cmAuthor id="560" name="未知用户160" initials="未" lastIdx="2" clrIdx="0"/>
  <p:cmAuthor id="475196945" name="chen" initials="c" lastIdx="1" clrIdx="2"/>
  <p:cmAuthor id="561" name="未知的使用者211" initials="未" lastIdx="1" clrIdx="0"/>
  <p:cmAuthor id="562" name="順天" initials="順" lastIdx="1" clrIdx="0"/>
  <p:cmAuthor id="563" name=" " initials="" lastIdx="6" clrIdx="85"/>
  <p:cmAuthor id="564" name="未知用户319" initials="未" lastIdx="1" clrIdx="0"/>
  <p:cmAuthor id="565" name="未知用户222" initials="未" lastIdx="1" clrIdx="0"/>
  <p:cmAuthor id="566" name="未知用户87" initials="未" lastIdx="1" clrIdx="0"/>
  <p:cmAuthor id="977340790" name="Mmm" initials="M" lastIdx="3" clrIdx="853"/>
  <p:cmAuthor id="567" name="未知用户88" initials="未" lastIdx="1" clrIdx="0"/>
  <p:cmAuthor id="568" name="未知用户325" initials="未" lastIdx="2" clrIdx="0"/>
  <p:cmAuthor id="569" name="未知用户211" initials="未" lastIdx="8" clrIdx="0"/>
  <p:cmAuthor id="570" name="未知用户110" initials="未" lastIdx="1" clrIdx="0"/>
  <p:cmAuthor id="571" name="未知用户293" initials="未" lastIdx="1" clrIdx="0"/>
  <p:cmAuthor id="572" name="未知用户234" initials="未" lastIdx="7" clrIdx="1"/>
  <p:cmAuthor id="573" name="未知用户294" initials="未" lastIdx="1" clrIdx="1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302" initials="未" lastIdx="1" clrIdx="1"/>
  <p:cmAuthor id="582" name="未知用户303" initials="未" lastIdx="1" clrIdx="0"/>
  <p:cmAuthor id="583" name="78234500@qq.com" initials="7" lastIdx="1" clrIdx="0"/>
  <p:cmAuthor id="584" name="未知用户203" initials="未" lastIdx="1" clrIdx="1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184" initials="未" lastIdx="1" clrIdx="1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6" name="Microsoft Office User" initials="M" lastIdx="2" clrIdx="86"/>
  <p:cmAuthor id="597" name="未知用户256" initials="未" lastIdx="1" clrIdx="0"/>
  <p:cmAuthor id="598" name="未知用户257" initials="未" lastIdx="1" clrIdx="0"/>
  <p:cmAuthor id="599" name="未知用户258" initials="未" lastIdx="8" clrIdx="0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未知用户262" initials="未" lastIdx="1" clrIdx="0"/>
  <p:cmAuthor id="604" name="未知用户274" initials="未" lastIdx="1" clrIdx="0"/>
  <p:cmAuthor id="605" name="yudi lin" initials="y" lastIdx="0" clrIdx="0"/>
  <p:cmAuthor id="606" name="未知用户249" initials="未" lastIdx="1" clrIdx="0"/>
  <p:cmAuthor id="664583236" name="sunqi" initials="s" lastIdx="3" clrIdx="643"/>
  <p:cmAuthor id="607" name="liuzga" initials="l" lastIdx="1" clrIdx="3"/>
  <p:cmAuthor id="258699233" name="永月墨夜" initials="永" lastIdx="1" clrIdx="790"/>
  <p:cmAuthor id="608" name="49554261@qq.com" initials="4" lastIdx="2" clrIdx="2"/>
  <p:cmAuthor id="609" name="未知用户230" initials="未" lastIdx="1" clrIdx="0"/>
  <p:cmAuthor id="610" name="未知用户241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未知用户246" initials="未" lastIdx="1" clrIdx="1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4" name="未知用户255" initials="未" lastIdx="1" clrIdx="0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1" name="未知用户276" initials="未" lastIdx="2" clrIdx="0"/>
  <p:cmAuthor id="632" name="未知用户263" initials="未" lastIdx="2" clrIdx="0"/>
  <p:cmAuthor id="633" name="Carol Kelly" initials="C" lastIdx="1" clrIdx="0"/>
  <p:cmAuthor id="634" name="未知的使用者155" initials="未" lastIdx="1" clrIdx="0"/>
  <p:cmAuthor id="635" name="未知用户266" initials="未" lastIdx="1" clrIdx="1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未知用户358" initials="未" lastIdx="1" clrIdx="0"/>
  <p:cmAuthor id="644" name="未知用户359" initials="未" lastIdx="1" clrIdx="0"/>
  <p:cmAuthor id="645" name="未知用户360" initials="未" lastIdx="10" clrIdx="0"/>
  <p:cmAuthor id="646" name="未知用户361" initials="未" lastIdx="1" clrIdx="0"/>
  <p:cmAuthor id="647" name="未知用户364" initials="未" lastIdx="2" clrIdx="0"/>
  <p:cmAuthor id="648" name="Heyhx" initials="H" lastIdx="1" clrIdx="647"/>
  <p:cmAuthor id="649" name="不明使用者4" initials="不" lastIdx="1" clrIdx="0"/>
  <p:cmAuthor id="650" name="未知用户298" initials="未" lastIdx="1" clrIdx="1"/>
  <p:cmAuthor id="651" name="未知用户307" initials="未" lastIdx="7" clrIdx="0"/>
  <p:cmAuthor id="652" name="未知用户296" initials="未" lastIdx="1" clrIdx="0"/>
  <p:cmAuthor id="653" name="未知用户315" initials="未" lastIdx="1" clrIdx="0"/>
  <p:cmAuthor id="654" name="未知用户317" initials="未" lastIdx="0" clrIdx="0"/>
  <p:cmAuthor id="655" name="未知用户329" initials="未" lastIdx="9" clrIdx="0"/>
  <p:cmAuthor id="1070834129" name="赵永成" initials="赵" lastIdx="1" clrIdx="717"/>
  <p:cmAuthor id="656" name="未知用户333" initials="未" lastIdx="1" clrIdx="0"/>
  <p:cmAuthor id="1070834130" name="16640" initials="1" lastIdx="1" clrIdx="1070834129"/>
  <p:cmAuthor id="657" name="Carol Wu" initials="C" lastIdx="1" clrIdx="0"/>
  <p:cmAuthor id="445693934" name="袖盈嘉茉" initials="袖" lastIdx="2" clrIdx="677"/>
  <p:cmAuthor id="658" name="Think" initials="T" lastIdx="6" clrIdx="3"/>
  <p:cmAuthor id="659" name="未知用户341" initials="未" lastIdx="1" clrIdx="0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yangxy" initials="y" lastIdx="1" clrIdx="88"/>
  <p:cmAuthor id="667" name="未知用户311" initials="未" lastIdx="2" clrIdx="0"/>
  <p:cmAuthor id="668" name="未知用户312" initials="未" lastIdx="1" clrIdx="0"/>
  <p:cmAuthor id="669" name="未知用户402" initials="未" lastIdx="1" clrIdx="0"/>
  <p:cmAuthor id="670" name="未知用户314" initials="未" lastIdx="1" clrIdx="1"/>
  <p:cmAuthor id="671" name="晓  曲" initials="晓" lastIdx="1" clrIdx="0"/>
  <p:cmAuthor id="672" name="未知用户405" initials="未" lastIdx="2" clrIdx="0"/>
  <p:cmAuthor id="673" name="未知用户216" initials="未" lastIdx="1" clrIdx="0"/>
  <p:cmAuthor id="674" name="孟连磊" initials="孟" lastIdx="1" clrIdx="0"/>
  <p:cmAuthor id="675" name="未知用户384" initials="未" lastIdx="1" clrIdx="1"/>
  <p:cmAuthor id="676" name="未知的使用者177" initials="未" lastIdx="8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59281454" name="西赆南琛" initials="西" lastIdx="1" clrIdx="52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未知用户425" initials="未" lastIdx="1" clrIdx="0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1425050821" name="ccc" initials="c" lastIdx="1" clrIdx="596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未知用户326" initials="未" lastIdx="1" clrIdx="0"/>
  <p:cmAuthor id="728" name="未知用户365" initials="未" lastIdx="1" clrIdx="0"/>
  <p:cmAuthor id="729" name="zcy" initials="z" lastIdx="1" clrIdx="728"/>
  <p:cmAuthor id="730" name="未知用户366" initials="未" lastIdx="3" clrIdx="1"/>
  <p:cmAuthor id="731" name="崔艳鹏" initials="崔" lastIdx="1" clrIdx="730"/>
  <p:cmAuthor id="732" name="未知用户367" initials="未" lastIdx="10" clrIdx="0"/>
  <p:cmAuthor id="733" name="DELL" initials="D" lastIdx="1" clrIdx="732"/>
  <p:cmAuthor id="735" name="未知用户368" initials="未" lastIdx="1" clrIdx="0"/>
  <p:cmAuthor id="737" name="HZS00" initials="H" lastIdx="2" clrIdx="454"/>
  <p:cmAuthor id="738" name="8613250766486" initials="8" lastIdx="2" clrIdx="729"/>
  <p:cmAuthor id="739" name="丁喆彤" initials="丁" lastIdx="1" clrIdx="0"/>
  <p:cmAuthor id="741" name="yeqq06" initials="y" lastIdx="1" clrIdx="740"/>
  <p:cmAuthor id="742" name="张辉" initials="张" lastIdx="2" clrIdx="741"/>
  <p:cmAuthor id="743" name="hainan zheng" initials="h" lastIdx="1" clrIdx="0"/>
  <p:cmAuthor id="29922660" name="杨强" initials="杨" lastIdx="0" clrIdx="0"/>
  <p:cmAuthor id="744" name="gayxb" initials="g" lastIdx="1" clrIdx="743"/>
  <p:cmAuthor id="29922661" name="檀晟 陈" initials="檀晟" lastIdx="1" clrIdx="10"/>
  <p:cmAuthor id="745" name="lish54" initials="l" lastIdx="2" clrIdx="744"/>
  <p:cmAuthor id="746" name="百里 长青" initials="百" lastIdx="1" clrIdx="0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3" name="未知用户192" initials="未" lastIdx="1" clrIdx="0"/>
  <p:cmAuthor id="754" name="未知用户379" initials="未" lastIdx="1" clrIdx="0"/>
  <p:cmAuthor id="755" name="未知用户418" initials="未" lastIdx="1" clrIdx="0"/>
  <p:cmAuthor id="756" name="未知用户271" initials="未" lastIdx="1" clrIdx="0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sizx" initials="s" lastIdx="2" clrIdx="759"/>
  <p:cmAuthor id="761" name="雨林木风" initials="雨" lastIdx="14" clrIdx="1"/>
  <p:cmAuthor id="762" name="未知用户385" initials="未" lastIdx="2" clrIdx="0"/>
  <p:cmAuthor id="763" name="池依曼" initials="池" lastIdx="2" clrIdx="72"/>
  <p:cmAuthor id="766" name="未知用户231" initials="未" lastIdx="1" clrIdx="0"/>
  <p:cmAuthor id="767" name="未知用户232" initials="未" lastIdx="1" clrIdx="0"/>
  <p:cmAuthor id="769" name="未知用户226" initials="未" lastIdx="1" clrIdx="0"/>
  <p:cmAuthor id="770" name="亚运 曹" initials="亚" lastIdx="3" clrIdx="2"/>
  <p:cmAuthor id="771" name="lp" initials="l" lastIdx="1" clrIdx="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441412215" name="tonghailan" initials="t" lastIdx="1126972" clrIdx="1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4" name="未知用户215" initials="未" lastIdx="0" clrIdx="0"/>
  <p:cmAuthor id="785" name="未知用户217" initials="未" lastIdx="0" clrIdx="0"/>
  <p:cmAuthor id="786" name="未知用户261" initials="未" lastIdx="0" clrIdx="0"/>
  <p:cmAuthor id="787" name="未知用户371" initials="未" lastIdx="1" clrIdx="0"/>
  <p:cmAuthor id="788" name="未知用户370" initials="未" lastIdx="1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1602690108" name="WPS_1716908770" initials="W" lastIdx="1" clrIdx="696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193636283" name="吴开云" initials="吴" lastIdx="23" clrIdx="60"/>
  <p:cmAuthor id="809" name="未知用户377" initials="未" lastIdx="1" clrIdx="0"/>
  <p:cmAuthor id="810" name="未知用户372" initials="未" lastIdx="1" clrIdx="1"/>
  <p:cmAuthor id="811" name="Xzjd" initials="X" lastIdx="2" clrIdx="0"/>
  <p:cmAuthor id="582921801" name="于浣" initials="于" lastIdx="1" clrIdx="673"/>
  <p:cmAuthor id="813" name="未知用户451" initials="未" lastIdx="1" clrIdx="0"/>
  <p:cmAuthor id="814" name="未知用户466" initials="未" lastIdx="3" clrIdx="0"/>
  <p:cmAuthor id="245516636" name="李进进" initials="李" lastIdx="2" clrIdx="653"/>
  <p:cmAuthor id="815" name="未知用户460" initials="未" lastIdx="1" clrIdx="0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772993842" name="时光" initials="时" lastIdx="1" clrIdx="718"/>
  <p:cmAuthor id="691587970" name="小延魔法师" initials="小" lastIdx="1126286" clrIdx="0"/>
  <p:cmAuthor id="669470575" name="黄炜" initials="黄" lastIdx="1" clrIdx="629"/>
  <p:cmAuthor id="823" name="未知用户463" initials="未" lastIdx="1" clrIdx="18"/>
  <p:cmAuthor id="691587971" name="震" initials="震" lastIdx="1" clrIdx="51"/>
  <p:cmAuthor id="824" name="未知用户467" initials="未" lastIdx="0" clrIdx="0"/>
  <p:cmAuthor id="691587972" name="NTKO" initials="H" lastIdx="2" clrIdx="45"/>
  <p:cmAuthor id="825" name="未知用户468" initials="未" lastIdx="1" clrIdx="0"/>
  <p:cmAuthor id="691587973" name="Tianchi Yao" initials="TY" lastIdx="31" clrIdx="72"/>
  <p:cmAuthor id="826" name="未知用户469" initials="未" lastIdx="1" clrIdx="0"/>
  <p:cmAuthor id="691587974" name="秀雪 贾" initials="秀贾" lastIdx="1" clrIdx="330"/>
  <p:cmAuthor id="827" name="未知用户458" initials="未" lastIdx="2" clrIdx="0"/>
  <p:cmAuthor id="691587975" name="xiaoming chang" initials="xc" lastIdx="1" clrIdx="331"/>
  <p:cmAuthor id="828" name="未知用户470" initials="未" lastIdx="1" clrIdx="0"/>
  <p:cmAuthor id="691587976" name="梁光灯_iI7bJ7vm" initials="authorId_510858482" lastIdx="0" clrIdx="0"/>
  <p:cmAuthor id="829" name="未知用户471" initials="未" lastIdx="1" clrIdx="0"/>
  <p:cmAuthor id="691587977" name="AI" initials="A" lastIdx="0" clrIdx="518"/>
  <p:cmAuthor id="1499042558" name="WPS_1686010660" initials="W" lastIdx="16" clrIdx="412"/>
  <p:cmAuthor id="830" name="未知用户472" initials="未" lastIdx="1" clrIdx="0"/>
  <p:cmAuthor id="691587978" name="罗平_QfY3MnyU" initials="authorId_1512265542" lastIdx="0" clrIdx="0"/>
  <p:cmAuthor id="831" name="未知用户473" initials="未" lastIdx="4" clrIdx="0"/>
  <p:cmAuthor id="691587979" name="虞新颖_36fmV3QV" initials="authorId_321496044" lastIdx="0" clrIdx="0"/>
  <p:cmAuthor id="832" name="zhaojunjie" initials="z" lastIdx="1" clrIdx="831"/>
  <p:cmAuthor id="691587980" name="鲁琪_ayIzYrYZ" initials="authorId_602698507" lastIdx="0" clrIdx="0"/>
  <p:cmAuthor id="833" name="未知用户453" initials="未" lastIdx="1" clrIdx="0"/>
  <p:cmAuthor id="691587981" name="黄百成_m6Jjq6bQ" initials="authorId_901868002" lastIdx="0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李 富岩" initials="李" lastIdx="3" clrIdx="10"/>
  <p:cmAuthor id="837" name="未知用户459" initials="未" lastIdx="1" clrIdx="1"/>
  <p:cmAuthor id="49837070" name="伟哥" initials="伟哥" lastIdx="1" clrIdx="138"/>
  <p:cmAuthor id="838" name="未知用户489" initials="未" lastIdx="1" clrIdx="0"/>
  <p:cmAuthor id="49837071" name="YY" initials="Y" lastIdx="1" clrIdx="176"/>
  <p:cmAuthor id="839" name="未知用户488" initials="未" lastIdx="10" clrIdx="0"/>
  <p:cmAuthor id="49837072" name="朗 月" initials="朗" lastIdx="3" clrIdx="208"/>
  <p:cmAuthor id="840" name="未知用户490" initials="未" lastIdx="1" clrIdx="0"/>
  <p:cmAuthor id="49837073" name="sk" initials="s" lastIdx="1" clrIdx="735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未知用户259" initials="未" lastIdx="1" clrIdx="0"/>
  <p:cmAuthor id="857" name="XIAN" initials="X" lastIdx="1" clrIdx="856"/>
  <p:cmAuthor id="858" name="weilizz" initials="weilizz" lastIdx="1" clrIdx="857"/>
  <p:cmAuthor id="859" name="shanshuyao@sd.cmcc" initials="shanshuyao@sd.cmcc" lastIdx="1" clrIdx="858"/>
  <p:cmAuthor id="860" name="huangweijing" initials="h" lastIdx="1" clrIdx="859"/>
  <p:cmAuthor id="861" name="seki" initials="s" lastIdx="1" clrIdx="0"/>
  <p:cmAuthor id="862" name="guoshasha@hq.cmcc" initials="guoshasha" lastIdx="1" clrIdx="861"/>
  <p:cmAuthor id="864" name="未知用户270" initials="未" lastIdx="1" clrIdx="0"/>
  <p:cmAuthor id="866" name="USER631805" initials="U" lastIdx="1" clrIdx="865"/>
  <p:cmAuthor id="867" name="zhangbai" initials="z" lastIdx="1" clrIdx="866"/>
  <p:cmAuthor id="868" name="俊呈 賴" initials="俊" lastIdx="1" clrIdx="87"/>
  <p:cmAuthor id="869" name="姜香利" initials="姜" lastIdx="1" clrIdx="868"/>
  <p:cmAuthor id="900121273" name="wink" initials="w" lastIdx="1" clrIdx="702"/>
  <p:cmAuthor id="871" name="Nero" initials="N" lastIdx="2" clrIdx="0"/>
  <p:cmAuthor id="872" name="yifan song" initials="y" lastIdx="1" clrIdx="85"/>
  <p:cmAuthor id="873" name="00332340" initials="0" lastIdx="1" clrIdx="872"/>
  <p:cmAuthor id="874" name="00260515" initials="HRP" lastIdx="1" clrIdx="873"/>
  <p:cmAuthor id="876" name="莊安君" initials="莊" lastIdx="1" clrIdx="65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张因然10112423" initials="1" lastIdx="1" clrIdx="885"/>
  <p:cmAuthor id="887" name="陈依依" initials="陈" lastIdx="7" clrIdx="0"/>
  <p:cmAuthor id="888" name="未知用户242" initials="未" lastIdx="3" clrIdx="0"/>
  <p:cmAuthor id="889" name="10024885" initials="1" lastIdx="2" clrIdx="888"/>
  <p:cmAuthor id="890" name="未知用户227" initials="未" lastIdx="1" clrIdx="0"/>
  <p:cmAuthor id="892" name="未知用户299" initials="未" lastIdx="1" clrIdx="0"/>
  <p:cmAuthor id="893" name="10181267" initials="1" lastIdx="2" clrIdx="892"/>
  <p:cmAuthor id="895" name="10009993" initials="1" lastIdx="1" clrIdx="894"/>
  <p:cmAuthor id="896" name="10161768" initials="1" lastIdx="1" clrIdx="895"/>
  <p:cmAuthor id="897" name="10023731" initials="1" lastIdx="1" clrIdx="896"/>
  <p:cmAuthor id="898" name="許詩婕" initials="許" lastIdx="1" clrIdx="1"/>
  <p:cmAuthor id="899" name="jinpengcheng" initials="j" lastIdx="1" clrIdx="898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903" name="赵 璐" initials="赵" lastIdx="4" clrIdx="0"/>
  <p:cmAuthor id="47245819" name="群智集" initials="群" lastIdx="0" clrIdx="0"/>
  <p:cmAuthor id="47245820" name="郏 鹏" initials="郏" lastIdx="1" clrIdx="16"/>
  <p:cmAuthor id="904" name="Zhu, Hawk" initials="Z" lastIdx="1" clrIdx="0"/>
  <p:cmAuthor id="47245821" name="郏鹏" initials="M" lastIdx="1" clrIdx="17"/>
  <p:cmAuthor id="905" name="tanjp" initials="t" lastIdx="0" clrIdx="491"/>
  <p:cmAuthor id="47245822" name="ma jialin" initials="mj" lastIdx="1" clrIdx="41"/>
  <p:cmAuthor id="906" name="YS" initials="Y" lastIdx="1" clrIdx="86"/>
  <p:cmAuthor id="907" name="q1521" initials="q" lastIdx="2" clrIdx="906"/>
  <p:cmAuthor id="47245823" name="刘海娜|liuhaina" initials="W用" lastIdx="1" clrIdx="36"/>
  <p:cmAuthor id="47245824" name="goforever814" initials="g" lastIdx="1" clrIdx="34"/>
  <p:cmAuthor id="908" name="10285279" initials="1" lastIdx="1" clrIdx="907"/>
  <p:cmAuthor id="909" name="10036782" initials="1" lastIdx="3" clrIdx="908"/>
  <p:cmAuthor id="910" name="Jdi" initials="J" lastIdx="0" clrIdx="0"/>
  <p:cmAuthor id="453232749" name="番茄^_^" initials="番" lastIdx="1" clrIdx="66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666509453" name="许愿池的~" initials="许" lastIdx="1" clrIdx="851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5" name="董艺萱00344473" initials="董艺萱003444" lastIdx="11" clrIdx="924"/>
  <p:cmAuthor id="926" name="Rex" initials="R" lastIdx="0" clrIdx="0"/>
  <p:cmAuthor id="927" name="张晓燕(内蒙古巴彦淖尔)" initials="张" lastIdx="1" clrIdx="0"/>
  <p:cmAuthor id="928" name="10270505" initials="1" lastIdx="1" clrIdx="927"/>
  <p:cmAuthor id="929" name="10145512" initials="1" lastIdx="1" clrIdx="928"/>
  <p:cmAuthor id="931" name="00025099" initials="0" lastIdx="1" clrIdx="930"/>
  <p:cmAuthor id="932" name="10225041" initials="1" lastIdx="1" clrIdx="931"/>
  <p:cmAuthor id="934" name="00242950" initials="0" lastIdx="2" clrIdx="933"/>
  <p:cmAuthor id="937" name="Evander Wan" initials="E" lastIdx="7" clrIdx="1"/>
  <p:cmAuthor id="938" name="10129659" initials="1" lastIdx="1" clrIdx="937"/>
  <p:cmAuthor id="940" name="10033218" initials="1" lastIdx="1" clrIdx="939"/>
  <p:cmAuthor id="942" name="10096786" initials="1" lastIdx="1" clrIdx="941"/>
  <p:cmAuthor id="943" name="bing" initials="b" lastIdx="2" clrIdx="0"/>
  <p:cmAuthor id="944" name="hh" initials="h" lastIdx="1" clrIdx="0"/>
  <p:cmAuthor id="948" name="Hope0187" initials="H" lastIdx="1" clrIdx="6"/>
  <p:cmAuthor id="949" name="daiyi06" initials="d" lastIdx="0" clrIdx="2"/>
  <p:cmAuthor id="951" name="James Conard" initials="J" lastIdx="3" clrIdx="0"/>
  <p:cmAuthor id="953" name="10078316" initials="1" lastIdx="1" clrIdx="952"/>
  <p:cmAuthor id="957" name="Cpic" initials="C" lastIdx="0" clrIdx="0"/>
  <p:cmAuthor id="1124247354" name="Tea" initials="T" lastIdx="1" clrIdx="611"/>
  <p:cmAuthor id="1124247355" name="储贤民" initials="储" lastIdx="1" clrIdx="1124247354"/>
  <p:cmAuthor id="960" name="刘 念" initials="刘" lastIdx="2" clrIdx="35"/>
  <p:cmAuthor id="961" name="Wangzhi gang" initials="W" lastIdx="1" clrIdx="0"/>
  <p:cmAuthor id="1047661357" name="微笑" initials="微" lastIdx="1" clrIdx="885"/>
  <p:cmAuthor id="966" name="李柯然" initials="李" lastIdx="1" clrIdx="0"/>
  <p:cmAuthor id="967" name="LENOVO" initials="L" lastIdx="1" clrIdx="0"/>
  <p:cmAuthor id="969" name="王玉" initials="王" lastIdx="1" clrIdx="0"/>
  <p:cmAuthor id="314841400" name="小迷糊" initials="小" lastIdx="16" clrIdx="931"/>
  <p:cmAuthor id="970" name="Ming Zuo" initials="M" lastIdx="1" clrIdx="0"/>
  <p:cmAuthor id="974" name="dreamsummit" initials="d" lastIdx="1" clrIdx="0"/>
  <p:cmAuthor id="975" name="张 博" initials="张" lastIdx="1" clrIdx="0"/>
  <p:cmAuthor id="976" name="LS" initials="L" lastIdx="1" clrIdx="0"/>
  <p:cmAuthor id="977" name="McGlasson, Louise" initials="M" lastIdx="6" clrIdx="0"/>
  <p:cmAuthor id="978" name="Morgan, Aaron" initials="M" lastIdx="3" clrIdx="1"/>
  <p:cmAuthor id="979" name="weige" initials="w" lastIdx="2" clrIdx="0"/>
  <p:cmAuthor id="2000" name="shye_EbMrZnMJ" initials="authorId_858303361" lastIdx="0" clrIdx="0"/>
  <p:cmAuthor id="981" name="李 俊琦" initials="李" lastIdx="1" clrIdx="0"/>
  <p:cmAuthor id="2001" name="王伟栋_ymIjy2uI" initials="authorId_1008746-10055544" lastIdx="0" clrIdx="0"/>
  <p:cmAuthor id="982" name="沈 鹤" initials="沈" lastIdx="1" clrIdx="5"/>
  <p:cmAuthor id="2002" name="金宇峰_BfyebuM3" initials="authorId_1008746-10054633" lastIdx="0" clrIdx="0"/>
  <p:cmAuthor id="983" name="jilin" initials="j" lastIdx="20" clrIdx="0"/>
  <p:cmAuthor id="2003" name="xuting@sn.cmcc" initials="A" lastIdx="1" clrIdx="40"/>
  <p:cmAuthor id="984" name="王保青-pah" initials="王" lastIdx="0" clrIdx="0"/>
  <p:cmAuthor id="2004" name="范 斌" initials="范" lastIdx="1" clrIdx="36"/>
  <p:cmAuthor id="2005" name="毕邺" initials="党委办公室" lastIdx="2" clrIdx="37"/>
  <p:cmAuthor id="986" name="Jason Li" initials="J" lastIdx="1" clrIdx="2"/>
  <p:cmAuthor id="2006" name="jiaru tiger" initials="jt" lastIdx="2" clrIdx="38"/>
  <p:cmAuthor id="987" name="duxingge" initials="d" lastIdx="2" clrIdx="4"/>
  <p:cmAuthor id="989" name="yingchao xi" initials="y" lastIdx="7" clrIdx="0"/>
  <p:cmAuthor id="990" name="depeng diao" initials="d" lastIdx="0" clrIdx="0"/>
  <p:cmAuthor id="991" name="amyzhang" initials="a" lastIdx="1" clrIdx="0"/>
  <p:cmAuthor id="210492765" name="施普希（菜菜）" initials="施" lastIdx="0" clrIdx="0"/>
  <p:cmAuthor id="992" name="JerryW" initials="J" lastIdx="1" clrIdx="0"/>
  <p:cmAuthor id="210492766" name="曹 朝辉" initials="曹" lastIdx="1" clrIdx="14"/>
  <p:cmAuthor id="993" name="shenyy" initials="s" lastIdx="1" clrIdx="7"/>
  <p:cmAuthor id="210492767" name="李 嘉" initials="李" lastIdx="1" clrIdx="26"/>
  <p:cmAuthor id="994" name="Jason Cheung" initials="J" lastIdx="0" clrIdx="0"/>
  <p:cmAuthor id="210492768" name="gus9@chinaunicom.cn" initials="g" lastIdx="4" clrIdx="27"/>
  <p:cmAuthor id="995" name="刘笑" initials="刘" lastIdx="1" clrIdx="0"/>
  <p:cmAuthor id="316842742" name="月亮是我啃弯的" initials="月" lastIdx="1" clrIdx="868"/>
  <p:cmAuthor id="997" name="Maggie" initials="M" lastIdx="1" clrIdx="0"/>
  <p:cmAuthor id="1006" name="UOS" initials="U" lastIdx="1" clrIdx="10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4EE9E"/>
    <a:srgbClr val="FFFFFF"/>
    <a:srgbClr val="C00000"/>
    <a:srgbClr val="7FCAFF"/>
    <a:srgbClr val="FFBFBF"/>
    <a:srgbClr val="36A2FD"/>
    <a:srgbClr val="DAE3F5"/>
    <a:srgbClr val="1185D1"/>
    <a:srgbClr val="BF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1" autoAdjust="0"/>
    <p:restoredTop sz="95775" autoAdjust="0"/>
  </p:normalViewPr>
  <p:slideViewPr>
    <p:cSldViewPr snapToGrid="0" showGuides="1">
      <p:cViewPr varScale="1">
        <p:scale>
          <a:sx n="59" d="100"/>
          <a:sy n="59" d="100"/>
        </p:scale>
        <p:origin x="1040" y="44"/>
      </p:cViewPr>
      <p:guideLst>
        <p:guide orient="horz" pos="461"/>
        <p:guide pos="3732"/>
      </p:guideLst>
    </p:cSldViewPr>
  </p:slideViewPr>
  <p:outlineViewPr>
    <p:cViewPr>
      <p:scale>
        <a:sx n="33" d="100"/>
        <a:sy n="33" d="100"/>
      </p:scale>
      <p:origin x="0" y="11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574"/>
    </p:cViewPr>
  </p:sorterViewPr>
  <p:notesViewPr>
    <p:cSldViewPr snapToGrid="0">
      <p:cViewPr varScale="1">
        <p:scale>
          <a:sx n="161" d="100"/>
          <a:sy n="161" d="100"/>
        </p:scale>
        <p:origin x="1518" y="114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Relationship Id="rId16" Type="http://schemas.openxmlformats.org/officeDocument/2006/relationships/tags" Target="tags/tag11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3C980-73A7-4EC2-8B1B-2501B1D2EE2D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50566-5B21-4FA4-8538-653488BA594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1B899BE-4AAA-4981-B30A-BC95BCFDE7FC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3ED9B55-FA85-4F48-95B5-29DAAE83F6DA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ED9B55-FA85-4F48-95B5-29DAAE83F6D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microsoft.com/office/2007/relationships/hdphoto" Target="../media/image8.wdp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image11.wdp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microsoft.com/office/2007/relationships/hdphoto" Target="../media/image15.wdp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microsoft.com/office/2007/relationships/hdphoto" Target="../media/image8.wdp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6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7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9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0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themeOverride" Target="../theme/themeOverride1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正文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6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 userDrawn="1"/>
        </p:nvSpPr>
        <p:spPr>
          <a:xfrm>
            <a:off x="11744326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9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14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3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2"/>
            <a:ext cx="10515600" cy="87788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89"/>
            <a:ext cx="10515600" cy="39444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  <p:sp>
        <p:nvSpPr>
          <p:cNvPr id="23" name="文本框 2"/>
          <p:cNvSpPr txBox="1">
            <a:spLocks noChangeArrowheads="1"/>
          </p:cNvSpPr>
          <p:nvPr userDrawn="1"/>
        </p:nvSpPr>
        <p:spPr bwMode="auto">
          <a:xfrm>
            <a:off x="319295" y="255735"/>
            <a:ext cx="1857396" cy="523220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2800" b="0" i="0" kern="1200" dirty="0">
                <a:ln>
                  <a:noFill/>
                </a:ln>
                <a:solidFill>
                  <a:schemeClr val="accent5"/>
                </a:solidFill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核心商密</a:t>
            </a:r>
            <a:endParaRPr lang="zh-CN" altLang="en-US" sz="1800" b="0" i="0" dirty="0">
              <a:ln>
                <a:noFill/>
              </a:ln>
              <a:solidFill>
                <a:schemeClr val="accent5"/>
              </a:solidFill>
              <a:effectLst/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7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11806239" y="6611780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A8CB47-5F18-3A4B-AD3A-422A03DFB5D1}" type="slidenum">
              <a:rPr kumimoji="1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CC12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</a:fld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8CC12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15939" y="6576618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文档中的全部内容属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中国移动</a:t>
            </a:r>
            <a:r>
              <a:rPr kumimoji="0" lang="zh-CN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6C7C6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C6C7C6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2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68960" y="5873115"/>
            <a:ext cx="1287780" cy="80899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744324" y="6481877"/>
            <a:ext cx="447675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100" b="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b="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111251"/>
            <a:ext cx="1852076" cy="1389056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11744327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/>
          <a:lstStyle/>
          <a:p>
            <a:fld id="{A50ECBEB-8597-4EA4-9D29-E1D7025CFAA0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8811127" y="128913"/>
            <a:ext cx="3240000" cy="1080000"/>
            <a:chOff x="322377" y="128913"/>
            <a:chExt cx="3227035" cy="1067978"/>
          </a:xfrm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3" name="矩形 12"/>
          <p:cNvSpPr/>
          <p:nvPr userDrawn="1"/>
        </p:nvSpPr>
        <p:spPr>
          <a:xfrm>
            <a:off x="10917618" y="65640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6096" y="296516"/>
            <a:ext cx="9703754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chemeClr val="accent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568960" y="5873115"/>
            <a:ext cx="1287780" cy="808990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0073221" y="-79719"/>
            <a:ext cx="1852076" cy="1389056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1228388" y="6576616"/>
            <a:ext cx="447675" cy="246221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>
              <a:lnSpc>
                <a:spcPct val="100000"/>
              </a:lnSpc>
              <a:buClrTx/>
              <a:buSzTx/>
              <a:buFontTx/>
            </a:pPr>
            <a:fld id="{FDA8CB47-5F18-3A4B-AD3A-422A03DFB5D1}" type="slidenum">
              <a:rPr kumimoji="1" lang="zh-CN" altLang="en-US" sz="1000" b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000" b="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文档中的全部内容属</a:t>
            </a:r>
            <a:r>
              <a:rPr lang="zh-CN" altLang="en-US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中国移动</a:t>
            </a:r>
            <a:r>
              <a:rPr lang="zh-CN" altLang="zh-CN" sz="1000" b="0" i="0" dirty="0">
                <a:solidFill>
                  <a:schemeClr val="accent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 rotWithShape="1">
          <a:blip r:embed="rId2" cstate="print"/>
          <a:srcRect l="1" t="571" r="1" b="90654"/>
          <a:stretch>
            <a:fillRect/>
          </a:stretch>
        </p:blipFill>
        <p:spPr>
          <a:xfrm>
            <a:off x="-39082" y="-113793"/>
            <a:ext cx="12231082" cy="81135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22" y="6608391"/>
            <a:ext cx="527381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440" b="1" smtClean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440" b="1" dirty="0">
              <a:solidFill>
                <a:schemeClr val="accent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28" y="53251"/>
            <a:ext cx="10972800" cy="562074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143937" y="836620"/>
            <a:ext cx="11904133" cy="5772150"/>
          </a:xfrm>
          <a:prstGeom prst="rect">
            <a:avLst/>
          </a:prstGeom>
        </p:spPr>
        <p:txBody>
          <a:bodyPr/>
          <a:lstStyle>
            <a:lvl1pPr>
              <a:defRPr sz="288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16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92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92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背景图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>
            <a:alphaModFix amt="27000"/>
          </a:blip>
          <a:srcRect b="1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315940" y="291113"/>
            <a:ext cx="423862" cy="390525"/>
            <a:chOff x="596878" y="345451"/>
            <a:chExt cx="409756" cy="388510"/>
          </a:xfrm>
        </p:grpSpPr>
        <p:sp>
          <p:nvSpPr>
            <p:cNvPr id="4" name="矩形 3"/>
            <p:cNvSpPr/>
            <p:nvPr/>
          </p:nvSpPr>
          <p:spPr>
            <a:xfrm>
              <a:off x="596878" y="345451"/>
              <a:ext cx="339748" cy="339748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778012" y="505339"/>
              <a:ext cx="228622" cy="2286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0" i="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</p:grpSp>
      <p:cxnSp>
        <p:nvCxnSpPr>
          <p:cNvPr id="6" name="直接连接符 7"/>
          <p:cNvCxnSpPr/>
          <p:nvPr userDrawn="1"/>
        </p:nvCxnSpPr>
        <p:spPr>
          <a:xfrm>
            <a:off x="315940" y="753656"/>
            <a:ext cx="11576023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0"/>
            <a:ext cx="12192000" cy="6607788"/>
            <a:chOff x="0" y="0"/>
            <a:chExt cx="9144000" cy="6607788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585"/>
            <a:stretch>
              <a:fillRect/>
            </a:stretch>
          </p:blipFill>
          <p:spPr>
            <a:xfrm>
              <a:off x="0" y="0"/>
              <a:ext cx="6688672" cy="6564808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contrast="40000"/>
                      </a14:imgEffect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52" r="2147"/>
            <a:stretch>
              <a:fillRect/>
            </a:stretch>
          </p:blipFill>
          <p:spPr>
            <a:xfrm>
              <a:off x="2086881" y="0"/>
              <a:ext cx="7057119" cy="6607788"/>
            </a:xfrm>
            <a:prstGeom prst="rect">
              <a:avLst/>
            </a:prstGeom>
          </p:spPr>
        </p:pic>
      </p:grp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58839" y="1319842"/>
            <a:ext cx="8074325" cy="45570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57265" y="65305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fld id="{989A68CE-9FA7-456D-BE34-4C018B9CB8B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716" y="-357084"/>
            <a:ext cx="2469435" cy="13890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05" y="5872815"/>
            <a:ext cx="1437696" cy="808704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-5053" y="630673"/>
            <a:ext cx="12204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矩形 6"/>
          <p:cNvSpPr>
            <a:spLocks noChangeArrowheads="1"/>
          </p:cNvSpPr>
          <p:nvPr/>
        </p:nvSpPr>
        <p:spPr bwMode="auto">
          <a:xfrm>
            <a:off x="0" y="-26988"/>
            <a:ext cx="12192000" cy="720726"/>
          </a:xfrm>
          <a:prstGeom prst="rect">
            <a:avLst/>
          </a:prstGeom>
          <a:solidFill>
            <a:schemeClr val="bg1">
              <a:alpha val="90195"/>
            </a:schemeClr>
          </a:solidFill>
          <a:ln>
            <a:noFill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6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3" name="TextBox 7"/>
          <p:cNvSpPr txBox="1">
            <a:spLocks noChangeArrowheads="1"/>
          </p:cNvSpPr>
          <p:nvPr/>
        </p:nvSpPr>
        <p:spPr bwMode="auto">
          <a:xfrm>
            <a:off x="11376025" y="6608763"/>
            <a:ext cx="81597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E10F842-0956-4739-BC80-F67E5D2C3D5A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4" name="TextBox 8"/>
          <p:cNvSpPr txBox="1">
            <a:spLocks noChangeArrowheads="1"/>
          </p:cNvSpPr>
          <p:nvPr/>
        </p:nvSpPr>
        <p:spPr bwMode="auto">
          <a:xfrm>
            <a:off x="11664950" y="660876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26D0C329-FF67-4329-9AF9-B747613C83C3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5" name="TextBox 7"/>
          <p:cNvSpPr txBox="1">
            <a:spLocks noChangeArrowheads="1"/>
          </p:cNvSpPr>
          <p:nvPr/>
        </p:nvSpPr>
        <p:spPr bwMode="auto">
          <a:xfrm>
            <a:off x="11376025" y="6608763"/>
            <a:ext cx="815975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5C0894F-4437-4144-9F9E-5C7526465D66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6" name="TextBox 8"/>
          <p:cNvSpPr txBox="1">
            <a:spLocks noChangeArrowheads="1"/>
          </p:cNvSpPr>
          <p:nvPr/>
        </p:nvSpPr>
        <p:spPr bwMode="auto">
          <a:xfrm>
            <a:off x="11664950" y="6608763"/>
            <a:ext cx="52705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EDD762C9-2B64-4FEA-9438-FD2135A496F7}" type="slidenum">
              <a:rPr lang="zh-CN" altLang="en-US" sz="1200" b="1">
                <a:solidFill>
                  <a:srgbClr val="9BBB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200" b="1">
              <a:solidFill>
                <a:srgbClr val="9BBB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17"/>
          <p:cNvGrpSpPr/>
          <p:nvPr userDrawn="1"/>
        </p:nvGrpSpPr>
        <p:grpSpPr bwMode="auto">
          <a:xfrm>
            <a:off x="153988" y="155575"/>
            <a:ext cx="214312" cy="355600"/>
            <a:chOff x="135264" y="145660"/>
            <a:chExt cx="214104" cy="356616"/>
          </a:xfrm>
        </p:grpSpPr>
        <p:sp>
          <p:nvSpPr>
            <p:cNvPr id="1048587" name="矩形 18"/>
            <p:cNvSpPr>
              <a:spLocks noChangeArrowheads="1"/>
            </p:cNvSpPr>
            <p:nvPr/>
          </p:nvSpPr>
          <p:spPr bwMode="auto">
            <a:xfrm>
              <a:off x="135264" y="145660"/>
              <a:ext cx="144322" cy="356616"/>
            </a:xfrm>
            <a:prstGeom prst="rect">
              <a:avLst/>
            </a:prstGeom>
            <a:solidFill>
              <a:srgbClr val="0086D4"/>
            </a:solidFill>
            <a:ln>
              <a:noFill/>
            </a:ln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8588" name="矩形 9"/>
            <p:cNvSpPr/>
            <p:nvPr/>
          </p:nvSpPr>
          <p:spPr>
            <a:xfrm>
              <a:off x="278000" y="145660"/>
              <a:ext cx="71368" cy="356616"/>
            </a:xfrm>
            <a:prstGeom prst="rect">
              <a:avLst/>
            </a:prstGeom>
            <a:solidFill>
              <a:schemeClr val="accent4"/>
            </a:solidFill>
          </p:spPr>
          <p:txBody>
            <a:bodyPr anchor="ctr">
              <a:spAutoFit/>
            </a:bodyPr>
            <a:lstStyle/>
            <a:p>
              <a:pPr algn="ctr"/>
              <a:endPara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097155" name="图片 15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0523855" y="231775"/>
            <a:ext cx="1082040" cy="338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9" name="标题 1"/>
          <p:cNvSpPr>
            <a:spLocks noGrp="1"/>
          </p:cNvSpPr>
          <p:nvPr>
            <p:ph type="title"/>
          </p:nvPr>
        </p:nvSpPr>
        <p:spPr>
          <a:xfrm>
            <a:off x="484632" y="145660"/>
            <a:ext cx="8997696" cy="42473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 lang="zh-CN" altLang="en-US" sz="2400" b="1" kern="1200" noProof="1">
                <a:solidFill>
                  <a:srgbClr val="0088D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48590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A4247E-E51F-4273-8422-59BDDF452AB2}" type="datetimeFigureOut">
              <a:rPr lang="zh-CN" altLang="en-US"/>
            </a:fld>
            <a:endParaRPr lang="zh-CN" altLang="en-US"/>
          </a:p>
        </p:txBody>
      </p:sp>
      <p:sp>
        <p:nvSpPr>
          <p:cNvPr id="1048591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59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dirty="0"/>
            </a:lvl1pPr>
          </a:lstStyle>
          <a:p>
            <a:fld id="{2489DD49-A598-40D5-99F4-79C073B909A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1997544"/>
            <a:ext cx="10515600" cy="839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0B85C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 err="1"/>
              <a:t>单击此处输入正标题</a:t>
            </a:r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8929156" y="40648"/>
            <a:ext cx="3227035" cy="1067978"/>
            <a:chOff x="322377" y="128913"/>
            <a:chExt cx="3227035" cy="1067978"/>
          </a:xfrm>
        </p:grpSpPr>
        <p:pic>
          <p:nvPicPr>
            <p:cNvPr id="3" name="图片 2"/>
            <p:cNvPicPr>
              <a:picLocks noChangeAspect="1"/>
            </p:cNvPicPr>
            <p:nvPr userDrawn="1"/>
          </p:nvPicPr>
          <p:blipFill rotWithShape="1">
            <a:blip r:embed="rId4" cstate="print"/>
            <a:srcRect t="22265" b="22265"/>
            <a:stretch>
              <a:fillRect/>
            </a:stretch>
          </p:blipFill>
          <p:spPr>
            <a:xfrm>
              <a:off x="322377" y="278431"/>
              <a:ext cx="2207678" cy="918460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2264108" y="128913"/>
              <a:ext cx="1285304" cy="963978"/>
            </a:xfrm>
            <a:prstGeom prst="rect">
              <a:avLst/>
            </a:prstGeom>
          </p:spPr>
        </p:pic>
      </p:grpSp>
      <p:sp>
        <p:nvSpPr>
          <p:cNvPr id="18" name="文本占位符 17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952361"/>
            <a:ext cx="10515600" cy="877887"/>
          </a:xfrm>
        </p:spPr>
        <p:txBody>
          <a:bodyPr anchor="ctr">
            <a:no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单击此处输入副标题</a:t>
            </a:r>
            <a:endParaRPr kumimoji="1" lang="zh-CN" altLang="en-US" dirty="0"/>
          </a:p>
        </p:txBody>
      </p:sp>
      <p:sp>
        <p:nvSpPr>
          <p:cNvPr id="21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267200"/>
            <a:ext cx="10515600" cy="55813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单击此处输入汇报部门 汇报人</a:t>
            </a:r>
            <a:endParaRPr kumimoji="1" lang="zh-CN" altLang="en-US" dirty="0"/>
          </a:p>
        </p:txBody>
      </p:sp>
      <p:sp>
        <p:nvSpPr>
          <p:cNvPr id="22" name="文本占位符 17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4930588"/>
            <a:ext cx="10515600" cy="394447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3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单击此处输入汇报日期：</a:t>
            </a:r>
            <a:r>
              <a:rPr kumimoji="1" lang="en-US" altLang="zh-CN" dirty="0"/>
              <a:t>YYYY-MM-DD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073222" y="-111251"/>
            <a:ext cx="1852076" cy="1389056"/>
          </a:xfrm>
          <a:prstGeom prst="rect">
            <a:avLst/>
          </a:prstGeom>
        </p:spPr>
      </p:pic>
      <p:sp>
        <p:nvSpPr>
          <p:cNvPr id="5" name="TextBox 3"/>
          <p:cNvSpPr txBox="1"/>
          <p:nvPr userDrawn="1"/>
        </p:nvSpPr>
        <p:spPr>
          <a:xfrm>
            <a:off x="11744326" y="6481877"/>
            <a:ext cx="447676" cy="37612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fld id="{FDA8CB47-5F18-3A4B-AD3A-422A03DFB5D1}" type="slidenum">
              <a:rPr kumimoji="1" lang="zh-CN" altLang="en-US" sz="1100" smtClean="0">
                <a:solidFill>
                  <a:srgbClr val="8FC31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fld>
            <a:endParaRPr kumimoji="1" lang="zh-CN" altLang="en-US" sz="1100" dirty="0">
              <a:solidFill>
                <a:srgbClr val="8FC31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面_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736013"/>
            <a:ext cx="673100" cy="312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/>
          <p:nvPr userDrawn="1"/>
        </p:nvCxnSpPr>
        <p:spPr>
          <a:xfrm>
            <a:off x="479425" y="5135563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LogoBlu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tIns="2232000" bIns="45720" rtlCol="0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3408000"/>
            <a:ext cx="11520000" cy="960000"/>
          </a:xfrm>
        </p:spPr>
        <p:txBody>
          <a:bodyPr lIns="90000" tIns="0" rIns="0" bIns="0">
            <a:normAutofit/>
          </a:bodyPr>
          <a:lstStyle>
            <a:lvl1pPr>
              <a:defRPr sz="48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4464000"/>
            <a:ext cx="11520000" cy="576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marR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904000"/>
            <a:ext cx="5761568" cy="384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472000"/>
            <a:ext cx="11520000" cy="384000"/>
          </a:xfr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面_单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" y="8736013"/>
            <a:ext cx="673100" cy="312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6"/>
          <p:cNvCxnSpPr/>
          <p:nvPr userDrawn="1"/>
        </p:nvCxnSpPr>
        <p:spPr>
          <a:xfrm>
            <a:off x="479425" y="5135563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LogoBlue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 tIns="2232000" bIns="45720" rtlCol="0">
            <a:normAutofit/>
          </a:bodyPr>
          <a:lstStyle>
            <a:lvl1pPr algn="ctr">
              <a:defRPr sz="1865">
                <a:solidFill>
                  <a:schemeClr val="bg2">
                    <a:alpha val="20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单击图标添加图片</a:t>
            </a:r>
            <a:endParaRPr lang="zh-CN" altLang="en-US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3984000"/>
            <a:ext cx="11520000" cy="960000"/>
          </a:xfrm>
        </p:spPr>
        <p:txBody>
          <a:bodyPr lIns="90000" tIns="0" rIns="0" bIns="0" rtlCol="0">
            <a:normAutofit/>
          </a:bodyPr>
          <a:lstStyle>
            <a:lvl1pPr>
              <a:defRPr lang="zh-CN" altLang="en-US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j-lt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34432" y="7274989"/>
            <a:ext cx="11520000" cy="576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marR="0" indent="0" algn="l" defTabSz="913765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60000"/>
              <a:buFont typeface="Wingdings" panose="05000000000000000000" pitchFamily="2" charset="2"/>
              <a:buNone/>
              <a:defRPr sz="3200">
                <a:solidFill>
                  <a:srgbClr val="E6E6E6"/>
                </a:solidFill>
                <a:effectLst/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334432" y="5904000"/>
            <a:ext cx="5761568" cy="384000"/>
          </a:xfrm>
          <a:prstGeom prst="rect">
            <a:avLst/>
          </a:prstGeo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5472000"/>
            <a:ext cx="11520000" cy="384000"/>
          </a:xfrm>
        </p:spPr>
        <p:txBody>
          <a:bodyPr lIns="108000" rIns="0">
            <a:normAutofit/>
          </a:bodyPr>
          <a:lstStyle>
            <a:lvl1pPr marL="0" indent="0">
              <a:lnSpc>
                <a:spcPct val="100000"/>
              </a:lnSpc>
              <a:buNone/>
              <a:defRPr lang="zh-CN" altLang="en-US" sz="16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+mn-lt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4" name="页脚占位符 7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7"/>
          <p:cNvGrpSpPr/>
          <p:nvPr userDrawn="1"/>
        </p:nvGrpSpPr>
        <p:grpSpPr bwMode="auto">
          <a:xfrm>
            <a:off x="0" y="20638"/>
            <a:ext cx="12192000" cy="6858000"/>
            <a:chOff x="0" y="15742"/>
            <a:chExt cx="9144000" cy="5143503"/>
          </a:xfrm>
        </p:grpSpPr>
        <p:pic>
          <p:nvPicPr>
            <p:cNvPr id="5" name="图片 78" descr="图片包含 游戏机&#10;&#10;描述已自动生成" hidden="1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18681"/>
            <a:stretch>
              <a:fillRect/>
            </a:stretch>
          </p:blipFill>
          <p:spPr bwMode="auto">
            <a:xfrm>
              <a:off x="0" y="15742"/>
              <a:ext cx="9144000" cy="5127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图片 80" descr="图片包含 游戏机&#10;&#10;描述已自动生成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20543"/>
            <a:stretch>
              <a:fillRect/>
            </a:stretch>
          </p:blipFill>
          <p:spPr bwMode="auto">
            <a:xfrm>
              <a:off x="0" y="15745"/>
              <a:ext cx="9144000" cy="5143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sz="2400" noProof="1"/>
          </a:p>
        </p:txBody>
      </p:sp>
      <p:pic>
        <p:nvPicPr>
          <p:cNvPr id="8" name="图片 1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3624263"/>
            <a:ext cx="8158163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文本占位符 3"/>
          <p:cNvSpPr>
            <a:spLocks noGrp="1"/>
          </p:cNvSpPr>
          <p:nvPr>
            <p:ph type="body" sz="quarter" idx="11" hasCustomPrompt="1"/>
          </p:nvPr>
        </p:nvSpPr>
        <p:spPr>
          <a:xfrm>
            <a:off x="525767" y="1488000"/>
            <a:ext cx="10945284" cy="480000"/>
          </a:xfrm>
          <a:prstGeom prst="rect">
            <a:avLst/>
          </a:prstGeom>
        </p:spPr>
        <p:txBody>
          <a:bodyPr lIns="54000" rIns="0"/>
          <a:lstStyle>
            <a:lvl1pPr marL="0" indent="0">
              <a:buNone/>
              <a:defRPr lang="zh-CN" altLang="en-US" b="0" i="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3" name="Title 2"/>
          <p:cNvSpPr>
            <a:spLocks noGrp="1"/>
          </p:cNvSpPr>
          <p:nvPr>
            <p:ph type="ctrTitle"/>
          </p:nvPr>
        </p:nvSpPr>
        <p:spPr bwMode="auto">
          <a:xfrm>
            <a:off x="527051" y="548680"/>
            <a:ext cx="10944000" cy="864000"/>
          </a:xfrm>
        </p:spPr>
        <p:txBody>
          <a:bodyPr lIns="0" tIns="0" rIns="0" bIns="0" anchor="t">
            <a:noAutofit/>
          </a:bodyPr>
          <a:lstStyle>
            <a:lvl1pPr marL="48260">
              <a:lnSpc>
                <a:spcPct val="100000"/>
              </a:lnSpc>
              <a:defRPr kumimoji="1" lang="en-US" altLang="en-US" sz="5335" b="0" i="0" kern="1200" dirty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.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479425" y="5349875"/>
            <a:ext cx="72072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 userDrawn="1"/>
        </p:nvSpPr>
        <p:spPr>
          <a:xfrm>
            <a:off x="334963" y="5684838"/>
            <a:ext cx="11520487" cy="384175"/>
          </a:xfrm>
          <a:prstGeom prst="rect">
            <a:avLst/>
          </a:prstGeom>
        </p:spPr>
        <p:txBody>
          <a:bodyPr lIns="144000" tIns="0" rIns="0" bIns="0">
            <a:normAutofit/>
          </a:bodyPr>
          <a:lstStyle>
            <a:lvl1pPr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17970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35877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56070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719455" defTabSz="68389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11766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16338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20910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2548255" defTabSz="6838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ts val="750"/>
              </a:spcBef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noProof="1"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亚信科技依托产品、服务、运营、集成能力助力企业数字化，持续创造新价值。</a:t>
            </a:r>
            <a:endParaRPr lang="zh-CN" altLang="en-US" noProof="1">
              <a:effectLst>
                <a:outerShdw blurRad="38100" dist="38100" dir="2700000" algn="tl">
                  <a:srgbClr val="000000"/>
                </a:outerShdw>
              </a:effectLst>
              <a:cs typeface="Arial" panose="020B0604020202020204" pitchFamily="34" charset="0"/>
            </a:endParaRPr>
          </a:p>
        </p:txBody>
      </p:sp>
      <p:pic>
        <p:nvPicPr>
          <p:cNvPr id="5" name="LogoBlue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9629775"/>
            <a:ext cx="479425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LogoWhite" descr="图片包含 游戏机, 画, 盘子&#10;&#10;描述已自动生成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063" y="384175"/>
            <a:ext cx="221297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35360" y="4272000"/>
            <a:ext cx="11520000" cy="960000"/>
          </a:xfrm>
        </p:spPr>
        <p:txBody>
          <a:bodyPr tIns="0" rIns="0" bIns="0">
            <a:normAutofit fontScale="92500"/>
          </a:bodyPr>
          <a:lstStyle>
            <a:lvl1pPr>
              <a:defRPr lang="en-US" altLang="zh-CN" sz="6400" dirty="0">
                <a:effectLst>
                  <a:outerShdw blurRad="254000" dist="127000" algn="ctr" rotWithShape="0">
                    <a:prstClr val="black">
                      <a:alpha val="50000"/>
                    </a:prst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en-US" altLang="zh-CN" noProof="1"/>
          </a:p>
        </p:txBody>
      </p:sp>
      <p:sp>
        <p:nvSpPr>
          <p:cNvPr id="7" name="页脚占位符 7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rgbClr val="89C6E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11"/>
          <p:cNvGrpSpPr/>
          <p:nvPr userDrawn="1"/>
        </p:nvGrpSpPr>
        <p:grpSpPr bwMode="auto">
          <a:xfrm>
            <a:off x="2879725" y="1508125"/>
            <a:ext cx="8640763" cy="4287838"/>
            <a:chOff x="2160000" y="1203598"/>
            <a:chExt cx="6480000" cy="3215804"/>
          </a:xfrm>
        </p:grpSpPr>
        <p:cxnSp>
          <p:nvCxnSpPr>
            <p:cNvPr id="7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1"/>
            <p:cNvCxnSpPr/>
            <p:nvPr userDrawn="1"/>
          </p:nvCxnSpPr>
          <p:spPr>
            <a:xfrm>
              <a:off x="2160000" y="166316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2"/>
            <p:cNvCxnSpPr/>
            <p:nvPr userDrawn="1"/>
          </p:nvCxnSpPr>
          <p:spPr>
            <a:xfrm>
              <a:off x="2160000" y="212273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3"/>
            <p:cNvCxnSpPr/>
            <p:nvPr userDrawn="1"/>
          </p:nvCxnSpPr>
          <p:spPr>
            <a:xfrm>
              <a:off x="2160000" y="258231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4"/>
            <p:cNvCxnSpPr/>
            <p:nvPr userDrawn="1"/>
          </p:nvCxnSpPr>
          <p:spPr>
            <a:xfrm>
              <a:off x="2160000" y="304069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5"/>
            <p:cNvCxnSpPr/>
            <p:nvPr userDrawn="1"/>
          </p:nvCxnSpPr>
          <p:spPr>
            <a:xfrm>
              <a:off x="2160000" y="350026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6"/>
            <p:cNvCxnSpPr/>
            <p:nvPr userDrawn="1"/>
          </p:nvCxnSpPr>
          <p:spPr>
            <a:xfrm>
              <a:off x="2160000" y="395983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7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E4C64D6-6D4E-284B-A576-B262C8CF29B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8行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81FCA39-FDDE-D54E-B620-DFE13285EC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目录_2栏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9"/>
          <p:cNvCxnSpPr/>
          <p:nvPr/>
        </p:nvCxnSpPr>
        <p:spPr>
          <a:xfrm>
            <a:off x="2784475" y="275748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0"/>
          <p:cNvCxnSpPr/>
          <p:nvPr userDrawn="1"/>
        </p:nvCxnSpPr>
        <p:spPr>
          <a:xfrm>
            <a:off x="2784475" y="321310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1"/>
          <p:cNvCxnSpPr/>
          <p:nvPr userDrawn="1"/>
        </p:nvCxnSpPr>
        <p:spPr>
          <a:xfrm>
            <a:off x="2784475" y="366871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12"/>
          <p:cNvCxnSpPr/>
          <p:nvPr userDrawn="1"/>
        </p:nvCxnSpPr>
        <p:spPr>
          <a:xfrm>
            <a:off x="2784475" y="4124325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13"/>
          <p:cNvCxnSpPr/>
          <p:nvPr userDrawn="1"/>
        </p:nvCxnSpPr>
        <p:spPr>
          <a:xfrm>
            <a:off x="2784475" y="457993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14"/>
          <p:cNvCxnSpPr/>
          <p:nvPr userDrawn="1"/>
        </p:nvCxnSpPr>
        <p:spPr>
          <a:xfrm>
            <a:off x="2784475" y="503713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5"/>
          <p:cNvCxnSpPr/>
          <p:nvPr userDrawn="1"/>
        </p:nvCxnSpPr>
        <p:spPr>
          <a:xfrm>
            <a:off x="2784475" y="549275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6"/>
          <p:cNvCxnSpPr/>
          <p:nvPr userDrawn="1"/>
        </p:nvCxnSpPr>
        <p:spPr>
          <a:xfrm>
            <a:off x="2784475" y="594836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56"/>
          <p:cNvCxnSpPr/>
          <p:nvPr userDrawn="1"/>
        </p:nvCxnSpPr>
        <p:spPr>
          <a:xfrm>
            <a:off x="2784475" y="933450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57"/>
          <p:cNvCxnSpPr/>
          <p:nvPr userDrawn="1"/>
        </p:nvCxnSpPr>
        <p:spPr>
          <a:xfrm>
            <a:off x="2784475" y="1389063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58"/>
          <p:cNvCxnSpPr/>
          <p:nvPr userDrawn="1"/>
        </p:nvCxnSpPr>
        <p:spPr>
          <a:xfrm>
            <a:off x="2784475" y="1844675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59"/>
          <p:cNvCxnSpPr/>
          <p:nvPr userDrawn="1"/>
        </p:nvCxnSpPr>
        <p:spPr>
          <a:xfrm>
            <a:off x="2784475" y="2300288"/>
            <a:ext cx="4224338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56"/>
          <p:cNvCxnSpPr/>
          <p:nvPr/>
        </p:nvCxnSpPr>
        <p:spPr>
          <a:xfrm>
            <a:off x="7392988" y="275748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57"/>
          <p:cNvCxnSpPr/>
          <p:nvPr userDrawn="1"/>
        </p:nvCxnSpPr>
        <p:spPr>
          <a:xfrm>
            <a:off x="7392988" y="321310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58"/>
          <p:cNvCxnSpPr/>
          <p:nvPr userDrawn="1"/>
        </p:nvCxnSpPr>
        <p:spPr>
          <a:xfrm>
            <a:off x="7392988" y="366871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59"/>
          <p:cNvCxnSpPr/>
          <p:nvPr userDrawn="1"/>
        </p:nvCxnSpPr>
        <p:spPr>
          <a:xfrm>
            <a:off x="7392988" y="4124325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60"/>
          <p:cNvCxnSpPr/>
          <p:nvPr userDrawn="1"/>
        </p:nvCxnSpPr>
        <p:spPr>
          <a:xfrm>
            <a:off x="7392988" y="457993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61"/>
          <p:cNvCxnSpPr/>
          <p:nvPr userDrawn="1"/>
        </p:nvCxnSpPr>
        <p:spPr>
          <a:xfrm>
            <a:off x="7392988" y="503713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62"/>
          <p:cNvCxnSpPr/>
          <p:nvPr userDrawn="1"/>
        </p:nvCxnSpPr>
        <p:spPr>
          <a:xfrm>
            <a:off x="7392988" y="549275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63"/>
          <p:cNvCxnSpPr/>
          <p:nvPr userDrawn="1"/>
        </p:nvCxnSpPr>
        <p:spPr>
          <a:xfrm>
            <a:off x="7392988" y="594836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56"/>
          <p:cNvCxnSpPr/>
          <p:nvPr userDrawn="1"/>
        </p:nvCxnSpPr>
        <p:spPr>
          <a:xfrm>
            <a:off x="7392988" y="933450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57"/>
          <p:cNvCxnSpPr/>
          <p:nvPr userDrawn="1"/>
        </p:nvCxnSpPr>
        <p:spPr>
          <a:xfrm>
            <a:off x="7392988" y="1389063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58"/>
          <p:cNvCxnSpPr/>
          <p:nvPr userDrawn="1"/>
        </p:nvCxnSpPr>
        <p:spPr>
          <a:xfrm>
            <a:off x="7392988" y="1844675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59"/>
          <p:cNvCxnSpPr/>
          <p:nvPr userDrawn="1"/>
        </p:nvCxnSpPr>
        <p:spPr>
          <a:xfrm>
            <a:off x="7392988" y="2300288"/>
            <a:ext cx="4224337" cy="0"/>
          </a:xfrm>
          <a:prstGeom prst="line">
            <a:avLst/>
          </a:prstGeom>
          <a:ln w="3175">
            <a:solidFill>
              <a:schemeClr val="tx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1618" y="548143"/>
            <a:ext cx="9387044" cy="5472000"/>
          </a:xfrm>
        </p:spPr>
        <p:txBody>
          <a:bodyPr numCol="2" spcCol="252000"/>
          <a:lstStyle>
            <a:lvl1pPr marL="0" indent="-240030">
              <a:lnSpc>
                <a:spcPts val="2265"/>
              </a:lnSpc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lnSpc>
                <a:spcPts val="2265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265"/>
              </a:lnSpc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9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30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A6485101-0809-B746-A704-01D692EC9119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_2栏_无衬线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21AB047-3D2C-9148-87E7-D001B35BD60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.目录8行_浅色（Light）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solidFill>
                  <a:schemeClr val="tx2"/>
                </a:solidFill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solidFill>
                <a:schemeClr val="tx2"/>
              </a:solidFill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11"/>
          <p:cNvGrpSpPr/>
          <p:nvPr userDrawn="1"/>
        </p:nvGrpSpPr>
        <p:grpSpPr bwMode="auto">
          <a:xfrm>
            <a:off x="2879725" y="1508125"/>
            <a:ext cx="8640763" cy="4287838"/>
            <a:chOff x="2160000" y="1203598"/>
            <a:chExt cx="6480000" cy="3215804"/>
          </a:xfrm>
        </p:grpSpPr>
        <p:cxnSp>
          <p:nvCxnSpPr>
            <p:cNvPr id="6" name="直接连接符 10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11"/>
            <p:cNvCxnSpPr/>
            <p:nvPr userDrawn="1"/>
          </p:nvCxnSpPr>
          <p:spPr>
            <a:xfrm>
              <a:off x="2160000" y="166316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2"/>
            <p:cNvCxnSpPr/>
            <p:nvPr userDrawn="1"/>
          </p:nvCxnSpPr>
          <p:spPr>
            <a:xfrm>
              <a:off x="2160000" y="2122739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3"/>
            <p:cNvCxnSpPr/>
            <p:nvPr userDrawn="1"/>
          </p:nvCxnSpPr>
          <p:spPr>
            <a:xfrm>
              <a:off x="2160000" y="258231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4"/>
            <p:cNvCxnSpPr/>
            <p:nvPr userDrawn="1"/>
          </p:nvCxnSpPr>
          <p:spPr>
            <a:xfrm>
              <a:off x="2160000" y="3040690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5"/>
            <p:cNvCxnSpPr/>
            <p:nvPr userDrawn="1"/>
          </p:nvCxnSpPr>
          <p:spPr>
            <a:xfrm>
              <a:off x="2160000" y="350026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 userDrawn="1"/>
          </p:nvCxnSpPr>
          <p:spPr>
            <a:xfrm>
              <a:off x="2160000" y="3959831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7"/>
            <p:cNvCxnSpPr/>
            <p:nvPr userDrawn="1"/>
          </p:nvCxnSpPr>
          <p:spPr>
            <a:xfrm>
              <a:off x="2160000" y="4419402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5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28EA80C-5606-1940-85BC-5220D2FBB1EA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无衬线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8" y="960003"/>
            <a:ext cx="8640233" cy="4836492"/>
          </a:xfrm>
        </p:spPr>
        <p:txBody>
          <a:bodyPr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76E3F8-DE6A-1245-BCF7-31FA26433331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_目录_2栏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55"/>
          <p:cNvGrpSpPr/>
          <p:nvPr userDrawn="1"/>
        </p:nvGrpSpPr>
        <p:grpSpPr bwMode="auto">
          <a:xfrm>
            <a:off x="2879725" y="1316038"/>
            <a:ext cx="4224338" cy="4900612"/>
            <a:chOff x="2160000" y="1203598"/>
            <a:chExt cx="6480000" cy="3675206"/>
          </a:xfrm>
        </p:grpSpPr>
        <p:cxnSp>
          <p:nvCxnSpPr>
            <p:cNvPr id="4" name="直接连接符 8"/>
            <p:cNvCxnSpPr/>
            <p:nvPr/>
          </p:nvCxnSpPr>
          <p:spPr>
            <a:xfrm>
              <a:off x="2160000" y="120359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9"/>
            <p:cNvCxnSpPr/>
            <p:nvPr userDrawn="1"/>
          </p:nvCxnSpPr>
          <p:spPr>
            <a:xfrm>
              <a:off x="2160000" y="1663148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10"/>
            <p:cNvCxnSpPr/>
            <p:nvPr userDrawn="1"/>
          </p:nvCxnSpPr>
          <p:spPr>
            <a:xfrm>
              <a:off x="2160000" y="2122697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11"/>
            <p:cNvCxnSpPr/>
            <p:nvPr userDrawn="1"/>
          </p:nvCxnSpPr>
          <p:spPr>
            <a:xfrm>
              <a:off x="2160000" y="2582247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12"/>
            <p:cNvCxnSpPr/>
            <p:nvPr userDrawn="1"/>
          </p:nvCxnSpPr>
          <p:spPr>
            <a:xfrm>
              <a:off x="2160000" y="3040606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13"/>
            <p:cNvCxnSpPr/>
            <p:nvPr userDrawn="1"/>
          </p:nvCxnSpPr>
          <p:spPr>
            <a:xfrm>
              <a:off x="2160000" y="3500155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14"/>
            <p:cNvCxnSpPr/>
            <p:nvPr userDrawn="1"/>
          </p:nvCxnSpPr>
          <p:spPr>
            <a:xfrm>
              <a:off x="2160000" y="3959705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5"/>
            <p:cNvCxnSpPr/>
            <p:nvPr userDrawn="1"/>
          </p:nvCxnSpPr>
          <p:spPr>
            <a:xfrm>
              <a:off x="2160000" y="441925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6"/>
            <p:cNvCxnSpPr/>
            <p:nvPr userDrawn="1"/>
          </p:nvCxnSpPr>
          <p:spPr>
            <a:xfrm>
              <a:off x="2160000" y="4878804"/>
              <a:ext cx="6480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"/>
          <p:cNvGrpSpPr/>
          <p:nvPr userDrawn="1"/>
        </p:nvGrpSpPr>
        <p:grpSpPr bwMode="auto">
          <a:xfrm>
            <a:off x="7535863" y="1316038"/>
            <a:ext cx="4224337" cy="4900612"/>
            <a:chOff x="5652295" y="987574"/>
            <a:chExt cx="3168000" cy="3675206"/>
          </a:xfrm>
        </p:grpSpPr>
        <p:cxnSp>
          <p:nvCxnSpPr>
            <p:cNvPr id="14" name="直接连接符 18"/>
            <p:cNvCxnSpPr/>
            <p:nvPr userDrawn="1"/>
          </p:nvCxnSpPr>
          <p:spPr>
            <a:xfrm>
              <a:off x="5652295" y="466278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9"/>
            <p:cNvCxnSpPr/>
            <p:nvPr/>
          </p:nvCxnSpPr>
          <p:spPr>
            <a:xfrm>
              <a:off x="5652295" y="98757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20"/>
            <p:cNvCxnSpPr/>
            <p:nvPr userDrawn="1"/>
          </p:nvCxnSpPr>
          <p:spPr>
            <a:xfrm>
              <a:off x="5652295" y="1447124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21"/>
            <p:cNvCxnSpPr/>
            <p:nvPr userDrawn="1"/>
          </p:nvCxnSpPr>
          <p:spPr>
            <a:xfrm>
              <a:off x="5652295" y="1906673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22"/>
            <p:cNvCxnSpPr/>
            <p:nvPr userDrawn="1"/>
          </p:nvCxnSpPr>
          <p:spPr>
            <a:xfrm>
              <a:off x="5652295" y="2366223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23"/>
            <p:cNvCxnSpPr/>
            <p:nvPr userDrawn="1"/>
          </p:nvCxnSpPr>
          <p:spPr>
            <a:xfrm>
              <a:off x="5652295" y="2824582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24"/>
            <p:cNvCxnSpPr/>
            <p:nvPr userDrawn="1"/>
          </p:nvCxnSpPr>
          <p:spPr>
            <a:xfrm>
              <a:off x="5652295" y="3284131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5"/>
            <p:cNvCxnSpPr/>
            <p:nvPr userDrawn="1"/>
          </p:nvCxnSpPr>
          <p:spPr>
            <a:xfrm>
              <a:off x="5652295" y="3743681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6"/>
            <p:cNvCxnSpPr/>
            <p:nvPr userDrawn="1"/>
          </p:nvCxnSpPr>
          <p:spPr>
            <a:xfrm>
              <a:off x="5652295" y="4203230"/>
              <a:ext cx="3168000" cy="0"/>
            </a:xfrm>
            <a:prstGeom prst="line">
              <a:avLst/>
            </a:prstGeom>
            <a:ln w="3175">
              <a:solidFill>
                <a:schemeClr val="tx1">
                  <a:alpha val="4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2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2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2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4F060D0-E176-0348-96D6-901224CAC007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.目录_2栏_无衬线">
    <p:bg bwMode="auto"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4"/>
          <p:cNvSpPr txBox="1"/>
          <p:nvPr userDrawn="1"/>
        </p:nvSpPr>
        <p:spPr bwMode="auto">
          <a:xfrm>
            <a:off x="576263" y="1185863"/>
            <a:ext cx="1452562" cy="509587"/>
          </a:xfrm>
          <a:prstGeom prst="rect">
            <a:avLst/>
          </a:prstGeom>
        </p:spPr>
        <p:txBody>
          <a:bodyPr lIns="0" tIns="0" rIns="0" bIns="0"/>
          <a:lstStyle>
            <a:lvl1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defTabSz="4572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900"/>
              </a:spcBef>
              <a:defRPr/>
            </a:pPr>
            <a:r>
              <a:rPr lang="zh-CN" altLang="en-US" sz="4200" noProof="1">
                <a:latin typeface="微软雅黑" panose="020B0503020204020204" pitchFamily="34" charset="-122"/>
                <a:sym typeface="Roboto" pitchFamily="2" charset="0"/>
              </a:rPr>
              <a:t>目录</a:t>
            </a:r>
            <a:endParaRPr lang="zh-CN" altLang="zh-CN" sz="4200" noProof="1">
              <a:latin typeface="微软雅黑" panose="020B0503020204020204" pitchFamily="34" charset="-122"/>
              <a:sym typeface="Roboto" pitchFamily="2" charset="0"/>
            </a:endParaRPr>
          </a:p>
        </p:txBody>
      </p:sp>
      <p:cxnSp>
        <p:nvCxnSpPr>
          <p:cNvPr id="4" name="Straight Connector 6"/>
          <p:cNvCxnSpPr/>
          <p:nvPr userDrawn="1"/>
        </p:nvCxnSpPr>
        <p:spPr>
          <a:xfrm>
            <a:off x="623888" y="1919288"/>
            <a:ext cx="576262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2880786" y="768043"/>
            <a:ext cx="8879609" cy="5472000"/>
          </a:xfrm>
        </p:spPr>
        <p:txBody>
          <a:bodyPr numCol="2" spcCol="504000"/>
          <a:lstStyle>
            <a:lvl1pPr marL="0" indent="-240030">
              <a:buSzPct val="10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319B27-C7C9-784C-9EF8-09FEFD7EEFAD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1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FE0E9FC-09BD-EC44-BB56-69E4DEFF4DE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2_空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DE7654-8307-564D-BE88-DEA39FA9EE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3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5F80B95-1E99-6947-86FF-515C684B2F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4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71D94FF7-73B5-BF4B-9430-8F3AE34458F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5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3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1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004B77-5A44-464B-AF1B-8AC5BD5670A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6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3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1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B27AA4-516A-D943-99A8-7B8A64D1E69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7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70B933-3146-6641-A60F-CB3F77F7B3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8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5F6A879-E0EE-9C43-9D2C-325ECDE8B1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09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B3C6A56-27CA-9A49-A14C-C024B86FEC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0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9386955-3504-C44F-B816-A2398CF45A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1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2FC1E9-94CE-F849-8F91-D7CA254BED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.012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4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6EA104-FB70-BE41-8E0A-1805518952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1_空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DC934AE-C709-CE4F-9736-0842E521EE79}" type="slidenum">
              <a:rPr lang="en-US" altLang="zh-CN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2_空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6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0F1C4FD-BAA5-ED4C-BE84-D7DB622E3845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3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11137897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F6CC10B-B673-FF47-B264-8ECB667B67FB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4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653784"/>
            <a:ext cx="11137897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2A881CB-3D67-254E-8533-B141EAA3DD47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5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3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6191631" y="1316765"/>
            <a:ext cx="54737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EAF92A-87B2-E841-A82D-7C6CE4E36676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6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3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3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6191631" y="1653784"/>
            <a:ext cx="54737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99057AB-6D25-964A-BD02-3D8C97F3A26F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7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750230B-9782-5C48-981A-61E4BAAB8A90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8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3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4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88B0DF5-48FC-E241-A0CA-2ABCE11845E3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09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2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9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4F77213-11F4-3349-B25B-223C545622B4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0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2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1" name="内容占位符 3"/>
          <p:cNvSpPr>
            <a:spLocks noGrp="1"/>
          </p:cNvSpPr>
          <p:nvPr>
            <p:ph sz="quarter" idx="19" hasCustomPrompt="1"/>
          </p:nvPr>
        </p:nvSpPr>
        <p:spPr>
          <a:xfrm>
            <a:off x="4296191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E8884B0-3961-F444-98CC-1B77FCF2B2E0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1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6"/>
          <p:cNvCxnSpPr/>
          <p:nvPr userDrawn="1"/>
        </p:nvCxnSpPr>
        <p:spPr>
          <a:xfrm>
            <a:off x="528638" y="9604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3"/>
          <p:cNvSpPr>
            <a:spLocks noGrp="1"/>
          </p:cNvSpPr>
          <p:nvPr>
            <p:ph sz="quarter" idx="17" hasCustomPrompt="1"/>
          </p:nvPr>
        </p:nvSpPr>
        <p:spPr>
          <a:xfrm>
            <a:off x="527054" y="1316765"/>
            <a:ext cx="736914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0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316765"/>
            <a:ext cx="3600000" cy="4993019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F677C9C-D59B-7343-92D8-8A707946F7EB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012(Light)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7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528638" y="1316038"/>
            <a:ext cx="574675" cy="0"/>
          </a:xfrm>
          <a:prstGeom prst="line">
            <a:avLst/>
          </a:prstGeom>
          <a:ln w="508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内容占位符 3"/>
          <p:cNvSpPr>
            <a:spLocks noGrp="1"/>
          </p:cNvSpPr>
          <p:nvPr>
            <p:ph sz="quarter" idx="18" hasCustomPrompt="1"/>
          </p:nvPr>
        </p:nvSpPr>
        <p:spPr>
          <a:xfrm>
            <a:off x="527054" y="1653784"/>
            <a:ext cx="736914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2" name="内容占位符 3"/>
          <p:cNvSpPr>
            <a:spLocks noGrp="1"/>
          </p:cNvSpPr>
          <p:nvPr>
            <p:ph sz="quarter" idx="20" hasCustomPrompt="1"/>
          </p:nvPr>
        </p:nvSpPr>
        <p:spPr>
          <a:xfrm>
            <a:off x="8065329" y="1653784"/>
            <a:ext cx="3600000" cy="4656000"/>
          </a:xfrm>
        </p:spPr>
        <p:txBody>
          <a:bodyPr/>
          <a:lstStyle>
            <a:lvl1pPr>
              <a:lnSpc>
                <a:spcPct val="125000"/>
              </a:lnSpc>
              <a:spcAft>
                <a:spcPts val="535"/>
              </a:spcAft>
              <a:defRPr/>
            </a:lvl1pPr>
            <a:lvl2pPr>
              <a:lnSpc>
                <a:spcPct val="125000"/>
              </a:lnSpc>
              <a:spcAft>
                <a:spcPts val="535"/>
              </a:spcAft>
              <a:defRPr/>
            </a:lvl2pPr>
            <a:lvl3pPr>
              <a:lnSpc>
                <a:spcPct val="125000"/>
              </a:lnSpc>
              <a:spcAft>
                <a:spcPts val="535"/>
              </a:spcAft>
              <a:defRPr/>
            </a:lvl3pPr>
            <a:lvl4pPr>
              <a:lnSpc>
                <a:spcPct val="125000"/>
              </a:lnSpc>
              <a:spcAft>
                <a:spcPts val="535"/>
              </a:spcAft>
              <a:defRPr/>
            </a:lvl4pPr>
            <a:lvl5pPr>
              <a:lnSpc>
                <a:spcPct val="125000"/>
              </a:lnSpc>
              <a:spcAft>
                <a:spcPts val="535"/>
              </a:spcAft>
              <a:defRPr sz="1335"/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en-US" altLang="zh-CN" noProof="1"/>
          </a:p>
        </p:txBody>
      </p:sp>
      <p:sp>
        <p:nvSpPr>
          <p:cNvPr id="1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000" y="836765"/>
            <a:ext cx="11329589" cy="4800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00000"/>
              </a:lnSpc>
              <a:buNone/>
              <a:defRPr sz="2135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21" name="标题占位符 1"/>
          <p:cNvSpPr>
            <a:spLocks noGrp="1"/>
          </p:cNvSpPr>
          <p:nvPr>
            <p:ph type="title"/>
          </p:nvPr>
        </p:nvSpPr>
        <p:spPr>
          <a:xfrm>
            <a:off x="528000" y="0"/>
            <a:ext cx="11329589" cy="76800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>
              <a:defRPr lang="zh-CN" altLang="en-US" sz="3465" dirty="0"/>
            </a:lvl1pPr>
          </a:lstStyle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页脚占位符 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1" name="灯片编号占位符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 noProof="1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2BFA00B-0083-3D4E-9B40-7E4A63BE8484}" type="slidenum">
              <a:rPr altLang="zh-CN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.上下排版_空_001">
    <p:bg bwMode="auto">
      <p:bgPr>
        <a:solidFill>
          <a:srgbClr val="5E5A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239713" y="5349875"/>
            <a:ext cx="11712575" cy="10334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600" noProof="1"/>
              <a:t>此页为该 </a:t>
            </a:r>
            <a:r>
              <a:rPr lang="en-GB" altLang="zh-CN" sz="2600" noProof="1"/>
              <a:t>PowerPoint </a:t>
            </a:r>
            <a:r>
              <a:rPr lang="zh-CN" altLang="en-US" sz="2600" noProof="1"/>
              <a:t>模板原始母板分界标识</a:t>
            </a:r>
            <a:endParaRPr lang="zh-CN" altLang="zh-CN" sz="2600" noProof="1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1600" noProof="1"/>
              <a:t>如果您在母版视图此页后发现其他母版，均为非本规范内版式。</a:t>
            </a:r>
            <a:endParaRPr lang="zh-CN" altLang="en-US" sz="1600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94B70-82D2-3144-A623-60E79F67F8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01">
    <p:bg bwMode="auto">
      <p:bgPr>
        <a:gradFill rotWithShape="0">
          <a:gsLst>
            <a:gs pos="0">
              <a:srgbClr val="3E4B59"/>
            </a:gs>
            <a:gs pos="100000">
              <a:srgbClr val="24303D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5"/>
          <p:cNvCxnSpPr/>
          <p:nvPr userDrawn="1"/>
        </p:nvCxnSpPr>
        <p:spPr>
          <a:xfrm>
            <a:off x="669925" y="1147763"/>
            <a:ext cx="4746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110" y="260648"/>
            <a:ext cx="11135783" cy="960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735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4"/>
          </p:nvPr>
        </p:nvSpPr>
        <p:spPr>
          <a:xfrm>
            <a:off x="10985500" y="6361113"/>
            <a:ext cx="815975" cy="365125"/>
          </a:xfrm>
        </p:spPr>
        <p:txBody>
          <a:bodyPr/>
          <a:lstStyle>
            <a:lvl1pPr>
              <a:defRPr sz="1300" noProof="1" smtClean="0">
                <a:solidFill>
                  <a:srgbClr val="89C6E5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7553F1-85C4-C443-9CD5-F6DA2DD368A7}" type="slidenum">
              <a:rPr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ayout 01">
    <p:bg bwMode="auto">
      <p:bgPr>
        <a:gradFill rotWithShape="0">
          <a:gsLst>
            <a:gs pos="0">
              <a:srgbClr val="3E4B59"/>
            </a:gs>
            <a:gs pos="100000">
              <a:srgbClr val="24303D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 hidden="1"/>
          <p:cNvSpPr txBox="1">
            <a:spLocks noChangeArrowheads="1"/>
          </p:cNvSpPr>
          <p:nvPr userDrawn="1"/>
        </p:nvSpPr>
        <p:spPr bwMode="auto">
          <a:xfrm>
            <a:off x="603250" y="6169025"/>
            <a:ext cx="711200" cy="2984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fontAlgn="auto" hangingPunct="1">
              <a:defRPr/>
            </a:pPr>
            <a:r>
              <a:rPr lang="en-US" altLang="zh-CN" sz="1335" noProof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Slide  /</a:t>
            </a:r>
            <a:endParaRPr lang="en-US" altLang="zh-CN" sz="1335" noProof="1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" name="Straight Connector 5" hidden="1"/>
          <p:cNvCxnSpPr/>
          <p:nvPr userDrawn="1"/>
        </p:nvCxnSpPr>
        <p:spPr>
          <a:xfrm>
            <a:off x="685800" y="6089650"/>
            <a:ext cx="436563" cy="0"/>
          </a:xfrm>
          <a:prstGeom prst="line">
            <a:avLst/>
          </a:prstGeom>
          <a:ln w="38100">
            <a:solidFill>
              <a:srgbClr val="D76F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669925" y="1147763"/>
            <a:ext cx="4746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528109" y="164638"/>
            <a:ext cx="11135783" cy="960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527051" y="1411817"/>
            <a:ext cx="11135783" cy="4871348"/>
          </a:xfrm>
          <a:prstGeom prst="rect">
            <a:avLst/>
          </a:prstGeom>
        </p:spPr>
        <p:txBody>
          <a:bodyPr/>
          <a:lstStyle>
            <a:lvl1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65">
                <a:solidFill>
                  <a:schemeClr val="tx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" name="灯片编号占位符 2"/>
          <p:cNvSpPr>
            <a:spLocks noGrp="1"/>
          </p:cNvSpPr>
          <p:nvPr>
            <p:ph type="sldNum" sz="quarter" idx="15"/>
          </p:nvPr>
        </p:nvSpPr>
        <p:spPr>
          <a:xfrm>
            <a:off x="10985500" y="6361113"/>
            <a:ext cx="815975" cy="365125"/>
          </a:xfrm>
        </p:spPr>
        <p:txBody>
          <a:bodyPr/>
          <a:lstStyle>
            <a:lvl1pPr>
              <a:defRPr sz="1300" noProof="1" smtClean="0">
                <a:solidFill>
                  <a:srgbClr val="89C6E5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EB9281E-2985-8247-8CA7-D2790CB6E743}" type="slidenum">
              <a:rPr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 hasCustomPrompt="1"/>
          </p:nvPr>
        </p:nvSpPr>
        <p:spPr>
          <a:xfrm>
            <a:off x="912860" y="1154489"/>
            <a:ext cx="9990713" cy="778875"/>
          </a:xfrm>
          <a:prstGeom prst="rect">
            <a:avLst/>
          </a:prstGeom>
        </p:spPr>
        <p:txBody>
          <a:bodyPr lIns="91312" tIns="45718" rIns="91312" bIns="45718">
            <a:normAutofit/>
          </a:bodyPr>
          <a:lstStyle>
            <a:lvl1pPr marL="0" marR="0" indent="0" algn="l" defTabSz="1216660" rtl="0" eaLnBrk="1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r>
              <a:rPr lang="en-US" altLang="zh-CN" dirty="0"/>
              <a:t>Slide Title</a:t>
            </a:r>
            <a:endParaRPr lang="en-US" altLang="zh-CN" dirty="0"/>
          </a:p>
        </p:txBody>
      </p:sp>
      <p:sp>
        <p:nvSpPr>
          <p:cNvPr id="5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2860" y="2133157"/>
            <a:ext cx="9990713" cy="4096643"/>
          </a:xfrm>
          <a:prstGeom prst="rect">
            <a:avLst/>
          </a:prstGeom>
        </p:spPr>
        <p:txBody>
          <a:bodyPr lIns="91312" tIns="45718" rIns="91312" bIns="45718">
            <a:normAutofit/>
          </a:bodyPr>
          <a:lstStyle>
            <a:lvl1pPr marL="0" marR="0" indent="0" algn="l" defTabSz="1216660" rtl="0" eaLnBrk="1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  <a:lvl2pPr marL="608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6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2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39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1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59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691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Headline in Arial Regular 24 - 32 point</a:t>
            </a:r>
            <a:endParaRPr lang="en-US" altLang="zh-CN" dirty="0"/>
          </a:p>
        </p:txBody>
      </p:sp>
    </p:spTree>
  </p:cSld>
  <p:clrMapOvr>
    <a:masterClrMapping/>
  </p:clrMapOvr>
  <p:hf hdr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image" Target="../media/image1.png"/><Relationship Id="rId1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Relationship Id="rId9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44.xml"/><Relationship Id="rId27" Type="http://schemas.openxmlformats.org/officeDocument/2006/relationships/slideLayout" Target="../slideLayouts/slideLayout45.xml"/><Relationship Id="rId28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49.xml"/><Relationship Id="rId32" Type="http://schemas.openxmlformats.org/officeDocument/2006/relationships/slideLayout" Target="../slideLayouts/slideLayout50.xml"/><Relationship Id="rId33" Type="http://schemas.openxmlformats.org/officeDocument/2006/relationships/slideLayout" Target="../slideLayouts/slideLayout51.xml"/><Relationship Id="rId34" Type="http://schemas.openxmlformats.org/officeDocument/2006/relationships/slideLayout" Target="../slideLayouts/slideLayout52.xml"/><Relationship Id="rId35" Type="http://schemas.openxmlformats.org/officeDocument/2006/relationships/slideLayout" Target="../slideLayouts/slideLayout53.xml"/><Relationship Id="rId36" Type="http://schemas.openxmlformats.org/officeDocument/2006/relationships/slideLayout" Target="../slideLayouts/slideLayout54.xml"/><Relationship Id="rId37" Type="http://schemas.openxmlformats.org/officeDocument/2006/relationships/slideLayout" Target="../slideLayouts/slideLayout55.xml"/><Relationship Id="rId38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58.xml"/><Relationship Id="rId41" Type="http://schemas.openxmlformats.org/officeDocument/2006/relationships/slideLayout" Target="../slideLayouts/slideLayout59.xml"/><Relationship Id="rId4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5" cstate="screen"/>
          <a:srcRect t="28597" b="32462"/>
          <a:stretch>
            <a:fillRect/>
          </a:stretch>
        </p:blipFill>
        <p:spPr>
          <a:xfrm>
            <a:off x="10348713" y="141668"/>
            <a:ext cx="1852076" cy="540912"/>
          </a:xfrm>
          <a:prstGeom prst="rect">
            <a:avLst/>
          </a:prstGeom>
        </p:spPr>
      </p:pic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187817" y="92410"/>
            <a:ext cx="10515600" cy="6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10917618" y="6551300"/>
            <a:ext cx="1222869" cy="261610"/>
          </a:xfrm>
          <a:prstGeom prst="rect">
            <a:avLst/>
          </a:prstGeom>
          <a:noFill/>
        </p:spPr>
        <p:txBody>
          <a:bodyPr wrap="none" rtlCol="0" anchor="ctr" anchorCtr="0">
            <a:noAutofit/>
          </a:bodyPr>
          <a:lstStyle/>
          <a:p>
            <a:pPr algn="r" defTabSz="914400"/>
            <a:fld id="{A3BAE1C6-4380-4491-8C76-C5075ED62E8D}" type="slidenum">
              <a:rPr kumimoji="1" lang="zh-CN" altLang="en-US" sz="1100" smtClean="0">
                <a:solidFill>
                  <a:srgbClr val="8FC31F"/>
                </a:solidFill>
              </a:rPr>
            </a:fld>
            <a:endParaRPr kumimoji="1" lang="zh-CN" altLang="en-US" sz="1100" dirty="0">
              <a:solidFill>
                <a:srgbClr val="8FC31F"/>
              </a:solidFill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15938" y="6576616"/>
            <a:ext cx="10708640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文档中的全部内容属</a:t>
            </a:r>
            <a:r>
              <a:rPr lang="zh-CN" altLang="en-US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中国移动</a:t>
            </a:r>
            <a:r>
              <a:rPr lang="zh-CN" altLang="zh-CN" sz="1000" b="0" i="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所有，未经允许，不可全部或部分发表、复制、使用于任何目的</a:t>
            </a:r>
            <a:endParaRPr lang="zh-CN" altLang="en-US" sz="1000" b="0" i="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zh-CN" sz="2400" b="1" kern="1200" dirty="0">
          <a:solidFill>
            <a:srgbClr val="0070C0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gradFill rotWithShape="0">
          <a:gsLst>
            <a:gs pos="0">
              <a:srgbClr val="303B48"/>
            </a:gs>
            <a:gs pos="100000">
              <a:srgbClr val="0B1D3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4963" y="365125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6550" y="6432550"/>
            <a:ext cx="7721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1000" noProof="1">
                <a:solidFill>
                  <a:srgbClr val="A6C6E5"/>
                </a:solidFill>
                <a:latin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zh-CN"/>
              <a:t>文档中的全部内容属亚信科技所有，未经允许，不可全部或部分发表、复制、使用于任何目的。</a:t>
            </a:r>
            <a:endParaRPr lang="zh-CN" altLang="zh-CN"/>
          </a:p>
        </p:txBody>
      </p:sp>
      <p:sp>
        <p:nvSpPr>
          <p:cNvPr id="1028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827213"/>
            <a:ext cx="11512550" cy="434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zh-CN" noProof="1"/>
          </a:p>
          <a:p>
            <a:pPr lvl="4"/>
            <a:r>
              <a:rPr lang="zh-CN" altLang="en-US" noProof="1"/>
              <a:t>第六级</a:t>
            </a:r>
            <a:endParaRPr lang="zh-CN" altLang="zh-CN" noProof="1"/>
          </a:p>
          <a:p>
            <a:pPr lvl="4"/>
            <a:r>
              <a:rPr lang="zh-CN" altLang="en-US" noProof="1"/>
              <a:t>第七级</a:t>
            </a:r>
            <a:endParaRPr lang="zh-CN" altLang="en-US" noProof="1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9936163" y="6430963"/>
            <a:ext cx="1920875" cy="3667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A6C6E5"/>
                </a:solidFill>
              </a:defRPr>
            </a:lvl1pPr>
          </a:lstStyle>
          <a:p>
            <a:pPr>
              <a:defRPr/>
            </a:pPr>
            <a:fld id="{64410970-2010-5844-949F-931FD21BC3DD}" type="slidenum">
              <a:rPr lang="en-US" altLang="zh-CN"/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06" r:id="rId38"/>
    <p:sldLayoutId id="2147483707" r:id="rId39"/>
    <p:sldLayoutId id="2147483708" r:id="rId40"/>
    <p:sldLayoutId id="2147483709" r:id="rId41"/>
  </p:sldLayoutIdLst>
  <p:hf hdr="0" dt="0"/>
  <p:txStyles>
    <p:titleStyle>
      <a:lvl1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lang="zh-CN" altLang="en-US" sz="4800" kern="1200" dirty="0">
          <a:solidFill>
            <a:schemeClr val="tx1"/>
          </a:solidFill>
          <a:latin typeface="+mj-ea"/>
          <a:ea typeface="+mj-ea"/>
          <a:cs typeface="+mj-cs"/>
        </a:defRPr>
      </a:lvl1pPr>
      <a:lvl2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defTabSz="609600" rtl="0" eaLnBrk="0" fontAlgn="base" hangingPunct="0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defTabSz="609600" rtl="0" fontAlgn="base">
        <a:lnSpc>
          <a:spcPct val="80000"/>
        </a:lnSpc>
        <a:spcBef>
          <a:spcPts val="1200"/>
        </a:spcBef>
        <a:spcAft>
          <a:spcPct val="0"/>
        </a:spcAft>
        <a:defRPr sz="4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60000"/>
        <a:buFont typeface="Wingdings" panose="05000000000000000000" pitchFamily="2" charset="2"/>
        <a:defRPr lang="zh-CN" altLang="en-US" sz="21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1pPr>
      <a:lvl2pPr marL="479425" indent="-22860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2pPr>
      <a:lvl3pPr marL="720725" indent="-22860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sz="16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3pPr>
      <a:lvl4pPr marL="960755" indent="-192405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zh-CN" altLang="en-US" sz="14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4pPr>
      <a:lvl5pPr marL="1200150" indent="-182880" algn="l" rtl="0" eaLnBrk="0" fontAlgn="base" hangingPunct="0">
        <a:lnSpc>
          <a:spcPts val="3465"/>
        </a:lnSpc>
        <a:spcBef>
          <a:spcPct val="0"/>
        </a:spcBef>
        <a:spcAft>
          <a:spcPts val="1340"/>
        </a:spcAft>
        <a:buSzPct val="100000"/>
        <a:buFont typeface="Arial" panose="020B0604020202020204" pitchFamily="34" charset="0"/>
        <a:buChar char="•"/>
        <a:defRPr lang="en-US" altLang="zh-CN" sz="1300" kern="1200" dirty="0">
          <a:solidFill>
            <a:schemeClr val="tx1"/>
          </a:solidFill>
          <a:latin typeface="+mn-ea"/>
          <a:ea typeface="+mn-ea"/>
          <a:cs typeface="Arial" panose="020B0604020202020204" pitchFamily="34" charset="0"/>
        </a:defRPr>
      </a:lvl5pPr>
      <a:lvl6pPr marL="1391920" indent="-163195" algn="l" defTabSz="913765" rtl="0" eaLnBrk="1" latinLnBrk="0" hangingPunct="1">
        <a:lnSpc>
          <a:spcPct val="17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631950" indent="-153670" algn="l" defTabSz="913765" rtl="0" eaLnBrk="1" latinLnBrk="0" hangingPunct="1">
        <a:lnSpc>
          <a:spcPct val="90000"/>
        </a:lnSpc>
        <a:spcBef>
          <a:spcPts val="0"/>
        </a:spcBef>
        <a:buSzPct val="100000"/>
        <a:buFont typeface="Arial" panose="020B060402020202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838200" y="1945640"/>
            <a:ext cx="10515600" cy="152527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4800" kern="100" dirty="0">
                <a:latin typeface="+mj-ea"/>
                <a:ea typeface="+mj-ea"/>
              </a:rPr>
              <a:t>运营平台与精益平台融合</a:t>
            </a:r>
            <a:r>
              <a:rPr lang="zh-CN" altLang="en-US" sz="4800" kern="100" dirty="0">
                <a:latin typeface="+mj-ea"/>
                <a:ea typeface="+mj-ea"/>
              </a:rPr>
              <a:t>方案</a:t>
            </a:r>
            <a:endParaRPr lang="zh-CN" altLang="en-US" sz="4800" kern="100" dirty="0">
              <a:latin typeface="+mj-ea"/>
              <a:ea typeface="+mj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838200" y="4193151"/>
            <a:ext cx="10515600" cy="8778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新疆移动市场运营部</a:t>
            </a:r>
            <a:endParaRPr lang="zh-CN" altLang="en-US" sz="2400" b="1" kern="100" dirty="0">
              <a:solidFill>
                <a:srgbClr val="0B85CF"/>
              </a:solidFill>
              <a:latin typeface="+mj-ea"/>
              <a:ea typeface="+mj-ea"/>
              <a:cs typeface="+mj-cs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20</a:t>
            </a:r>
            <a:r>
              <a:rPr lang="en-US" altLang="en-US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26</a:t>
            </a:r>
            <a:r>
              <a:rPr lang="zh-CN" altLang="en-US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年</a:t>
            </a:r>
            <a:r>
              <a:rPr lang="en-US" altLang="zh-CN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5</a:t>
            </a:r>
            <a:r>
              <a:rPr lang="zh-CN" altLang="en-US" sz="2400" b="1" kern="100" dirty="0">
                <a:solidFill>
                  <a:srgbClr val="0B85CF"/>
                </a:solidFill>
                <a:latin typeface="+mj-ea"/>
                <a:ea typeface="+mj-ea"/>
                <a:cs typeface="+mj-cs"/>
              </a:rPr>
              <a:t>月</a:t>
            </a:r>
            <a:endParaRPr lang="zh-CN" altLang="en-US" sz="2400" b="1" kern="100" dirty="0">
              <a:solidFill>
                <a:srgbClr val="0B85CF"/>
              </a:solidFill>
              <a:latin typeface="+mj-ea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汇报目录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本次汇报覆盖项目背景、现状分析、融合策略、实施路径、关键挑战、风险管理和总结，共7个部分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4864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3200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项目背景与目标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105156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融合背景、核心目标、分步实施6条必要性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95728"/>
            <a:ext cx="54864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95728"/>
            <a:ext cx="3200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现状分析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88336"/>
            <a:ext cx="105156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精益平台21页面+9场景+2流程+46接口 | 运营平台能力 | 两平台差异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54096"/>
            <a:ext cx="54864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54096"/>
            <a:ext cx="3200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融合策略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46704"/>
            <a:ext cx="105156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4条融合原则、两套技术路线对比、4A票据透传、代码迁入/规则提取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12464"/>
            <a:ext cx="54864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12464"/>
            <a:ext cx="3200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实施路径与阶段规划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05072"/>
            <a:ext cx="105156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短期8月统一入口、中期9-12月能力融合、长期全面融合+精益下线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70832"/>
            <a:ext cx="54864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70832"/>
            <a:ext cx="3200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关键挑战与应对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63440"/>
            <a:ext cx="105156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11报表迁移、流程整合(ALT+CUR)、界面统一、数据迁移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029200"/>
            <a:ext cx="54864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029200"/>
            <a:ext cx="3200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风险管理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321808"/>
            <a:ext cx="105156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8项关键风险及应对措施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87568"/>
            <a:ext cx="54864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687568"/>
            <a:ext cx="3200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980176"/>
            <a:ext cx="105156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核心逻辑回顾、方案选择建议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一、项目背景与目标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核心目标：将运营平台作为统一入口，分阶段将精益平台核心能力融合至运营平台，实现"一个平台、一套界面、一次登录、闭环运营"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1737360"/>
            <a:ext cx="3840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810512"/>
            <a:ext cx="362102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业务痛点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" y="2103120"/>
            <a:ext cx="3621024" cy="192024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两套系统频繁切换，操作效率低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指标在运营平台看，工单在精益平台看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数据不互通，无法形成"指标→预警→调度→执行→效果"闭环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新员工学习成本高，需掌握两套操作逻辑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两套系统界面风格不同，体验割裂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737360"/>
            <a:ext cx="38404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7408" y="1810512"/>
            <a:ext cx="362102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政策驱动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103120"/>
            <a:ext cx="3621024" cy="192024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集团要求统一部署"XX移动市场运营平台"标准版本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精益平台的命名、菜单结构、界面框架与集团规范不一致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需按集团规范进行统一验收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运营平台是集团规范落地的载体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" y="4389120"/>
            <a:ext cx="2788920" cy="41148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统一界面体验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4892040"/>
            <a:ext cx="260604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用户只登录运营平台</a:t>
            </a:r>
            <a:br/>
            <a:r>
              <a:t>即可完成全部操作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4389120"/>
            <a:ext cx="2788920" cy="41148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统一调度体系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4892040"/>
            <a:ext cx="260604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扩展调度中心</a:t>
            </a:r>
            <a:br/>
            <a:r>
              <a:t>覆盖预警+看管场景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4389120"/>
            <a:ext cx="2788920" cy="41148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统一数据通路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4892040"/>
            <a:ext cx="260604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运营平台直连外部系统</a:t>
            </a:r>
            <a:br/>
            <a:r>
              <a:t>不经精益平台中转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16568" y="4389120"/>
            <a:ext cx="2788920" cy="41148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对齐集团规范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4892040"/>
            <a:ext cx="260604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融合后按集团规范</a:t>
            </a:r>
            <a:br/>
            <a:r>
              <a:t>验收，不迁就精益平台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一、分步实施的必要性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王主任要求方案体现阶段性成果。以下说明无法一步到位的6条原因：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1737360"/>
            <a:ext cx="3703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1810512"/>
            <a:ext cx="348386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1. 业务连续性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" y="2103120"/>
            <a:ext cx="3483864" cy="15544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精益平台日均处理数百条预警工单，迁移不能中断在途工单，必须"老工单走老流程、新工单走新流程"双轨并行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737360"/>
            <a:ext cx="3703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8" y="1810512"/>
            <a:ext cx="348386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2. 两套平台需整合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2103120"/>
            <a:ext cx="3483864" cy="15544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虽然都是Java工程，但依赖版本、包结构、认证方式、配置规范都有差异，代码迁入或重写都需要逐步验证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1" y="1737360"/>
            <a:ext cx="3703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810512"/>
            <a:ext cx="348386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3. 4A对接前置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103120"/>
            <a:ext cx="3483864" cy="15544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4A票据透传涉及注册应用、分配凭据、开通网络策略，跨部门协调需前置时间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" y="4114800"/>
            <a:ext cx="3703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4187952"/>
            <a:ext cx="348386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4. 下游系统逐一对接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" y="4480560"/>
            <a:ext cx="3483864" cy="15544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精益平台对接6大外部系统、46个接口，运营平台需逐一重新对接验证，无法批量切换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4114800"/>
            <a:ext cx="3703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4187952"/>
            <a:ext cx="348386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5. 数据一致性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4480560"/>
            <a:ext cx="3483864" cy="15544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存量工单、预警规则、看管关系数据需按运营平台表结构迁移，迁移后逐一校验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4114800"/>
            <a:ext cx="3703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9" y="4187952"/>
            <a:ext cx="348386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6. 用户适应性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4480560"/>
            <a:ext cx="3483864" cy="15544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一线人员已习惯精益平台操作流程，界面和流程变化需分阶段引入配合培训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二、精益平台菜单结构（完整）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精益平台（新疆移动精益营销管理平台）核心架构为"事前预警→事中监控→事后评估"三大环节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235131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一级模块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二级模块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功能说明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使用角色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个人工作概览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我的预警/审批/工单/任务统计+快捷跳转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全部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整体数据概览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工单概览/营销任务概览，支持地市筛选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区/分公司管理层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合约业务视图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合约到期情况综合汇总+地图下钻+活动视图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区/分公司管理层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存量业务视图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存量概览/中高端保有专题，客户结构/保有/收入/流失分析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区/分公司管理层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预警任务管理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新建/查看/修改/暂停/终止/重启/提交预警任务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区公司业务人员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预警任务审批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对预警任务进行审批或驳回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审批人（三级主任）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任务工单管理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5类工单：营销预警/任务预警/提醒预警/效果预警/到期预警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区公司+分公司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存量用户拍照监控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全量用户看管关系监控（五级区域/未分派物理网格）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任务工作台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我的营销任务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接收/转派/拒绝任务，一键跳转IOP配置活动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分公司业务人员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任务工作台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我的督办任务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查看大屏下发的督办任务并回复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被督办人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任务工作台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到期预警工单管理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合约到期类工单管理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分公司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任务督办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督办管理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查看大屏调度/去调度下发的工单督办内容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合约到期监控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各分公司合约到期统计+一事一案监控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预警任务监控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预警任务执行进度监控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任务工单监控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工单执行进度监控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营销任务监控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IOP营销活动执行监控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收入预测监控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收入预测统计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新入网纯新增监控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新入网用户占比监控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一事一案+预警分析+驾驶舱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新入网/存量一事一案、携转/全球通/宽带预警分析、运营驾驶舱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/>
                </a:tc>
              </a:tr>
              <a:tr h="23514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系统管理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用户/角色/菜单/场景/指标/投屏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系统配置管理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系统管理员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二、精益平台21个常用页面清单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P0=日活高频+核心业务流程节点，P1=周活+管理流程节点。系统管理和低频报表页面按长期阶段补齐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2133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一级模块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页面名称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使用频率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使用角色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个人工作概览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整体数据概览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区/分公司管理层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合约业务视图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区/分公司管理层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存量业务视图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区/分公司管理层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预警任务管理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区公司业务人员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预警任务审批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审批人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预警工单管理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区公司+分公司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事前预警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全量用户看管关系监控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任务工作台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我的营销任务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分公司业务人员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任务工作台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我的督办任务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被督办人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任务工作台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到期预警工单管理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分公司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168" y="4297680"/>
          <a:ext cx="11795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21613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一级模块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页面名称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使用频率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使用角色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任务督办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督办管理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一线任务执行监控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集运任务执行盯控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事中监控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合约到期/预警/营销任务监控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携转预警情况分析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营销评估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全球通离网预警分析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宽带预警分析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营销评估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驾驶舱（运营驾驶舱）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1613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热线/异动/投诉分析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</a:tr>
              <a:tr h="2161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营销评估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停机赢回/铁通分析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区公司/分公司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二、精益平台9大预警场景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所有场景均支持转派至装维（不在首次派单时直接派给装维）；网格经理和地市集运二选一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场景名称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预警类型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触发频率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客户类型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执行渠道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携转挽留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被动预警（用户发起）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实时触发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10086→网格经理/政企/10088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宽带离网（存量关怀）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主动预警（模型输出）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网格经理/地市集运/政企/10088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全球通离网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主动预警（模型输出）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网格经理/地市集运/政企/10088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全球通投诉问题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被动预警（用户发起）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实时触发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网格经理/政企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异动客户修复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主动预警（集团模型输出）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网格经理/地市集运/政企/10088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热线商机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被动预警（用户发起）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实时触发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网格经理/地市集运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全球通离网原因追溯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被动预警（用户发起）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网格经理/政企/10088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全球通停机客户赢回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网格经理/集运/10088/政企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全球通停机客户赢回（铁通）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网格经理/集运/10088/政企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" y="585216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EF6C00"/>
                </a:solidFill>
                <a:latin typeface="微软雅黑"/>
              </a:defRPr>
            </a:pPr>
            <a:r>
              <a:t>补充：4月起市场部领导要求暂时不给10088派单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二、精益平台两套核心流程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流程1为预警驱动（被动+主动预警），流程2为营销任务（手动创建+IOP闭环），派单均采用分包看管模式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5486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200" b="1">
                <a:solidFill>
                  <a:srgbClr val="0B85CF"/>
                </a:solidFill>
                <a:latin typeface="微软雅黑"/>
              </a:defRPr>
            </a:pPr>
            <a:r>
              <a:t>流程1：预警驱动流程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" y="205740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创建预警</a:t>
            </a:r>
            <a:br/>
            <a:r>
              <a:t>任务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35608" y="224028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64208" y="205740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提交</a:t>
            </a:r>
            <a:br/>
            <a:r>
              <a:t>审批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98648" y="224028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27248" y="205740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审批</a:t>
            </a:r>
            <a:br/>
            <a:r>
              <a:t>通过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61688" y="224028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0288" y="205740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预警</a:t>
            </a:r>
            <a:br/>
            <a:r>
              <a:t>触发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24728" y="224028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53328" y="205740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生成</a:t>
            </a:r>
            <a:br/>
            <a:r>
              <a:t>工单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87768" y="224028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16368" y="205740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自动</a:t>
            </a:r>
            <a:br/>
            <a:r>
              <a:t>派发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50808" y="224028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79408" y="205740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网格通</a:t>
            </a:r>
            <a:br/>
            <a:r>
              <a:t>执行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213848" y="224028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442448" y="205740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效果</a:t>
            </a:r>
            <a:br/>
            <a:r>
              <a:t>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834640"/>
            <a:ext cx="91440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派单逻辑（分包看管模式）：全球通等级判断→政企判断→网格经理/地市集运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108960"/>
            <a:ext cx="11795760" cy="9144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666666"/>
                </a:solidFill>
                <a:latin typeface="微软雅黑"/>
              </a:defRPr>
            </a:pPr>
            <a:r>
              <a:t>1. 判断是否全球通用户 → 是 → 白金/钻/金卡 → 10088执行；否 → 客户经理执行</a:t>
            </a:r>
          </a:p>
          <a:p>
            <a:pPr>
              <a:spcAft>
                <a:spcPts val="200"/>
              </a:spcAft>
              <a:defRPr sz="800">
                <a:solidFill>
                  <a:srgbClr val="666666"/>
                </a:solidFill>
                <a:latin typeface="微软雅黑"/>
              </a:defRPr>
            </a:pPr>
            <a:r>
              <a:t>2. 判断是否政企客户关键人 → 是 → 客户经理执行</a:t>
            </a:r>
          </a:p>
          <a:p>
            <a:pPr>
              <a:spcAft>
                <a:spcPts val="200"/>
              </a:spcAft>
              <a:defRPr sz="800">
                <a:solidFill>
                  <a:srgbClr val="666666"/>
                </a:solidFill>
                <a:latin typeface="微软雅黑"/>
              </a:defRPr>
            </a:pPr>
            <a:r>
              <a:t>3. 以上都不是 → 网格经理/地市集运执行</a:t>
            </a:r>
          </a:p>
          <a:p>
            <a:pPr>
              <a:spcAft>
                <a:spcPts val="200"/>
              </a:spcAft>
              <a:defRPr sz="800">
                <a:solidFill>
                  <a:srgbClr val="666666"/>
                </a:solidFill>
                <a:latin typeface="微软雅黑"/>
              </a:defRPr>
            </a:pPr>
            <a:r>
              <a:t>4. 执行过程中如用户有宽带+要求上门 → 可转派装维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4114800"/>
            <a:ext cx="5486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200" b="1">
                <a:solidFill>
                  <a:srgbClr val="1A5C97"/>
                </a:solidFill>
                <a:latin typeface="微软雅黑"/>
              </a:defRPr>
            </a:pPr>
            <a:r>
              <a:t>流程2：营销任务流程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" y="452628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精准营销</a:t>
            </a:r>
            <a:br/>
            <a:r>
              <a:t>创建客群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435608" y="470916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64208" y="452628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精益创建</a:t>
            </a:r>
            <a:br/>
            <a:r>
              <a:t>手工工单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898648" y="470916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27248" y="452628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提交</a:t>
            </a:r>
            <a:br/>
            <a:r>
              <a:t>审批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361688" y="470916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90288" y="452628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工单</a:t>
            </a:r>
            <a:br/>
            <a:r>
              <a:t>派发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824728" y="470916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53328" y="452628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跳转</a:t>
            </a:r>
            <a:br/>
            <a:r>
              <a:t>IOP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287768" y="470916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16368" y="452628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活动审批</a:t>
            </a:r>
            <a:br/>
            <a:r>
              <a:t>执行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750808" y="470916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79408" y="452628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网格通</a:t>
            </a:r>
            <a:br/>
            <a:r>
              <a:t>执行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213848" y="470916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42448" y="452628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效果</a:t>
            </a:r>
            <a:br/>
            <a:r>
              <a:t>评估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" y="5303520"/>
            <a:ext cx="91440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IOP闭环：客群拆分→产品圈选→渠道配置→活动审批→执行→反馈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二、精益平台外部接口全景（6大系统46接口）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精益平台已打通的5条下游派发通路是核心资产，融合时必须复用这些通路，运营平台直接对接时接口协议和字段映射可参考精益平台接口文档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/>
                <a:gridCol w="2359152"/>
                <a:gridCol w="2359152"/>
                <a:gridCol w="2359152"/>
                <a:gridCol w="2359152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对接系统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接口编号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接口方向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复用策略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网格通（新大陆）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JY-01~07</a:t>
                      </a:r>
                    </a:p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+4个FTP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精益↔网格通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预警工单派发/执行反馈/督办/分派关系/活动办理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接口协议复用</a:t>
                      </a:r>
                    </a:p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运营平台重新对接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IOP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JY-08~09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精益→IOP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营销活动同步/执行节点反馈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接口协议复用</a:t>
                      </a:r>
                    </a:p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运营平台重新对接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精准营销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JY-05/23/24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精益↔精准营销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客群发布通知/客群查询/客群推送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接口协议复用</a:t>
                      </a:r>
                    </a:p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运营平台重新对接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在线平台(10086/88)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JY-21/22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精益↔在线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携转任务下发/结果查询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接口协议复用</a:t>
                      </a:r>
                    </a:p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运营平台重新对接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JY-14/15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CRM→精益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用户办理数据同步/携转用户同步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接口协议复用</a:t>
                      </a:r>
                    </a:p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运营平台重新对接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大数据平台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JY-25~33</a:t>
                      </a:r>
                    </a:p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+5个FTP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大数据→精益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预警创建/客群下发/一事一案/存量拍照/网格区域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接口协议复用</a:t>
                      </a:r>
                    </a:p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运营平台重新对接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" y="4846320"/>
            <a:ext cx="1179576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0B85CF"/>
                </a:solidFill>
                <a:latin typeface="微软雅黑"/>
              </a:defRPr>
            </a:pPr>
            <a:r>
              <a:t>关键结论：运营平台直接对接外部系统时，调用方从精益平台改为运营平台，避免中转依赖链（运营→精益→网格通）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二、运营平台现状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运营平台已具备精益平台所不具备的差异化能力——GIS区域攻坚、6种集团规范调度类型、商机驱动模式、AI注智入口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已实现页面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核心能力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指标概览+详情弹窗+五级下钻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6模块93条指标卡片+区域×指标交叉表格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流量运营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指标概览+商机总览(4角色)+区域攻坚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GIS作战地图+驾驶舱+运营作业面板+社区画像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离网维系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指标概览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基础指标展示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增量/家庭/中高端/国际运营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指标概览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基础指标展示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调度总览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调度任务列表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6种调度类型框架已搭建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策略总览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策略中心门户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根因库/策略库/关联关系管理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工单体系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6种调度类型完整闭环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工单详情/子单详情/共享组件</a:t>
                      </a:r>
                    </a:p>
                  </a:txBody>
                  <a:tcPr/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商机管理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分类/源/客户/客群/清洗规则/预警规则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完整的商机管理体系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" y="5029200"/>
            <a:ext cx="1179576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运营平台缺少精益平台已成熟的：预警任务配置/审批流程、工单派发执行反馈闭环、效果评估报表、看管关系管理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二、两平台差异分析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8个维度对比，明确融合方向——以运营平台为底座，扩展覆盖精益场景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精益平台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运营平台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融合方向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存量客户预警+营销闭环管控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集团规范市场运营平台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以运营平台为统一底座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调度体系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5类工单（营销/任务/提醒/效果/到期）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6种调度类型+2种扩展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扩展运营平台调度类型，覆盖精益场景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派单逻辑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硬编码if-else（按客户属性路由）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规则引擎（可配置的派单规则）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重构为规则引擎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工单结构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单层工单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主工单+子单（6种类型各有不同字段）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以运营平台工单体系为标准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认证方式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4A统一认证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4A统一认证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短期4A票据透传，长期统一到运营平台认证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界面框架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JSP+Vue混合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Next.js+React+shadcn/ui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以运营平台界面为标准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外部对接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已打通5条下游派发通路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部分对接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运营平台直接对接，复用精益接口协议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9大预警场景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已实现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未实现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迁移至运营平台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三、融合策略 - 融合原则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4条融合原则是所有技术决策的判定基准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1737360"/>
            <a:ext cx="320040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1. 以运营平台为底座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55648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所有融合工作在运营平台上完成，精益平台的功能迁入运营平台或在运营平台上重新实现，不迁就精益平台现有实现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2651760"/>
            <a:ext cx="320040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2. 以集团规范为标杆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70048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融合后的能力按集团规范验收，精益平台的功能只是参考输入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" y="3566160"/>
            <a:ext cx="320040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3. 复用通路、重构能力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584448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精益平台已打通的外部系统通路必须复用（接口协议可参考），但业务逻辑需在运营平台上重新实现或配置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" y="4480560"/>
            <a:ext cx="320040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4. 分步实施、双轨并行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498848"/>
            <a:ext cx="8229600" cy="5486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每个阶段都有明确的交付物和价值体现，双轨并行确保业务连续性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三、方案一：迁代码，两套调度引擎并存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将精益平台核心业务模块代码迁入运营平台工程，迁入后保持原有调度引擎逻辑不变，新增需求走新调度中心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改造项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代码迁入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精益平台预警引擎、看管派单、报表查询等核心业务代码迁入运营平台工程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基础设施适配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迁入代码中对精益平台认证、日志、异常处理等依赖，替换为运营平台基础设施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前端重写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JSP废弃，所有页面按运营平台前端规范重写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数据层适配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迁入初期保留精益平台表结构，后续逐步统一到运营平台表结构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4A票据对接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运营平台后端集成4A凭证申请服务，短期实现iframe免登嵌入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新调度类型扩展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新增预警调度(ALT)和看管调度(CUR)，供完全新增的需求使用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591056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迁入操作10步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920240"/>
            <a:ext cx="5669280" cy="32004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1. 获取两个平台实际工程结构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2. 确定迁入映射关系（由研发工程师根据实际情况决定）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3. 迁移Java源码，调整包名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4. 替换基础设施依赖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5. 合并依赖配置(pom.xml)，处理版本冲突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6. 合并Spring配置（Bean/定时任务/数据源）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7. 处理包名/类名/Bean名称冲突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8. 适配认证（改为运营平台统一认证上下文）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9. 前端重写（按运营平台规范）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10. 联调测试（每个场景端到端验证）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01168" y="4297680"/>
          <a:ext cx="11795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处理方式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业务核心代码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预警规则引擎、看管派单逻辑、9大场景Service、报表查询逻辑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迁入运营平台工程，按规范归入对应位置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基础设施代码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认证拦截器、日志切面、异常处理器、统一返回封装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不迁入，替换为运营平台基础设施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前端代码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JSP页面、Vue组件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JSP废弃，Vue作参考，按运营平台规范重写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三、方案一 - 利弊分析与约束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方案一前期投入相对可控，但需承担两套调度引擎长期并存的持续维护成本和二次融合成本，三笔账加总整体投入不低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4572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微软雅黑"/>
              </a:defRPr>
            </a:pPr>
            <a:r>
              <a:t>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965960"/>
            <a:ext cx="5669280" cy="18288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1. 存量流程业务逻辑无需重写——预警引擎、看管派单等核心逻辑经过生产验证，迁入后可直接运行</a:t>
            </a:r>
          </a:p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2. 存量流程可快速恢复运行——适配认证和基础设施即可上线</a:t>
            </a:r>
          </a:p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3. 业务规则提取工作量较小——不需要逐条提取规则再重新配置</a:t>
            </a:r>
          </a:p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4. 下游接口调用逻辑可直接参考——迁入代码保留了完整的外部系统调用逻辑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4572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微软雅黑"/>
              </a:defRPr>
            </a:pPr>
            <a:r>
              <a:t>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5669280" cy="256032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1. 两套调度引擎长期并存——两套派单逻辑、两套工单状态机、两套超时升级规则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2. "存量优化"与"新增需求"边界模糊——每次需求评审都要争论归属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3. 数据模型分裂——老引擎写精益表结构，新引擎写运营平台表结构，报表跨表合并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4. 老引擎的优化最终导向重写——硬编码if-else改到一定程度必须重构为规则引擎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5. 二次融合不可避免——总成本=迁入+长期维护+二次融合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6. 用户体验不统一——同菜单下老引擎和新引擎工单操作方式可能不同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4663440"/>
            <a:ext cx="1179576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EF6C00"/>
                </a:solidFill>
                <a:latin typeface="微软雅黑"/>
              </a:defRPr>
            </a:pPr>
            <a:r>
              <a:t>如果选择方案一，必须明确的3条约束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5029200"/>
            <a:ext cx="1179576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F6C00"/>
                </a:solidFill>
                <a:latin typeface="微软雅黑"/>
              </a:defRPr>
            </a:pPr>
            <a:r>
              <a:t>1. 两套引擎并存不是终态，是过渡态，必须设定退出时间节点</a:t>
            </a:r>
          </a:p>
          <a:p>
            <a:pPr>
              <a:spcAft>
                <a:spcPts val="200"/>
              </a:spcAft>
              <a:defRPr sz="1000">
                <a:solidFill>
                  <a:srgbClr val="EF6C00"/>
                </a:solidFill>
                <a:latin typeface="微软雅黑"/>
              </a:defRPr>
            </a:pPr>
            <a:r>
              <a:t>2. 老引擎上只做Bug修复，不做功能新增。任何涉及新逻辑的需求一律走新引擎</a:t>
            </a:r>
          </a:p>
          <a:p>
            <a:pPr>
              <a:spcAft>
                <a:spcPts val="200"/>
              </a:spcAft>
              <a:defRPr sz="1000">
                <a:solidFill>
                  <a:srgbClr val="EF6C00"/>
                </a:solidFill>
                <a:latin typeface="微软雅黑"/>
              </a:defRPr>
            </a:pPr>
            <a:r>
              <a:t>3. 工单数据模型必须统一——即使调度引擎是两套，工单数据必须存在同一套表中，否则报表无法统一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三、方案二：不迁代码，统一新调度中心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不迁入精益平台代码，存量流程业务规则从文档和配置中提取，在新调度中心用规则引擎重新配置。全平台只保留一套调度引擎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改造项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业务规则提取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从9大场景操作手册、预警规则配置表、看管派单逻辑中逐条提取业务规则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新调度中心扩展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新增预警调度(ALT)和看管调度(CUR)，开发规则引擎支持可配置的派单规则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9大场景规则配置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将提取的业务规则在规则引擎中逐一配置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报表重新开发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11个报表按运营平台数据模型重新开发，直接查运营平台工单表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前端重写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所有页面按运营平台前端规范重写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4A票据对接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运营平台后端集成4A凭证申请服务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下游接口对接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运营平台直接对接5个外部系统，复用精益平台接口协议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591056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不迁代码 ≠ 从零重写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92024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精益平台能力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是否需要重写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预警规则引擎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需要重新实现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核心逻辑"条件匹配→触发预警"，调度中心规则引擎可复用模式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看管派单逻辑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需要重新实现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从硬编码if-else重构为规则引擎配置项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9大场景业务规则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不需要从零写，但要重新配置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业务规则是业务知识不是代码，从文档中提取后在新引擎配置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报表查询逻辑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需要重新实现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本质是SQL+聚合，重写后直接查运营平台表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下游派发接口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不需要重写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接口协议复用，运营平台重新对接调用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前端页面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两种方案都要重写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JSP废弃，按运营平台规范重写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三、方案二 - 利弊分析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方案二前期投入相对较高，但一次到位，无需承担两套引擎并存的持续成本和二次融合成本，长期看整体投入相对更可控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4572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微软雅黑"/>
              </a:defRPr>
            </a:pPr>
            <a:r>
              <a:t>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965960"/>
            <a:ext cx="5669280" cy="256032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1. 一套引擎，统一架构——一套派单逻辑、一套工单状态机、一套数据模型，无边界模糊问题</a:t>
            </a:r>
          </a:p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2. 数据模型统一——所有工单数据存在运营平台同一套表中，报表直接查一张表</a:t>
            </a:r>
          </a:p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3. 用户体验一致——所有工单操作方式、状态流转、详情展示统一</a:t>
            </a:r>
          </a:p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4. 后续迭代成本最低——新需求直接在规则引擎中配置或扩展</a:t>
            </a:r>
          </a:p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5. 无需二次融合——没有两套引擎并存过渡期</a:t>
            </a:r>
          </a:p>
          <a:p>
            <a:pPr>
              <a:spcAft>
                <a:spcPts val="200"/>
              </a:spcAft>
              <a:defRPr sz="900">
                <a:solidFill>
                  <a:srgbClr val="2E7D32"/>
                </a:solidFill>
                <a:latin typeface="微软雅黑"/>
              </a:defRPr>
            </a:pPr>
            <a:r>
              <a:t>6. 对齐集团规范的路径最短——集团规范的调度配置体系天然与规则引擎匹配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4572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C62828"/>
                </a:solidFill>
                <a:latin typeface="微软雅黑"/>
              </a:defRPr>
            </a:pPr>
            <a:r>
              <a:t>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5669280" cy="256032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1. 业务规则提取有遗漏风险——规则分散在代码、配置表、操作手册中，遗漏会导致行为不一致（最大风险）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2. 需要更严谨的验证机制——双轨并行验证，同一批预警数据同时走老新系统对比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3. 对精益平台业务规则文档化程度有依赖——如果硬编码且缺文档，提取吃力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4. 9大场景需逐一在新引擎中配置和验证——每个场景：提取→配置→验证→修正→再验证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三、两方案核心差异对比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方案一前期投入相对可控但长期成本高（迁入+长期维护+二次融合三笔账），方案二前期投入较高但一次到位无持续成本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方案一：迁代码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方案二：不迁代码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两套并存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一套统一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数据模型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初期两套，后续需统一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一套统一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存量流程实现方式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迁入原代码继续运行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提取规则在新引擎中重新配置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新增需求开发方式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在新引擎上开发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在新引擎上开发（相同）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报表实现方式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迁入查询逻辑，需跨表合并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重新开发，直接查统一表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前端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两种方案一样，全部重写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两种方案一样，全部重写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4A对接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两种方案一样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两种方案一样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下游接口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两种方案基本一样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两种方案基本一样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业务规则遗漏风险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低（原代码继续跑）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中（依赖提取完整性，需双轨验证）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两套引擎维护成本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高（持续）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二次融合成本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长期迭代成本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前期投入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相对较低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相对较高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长期总成本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较高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相对较低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三、短期页面集成 - 4A票据透传方案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短期（8月）采用4A票据透传+iframe嵌入，不允许跳转新标签页，所有页面在运营平台框架内打开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1737360"/>
            <a:ext cx="1188720" cy="5943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用户登录</a:t>
            </a:r>
            <a:br/>
            <a:r>
              <a:t>运营平台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435608" y="192024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64208" y="173736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点击菜单</a:t>
            </a:r>
            <a:br/>
            <a:r>
              <a:t>"精益运营"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98648" y="192024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27248" y="173736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后端调用4A</a:t>
            </a:r>
            <a:br/>
            <a:r>
              <a:t>CreateToken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361688" y="192024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0288" y="1737360"/>
            <a:ext cx="1188720" cy="59436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4A返回</a:t>
            </a:r>
            <a:br/>
            <a:r>
              <a:t>TOKEN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24728" y="192024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53328" y="1737360"/>
            <a:ext cx="1188720" cy="5943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前端构造</a:t>
            </a:r>
            <a:br/>
            <a:r>
              <a:t>iframe URL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287768" y="192024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16368" y="1737360"/>
            <a:ext cx="1188720" cy="5943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精益平台</a:t>
            </a:r>
            <a:br/>
            <a:r>
              <a:t>验证Token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50808" y="192024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79408" y="1737360"/>
            <a:ext cx="1188720" cy="5943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4A验证通过</a:t>
            </a:r>
            <a:br/>
            <a:r>
              <a:t>免登展示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213848" y="1920240"/>
            <a:ext cx="182880" cy="109728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42448" y="1737360"/>
            <a:ext cx="1188720" cy="5943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隐藏精益</a:t>
            </a:r>
            <a:br/>
            <a:r>
              <a:t>导航壳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560320"/>
            <a:ext cx="54864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0B85CF"/>
                </a:solidFill>
                <a:latin typeface="微软雅黑"/>
              </a:defRPr>
            </a:pPr>
            <a:r>
              <a:t>CreateAiuapTokenSoap请求参数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880360"/>
            <a:ext cx="548640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ACCT = 运营平台接口认证用户（3DES加密，4A分配）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PWD = 运营平台接口认证密码（3DES加密，4A分配）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SERVICEID = 精益平台在4A中注册的标识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LOGINACCT = 当前用户在精益平台的从账号登录名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TIMESTAMP = 系统时间戳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60320"/>
            <a:ext cx="54864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0B85CF"/>
                </a:solidFill>
                <a:latin typeface="微软雅黑"/>
              </a:defRPr>
            </a:pPr>
            <a:r>
              <a:t>前端iframe URL构造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880360"/>
            <a:ext cx="548640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iframe.src = 精益平台SSO地址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+ "?token=" + TOKEN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+ "&amp;appAcctId=" + APPACCTID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+ "&amp;flag=1"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精益平台调用CheckAiuapTokenSoap验证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4A返回RSP=0成功 + MAINACCTID + APPACCTID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三、4A票据透传 - 7项前置工作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以下7项工作必须在短期上线前完成，跨团队协调需提前安排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工作项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责任方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运营平台在4A注册为"主访问应用系统"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获取接口认证用户(ACCT)和密码(PWD)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运营平台团队→4A管理员申请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确认精益平台在4A中注册的SERVICEID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运营平台调用凭证申请时需传入精益平台SERVICEID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精益平台团队提供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确认用户账号映射关系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运营平台登录用户名↔精益平台4A从账号登录名的映射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4A管理员确认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精益平台提供SSO登录地址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精益平台需提供接收token参数的URL入口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精益平台团队提供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精益平台壳剥离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检测iframe嵌入时隐藏自身顶部导航和左侧菜单，只展示内容区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精益平台团队改造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网络策略开通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运营平台→4A票据服务；精益平台→4A验证服务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网络管理员开通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运营平台后端集成4A WebService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新增调用CreateAiuapTokenSoap的服务，3DES加密，解析XML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运营平台后端开发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" y="493776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运营平台后端新增API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5257800"/>
            <a:ext cx="566928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GET /api/sso/lean-token?serviceId=精益平台SERVICEID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1. 获取当前登录用户的4A主账号/从账号信息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2. 调用4A CreateAiuapTokenSoap，传入ACCT/PWD/SERVICEID/LOGINACCT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3. 解析返回XML，提取TOKEN和APPACCTID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4. 返回前端：{ token: "xxx", appAcctId: "xxx"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93776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EF6C00"/>
                </a:solidFill>
                <a:latin typeface="微软雅黑"/>
              </a:defRPr>
            </a:pPr>
            <a:r>
              <a:t>6条关键注意事项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257800"/>
            <a:ext cx="566928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EF6C00"/>
                </a:solidFill>
                <a:latin typeface="微软雅黑"/>
              </a:defRPr>
            </a:pPr>
            <a:r>
              <a:t>1. Token时效限制，实时申请不能缓存</a:t>
            </a:r>
          </a:p>
          <a:p>
            <a:pPr>
              <a:spcAft>
                <a:spcPts val="200"/>
              </a:spcAft>
              <a:defRPr sz="800">
                <a:solidFill>
                  <a:srgbClr val="EF6C00"/>
                </a:solidFill>
                <a:latin typeface="微软雅黑"/>
              </a:defRPr>
            </a:pPr>
            <a:r>
              <a:t>2. ACCT/PWD用3DES加密传输</a:t>
            </a:r>
          </a:p>
          <a:p>
            <a:pPr>
              <a:spcAft>
                <a:spcPts val="200"/>
              </a:spcAft>
              <a:defRPr sz="800">
                <a:solidFill>
                  <a:srgbClr val="EF6C00"/>
                </a:solidFill>
                <a:latin typeface="微软雅黑"/>
              </a:defRPr>
            </a:pPr>
            <a:r>
              <a:t>3. SOAP协议，需WebService客户端</a:t>
            </a:r>
          </a:p>
          <a:p>
            <a:pPr>
              <a:spcAft>
                <a:spcPts val="200"/>
              </a:spcAft>
              <a:defRPr sz="800">
                <a:solidFill>
                  <a:srgbClr val="EF6C00"/>
                </a:solidFill>
                <a:latin typeface="微软雅黑"/>
              </a:defRPr>
            </a:pPr>
            <a:r>
              <a:t>4. 4A返回XML需正确解析</a:t>
            </a:r>
          </a:p>
          <a:p>
            <a:pPr>
              <a:spcAft>
                <a:spcPts val="200"/>
              </a:spcAft>
              <a:defRPr sz="800">
                <a:solidFill>
                  <a:srgbClr val="EF6C00"/>
                </a:solidFill>
                <a:latin typeface="微软雅黑"/>
              </a:defRPr>
            </a:pPr>
            <a:r>
              <a:t>5. 凭证申请失败需给用户友好提示</a:t>
            </a:r>
          </a:p>
          <a:p>
            <a:pPr>
              <a:spcAft>
                <a:spcPts val="200"/>
              </a:spcAft>
              <a:defRPr sz="800">
                <a:solidFill>
                  <a:srgbClr val="EF6C00"/>
                </a:solidFill>
                <a:latin typeface="微软雅黑"/>
              </a:defRPr>
            </a:pPr>
            <a:r>
              <a:t>6. 4A要求接入后应用日志也需接入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621792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666666"/>
                </a:solidFill>
                <a:latin typeface="微软雅黑"/>
              </a:defRPr>
            </a:pPr>
            <a:r>
              <a:t>iframe嵌入技术问题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44652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高度自适应(监听精益页面高度变化) | 面包屑导航(统一运营平台面包屑) | 壳剥离(window.top !== window.self时隐藏导航)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四、实施路径总览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三阶段推进：短期8月统一入口→中期9-12月能力融合→长期2027Q1+全面融合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1737360"/>
            <a:ext cx="3703320" cy="45720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短期（8月）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2286000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微软雅黑"/>
              </a:defRPr>
            </a:pPr>
            <a:r>
              <a:t>统一入口+页面集成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2651760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4A票据透传SSO对接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2944368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精益平台壳剥离改造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236976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21个常用页面iframe嵌入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3529584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运营平台增加"精益运营"专区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7" y="1737360"/>
            <a:ext cx="3703320" cy="45720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中期（9-12月）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7" y="2286000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微软雅黑"/>
              </a:defRPr>
            </a:pPr>
            <a:r>
              <a:t>能力融合+流程报表数据迁移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7" y="2651760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预警中心+规则引擎开发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7" y="2944368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调度类型扩展(ALT+CUR)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7" y="3236976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9大场景规则配置+验证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7" y="3529584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11个报表原生实现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7" y="3822192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下游接口运营平台直连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7" y="4114800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存量数据割接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6" y="1737360"/>
            <a:ext cx="370332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长期（2027Q1+）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6" y="2286000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微软雅黑"/>
              </a:defRPr>
            </a:pPr>
            <a:r>
              <a:t>全面融合+精益平台下线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6" y="2651760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补齐独有能力（督办/投屏等）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6" y="2944368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集团规范新能力建设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6" y="3236976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方案一需二次融合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6" y="3529584"/>
            <a:ext cx="352044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精益平台只读→归档→下线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754880"/>
            <a:ext cx="1179576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200" b="1">
                <a:solidFill>
                  <a:srgbClr val="0B85CF"/>
                </a:solidFill>
                <a:latin typeface="微软雅黑"/>
              </a:defRPr>
            </a:pPr>
            <a:r>
              <a:t>各阶段价值体现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" y="5120640"/>
            <a:ext cx="914400" cy="36576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短期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120640"/>
            <a:ext cx="292608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统一入口免登录，核心功能一站可达，精益平台零改动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78807" y="5120640"/>
            <a:ext cx="914400" cy="36576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中期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7" y="5120640"/>
            <a:ext cx="292608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数据互通流程闭环，报表齐全，调度体系完整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6" y="5120640"/>
            <a:ext cx="9144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长期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6" y="5120640"/>
            <a:ext cx="292608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一平台闭环，集团合规，AI赋能，运维降本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四、短期目标（8月）- 改造内容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用户只需登录运营平台即可访问精益平台核心功能，不再需要手动切换系统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改造项1：运营平台增加"精益运营"专区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965960"/>
            <a:ext cx="5029200" cy="32004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运营专区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├── 流量运营（已有）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├── 离网维系（已有）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├── 增量运营（已有）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├── 家庭运营（已有）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├── 中高端客户运营（已有）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├── 国际业务运营（已有）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└── 精益运营（新增）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├── 运营驾驶舱 ← iframe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├── 整体数据概览 ← iframe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├── 预警任务管理 ← iframe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├── 预警任务审批 ← iframe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├── 预警工单管理 ← iframe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├── 全量用户看管关系监控 ← iframe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├── 我的营销任务 ← iframe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├── 执行监控 ← iframe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  └── 效果评估 ← iframe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改造项2-4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5669280" cy="22860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改造项2：4A票据透传SSO对接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  按3.3节流程实现，7月完成技术验证和联调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改造项3：精益平台壳剥离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  隐藏自身顶部导航和左侧菜单，只展示内容区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改造项4：iframe页面样式适配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  1. 隐藏精益平台顶部导航栏和左侧菜单栏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  2. 精益页面body背景色适配运营平台主题色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  3. iframe高度自适应内容，避免双滚动条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  4. 精益平台弹窗z-index调整高于运营平台层级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01168" y="4389120"/>
          <a:ext cx="7772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具体效果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受益人群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统一入口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只需登录运营平台，无需记忆精益平台地址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全部用户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免登录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从运营平台进入精益专区无需二次登录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全部用户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核心功能可达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21个常用页面一站式可达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区公司+分公司业务人员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渐进式融合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精益平台零改动即可集成（仅需壳剥离），风险最低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IT团队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4389120"/>
            <a:ext cx="36576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  <a:latin typeface="微软雅黑"/>
              </a:defRPr>
            </a:pPr>
            <a:r>
              <a:t>短期不做什么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754880"/>
            <a:ext cx="365760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1. 不迁移任何数据——精益平台数据库不做任何变更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2. 不改造任何流程——预警/工单/审批流程原样保留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3. 不新增任何功能——仅做入口集成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四、中期目标 - 方案一中期路径（迁代码）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迁入的代码使用精益平台原有调度引擎运行存量流程，新增需求使用运营平台新调度中心。两套引擎并存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880"/>
                <a:gridCol w="58978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改造内容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精益平台核心模块代码迁入运营平台工程；预警模块适配运营平台认证和基础设施；预警模块联调测试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看管派单模块迁入适配；调度中心新增预警调度(ALT)+看管调度(CUR)；前端预警相关页面逐步原生替换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报表模块迁入适配；大数据/精准营销/网格通等接口由运营平台直连；11个报表前端重写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12月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9大场景端到端验证；存量数据割接；双轨并行启动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" y="3657600"/>
            <a:ext cx="1179576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EF6C00"/>
                </a:solidFill>
                <a:latin typeface="微软雅黑"/>
              </a:defRPr>
            </a:pPr>
            <a:r>
              <a:t>方案一中期的关键问题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4023360"/>
            <a:ext cx="11795760" cy="9144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EF6C00"/>
                </a:solidFill>
                <a:latin typeface="微软雅黑"/>
              </a:defRPr>
            </a:pPr>
            <a:r>
              <a:t>• • 工单数据必须统一写在运营平台工单表中（不能各写各的表），否则报表无法统一</a:t>
            </a:r>
          </a:p>
          <a:p>
            <a:pPr>
              <a:spcAft>
                <a:spcPts val="200"/>
              </a:spcAft>
              <a:defRPr sz="1000">
                <a:solidFill>
                  <a:srgbClr val="EF6C00"/>
                </a:solidFill>
                <a:latin typeface="微软雅黑"/>
              </a:defRPr>
            </a:pPr>
            <a:r>
              <a:t>• • 老引擎只做Bug修复，不做功能新增</a:t>
            </a:r>
          </a:p>
          <a:p>
            <a:pPr>
              <a:spcAft>
                <a:spcPts val="200"/>
              </a:spcAft>
              <a:defRPr sz="1000">
                <a:solidFill>
                  <a:srgbClr val="EF6C00"/>
                </a:solidFill>
                <a:latin typeface="微软雅黑"/>
              </a:defRPr>
            </a:pPr>
            <a:r>
              <a:t>• • 必须设定退出时间节点，最终将老引擎流程迁移到新引擎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四、中期目标 - 方案二中期路径（不迁代码，统一新引擎）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9月预警中心→10月看管+监控+评估→11月报表+接口→12月验证+割接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" y="1737360"/>
            <a:ext cx="2788920" cy="64008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9月</a:t>
            </a:r>
            <a:br/>
            <a:r>
              <a:t>预警中心+规则引擎+调度类型扩展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251460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预警规则引擎开发（条件+动作可配置）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283464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9大场景业务规则提取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315468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9大场景规则引擎配置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47472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调度类型扩展(ALT+CUR)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379476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预警中心前端开发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72968" y="1737360"/>
            <a:ext cx="2788920" cy="64008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10月</a:t>
            </a:r>
            <a:br/>
            <a:r>
              <a:t>看管+执行监控+效果评估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51460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看管派单规则配置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83464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执行监控模块开发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315468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效果评估模块开发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347472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工单管理前端开发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1737360"/>
            <a:ext cx="278892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11月</a:t>
            </a:r>
            <a:br/>
            <a:r>
              <a:t>报表+数据通路+接口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51460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11个报表原生实现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83464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大数据5个FTP接口直连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15468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精准营销/网格通/IOP接口直连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347472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前端原生替换iframe页面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16568" y="1737360"/>
            <a:ext cx="2788920" cy="64008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FFFFFF"/>
                </a:solidFill>
                <a:latin typeface="微软雅黑"/>
              </a:defRPr>
            </a:pPr>
            <a:r>
              <a:t>12月</a:t>
            </a:r>
            <a:br/>
            <a:r>
              <a:t>端到端验证+数据割接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51460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9大场景端到端验证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83464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双轨并行验证（对比新老系统）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15468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存量数据割接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474720"/>
            <a:ext cx="260604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• iframe页面下线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201168" y="4206240"/>
          <a:ext cx="11795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具体效果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受益人群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数据互通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指标→预警→调度→执行→效果全链路闭环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全部用户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体验统一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所有页面均为运营平台原生风格，无iframe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全部用户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流程闭环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运营平台直接调度至网格通/IOP，无需精益中转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区公司业务人员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报表齐全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11个核心报表在运营平台原生展示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管理层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能力增强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调度类型从6种扩展为8种，覆盖预警和看管场景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全部用户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四、长期目标（2027Q1+）- 全面融合+精益平台下线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运营平台完全替代精益平台，精益平台进入只读归档模式，最终下线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精益平台独有能力收编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168" y="196596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精益独有能力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收编方案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督办管理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运营平台新增督办中心模块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投屏管理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运营平台新增大屏投屏配置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收入预测监控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运营平台新增收入预测看板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新入网纯新增监控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运营平台新增入网监控看板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系统管理（场景/指标配置）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运营平台管理后台扩展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一事一案报表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评估是否需要适配，运营平台走集团调度模式而非一事一案流程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集团规范新能力建设（持续迭代）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965960"/>
          <a:ext cx="56692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能力域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核心新增能力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AI注智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AI交互入口+指标预警+根因分析+洞察报告+智能调度+辅助定策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家庭融合运营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场景概览+指标-客群驱动+商机驱动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细分市场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银发/校园/国际漫游场景概览+核心场景覆盖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营销画布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组件化营销策划+画布式营销+剧本管理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集团一级平台对接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接收集团调度任务+执行反馈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1168" y="448056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  <a:latin typeface="微软雅黑"/>
              </a:defRPr>
            </a:pPr>
            <a:r>
              <a:t>精益平台归档与下线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01168" y="4800600"/>
          <a:ext cx="56692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双轨并行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两套系统均可操作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数据双向同步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精益只读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只能查看，不能创建/操作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新操作全部在运营平台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精益归档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只保留历史数据查询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历史数据迁移至运营平台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精益下线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精益平台停服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服务器资源释放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448056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微软雅黑"/>
              </a:defRPr>
            </a:pPr>
            <a:r>
              <a:t>长期阶段价值体现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846320"/>
            <a:ext cx="566928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E7D32"/>
                </a:solidFill>
                <a:latin typeface="微软雅黑"/>
              </a:defRPr>
            </a:pPr>
            <a:r>
              <a:t>• 一平台闭环：全部运营能力在运营平台完成，无第二系统</a:t>
            </a:r>
          </a:p>
          <a:p>
            <a:pPr>
              <a:spcAft>
                <a:spcPts val="200"/>
              </a:spcAft>
              <a:defRPr sz="1000">
                <a:solidFill>
                  <a:srgbClr val="2E7D32"/>
                </a:solidFill>
                <a:latin typeface="微软雅黑"/>
              </a:defRPr>
            </a:pPr>
            <a:r>
              <a:t>• 集团合规：全面满足集团规范验收标准</a:t>
            </a:r>
          </a:p>
          <a:p>
            <a:pPr>
              <a:spcAft>
                <a:spcPts val="200"/>
              </a:spcAft>
              <a:defRPr sz="1000">
                <a:solidFill>
                  <a:srgbClr val="2E7D32"/>
                </a:solidFill>
                <a:latin typeface="微软雅黑"/>
              </a:defRPr>
            </a:pPr>
            <a:r>
              <a:t>• AI赋能：AI根因分析+智能调度+洞察报告等注智能力上线</a:t>
            </a:r>
          </a:p>
          <a:p>
            <a:pPr>
              <a:spcAft>
                <a:spcPts val="200"/>
              </a:spcAft>
              <a:defRPr sz="1000">
                <a:solidFill>
                  <a:srgbClr val="2E7D32"/>
                </a:solidFill>
                <a:latin typeface="微软雅黑"/>
              </a:defRPr>
            </a:pPr>
            <a:r>
              <a:t>• 运维降本：精益平台下线后减少一套系统的运维成本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640080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EF6C00"/>
                </a:solidFill>
                <a:latin typeface="微软雅黑"/>
              </a:defRPr>
            </a:pPr>
            <a:r>
              <a:t>方案一额外工作：长期阶段还需完成老引擎流程向新引擎的迁移（二次融合）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四、时间轴里程碑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2026年6月中旬启动，8月短期里程碑，12月中期里程碑，2027Q2长期里程碑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核心交付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2026.6中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项目启动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团队组建、需求评审、技术方案确认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2026.7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短期准备期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4A票据对接（注册4A/集成CreateAiuapTokenSoap/网络策略）；精益壳剥离；SSO联调验证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★短期里程碑：页面集成上线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21个常用页面通过4A票据透传+iframe嵌入上线，统一入口免登录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2026.9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预警中心+规则引擎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方案一：代码迁入+预警模块适配；方案二：规则引擎+9大场景规则+调度扩展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看管中心+执行监控+效果评估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方案一：看管迁入+调度扩展+前端替换；方案二：看管规则+监控+评估模块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2026.11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报表+数据通路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11个报表原生实现；大数据/精准营销/网格通等接口运营平台直连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2026.12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★中期里程碑：核心功能原生上线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9大场景端到端验证；双轨并行验证；存量数据割接；iframe逐步下线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2027.Q1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双轨并行+精益只读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精益只读模式；补齐独有能力；集团规范新能力建设启动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2027.Q2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精益归档+下线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精益归档→下线；方案一需额外完成老引擎→新引擎二次融合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五、关键挑战 - 11个报表迁移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7个报表依赖预警引擎数据需等预警模块就绪，2个仅依赖工单数据可先实现，1个铁通数据源特殊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  <a:gridCol w="1965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报表名称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业务含义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计划时间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一线任务执行监控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一线人员当日待办/进行中/已完成任务汇总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工单+网格通反馈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集运任务执行盯控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地市集运中心视角执行率/逾期率/转化率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工单+效果评估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携转预警情况分析-新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携转预警客户数/准确率/挽留成功率/区域分布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大数据→预警→工单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宽带离网预警情况分析-新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宽带到期/离网倾向客户预警分析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大数据→预警→工单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全球通离网预警分析-新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全球通客户离网倾向预警分析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大数据→预警→工单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投诉工单预警情况分析-新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投诉引发预警工单处理情况分析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CRM投诉→预警→工单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热线商机预警情况分析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10086/10088热线商机转化分析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在线平台→预警→工单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11-12月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异动客户预警情况分析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消费/行为异动客户预警分析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大数据→预警→工单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11-12月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全球通离网追溯反馈分析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离网全球通客户追溯调查反馈汇总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网格通反馈→工单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11-12月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全球通停机赢回预警分析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停机全球通客户赢回成功率分析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大数据→预警→工单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11-12月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铁通赢回预警情况分析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铁通（宽带合作方）相关预警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大数据+CRM→工单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12月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" y="612648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0B85CF"/>
                </a:solidFill>
                <a:latin typeface="微软雅黑"/>
              </a:defRPr>
            </a:pPr>
            <a:r>
              <a:t>报表存量数据处理方案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635508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历史工单：增量同步(保留执行轨迹) | 历史预警配置：全量导出重新导入 | 执行反馈：增量同步保留6个月 | 看管关系：全量同步+日增量更新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五、关键挑战 - 流程整合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现有流程复杂，直接迁移难度高。以运营平台调度中心为基础重新开发，但下游派发接口可复用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精益平台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运营平台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融合方向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5类工单（营销/任务/提醒/效果/到期）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6种调度类型+2种扩展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以运营平台调度类型为标准，新增ALT+CUR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预警触发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5类预警类型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指标监控预警+规则引擎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规则引擎统一配置，9大场景各自配置触发条件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派单逻辑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硬编码if-else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规则引擎（可配置）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重构为规则引擎配置项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工单结构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单层工单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主工单+子单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以运营平台工单体系为标准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审批流程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单级审批（三级主任）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可配置多级审批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支持精益单级审批场景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效果评估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按场景的固定报表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调度类型×评估维度的矩阵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统一到运营平台评估体系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五、调度类型扩展 - 新增预警调度(ALT)+看管调度(CUR)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精益5类工单无法直接映射运营平台6种调度类型，新增2种专用类型覆盖预警和看管场景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371600" cy="320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EF6C00"/>
                </a:solidFill>
                <a:latin typeface="微软雅黑"/>
              </a:defRPr>
            </a:pPr>
            <a:r>
              <a:t>营销类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45920"/>
            <a:ext cx="2560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→ 预警调度(ALT)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45720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9大场景中由预警自动触发的工单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1371600" cy="320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EF6C00"/>
                </a:solidFill>
                <a:latin typeface="微软雅黑"/>
              </a:defRPr>
            </a:pPr>
            <a:r>
              <a:t>提醒类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57400"/>
            <a:ext cx="2560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→ 预警调度(ALT)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57400"/>
            <a:ext cx="45720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到期提醒本质是时间维度预警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1371600" cy="3200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EF6C00"/>
                </a:solidFill>
                <a:latin typeface="微软雅黑"/>
              </a:defRPr>
            </a:pPr>
            <a:r>
              <a:t>到期类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2560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→ 预警调度(ALT)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68880"/>
            <a:ext cx="45720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合并到预警调度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0360"/>
            <a:ext cx="1371600" cy="3200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0B85CF"/>
                </a:solidFill>
                <a:latin typeface="微软雅黑"/>
              </a:defRPr>
            </a:pPr>
            <a:r>
              <a:t>任务类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880360"/>
            <a:ext cx="2560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→ 已有类型覆盖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880360"/>
            <a:ext cx="45720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策略调度/客群调度可覆盖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1371600" cy="3200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900" b="1">
                <a:solidFill>
                  <a:srgbClr val="2E7D32"/>
                </a:solidFill>
                <a:latin typeface="微软雅黑"/>
              </a:defRPr>
            </a:pPr>
            <a:r>
              <a:t>效果类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91840"/>
            <a:ext cx="2560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333333"/>
                </a:solidFill>
                <a:latin typeface="微软雅黑"/>
              </a:defRPr>
            </a:pPr>
            <a:r>
              <a:t>→ 不需要调度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291840"/>
            <a:ext cx="457200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效果评估是定时统计，不产生工单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84048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为什么不是5种而是2种？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206240"/>
            <a:ext cx="11795760" cy="10972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1. 效果类不需要调度——效果评估是定时统计，不产生工单，直接在效果评估模块展示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2. 到期类合并到预警调度——到期提醒本质是时间维度预警，"套餐还有30天到期"和"客户消费异动"系统处理无本质区别</a:t>
            </a:r>
          </a:p>
          <a:p>
            <a:pPr>
              <a:spcAft>
                <a:spcPts val="200"/>
              </a:spcAft>
              <a:defRPr sz="900">
                <a:solidFill>
                  <a:srgbClr val="333333"/>
                </a:solidFill>
                <a:latin typeface="微软雅黑"/>
              </a:defRPr>
            </a:pPr>
            <a:r>
              <a:t>3. 任务类已被运营平台覆盖——手动创建的营销任务=策略调度；IOP回传任务=客群调度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530352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扩展后调度类型完整清单（8种）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" y="5669280"/>
            <a:ext cx="141732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0B85CF"/>
                </a:solidFill>
                <a:latin typeface="微软雅黑"/>
              </a:defRPr>
            </a:pPr>
            <a:r>
              <a:t>1.指标调度IND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09928" y="5669280"/>
            <a:ext cx="141732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0B85CF"/>
                </a:solidFill>
                <a:latin typeface="微软雅黑"/>
              </a:defRPr>
            </a:pPr>
            <a:r>
              <a:t>2.策略调度STR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18688" y="5669280"/>
            <a:ext cx="141732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0B85CF"/>
                </a:solidFill>
                <a:latin typeface="微软雅黑"/>
              </a:defRPr>
            </a:pPr>
            <a:r>
              <a:t>3.客群调度CG-OP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27448" y="5669280"/>
            <a:ext cx="141732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0B85CF"/>
                </a:solidFill>
                <a:latin typeface="微软雅黑"/>
              </a:defRPr>
            </a:pPr>
            <a:r>
              <a:t>4.客户商机COD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5669280"/>
            <a:ext cx="141732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0B85CF"/>
                </a:solidFill>
                <a:latin typeface="微软雅黑"/>
              </a:defRPr>
            </a:pPr>
            <a:r>
              <a:t>5.客群商机GOD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4968" y="5669280"/>
            <a:ext cx="141732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0">
                <a:solidFill>
                  <a:srgbClr val="0B85CF"/>
                </a:solidFill>
                <a:latin typeface="微软雅黑"/>
              </a:defRPr>
            </a:pPr>
            <a:r>
              <a:t>6.区域攻坚RAS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3728" y="5669280"/>
            <a:ext cx="1417320" cy="41148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7.预警调度ALT★新增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62488" y="5669280"/>
            <a:ext cx="1417320" cy="411480"/>
          </a:xfrm>
          <a:prstGeom prst="round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800" b="1">
                <a:solidFill>
                  <a:srgbClr val="FFFFFF"/>
                </a:solidFill>
                <a:latin typeface="微软雅黑"/>
              </a:defRPr>
            </a:pPr>
            <a:r>
              <a:t>8.看管调度CUR★新增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五、9大预警场景与调度类型映射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所有9大场景统一使用预警调度(ALT)，看管分包逻辑通过调度配置中引用看管规则实现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56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108"/>
                <a:gridCol w="1685108"/>
                <a:gridCol w="1685108"/>
                <a:gridCol w="1685108"/>
                <a:gridCol w="1685108"/>
                <a:gridCol w="1685108"/>
                <a:gridCol w="1685108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序号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预警场景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调度类型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预警类型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触发频率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客户类型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执行渠道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携转挽留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实时触发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10086→网格经理/政企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宽带离网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网格经理/集运/10088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全球通离网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网格经理/集运/10088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全球通投诉问题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实时触发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网格经理/政企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异动客户修复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月预警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网格经理/集运/10088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热线商机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实时触发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全量用户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网格经理/集运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全球通离网原因追溯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被动预警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网格经理/政企/10088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全球通停机客户赢回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日预警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网格经理/集运/10088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全球通停机赢回(铁通)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预警调度(ALT)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主动预警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日预警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全球通用户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网格经理/集运/10088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" y="5669280"/>
            <a:ext cx="11795760" cy="4572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900" b="1">
                <a:solidFill>
                  <a:srgbClr val="EF6C00"/>
                </a:solidFill>
                <a:latin typeface="微软雅黑"/>
              </a:defRPr>
            </a:pPr>
            <a:r>
              <a:t>"停机赢回"和"铁通赢回"：预警触发创建ALT工单，工单调度配置中引用看管规则，不需要同时创建两个工单。看管调度(CUR)主要用于非预警驱动的纯看管场景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五、预警调度(ALT)与看管调度(CUR)工单结构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预警调度工单=基础信息(含预警场景)+调度配置(引用看管规则)+执行进度+效果评估，复用运营平台已有组件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预警调度(ALT)工单结构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965960"/>
            <a:ext cx="5669280" cy="41148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基础信息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调度类型：预警调度(ALT)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预警场景：9选1（携转/宽带/全球通/投诉/异动/热线/追溯/赢回/铁通）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预警级别：高/中/低 | 触发时间 | 预警客户数 | 预警来源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调度配置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派单规则：引用看管规则（全球通等级→分包/直派）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超时规则：24h未接单→升级至地市集运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执行渠道：网格通/IOP/在线平台 | 关联策略：xxx策略（可选）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执行进度（复用运营平台已有组件）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触达数/触达率 | 响应数/响应率 | 转化数/转化率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效果评估（复用已有组件，扩展场景特定指标）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挽留成功率（携转）| 离网率降幅（离网）| 投诉解决率（投诉）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1A5C97"/>
                </a:solidFill>
                <a:latin typeface="微软雅黑"/>
              </a:defRPr>
            </a:pPr>
            <a:r>
              <a:t>看管调度(CUR)工单结构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5669280" cy="41148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基础信息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调度类型：看管调度(CUR)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看管对象：全球通客户/宽带客户/政企客户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看管规则：分包看管/直派 | 看管周期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调度配置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分包条件：全球通等级=金卡→网格经理；银卡且政企→地市集运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  派单方式：自动派单/抢单 | 升级规则：48h未完成→升级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执行进度（复用运营平台已有组件）</a:t>
            </a: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>
                <a:solidFill>
                  <a:srgbClr val="333333"/>
                </a:solidFill>
                <a:latin typeface="微软雅黑"/>
              </a:defRPr>
            </a:pPr>
            <a:r>
              <a:t>效果评估（复用运营平台已有组件）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五、派单规则引擎与下游接口复用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派单规则从硬编码if-else重构为配置化规则引擎，下游接口协议复用、运营平台重新对接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C62828"/>
                </a:solidFill>
                <a:latin typeface="微软雅黑"/>
              </a:defRPr>
            </a:pPr>
            <a:r>
              <a:t>当前精益平台派单逻辑（硬编码）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1965960"/>
            <a:ext cx="566928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IF 全球通用户: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    IF 白金/钻/金卡: → 10088执行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    ELSE: → 客户经理执行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ELIF 政企客户关键人: → 客户经理执行</a:t>
            </a:r>
          </a:p>
          <a:p>
            <a:pPr>
              <a:spcAft>
                <a:spcPts val="200"/>
              </a:spcAft>
              <a:defRPr sz="900">
                <a:solidFill>
                  <a:srgbClr val="C62828"/>
                </a:solidFill>
                <a:latin typeface="微软雅黑"/>
              </a:defRPr>
            </a:pPr>
            <a:r>
              <a:t>ELSE: → 网格经理/地市集运执行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微软雅黑"/>
              </a:defRPr>
            </a:pPr>
            <a:r>
              <a:t>运营平台派单引擎（配置化）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65960"/>
            <a:ext cx="5669280" cy="22860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规则组: 携转挽留派单规则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优先级: 1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条件: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  - 调度类型 = 预警调度(ALT)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  - 预警场景 = 携转挽留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执行: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  - 步骤1: 派发至10086在线渠道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  - 步骤2: 在线维系失败→按看管关系转派网格经理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  - 步骤3: 网格维系失败且政企→转派客户经理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  - 步骤4: 客户有装维需求→转派装维</a:t>
            </a:r>
          </a:p>
          <a:p>
            <a:pPr>
              <a:spcAft>
                <a:spcPts val="200"/>
              </a:spcAft>
              <a:defRPr sz="800">
                <a:solidFill>
                  <a:srgbClr val="2E7D32"/>
                </a:solidFill>
                <a:latin typeface="微软雅黑"/>
              </a:defRPr>
            </a:pPr>
            <a:r>
              <a:t>超时: 48小时未反馈自动督办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411480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下游派发接口复用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01168" y="4480560"/>
          <a:ext cx="11795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931920"/>
                <a:gridCol w="3931920"/>
              </a:tblGrid>
              <a:tr h="335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下游系统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复用接口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复用说明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网格通（新大陆）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JY-01~07+4个FTP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工单派发/执行反馈/督办/分派关系/活动办理，运营平台重新对接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IOP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JY-08~09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营销活动同步/执行节点反馈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精准营销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JY-05/23/24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客群发布通知/客群查询/客群推送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在线平台(10086/88)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JY-21/22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携转任务下发/结果查询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JY-14/15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用户办理数据同步/携转用户同步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1168" y="649224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"运营平台重新对接"含义：接口协议复用 | 调用方变更(运营平台直接调用) | 认证方式适配 | 接口版本确认 | FTP文件接口逐一验证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五、关键挑战 - 界面统一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新旧平台界面风格需统一，确保用户体验一致。以运营平台为标准，分阶段统一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精益平台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运营平台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统一方向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整体布局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顶部导航+左侧菜单+右侧内容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顶部导航+左侧菜单+右侧内容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以运营平台为标准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顶部导航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首页/事前预警/任务工作台/任务督办/事中监控/营销评估/系统管理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首页/运营专区/能力中心/工单中心/商机管理/策略管理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以运营平台菜单结构为标准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配色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白底+蓝色主色调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浅灰底+深蓝主色调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以运营平台主题为标准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表格样式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简单表格，无斑马纹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DataTable，交替行底色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以运营平台为标准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弹窗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居中弹窗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Dialog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以运营平台为标准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筛选区域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顶部条件输入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筛选区域+重置按钮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以运营平台为标准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1168" y="4572000"/>
            <a:ext cx="1179576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界面统一策略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4937760"/>
            <a:ext cx="11795760" cy="13716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短期：iframe嵌入的页面通过精益平台壳剥离适配，内容区保留精益样式，外层统一运营平台导航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中期：原生重构的页面完全使用运营平台组件库，与运营平台风格100%一致</a:t>
            </a:r>
          </a:p>
          <a:p>
            <a:pPr>
              <a:spcAft>
                <a:spcPts val="2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长期：所有页面均为运营平台原生，不存在风格不一致问题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五、关键挑战 - 数据迁移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方案一二数据迁移策略不同：方案一初期可保留精益表结构，方案二直接按运营平台表结构存储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表结构映射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168" y="19659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精益平台核心表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运营平台目标表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映射说明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预警规则配置表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预警规则配置表（新建）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字段设计参考集团规范诊断条件体系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预警场景表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预警场景表（新建）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9大场景的业务配置数据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看管规则表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调度配置表（扩展）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已有调度配置表，扩展字段支持看管规则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工单主表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工单主表（扩展）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新增调度类型字段值(ALT/CUR)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工单子表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子单表（扩展）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扩展子单字段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执行反馈表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执行反馈表（扩展）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扩展反馈类型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效果评估表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效果评估表（扩展）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扩展评估指标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1645920"/>
            <a:ext cx="566928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字段映射示例（工单主表）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9659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精益平台字段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运营平台字段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转换规则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taskId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ticket_id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直接映射，前缀变更(JY→ALT/CUR)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taskType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dispatch_type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值映射：营销类→ALT，任务类→CUR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taskStatus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精益8种状态→运营平台状态+扩展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custLevel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扩展字段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工单表新增cust_level字段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alertTime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时间戳格式统一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gridCode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grid_code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直接映射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executeResult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execution_result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值映射需对照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1168" y="493776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EF6C00"/>
                </a:solidFill>
                <a:latin typeface="微软雅黑"/>
              </a:defRPr>
            </a:pPr>
            <a:r>
              <a:t>数据校验4条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5257800"/>
            <a:ext cx="11795760" cy="10972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EF6C00"/>
                </a:solidFill>
                <a:latin typeface="微软雅黑"/>
              </a:defRPr>
            </a:pPr>
            <a:r>
              <a:t>1. 行数一致：每张表迁移前后行数一致</a:t>
            </a:r>
          </a:p>
          <a:p>
            <a:pPr>
              <a:spcAft>
                <a:spcPts val="200"/>
              </a:spcAft>
              <a:defRPr sz="900">
                <a:solidFill>
                  <a:srgbClr val="EF6C00"/>
                </a:solidFill>
                <a:latin typeface="微软雅黑"/>
              </a:defRPr>
            </a:pPr>
            <a:r>
              <a:t>2. 关键字段非空：工单ID、客户ID、状态等不能为空</a:t>
            </a:r>
          </a:p>
          <a:p>
            <a:pPr>
              <a:spcAft>
                <a:spcPts val="200"/>
              </a:spcAft>
              <a:defRPr sz="900">
                <a:solidFill>
                  <a:srgbClr val="EF6C00"/>
                </a:solidFill>
                <a:latin typeface="微软雅黑"/>
              </a:defRPr>
            </a:pPr>
            <a:r>
              <a:t>3. 关联关系完整：工单-子单-执行反馈的关联关系保持</a:t>
            </a:r>
          </a:p>
          <a:p>
            <a:pPr>
              <a:spcAft>
                <a:spcPts val="200"/>
              </a:spcAft>
              <a:defRPr sz="900">
                <a:solidFill>
                  <a:srgbClr val="EF6C00"/>
                </a:solidFill>
                <a:latin typeface="微软雅黑"/>
              </a:defRPr>
            </a:pPr>
            <a:r>
              <a:t>4. 在途工单状态一致：迁移时正在处理中的工单状态必须与精益平台一致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621792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000" b="1">
                <a:solidFill>
                  <a:srgbClr val="0B85CF"/>
                </a:solidFill>
                <a:latin typeface="微软雅黑"/>
              </a:defRPr>
            </a:pPr>
            <a:r>
              <a:t>存量数据处理策略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6492240"/>
            <a:ext cx="11795760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微软雅黑"/>
              </a:defRPr>
            </a:pPr>
            <a:r>
              <a:t>已关闭历史工单→批量迁移作历史查询 | 进行中工单→双轨并行期在精益处理完毕不迁移 | 预警规则→全量迁移重新配置 | 看管规则→全量迁移重新配置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六、风险管理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8项关键风险及应对措施，方案一最大风险是两套引擎边界模糊，方案二最大风险是业务规则提取遗漏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1168" y="1591056"/>
          <a:ext cx="117957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概率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应对措施</a:t>
                      </a:r>
                    </a:p>
                  </a:txBody>
                  <a:tcPr>
                    <a:solidFill>
                      <a:srgbClr val="0B85C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精益平台配合资源不到位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4A对接和壳剥离延迟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提前2周锁定精益平台开发资源，明确工作量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4A注册/网络策略审批延迟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8月上线风险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6月中旬项目启动后立即启动4A注册和网络策略申请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业务规则提取遗漏（方案二）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新系统行为与老系统不一致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双轨并行验证，同一批预警数据同时走老新系统对比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两套引擎边界模糊（方案一）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需求归属争论，维护成本递增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明确"老引擎只修Bug不做新增"，设定退出时间节点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网格通/IOP接口对接延期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中期调度类型无法上线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9月第一周启动接口对接，设置weekly sync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大数据FTP数据口径不一致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报表数据与精益平台对不上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提前做数据比对，预留修复窗口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用户抵触新平台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双轨并行期用户仍习惯精益平台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提前培训+设置过渡期+新功能仅在运营平台开放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存量数据割接不完整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历史工单数据丢失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割接前全量备份，割接后逐一校验</a:t>
                      </a:r>
                    </a:p>
                  </a:txBody>
                  <a:tcPr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92024" y="91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85CF"/>
                </a:solidFill>
                <a:latin typeface="微软雅黑"/>
              </a:defRPr>
            </a:pPr>
            <a:r>
              <a:t>七、总结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"/>
            <a:ext cx="12188952" cy="722376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100">
                <a:solidFill>
                  <a:srgbClr val="333333"/>
                </a:solidFill>
                <a:latin typeface="微软雅黑"/>
              </a:defRPr>
            </a:pPr>
            <a:r>
              <a:t>核心逻辑：短期统一入口→中期能力融合→长期全面融合。两套技术路线各有利弊，需领导拍板选择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1645920"/>
            <a:ext cx="1179576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0B85CF"/>
                </a:solidFill>
                <a:latin typeface="微软雅黑"/>
              </a:defRPr>
            </a:pPr>
            <a:r>
              <a:t>核心逻辑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3200400" cy="548640"/>
          </a:xfrm>
          <a:prstGeom prst="roundRect">
            <a:avLst/>
          </a:prstGeom>
          <a:solidFill>
            <a:srgbClr val="0B8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短期8月</a:t>
            </a:r>
            <a:br/>
            <a:r>
              <a:t>统一入口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749040" y="2240280"/>
            <a:ext cx="365760" cy="182880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39" y="2103120"/>
            <a:ext cx="3200400" cy="548640"/>
          </a:xfrm>
          <a:prstGeom prst="roundRect">
            <a:avLst/>
          </a:prstGeom>
          <a:solidFill>
            <a:srgbClr val="1A5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中期9-12月</a:t>
            </a:r>
            <a:br/>
            <a:r>
              <a:t>能力融合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98079" y="2240280"/>
            <a:ext cx="365760" cy="182880"/>
          </a:xfrm>
          <a:prstGeom prst="rightArrow">
            <a:avLst/>
          </a:prstGeom>
          <a:solidFill>
            <a:srgbClr val="007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78" y="2103120"/>
            <a:ext cx="32004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长期2027Q1+</a:t>
            </a:r>
            <a:br/>
            <a:r>
              <a:t>全面融合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017520"/>
            <a:ext cx="1179576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300" b="1">
                <a:solidFill>
                  <a:srgbClr val="0B85CF"/>
                </a:solidFill>
                <a:latin typeface="微软雅黑"/>
              </a:defRPr>
            </a:pPr>
            <a:r>
              <a:t>方案选择建议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" y="3474720"/>
            <a:ext cx="5669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3547872"/>
            <a:ext cx="544982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0B85CF"/>
                </a:solidFill>
                <a:latin typeface="微软雅黑"/>
              </a:defRPr>
            </a:pPr>
            <a:r>
              <a:t>方案一：迁代码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" y="3840480"/>
            <a:ext cx="5449824" cy="15544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前期投入相对可控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两套引擎长期并存，维护成本递增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二次融合不可避免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三笔账加总（迁入+长期维护+二次融合）整体投入不低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474720"/>
            <a:ext cx="5669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3547872"/>
            <a:ext cx="5449824" cy="2743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微软雅黑"/>
              </a:defRPr>
            </a:pPr>
            <a:r>
              <a:t>方案二：不迁代码（推荐）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840480"/>
            <a:ext cx="5449824" cy="155448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前期投入相对较高（规则提取+场景配置验证）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一次到位，无持续成本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无需二次融合</a:t>
            </a:r>
          </a:p>
          <a:p>
            <a:pPr>
              <a:spcAft>
                <a:spcPts val="200"/>
              </a:spcAft>
              <a:defRPr sz="900">
                <a:solidFill>
                  <a:srgbClr val="666666"/>
                </a:solidFill>
                <a:latin typeface="微软雅黑"/>
              </a:defRPr>
            </a:pPr>
            <a:r>
              <a:t>• 长期看整体投入相对方案一更可控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5760720"/>
            <a:ext cx="11795760" cy="3657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每一步都有明确的交付物和价值体现，每一步都以前一步为基础，不存在"空中楼阁"式规划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2706624"/>
            <a:ext cx="10213848" cy="9144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defRPr sz="4000" b="1">
                <a:solidFill>
                  <a:srgbClr val="0B85CF"/>
                </a:solidFill>
                <a:latin typeface="微软雅黑"/>
              </a:defRPr>
            </a:pPr>
            <a:r>
              <a:t>汇报完毕  请提出宝贵意见！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ISLIDE.GUIDESSETTING" val="{&quot;Id&quot;:null,&quot;Name&quot;:&quot;适中&quot;,&quot;HeaderHeight&quot;:13.0,&quot;FooterHeight&quot;:6.0,&quot;SideMargin&quot;:4.0,&quot;TopMargin&quot;:0.0,&quot;BottomMargin&quot;:0.0,&quot;IntervalMargin&quot;:1.5,&quot;SettingType&quot;:&quot;System&quot;}"/>
  <p:tag name="COMMONDATA" val="eyJoZGlkIjoiMDljYzUzMWQ4OWI0YzBkYjYzMDRhZTY5ZjZkYmFmYTgifQ=="/>
  <p:tag name="RESOURCE_RECORD_KEY" val="{&quot;10&quot;:[4450793]}"/>
</p:tagLst>
</file>

<file path=ppt/theme/theme1.xml><?xml version="1.0" encoding="utf-8"?>
<a:theme xmlns:a="http://schemas.openxmlformats.org/drawingml/2006/main" name="2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fqzmttiu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F0F7FB"/>
        </a:solidFill>
        <a:ln>
          <a:noFill/>
        </a:ln>
      </a:spPr>
      <a:bodyPr vertOverflow="overflow" horzOverflow="overflow" vert="horz" wrap="square" lIns="360000" tIns="0" rIns="360000" bIns="36000" numCol="1" spcCol="0" rtlCol="0" fromWordArt="0" anchor="ctr" anchorCtr="0" compatLnSpc="1">
        <a:noAutofit/>
      </a:bodyPr>
      <a:lstStyle>
        <a:defPPr marL="285750" lvl="1" indent="-285750" algn="l" defTabSz="91440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 typeface="Wingdings" panose="05000000000000000000" pitchFamily="2" charset="2"/>
          <a:buChar char="n"/>
          <a:defRPr kumimoji="1" lang="zh-CN" altLang="en-US" sz="1400" b="1" kern="0" dirty="0">
            <a:ln>
              <a:noFill/>
            </a:ln>
            <a:solidFill>
              <a:srgbClr val="0070BF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70BF"/>
      </a:accent1>
      <a:accent2>
        <a:srgbClr val="8CC121"/>
      </a:accent2>
      <a:accent3>
        <a:srgbClr val="C6C7C6"/>
      </a:accent3>
      <a:accent4>
        <a:srgbClr val="EEEFEE"/>
      </a:accent4>
      <a:accent5>
        <a:srgbClr val="C00000"/>
      </a:accent5>
      <a:accent6>
        <a:srgbClr val="FFFE01"/>
      </a:accent6>
      <a:hlink>
        <a:srgbClr val="0563C1"/>
      </a:hlink>
      <a:folHlink>
        <a:srgbClr val="954F72"/>
      </a:folHlink>
    </a:clrScheme>
    <a:fontScheme name="mdkqthcv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sz="1600" b="1" dirty="0" smtClean="0">
            <a:solidFill>
              <a:schemeClr val="accent1"/>
            </a:solidFill>
            <a:cs typeface="+mn-ea"/>
            <a:sym typeface="+mn-lt"/>
          </a:defRPr>
        </a:defPPr>
      </a:lstStyle>
    </a:spDef>
    <a:txDef>
      <a:spPr>
        <a:noFill/>
      </a:spPr>
      <a:bodyPr wrap="none" rtlCol="0">
        <a:spAutoFit/>
      </a:bodyPr>
      <a:lstStyle>
        <a:defPPr algn="l">
          <a:defRPr kumimoji="1"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母版格式.V.0309">
  <a:themeElements>
    <a:clrScheme name="AsiaInfo 2020">
      <a:dk1>
        <a:srgbClr val="404040"/>
      </a:dk1>
      <a:lt1>
        <a:srgbClr val="FFFFFF"/>
      </a:lt1>
      <a:dk2>
        <a:srgbClr val="505050"/>
      </a:dk2>
      <a:lt2>
        <a:srgbClr val="D2E2F2"/>
      </a:lt2>
      <a:accent1>
        <a:srgbClr val="0058A7"/>
      </a:accent1>
      <a:accent2>
        <a:srgbClr val="EE770B"/>
      </a:accent2>
      <a:accent3>
        <a:srgbClr val="5AB546"/>
      </a:accent3>
      <a:accent4>
        <a:srgbClr val="B8B5B3"/>
      </a:accent4>
      <a:accent5>
        <a:srgbClr val="3271AD"/>
      </a:accent5>
      <a:accent6>
        <a:srgbClr val="3AA0D3"/>
      </a:accent6>
      <a:hlink>
        <a:srgbClr val="319DFF"/>
      </a:hlink>
      <a:folHlink>
        <a:srgbClr val="8C8784"/>
      </a:folHlink>
    </a:clrScheme>
    <a:fontScheme name="1tl4wyn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flat" cmpd="sng" algn="ctr">
          <a:solidFill>
            <a:srgbClr val="FFC000"/>
          </a:solidFill>
          <a:prstDash val="solid"/>
          <a:miter lim="800000"/>
        </a:ln>
      </a:spPr>
      <a:bodyPr lIns="0" tIns="0" rIns="0" bIns="0" rtlCol="0" anchor="ctr"/>
      <a:lstStyle>
        <a:defPPr algn="ctr" defTabSz="721360">
          <a:defRPr sz="710" kern="0">
            <a:ln>
              <a:solidFill>
                <a:srgbClr val="FFC000"/>
              </a:solidFill>
            </a:ln>
            <a:solidFill>
              <a:srgbClr val="FFFFFF"/>
            </a:solidFill>
            <a:latin typeface="Open Sans" panose="020B0606030504020204" pitchFamily="34" charset="0"/>
            <a:ea typeface="思源黑体 CN Normal" panose="020B0400000000000000" pitchFamily="34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2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3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4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5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6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7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8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9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0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1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2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3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4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5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ppt/theme/themeOverride16.xml><?xml version="1.0" encoding="utf-8"?>
<a:themeOverride xmlns:a="http://schemas.openxmlformats.org/drawingml/2006/main">
  <a:clrScheme name="AsiaInfo 2020">
    <a:dk1>
      <a:srgbClr val="404040"/>
    </a:dk1>
    <a:lt1>
      <a:srgbClr val="FFFFFF"/>
    </a:lt1>
    <a:dk2>
      <a:srgbClr val="505050"/>
    </a:dk2>
    <a:lt2>
      <a:srgbClr val="D2E2F2"/>
    </a:lt2>
    <a:accent1>
      <a:srgbClr val="0058A7"/>
    </a:accent1>
    <a:accent2>
      <a:srgbClr val="EE770B"/>
    </a:accent2>
    <a:accent3>
      <a:srgbClr val="5AB546"/>
    </a:accent3>
    <a:accent4>
      <a:srgbClr val="B8B5B3"/>
    </a:accent4>
    <a:accent5>
      <a:srgbClr val="3271AD"/>
    </a:accent5>
    <a:accent6>
      <a:srgbClr val="3AA0D3"/>
    </a:accent6>
    <a:hlink>
      <a:srgbClr val="319DFF"/>
    </a:hlink>
    <a:folHlink>
      <a:srgbClr val="8C878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1417</Words>
  <Application>WPS 演示</Application>
  <PresentationFormat>宽屏</PresentationFormat>
  <Paragraphs>128</Paragraphs>
  <Slides>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 Light</vt:lpstr>
      <vt:lpstr>方正黑体简体</vt:lpstr>
      <vt:lpstr>OPPOSans R</vt:lpstr>
      <vt:lpstr>Open Sans</vt:lpstr>
      <vt:lpstr>Segoe Print</vt:lpstr>
      <vt:lpstr>思源黑体 CN Normal</vt:lpstr>
      <vt:lpstr>黑体</vt:lpstr>
      <vt:lpstr>Roboto</vt:lpstr>
      <vt:lpstr>Times New Roman</vt:lpstr>
      <vt:lpstr>Calibri</vt:lpstr>
      <vt:lpstr>华文细黑</vt:lpstr>
      <vt:lpstr>Wingdings</vt:lpstr>
      <vt:lpstr>微软雅黑</vt:lpstr>
      <vt:lpstr>Arial Unicode MS</vt:lpstr>
      <vt:lpstr>2_Office Theme</vt:lpstr>
      <vt:lpstr>5_Office Theme</vt:lpstr>
      <vt:lpstr>母版格式.V.0309</vt:lpstr>
      <vt:lpstr>两级协同调度&amp;省公司专区集成方案</vt:lpstr>
      <vt:lpstr>两级协同调度方案</vt:lpstr>
      <vt:lpstr>PowerPoint 演示文稿</vt:lpstr>
      <vt:lpstr>两级协同调度方案</vt:lpstr>
      <vt:lpstr>省公司专区集成方案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单击此处添加标题</dc:title>
  <dc:creator>Yiwei Chen</dc:creator>
  <cp:lastModifiedBy>Wubi</cp:lastModifiedBy>
  <cp:revision>11858</cp:revision>
  <cp:lastPrinted>2024-12-31T02:34:00Z</cp:lastPrinted>
  <dcterms:created xsi:type="dcterms:W3CDTF">2024-12-31T02:34:00Z</dcterms:created>
  <dcterms:modified xsi:type="dcterms:W3CDTF">2026-05-26T01:06:54Z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C8BD003A0D3F4B978192B3F8F46F4B22</vt:lpwstr>
  </property>
  <property fmtid="{D5CDD505-2E9C-101B-9397-08002B2CF9AE}" pid="4" name="_2015_ms_pID_725343">
    <vt:lpwstr>(2)L74UPaCluyYJY9UKpzrZsHS8IRLl0Amm8fcfm1AF7YpsrfzicAQ+8lLgq0i8PaJWjSm3Mhlo
EIuBZLhVp0mKGOrqVlfurTb+XVHgleDHUcXvVwwb521iWnD3QV0WCSqxBoor7DXIReaH+OYR
Y65FcRpB6U0Iur+nB7QcG5tPH9afyytsL7mP63g3+CE027QwrTPxmpk3B+d4Jbpy9y9yF8MZ
w1XkYIAQY/yKj/d9vD</vt:lpwstr>
  </property>
  <property fmtid="{D5CDD505-2E9C-101B-9397-08002B2CF9AE}" pid="5" name="_2015_ms_pID_7253431">
    <vt:lpwstr>Hb2h92UEYG6nLV9Z5/6QkMJs24k9z5p2m1rwfkWJopDTh+oyV02rwG
9N/nFmizukti2K3BvmcjYKXUvP7d4Weq0f20WPmqSteikL96/1Aroco6naKpjg4948HzLZJj
ena5+lV62DaCYBmAZsREjeq2v9OVLbzIAw3iObvMMRl9WHwD4EA2Z5BkygCrAQ6eSTangbKz
kgh6Us3iC6vatClU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1634611321</vt:lpwstr>
  </property>
</Properties>
</file>